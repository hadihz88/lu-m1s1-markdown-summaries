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81" r:id="rId4"/>
    <p:sldId id="282" r:id="rId5"/>
    <p:sldId id="284" r:id="rId6"/>
    <p:sldId id="285" r:id="rId7"/>
    <p:sldId id="286" r:id="rId8"/>
    <p:sldId id="287" r:id="rId9"/>
    <p:sldId id="288" r:id="rId10"/>
    <p:sldId id="280" r:id="rId11"/>
    <p:sldId id="258" r:id="rId12"/>
    <p:sldId id="259" r:id="rId13"/>
    <p:sldId id="260" r:id="rId14"/>
    <p:sldId id="261" r:id="rId15"/>
    <p:sldId id="262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95129"/>
  </p:normalViewPr>
  <p:slideViewPr>
    <p:cSldViewPr snapToGrid="0" snapToObjects="1">
      <p:cViewPr varScale="1">
        <p:scale>
          <a:sx n="64" d="100"/>
          <a:sy n="64" d="100"/>
        </p:scale>
        <p:origin x="176" y="11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L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C2A7D6-0F56-E549-B024-0CB85431E2BA}" type="datetimeFigureOut">
              <a:rPr lang="en-LB" smtClean="0"/>
              <a:t>21/11/2025</a:t>
            </a:fld>
            <a:endParaRPr lang="en-L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L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L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L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EA5495-EF57-284F-B0B9-2F0D2302B2C8}" type="slidenum">
              <a:rPr lang="en-LB" smtClean="0"/>
              <a:t>‹#›</a:t>
            </a:fld>
            <a:endParaRPr lang="en-LB"/>
          </a:p>
        </p:txBody>
      </p:sp>
    </p:spTree>
    <p:extLst>
      <p:ext uri="{BB962C8B-B14F-4D97-AF65-F5344CB8AC3E}">
        <p14:creationId xmlns:p14="http://schemas.microsoft.com/office/powerpoint/2010/main" val="2741564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BDDFED-4B0C-864A-B25D-BF7B35C5DC6B}" type="datetime1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21B59-2B6C-E64A-A370-AEBD1944B003}" type="datetime1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E44D6B-54B0-7947-97DC-1172D38EA141}" type="datetime1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8E6335-A875-D846-AEEF-1DEA25C47A95}" type="datetime1">
              <a:rPr lang="en-US" smtClean="0"/>
              <a:t>11/21/25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C901B-DFE6-5747-AB5A-B5C9D1251FD1}" type="datetime1">
              <a:rPr lang="en-US" smtClean="0"/>
              <a:t>11/21/25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7FD24-048F-8944-9984-9B4CF41309AB}" type="datetime1">
              <a:rPr lang="en-US" smtClean="0"/>
              <a:t>11/21/25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581539-40EF-BD4E-A610-AE019B30C944}" type="datetime1">
              <a:rPr lang="en-US" smtClean="0"/>
              <a:t>11/21/25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9DE26-4D77-714E-BFA2-00EE7BCB0C1B}" type="datetime1">
              <a:rPr lang="en-US" smtClean="0"/>
              <a:t>11/21/25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64299-ADAF-D247-84FF-8469875C2F2B}" type="datetime1">
              <a:rPr lang="en-US" smtClean="0"/>
              <a:t>11/21/25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D92950-712E-9940-9A01-46FA066C14C8}" type="datetime1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191D2-DCC4-4745-AA6C-2CE47B49522D}" type="datetime1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3C09AF-6F3B-6649-A0D2-806256706FEC}" type="datetime1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880886B-02ED-4317-9236-CB60C22CF7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04060" y="1241274"/>
            <a:ext cx="8181594" cy="4382287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3600"/>
              </a:spcAft>
            </a:pPr>
            <a:r>
              <a:rPr lang="en-US" b="1" dirty="0"/>
              <a:t>Chapter 4</a:t>
            </a:r>
            <a:br>
              <a:rPr lang="en-US" b="1" dirty="0"/>
            </a:br>
            <a:br>
              <a:rPr lang="en-US" b="1" dirty="0"/>
            </a:br>
            <a:r>
              <a:rPr lang="en-US" b="1" dirty="0"/>
              <a:t>Software Defined Network</a:t>
            </a:r>
            <a:br>
              <a:rPr lang="en-US" b="1" dirty="0"/>
            </a:br>
            <a:r>
              <a:rPr lang="en-US" b="1" dirty="0"/>
              <a:t>(SDN)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40A5DE4-9329-4182-EFA1-FC6DE97718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04060" y="5669280"/>
            <a:ext cx="8181594" cy="54864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LB"/>
              <a:t>Rami Tawil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28C31856-6ABF-41FD-B683-B06E5FFF92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61560" y="5598439"/>
            <a:ext cx="2468880" cy="18288"/>
          </a:xfrm>
          <a:custGeom>
            <a:avLst/>
            <a:gdLst>
              <a:gd name="connsiteX0" fmla="*/ 0 w 2468880"/>
              <a:gd name="connsiteY0" fmla="*/ 0 h 18288"/>
              <a:gd name="connsiteX1" fmla="*/ 592531 w 2468880"/>
              <a:gd name="connsiteY1" fmla="*/ 0 h 18288"/>
              <a:gd name="connsiteX2" fmla="*/ 1160374 w 2468880"/>
              <a:gd name="connsiteY2" fmla="*/ 0 h 18288"/>
              <a:gd name="connsiteX3" fmla="*/ 1728216 w 2468880"/>
              <a:gd name="connsiteY3" fmla="*/ 0 h 18288"/>
              <a:gd name="connsiteX4" fmla="*/ 2468880 w 2468880"/>
              <a:gd name="connsiteY4" fmla="*/ 0 h 18288"/>
              <a:gd name="connsiteX5" fmla="*/ 2468880 w 2468880"/>
              <a:gd name="connsiteY5" fmla="*/ 18288 h 18288"/>
              <a:gd name="connsiteX6" fmla="*/ 1802282 w 2468880"/>
              <a:gd name="connsiteY6" fmla="*/ 18288 h 18288"/>
              <a:gd name="connsiteX7" fmla="*/ 1209751 w 2468880"/>
              <a:gd name="connsiteY7" fmla="*/ 18288 h 18288"/>
              <a:gd name="connsiteX8" fmla="*/ 641909 w 2468880"/>
              <a:gd name="connsiteY8" fmla="*/ 18288 h 18288"/>
              <a:gd name="connsiteX9" fmla="*/ 0 w 2468880"/>
              <a:gd name="connsiteY9" fmla="*/ 18288 h 18288"/>
              <a:gd name="connsiteX10" fmla="*/ 0 w 2468880"/>
              <a:gd name="connsiteY10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468880" h="18288" fill="none" extrusionOk="0">
                <a:moveTo>
                  <a:pt x="0" y="0"/>
                </a:moveTo>
                <a:cubicBezTo>
                  <a:pt x="171523" y="-1510"/>
                  <a:pt x="416079" y="20036"/>
                  <a:pt x="592531" y="0"/>
                </a:cubicBezTo>
                <a:cubicBezTo>
                  <a:pt x="768983" y="-20036"/>
                  <a:pt x="878305" y="13110"/>
                  <a:pt x="1160374" y="0"/>
                </a:cubicBezTo>
                <a:cubicBezTo>
                  <a:pt x="1442443" y="-13110"/>
                  <a:pt x="1612108" y="24695"/>
                  <a:pt x="1728216" y="0"/>
                </a:cubicBezTo>
                <a:cubicBezTo>
                  <a:pt x="1844324" y="-24695"/>
                  <a:pt x="2271040" y="20667"/>
                  <a:pt x="2468880" y="0"/>
                </a:cubicBezTo>
                <a:cubicBezTo>
                  <a:pt x="2468302" y="4771"/>
                  <a:pt x="2469633" y="12323"/>
                  <a:pt x="2468880" y="18288"/>
                </a:cubicBezTo>
                <a:cubicBezTo>
                  <a:pt x="2229297" y="-14659"/>
                  <a:pt x="2066775" y="30253"/>
                  <a:pt x="1802282" y="18288"/>
                </a:cubicBezTo>
                <a:cubicBezTo>
                  <a:pt x="1537789" y="6323"/>
                  <a:pt x="1379930" y="22266"/>
                  <a:pt x="1209751" y="18288"/>
                </a:cubicBezTo>
                <a:cubicBezTo>
                  <a:pt x="1039572" y="14310"/>
                  <a:pt x="837025" y="12850"/>
                  <a:pt x="641909" y="18288"/>
                </a:cubicBezTo>
                <a:cubicBezTo>
                  <a:pt x="446793" y="23726"/>
                  <a:pt x="170561" y="18472"/>
                  <a:pt x="0" y="18288"/>
                </a:cubicBezTo>
                <a:cubicBezTo>
                  <a:pt x="841" y="12879"/>
                  <a:pt x="-726" y="3977"/>
                  <a:pt x="0" y="0"/>
                </a:cubicBezTo>
                <a:close/>
              </a:path>
              <a:path w="2468880" h="18288" stroke="0" extrusionOk="0">
                <a:moveTo>
                  <a:pt x="0" y="0"/>
                </a:moveTo>
                <a:cubicBezTo>
                  <a:pt x="190931" y="24910"/>
                  <a:pt x="333688" y="11559"/>
                  <a:pt x="567842" y="0"/>
                </a:cubicBezTo>
                <a:cubicBezTo>
                  <a:pt x="801996" y="-11559"/>
                  <a:pt x="939971" y="-5677"/>
                  <a:pt x="1234440" y="0"/>
                </a:cubicBezTo>
                <a:cubicBezTo>
                  <a:pt x="1528909" y="5677"/>
                  <a:pt x="1658539" y="5184"/>
                  <a:pt x="1777594" y="0"/>
                </a:cubicBezTo>
                <a:cubicBezTo>
                  <a:pt x="1896649" y="-5184"/>
                  <a:pt x="2186164" y="23915"/>
                  <a:pt x="2468880" y="0"/>
                </a:cubicBezTo>
                <a:cubicBezTo>
                  <a:pt x="2468266" y="8857"/>
                  <a:pt x="2469384" y="13619"/>
                  <a:pt x="2468880" y="18288"/>
                </a:cubicBezTo>
                <a:cubicBezTo>
                  <a:pt x="2271330" y="36599"/>
                  <a:pt x="2001027" y="31554"/>
                  <a:pt x="1876349" y="18288"/>
                </a:cubicBezTo>
                <a:cubicBezTo>
                  <a:pt x="1751671" y="5022"/>
                  <a:pt x="1364652" y="15063"/>
                  <a:pt x="1209751" y="18288"/>
                </a:cubicBezTo>
                <a:cubicBezTo>
                  <a:pt x="1054850" y="21513"/>
                  <a:pt x="748438" y="20074"/>
                  <a:pt x="617220" y="18288"/>
                </a:cubicBezTo>
                <a:cubicBezTo>
                  <a:pt x="486002" y="16502"/>
                  <a:pt x="237432" y="27200"/>
                  <a:pt x="0" y="18288"/>
                </a:cubicBezTo>
                <a:cubicBezTo>
                  <a:pt x="-487" y="10816"/>
                  <a:pt x="-839" y="605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7D764-DBB9-67EE-FA2A-1ABAC01D1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81950" y="6356351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C1FF6DA9-008F-8B48-92A6-B652298478BF}" type="slidenum">
              <a:rPr lang="en-US" smtClean="0"/>
              <a:pPr>
                <a:spcAft>
                  <a:spcPts val="600"/>
                </a:spcAft>
              </a:pPr>
              <a:t>1</a:t>
            </a:fld>
            <a:endParaRPr lang="en-US"/>
          </a:p>
        </p:txBody>
      </p:sp>
      <p:pic>
        <p:nvPicPr>
          <p:cNvPr id="7" name="Picture 6" descr="Lebanese University - Crunchbase School Profile &amp; Alumni">
            <a:extLst>
              <a:ext uri="{FF2B5EF4-FFF2-40B4-BE49-F238E27FC236}">
                <a16:creationId xmlns:a16="http://schemas.microsoft.com/office/drawing/2014/main" id="{560B73BB-6E08-81CF-2BA1-4ADC5993D1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alphaModFix amt="85000"/>
          </a:blip>
          <a:srcRect/>
          <a:stretch>
            <a:fillRect/>
          </a:stretch>
        </p:blipFill>
        <p:spPr bwMode="auto">
          <a:xfrm>
            <a:off x="200313" y="303814"/>
            <a:ext cx="2399333" cy="239933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Picture 4" descr="Lebanese University">
            <a:extLst>
              <a:ext uri="{FF2B5EF4-FFF2-40B4-BE49-F238E27FC236}">
                <a16:creationId xmlns:a16="http://schemas.microsoft.com/office/drawing/2014/main" id="{26DB007F-6BF3-DCAD-78B3-88BAD732E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alphaModFix amt="85000"/>
          </a:blip>
          <a:srcRect/>
          <a:stretch>
            <a:fillRect/>
          </a:stretch>
        </p:blipFill>
        <p:spPr bwMode="auto">
          <a:xfrm>
            <a:off x="9353044" y="303814"/>
            <a:ext cx="2625339" cy="2623119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4A591-BF0F-2365-CEBE-EADCB99EC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i="0" u="none" strike="noStrike" dirty="0">
                <a:effectLst/>
                <a:latin typeface="Segoe UI" panose="020B0502040204020203" pitchFamily="34" charset="0"/>
              </a:rPr>
              <a:t>What is Software-Defined Networking?</a:t>
            </a:r>
            <a:endParaRPr lang="en-L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AD202C-E98F-C85B-09D6-0EA3A14CA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39B4661-25DE-87ED-B3DF-1CFD96DEB5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17639"/>
            <a:ext cx="10972800" cy="4938712"/>
          </a:xfrm>
        </p:spPr>
        <p:txBody>
          <a:bodyPr>
            <a:normAutofit/>
          </a:bodyPr>
          <a:lstStyle/>
          <a:p>
            <a:r>
              <a:rPr lang="en-US" sz="2800" dirty="0"/>
              <a:t>“Software defined” becomes a very popular</a:t>
            </a:r>
          </a:p>
          <a:p>
            <a:pPr lvl="2"/>
            <a:r>
              <a:rPr lang="en-US" sz="2000" dirty="0"/>
              <a:t>Software defined networking, </a:t>
            </a:r>
          </a:p>
          <a:p>
            <a:pPr lvl="2"/>
            <a:r>
              <a:rPr lang="en-US" sz="2000" dirty="0"/>
              <a:t>Software defined storage, </a:t>
            </a:r>
          </a:p>
          <a:p>
            <a:pPr lvl="2"/>
            <a:r>
              <a:rPr lang="en-US" sz="2000" dirty="0"/>
              <a:t>Software defined radio, etc.</a:t>
            </a: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sz="2800" dirty="0"/>
              <a:t>What is it?</a:t>
            </a:r>
          </a:p>
          <a:p>
            <a:pPr lvl="1"/>
            <a:r>
              <a:rPr lang="en-US" sz="2400" dirty="0"/>
              <a:t>The control of the underlying system is exposed to the upper layer developer through an API.</a:t>
            </a:r>
          </a:p>
          <a:p>
            <a:pPr lvl="1"/>
            <a:r>
              <a:rPr lang="en-US" sz="2400" dirty="0"/>
              <a:t>System functionality is implemented over the API as an app (software).</a:t>
            </a:r>
          </a:p>
          <a:p>
            <a:pPr lvl="1"/>
            <a:r>
              <a:rPr lang="en-US" sz="2400" dirty="0"/>
              <a:t>This allows </a:t>
            </a:r>
            <a:r>
              <a:rPr lang="en-US" sz="2400" i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customization</a:t>
            </a:r>
            <a:r>
              <a:rPr lang="en-US" sz="2400" dirty="0"/>
              <a:t> for what users want. </a:t>
            </a: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sz="2800" dirty="0"/>
              <a:t>Another word for “Software defined” is “Programmable” </a:t>
            </a:r>
          </a:p>
        </p:txBody>
      </p:sp>
    </p:spTree>
    <p:extLst>
      <p:ext uri="{BB962C8B-B14F-4D97-AF65-F5344CB8AC3E}">
        <p14:creationId xmlns:p14="http://schemas.microsoft.com/office/powerpoint/2010/main" val="3534969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36137"/>
            <a:ext cx="10972800" cy="114300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r>
              <a:rPr lang="en-US" b="1" dirty="0">
                <a:latin typeface="Segoe UI" panose="020B0502040204020203" pitchFamily="34" charset="0"/>
              </a:rPr>
              <a:t>Today’s router: control plane and data plane</a:t>
            </a:r>
          </a:p>
        </p:txBody>
      </p:sp>
      <p:pic>
        <p:nvPicPr>
          <p:cNvPr id="4" name="Picture 3" descr="Y:\class\5211\fig\fig-router-arch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5330" y="1760620"/>
            <a:ext cx="6901340" cy="3844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36B1F4-CA73-938A-5819-BEF80E9BE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3415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69" name="Text Box 167"/>
          <p:cNvSpPr txBox="1">
            <a:spLocks noChangeArrowheads="1"/>
          </p:cNvSpPr>
          <p:nvPr/>
        </p:nvSpPr>
        <p:spPr bwMode="auto">
          <a:xfrm>
            <a:off x="577516" y="236539"/>
            <a:ext cx="9402639" cy="76944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 fontScale="97500"/>
          </a:bodyPr>
          <a:lstStyle>
            <a:lvl1pPr algn="ctr">
              <a:spcBef>
                <a:spcPct val="0"/>
              </a:spcBef>
              <a:buNone/>
              <a:defRPr sz="4400" b="1">
                <a:latin typeface="Segoe UI" panose="020B0502040204020203" pitchFamily="34" charset="0"/>
                <a:ea typeface="+mj-ea"/>
                <a:cs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l"/>
            <a:r>
              <a:rPr lang="en-US" dirty="0"/>
              <a:t>Today’s router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885524" y="1549666"/>
            <a:ext cx="10366409" cy="4381211"/>
          </a:xfrm>
        </p:spPr>
        <p:txBody>
          <a:bodyPr>
            <a:norm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i="1" dirty="0">
                <a:latin typeface="Segoe UI" panose="020B0502040204020203" pitchFamily="34" charset="0"/>
              </a:rPr>
              <a:t>Tightly coupled </a:t>
            </a:r>
            <a:r>
              <a:rPr lang="en-US" i="1" dirty="0">
                <a:solidFill>
                  <a:schemeClr val="tx2">
                    <a:lumMod val="60000"/>
                    <a:lumOff val="40000"/>
                  </a:schemeClr>
                </a:solidFill>
                <a:latin typeface="Segoe UI" panose="020B0502040204020203" pitchFamily="34" charset="0"/>
              </a:rPr>
              <a:t>data</a:t>
            </a:r>
            <a:r>
              <a:rPr lang="en-US" i="1" dirty="0">
                <a:latin typeface="Segoe UI" panose="020B0502040204020203" pitchFamily="34" charset="0"/>
              </a:rPr>
              <a:t> and </a:t>
            </a:r>
            <a:r>
              <a:rPr lang="en-US" i="1" dirty="0">
                <a:solidFill>
                  <a:schemeClr val="tx2">
                    <a:lumMod val="60000"/>
                    <a:lumOff val="40000"/>
                  </a:schemeClr>
                </a:solidFill>
                <a:latin typeface="Segoe UI" panose="020B0502040204020203" pitchFamily="34" charset="0"/>
              </a:rPr>
              <a:t>control</a:t>
            </a:r>
            <a:r>
              <a:rPr lang="en-US" i="1" dirty="0">
                <a:latin typeface="Segoe UI" panose="020B0502040204020203" pitchFamily="34" charset="0"/>
              </a:rPr>
              <a:t> plane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dirty="0">
                <a:latin typeface="Segoe UI" panose="020B0502040204020203" pitchFamily="34" charset="0"/>
              </a:rPr>
              <a:t>Hardware vendors also provide proprietary control software</a:t>
            </a: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n-US" i="1" dirty="0">
                <a:solidFill>
                  <a:schemeClr val="tx2">
                    <a:lumMod val="60000"/>
                    <a:lumOff val="40000"/>
                  </a:schemeClr>
                </a:solidFill>
                <a:latin typeface="Segoe UI" panose="020B0502040204020203" pitchFamily="34" charset="0"/>
              </a:rPr>
              <a:t>monolithic</a:t>
            </a:r>
            <a:r>
              <a:rPr lang="en-US" dirty="0">
                <a:latin typeface="Segoe UI" panose="020B0502040204020203" pitchFamily="34" charset="0"/>
              </a:rPr>
              <a:t> router contains switching hardware, runs proprietary implementation of Internet standard protocols (IP, RIP, IS-IS, OSPF, BGP) in proprietary router OS (e.g., Cisco IOS)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35F30BF-AF75-72C3-8A8C-871C3D028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3824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Freeform 2"/>
          <p:cNvSpPr>
            <a:spLocks/>
          </p:cNvSpPr>
          <p:nvPr/>
        </p:nvSpPr>
        <p:spPr bwMode="auto">
          <a:xfrm>
            <a:off x="4082256" y="5641291"/>
            <a:ext cx="4027487" cy="939800"/>
          </a:xfrm>
          <a:custGeom>
            <a:avLst/>
            <a:gdLst>
              <a:gd name="T0" fmla="*/ 648763 w 10001"/>
              <a:gd name="T1" fmla="*/ 34777612 h 10125"/>
              <a:gd name="T2" fmla="*/ 115976403 w 10001"/>
              <a:gd name="T3" fmla="*/ 13733703 h 10125"/>
              <a:gd name="T4" fmla="*/ 507700960 w 10001"/>
              <a:gd name="T5" fmla="*/ 8662125 h 10125"/>
              <a:gd name="T6" fmla="*/ 810212713 w 10001"/>
              <a:gd name="T7" fmla="*/ 0 h 10125"/>
              <a:gd name="T8" fmla="*/ 1090015738 w 10001"/>
              <a:gd name="T9" fmla="*/ 8687929 h 10125"/>
              <a:gd name="T10" fmla="*/ 1310938763 w 10001"/>
              <a:gd name="T11" fmla="*/ 4279362 h 10125"/>
              <a:gd name="T12" fmla="*/ 1620263134 w 10001"/>
              <a:gd name="T13" fmla="*/ 25736690 h 10125"/>
              <a:gd name="T14" fmla="*/ 1394798364 w 10001"/>
              <a:gd name="T15" fmla="*/ 58525268 h 10125"/>
              <a:gd name="T16" fmla="*/ 1134622140 w 10001"/>
              <a:gd name="T17" fmla="*/ 80266624 h 10125"/>
              <a:gd name="T18" fmla="*/ 860820276 w 10001"/>
              <a:gd name="T19" fmla="*/ 76142271 h 10125"/>
              <a:gd name="T20" fmla="*/ 708996782 w 10001"/>
              <a:gd name="T21" fmla="*/ 85346835 h 10125"/>
              <a:gd name="T22" fmla="*/ 509322667 w 10001"/>
              <a:gd name="T23" fmla="*/ 86268164 h 10125"/>
              <a:gd name="T24" fmla="*/ 353443899 w 10001"/>
              <a:gd name="T25" fmla="*/ 67979516 h 10125"/>
              <a:gd name="T26" fmla="*/ 192536914 w 10001"/>
              <a:gd name="T27" fmla="*/ 64535347 h 10125"/>
              <a:gd name="T28" fmla="*/ 648763 w 10001"/>
              <a:gd name="T29" fmla="*/ 34777612 h 10125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0" t="0" r="r" b="b"/>
            <a:pathLst>
              <a:path w="10001" h="10125">
                <a:moveTo>
                  <a:pt x="4" y="4039"/>
                </a:moveTo>
                <a:cubicBezTo>
                  <a:pt x="-29" y="2271"/>
                  <a:pt x="194" y="2100"/>
                  <a:pt x="715" y="1595"/>
                </a:cubicBezTo>
                <a:cubicBezTo>
                  <a:pt x="1236" y="1089"/>
                  <a:pt x="2417" y="1272"/>
                  <a:pt x="3130" y="1006"/>
                </a:cubicBezTo>
                <a:cubicBezTo>
                  <a:pt x="3843" y="740"/>
                  <a:pt x="4397" y="0"/>
                  <a:pt x="4995" y="0"/>
                </a:cubicBezTo>
                <a:cubicBezTo>
                  <a:pt x="5593" y="1"/>
                  <a:pt x="6206" y="926"/>
                  <a:pt x="6720" y="1009"/>
                </a:cubicBezTo>
                <a:cubicBezTo>
                  <a:pt x="7234" y="1092"/>
                  <a:pt x="7536" y="241"/>
                  <a:pt x="8082" y="497"/>
                </a:cubicBezTo>
                <a:cubicBezTo>
                  <a:pt x="8628" y="756"/>
                  <a:pt x="9854" y="442"/>
                  <a:pt x="9989" y="2989"/>
                </a:cubicBezTo>
                <a:cubicBezTo>
                  <a:pt x="10124" y="5536"/>
                  <a:pt x="9098" y="5742"/>
                  <a:pt x="8599" y="6797"/>
                </a:cubicBezTo>
                <a:cubicBezTo>
                  <a:pt x="8100" y="7852"/>
                  <a:pt x="7544" y="8981"/>
                  <a:pt x="6995" y="9322"/>
                </a:cubicBezTo>
                <a:cubicBezTo>
                  <a:pt x="6446" y="9663"/>
                  <a:pt x="5793" y="8957"/>
                  <a:pt x="5307" y="8843"/>
                </a:cubicBezTo>
                <a:cubicBezTo>
                  <a:pt x="4819" y="8726"/>
                  <a:pt x="4628" y="10048"/>
                  <a:pt x="4371" y="9912"/>
                </a:cubicBezTo>
                <a:cubicBezTo>
                  <a:pt x="4114" y="9775"/>
                  <a:pt x="3505" y="10355"/>
                  <a:pt x="3140" y="10019"/>
                </a:cubicBezTo>
                <a:cubicBezTo>
                  <a:pt x="2774" y="9683"/>
                  <a:pt x="2820" y="8138"/>
                  <a:pt x="2179" y="7895"/>
                </a:cubicBezTo>
                <a:cubicBezTo>
                  <a:pt x="1586" y="6800"/>
                  <a:pt x="1549" y="8137"/>
                  <a:pt x="1187" y="7495"/>
                </a:cubicBezTo>
                <a:cubicBezTo>
                  <a:pt x="825" y="6852"/>
                  <a:pt x="-7" y="6157"/>
                  <a:pt x="4" y="4039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cxnSp>
        <p:nvCxnSpPr>
          <p:cNvPr id="148" name="Straight Connector 147"/>
          <p:cNvCxnSpPr/>
          <p:nvPr/>
        </p:nvCxnSpPr>
        <p:spPr>
          <a:xfrm flipV="1">
            <a:off x="4712492" y="5793691"/>
            <a:ext cx="1316038" cy="131762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/>
          <p:cNvCxnSpPr/>
          <p:nvPr/>
        </p:nvCxnSpPr>
        <p:spPr>
          <a:xfrm>
            <a:off x="4601368" y="5979428"/>
            <a:ext cx="2259013" cy="300038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/>
          <p:cNvCxnSpPr/>
          <p:nvPr/>
        </p:nvCxnSpPr>
        <p:spPr>
          <a:xfrm>
            <a:off x="4614068" y="6085792"/>
            <a:ext cx="714375" cy="274637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/>
          <p:cNvCxnSpPr/>
          <p:nvPr/>
        </p:nvCxnSpPr>
        <p:spPr>
          <a:xfrm flipV="1">
            <a:off x="5631656" y="6279466"/>
            <a:ext cx="1247775" cy="80962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/>
          <p:cNvCxnSpPr/>
          <p:nvPr/>
        </p:nvCxnSpPr>
        <p:spPr>
          <a:xfrm>
            <a:off x="6292056" y="5825442"/>
            <a:ext cx="1057275" cy="123825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/>
          <p:cNvCxnSpPr/>
          <p:nvPr/>
        </p:nvCxnSpPr>
        <p:spPr>
          <a:xfrm flipV="1">
            <a:off x="5576092" y="5979428"/>
            <a:ext cx="1790700" cy="300038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/>
          <p:cNvCxnSpPr/>
          <p:nvPr/>
        </p:nvCxnSpPr>
        <p:spPr>
          <a:xfrm flipV="1">
            <a:off x="6903243" y="6008004"/>
            <a:ext cx="588963" cy="271463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/>
          <p:cNvCxnSpPr/>
          <p:nvPr/>
        </p:nvCxnSpPr>
        <p:spPr>
          <a:xfrm>
            <a:off x="6045992" y="5793691"/>
            <a:ext cx="814388" cy="40005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7128" name="Group 7"/>
          <p:cNvGrpSpPr>
            <a:grpSpLocks/>
          </p:cNvGrpSpPr>
          <p:nvPr/>
        </p:nvGrpSpPr>
        <p:grpSpPr bwMode="auto">
          <a:xfrm>
            <a:off x="5171280" y="6219142"/>
            <a:ext cx="563562" cy="293687"/>
            <a:chOff x="1871277" y="1576300"/>
            <a:chExt cx="1128371" cy="437861"/>
          </a:xfrm>
        </p:grpSpPr>
        <p:sp>
          <p:nvSpPr>
            <p:cNvPr id="318" name="Oval 317"/>
            <p:cNvSpPr/>
            <p:nvPr/>
          </p:nvSpPr>
          <p:spPr bwMode="auto">
            <a:xfrm flipV="1">
              <a:off x="1874455" y="1694641"/>
              <a:ext cx="1125193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19" name="Rectangle 318"/>
            <p:cNvSpPr/>
            <p:nvPr/>
          </p:nvSpPr>
          <p:spPr bwMode="auto">
            <a:xfrm>
              <a:off x="1871277" y="1739610"/>
              <a:ext cx="1128371" cy="115975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20" name="Oval 319"/>
            <p:cNvSpPr/>
            <p:nvPr/>
          </p:nvSpPr>
          <p:spPr bwMode="auto">
            <a:xfrm flipV="1">
              <a:off x="1871277" y="1576300"/>
              <a:ext cx="1125193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24" name="Freeform 323"/>
            <p:cNvSpPr/>
            <p:nvPr/>
          </p:nvSpPr>
          <p:spPr bwMode="auto">
            <a:xfrm>
              <a:off x="2160521" y="1673339"/>
              <a:ext cx="546704" cy="160944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25" name="Freeform 324"/>
            <p:cNvSpPr/>
            <p:nvPr/>
          </p:nvSpPr>
          <p:spPr bwMode="auto">
            <a:xfrm>
              <a:off x="2103307" y="1633104"/>
              <a:ext cx="661131" cy="111240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26" name="Freeform 325"/>
            <p:cNvSpPr/>
            <p:nvPr/>
          </p:nvSpPr>
          <p:spPr bwMode="auto">
            <a:xfrm>
              <a:off x="2538765" y="1727776"/>
              <a:ext cx="241567" cy="97039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27" name="Freeform 326"/>
            <p:cNvSpPr/>
            <p:nvPr/>
          </p:nvSpPr>
          <p:spPr bwMode="auto">
            <a:xfrm>
              <a:off x="2090593" y="1730143"/>
              <a:ext cx="238389" cy="97040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322" name="Straight Connector 321"/>
            <p:cNvCxnSpPr>
              <a:endCxn id="320" idx="2"/>
            </p:cNvCxnSpPr>
            <p:nvPr/>
          </p:nvCxnSpPr>
          <p:spPr bwMode="auto">
            <a:xfrm flipH="1" flipV="1">
              <a:off x="1871277" y="1737244"/>
              <a:ext cx="3178" cy="123075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Straight Connector 322"/>
            <p:cNvCxnSpPr/>
            <p:nvPr/>
          </p:nvCxnSpPr>
          <p:spPr bwMode="auto">
            <a:xfrm flipH="1" flipV="1">
              <a:off x="2996470" y="1734876"/>
              <a:ext cx="3178" cy="123075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129" name="Group 327"/>
          <p:cNvGrpSpPr>
            <a:grpSpLocks/>
          </p:cNvGrpSpPr>
          <p:nvPr/>
        </p:nvGrpSpPr>
        <p:grpSpPr bwMode="auto">
          <a:xfrm>
            <a:off x="5866605" y="5677803"/>
            <a:ext cx="565150" cy="292100"/>
            <a:chOff x="1871277" y="1576300"/>
            <a:chExt cx="1128371" cy="437861"/>
          </a:xfrm>
        </p:grpSpPr>
        <p:sp>
          <p:nvSpPr>
            <p:cNvPr id="329" name="Oval 328"/>
            <p:cNvSpPr/>
            <p:nvPr/>
          </p:nvSpPr>
          <p:spPr bwMode="auto">
            <a:xfrm flipV="1">
              <a:off x="1874446" y="1692905"/>
              <a:ext cx="1125202" cy="321256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30" name="Rectangle 329"/>
            <p:cNvSpPr/>
            <p:nvPr/>
          </p:nvSpPr>
          <p:spPr bwMode="auto">
            <a:xfrm>
              <a:off x="1871277" y="1740499"/>
              <a:ext cx="1128371" cy="114225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31" name="Oval 330"/>
            <p:cNvSpPr/>
            <p:nvPr/>
          </p:nvSpPr>
          <p:spPr bwMode="auto">
            <a:xfrm flipV="1">
              <a:off x="1871277" y="1576300"/>
              <a:ext cx="1125200" cy="321257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32" name="Freeform 331"/>
            <p:cNvSpPr/>
            <p:nvPr/>
          </p:nvSpPr>
          <p:spPr bwMode="auto">
            <a:xfrm>
              <a:off x="2159708" y="1673868"/>
              <a:ext cx="548339" cy="159438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33" name="Freeform 332"/>
            <p:cNvSpPr/>
            <p:nvPr/>
          </p:nvSpPr>
          <p:spPr bwMode="auto">
            <a:xfrm>
              <a:off x="2102655" y="1633412"/>
              <a:ext cx="662444" cy="111846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34" name="Freeform 333"/>
            <p:cNvSpPr/>
            <p:nvPr/>
          </p:nvSpPr>
          <p:spPr bwMode="auto">
            <a:xfrm>
              <a:off x="2536889" y="1728599"/>
              <a:ext cx="244057" cy="97568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35" name="Freeform 334"/>
            <p:cNvSpPr/>
            <p:nvPr/>
          </p:nvSpPr>
          <p:spPr bwMode="auto">
            <a:xfrm>
              <a:off x="2089977" y="1730980"/>
              <a:ext cx="240888" cy="95187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336" name="Straight Connector 335"/>
            <p:cNvCxnSpPr>
              <a:endCxn id="331" idx="2"/>
            </p:cNvCxnSpPr>
            <p:nvPr/>
          </p:nvCxnSpPr>
          <p:spPr bwMode="auto">
            <a:xfrm flipH="1" flipV="1">
              <a:off x="1871277" y="1735739"/>
              <a:ext cx="3169" cy="123743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Straight Connector 336"/>
            <p:cNvCxnSpPr/>
            <p:nvPr/>
          </p:nvCxnSpPr>
          <p:spPr bwMode="auto">
            <a:xfrm flipH="1" flipV="1">
              <a:off x="2996477" y="1733359"/>
              <a:ext cx="3171" cy="123743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130" name="Group 337"/>
          <p:cNvGrpSpPr>
            <a:grpSpLocks/>
          </p:cNvGrpSpPr>
          <p:nvPr/>
        </p:nvGrpSpPr>
        <p:grpSpPr bwMode="auto">
          <a:xfrm>
            <a:off x="6509543" y="6131828"/>
            <a:ext cx="563563" cy="293688"/>
            <a:chOff x="1871277" y="1576300"/>
            <a:chExt cx="1128371" cy="437861"/>
          </a:xfrm>
        </p:grpSpPr>
        <p:sp>
          <p:nvSpPr>
            <p:cNvPr id="339" name="Oval 338"/>
            <p:cNvSpPr/>
            <p:nvPr/>
          </p:nvSpPr>
          <p:spPr bwMode="auto">
            <a:xfrm flipV="1">
              <a:off x="1874457" y="1694641"/>
              <a:ext cx="1125191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40" name="Rectangle 339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41" name="Oval 340"/>
            <p:cNvSpPr/>
            <p:nvPr/>
          </p:nvSpPr>
          <p:spPr bwMode="auto">
            <a:xfrm flipV="1">
              <a:off x="1871277" y="1576300"/>
              <a:ext cx="1125191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42" name="Freeform 341"/>
            <p:cNvSpPr/>
            <p:nvPr/>
          </p:nvSpPr>
          <p:spPr bwMode="auto">
            <a:xfrm>
              <a:off x="2160522" y="1673340"/>
              <a:ext cx="546703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43" name="Freeform 342"/>
            <p:cNvSpPr/>
            <p:nvPr/>
          </p:nvSpPr>
          <p:spPr bwMode="auto">
            <a:xfrm>
              <a:off x="2103309" y="1633103"/>
              <a:ext cx="661129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44" name="Freeform 343"/>
            <p:cNvSpPr/>
            <p:nvPr/>
          </p:nvSpPr>
          <p:spPr bwMode="auto">
            <a:xfrm>
              <a:off x="2538763" y="1727776"/>
              <a:ext cx="24156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45" name="Freeform 344"/>
            <p:cNvSpPr/>
            <p:nvPr/>
          </p:nvSpPr>
          <p:spPr bwMode="auto">
            <a:xfrm>
              <a:off x="2090595" y="1730144"/>
              <a:ext cx="238387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346" name="Straight Connector 345"/>
            <p:cNvCxnSpPr>
              <a:endCxn id="341" idx="2"/>
            </p:cNvCxnSpPr>
            <p:nvPr/>
          </p:nvCxnSpPr>
          <p:spPr bwMode="auto">
            <a:xfrm flipH="1" flipV="1">
              <a:off x="1871277" y="1737243"/>
              <a:ext cx="3180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Straight Connector 346"/>
            <p:cNvCxnSpPr/>
            <p:nvPr/>
          </p:nvCxnSpPr>
          <p:spPr bwMode="auto">
            <a:xfrm flipH="1" flipV="1">
              <a:off x="2996468" y="1734877"/>
              <a:ext cx="3180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131" name="Group 347"/>
          <p:cNvGrpSpPr>
            <a:grpSpLocks/>
          </p:cNvGrpSpPr>
          <p:nvPr/>
        </p:nvGrpSpPr>
        <p:grpSpPr bwMode="auto">
          <a:xfrm>
            <a:off x="7231855" y="5817503"/>
            <a:ext cx="565150" cy="293688"/>
            <a:chOff x="1871277" y="1576300"/>
            <a:chExt cx="1128371" cy="437861"/>
          </a:xfrm>
        </p:grpSpPr>
        <p:sp>
          <p:nvSpPr>
            <p:cNvPr id="349" name="Oval 348"/>
            <p:cNvSpPr/>
            <p:nvPr/>
          </p:nvSpPr>
          <p:spPr bwMode="auto">
            <a:xfrm flipV="1">
              <a:off x="1874446" y="1694641"/>
              <a:ext cx="1125202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50" name="Rectangle 349"/>
            <p:cNvSpPr/>
            <p:nvPr/>
          </p:nvSpPr>
          <p:spPr bwMode="auto"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51" name="Oval 350"/>
            <p:cNvSpPr/>
            <p:nvPr/>
          </p:nvSpPr>
          <p:spPr bwMode="auto">
            <a:xfrm flipV="1">
              <a:off x="1871277" y="1576300"/>
              <a:ext cx="1125200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52" name="Freeform 351"/>
            <p:cNvSpPr/>
            <p:nvPr/>
          </p:nvSpPr>
          <p:spPr bwMode="auto">
            <a:xfrm>
              <a:off x="2159708" y="1673340"/>
              <a:ext cx="548339" cy="160943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53" name="Freeform 352"/>
            <p:cNvSpPr/>
            <p:nvPr/>
          </p:nvSpPr>
          <p:spPr bwMode="auto">
            <a:xfrm>
              <a:off x="2102655" y="1633103"/>
              <a:ext cx="662444" cy="111241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54" name="Freeform 353"/>
            <p:cNvSpPr/>
            <p:nvPr/>
          </p:nvSpPr>
          <p:spPr bwMode="auto">
            <a:xfrm>
              <a:off x="2536889" y="1727776"/>
              <a:ext cx="244057" cy="97040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55" name="Freeform 354"/>
            <p:cNvSpPr/>
            <p:nvPr/>
          </p:nvSpPr>
          <p:spPr bwMode="auto">
            <a:xfrm>
              <a:off x="2089977" y="1730144"/>
              <a:ext cx="240888" cy="97039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356" name="Straight Connector 355"/>
            <p:cNvCxnSpPr>
              <a:endCxn id="351" idx="2"/>
            </p:cNvCxnSpPr>
            <p:nvPr/>
          </p:nvCxnSpPr>
          <p:spPr bwMode="auto">
            <a:xfrm flipH="1" flipV="1">
              <a:off x="1871277" y="1737243"/>
              <a:ext cx="3169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356"/>
            <p:cNvCxnSpPr/>
            <p:nvPr/>
          </p:nvCxnSpPr>
          <p:spPr bwMode="auto">
            <a:xfrm flipH="1" flipV="1">
              <a:off x="2996477" y="1734877"/>
              <a:ext cx="3171" cy="123074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132" name="Group 357"/>
          <p:cNvGrpSpPr>
            <a:grpSpLocks/>
          </p:cNvGrpSpPr>
          <p:nvPr/>
        </p:nvGrpSpPr>
        <p:grpSpPr bwMode="auto">
          <a:xfrm>
            <a:off x="4204492" y="5863542"/>
            <a:ext cx="565150" cy="293687"/>
            <a:chOff x="1871277" y="1576300"/>
            <a:chExt cx="1128371" cy="437861"/>
          </a:xfrm>
        </p:grpSpPr>
        <p:sp>
          <p:nvSpPr>
            <p:cNvPr id="359" name="Oval 358"/>
            <p:cNvSpPr/>
            <p:nvPr/>
          </p:nvSpPr>
          <p:spPr bwMode="auto">
            <a:xfrm flipV="1">
              <a:off x="1874448" y="1694641"/>
              <a:ext cx="1125200" cy="319520"/>
            </a:xfrm>
            <a:prstGeom prst="ellipse">
              <a:avLst/>
            </a:prstGeom>
            <a:gradFill flip="none" rotWithShape="1"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0" scaled="1"/>
              <a:tileRect/>
            </a:gra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60" name="Rectangle 359"/>
            <p:cNvSpPr/>
            <p:nvPr/>
          </p:nvSpPr>
          <p:spPr bwMode="auto">
            <a:xfrm>
              <a:off x="1871277" y="1739610"/>
              <a:ext cx="1128371" cy="115975"/>
            </a:xfrm>
            <a:prstGeom prst="rect">
              <a:avLst/>
            </a:prstGeom>
            <a:gradFill>
              <a:gsLst>
                <a:gs pos="0">
                  <a:schemeClr val="accent2">
                    <a:lumMod val="75000"/>
                  </a:schemeClr>
                </a:gs>
                <a:gs pos="53000">
                  <a:schemeClr val="accent2">
                    <a:lumMod val="60000"/>
                    <a:lumOff val="40000"/>
                  </a:schemeClr>
                </a:gs>
                <a:gs pos="100000">
                  <a:schemeClr val="accent2">
                    <a:lumMod val="75000"/>
                  </a:schemeClr>
                </a:gs>
              </a:gsLst>
              <a:lin ang="10800000" scaled="0"/>
            </a:gradFill>
            <a:ln w="25400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61" name="Oval 360"/>
            <p:cNvSpPr/>
            <p:nvPr/>
          </p:nvSpPr>
          <p:spPr bwMode="auto">
            <a:xfrm flipV="1">
              <a:off x="1871277" y="1576300"/>
              <a:ext cx="1125202" cy="319520"/>
            </a:xfrm>
            <a:prstGeom prst="ellipse">
              <a:avLst/>
            </a:prstGeom>
            <a:solidFill>
              <a:schemeClr val="bg1">
                <a:lumMod val="75000"/>
              </a:schemeClr>
            </a:solidFill>
            <a:ln w="6350" cmpd="sng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dirty="0">
                <a:ln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362" name="Freeform 361"/>
            <p:cNvSpPr/>
            <p:nvPr/>
          </p:nvSpPr>
          <p:spPr bwMode="auto">
            <a:xfrm>
              <a:off x="2159710" y="1673339"/>
              <a:ext cx="548337" cy="160944"/>
            </a:xfrm>
            <a:custGeom>
              <a:avLst/>
              <a:gdLst>
                <a:gd name="connsiteX0" fmla="*/ 1486231 w 2944854"/>
                <a:gd name="connsiteY0" fmla="*/ 727041 h 1302232"/>
                <a:gd name="connsiteX1" fmla="*/ 257675 w 2944854"/>
                <a:gd name="connsiteY1" fmla="*/ 1302232 h 1302232"/>
                <a:gd name="connsiteX2" fmla="*/ 0 w 2944854"/>
                <a:gd name="connsiteY2" fmla="*/ 1228607 h 1302232"/>
                <a:gd name="connsiteX3" fmla="*/ 911064 w 2944854"/>
                <a:gd name="connsiteY3" fmla="*/ 837478 h 1302232"/>
                <a:gd name="connsiteX4" fmla="*/ 883456 w 2944854"/>
                <a:gd name="connsiteY4" fmla="*/ 450949 h 1302232"/>
                <a:gd name="connsiteX5" fmla="*/ 161047 w 2944854"/>
                <a:gd name="connsiteY5" fmla="*/ 119640 h 1302232"/>
                <a:gd name="connsiteX6" fmla="*/ 404917 w 2944854"/>
                <a:gd name="connsiteY6" fmla="*/ 50617 h 1302232"/>
                <a:gd name="connsiteX7" fmla="*/ 1477028 w 2944854"/>
                <a:gd name="connsiteY7" fmla="*/ 501566 h 1302232"/>
                <a:gd name="connsiteX8" fmla="*/ 2572146 w 2944854"/>
                <a:gd name="connsiteY8" fmla="*/ 0 h 1302232"/>
                <a:gd name="connsiteX9" fmla="*/ 2875834 w 2944854"/>
                <a:gd name="connsiteY9" fmla="*/ 96632 h 1302232"/>
                <a:gd name="connsiteX10" fmla="*/ 2079803 w 2944854"/>
                <a:gd name="connsiteY10" fmla="*/ 432543 h 1302232"/>
                <a:gd name="connsiteX11" fmla="*/ 2240850 w 2944854"/>
                <a:gd name="connsiteY11" fmla="*/ 920305 h 1302232"/>
                <a:gd name="connsiteX12" fmla="*/ 2944854 w 2944854"/>
                <a:gd name="connsiteY12" fmla="*/ 1228607 h 1302232"/>
                <a:gd name="connsiteX13" fmla="*/ 2733192 w 2944854"/>
                <a:gd name="connsiteY13" fmla="*/ 1297630 h 1302232"/>
                <a:gd name="connsiteX14" fmla="*/ 1486231 w 2944854"/>
                <a:gd name="connsiteY14" fmla="*/ 727041 h 1302232"/>
                <a:gd name="connsiteX0" fmla="*/ 1486231 w 2944854"/>
                <a:gd name="connsiteY0" fmla="*/ 727041 h 1316375"/>
                <a:gd name="connsiteX1" fmla="*/ 257675 w 2944854"/>
                <a:gd name="connsiteY1" fmla="*/ 1302232 h 1316375"/>
                <a:gd name="connsiteX2" fmla="*/ 0 w 2944854"/>
                <a:gd name="connsiteY2" fmla="*/ 1228607 h 1316375"/>
                <a:gd name="connsiteX3" fmla="*/ 911064 w 2944854"/>
                <a:gd name="connsiteY3" fmla="*/ 837478 h 1316375"/>
                <a:gd name="connsiteX4" fmla="*/ 883456 w 2944854"/>
                <a:gd name="connsiteY4" fmla="*/ 450949 h 1316375"/>
                <a:gd name="connsiteX5" fmla="*/ 161047 w 2944854"/>
                <a:gd name="connsiteY5" fmla="*/ 119640 h 1316375"/>
                <a:gd name="connsiteX6" fmla="*/ 404917 w 2944854"/>
                <a:gd name="connsiteY6" fmla="*/ 50617 h 1316375"/>
                <a:gd name="connsiteX7" fmla="*/ 1477028 w 2944854"/>
                <a:gd name="connsiteY7" fmla="*/ 501566 h 1316375"/>
                <a:gd name="connsiteX8" fmla="*/ 2572146 w 2944854"/>
                <a:gd name="connsiteY8" fmla="*/ 0 h 1316375"/>
                <a:gd name="connsiteX9" fmla="*/ 2875834 w 2944854"/>
                <a:gd name="connsiteY9" fmla="*/ 96632 h 1316375"/>
                <a:gd name="connsiteX10" fmla="*/ 2079803 w 2944854"/>
                <a:gd name="connsiteY10" fmla="*/ 432543 h 1316375"/>
                <a:gd name="connsiteX11" fmla="*/ 2240850 w 2944854"/>
                <a:gd name="connsiteY11" fmla="*/ 920305 h 1316375"/>
                <a:gd name="connsiteX12" fmla="*/ 2944854 w 2944854"/>
                <a:gd name="connsiteY12" fmla="*/ 1228607 h 1316375"/>
                <a:gd name="connsiteX13" fmla="*/ 2756623 w 2944854"/>
                <a:gd name="connsiteY13" fmla="*/ 1316375 h 1316375"/>
                <a:gd name="connsiteX14" fmla="*/ 1486231 w 2944854"/>
                <a:gd name="connsiteY14" fmla="*/ 727041 h 1316375"/>
                <a:gd name="connsiteX0" fmla="*/ 1486231 w 3024520"/>
                <a:gd name="connsiteY0" fmla="*/ 727041 h 1316375"/>
                <a:gd name="connsiteX1" fmla="*/ 257675 w 3024520"/>
                <a:gd name="connsiteY1" fmla="*/ 1302232 h 1316375"/>
                <a:gd name="connsiteX2" fmla="*/ 0 w 3024520"/>
                <a:gd name="connsiteY2" fmla="*/ 1228607 h 1316375"/>
                <a:gd name="connsiteX3" fmla="*/ 911064 w 3024520"/>
                <a:gd name="connsiteY3" fmla="*/ 837478 h 1316375"/>
                <a:gd name="connsiteX4" fmla="*/ 883456 w 3024520"/>
                <a:gd name="connsiteY4" fmla="*/ 450949 h 1316375"/>
                <a:gd name="connsiteX5" fmla="*/ 161047 w 3024520"/>
                <a:gd name="connsiteY5" fmla="*/ 119640 h 1316375"/>
                <a:gd name="connsiteX6" fmla="*/ 404917 w 3024520"/>
                <a:gd name="connsiteY6" fmla="*/ 50617 h 1316375"/>
                <a:gd name="connsiteX7" fmla="*/ 1477028 w 3024520"/>
                <a:gd name="connsiteY7" fmla="*/ 501566 h 1316375"/>
                <a:gd name="connsiteX8" fmla="*/ 2572146 w 3024520"/>
                <a:gd name="connsiteY8" fmla="*/ 0 h 1316375"/>
                <a:gd name="connsiteX9" fmla="*/ 2875834 w 3024520"/>
                <a:gd name="connsiteY9" fmla="*/ 96632 h 1316375"/>
                <a:gd name="connsiteX10" fmla="*/ 2079803 w 3024520"/>
                <a:gd name="connsiteY10" fmla="*/ 432543 h 1316375"/>
                <a:gd name="connsiteX11" fmla="*/ 2240850 w 3024520"/>
                <a:gd name="connsiteY11" fmla="*/ 920305 h 1316375"/>
                <a:gd name="connsiteX12" fmla="*/ 3024520 w 3024520"/>
                <a:gd name="connsiteY12" fmla="*/ 1228607 h 1316375"/>
                <a:gd name="connsiteX13" fmla="*/ 2756623 w 3024520"/>
                <a:gd name="connsiteY13" fmla="*/ 1316375 h 1316375"/>
                <a:gd name="connsiteX14" fmla="*/ 1486231 w 3024520"/>
                <a:gd name="connsiteY14" fmla="*/ 727041 h 1316375"/>
                <a:gd name="connsiteX0" fmla="*/ 1537780 w 3076069"/>
                <a:gd name="connsiteY0" fmla="*/ 727041 h 1316375"/>
                <a:gd name="connsiteX1" fmla="*/ 309224 w 3076069"/>
                <a:gd name="connsiteY1" fmla="*/ 1302232 h 1316375"/>
                <a:gd name="connsiteX2" fmla="*/ 0 w 3076069"/>
                <a:gd name="connsiteY2" fmla="*/ 1228607 h 1316375"/>
                <a:gd name="connsiteX3" fmla="*/ 962613 w 3076069"/>
                <a:gd name="connsiteY3" fmla="*/ 837478 h 1316375"/>
                <a:gd name="connsiteX4" fmla="*/ 935005 w 3076069"/>
                <a:gd name="connsiteY4" fmla="*/ 450949 h 1316375"/>
                <a:gd name="connsiteX5" fmla="*/ 212596 w 3076069"/>
                <a:gd name="connsiteY5" fmla="*/ 119640 h 1316375"/>
                <a:gd name="connsiteX6" fmla="*/ 456466 w 3076069"/>
                <a:gd name="connsiteY6" fmla="*/ 50617 h 1316375"/>
                <a:gd name="connsiteX7" fmla="*/ 1528577 w 3076069"/>
                <a:gd name="connsiteY7" fmla="*/ 501566 h 1316375"/>
                <a:gd name="connsiteX8" fmla="*/ 2623695 w 3076069"/>
                <a:gd name="connsiteY8" fmla="*/ 0 h 1316375"/>
                <a:gd name="connsiteX9" fmla="*/ 2927383 w 3076069"/>
                <a:gd name="connsiteY9" fmla="*/ 96632 h 1316375"/>
                <a:gd name="connsiteX10" fmla="*/ 2131352 w 3076069"/>
                <a:gd name="connsiteY10" fmla="*/ 432543 h 1316375"/>
                <a:gd name="connsiteX11" fmla="*/ 2292399 w 3076069"/>
                <a:gd name="connsiteY11" fmla="*/ 920305 h 1316375"/>
                <a:gd name="connsiteX12" fmla="*/ 3076069 w 3076069"/>
                <a:gd name="connsiteY12" fmla="*/ 1228607 h 1316375"/>
                <a:gd name="connsiteX13" fmla="*/ 2808172 w 3076069"/>
                <a:gd name="connsiteY13" fmla="*/ 1316375 h 1316375"/>
                <a:gd name="connsiteX14" fmla="*/ 1537780 w 3076069"/>
                <a:gd name="connsiteY14" fmla="*/ 727041 h 1316375"/>
                <a:gd name="connsiteX0" fmla="*/ 1537780 w 3076069"/>
                <a:gd name="connsiteY0" fmla="*/ 727041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27041 h 1321259"/>
                <a:gd name="connsiteX0" fmla="*/ 1537780 w 3076069"/>
                <a:gd name="connsiteY0" fmla="*/ 750825 h 1321259"/>
                <a:gd name="connsiteX1" fmla="*/ 313981 w 3076069"/>
                <a:gd name="connsiteY1" fmla="*/ 1321259 h 1321259"/>
                <a:gd name="connsiteX2" fmla="*/ 0 w 3076069"/>
                <a:gd name="connsiteY2" fmla="*/ 1228607 h 1321259"/>
                <a:gd name="connsiteX3" fmla="*/ 962613 w 3076069"/>
                <a:gd name="connsiteY3" fmla="*/ 837478 h 1321259"/>
                <a:gd name="connsiteX4" fmla="*/ 935005 w 3076069"/>
                <a:gd name="connsiteY4" fmla="*/ 450949 h 1321259"/>
                <a:gd name="connsiteX5" fmla="*/ 212596 w 3076069"/>
                <a:gd name="connsiteY5" fmla="*/ 119640 h 1321259"/>
                <a:gd name="connsiteX6" fmla="*/ 456466 w 3076069"/>
                <a:gd name="connsiteY6" fmla="*/ 50617 h 1321259"/>
                <a:gd name="connsiteX7" fmla="*/ 1528577 w 3076069"/>
                <a:gd name="connsiteY7" fmla="*/ 501566 h 1321259"/>
                <a:gd name="connsiteX8" fmla="*/ 2623695 w 3076069"/>
                <a:gd name="connsiteY8" fmla="*/ 0 h 1321259"/>
                <a:gd name="connsiteX9" fmla="*/ 2927383 w 3076069"/>
                <a:gd name="connsiteY9" fmla="*/ 96632 h 1321259"/>
                <a:gd name="connsiteX10" fmla="*/ 2131352 w 3076069"/>
                <a:gd name="connsiteY10" fmla="*/ 432543 h 1321259"/>
                <a:gd name="connsiteX11" fmla="*/ 2292399 w 3076069"/>
                <a:gd name="connsiteY11" fmla="*/ 920305 h 1321259"/>
                <a:gd name="connsiteX12" fmla="*/ 3076069 w 3076069"/>
                <a:gd name="connsiteY12" fmla="*/ 1228607 h 1321259"/>
                <a:gd name="connsiteX13" fmla="*/ 2808172 w 3076069"/>
                <a:gd name="connsiteY13" fmla="*/ 1316375 h 1321259"/>
                <a:gd name="connsiteX14" fmla="*/ 1537780 w 3076069"/>
                <a:gd name="connsiteY14" fmla="*/ 750825 h 13212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076069" h="132125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63" name="Freeform 362"/>
            <p:cNvSpPr/>
            <p:nvPr/>
          </p:nvSpPr>
          <p:spPr bwMode="auto">
            <a:xfrm>
              <a:off x="2102657" y="1633104"/>
              <a:ext cx="662442" cy="111240"/>
            </a:xfrm>
            <a:custGeom>
              <a:avLst/>
              <a:gdLst>
                <a:gd name="connsiteX0" fmla="*/ 0 w 3645229"/>
                <a:gd name="connsiteY0" fmla="*/ 214441 h 923747"/>
                <a:gd name="connsiteX1" fmla="*/ 659770 w 3645229"/>
                <a:gd name="connsiteY1" fmla="*/ 16495 h 923747"/>
                <a:gd name="connsiteX2" fmla="*/ 1814367 w 3645229"/>
                <a:gd name="connsiteY2" fmla="*/ 511360 h 923747"/>
                <a:gd name="connsiteX3" fmla="*/ 2968965 w 3645229"/>
                <a:gd name="connsiteY3" fmla="*/ 0 h 923747"/>
                <a:gd name="connsiteX4" fmla="*/ 3645229 w 3645229"/>
                <a:gd name="connsiteY4" fmla="*/ 197946 h 923747"/>
                <a:gd name="connsiteX5" fmla="*/ 3199884 w 3645229"/>
                <a:gd name="connsiteY5" fmla="*/ 461874 h 923747"/>
                <a:gd name="connsiteX6" fmla="*/ 2985459 w 3645229"/>
                <a:gd name="connsiteY6" fmla="*/ 379396 h 923747"/>
                <a:gd name="connsiteX7" fmla="*/ 1830861 w 3645229"/>
                <a:gd name="connsiteY7" fmla="*/ 923747 h 923747"/>
                <a:gd name="connsiteX8" fmla="*/ 676264 w 3645229"/>
                <a:gd name="connsiteY8" fmla="*/ 412387 h 923747"/>
                <a:gd name="connsiteX9" fmla="*/ 527816 w 3645229"/>
                <a:gd name="connsiteY9" fmla="*/ 478369 h 923747"/>
                <a:gd name="connsiteX10" fmla="*/ 0 w 3645229"/>
                <a:gd name="connsiteY10" fmla="*/ 21444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78369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71662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23747"/>
                <a:gd name="connsiteX1" fmla="*/ 655168 w 3640627"/>
                <a:gd name="connsiteY1" fmla="*/ 16495 h 923747"/>
                <a:gd name="connsiteX2" fmla="*/ 1809765 w 3640627"/>
                <a:gd name="connsiteY2" fmla="*/ 511360 h 923747"/>
                <a:gd name="connsiteX3" fmla="*/ 2964363 w 3640627"/>
                <a:gd name="connsiteY3" fmla="*/ 0 h 923747"/>
                <a:gd name="connsiteX4" fmla="*/ 3640627 w 3640627"/>
                <a:gd name="connsiteY4" fmla="*/ 197946 h 923747"/>
                <a:gd name="connsiteX5" fmla="*/ 3195282 w 3640627"/>
                <a:gd name="connsiteY5" fmla="*/ 461874 h 923747"/>
                <a:gd name="connsiteX6" fmla="*/ 2980857 w 3640627"/>
                <a:gd name="connsiteY6" fmla="*/ 379396 h 923747"/>
                <a:gd name="connsiteX7" fmla="*/ 1826259 w 3640627"/>
                <a:gd name="connsiteY7" fmla="*/ 923747 h 923747"/>
                <a:gd name="connsiteX8" fmla="*/ 690067 w 3640627"/>
                <a:gd name="connsiteY8" fmla="*/ 412387 h 923747"/>
                <a:gd name="connsiteX9" fmla="*/ 523214 w 3640627"/>
                <a:gd name="connsiteY9" fmla="*/ 482971 h 923747"/>
                <a:gd name="connsiteX10" fmla="*/ 0 w 3640627"/>
                <a:gd name="connsiteY10" fmla="*/ 242051 h 923747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09765 w 3640627"/>
                <a:gd name="connsiteY2" fmla="*/ 511360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2980857 w 3640627"/>
                <a:gd name="connsiteY6" fmla="*/ 379396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640627"/>
                <a:gd name="connsiteY0" fmla="*/ 242051 h 946755"/>
                <a:gd name="connsiteX1" fmla="*/ 655168 w 3640627"/>
                <a:gd name="connsiteY1" fmla="*/ 16495 h 946755"/>
                <a:gd name="connsiteX2" fmla="*/ 1855778 w 3640627"/>
                <a:gd name="connsiteY2" fmla="*/ 534367 h 946755"/>
                <a:gd name="connsiteX3" fmla="*/ 2964363 w 3640627"/>
                <a:gd name="connsiteY3" fmla="*/ 0 h 946755"/>
                <a:gd name="connsiteX4" fmla="*/ 3640627 w 3640627"/>
                <a:gd name="connsiteY4" fmla="*/ 197946 h 946755"/>
                <a:gd name="connsiteX5" fmla="*/ 3195282 w 3640627"/>
                <a:gd name="connsiteY5" fmla="*/ 461874 h 946755"/>
                <a:gd name="connsiteX6" fmla="*/ 3008465 w 3640627"/>
                <a:gd name="connsiteY6" fmla="*/ 402404 h 946755"/>
                <a:gd name="connsiteX7" fmla="*/ 1876873 w 3640627"/>
                <a:gd name="connsiteY7" fmla="*/ 946755 h 946755"/>
                <a:gd name="connsiteX8" fmla="*/ 690067 w 3640627"/>
                <a:gd name="connsiteY8" fmla="*/ 412387 h 946755"/>
                <a:gd name="connsiteX9" fmla="*/ 523214 w 3640627"/>
                <a:gd name="connsiteY9" fmla="*/ 482971 h 946755"/>
                <a:gd name="connsiteX10" fmla="*/ 0 w 3640627"/>
                <a:gd name="connsiteY10" fmla="*/ 242051 h 946755"/>
                <a:gd name="connsiteX0" fmla="*/ 0 w 3723451"/>
                <a:gd name="connsiteY0" fmla="*/ 242051 h 946755"/>
                <a:gd name="connsiteX1" fmla="*/ 655168 w 3723451"/>
                <a:gd name="connsiteY1" fmla="*/ 16495 h 946755"/>
                <a:gd name="connsiteX2" fmla="*/ 1855778 w 3723451"/>
                <a:gd name="connsiteY2" fmla="*/ 534367 h 946755"/>
                <a:gd name="connsiteX3" fmla="*/ 2964363 w 3723451"/>
                <a:gd name="connsiteY3" fmla="*/ 0 h 946755"/>
                <a:gd name="connsiteX4" fmla="*/ 3723451 w 3723451"/>
                <a:gd name="connsiteY4" fmla="*/ 220954 h 946755"/>
                <a:gd name="connsiteX5" fmla="*/ 3195282 w 3723451"/>
                <a:gd name="connsiteY5" fmla="*/ 461874 h 946755"/>
                <a:gd name="connsiteX6" fmla="*/ 3008465 w 3723451"/>
                <a:gd name="connsiteY6" fmla="*/ 402404 h 946755"/>
                <a:gd name="connsiteX7" fmla="*/ 1876873 w 3723451"/>
                <a:gd name="connsiteY7" fmla="*/ 946755 h 946755"/>
                <a:gd name="connsiteX8" fmla="*/ 690067 w 3723451"/>
                <a:gd name="connsiteY8" fmla="*/ 412387 h 946755"/>
                <a:gd name="connsiteX9" fmla="*/ 523214 w 3723451"/>
                <a:gd name="connsiteY9" fmla="*/ 482971 h 946755"/>
                <a:gd name="connsiteX10" fmla="*/ 0 w 3723451"/>
                <a:gd name="connsiteY10" fmla="*/ 242051 h 946755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08465 w 3723451"/>
                <a:gd name="connsiteY6" fmla="*/ 388599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95282 w 3723451"/>
                <a:gd name="connsiteY5" fmla="*/ 448069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690067 w 3723451"/>
                <a:gd name="connsiteY8" fmla="*/ 398582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  <a:gd name="connsiteX0" fmla="*/ 0 w 3723451"/>
                <a:gd name="connsiteY0" fmla="*/ 228246 h 932950"/>
                <a:gd name="connsiteX1" fmla="*/ 655168 w 3723451"/>
                <a:gd name="connsiteY1" fmla="*/ 2690 h 932950"/>
                <a:gd name="connsiteX2" fmla="*/ 1855778 w 3723451"/>
                <a:gd name="connsiteY2" fmla="*/ 520562 h 932950"/>
                <a:gd name="connsiteX3" fmla="*/ 3001174 w 3723451"/>
                <a:gd name="connsiteY3" fmla="*/ 0 h 932950"/>
                <a:gd name="connsiteX4" fmla="*/ 3723451 w 3723451"/>
                <a:gd name="connsiteY4" fmla="*/ 207149 h 932950"/>
                <a:gd name="connsiteX5" fmla="*/ 3186079 w 3723451"/>
                <a:gd name="connsiteY5" fmla="*/ 461874 h 932950"/>
                <a:gd name="connsiteX6" fmla="*/ 3013067 w 3723451"/>
                <a:gd name="connsiteY6" fmla="*/ 393200 h 932950"/>
                <a:gd name="connsiteX7" fmla="*/ 1876873 w 3723451"/>
                <a:gd name="connsiteY7" fmla="*/ 932950 h 932950"/>
                <a:gd name="connsiteX8" fmla="*/ 711613 w 3723451"/>
                <a:gd name="connsiteY8" fmla="*/ 413055 h 932950"/>
                <a:gd name="connsiteX9" fmla="*/ 523214 w 3723451"/>
                <a:gd name="connsiteY9" fmla="*/ 469166 h 932950"/>
                <a:gd name="connsiteX10" fmla="*/ 0 w 3723451"/>
                <a:gd name="connsiteY10" fmla="*/ 228246 h 93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723451" h="932950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64" name="Freeform 363"/>
            <p:cNvSpPr/>
            <p:nvPr/>
          </p:nvSpPr>
          <p:spPr bwMode="auto">
            <a:xfrm>
              <a:off x="2536889" y="1727776"/>
              <a:ext cx="244059" cy="97039"/>
            </a:xfrm>
            <a:custGeom>
              <a:avLst/>
              <a:gdLst>
                <a:gd name="connsiteX0" fmla="*/ 55216 w 1421812"/>
                <a:gd name="connsiteY0" fmla="*/ 0 h 800665"/>
                <a:gd name="connsiteX1" fmla="*/ 1421812 w 1421812"/>
                <a:gd name="connsiteY1" fmla="*/ 625807 h 800665"/>
                <a:gd name="connsiteX2" fmla="*/ 947874 w 1421812"/>
                <a:gd name="connsiteY2" fmla="*/ 800665 h 800665"/>
                <a:gd name="connsiteX3" fmla="*/ 50614 w 1421812"/>
                <a:gd name="connsiteY3" fmla="*/ 404934 h 800665"/>
                <a:gd name="connsiteX4" fmla="*/ 0 w 1421812"/>
                <a:gd name="connsiteY4" fmla="*/ 404934 h 800665"/>
                <a:gd name="connsiteX5" fmla="*/ 55216 w 1421812"/>
                <a:gd name="connsiteY5" fmla="*/ 0 h 800665"/>
                <a:gd name="connsiteX0" fmla="*/ 4602 w 1371198"/>
                <a:gd name="connsiteY0" fmla="*/ 0 h 800665"/>
                <a:gd name="connsiteX1" fmla="*/ 1371198 w 1371198"/>
                <a:gd name="connsiteY1" fmla="*/ 625807 h 800665"/>
                <a:gd name="connsiteX2" fmla="*/ 897260 w 1371198"/>
                <a:gd name="connsiteY2" fmla="*/ 800665 h 800665"/>
                <a:gd name="connsiteX3" fmla="*/ 0 w 1371198"/>
                <a:gd name="connsiteY3" fmla="*/ 404934 h 800665"/>
                <a:gd name="connsiteX4" fmla="*/ 4602 w 1371198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0665"/>
                <a:gd name="connsiteX1" fmla="*/ 1366596 w 1366596"/>
                <a:gd name="connsiteY1" fmla="*/ 625807 h 800665"/>
                <a:gd name="connsiteX2" fmla="*/ 892658 w 1366596"/>
                <a:gd name="connsiteY2" fmla="*/ 800665 h 800665"/>
                <a:gd name="connsiteX3" fmla="*/ 4601 w 1366596"/>
                <a:gd name="connsiteY3" fmla="*/ 427942 h 800665"/>
                <a:gd name="connsiteX4" fmla="*/ 0 w 1366596"/>
                <a:gd name="connsiteY4" fmla="*/ 0 h 800665"/>
                <a:gd name="connsiteX0" fmla="*/ 0 w 1366596"/>
                <a:gd name="connsiteY0" fmla="*/ 0 h 809868"/>
                <a:gd name="connsiteX1" fmla="*/ 1366596 w 1366596"/>
                <a:gd name="connsiteY1" fmla="*/ 625807 h 809868"/>
                <a:gd name="connsiteX2" fmla="*/ 865050 w 1366596"/>
                <a:gd name="connsiteY2" fmla="*/ 809868 h 809868"/>
                <a:gd name="connsiteX3" fmla="*/ 4601 w 1366596"/>
                <a:gd name="connsiteY3" fmla="*/ 427942 h 809868"/>
                <a:gd name="connsiteX4" fmla="*/ 0 w 1366596"/>
                <a:gd name="connsiteY4" fmla="*/ 0 h 809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66596" h="809868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65" name="Freeform 364"/>
            <p:cNvSpPr/>
            <p:nvPr/>
          </p:nvSpPr>
          <p:spPr bwMode="auto">
            <a:xfrm>
              <a:off x="2089979" y="1730143"/>
              <a:ext cx="240888" cy="97040"/>
            </a:xfrm>
            <a:custGeom>
              <a:avLst/>
              <a:gdLst>
                <a:gd name="connsiteX0" fmla="*/ 1329786 w 1348191"/>
                <a:gd name="connsiteY0" fmla="*/ 0 h 809869"/>
                <a:gd name="connsiteX1" fmla="*/ 1348191 w 1348191"/>
                <a:gd name="connsiteY1" fmla="*/ 400333 h 809869"/>
                <a:gd name="connsiteX2" fmla="*/ 487742 w 1348191"/>
                <a:gd name="connsiteY2" fmla="*/ 809869 h 809869"/>
                <a:gd name="connsiteX3" fmla="*/ 0 w 1348191"/>
                <a:gd name="connsiteY3" fmla="*/ 630409 h 809869"/>
                <a:gd name="connsiteX4" fmla="*/ 1329786 w 1348191"/>
                <a:gd name="connsiteY4" fmla="*/ 0 h 809869"/>
                <a:gd name="connsiteX0" fmla="*/ 1329786 w 1348191"/>
                <a:gd name="connsiteY0" fmla="*/ 0 h 791462"/>
                <a:gd name="connsiteX1" fmla="*/ 1348191 w 1348191"/>
                <a:gd name="connsiteY1" fmla="*/ 381926 h 791462"/>
                <a:gd name="connsiteX2" fmla="*/ 487742 w 1348191"/>
                <a:gd name="connsiteY2" fmla="*/ 791462 h 791462"/>
                <a:gd name="connsiteX3" fmla="*/ 0 w 1348191"/>
                <a:gd name="connsiteY3" fmla="*/ 612002 h 791462"/>
                <a:gd name="connsiteX4" fmla="*/ 1329786 w 1348191"/>
                <a:gd name="connsiteY4" fmla="*/ 0 h 7914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48191" h="791462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366" name="Straight Connector 365"/>
            <p:cNvCxnSpPr>
              <a:endCxn id="361" idx="2"/>
            </p:cNvCxnSpPr>
            <p:nvPr/>
          </p:nvCxnSpPr>
          <p:spPr bwMode="auto">
            <a:xfrm flipH="1" flipV="1">
              <a:off x="1871277" y="1737244"/>
              <a:ext cx="3171" cy="123075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366"/>
            <p:cNvCxnSpPr/>
            <p:nvPr/>
          </p:nvCxnSpPr>
          <p:spPr bwMode="auto">
            <a:xfrm flipH="1" flipV="1">
              <a:off x="2996479" y="1734876"/>
              <a:ext cx="3169" cy="123075"/>
            </a:xfrm>
            <a:prstGeom prst="line">
              <a:avLst/>
            </a:prstGeom>
            <a:ln w="6350" cmpd="sng">
              <a:solidFill>
                <a:schemeClr val="tx1"/>
              </a:solidFill>
            </a:ln>
            <a:effectLst>
              <a:outerShdw blurRad="40005" dist="19939" dir="5400000" algn="tl" rotWithShape="0">
                <a:srgbClr val="000000">
                  <a:alpha val="38000"/>
                </a:srgbClr>
              </a:out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/>
          <p:cNvGrpSpPr/>
          <p:nvPr/>
        </p:nvGrpSpPr>
        <p:grpSpPr>
          <a:xfrm>
            <a:off x="3247672" y="2535157"/>
            <a:ext cx="5270058" cy="3804634"/>
            <a:chOff x="1757805" y="2331054"/>
            <a:chExt cx="5270058" cy="3804634"/>
          </a:xfrm>
        </p:grpSpPr>
        <p:sp>
          <p:nvSpPr>
            <p:cNvPr id="268" name="Freeform 267"/>
            <p:cNvSpPr/>
            <p:nvPr/>
          </p:nvSpPr>
          <p:spPr>
            <a:xfrm>
              <a:off x="1776413" y="4829175"/>
              <a:ext cx="1220787" cy="920750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363082 w 1040633"/>
                <a:gd name="connsiteY4" fmla="*/ 1160935 h 1160935"/>
                <a:gd name="connsiteX0" fmla="*/ 448507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448507 w 1040633"/>
                <a:gd name="connsiteY4" fmla="*/ 1160935 h 1160935"/>
                <a:gd name="connsiteX0" fmla="*/ 448507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448507 w 1040633"/>
                <a:gd name="connsiteY4" fmla="*/ 1160935 h 1160935"/>
                <a:gd name="connsiteX0" fmla="*/ 448507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569478 w 1040633"/>
                <a:gd name="connsiteY3" fmla="*/ 1158121 h 1160935"/>
                <a:gd name="connsiteX4" fmla="*/ 448507 w 1040633"/>
                <a:gd name="connsiteY4" fmla="*/ 1160935 h 1160935"/>
                <a:gd name="connsiteX0" fmla="*/ 448507 w 1325315"/>
                <a:gd name="connsiteY0" fmla="*/ 1160935 h 1160935"/>
                <a:gd name="connsiteX1" fmla="*/ 0 w 1325315"/>
                <a:gd name="connsiteY1" fmla="*/ 0 h 1160935"/>
                <a:gd name="connsiteX2" fmla="*/ 1040633 w 1325315"/>
                <a:gd name="connsiteY2" fmla="*/ 16785 h 1160935"/>
                <a:gd name="connsiteX3" fmla="*/ 1214315 w 1325315"/>
                <a:gd name="connsiteY3" fmla="*/ 1064597 h 1160935"/>
                <a:gd name="connsiteX4" fmla="*/ 448507 w 1325315"/>
                <a:gd name="connsiteY4" fmla="*/ 1160935 h 1160935"/>
                <a:gd name="connsiteX0" fmla="*/ 448507 w 1214315"/>
                <a:gd name="connsiteY0" fmla="*/ 1160935 h 1160935"/>
                <a:gd name="connsiteX1" fmla="*/ 0 w 1214315"/>
                <a:gd name="connsiteY1" fmla="*/ 0 h 1160935"/>
                <a:gd name="connsiteX2" fmla="*/ 1040633 w 1214315"/>
                <a:gd name="connsiteY2" fmla="*/ 16785 h 1160935"/>
                <a:gd name="connsiteX3" fmla="*/ 1214315 w 1214315"/>
                <a:gd name="connsiteY3" fmla="*/ 1064597 h 1160935"/>
                <a:gd name="connsiteX4" fmla="*/ 448507 w 1214315"/>
                <a:gd name="connsiteY4" fmla="*/ 1160935 h 1160935"/>
                <a:gd name="connsiteX0" fmla="*/ 448507 w 1214315"/>
                <a:gd name="connsiteY0" fmla="*/ 1160935 h 1160935"/>
                <a:gd name="connsiteX1" fmla="*/ 0 w 1214315"/>
                <a:gd name="connsiteY1" fmla="*/ 0 h 1160935"/>
                <a:gd name="connsiteX2" fmla="*/ 1040633 w 1214315"/>
                <a:gd name="connsiteY2" fmla="*/ 16785 h 1160935"/>
                <a:gd name="connsiteX3" fmla="*/ 1214315 w 1214315"/>
                <a:gd name="connsiteY3" fmla="*/ 1064597 h 1160935"/>
                <a:gd name="connsiteX4" fmla="*/ 448507 w 1214315"/>
                <a:gd name="connsiteY4" fmla="*/ 1160935 h 1160935"/>
                <a:gd name="connsiteX0" fmla="*/ 1053964 w 1214315"/>
                <a:gd name="connsiteY0" fmla="*/ 1136323 h 1136323"/>
                <a:gd name="connsiteX1" fmla="*/ 0 w 1214315"/>
                <a:gd name="connsiteY1" fmla="*/ 0 h 1136323"/>
                <a:gd name="connsiteX2" fmla="*/ 1040633 w 1214315"/>
                <a:gd name="connsiteY2" fmla="*/ 16785 h 1136323"/>
                <a:gd name="connsiteX3" fmla="*/ 1214315 w 1214315"/>
                <a:gd name="connsiteY3" fmla="*/ 1064597 h 1136323"/>
                <a:gd name="connsiteX4" fmla="*/ 1053964 w 1214315"/>
                <a:gd name="connsiteY4" fmla="*/ 1136323 h 1136323"/>
                <a:gd name="connsiteX0" fmla="*/ 1053964 w 1214315"/>
                <a:gd name="connsiteY0" fmla="*/ 1136323 h 1136323"/>
                <a:gd name="connsiteX1" fmla="*/ 0 w 1214315"/>
                <a:gd name="connsiteY1" fmla="*/ 0 h 1136323"/>
                <a:gd name="connsiteX2" fmla="*/ 1040633 w 1214315"/>
                <a:gd name="connsiteY2" fmla="*/ 16785 h 1136323"/>
                <a:gd name="connsiteX3" fmla="*/ 1214315 w 1214315"/>
                <a:gd name="connsiteY3" fmla="*/ 1064597 h 1136323"/>
                <a:gd name="connsiteX4" fmla="*/ 1053964 w 1214315"/>
                <a:gd name="connsiteY4" fmla="*/ 1136323 h 1136323"/>
                <a:gd name="connsiteX0" fmla="*/ 1053964 w 1214315"/>
                <a:gd name="connsiteY0" fmla="*/ 1136323 h 1136323"/>
                <a:gd name="connsiteX1" fmla="*/ 0 w 1214315"/>
                <a:gd name="connsiteY1" fmla="*/ 0 h 1136323"/>
                <a:gd name="connsiteX2" fmla="*/ 1040633 w 1214315"/>
                <a:gd name="connsiteY2" fmla="*/ 16785 h 1136323"/>
                <a:gd name="connsiteX3" fmla="*/ 1214315 w 1214315"/>
                <a:gd name="connsiteY3" fmla="*/ 1064597 h 1136323"/>
                <a:gd name="connsiteX4" fmla="*/ 1053964 w 1214315"/>
                <a:gd name="connsiteY4" fmla="*/ 1136323 h 1136323"/>
                <a:gd name="connsiteX0" fmla="*/ 1060159 w 1220510"/>
                <a:gd name="connsiteY0" fmla="*/ 1119627 h 1119627"/>
                <a:gd name="connsiteX1" fmla="*/ 0 w 1220510"/>
                <a:gd name="connsiteY1" fmla="*/ 249694 h 1119627"/>
                <a:gd name="connsiteX2" fmla="*/ 1046828 w 1220510"/>
                <a:gd name="connsiteY2" fmla="*/ 89 h 1119627"/>
                <a:gd name="connsiteX3" fmla="*/ 1220510 w 1220510"/>
                <a:gd name="connsiteY3" fmla="*/ 1047901 h 1119627"/>
                <a:gd name="connsiteX4" fmla="*/ 1060159 w 1220510"/>
                <a:gd name="connsiteY4" fmla="*/ 1119627 h 1119627"/>
                <a:gd name="connsiteX0" fmla="*/ 1060159 w 1220510"/>
                <a:gd name="connsiteY0" fmla="*/ 1119627 h 1119627"/>
                <a:gd name="connsiteX1" fmla="*/ 0 w 1220510"/>
                <a:gd name="connsiteY1" fmla="*/ 249694 h 1119627"/>
                <a:gd name="connsiteX2" fmla="*/ 1046828 w 1220510"/>
                <a:gd name="connsiteY2" fmla="*/ 89 h 1119627"/>
                <a:gd name="connsiteX3" fmla="*/ 1220510 w 1220510"/>
                <a:gd name="connsiteY3" fmla="*/ 1047901 h 1119627"/>
                <a:gd name="connsiteX4" fmla="*/ 1060159 w 1220510"/>
                <a:gd name="connsiteY4" fmla="*/ 1119627 h 1119627"/>
                <a:gd name="connsiteX0" fmla="*/ 1060159 w 1220510"/>
                <a:gd name="connsiteY0" fmla="*/ 1119627 h 1119627"/>
                <a:gd name="connsiteX1" fmla="*/ 0 w 1220510"/>
                <a:gd name="connsiteY1" fmla="*/ 249694 h 1119627"/>
                <a:gd name="connsiteX2" fmla="*/ 1046828 w 1220510"/>
                <a:gd name="connsiteY2" fmla="*/ 89 h 1119627"/>
                <a:gd name="connsiteX3" fmla="*/ 1220510 w 1220510"/>
                <a:gd name="connsiteY3" fmla="*/ 1047901 h 1119627"/>
                <a:gd name="connsiteX4" fmla="*/ 1060159 w 1220510"/>
                <a:gd name="connsiteY4" fmla="*/ 1119627 h 1119627"/>
                <a:gd name="connsiteX0" fmla="*/ 1060159 w 1220510"/>
                <a:gd name="connsiteY0" fmla="*/ 921649 h 921649"/>
                <a:gd name="connsiteX1" fmla="*/ 0 w 1220510"/>
                <a:gd name="connsiteY1" fmla="*/ 51716 h 921649"/>
                <a:gd name="connsiteX2" fmla="*/ 1059218 w 1220510"/>
                <a:gd name="connsiteY2" fmla="*/ 355 h 921649"/>
                <a:gd name="connsiteX3" fmla="*/ 1220510 w 1220510"/>
                <a:gd name="connsiteY3" fmla="*/ 849923 h 921649"/>
                <a:gd name="connsiteX4" fmla="*/ 1060159 w 1220510"/>
                <a:gd name="connsiteY4" fmla="*/ 921649 h 921649"/>
                <a:gd name="connsiteX0" fmla="*/ 1060159 w 1220510"/>
                <a:gd name="connsiteY0" fmla="*/ 921649 h 921649"/>
                <a:gd name="connsiteX1" fmla="*/ 0 w 1220510"/>
                <a:gd name="connsiteY1" fmla="*/ 51716 h 921649"/>
                <a:gd name="connsiteX2" fmla="*/ 1059218 w 1220510"/>
                <a:gd name="connsiteY2" fmla="*/ 355 h 921649"/>
                <a:gd name="connsiteX3" fmla="*/ 1220510 w 1220510"/>
                <a:gd name="connsiteY3" fmla="*/ 849923 h 921649"/>
                <a:gd name="connsiteX4" fmla="*/ 1060159 w 1220510"/>
                <a:gd name="connsiteY4" fmla="*/ 921649 h 921649"/>
                <a:gd name="connsiteX0" fmla="*/ 1060159 w 1220510"/>
                <a:gd name="connsiteY0" fmla="*/ 921649 h 921649"/>
                <a:gd name="connsiteX1" fmla="*/ 0 w 1220510"/>
                <a:gd name="connsiteY1" fmla="*/ 51716 h 921649"/>
                <a:gd name="connsiteX2" fmla="*/ 1059218 w 1220510"/>
                <a:gd name="connsiteY2" fmla="*/ 355 h 921649"/>
                <a:gd name="connsiteX3" fmla="*/ 1220510 w 1220510"/>
                <a:gd name="connsiteY3" fmla="*/ 849923 h 921649"/>
                <a:gd name="connsiteX4" fmla="*/ 1060159 w 1220510"/>
                <a:gd name="connsiteY4" fmla="*/ 921649 h 92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0510" h="921649">
                  <a:moveTo>
                    <a:pt x="1060159" y="921649"/>
                  </a:moveTo>
                  <a:cubicBezTo>
                    <a:pt x="166591" y="183345"/>
                    <a:pt x="908943" y="790884"/>
                    <a:pt x="0" y="51716"/>
                  </a:cubicBezTo>
                  <a:cubicBezTo>
                    <a:pt x="346878" y="57311"/>
                    <a:pt x="712340" y="-5240"/>
                    <a:pt x="1059218" y="355"/>
                  </a:cubicBezTo>
                  <a:cubicBezTo>
                    <a:pt x="1192967" y="751903"/>
                    <a:pt x="1090859" y="157699"/>
                    <a:pt x="1220510" y="849923"/>
                  </a:cubicBezTo>
                  <a:cubicBezTo>
                    <a:pt x="1126090" y="855456"/>
                    <a:pt x="1222187" y="863235"/>
                    <a:pt x="1060159" y="921649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</a:gra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72" name="Freeform 271"/>
            <p:cNvSpPr/>
            <p:nvPr/>
          </p:nvSpPr>
          <p:spPr>
            <a:xfrm>
              <a:off x="6102350" y="4916488"/>
              <a:ext cx="925513" cy="757237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71988 w 778664"/>
                <a:gd name="connsiteY3" fmla="*/ 1158121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23004 w 954755"/>
                <a:gd name="connsiteY0" fmla="*/ 943771 h 976186"/>
                <a:gd name="connsiteX1" fmla="*/ 455145 w 954755"/>
                <a:gd name="connsiteY1" fmla="*/ 11688 h 976186"/>
                <a:gd name="connsiteX2" fmla="*/ 954755 w 954755"/>
                <a:gd name="connsiteY2" fmla="*/ 0 h 976186"/>
                <a:gd name="connsiteX3" fmla="*/ 728484 w 954755"/>
                <a:gd name="connsiteY3" fmla="*/ 976186 h 976186"/>
                <a:gd name="connsiteX4" fmla="*/ 23004 w 954755"/>
                <a:gd name="connsiteY4" fmla="*/ 943771 h 976186"/>
                <a:gd name="connsiteX0" fmla="*/ 0 w 931751"/>
                <a:gd name="connsiteY0" fmla="*/ 943771 h 976186"/>
                <a:gd name="connsiteX1" fmla="*/ 432141 w 931751"/>
                <a:gd name="connsiteY1" fmla="*/ 11688 h 976186"/>
                <a:gd name="connsiteX2" fmla="*/ 931751 w 931751"/>
                <a:gd name="connsiteY2" fmla="*/ 0 h 976186"/>
                <a:gd name="connsiteX3" fmla="*/ 705480 w 931751"/>
                <a:gd name="connsiteY3" fmla="*/ 976186 h 976186"/>
                <a:gd name="connsiteX4" fmla="*/ 0 w 931751"/>
                <a:gd name="connsiteY4" fmla="*/ 943771 h 976186"/>
                <a:gd name="connsiteX0" fmla="*/ 0 w 931751"/>
                <a:gd name="connsiteY0" fmla="*/ 943771 h 976186"/>
                <a:gd name="connsiteX1" fmla="*/ 432141 w 931751"/>
                <a:gd name="connsiteY1" fmla="*/ 11688 h 976186"/>
                <a:gd name="connsiteX2" fmla="*/ 931751 w 931751"/>
                <a:gd name="connsiteY2" fmla="*/ 0 h 976186"/>
                <a:gd name="connsiteX3" fmla="*/ 705480 w 931751"/>
                <a:gd name="connsiteY3" fmla="*/ 976186 h 976186"/>
                <a:gd name="connsiteX4" fmla="*/ 0 w 931751"/>
                <a:gd name="connsiteY4" fmla="*/ 943771 h 976186"/>
                <a:gd name="connsiteX0" fmla="*/ 0 w 931751"/>
                <a:gd name="connsiteY0" fmla="*/ 943771 h 976186"/>
                <a:gd name="connsiteX1" fmla="*/ 432141 w 931751"/>
                <a:gd name="connsiteY1" fmla="*/ 11688 h 976186"/>
                <a:gd name="connsiteX2" fmla="*/ 931751 w 931751"/>
                <a:gd name="connsiteY2" fmla="*/ 0 h 976186"/>
                <a:gd name="connsiteX3" fmla="*/ 705480 w 931751"/>
                <a:gd name="connsiteY3" fmla="*/ 976186 h 976186"/>
                <a:gd name="connsiteX4" fmla="*/ 0 w 931751"/>
                <a:gd name="connsiteY4" fmla="*/ 943771 h 976186"/>
                <a:gd name="connsiteX0" fmla="*/ 0 w 931751"/>
                <a:gd name="connsiteY0" fmla="*/ 943771 h 966342"/>
                <a:gd name="connsiteX1" fmla="*/ 432141 w 931751"/>
                <a:gd name="connsiteY1" fmla="*/ 11688 h 966342"/>
                <a:gd name="connsiteX2" fmla="*/ 931751 w 931751"/>
                <a:gd name="connsiteY2" fmla="*/ 0 h 966342"/>
                <a:gd name="connsiteX3" fmla="*/ 183705 w 931751"/>
                <a:gd name="connsiteY3" fmla="*/ 966342 h 966342"/>
                <a:gd name="connsiteX4" fmla="*/ 0 w 931751"/>
                <a:gd name="connsiteY4" fmla="*/ 943771 h 966342"/>
                <a:gd name="connsiteX0" fmla="*/ 0 w 931751"/>
                <a:gd name="connsiteY0" fmla="*/ 943771 h 966342"/>
                <a:gd name="connsiteX1" fmla="*/ 432141 w 931751"/>
                <a:gd name="connsiteY1" fmla="*/ 11688 h 966342"/>
                <a:gd name="connsiteX2" fmla="*/ 931751 w 931751"/>
                <a:gd name="connsiteY2" fmla="*/ 0 h 966342"/>
                <a:gd name="connsiteX3" fmla="*/ 183705 w 931751"/>
                <a:gd name="connsiteY3" fmla="*/ 966342 h 966342"/>
                <a:gd name="connsiteX4" fmla="*/ 0 w 931751"/>
                <a:gd name="connsiteY4" fmla="*/ 943771 h 966342"/>
                <a:gd name="connsiteX0" fmla="*/ 0 w 931751"/>
                <a:gd name="connsiteY0" fmla="*/ 943771 h 966342"/>
                <a:gd name="connsiteX1" fmla="*/ 432141 w 931751"/>
                <a:gd name="connsiteY1" fmla="*/ 11688 h 966342"/>
                <a:gd name="connsiteX2" fmla="*/ 931751 w 931751"/>
                <a:gd name="connsiteY2" fmla="*/ 0 h 966342"/>
                <a:gd name="connsiteX3" fmla="*/ 183705 w 931751"/>
                <a:gd name="connsiteY3" fmla="*/ 966342 h 966342"/>
                <a:gd name="connsiteX4" fmla="*/ 0 w 931751"/>
                <a:gd name="connsiteY4" fmla="*/ 943771 h 966342"/>
                <a:gd name="connsiteX0" fmla="*/ 0 w 956363"/>
                <a:gd name="connsiteY0" fmla="*/ 932083 h 954654"/>
                <a:gd name="connsiteX1" fmla="*/ 432141 w 956363"/>
                <a:gd name="connsiteY1" fmla="*/ 0 h 954654"/>
                <a:gd name="connsiteX2" fmla="*/ 956363 w 956363"/>
                <a:gd name="connsiteY2" fmla="*/ 12924 h 954654"/>
                <a:gd name="connsiteX3" fmla="*/ 183705 w 956363"/>
                <a:gd name="connsiteY3" fmla="*/ 954654 h 954654"/>
                <a:gd name="connsiteX4" fmla="*/ 0 w 956363"/>
                <a:gd name="connsiteY4" fmla="*/ 932083 h 954654"/>
                <a:gd name="connsiteX0" fmla="*/ 0 w 956363"/>
                <a:gd name="connsiteY0" fmla="*/ 919226 h 941797"/>
                <a:gd name="connsiteX1" fmla="*/ 405840 w 956363"/>
                <a:gd name="connsiteY1" fmla="*/ 197551 h 941797"/>
                <a:gd name="connsiteX2" fmla="*/ 956363 w 956363"/>
                <a:gd name="connsiteY2" fmla="*/ 67 h 941797"/>
                <a:gd name="connsiteX3" fmla="*/ 183705 w 956363"/>
                <a:gd name="connsiteY3" fmla="*/ 941797 h 941797"/>
                <a:gd name="connsiteX4" fmla="*/ 0 w 956363"/>
                <a:gd name="connsiteY4" fmla="*/ 919226 h 941797"/>
                <a:gd name="connsiteX0" fmla="*/ 0 w 956363"/>
                <a:gd name="connsiteY0" fmla="*/ 919226 h 941797"/>
                <a:gd name="connsiteX1" fmla="*/ 405840 w 956363"/>
                <a:gd name="connsiteY1" fmla="*/ 197551 h 941797"/>
                <a:gd name="connsiteX2" fmla="*/ 956363 w 956363"/>
                <a:gd name="connsiteY2" fmla="*/ 67 h 941797"/>
                <a:gd name="connsiteX3" fmla="*/ 183705 w 956363"/>
                <a:gd name="connsiteY3" fmla="*/ 941797 h 941797"/>
                <a:gd name="connsiteX4" fmla="*/ 0 w 956363"/>
                <a:gd name="connsiteY4" fmla="*/ 919226 h 941797"/>
                <a:gd name="connsiteX0" fmla="*/ 0 w 956363"/>
                <a:gd name="connsiteY0" fmla="*/ 919226 h 941797"/>
                <a:gd name="connsiteX1" fmla="*/ 405840 w 956363"/>
                <a:gd name="connsiteY1" fmla="*/ 197551 h 941797"/>
                <a:gd name="connsiteX2" fmla="*/ 956363 w 956363"/>
                <a:gd name="connsiteY2" fmla="*/ 67 h 941797"/>
                <a:gd name="connsiteX3" fmla="*/ 183705 w 956363"/>
                <a:gd name="connsiteY3" fmla="*/ 941797 h 941797"/>
                <a:gd name="connsiteX4" fmla="*/ 0 w 956363"/>
                <a:gd name="connsiteY4" fmla="*/ 919226 h 941797"/>
                <a:gd name="connsiteX0" fmla="*/ 0 w 926304"/>
                <a:gd name="connsiteY0" fmla="*/ 735614 h 758185"/>
                <a:gd name="connsiteX1" fmla="*/ 405840 w 926304"/>
                <a:gd name="connsiteY1" fmla="*/ 13939 h 758185"/>
                <a:gd name="connsiteX2" fmla="*/ 926304 w 926304"/>
                <a:gd name="connsiteY2" fmla="*/ 563 h 758185"/>
                <a:gd name="connsiteX3" fmla="*/ 183705 w 926304"/>
                <a:gd name="connsiteY3" fmla="*/ 758185 h 758185"/>
                <a:gd name="connsiteX4" fmla="*/ 0 w 926304"/>
                <a:gd name="connsiteY4" fmla="*/ 735614 h 758185"/>
                <a:gd name="connsiteX0" fmla="*/ 0 w 926304"/>
                <a:gd name="connsiteY0" fmla="*/ 735614 h 758185"/>
                <a:gd name="connsiteX1" fmla="*/ 405840 w 926304"/>
                <a:gd name="connsiteY1" fmla="*/ 13939 h 758185"/>
                <a:gd name="connsiteX2" fmla="*/ 926304 w 926304"/>
                <a:gd name="connsiteY2" fmla="*/ 563 h 758185"/>
                <a:gd name="connsiteX3" fmla="*/ 183705 w 926304"/>
                <a:gd name="connsiteY3" fmla="*/ 758185 h 758185"/>
                <a:gd name="connsiteX4" fmla="*/ 0 w 926304"/>
                <a:gd name="connsiteY4" fmla="*/ 735614 h 758185"/>
                <a:gd name="connsiteX0" fmla="*/ 0 w 926304"/>
                <a:gd name="connsiteY0" fmla="*/ 735614 h 758185"/>
                <a:gd name="connsiteX1" fmla="*/ 405840 w 926304"/>
                <a:gd name="connsiteY1" fmla="*/ 13939 h 758185"/>
                <a:gd name="connsiteX2" fmla="*/ 926304 w 926304"/>
                <a:gd name="connsiteY2" fmla="*/ 563 h 758185"/>
                <a:gd name="connsiteX3" fmla="*/ 183705 w 926304"/>
                <a:gd name="connsiteY3" fmla="*/ 758185 h 758185"/>
                <a:gd name="connsiteX4" fmla="*/ 0 w 926304"/>
                <a:gd name="connsiteY4" fmla="*/ 735614 h 758185"/>
                <a:gd name="connsiteX0" fmla="*/ 0 w 926304"/>
                <a:gd name="connsiteY0" fmla="*/ 735614 h 758185"/>
                <a:gd name="connsiteX1" fmla="*/ 405840 w 926304"/>
                <a:gd name="connsiteY1" fmla="*/ 13939 h 758185"/>
                <a:gd name="connsiteX2" fmla="*/ 926304 w 926304"/>
                <a:gd name="connsiteY2" fmla="*/ 563 h 758185"/>
                <a:gd name="connsiteX3" fmla="*/ 183705 w 926304"/>
                <a:gd name="connsiteY3" fmla="*/ 758185 h 758185"/>
                <a:gd name="connsiteX4" fmla="*/ 0 w 926304"/>
                <a:gd name="connsiteY4" fmla="*/ 735614 h 758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26304" h="758185">
                  <a:moveTo>
                    <a:pt x="0" y="735614"/>
                  </a:moveTo>
                  <a:cubicBezTo>
                    <a:pt x="309918" y="169731"/>
                    <a:pt x="59088" y="622691"/>
                    <a:pt x="405840" y="13939"/>
                  </a:cubicBezTo>
                  <a:cubicBezTo>
                    <a:pt x="580581" y="18247"/>
                    <a:pt x="751563" y="-3745"/>
                    <a:pt x="926304" y="563"/>
                  </a:cubicBezTo>
                  <a:cubicBezTo>
                    <a:pt x="312762" y="607705"/>
                    <a:pt x="474902" y="459041"/>
                    <a:pt x="183705" y="758185"/>
                  </a:cubicBezTo>
                  <a:cubicBezTo>
                    <a:pt x="49420" y="729549"/>
                    <a:pt x="196198" y="734148"/>
                    <a:pt x="0" y="735614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  <a:alpha val="5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</a:gra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73" name="Freeform 272"/>
            <p:cNvSpPr/>
            <p:nvPr/>
          </p:nvSpPr>
          <p:spPr>
            <a:xfrm>
              <a:off x="5287963" y="4937125"/>
              <a:ext cx="725487" cy="1100138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71988 w 778664"/>
                <a:gd name="connsiteY3" fmla="*/ 1158121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27977 w 802211"/>
                <a:gd name="connsiteY0" fmla="*/ 815791 h 976186"/>
                <a:gd name="connsiteX1" fmla="*/ 302601 w 802211"/>
                <a:gd name="connsiteY1" fmla="*/ 11688 h 976186"/>
                <a:gd name="connsiteX2" fmla="*/ 802211 w 802211"/>
                <a:gd name="connsiteY2" fmla="*/ 0 h 976186"/>
                <a:gd name="connsiteX3" fmla="*/ 575940 w 802211"/>
                <a:gd name="connsiteY3" fmla="*/ 976186 h 976186"/>
                <a:gd name="connsiteX4" fmla="*/ 27977 w 802211"/>
                <a:gd name="connsiteY4" fmla="*/ 815791 h 976186"/>
                <a:gd name="connsiteX0" fmla="*/ 27977 w 802211"/>
                <a:gd name="connsiteY0" fmla="*/ 815791 h 815791"/>
                <a:gd name="connsiteX1" fmla="*/ 302601 w 802211"/>
                <a:gd name="connsiteY1" fmla="*/ 11688 h 815791"/>
                <a:gd name="connsiteX2" fmla="*/ 802211 w 802211"/>
                <a:gd name="connsiteY2" fmla="*/ 0 h 815791"/>
                <a:gd name="connsiteX3" fmla="*/ 236294 w 802211"/>
                <a:gd name="connsiteY3" fmla="*/ 808828 h 815791"/>
                <a:gd name="connsiteX4" fmla="*/ 27977 w 802211"/>
                <a:gd name="connsiteY4" fmla="*/ 815791 h 815791"/>
                <a:gd name="connsiteX0" fmla="*/ 27977 w 802211"/>
                <a:gd name="connsiteY0" fmla="*/ 815791 h 815791"/>
                <a:gd name="connsiteX1" fmla="*/ 302601 w 802211"/>
                <a:gd name="connsiteY1" fmla="*/ 11688 h 815791"/>
                <a:gd name="connsiteX2" fmla="*/ 802211 w 802211"/>
                <a:gd name="connsiteY2" fmla="*/ 0 h 815791"/>
                <a:gd name="connsiteX3" fmla="*/ 236294 w 802211"/>
                <a:gd name="connsiteY3" fmla="*/ 808828 h 815791"/>
                <a:gd name="connsiteX4" fmla="*/ 27977 w 802211"/>
                <a:gd name="connsiteY4" fmla="*/ 815791 h 815791"/>
                <a:gd name="connsiteX0" fmla="*/ 27977 w 802211"/>
                <a:gd name="connsiteY0" fmla="*/ 815791 h 815791"/>
                <a:gd name="connsiteX1" fmla="*/ 302601 w 802211"/>
                <a:gd name="connsiteY1" fmla="*/ 11688 h 815791"/>
                <a:gd name="connsiteX2" fmla="*/ 802211 w 802211"/>
                <a:gd name="connsiteY2" fmla="*/ 0 h 815791"/>
                <a:gd name="connsiteX3" fmla="*/ 236294 w 802211"/>
                <a:gd name="connsiteY3" fmla="*/ 808828 h 815791"/>
                <a:gd name="connsiteX4" fmla="*/ 27977 w 802211"/>
                <a:gd name="connsiteY4" fmla="*/ 815791 h 815791"/>
                <a:gd name="connsiteX0" fmla="*/ 27977 w 802211"/>
                <a:gd name="connsiteY0" fmla="*/ 828714 h 828714"/>
                <a:gd name="connsiteX1" fmla="*/ 302601 w 802211"/>
                <a:gd name="connsiteY1" fmla="*/ 0 h 828714"/>
                <a:gd name="connsiteX2" fmla="*/ 802211 w 802211"/>
                <a:gd name="connsiteY2" fmla="*/ 12923 h 828714"/>
                <a:gd name="connsiteX3" fmla="*/ 236294 w 802211"/>
                <a:gd name="connsiteY3" fmla="*/ 821751 h 828714"/>
                <a:gd name="connsiteX4" fmla="*/ 27977 w 802211"/>
                <a:gd name="connsiteY4" fmla="*/ 828714 h 828714"/>
                <a:gd name="connsiteX0" fmla="*/ 56213 w 830447"/>
                <a:gd name="connsiteY0" fmla="*/ 828714 h 828714"/>
                <a:gd name="connsiteX1" fmla="*/ 330837 w 830447"/>
                <a:gd name="connsiteY1" fmla="*/ 0 h 828714"/>
                <a:gd name="connsiteX2" fmla="*/ 830447 w 830447"/>
                <a:gd name="connsiteY2" fmla="*/ 12923 h 828714"/>
                <a:gd name="connsiteX3" fmla="*/ 264530 w 830447"/>
                <a:gd name="connsiteY3" fmla="*/ 821751 h 828714"/>
                <a:gd name="connsiteX4" fmla="*/ 56213 w 830447"/>
                <a:gd name="connsiteY4" fmla="*/ 828714 h 828714"/>
                <a:gd name="connsiteX0" fmla="*/ 64130 w 789139"/>
                <a:gd name="connsiteY0" fmla="*/ 794258 h 821751"/>
                <a:gd name="connsiteX1" fmla="*/ 289529 w 789139"/>
                <a:gd name="connsiteY1" fmla="*/ 0 h 821751"/>
                <a:gd name="connsiteX2" fmla="*/ 789139 w 789139"/>
                <a:gd name="connsiteY2" fmla="*/ 12923 h 821751"/>
                <a:gd name="connsiteX3" fmla="*/ 223222 w 789139"/>
                <a:gd name="connsiteY3" fmla="*/ 821751 h 821751"/>
                <a:gd name="connsiteX4" fmla="*/ 64130 w 789139"/>
                <a:gd name="connsiteY4" fmla="*/ 794258 h 821751"/>
                <a:gd name="connsiteX0" fmla="*/ 0 w 725009"/>
                <a:gd name="connsiteY0" fmla="*/ 794258 h 821751"/>
                <a:gd name="connsiteX1" fmla="*/ 225399 w 725009"/>
                <a:gd name="connsiteY1" fmla="*/ 0 h 821751"/>
                <a:gd name="connsiteX2" fmla="*/ 725009 w 725009"/>
                <a:gd name="connsiteY2" fmla="*/ 12923 h 821751"/>
                <a:gd name="connsiteX3" fmla="*/ 159092 w 725009"/>
                <a:gd name="connsiteY3" fmla="*/ 821751 h 821751"/>
                <a:gd name="connsiteX4" fmla="*/ 0 w 725009"/>
                <a:gd name="connsiteY4" fmla="*/ 794258 h 821751"/>
                <a:gd name="connsiteX0" fmla="*/ 0 w 725009"/>
                <a:gd name="connsiteY0" fmla="*/ 1203768 h 1231261"/>
                <a:gd name="connsiteX1" fmla="*/ 225399 w 725009"/>
                <a:gd name="connsiteY1" fmla="*/ 0 h 1231261"/>
                <a:gd name="connsiteX2" fmla="*/ 725009 w 725009"/>
                <a:gd name="connsiteY2" fmla="*/ 422433 h 1231261"/>
                <a:gd name="connsiteX3" fmla="*/ 159092 w 725009"/>
                <a:gd name="connsiteY3" fmla="*/ 1231261 h 1231261"/>
                <a:gd name="connsiteX4" fmla="*/ 0 w 725009"/>
                <a:gd name="connsiteY4" fmla="*/ 1203768 h 1231261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17334 h 1244827"/>
                <a:gd name="connsiteX1" fmla="*/ 225399 w 725009"/>
                <a:gd name="connsiteY1" fmla="*/ 13566 h 1244827"/>
                <a:gd name="connsiteX2" fmla="*/ 725009 w 725009"/>
                <a:gd name="connsiteY2" fmla="*/ 571 h 1244827"/>
                <a:gd name="connsiteX3" fmla="*/ 159092 w 725009"/>
                <a:gd name="connsiteY3" fmla="*/ 1244827 h 1244827"/>
                <a:gd name="connsiteX4" fmla="*/ 0 w 725009"/>
                <a:gd name="connsiteY4" fmla="*/ 1217334 h 1244827"/>
                <a:gd name="connsiteX0" fmla="*/ 0 w 725009"/>
                <a:gd name="connsiteY0" fmla="*/ 1203768 h 1231261"/>
                <a:gd name="connsiteX1" fmla="*/ 225399 w 725009"/>
                <a:gd name="connsiteY1" fmla="*/ 0 h 1231261"/>
                <a:gd name="connsiteX2" fmla="*/ 725009 w 725009"/>
                <a:gd name="connsiteY2" fmla="*/ 129782 h 1231261"/>
                <a:gd name="connsiteX3" fmla="*/ 159092 w 725009"/>
                <a:gd name="connsiteY3" fmla="*/ 1231261 h 1231261"/>
                <a:gd name="connsiteX4" fmla="*/ 0 w 725009"/>
                <a:gd name="connsiteY4" fmla="*/ 1203768 h 1231261"/>
                <a:gd name="connsiteX0" fmla="*/ 0 w 725009"/>
                <a:gd name="connsiteY0" fmla="*/ 1203768 h 1231261"/>
                <a:gd name="connsiteX1" fmla="*/ 225399 w 725009"/>
                <a:gd name="connsiteY1" fmla="*/ 0 h 1231261"/>
                <a:gd name="connsiteX2" fmla="*/ 725009 w 725009"/>
                <a:gd name="connsiteY2" fmla="*/ 129782 h 1231261"/>
                <a:gd name="connsiteX3" fmla="*/ 159092 w 725009"/>
                <a:gd name="connsiteY3" fmla="*/ 1231261 h 1231261"/>
                <a:gd name="connsiteX4" fmla="*/ 0 w 725009"/>
                <a:gd name="connsiteY4" fmla="*/ 1203768 h 1231261"/>
                <a:gd name="connsiteX0" fmla="*/ 0 w 725009"/>
                <a:gd name="connsiteY0" fmla="*/ 1203768 h 1231261"/>
                <a:gd name="connsiteX1" fmla="*/ 225399 w 725009"/>
                <a:gd name="connsiteY1" fmla="*/ 0 h 1231261"/>
                <a:gd name="connsiteX2" fmla="*/ 725009 w 725009"/>
                <a:gd name="connsiteY2" fmla="*/ 129782 h 1231261"/>
                <a:gd name="connsiteX3" fmla="*/ 159092 w 725009"/>
                <a:gd name="connsiteY3" fmla="*/ 1231261 h 1231261"/>
                <a:gd name="connsiteX4" fmla="*/ 0 w 725009"/>
                <a:gd name="connsiteY4" fmla="*/ 1203768 h 1231261"/>
                <a:gd name="connsiteX0" fmla="*/ 0 w 725497"/>
                <a:gd name="connsiteY0" fmla="*/ 1279028 h 1306521"/>
                <a:gd name="connsiteX1" fmla="*/ 225399 w 725497"/>
                <a:gd name="connsiteY1" fmla="*/ 75260 h 1306521"/>
                <a:gd name="connsiteX2" fmla="*/ 396193 w 725497"/>
                <a:gd name="connsiteY2" fmla="*/ 156799 h 1306521"/>
                <a:gd name="connsiteX3" fmla="*/ 725009 w 725497"/>
                <a:gd name="connsiteY3" fmla="*/ 205042 h 1306521"/>
                <a:gd name="connsiteX4" fmla="*/ 159092 w 725497"/>
                <a:gd name="connsiteY4" fmla="*/ 1306521 h 1306521"/>
                <a:gd name="connsiteX5" fmla="*/ 0 w 725497"/>
                <a:gd name="connsiteY5" fmla="*/ 1279028 h 1306521"/>
                <a:gd name="connsiteX0" fmla="*/ 0 w 725239"/>
                <a:gd name="connsiteY0" fmla="*/ 1295668 h 1323161"/>
                <a:gd name="connsiteX1" fmla="*/ 225399 w 725239"/>
                <a:gd name="connsiteY1" fmla="*/ 91900 h 1323161"/>
                <a:gd name="connsiteX2" fmla="*/ 725009 w 725239"/>
                <a:gd name="connsiteY2" fmla="*/ 221682 h 1323161"/>
                <a:gd name="connsiteX3" fmla="*/ 159092 w 725239"/>
                <a:gd name="connsiteY3" fmla="*/ 1323161 h 1323161"/>
                <a:gd name="connsiteX4" fmla="*/ 0 w 725239"/>
                <a:gd name="connsiteY4" fmla="*/ 1295668 h 1323161"/>
                <a:gd name="connsiteX0" fmla="*/ 0 w 725221"/>
                <a:gd name="connsiteY0" fmla="*/ 1210552 h 1238045"/>
                <a:gd name="connsiteX1" fmla="*/ 191583 w 725221"/>
                <a:gd name="connsiteY1" fmla="*/ 153319 h 1238045"/>
                <a:gd name="connsiteX2" fmla="*/ 725009 w 725221"/>
                <a:gd name="connsiteY2" fmla="*/ 136566 h 1238045"/>
                <a:gd name="connsiteX3" fmla="*/ 159092 w 725221"/>
                <a:gd name="connsiteY3" fmla="*/ 1238045 h 1238045"/>
                <a:gd name="connsiteX4" fmla="*/ 0 w 725221"/>
                <a:gd name="connsiteY4" fmla="*/ 1210552 h 1238045"/>
                <a:gd name="connsiteX0" fmla="*/ 0 w 725305"/>
                <a:gd name="connsiteY0" fmla="*/ 1158512 h 1186005"/>
                <a:gd name="connsiteX1" fmla="*/ 191583 w 725305"/>
                <a:gd name="connsiteY1" fmla="*/ 101279 h 1186005"/>
                <a:gd name="connsiteX2" fmla="*/ 725009 w 725305"/>
                <a:gd name="connsiteY2" fmla="*/ 84526 h 1186005"/>
                <a:gd name="connsiteX3" fmla="*/ 159092 w 725305"/>
                <a:gd name="connsiteY3" fmla="*/ 1186005 h 1186005"/>
                <a:gd name="connsiteX4" fmla="*/ 0 w 725305"/>
                <a:gd name="connsiteY4" fmla="*/ 1158512 h 1186005"/>
                <a:gd name="connsiteX0" fmla="*/ 0 w 725009"/>
                <a:gd name="connsiteY0" fmla="*/ 1073986 h 1101479"/>
                <a:gd name="connsiteX1" fmla="*/ 191583 w 725009"/>
                <a:gd name="connsiteY1" fmla="*/ 16753 h 1101479"/>
                <a:gd name="connsiteX2" fmla="*/ 725009 w 725009"/>
                <a:gd name="connsiteY2" fmla="*/ 0 h 1101479"/>
                <a:gd name="connsiteX3" fmla="*/ 159092 w 725009"/>
                <a:gd name="connsiteY3" fmla="*/ 1101479 h 1101479"/>
                <a:gd name="connsiteX4" fmla="*/ 0 w 725009"/>
                <a:gd name="connsiteY4" fmla="*/ 1073986 h 1101479"/>
                <a:gd name="connsiteX0" fmla="*/ 0 w 725009"/>
                <a:gd name="connsiteY0" fmla="*/ 1073986 h 1101479"/>
                <a:gd name="connsiteX1" fmla="*/ 206612 w 725009"/>
                <a:gd name="connsiteY1" fmla="*/ 1724 h 1101479"/>
                <a:gd name="connsiteX2" fmla="*/ 725009 w 725009"/>
                <a:gd name="connsiteY2" fmla="*/ 0 h 1101479"/>
                <a:gd name="connsiteX3" fmla="*/ 159092 w 725009"/>
                <a:gd name="connsiteY3" fmla="*/ 1101479 h 1101479"/>
                <a:gd name="connsiteX4" fmla="*/ 0 w 725009"/>
                <a:gd name="connsiteY4" fmla="*/ 1073986 h 1101479"/>
                <a:gd name="connsiteX0" fmla="*/ 0 w 725009"/>
                <a:gd name="connsiteY0" fmla="*/ 1073986 h 1101479"/>
                <a:gd name="connsiteX1" fmla="*/ 206612 w 725009"/>
                <a:gd name="connsiteY1" fmla="*/ 1724 h 1101479"/>
                <a:gd name="connsiteX2" fmla="*/ 725009 w 725009"/>
                <a:gd name="connsiteY2" fmla="*/ 0 h 1101479"/>
                <a:gd name="connsiteX3" fmla="*/ 159092 w 725009"/>
                <a:gd name="connsiteY3" fmla="*/ 1101479 h 1101479"/>
                <a:gd name="connsiteX4" fmla="*/ 0 w 725009"/>
                <a:gd name="connsiteY4" fmla="*/ 1073986 h 1101479"/>
                <a:gd name="connsiteX0" fmla="*/ 0 w 725009"/>
                <a:gd name="connsiteY0" fmla="*/ 1073986 h 1101479"/>
                <a:gd name="connsiteX1" fmla="*/ 206612 w 725009"/>
                <a:gd name="connsiteY1" fmla="*/ 1724 h 1101479"/>
                <a:gd name="connsiteX2" fmla="*/ 725009 w 725009"/>
                <a:gd name="connsiteY2" fmla="*/ 0 h 1101479"/>
                <a:gd name="connsiteX3" fmla="*/ 159092 w 725009"/>
                <a:gd name="connsiteY3" fmla="*/ 1101479 h 1101479"/>
                <a:gd name="connsiteX4" fmla="*/ 0 w 725009"/>
                <a:gd name="connsiteY4" fmla="*/ 1073986 h 1101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5009" h="1101479">
                  <a:moveTo>
                    <a:pt x="0" y="1073986"/>
                  </a:moveTo>
                  <a:cubicBezTo>
                    <a:pt x="95638" y="589814"/>
                    <a:pt x="96800" y="618448"/>
                    <a:pt x="206612" y="1724"/>
                  </a:cubicBezTo>
                  <a:cubicBezTo>
                    <a:pt x="451440" y="14348"/>
                    <a:pt x="499346" y="35256"/>
                    <a:pt x="725009" y="0"/>
                  </a:cubicBezTo>
                  <a:cubicBezTo>
                    <a:pt x="326141" y="749497"/>
                    <a:pt x="642687" y="159790"/>
                    <a:pt x="159092" y="1101479"/>
                  </a:cubicBezTo>
                  <a:cubicBezTo>
                    <a:pt x="24807" y="1072843"/>
                    <a:pt x="92525" y="1088071"/>
                    <a:pt x="0" y="1073986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  <a:alpha val="5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</a:gra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74" name="Freeform 273"/>
            <p:cNvSpPr/>
            <p:nvPr/>
          </p:nvSpPr>
          <p:spPr>
            <a:xfrm>
              <a:off x="4300538" y="4956175"/>
              <a:ext cx="514350" cy="577850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71988 w 778664"/>
                <a:gd name="connsiteY3" fmla="*/ 1158121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503138"/>
                <a:gd name="connsiteY0" fmla="*/ 961687 h 964568"/>
                <a:gd name="connsiteX1" fmla="*/ 0 w 503138"/>
                <a:gd name="connsiteY1" fmla="*/ 70 h 964568"/>
                <a:gd name="connsiteX2" fmla="*/ 503138 w 503138"/>
                <a:gd name="connsiteY2" fmla="*/ 154187 h 964568"/>
                <a:gd name="connsiteX3" fmla="*/ 273339 w 503138"/>
                <a:gd name="connsiteY3" fmla="*/ 964568 h 964568"/>
                <a:gd name="connsiteX4" fmla="*/ 197928 w 503138"/>
                <a:gd name="connsiteY4" fmla="*/ 961687 h 964568"/>
                <a:gd name="connsiteX0" fmla="*/ 201456 w 506666"/>
                <a:gd name="connsiteY0" fmla="*/ 807500 h 810381"/>
                <a:gd name="connsiteX1" fmla="*/ 0 w 506666"/>
                <a:gd name="connsiteY1" fmla="*/ 15216 h 810381"/>
                <a:gd name="connsiteX2" fmla="*/ 506666 w 506666"/>
                <a:gd name="connsiteY2" fmla="*/ 0 h 810381"/>
                <a:gd name="connsiteX3" fmla="*/ 276867 w 506666"/>
                <a:gd name="connsiteY3" fmla="*/ 810381 h 810381"/>
                <a:gd name="connsiteX4" fmla="*/ 201456 w 506666"/>
                <a:gd name="connsiteY4" fmla="*/ 807500 h 810381"/>
                <a:gd name="connsiteX0" fmla="*/ 201456 w 506666"/>
                <a:gd name="connsiteY0" fmla="*/ 807500 h 811593"/>
                <a:gd name="connsiteX1" fmla="*/ 0 w 506666"/>
                <a:gd name="connsiteY1" fmla="*/ 15216 h 811593"/>
                <a:gd name="connsiteX2" fmla="*/ 506666 w 506666"/>
                <a:gd name="connsiteY2" fmla="*/ 0 h 811593"/>
                <a:gd name="connsiteX3" fmla="*/ 276867 w 506666"/>
                <a:gd name="connsiteY3" fmla="*/ 810381 h 811593"/>
                <a:gd name="connsiteX4" fmla="*/ 201456 w 506666"/>
                <a:gd name="connsiteY4" fmla="*/ 807500 h 811593"/>
                <a:gd name="connsiteX0" fmla="*/ 135576 w 506666"/>
                <a:gd name="connsiteY0" fmla="*/ 818480 h 818480"/>
                <a:gd name="connsiteX1" fmla="*/ 0 w 506666"/>
                <a:gd name="connsiteY1" fmla="*/ 15216 h 818480"/>
                <a:gd name="connsiteX2" fmla="*/ 506666 w 506666"/>
                <a:gd name="connsiteY2" fmla="*/ 0 h 818480"/>
                <a:gd name="connsiteX3" fmla="*/ 276867 w 506666"/>
                <a:gd name="connsiteY3" fmla="*/ 81038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1521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1521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1521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789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135576 w 506666"/>
                <a:gd name="connsiteY0" fmla="*/ 818480 h 818480"/>
                <a:gd name="connsiteX1" fmla="*/ 0 w 506666"/>
                <a:gd name="connsiteY1" fmla="*/ 7896 h 818480"/>
                <a:gd name="connsiteX2" fmla="*/ 506666 w 506666"/>
                <a:gd name="connsiteY2" fmla="*/ 0 h 818480"/>
                <a:gd name="connsiteX3" fmla="*/ 331766 w 506666"/>
                <a:gd name="connsiteY3" fmla="*/ 803061 h 818480"/>
                <a:gd name="connsiteX4" fmla="*/ 135576 w 506666"/>
                <a:gd name="connsiteY4" fmla="*/ 818480 h 818480"/>
                <a:gd name="connsiteX0" fmla="*/ 45472 w 559302"/>
                <a:gd name="connsiteY0" fmla="*/ 807500 h 807500"/>
                <a:gd name="connsiteX1" fmla="*/ 52636 w 559302"/>
                <a:gd name="connsiteY1" fmla="*/ 7896 h 807500"/>
                <a:gd name="connsiteX2" fmla="*/ 559302 w 559302"/>
                <a:gd name="connsiteY2" fmla="*/ 0 h 807500"/>
                <a:gd name="connsiteX3" fmla="*/ 384402 w 559302"/>
                <a:gd name="connsiteY3" fmla="*/ 803061 h 807500"/>
                <a:gd name="connsiteX4" fmla="*/ 45472 w 559302"/>
                <a:gd name="connsiteY4" fmla="*/ 807500 h 807500"/>
                <a:gd name="connsiteX0" fmla="*/ 21974 w 535804"/>
                <a:gd name="connsiteY0" fmla="*/ 807500 h 807500"/>
                <a:gd name="connsiteX1" fmla="*/ 29138 w 535804"/>
                <a:gd name="connsiteY1" fmla="*/ 7896 h 807500"/>
                <a:gd name="connsiteX2" fmla="*/ 535804 w 535804"/>
                <a:gd name="connsiteY2" fmla="*/ 0 h 807500"/>
                <a:gd name="connsiteX3" fmla="*/ 360904 w 535804"/>
                <a:gd name="connsiteY3" fmla="*/ 803061 h 807500"/>
                <a:gd name="connsiteX4" fmla="*/ 21974 w 535804"/>
                <a:gd name="connsiteY4" fmla="*/ 807500 h 807500"/>
                <a:gd name="connsiteX0" fmla="*/ 128256 w 506666"/>
                <a:gd name="connsiteY0" fmla="*/ 829461 h 829461"/>
                <a:gd name="connsiteX1" fmla="*/ 0 w 506666"/>
                <a:gd name="connsiteY1" fmla="*/ 7896 h 829461"/>
                <a:gd name="connsiteX2" fmla="*/ 506666 w 506666"/>
                <a:gd name="connsiteY2" fmla="*/ 0 h 829461"/>
                <a:gd name="connsiteX3" fmla="*/ 331766 w 506666"/>
                <a:gd name="connsiteY3" fmla="*/ 803061 h 829461"/>
                <a:gd name="connsiteX4" fmla="*/ 128256 w 506666"/>
                <a:gd name="connsiteY4" fmla="*/ 829461 h 829461"/>
                <a:gd name="connsiteX0" fmla="*/ 128256 w 506666"/>
                <a:gd name="connsiteY0" fmla="*/ 829461 h 829461"/>
                <a:gd name="connsiteX1" fmla="*/ 0 w 506666"/>
                <a:gd name="connsiteY1" fmla="*/ 7896 h 829461"/>
                <a:gd name="connsiteX2" fmla="*/ 506666 w 506666"/>
                <a:gd name="connsiteY2" fmla="*/ 0 h 829461"/>
                <a:gd name="connsiteX3" fmla="*/ 331766 w 506666"/>
                <a:gd name="connsiteY3" fmla="*/ 803061 h 829461"/>
                <a:gd name="connsiteX4" fmla="*/ 128256 w 506666"/>
                <a:gd name="connsiteY4" fmla="*/ 829461 h 829461"/>
                <a:gd name="connsiteX0" fmla="*/ 128256 w 506666"/>
                <a:gd name="connsiteY0" fmla="*/ 829461 h 829461"/>
                <a:gd name="connsiteX1" fmla="*/ 0 w 506666"/>
                <a:gd name="connsiteY1" fmla="*/ 7896 h 829461"/>
                <a:gd name="connsiteX2" fmla="*/ 506666 w 506666"/>
                <a:gd name="connsiteY2" fmla="*/ 0 h 829461"/>
                <a:gd name="connsiteX3" fmla="*/ 331766 w 506666"/>
                <a:gd name="connsiteY3" fmla="*/ 803061 h 829461"/>
                <a:gd name="connsiteX4" fmla="*/ 128256 w 506666"/>
                <a:gd name="connsiteY4" fmla="*/ 829461 h 829461"/>
                <a:gd name="connsiteX0" fmla="*/ 128256 w 506666"/>
                <a:gd name="connsiteY0" fmla="*/ 829461 h 830473"/>
                <a:gd name="connsiteX1" fmla="*/ 0 w 506666"/>
                <a:gd name="connsiteY1" fmla="*/ 7896 h 830473"/>
                <a:gd name="connsiteX2" fmla="*/ 506666 w 506666"/>
                <a:gd name="connsiteY2" fmla="*/ 0 h 830473"/>
                <a:gd name="connsiteX3" fmla="*/ 331766 w 506666"/>
                <a:gd name="connsiteY3" fmla="*/ 828681 h 830473"/>
                <a:gd name="connsiteX4" fmla="*/ 128256 w 506666"/>
                <a:gd name="connsiteY4" fmla="*/ 829461 h 830473"/>
                <a:gd name="connsiteX0" fmla="*/ 128256 w 506666"/>
                <a:gd name="connsiteY0" fmla="*/ 829461 h 830473"/>
                <a:gd name="connsiteX1" fmla="*/ 0 w 506666"/>
                <a:gd name="connsiteY1" fmla="*/ 7896 h 830473"/>
                <a:gd name="connsiteX2" fmla="*/ 506666 w 506666"/>
                <a:gd name="connsiteY2" fmla="*/ 0 h 830473"/>
                <a:gd name="connsiteX3" fmla="*/ 331766 w 506666"/>
                <a:gd name="connsiteY3" fmla="*/ 828681 h 830473"/>
                <a:gd name="connsiteX4" fmla="*/ 128256 w 506666"/>
                <a:gd name="connsiteY4" fmla="*/ 829461 h 830473"/>
                <a:gd name="connsiteX0" fmla="*/ 128256 w 506666"/>
                <a:gd name="connsiteY0" fmla="*/ 821565 h 822577"/>
                <a:gd name="connsiteX1" fmla="*/ 0 w 506666"/>
                <a:gd name="connsiteY1" fmla="*/ 0 h 822577"/>
                <a:gd name="connsiteX2" fmla="*/ 506666 w 506666"/>
                <a:gd name="connsiteY2" fmla="*/ 255115 h 822577"/>
                <a:gd name="connsiteX3" fmla="*/ 331766 w 506666"/>
                <a:gd name="connsiteY3" fmla="*/ 820785 h 822577"/>
                <a:gd name="connsiteX4" fmla="*/ 128256 w 506666"/>
                <a:gd name="connsiteY4" fmla="*/ 821565 h 822577"/>
                <a:gd name="connsiteX0" fmla="*/ 128256 w 506666"/>
                <a:gd name="connsiteY0" fmla="*/ 821565 h 822577"/>
                <a:gd name="connsiteX1" fmla="*/ 0 w 506666"/>
                <a:gd name="connsiteY1" fmla="*/ 0 h 822577"/>
                <a:gd name="connsiteX2" fmla="*/ 506666 w 506666"/>
                <a:gd name="connsiteY2" fmla="*/ 255115 h 822577"/>
                <a:gd name="connsiteX3" fmla="*/ 331766 w 506666"/>
                <a:gd name="connsiteY3" fmla="*/ 820785 h 822577"/>
                <a:gd name="connsiteX4" fmla="*/ 128256 w 506666"/>
                <a:gd name="connsiteY4" fmla="*/ 821565 h 822577"/>
                <a:gd name="connsiteX0" fmla="*/ 128256 w 506666"/>
                <a:gd name="connsiteY0" fmla="*/ 821565 h 822577"/>
                <a:gd name="connsiteX1" fmla="*/ 0 w 506666"/>
                <a:gd name="connsiteY1" fmla="*/ 0 h 822577"/>
                <a:gd name="connsiteX2" fmla="*/ 506666 w 506666"/>
                <a:gd name="connsiteY2" fmla="*/ 255115 h 822577"/>
                <a:gd name="connsiteX3" fmla="*/ 331766 w 506666"/>
                <a:gd name="connsiteY3" fmla="*/ 820785 h 822577"/>
                <a:gd name="connsiteX4" fmla="*/ 128256 w 506666"/>
                <a:gd name="connsiteY4" fmla="*/ 821565 h 822577"/>
                <a:gd name="connsiteX0" fmla="*/ 135770 w 514180"/>
                <a:gd name="connsiteY0" fmla="*/ 577341 h 578353"/>
                <a:gd name="connsiteX1" fmla="*/ 0 w 514180"/>
                <a:gd name="connsiteY1" fmla="*/ 0 h 578353"/>
                <a:gd name="connsiteX2" fmla="*/ 514180 w 514180"/>
                <a:gd name="connsiteY2" fmla="*/ 10891 h 578353"/>
                <a:gd name="connsiteX3" fmla="*/ 339280 w 514180"/>
                <a:gd name="connsiteY3" fmla="*/ 576561 h 578353"/>
                <a:gd name="connsiteX4" fmla="*/ 135770 w 514180"/>
                <a:gd name="connsiteY4" fmla="*/ 577341 h 578353"/>
                <a:gd name="connsiteX0" fmla="*/ 135770 w 514180"/>
                <a:gd name="connsiteY0" fmla="*/ 577341 h 578353"/>
                <a:gd name="connsiteX1" fmla="*/ 0 w 514180"/>
                <a:gd name="connsiteY1" fmla="*/ 0 h 578353"/>
                <a:gd name="connsiteX2" fmla="*/ 514180 w 514180"/>
                <a:gd name="connsiteY2" fmla="*/ 10891 h 578353"/>
                <a:gd name="connsiteX3" fmla="*/ 339280 w 514180"/>
                <a:gd name="connsiteY3" fmla="*/ 576561 h 578353"/>
                <a:gd name="connsiteX4" fmla="*/ 135770 w 514180"/>
                <a:gd name="connsiteY4" fmla="*/ 577341 h 578353"/>
                <a:gd name="connsiteX0" fmla="*/ 135770 w 514180"/>
                <a:gd name="connsiteY0" fmla="*/ 577341 h 578353"/>
                <a:gd name="connsiteX1" fmla="*/ 0 w 514180"/>
                <a:gd name="connsiteY1" fmla="*/ 0 h 578353"/>
                <a:gd name="connsiteX2" fmla="*/ 514180 w 514180"/>
                <a:gd name="connsiteY2" fmla="*/ 10891 h 578353"/>
                <a:gd name="connsiteX3" fmla="*/ 339280 w 514180"/>
                <a:gd name="connsiteY3" fmla="*/ 576561 h 578353"/>
                <a:gd name="connsiteX4" fmla="*/ 135770 w 514180"/>
                <a:gd name="connsiteY4" fmla="*/ 577341 h 578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14180" h="578353">
                  <a:moveTo>
                    <a:pt x="135770" y="577341"/>
                  </a:moveTo>
                  <a:cubicBezTo>
                    <a:pt x="50587" y="214237"/>
                    <a:pt x="96631" y="442038"/>
                    <a:pt x="0" y="0"/>
                  </a:cubicBezTo>
                  <a:lnTo>
                    <a:pt x="514180" y="10891"/>
                  </a:lnTo>
                  <a:cubicBezTo>
                    <a:pt x="417353" y="348331"/>
                    <a:pt x="426658" y="280104"/>
                    <a:pt x="339280" y="576561"/>
                  </a:cubicBezTo>
                  <a:cubicBezTo>
                    <a:pt x="292835" y="580865"/>
                    <a:pt x="203869" y="575875"/>
                    <a:pt x="135770" y="577341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  <a:alpha val="5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</a:gra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275" name="Freeform 274"/>
            <p:cNvSpPr/>
            <p:nvPr/>
          </p:nvSpPr>
          <p:spPr>
            <a:xfrm>
              <a:off x="3521075" y="4919663"/>
              <a:ext cx="593725" cy="1216025"/>
            </a:xfrm>
            <a:custGeom>
              <a:avLst/>
              <a:gdLst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418712 w 1040633"/>
                <a:gd name="connsiteY4" fmla="*/ 1189324 h 1219697"/>
                <a:gd name="connsiteX5" fmla="*/ 139870 w 1040633"/>
                <a:gd name="connsiteY5" fmla="*/ 1191723 h 1219697"/>
                <a:gd name="connsiteX0" fmla="*/ 139870 w 1040633"/>
                <a:gd name="connsiteY0" fmla="*/ 1191723 h 1355926"/>
                <a:gd name="connsiteX1" fmla="*/ 0 w 1040633"/>
                <a:gd name="connsiteY1" fmla="*/ 0 h 1355926"/>
                <a:gd name="connsiteX2" fmla="*/ 1040633 w 1040633"/>
                <a:gd name="connsiteY2" fmla="*/ 16785 h 1355926"/>
                <a:gd name="connsiteX3" fmla="*/ 833625 w 1040633"/>
                <a:gd name="connsiteY3" fmla="*/ 1219697 h 1355926"/>
                <a:gd name="connsiteX4" fmla="*/ 139870 w 1040633"/>
                <a:gd name="connsiteY4" fmla="*/ 1191723 h 1355926"/>
                <a:gd name="connsiteX0" fmla="*/ 139870 w 1040633"/>
                <a:gd name="connsiteY0" fmla="*/ 1191723 h 1289901"/>
                <a:gd name="connsiteX1" fmla="*/ 0 w 1040633"/>
                <a:gd name="connsiteY1" fmla="*/ 0 h 1289901"/>
                <a:gd name="connsiteX2" fmla="*/ 1040633 w 1040633"/>
                <a:gd name="connsiteY2" fmla="*/ 16785 h 1289901"/>
                <a:gd name="connsiteX3" fmla="*/ 833625 w 1040633"/>
                <a:gd name="connsiteY3" fmla="*/ 1219697 h 1289901"/>
                <a:gd name="connsiteX4" fmla="*/ 139870 w 1040633"/>
                <a:gd name="connsiteY4" fmla="*/ 1191723 h 1289901"/>
                <a:gd name="connsiteX0" fmla="*/ 139870 w 1040633"/>
                <a:gd name="connsiteY0" fmla="*/ 1191723 h 1219697"/>
                <a:gd name="connsiteX1" fmla="*/ 0 w 1040633"/>
                <a:gd name="connsiteY1" fmla="*/ 0 h 1219697"/>
                <a:gd name="connsiteX2" fmla="*/ 1040633 w 1040633"/>
                <a:gd name="connsiteY2" fmla="*/ 16785 h 1219697"/>
                <a:gd name="connsiteX3" fmla="*/ 833625 w 1040633"/>
                <a:gd name="connsiteY3" fmla="*/ 1219697 h 1219697"/>
                <a:gd name="connsiteX4" fmla="*/ 139870 w 1040633"/>
                <a:gd name="connsiteY4" fmla="*/ 1191723 h 1219697"/>
                <a:gd name="connsiteX0" fmla="*/ 139870 w 1040633"/>
                <a:gd name="connsiteY0" fmla="*/ 1191723 h 1191723"/>
                <a:gd name="connsiteX1" fmla="*/ 0 w 1040633"/>
                <a:gd name="connsiteY1" fmla="*/ 0 h 1191723"/>
                <a:gd name="connsiteX2" fmla="*/ 1040633 w 1040633"/>
                <a:gd name="connsiteY2" fmla="*/ 16785 h 1191723"/>
                <a:gd name="connsiteX3" fmla="*/ 671988 w 1040633"/>
                <a:gd name="connsiteY3" fmla="*/ 1158121 h 1191723"/>
                <a:gd name="connsiteX4" fmla="*/ 139870 w 1040633"/>
                <a:gd name="connsiteY4" fmla="*/ 1191723 h 1191723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1040633"/>
                <a:gd name="connsiteY0" fmla="*/ 1160935 h 1160935"/>
                <a:gd name="connsiteX1" fmla="*/ 0 w 1040633"/>
                <a:gd name="connsiteY1" fmla="*/ 0 h 1160935"/>
                <a:gd name="connsiteX2" fmla="*/ 1040633 w 1040633"/>
                <a:gd name="connsiteY2" fmla="*/ 16785 h 1160935"/>
                <a:gd name="connsiteX3" fmla="*/ 671988 w 1040633"/>
                <a:gd name="connsiteY3" fmla="*/ 1158121 h 1160935"/>
                <a:gd name="connsiteX4" fmla="*/ 363082 w 1040633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71988 w 778664"/>
                <a:gd name="connsiteY3" fmla="*/ 1158121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63082 w 778664"/>
                <a:gd name="connsiteY0" fmla="*/ 1160935 h 1160935"/>
                <a:gd name="connsiteX1" fmla="*/ 0 w 778664"/>
                <a:gd name="connsiteY1" fmla="*/ 0 h 1160935"/>
                <a:gd name="connsiteX2" fmla="*/ 778664 w 778664"/>
                <a:gd name="connsiteY2" fmla="*/ 130682 h 1160935"/>
                <a:gd name="connsiteX3" fmla="*/ 694768 w 778664"/>
                <a:gd name="connsiteY3" fmla="*/ 1112562 h 1160935"/>
                <a:gd name="connsiteX4" fmla="*/ 363082 w 778664"/>
                <a:gd name="connsiteY4" fmla="*/ 1160935 h 1160935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397252 w 778664"/>
                <a:gd name="connsiteY0" fmla="*/ 1103987 h 1112562"/>
                <a:gd name="connsiteX1" fmla="*/ 0 w 778664"/>
                <a:gd name="connsiteY1" fmla="*/ 0 h 1112562"/>
                <a:gd name="connsiteX2" fmla="*/ 778664 w 778664"/>
                <a:gd name="connsiteY2" fmla="*/ 130682 h 1112562"/>
                <a:gd name="connsiteX3" fmla="*/ 694768 w 778664"/>
                <a:gd name="connsiteY3" fmla="*/ 1112562 h 1112562"/>
                <a:gd name="connsiteX4" fmla="*/ 397252 w 778664"/>
                <a:gd name="connsiteY4" fmla="*/ 1103987 h 1112562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23893 w 505305"/>
                <a:gd name="connsiteY0" fmla="*/ 973305 h 981880"/>
                <a:gd name="connsiteX1" fmla="*/ 0 w 505305"/>
                <a:gd name="connsiteY1" fmla="*/ 28773 h 981880"/>
                <a:gd name="connsiteX2" fmla="*/ 505305 w 505305"/>
                <a:gd name="connsiteY2" fmla="*/ 0 h 981880"/>
                <a:gd name="connsiteX3" fmla="*/ 421409 w 505305"/>
                <a:gd name="connsiteY3" fmla="*/ 981880 h 981880"/>
                <a:gd name="connsiteX4" fmla="*/ 123893 w 505305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81880"/>
                <a:gd name="connsiteX1" fmla="*/ 0 w 499610"/>
                <a:gd name="connsiteY1" fmla="*/ 11688 h 981880"/>
                <a:gd name="connsiteX2" fmla="*/ 499610 w 499610"/>
                <a:gd name="connsiteY2" fmla="*/ 0 h 981880"/>
                <a:gd name="connsiteX3" fmla="*/ 415714 w 499610"/>
                <a:gd name="connsiteY3" fmla="*/ 981880 h 981880"/>
                <a:gd name="connsiteX4" fmla="*/ 118198 w 499610"/>
                <a:gd name="connsiteY4" fmla="*/ 973305 h 981880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1819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1819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499610"/>
                <a:gd name="connsiteY0" fmla="*/ 973305 h 976186"/>
                <a:gd name="connsiteX1" fmla="*/ 0 w 499610"/>
                <a:gd name="connsiteY1" fmla="*/ 11688 h 976186"/>
                <a:gd name="connsiteX2" fmla="*/ 499610 w 499610"/>
                <a:gd name="connsiteY2" fmla="*/ 0 h 976186"/>
                <a:gd name="connsiteX3" fmla="*/ 273339 w 499610"/>
                <a:gd name="connsiteY3" fmla="*/ 976186 h 976186"/>
                <a:gd name="connsiteX4" fmla="*/ 197928 w 499610"/>
                <a:gd name="connsiteY4" fmla="*/ 973305 h 976186"/>
                <a:gd name="connsiteX0" fmla="*/ 197928 w 621064"/>
                <a:gd name="connsiteY0" fmla="*/ 973305 h 973305"/>
                <a:gd name="connsiteX1" fmla="*/ 0 w 621064"/>
                <a:gd name="connsiteY1" fmla="*/ 11688 h 973305"/>
                <a:gd name="connsiteX2" fmla="*/ 499610 w 621064"/>
                <a:gd name="connsiteY2" fmla="*/ 0 h 973305"/>
                <a:gd name="connsiteX3" fmla="*/ 558839 w 621064"/>
                <a:gd name="connsiteY3" fmla="*/ 754682 h 973305"/>
                <a:gd name="connsiteX4" fmla="*/ 197928 w 621064"/>
                <a:gd name="connsiteY4" fmla="*/ 973305 h 973305"/>
                <a:gd name="connsiteX0" fmla="*/ 197928 w 558839"/>
                <a:gd name="connsiteY0" fmla="*/ 973305 h 973305"/>
                <a:gd name="connsiteX1" fmla="*/ 0 w 558839"/>
                <a:gd name="connsiteY1" fmla="*/ 11688 h 973305"/>
                <a:gd name="connsiteX2" fmla="*/ 499610 w 558839"/>
                <a:gd name="connsiteY2" fmla="*/ 0 h 973305"/>
                <a:gd name="connsiteX3" fmla="*/ 558839 w 558839"/>
                <a:gd name="connsiteY3" fmla="*/ 754682 h 973305"/>
                <a:gd name="connsiteX4" fmla="*/ 197928 w 558839"/>
                <a:gd name="connsiteY4" fmla="*/ 973305 h 973305"/>
                <a:gd name="connsiteX0" fmla="*/ 197928 w 558839"/>
                <a:gd name="connsiteY0" fmla="*/ 973305 h 973305"/>
                <a:gd name="connsiteX1" fmla="*/ 0 w 558839"/>
                <a:gd name="connsiteY1" fmla="*/ 11688 h 973305"/>
                <a:gd name="connsiteX2" fmla="*/ 499610 w 558839"/>
                <a:gd name="connsiteY2" fmla="*/ 0 h 973305"/>
                <a:gd name="connsiteX3" fmla="*/ 558839 w 558839"/>
                <a:gd name="connsiteY3" fmla="*/ 754682 h 973305"/>
                <a:gd name="connsiteX4" fmla="*/ 197928 w 558839"/>
                <a:gd name="connsiteY4" fmla="*/ 973305 h 973305"/>
                <a:gd name="connsiteX0" fmla="*/ 370213 w 558839"/>
                <a:gd name="connsiteY0" fmla="*/ 796102 h 796102"/>
                <a:gd name="connsiteX1" fmla="*/ 0 w 558839"/>
                <a:gd name="connsiteY1" fmla="*/ 11688 h 796102"/>
                <a:gd name="connsiteX2" fmla="*/ 499610 w 558839"/>
                <a:gd name="connsiteY2" fmla="*/ 0 h 796102"/>
                <a:gd name="connsiteX3" fmla="*/ 558839 w 558839"/>
                <a:gd name="connsiteY3" fmla="*/ 754682 h 796102"/>
                <a:gd name="connsiteX4" fmla="*/ 370213 w 558839"/>
                <a:gd name="connsiteY4" fmla="*/ 796102 h 796102"/>
                <a:gd name="connsiteX0" fmla="*/ 370213 w 558839"/>
                <a:gd name="connsiteY0" fmla="*/ 796102 h 796102"/>
                <a:gd name="connsiteX1" fmla="*/ 0 w 558839"/>
                <a:gd name="connsiteY1" fmla="*/ 11688 h 796102"/>
                <a:gd name="connsiteX2" fmla="*/ 499610 w 558839"/>
                <a:gd name="connsiteY2" fmla="*/ 0 h 796102"/>
                <a:gd name="connsiteX3" fmla="*/ 558839 w 558839"/>
                <a:gd name="connsiteY3" fmla="*/ 754682 h 796102"/>
                <a:gd name="connsiteX4" fmla="*/ 370213 w 558839"/>
                <a:gd name="connsiteY4" fmla="*/ 796102 h 796102"/>
                <a:gd name="connsiteX0" fmla="*/ 370213 w 558839"/>
                <a:gd name="connsiteY0" fmla="*/ 796102 h 796102"/>
                <a:gd name="connsiteX1" fmla="*/ 0 w 558839"/>
                <a:gd name="connsiteY1" fmla="*/ 11688 h 796102"/>
                <a:gd name="connsiteX2" fmla="*/ 499610 w 558839"/>
                <a:gd name="connsiteY2" fmla="*/ 0 h 796102"/>
                <a:gd name="connsiteX3" fmla="*/ 558839 w 558839"/>
                <a:gd name="connsiteY3" fmla="*/ 754682 h 796102"/>
                <a:gd name="connsiteX4" fmla="*/ 370213 w 558839"/>
                <a:gd name="connsiteY4" fmla="*/ 796102 h 796102"/>
                <a:gd name="connsiteX0" fmla="*/ 370213 w 558839"/>
                <a:gd name="connsiteY0" fmla="*/ 1315828 h 1315828"/>
                <a:gd name="connsiteX1" fmla="*/ 0 w 558839"/>
                <a:gd name="connsiteY1" fmla="*/ 531414 h 1315828"/>
                <a:gd name="connsiteX2" fmla="*/ 506930 w 558839"/>
                <a:gd name="connsiteY2" fmla="*/ 0 h 1315828"/>
                <a:gd name="connsiteX3" fmla="*/ 558839 w 558839"/>
                <a:gd name="connsiteY3" fmla="*/ 1274408 h 1315828"/>
                <a:gd name="connsiteX4" fmla="*/ 370213 w 558839"/>
                <a:gd name="connsiteY4" fmla="*/ 1315828 h 1315828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73479"/>
                <a:gd name="connsiteY0" fmla="*/ 1326654 h 1326654"/>
                <a:gd name="connsiteX1" fmla="*/ 0 w 573479"/>
                <a:gd name="connsiteY1" fmla="*/ 554 h 1326654"/>
                <a:gd name="connsiteX2" fmla="*/ 521570 w 573479"/>
                <a:gd name="connsiteY2" fmla="*/ 10826 h 1326654"/>
                <a:gd name="connsiteX3" fmla="*/ 573479 w 573479"/>
                <a:gd name="connsiteY3" fmla="*/ 1285234 h 1326654"/>
                <a:gd name="connsiteX4" fmla="*/ 384853 w 573479"/>
                <a:gd name="connsiteY4" fmla="*/ 1326654 h 1326654"/>
                <a:gd name="connsiteX0" fmla="*/ 384853 w 588119"/>
                <a:gd name="connsiteY0" fmla="*/ 1326654 h 1326654"/>
                <a:gd name="connsiteX1" fmla="*/ 0 w 588119"/>
                <a:gd name="connsiteY1" fmla="*/ 554 h 1326654"/>
                <a:gd name="connsiteX2" fmla="*/ 521570 w 588119"/>
                <a:gd name="connsiteY2" fmla="*/ 10826 h 1326654"/>
                <a:gd name="connsiteX3" fmla="*/ 588119 w 588119"/>
                <a:gd name="connsiteY3" fmla="*/ 1321835 h 1326654"/>
                <a:gd name="connsiteX4" fmla="*/ 384853 w 588119"/>
                <a:gd name="connsiteY4" fmla="*/ 1326654 h 1326654"/>
                <a:gd name="connsiteX0" fmla="*/ 384853 w 588119"/>
                <a:gd name="connsiteY0" fmla="*/ 1326654 h 1326654"/>
                <a:gd name="connsiteX1" fmla="*/ 0 w 588119"/>
                <a:gd name="connsiteY1" fmla="*/ 554 h 1326654"/>
                <a:gd name="connsiteX2" fmla="*/ 521570 w 588119"/>
                <a:gd name="connsiteY2" fmla="*/ 10826 h 1326654"/>
                <a:gd name="connsiteX3" fmla="*/ 588119 w 588119"/>
                <a:gd name="connsiteY3" fmla="*/ 1321835 h 1326654"/>
                <a:gd name="connsiteX4" fmla="*/ 384853 w 588119"/>
                <a:gd name="connsiteY4" fmla="*/ 1326654 h 1326654"/>
                <a:gd name="connsiteX0" fmla="*/ 384853 w 588119"/>
                <a:gd name="connsiteY0" fmla="*/ 1326148 h 1326148"/>
                <a:gd name="connsiteX1" fmla="*/ 0 w 588119"/>
                <a:gd name="connsiteY1" fmla="*/ 48 h 1326148"/>
                <a:gd name="connsiteX2" fmla="*/ 521570 w 588119"/>
                <a:gd name="connsiteY2" fmla="*/ 228243 h 1326148"/>
                <a:gd name="connsiteX3" fmla="*/ 588119 w 588119"/>
                <a:gd name="connsiteY3" fmla="*/ 1321329 h 1326148"/>
                <a:gd name="connsiteX4" fmla="*/ 384853 w 588119"/>
                <a:gd name="connsiteY4" fmla="*/ 1326148 h 1326148"/>
                <a:gd name="connsiteX0" fmla="*/ 384853 w 588119"/>
                <a:gd name="connsiteY0" fmla="*/ 1326148 h 1326148"/>
                <a:gd name="connsiteX1" fmla="*/ 0 w 588119"/>
                <a:gd name="connsiteY1" fmla="*/ 48 h 1326148"/>
                <a:gd name="connsiteX2" fmla="*/ 521570 w 588119"/>
                <a:gd name="connsiteY2" fmla="*/ 228243 h 1326148"/>
                <a:gd name="connsiteX3" fmla="*/ 588119 w 588119"/>
                <a:gd name="connsiteY3" fmla="*/ 1321329 h 1326148"/>
                <a:gd name="connsiteX4" fmla="*/ 384853 w 588119"/>
                <a:gd name="connsiteY4" fmla="*/ 1326148 h 1326148"/>
                <a:gd name="connsiteX0" fmla="*/ 384853 w 588119"/>
                <a:gd name="connsiteY0" fmla="*/ 1326148 h 1326148"/>
                <a:gd name="connsiteX1" fmla="*/ 0 w 588119"/>
                <a:gd name="connsiteY1" fmla="*/ 48 h 1326148"/>
                <a:gd name="connsiteX2" fmla="*/ 521570 w 588119"/>
                <a:gd name="connsiteY2" fmla="*/ 228243 h 1326148"/>
                <a:gd name="connsiteX3" fmla="*/ 588119 w 588119"/>
                <a:gd name="connsiteY3" fmla="*/ 1321329 h 1326148"/>
                <a:gd name="connsiteX4" fmla="*/ 384853 w 588119"/>
                <a:gd name="connsiteY4" fmla="*/ 1326148 h 1326148"/>
                <a:gd name="connsiteX0" fmla="*/ 366066 w 569332"/>
                <a:gd name="connsiteY0" fmla="*/ 1097905 h 1097905"/>
                <a:gd name="connsiteX1" fmla="*/ 0 w 569332"/>
                <a:gd name="connsiteY1" fmla="*/ 4757 h 1097905"/>
                <a:gd name="connsiteX2" fmla="*/ 502783 w 569332"/>
                <a:gd name="connsiteY2" fmla="*/ 0 h 1097905"/>
                <a:gd name="connsiteX3" fmla="*/ 569332 w 569332"/>
                <a:gd name="connsiteY3" fmla="*/ 1093086 h 1097905"/>
                <a:gd name="connsiteX4" fmla="*/ 366066 w 569332"/>
                <a:gd name="connsiteY4" fmla="*/ 1097905 h 1097905"/>
                <a:gd name="connsiteX0" fmla="*/ 366066 w 569332"/>
                <a:gd name="connsiteY0" fmla="*/ 1097905 h 1097905"/>
                <a:gd name="connsiteX1" fmla="*/ 0 w 569332"/>
                <a:gd name="connsiteY1" fmla="*/ 4757 h 1097905"/>
                <a:gd name="connsiteX2" fmla="*/ 502783 w 569332"/>
                <a:gd name="connsiteY2" fmla="*/ 0 h 1097905"/>
                <a:gd name="connsiteX3" fmla="*/ 569332 w 569332"/>
                <a:gd name="connsiteY3" fmla="*/ 1093086 h 1097905"/>
                <a:gd name="connsiteX4" fmla="*/ 366066 w 569332"/>
                <a:gd name="connsiteY4" fmla="*/ 1097905 h 1097905"/>
                <a:gd name="connsiteX0" fmla="*/ 366066 w 569332"/>
                <a:gd name="connsiteY0" fmla="*/ 1097905 h 1097905"/>
                <a:gd name="connsiteX1" fmla="*/ 0 w 569332"/>
                <a:gd name="connsiteY1" fmla="*/ 4757 h 1097905"/>
                <a:gd name="connsiteX2" fmla="*/ 502783 w 569332"/>
                <a:gd name="connsiteY2" fmla="*/ 0 h 1097905"/>
                <a:gd name="connsiteX3" fmla="*/ 569332 w 569332"/>
                <a:gd name="connsiteY3" fmla="*/ 1093086 h 1097905"/>
                <a:gd name="connsiteX4" fmla="*/ 366066 w 569332"/>
                <a:gd name="connsiteY4" fmla="*/ 1097905 h 1097905"/>
                <a:gd name="connsiteX0" fmla="*/ 366066 w 594113"/>
                <a:gd name="connsiteY0" fmla="*/ 1097905 h 1179971"/>
                <a:gd name="connsiteX1" fmla="*/ 0 w 594113"/>
                <a:gd name="connsiteY1" fmla="*/ 4757 h 1179971"/>
                <a:gd name="connsiteX2" fmla="*/ 502783 w 594113"/>
                <a:gd name="connsiteY2" fmla="*/ 0 h 1179971"/>
                <a:gd name="connsiteX3" fmla="*/ 594113 w 594113"/>
                <a:gd name="connsiteY3" fmla="*/ 1179818 h 1179971"/>
                <a:gd name="connsiteX4" fmla="*/ 366066 w 594113"/>
                <a:gd name="connsiteY4" fmla="*/ 1097905 h 1179971"/>
                <a:gd name="connsiteX0" fmla="*/ 403236 w 594113"/>
                <a:gd name="connsiteY0" fmla="*/ 1215612 h 1215612"/>
                <a:gd name="connsiteX1" fmla="*/ 0 w 594113"/>
                <a:gd name="connsiteY1" fmla="*/ 4757 h 1215612"/>
                <a:gd name="connsiteX2" fmla="*/ 502783 w 594113"/>
                <a:gd name="connsiteY2" fmla="*/ 0 h 1215612"/>
                <a:gd name="connsiteX3" fmla="*/ 594113 w 594113"/>
                <a:gd name="connsiteY3" fmla="*/ 1179818 h 1215612"/>
                <a:gd name="connsiteX4" fmla="*/ 403236 w 594113"/>
                <a:gd name="connsiteY4" fmla="*/ 1215612 h 1215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4113" h="1215612">
                  <a:moveTo>
                    <a:pt x="403236" y="1215612"/>
                  </a:moveTo>
                  <a:cubicBezTo>
                    <a:pt x="223947" y="663007"/>
                    <a:pt x="295574" y="908506"/>
                    <a:pt x="0" y="4757"/>
                  </a:cubicBezTo>
                  <a:cubicBezTo>
                    <a:pt x="166537" y="861"/>
                    <a:pt x="336246" y="3896"/>
                    <a:pt x="502783" y="0"/>
                  </a:cubicBezTo>
                  <a:cubicBezTo>
                    <a:pt x="555943" y="995541"/>
                    <a:pt x="557486" y="515061"/>
                    <a:pt x="594113" y="1179818"/>
                  </a:cubicBezTo>
                  <a:cubicBezTo>
                    <a:pt x="496428" y="1184123"/>
                    <a:pt x="599434" y="1214146"/>
                    <a:pt x="403236" y="1215612"/>
                  </a:cubicBezTo>
                  <a:close/>
                </a:path>
              </a:pathLst>
            </a:custGeom>
            <a:gradFill>
              <a:gsLst>
                <a:gs pos="0">
                  <a:schemeClr val="bg1">
                    <a:lumMod val="95000"/>
                    <a:alpha val="55000"/>
                  </a:schemeClr>
                </a:gs>
                <a:gs pos="100000">
                  <a:schemeClr val="bg1">
                    <a:lumMod val="75000"/>
                  </a:schemeClr>
                </a:gs>
              </a:gsLst>
            </a:gradFill>
            <a:ln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grpSp>
          <p:nvGrpSpPr>
            <p:cNvPr id="18" name="Group 17"/>
            <p:cNvGrpSpPr/>
            <p:nvPr/>
          </p:nvGrpSpPr>
          <p:grpSpPr>
            <a:xfrm>
              <a:off x="1757805" y="2331054"/>
              <a:ext cx="1079500" cy="2674334"/>
              <a:chOff x="1757805" y="2331054"/>
              <a:chExt cx="1079500" cy="2674334"/>
            </a:xfrm>
          </p:grpSpPr>
          <p:sp>
            <p:nvSpPr>
              <p:cNvPr id="108" name="Rectangle 107"/>
              <p:cNvSpPr/>
              <p:nvPr/>
            </p:nvSpPr>
            <p:spPr bwMode="auto">
              <a:xfrm rot="10800000">
                <a:off x="1789113" y="2580876"/>
                <a:ext cx="1027112" cy="1083074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grpSp>
            <p:nvGrpSpPr>
              <p:cNvPr id="47266" name="Group 104"/>
              <p:cNvGrpSpPr>
                <a:grpSpLocks/>
              </p:cNvGrpSpPr>
              <p:nvPr/>
            </p:nvGrpSpPr>
            <p:grpSpPr bwMode="auto">
              <a:xfrm>
                <a:off x="1782739" y="4616206"/>
                <a:ext cx="1034710" cy="389182"/>
                <a:chOff x="4128636" y="3606589"/>
                <a:chExt cx="568145" cy="338667"/>
              </a:xfrm>
            </p:grpSpPr>
            <p:sp>
              <p:nvSpPr>
                <p:cNvPr id="119" name="Oval 118"/>
                <p:cNvSpPr/>
                <p:nvPr/>
              </p:nvSpPr>
              <p:spPr>
                <a:xfrm>
                  <a:off x="4128649" y="3720080"/>
                  <a:ext cx="568332" cy="225176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20" name="Rectangle 119"/>
                <p:cNvSpPr/>
                <p:nvPr/>
              </p:nvSpPr>
              <p:spPr>
                <a:xfrm>
                  <a:off x="4128649" y="3720080"/>
                  <a:ext cx="568332" cy="111898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121" name="Oval 120"/>
                <p:cNvSpPr/>
                <p:nvPr/>
              </p:nvSpPr>
              <p:spPr>
                <a:xfrm>
                  <a:off x="4128649" y="3606801"/>
                  <a:ext cx="568332" cy="225176"/>
                </a:xfrm>
                <a:prstGeom prst="ellipse">
                  <a:avLst/>
                </a:prstGeom>
                <a:solidFill>
                  <a:schemeClr val="accent2">
                    <a:lumMod val="60000"/>
                    <a:lumOff val="40000"/>
                    <a:alpha val="7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122" name="Straight Connector 121"/>
                <p:cNvCxnSpPr/>
                <p:nvPr/>
              </p:nvCxnSpPr>
              <p:spPr>
                <a:xfrm>
                  <a:off x="4696981" y="3720080"/>
                  <a:ext cx="0" cy="111898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3" name="Straight Connector 122"/>
                <p:cNvCxnSpPr/>
                <p:nvPr/>
              </p:nvCxnSpPr>
              <p:spPr>
                <a:xfrm>
                  <a:off x="4128649" y="3720080"/>
                  <a:ext cx="0" cy="111898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47" name="Rectangle 146"/>
              <p:cNvSpPr/>
              <p:nvPr/>
            </p:nvSpPr>
            <p:spPr bwMode="auto">
              <a:xfrm>
                <a:off x="1801813" y="3602038"/>
                <a:ext cx="1027112" cy="1163637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60000"/>
                      <a:lumOff val="40000"/>
                      <a:alpha val="62000"/>
                    </a:schemeClr>
                  </a:gs>
                  <a:gs pos="54000">
                    <a:schemeClr val="accent2">
                      <a:lumMod val="40000"/>
                      <a:lumOff val="6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113" name="Straight Connector 112"/>
              <p:cNvCxnSpPr/>
              <p:nvPr/>
            </p:nvCxnSpPr>
            <p:spPr bwMode="auto">
              <a:xfrm>
                <a:off x="1781175" y="2805113"/>
                <a:ext cx="20638" cy="202088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/>
              <p:cNvCxnSpPr/>
              <p:nvPr/>
            </p:nvCxnSpPr>
            <p:spPr bwMode="auto">
              <a:xfrm flipH="1">
                <a:off x="2817813" y="2805113"/>
                <a:ext cx="4762" cy="1976437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272" name="Group 9"/>
              <p:cNvGrpSpPr>
                <a:grpSpLocks/>
              </p:cNvGrpSpPr>
              <p:nvPr/>
            </p:nvGrpSpPr>
            <p:grpSpPr bwMode="auto">
              <a:xfrm>
                <a:off x="1757805" y="2331054"/>
                <a:ext cx="1079500" cy="430213"/>
                <a:chOff x="2183302" y="1574638"/>
                <a:chExt cx="1200154" cy="430181"/>
              </a:xfrm>
            </p:grpSpPr>
            <p:sp>
              <p:nvSpPr>
                <p:cNvPr id="369" name="Oval 368"/>
                <p:cNvSpPr/>
                <p:nvPr/>
              </p:nvSpPr>
              <p:spPr bwMode="auto">
                <a:xfrm flipV="1">
                  <a:off x="2186832" y="1690517"/>
                  <a:ext cx="1194859" cy="314302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31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20000"/>
                        <a:lumOff val="80000"/>
                      </a:schemeClr>
                    </a:gs>
                  </a:gsLst>
                  <a:lin ang="16200000" scaled="0"/>
                  <a:tileRect/>
                </a:gradFill>
                <a:ln w="6350" cmpd="sng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370" name="Rectangle 369"/>
                <p:cNvSpPr/>
                <p:nvPr/>
              </p:nvSpPr>
              <p:spPr bwMode="auto">
                <a:xfrm>
                  <a:off x="2183302" y="1734964"/>
                  <a:ext cx="1198389" cy="112704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40000"/>
                        <a:lumOff val="60000"/>
                      </a:schemeClr>
                    </a:gs>
                    <a:gs pos="54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62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71" name="Oval 370"/>
                <p:cNvSpPr/>
                <p:nvPr/>
              </p:nvSpPr>
              <p:spPr bwMode="auto">
                <a:xfrm flipV="1">
                  <a:off x="2183302" y="1574638"/>
                  <a:ext cx="1196624" cy="314302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372" name="Freeform 371"/>
                <p:cNvSpPr/>
                <p:nvPr/>
              </p:nvSpPr>
              <p:spPr bwMode="auto">
                <a:xfrm>
                  <a:off x="2490400" y="1671469"/>
                  <a:ext cx="582428" cy="157150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73" name="Freeform 372"/>
                <p:cNvSpPr/>
                <p:nvPr/>
              </p:nvSpPr>
              <p:spPr bwMode="auto">
                <a:xfrm>
                  <a:off x="2430393" y="1630197"/>
                  <a:ext cx="702443" cy="109529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74" name="Freeform 373"/>
                <p:cNvSpPr/>
                <p:nvPr/>
              </p:nvSpPr>
              <p:spPr bwMode="auto">
                <a:xfrm>
                  <a:off x="2892805" y="1723852"/>
                  <a:ext cx="257680" cy="95243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75" name="Freeform 374"/>
                <p:cNvSpPr/>
                <p:nvPr/>
              </p:nvSpPr>
              <p:spPr bwMode="auto">
                <a:xfrm>
                  <a:off x="2418037" y="1725440"/>
                  <a:ext cx="254150" cy="95243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376" name="Straight Connector 375"/>
                <p:cNvCxnSpPr>
                  <a:endCxn id="371" idx="2"/>
                </p:cNvCxnSpPr>
                <p:nvPr/>
              </p:nvCxnSpPr>
              <p:spPr bwMode="auto">
                <a:xfrm flipH="1" flipV="1">
                  <a:off x="2183302" y="1731787"/>
                  <a:ext cx="3530" cy="122228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7" name="Straight Connector 376"/>
                <p:cNvCxnSpPr/>
                <p:nvPr/>
              </p:nvCxnSpPr>
              <p:spPr bwMode="auto">
                <a:xfrm flipH="1" flipV="1">
                  <a:off x="3379926" y="1728615"/>
                  <a:ext cx="3530" cy="122228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9" name="Group 18"/>
            <p:cNvGrpSpPr/>
            <p:nvPr/>
          </p:nvGrpSpPr>
          <p:grpSpPr>
            <a:xfrm>
              <a:off x="3500438" y="3174091"/>
              <a:ext cx="522287" cy="1831297"/>
              <a:chOff x="3500438" y="3174091"/>
              <a:chExt cx="522287" cy="1831297"/>
            </a:xfrm>
          </p:grpSpPr>
          <p:sp>
            <p:nvSpPr>
              <p:cNvPr id="171" name="Rectangle 170"/>
              <p:cNvSpPr/>
              <p:nvPr/>
            </p:nvSpPr>
            <p:spPr bwMode="auto">
              <a:xfrm rot="10800000">
                <a:off x="3507320" y="3287221"/>
                <a:ext cx="498349" cy="306623"/>
              </a:xfrm>
              <a:prstGeom prst="rect">
                <a:avLst/>
              </a:prstGeom>
              <a:gradFill>
                <a:gsLst>
                  <a:gs pos="100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90" name="Straight Connector 89"/>
              <p:cNvCxnSpPr/>
              <p:nvPr/>
            </p:nvCxnSpPr>
            <p:spPr bwMode="auto">
              <a:xfrm flipH="1">
                <a:off x="4019550" y="3321180"/>
                <a:ext cx="1059" cy="1536570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7247" name="Picture 86" descr="router_top.png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00438" y="3194292"/>
                <a:ext cx="522287" cy="2204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47249" name="Group 82"/>
              <p:cNvGrpSpPr>
                <a:grpSpLocks/>
              </p:cNvGrpSpPr>
              <p:nvPr/>
            </p:nvGrpSpPr>
            <p:grpSpPr bwMode="auto">
              <a:xfrm>
                <a:off x="3511442" y="4783543"/>
                <a:ext cx="507858" cy="221845"/>
                <a:chOff x="4128636" y="3606589"/>
                <a:chExt cx="568145" cy="338667"/>
              </a:xfrm>
            </p:grpSpPr>
            <p:sp>
              <p:nvSpPr>
                <p:cNvPr id="97" name="Oval 96"/>
                <p:cNvSpPr/>
                <p:nvPr/>
              </p:nvSpPr>
              <p:spPr>
                <a:xfrm>
                  <a:off x="4128757" y="3719873"/>
                  <a:ext cx="568304" cy="225383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98" name="Rectangle 97"/>
                <p:cNvSpPr/>
                <p:nvPr/>
              </p:nvSpPr>
              <p:spPr>
                <a:xfrm>
                  <a:off x="4128757" y="3719873"/>
                  <a:ext cx="568304" cy="111479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99" name="Oval 98"/>
                <p:cNvSpPr/>
                <p:nvPr/>
              </p:nvSpPr>
              <p:spPr>
                <a:xfrm>
                  <a:off x="4128757" y="3605971"/>
                  <a:ext cx="568304" cy="225382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  <a:alpha val="5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100" name="Straight Connector 99"/>
                <p:cNvCxnSpPr/>
                <p:nvPr/>
              </p:nvCxnSpPr>
              <p:spPr>
                <a:xfrm>
                  <a:off x="4697061" y="3719873"/>
                  <a:ext cx="0" cy="111479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1" name="Straight Connector 100"/>
                <p:cNvCxnSpPr/>
                <p:nvPr/>
              </p:nvCxnSpPr>
              <p:spPr>
                <a:xfrm>
                  <a:off x="4128757" y="3719873"/>
                  <a:ext cx="0" cy="111479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55" name="Rectangle 154"/>
              <p:cNvSpPr/>
              <p:nvPr/>
            </p:nvSpPr>
            <p:spPr bwMode="auto">
              <a:xfrm>
                <a:off x="3516313" y="3697288"/>
                <a:ext cx="498475" cy="1163637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174" name="Straight Connector 173"/>
              <p:cNvCxnSpPr>
                <a:stCxn id="381" idx="2"/>
              </p:cNvCxnSpPr>
              <p:nvPr/>
            </p:nvCxnSpPr>
            <p:spPr bwMode="auto">
              <a:xfrm flipH="1">
                <a:off x="3506788" y="3262991"/>
                <a:ext cx="4762" cy="1688422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233" name="Group 377"/>
              <p:cNvGrpSpPr>
                <a:grpSpLocks/>
              </p:cNvGrpSpPr>
              <p:nvPr/>
            </p:nvGrpSpPr>
            <p:grpSpPr bwMode="auto">
              <a:xfrm>
                <a:off x="3511057" y="3174091"/>
                <a:ext cx="504096" cy="242719"/>
                <a:chOff x="2183302" y="1574638"/>
                <a:chExt cx="1200154" cy="430218"/>
              </a:xfrm>
            </p:grpSpPr>
            <p:sp>
              <p:nvSpPr>
                <p:cNvPr id="379" name="Oval 378"/>
                <p:cNvSpPr/>
                <p:nvPr/>
              </p:nvSpPr>
              <p:spPr bwMode="auto">
                <a:xfrm flipV="1">
                  <a:off x="2188256" y="1690004"/>
                  <a:ext cx="1194331" cy="315149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31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bg1"/>
                    </a:gs>
                  </a:gsLst>
                  <a:lin ang="16200000" scaled="0"/>
                  <a:tileRect/>
                </a:gradFill>
                <a:ln w="6350" cmpd="sng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380" name="Rectangle 379"/>
                <p:cNvSpPr/>
                <p:nvPr/>
              </p:nvSpPr>
              <p:spPr bwMode="auto">
                <a:xfrm>
                  <a:off x="2184476" y="1735026"/>
                  <a:ext cx="1198111" cy="112553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40000"/>
                        <a:lumOff val="60000"/>
                      </a:schemeClr>
                    </a:gs>
                    <a:gs pos="54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62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81" name="Oval 380"/>
                <p:cNvSpPr/>
                <p:nvPr/>
              </p:nvSpPr>
              <p:spPr bwMode="auto">
                <a:xfrm flipV="1">
                  <a:off x="2184476" y="1574638"/>
                  <a:ext cx="1194331" cy="315149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382" name="Freeform 381"/>
                <p:cNvSpPr/>
                <p:nvPr/>
              </p:nvSpPr>
              <p:spPr bwMode="auto">
                <a:xfrm>
                  <a:off x="2490619" y="1670308"/>
                  <a:ext cx="582047" cy="157575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83" name="Freeform 382"/>
                <p:cNvSpPr/>
                <p:nvPr/>
              </p:nvSpPr>
              <p:spPr bwMode="auto">
                <a:xfrm>
                  <a:off x="2430146" y="1630915"/>
                  <a:ext cx="702992" cy="109739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84" name="Freeform 383"/>
                <p:cNvSpPr/>
                <p:nvPr/>
              </p:nvSpPr>
              <p:spPr bwMode="auto">
                <a:xfrm>
                  <a:off x="2891248" y="1723770"/>
                  <a:ext cx="260786" cy="95670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385" name="Freeform 384"/>
                <p:cNvSpPr/>
                <p:nvPr/>
              </p:nvSpPr>
              <p:spPr bwMode="auto">
                <a:xfrm>
                  <a:off x="2418806" y="1726585"/>
                  <a:ext cx="253230" cy="92856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386" name="Straight Connector 385"/>
                <p:cNvCxnSpPr>
                  <a:endCxn id="381" idx="2"/>
                </p:cNvCxnSpPr>
                <p:nvPr/>
              </p:nvCxnSpPr>
              <p:spPr bwMode="auto">
                <a:xfrm flipH="1" flipV="1">
                  <a:off x="2184476" y="1732213"/>
                  <a:ext cx="3781" cy="120994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7" name="Straight Connector 386"/>
                <p:cNvCxnSpPr/>
                <p:nvPr/>
              </p:nvCxnSpPr>
              <p:spPr bwMode="auto">
                <a:xfrm flipH="1" flipV="1">
                  <a:off x="3378806" y="1729398"/>
                  <a:ext cx="3781" cy="120996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0" name="Group 19"/>
            <p:cNvGrpSpPr/>
            <p:nvPr/>
          </p:nvGrpSpPr>
          <p:grpSpPr>
            <a:xfrm>
              <a:off x="4299212" y="2486508"/>
              <a:ext cx="528376" cy="2517292"/>
              <a:chOff x="4299212" y="2486508"/>
              <a:chExt cx="528376" cy="2517292"/>
            </a:xfrm>
          </p:grpSpPr>
          <p:sp>
            <p:nvSpPr>
              <p:cNvPr id="439" name="Rectangle 438"/>
              <p:cNvSpPr/>
              <p:nvPr/>
            </p:nvSpPr>
            <p:spPr bwMode="auto">
              <a:xfrm rot="10800000">
                <a:off x="4315358" y="2675960"/>
                <a:ext cx="498350" cy="916575"/>
              </a:xfrm>
              <a:prstGeom prst="rect">
                <a:avLst/>
              </a:prstGeom>
              <a:gradFill>
                <a:gsLst>
                  <a:gs pos="100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440" name="Straight Connector 439"/>
              <p:cNvCxnSpPr/>
              <p:nvPr/>
            </p:nvCxnSpPr>
            <p:spPr bwMode="auto">
              <a:xfrm>
                <a:off x="4822015" y="2642002"/>
                <a:ext cx="5573" cy="2214161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218" name="Group 442"/>
              <p:cNvGrpSpPr>
                <a:grpSpLocks/>
              </p:cNvGrpSpPr>
              <p:nvPr/>
            </p:nvGrpSpPr>
            <p:grpSpPr bwMode="auto">
              <a:xfrm>
                <a:off x="4319479" y="4781999"/>
                <a:ext cx="507859" cy="221801"/>
                <a:chOff x="4128636" y="3606589"/>
                <a:chExt cx="568145" cy="338667"/>
              </a:xfrm>
            </p:grpSpPr>
            <p:sp>
              <p:nvSpPr>
                <p:cNvPr id="452" name="Oval 451"/>
                <p:cNvSpPr/>
                <p:nvPr/>
              </p:nvSpPr>
              <p:spPr>
                <a:xfrm>
                  <a:off x="4128758" y="3719830"/>
                  <a:ext cx="568303" cy="225426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53" name="Rectangle 452"/>
                <p:cNvSpPr/>
                <p:nvPr/>
              </p:nvSpPr>
              <p:spPr>
                <a:xfrm>
                  <a:off x="4128758" y="3719830"/>
                  <a:ext cx="568303" cy="111502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54" name="Oval 453"/>
                <p:cNvSpPr/>
                <p:nvPr/>
              </p:nvSpPr>
              <p:spPr>
                <a:xfrm>
                  <a:off x="4128758" y="3605903"/>
                  <a:ext cx="568303" cy="225428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  <a:alpha val="5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455" name="Straight Connector 454"/>
                <p:cNvCxnSpPr/>
                <p:nvPr/>
              </p:nvCxnSpPr>
              <p:spPr>
                <a:xfrm>
                  <a:off x="4697061" y="3719830"/>
                  <a:ext cx="0" cy="111502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6" name="Straight Connector 455"/>
                <p:cNvCxnSpPr/>
                <p:nvPr/>
              </p:nvCxnSpPr>
              <p:spPr>
                <a:xfrm>
                  <a:off x="4128758" y="3719830"/>
                  <a:ext cx="0" cy="111502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44" name="Rectangle 443"/>
              <p:cNvSpPr/>
              <p:nvPr/>
            </p:nvSpPr>
            <p:spPr bwMode="auto">
              <a:xfrm>
                <a:off x="4324350" y="3695700"/>
                <a:ext cx="498475" cy="1163638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447" name="Straight Connector 446"/>
              <p:cNvCxnSpPr>
                <a:stCxn id="458" idx="2"/>
              </p:cNvCxnSpPr>
              <p:nvPr/>
            </p:nvCxnSpPr>
            <p:spPr bwMode="auto">
              <a:xfrm>
                <a:off x="4300799" y="2640496"/>
                <a:ext cx="14026" cy="2309329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137" name="Group 456"/>
              <p:cNvGrpSpPr>
                <a:grpSpLocks/>
              </p:cNvGrpSpPr>
              <p:nvPr/>
            </p:nvGrpSpPr>
            <p:grpSpPr bwMode="auto">
              <a:xfrm>
                <a:off x="4299212" y="2486508"/>
                <a:ext cx="504825" cy="242888"/>
                <a:chOff x="2183302" y="1574638"/>
                <a:chExt cx="1200154" cy="430218"/>
              </a:xfrm>
            </p:grpSpPr>
            <p:sp>
              <p:nvSpPr>
                <p:cNvPr id="458" name="Oval 457"/>
                <p:cNvSpPr/>
                <p:nvPr/>
              </p:nvSpPr>
              <p:spPr bwMode="auto">
                <a:xfrm flipV="1">
                  <a:off x="2187075" y="1689926"/>
                  <a:ext cx="1196381" cy="31493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31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bg1"/>
                    </a:gs>
                  </a:gsLst>
                  <a:lin ang="16200000" scaled="0"/>
                  <a:tileRect/>
                </a:gradFill>
                <a:ln w="6350" cmpd="sng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459" name="Rectangle 458"/>
                <p:cNvSpPr/>
                <p:nvPr/>
              </p:nvSpPr>
              <p:spPr bwMode="auto">
                <a:xfrm>
                  <a:off x="2183302" y="1734916"/>
                  <a:ext cx="1200154" cy="11247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40000"/>
                        <a:lumOff val="60000"/>
                      </a:schemeClr>
                    </a:gs>
                    <a:gs pos="54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62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60" name="Oval 459"/>
                <p:cNvSpPr/>
                <p:nvPr/>
              </p:nvSpPr>
              <p:spPr bwMode="auto">
                <a:xfrm flipV="1">
                  <a:off x="2183302" y="1574638"/>
                  <a:ext cx="1196379" cy="314930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461" name="Freeform 460"/>
                <p:cNvSpPr/>
                <p:nvPr/>
              </p:nvSpPr>
              <p:spPr bwMode="auto">
                <a:xfrm>
                  <a:off x="2489000" y="1670242"/>
                  <a:ext cx="584982" cy="157465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62" name="Freeform 461"/>
                <p:cNvSpPr/>
                <p:nvPr/>
              </p:nvSpPr>
              <p:spPr bwMode="auto">
                <a:xfrm>
                  <a:off x="2428615" y="1630876"/>
                  <a:ext cx="705752" cy="109664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63" name="Freeform 462"/>
                <p:cNvSpPr/>
                <p:nvPr/>
              </p:nvSpPr>
              <p:spPr bwMode="auto">
                <a:xfrm>
                  <a:off x="2892827" y="1723668"/>
                  <a:ext cx="256637" cy="95604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64" name="Freeform 463"/>
                <p:cNvSpPr/>
                <p:nvPr/>
              </p:nvSpPr>
              <p:spPr bwMode="auto">
                <a:xfrm>
                  <a:off x="2417294" y="1726479"/>
                  <a:ext cx="252861" cy="92793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465" name="Straight Connector 464"/>
                <p:cNvCxnSpPr>
                  <a:endCxn id="460" idx="2"/>
                </p:cNvCxnSpPr>
                <p:nvPr/>
              </p:nvCxnSpPr>
              <p:spPr bwMode="auto">
                <a:xfrm flipH="1" flipV="1">
                  <a:off x="2183302" y="1732103"/>
                  <a:ext cx="3773" cy="120912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6" name="Straight Connector 465"/>
                <p:cNvCxnSpPr/>
                <p:nvPr/>
              </p:nvCxnSpPr>
              <p:spPr bwMode="auto">
                <a:xfrm flipH="1" flipV="1">
                  <a:off x="3379681" y="1729292"/>
                  <a:ext cx="3775" cy="120910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1" name="Group 20"/>
            <p:cNvGrpSpPr/>
            <p:nvPr/>
          </p:nvGrpSpPr>
          <p:grpSpPr>
            <a:xfrm>
              <a:off x="5491163" y="3179295"/>
              <a:ext cx="522287" cy="1824505"/>
              <a:chOff x="5491163" y="3179295"/>
              <a:chExt cx="522287" cy="1824505"/>
            </a:xfrm>
          </p:grpSpPr>
          <p:sp>
            <p:nvSpPr>
              <p:cNvPr id="468" name="Rectangle 467"/>
              <p:cNvSpPr/>
              <p:nvPr/>
            </p:nvSpPr>
            <p:spPr bwMode="auto">
              <a:xfrm rot="10800000">
                <a:off x="5498044" y="3266845"/>
                <a:ext cx="498349" cy="325689"/>
              </a:xfrm>
              <a:prstGeom prst="rect">
                <a:avLst/>
              </a:prstGeom>
              <a:gradFill>
                <a:gsLst>
                  <a:gs pos="100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469" name="Straight Connector 468"/>
              <p:cNvCxnSpPr>
                <a:stCxn id="489" idx="6"/>
              </p:cNvCxnSpPr>
              <p:nvPr/>
            </p:nvCxnSpPr>
            <p:spPr bwMode="auto">
              <a:xfrm>
                <a:off x="6003925" y="3268195"/>
                <a:ext cx="6350" cy="1581176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7187" name="Picture 469" descr="router_top.png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491163" y="3206725"/>
                <a:ext cx="522287" cy="2204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47189" name="Group 471"/>
              <p:cNvGrpSpPr>
                <a:grpSpLocks/>
              </p:cNvGrpSpPr>
              <p:nvPr/>
            </p:nvGrpSpPr>
            <p:grpSpPr bwMode="auto">
              <a:xfrm>
                <a:off x="5502167" y="4781999"/>
                <a:ext cx="507858" cy="221801"/>
                <a:chOff x="4128636" y="3606589"/>
                <a:chExt cx="568145" cy="338667"/>
              </a:xfrm>
            </p:grpSpPr>
            <p:sp>
              <p:nvSpPr>
                <p:cNvPr id="481" name="Oval 480"/>
                <p:cNvSpPr/>
                <p:nvPr/>
              </p:nvSpPr>
              <p:spPr>
                <a:xfrm>
                  <a:off x="4128757" y="3719830"/>
                  <a:ext cx="568304" cy="225426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82" name="Rectangle 481"/>
                <p:cNvSpPr/>
                <p:nvPr/>
              </p:nvSpPr>
              <p:spPr>
                <a:xfrm>
                  <a:off x="4128757" y="3719830"/>
                  <a:ext cx="568304" cy="111502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83" name="Oval 482"/>
                <p:cNvSpPr/>
                <p:nvPr/>
              </p:nvSpPr>
              <p:spPr>
                <a:xfrm>
                  <a:off x="4128757" y="3605903"/>
                  <a:ext cx="568304" cy="225428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  <a:alpha val="5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484" name="Straight Connector 483"/>
                <p:cNvCxnSpPr/>
                <p:nvPr/>
              </p:nvCxnSpPr>
              <p:spPr>
                <a:xfrm>
                  <a:off x="4697061" y="3719830"/>
                  <a:ext cx="0" cy="111502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5" name="Straight Connector 484"/>
                <p:cNvCxnSpPr/>
                <p:nvPr/>
              </p:nvCxnSpPr>
              <p:spPr>
                <a:xfrm>
                  <a:off x="4128757" y="3719830"/>
                  <a:ext cx="0" cy="111502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73" name="Rectangle 472"/>
              <p:cNvSpPr/>
              <p:nvPr/>
            </p:nvSpPr>
            <p:spPr bwMode="auto">
              <a:xfrm>
                <a:off x="5507038" y="3695700"/>
                <a:ext cx="498475" cy="1163638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476" name="Straight Connector 475"/>
              <p:cNvCxnSpPr>
                <a:stCxn id="47187" idx="1"/>
              </p:cNvCxnSpPr>
              <p:nvPr/>
            </p:nvCxnSpPr>
            <p:spPr bwMode="auto">
              <a:xfrm>
                <a:off x="5491163" y="3316941"/>
                <a:ext cx="6350" cy="1632884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139" name="Group 485"/>
              <p:cNvGrpSpPr>
                <a:grpSpLocks/>
              </p:cNvGrpSpPr>
              <p:nvPr/>
            </p:nvGrpSpPr>
            <p:grpSpPr bwMode="auto">
              <a:xfrm>
                <a:off x="5500688" y="3179295"/>
                <a:ext cx="504825" cy="242888"/>
                <a:chOff x="2183302" y="1574638"/>
                <a:chExt cx="1200154" cy="430218"/>
              </a:xfrm>
            </p:grpSpPr>
            <p:sp>
              <p:nvSpPr>
                <p:cNvPr id="487" name="Oval 486"/>
                <p:cNvSpPr/>
                <p:nvPr/>
              </p:nvSpPr>
              <p:spPr bwMode="auto">
                <a:xfrm flipV="1">
                  <a:off x="2187075" y="1689926"/>
                  <a:ext cx="1196381" cy="314930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31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bg1"/>
                    </a:gs>
                  </a:gsLst>
                  <a:lin ang="16200000" scaled="0"/>
                  <a:tileRect/>
                </a:gradFill>
                <a:ln w="6350" cmpd="sng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488" name="Rectangle 487"/>
                <p:cNvSpPr/>
                <p:nvPr/>
              </p:nvSpPr>
              <p:spPr bwMode="auto">
                <a:xfrm>
                  <a:off x="2183302" y="1734916"/>
                  <a:ext cx="1200154" cy="112475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40000"/>
                        <a:lumOff val="60000"/>
                      </a:schemeClr>
                    </a:gs>
                    <a:gs pos="54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62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89" name="Oval 488"/>
                <p:cNvSpPr/>
                <p:nvPr/>
              </p:nvSpPr>
              <p:spPr bwMode="auto">
                <a:xfrm flipV="1">
                  <a:off x="2183302" y="1574638"/>
                  <a:ext cx="1196379" cy="314930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490" name="Freeform 489"/>
                <p:cNvSpPr/>
                <p:nvPr/>
              </p:nvSpPr>
              <p:spPr bwMode="auto">
                <a:xfrm>
                  <a:off x="2489000" y="1670242"/>
                  <a:ext cx="584982" cy="157465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91" name="Freeform 490"/>
                <p:cNvSpPr/>
                <p:nvPr/>
              </p:nvSpPr>
              <p:spPr bwMode="auto">
                <a:xfrm>
                  <a:off x="2428615" y="1630876"/>
                  <a:ext cx="705752" cy="109664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92" name="Freeform 491"/>
                <p:cNvSpPr/>
                <p:nvPr/>
              </p:nvSpPr>
              <p:spPr bwMode="auto">
                <a:xfrm>
                  <a:off x="2892827" y="1723668"/>
                  <a:ext cx="256637" cy="95604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493" name="Freeform 492"/>
                <p:cNvSpPr/>
                <p:nvPr/>
              </p:nvSpPr>
              <p:spPr bwMode="auto">
                <a:xfrm>
                  <a:off x="2417294" y="1726479"/>
                  <a:ext cx="252861" cy="92793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494" name="Straight Connector 493"/>
                <p:cNvCxnSpPr>
                  <a:endCxn id="489" idx="2"/>
                </p:cNvCxnSpPr>
                <p:nvPr/>
              </p:nvCxnSpPr>
              <p:spPr bwMode="auto">
                <a:xfrm flipH="1" flipV="1">
                  <a:off x="2183302" y="1732103"/>
                  <a:ext cx="3773" cy="120912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5" name="Straight Connector 494"/>
                <p:cNvCxnSpPr/>
                <p:nvPr/>
              </p:nvCxnSpPr>
              <p:spPr bwMode="auto">
                <a:xfrm flipH="1" flipV="1">
                  <a:off x="3379681" y="1729292"/>
                  <a:ext cx="3775" cy="120910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2" name="Group 21"/>
            <p:cNvGrpSpPr/>
            <p:nvPr/>
          </p:nvGrpSpPr>
          <p:grpSpPr>
            <a:xfrm>
              <a:off x="6472366" y="2647932"/>
              <a:ext cx="522159" cy="2354282"/>
              <a:chOff x="6472366" y="2647932"/>
              <a:chExt cx="522159" cy="2354282"/>
            </a:xfrm>
          </p:grpSpPr>
          <p:sp>
            <p:nvSpPr>
              <p:cNvPr id="497" name="Rectangle 496"/>
              <p:cNvSpPr/>
              <p:nvPr/>
            </p:nvSpPr>
            <p:spPr bwMode="auto">
              <a:xfrm rot="10800000">
                <a:off x="6482296" y="2777838"/>
                <a:ext cx="498349" cy="722037"/>
              </a:xfrm>
              <a:prstGeom prst="rect">
                <a:avLst/>
              </a:prstGeom>
              <a:gradFill>
                <a:gsLst>
                  <a:gs pos="100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498" name="Straight Connector 497"/>
              <p:cNvCxnSpPr/>
              <p:nvPr/>
            </p:nvCxnSpPr>
            <p:spPr bwMode="auto">
              <a:xfrm>
                <a:off x="6994525" y="2845840"/>
                <a:ext cx="0" cy="1999208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160" name="Group 500"/>
              <p:cNvGrpSpPr>
                <a:grpSpLocks/>
              </p:cNvGrpSpPr>
              <p:nvPr/>
            </p:nvGrpSpPr>
            <p:grpSpPr bwMode="auto">
              <a:xfrm>
                <a:off x="6486417" y="4766099"/>
                <a:ext cx="507858" cy="236115"/>
                <a:chOff x="4128636" y="3606589"/>
                <a:chExt cx="568145" cy="338667"/>
              </a:xfrm>
            </p:grpSpPr>
            <p:sp>
              <p:nvSpPr>
                <p:cNvPr id="510" name="Oval 509"/>
                <p:cNvSpPr/>
                <p:nvPr/>
              </p:nvSpPr>
              <p:spPr>
                <a:xfrm>
                  <a:off x="4128757" y="3719828"/>
                  <a:ext cx="568304" cy="225428"/>
                </a:xfrm>
                <a:prstGeom prst="ellipse">
                  <a:avLst/>
                </a:prstGeom>
                <a:solidFill>
                  <a:schemeClr val="accent2">
                    <a:lumMod val="75000"/>
                  </a:schemeClr>
                </a:solidFill>
                <a:ln w="635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11" name="Rectangle 510"/>
                <p:cNvSpPr/>
                <p:nvPr/>
              </p:nvSpPr>
              <p:spPr>
                <a:xfrm>
                  <a:off x="4128757" y="3719828"/>
                  <a:ext cx="568304" cy="111502"/>
                </a:xfrm>
                <a:prstGeom prst="rect">
                  <a:avLst/>
                </a:pr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12" name="Oval 511"/>
                <p:cNvSpPr/>
                <p:nvPr/>
              </p:nvSpPr>
              <p:spPr>
                <a:xfrm>
                  <a:off x="4128757" y="3605903"/>
                  <a:ext cx="568304" cy="225426"/>
                </a:xfrm>
                <a:prstGeom prst="ellipse">
                  <a:avLst/>
                </a:prstGeom>
                <a:solidFill>
                  <a:schemeClr val="accent2">
                    <a:lumMod val="40000"/>
                    <a:lumOff val="60000"/>
                    <a:alpha val="55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513" name="Straight Connector 512"/>
                <p:cNvCxnSpPr/>
                <p:nvPr/>
              </p:nvCxnSpPr>
              <p:spPr>
                <a:xfrm>
                  <a:off x="4697061" y="3719828"/>
                  <a:ext cx="0" cy="111502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4" name="Straight Connector 513"/>
                <p:cNvCxnSpPr/>
                <p:nvPr/>
              </p:nvCxnSpPr>
              <p:spPr>
                <a:xfrm>
                  <a:off x="4128757" y="3719828"/>
                  <a:ext cx="0" cy="111502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02" name="Rectangle 501"/>
              <p:cNvSpPr/>
              <p:nvPr/>
            </p:nvSpPr>
            <p:spPr bwMode="auto">
              <a:xfrm>
                <a:off x="6491288" y="3609696"/>
                <a:ext cx="498475" cy="1238732"/>
              </a:xfrm>
              <a:prstGeom prst="rect">
                <a:avLst/>
              </a:prstGeom>
              <a:gradFill>
                <a:gsLst>
                  <a:gs pos="0">
                    <a:schemeClr val="accent2">
                      <a:lumMod val="75000"/>
                      <a:alpha val="62000"/>
                    </a:schemeClr>
                  </a:gs>
                  <a:gs pos="54000">
                    <a:schemeClr val="accent2">
                      <a:lumMod val="60000"/>
                      <a:lumOff val="40000"/>
                    </a:schemeClr>
                  </a:gs>
                  <a:gs pos="100000">
                    <a:schemeClr val="bg1"/>
                  </a:gs>
                </a:gsLst>
              </a:gra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505" name="Straight Connector 504"/>
              <p:cNvCxnSpPr/>
              <p:nvPr/>
            </p:nvCxnSpPr>
            <p:spPr bwMode="auto">
              <a:xfrm>
                <a:off x="6472366" y="2818589"/>
                <a:ext cx="9397" cy="2126166"/>
              </a:xfrm>
              <a:prstGeom prst="line">
                <a:avLst/>
              </a:prstGeom>
              <a:ln w="3175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7141" name="Group 514"/>
              <p:cNvGrpSpPr>
                <a:grpSpLocks/>
              </p:cNvGrpSpPr>
              <p:nvPr/>
            </p:nvGrpSpPr>
            <p:grpSpPr bwMode="auto">
              <a:xfrm>
                <a:off x="6478146" y="2647932"/>
                <a:ext cx="504825" cy="242887"/>
                <a:chOff x="2183302" y="1574638"/>
                <a:chExt cx="1200154" cy="430218"/>
              </a:xfrm>
            </p:grpSpPr>
            <p:sp>
              <p:nvSpPr>
                <p:cNvPr id="516" name="Oval 515"/>
                <p:cNvSpPr/>
                <p:nvPr/>
              </p:nvSpPr>
              <p:spPr bwMode="auto">
                <a:xfrm flipV="1">
                  <a:off x="2187075" y="1689925"/>
                  <a:ext cx="1196381" cy="314931"/>
                </a:xfrm>
                <a:prstGeom prst="ellipse">
                  <a:avLst/>
                </a:prstGeom>
                <a:gradFill flip="none" rotWithShape="1">
                  <a:gsLst>
                    <a:gs pos="0">
                      <a:schemeClr val="accent2">
                        <a:lumMod val="75000"/>
                      </a:schemeClr>
                    </a:gs>
                    <a:gs pos="31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bg1"/>
                    </a:gs>
                  </a:gsLst>
                  <a:lin ang="16200000" scaled="0"/>
                  <a:tileRect/>
                </a:gradFill>
                <a:ln w="6350" cmpd="sng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517" name="Rectangle 516"/>
                <p:cNvSpPr/>
                <p:nvPr/>
              </p:nvSpPr>
              <p:spPr bwMode="auto">
                <a:xfrm>
                  <a:off x="2183302" y="1734915"/>
                  <a:ext cx="1200154" cy="112476"/>
                </a:xfrm>
                <a:prstGeom prst="rect">
                  <a:avLst/>
                </a:prstGeom>
                <a:gradFill>
                  <a:gsLst>
                    <a:gs pos="0">
                      <a:schemeClr val="accent2">
                        <a:lumMod val="40000"/>
                        <a:lumOff val="60000"/>
                      </a:schemeClr>
                    </a:gs>
                    <a:gs pos="54000">
                      <a:schemeClr val="accent2">
                        <a:lumMod val="60000"/>
                        <a:lumOff val="40000"/>
                      </a:schemeClr>
                    </a:gs>
                    <a:gs pos="100000">
                      <a:schemeClr val="accent2">
                        <a:lumMod val="75000"/>
                      </a:schemeClr>
                    </a:gs>
                  </a:gsLst>
                  <a:lin ang="16200000" scaled="0"/>
                </a:gradFill>
                <a:ln w="25400"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18" name="Oval 517"/>
                <p:cNvSpPr/>
                <p:nvPr/>
              </p:nvSpPr>
              <p:spPr bwMode="auto">
                <a:xfrm flipV="1">
                  <a:off x="2183302" y="1574638"/>
                  <a:ext cx="1196379" cy="314931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 w="6350" cmpd="sng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 dirty="0">
                    <a:ln>
                      <a:solidFill>
                        <a:schemeClr val="tx1"/>
                      </a:solidFill>
                    </a:ln>
                  </a:endParaRPr>
                </a:p>
              </p:txBody>
            </p:sp>
            <p:sp>
              <p:nvSpPr>
                <p:cNvPr id="519" name="Freeform 518"/>
                <p:cNvSpPr/>
                <p:nvPr/>
              </p:nvSpPr>
              <p:spPr bwMode="auto">
                <a:xfrm>
                  <a:off x="2489000" y="1670242"/>
                  <a:ext cx="584982" cy="157466"/>
                </a:xfrm>
                <a:custGeom>
                  <a:avLst/>
                  <a:gdLst>
                    <a:gd name="connsiteX0" fmla="*/ 1486231 w 2944854"/>
                    <a:gd name="connsiteY0" fmla="*/ 727041 h 1302232"/>
                    <a:gd name="connsiteX1" fmla="*/ 257675 w 2944854"/>
                    <a:gd name="connsiteY1" fmla="*/ 1302232 h 1302232"/>
                    <a:gd name="connsiteX2" fmla="*/ 0 w 2944854"/>
                    <a:gd name="connsiteY2" fmla="*/ 1228607 h 1302232"/>
                    <a:gd name="connsiteX3" fmla="*/ 911064 w 2944854"/>
                    <a:gd name="connsiteY3" fmla="*/ 837478 h 1302232"/>
                    <a:gd name="connsiteX4" fmla="*/ 883456 w 2944854"/>
                    <a:gd name="connsiteY4" fmla="*/ 450949 h 1302232"/>
                    <a:gd name="connsiteX5" fmla="*/ 161047 w 2944854"/>
                    <a:gd name="connsiteY5" fmla="*/ 119640 h 1302232"/>
                    <a:gd name="connsiteX6" fmla="*/ 404917 w 2944854"/>
                    <a:gd name="connsiteY6" fmla="*/ 50617 h 1302232"/>
                    <a:gd name="connsiteX7" fmla="*/ 1477028 w 2944854"/>
                    <a:gd name="connsiteY7" fmla="*/ 501566 h 1302232"/>
                    <a:gd name="connsiteX8" fmla="*/ 2572146 w 2944854"/>
                    <a:gd name="connsiteY8" fmla="*/ 0 h 1302232"/>
                    <a:gd name="connsiteX9" fmla="*/ 2875834 w 2944854"/>
                    <a:gd name="connsiteY9" fmla="*/ 96632 h 1302232"/>
                    <a:gd name="connsiteX10" fmla="*/ 2079803 w 2944854"/>
                    <a:gd name="connsiteY10" fmla="*/ 432543 h 1302232"/>
                    <a:gd name="connsiteX11" fmla="*/ 2240850 w 2944854"/>
                    <a:gd name="connsiteY11" fmla="*/ 920305 h 1302232"/>
                    <a:gd name="connsiteX12" fmla="*/ 2944854 w 2944854"/>
                    <a:gd name="connsiteY12" fmla="*/ 1228607 h 1302232"/>
                    <a:gd name="connsiteX13" fmla="*/ 2733192 w 2944854"/>
                    <a:gd name="connsiteY13" fmla="*/ 1297630 h 1302232"/>
                    <a:gd name="connsiteX14" fmla="*/ 1486231 w 2944854"/>
                    <a:gd name="connsiteY14" fmla="*/ 727041 h 1302232"/>
                    <a:gd name="connsiteX0" fmla="*/ 1486231 w 2944854"/>
                    <a:gd name="connsiteY0" fmla="*/ 727041 h 1316375"/>
                    <a:gd name="connsiteX1" fmla="*/ 257675 w 2944854"/>
                    <a:gd name="connsiteY1" fmla="*/ 1302232 h 1316375"/>
                    <a:gd name="connsiteX2" fmla="*/ 0 w 2944854"/>
                    <a:gd name="connsiteY2" fmla="*/ 1228607 h 1316375"/>
                    <a:gd name="connsiteX3" fmla="*/ 911064 w 2944854"/>
                    <a:gd name="connsiteY3" fmla="*/ 837478 h 1316375"/>
                    <a:gd name="connsiteX4" fmla="*/ 883456 w 2944854"/>
                    <a:gd name="connsiteY4" fmla="*/ 450949 h 1316375"/>
                    <a:gd name="connsiteX5" fmla="*/ 161047 w 2944854"/>
                    <a:gd name="connsiteY5" fmla="*/ 119640 h 1316375"/>
                    <a:gd name="connsiteX6" fmla="*/ 404917 w 2944854"/>
                    <a:gd name="connsiteY6" fmla="*/ 50617 h 1316375"/>
                    <a:gd name="connsiteX7" fmla="*/ 1477028 w 2944854"/>
                    <a:gd name="connsiteY7" fmla="*/ 501566 h 1316375"/>
                    <a:gd name="connsiteX8" fmla="*/ 2572146 w 2944854"/>
                    <a:gd name="connsiteY8" fmla="*/ 0 h 1316375"/>
                    <a:gd name="connsiteX9" fmla="*/ 2875834 w 2944854"/>
                    <a:gd name="connsiteY9" fmla="*/ 96632 h 1316375"/>
                    <a:gd name="connsiteX10" fmla="*/ 2079803 w 2944854"/>
                    <a:gd name="connsiteY10" fmla="*/ 432543 h 1316375"/>
                    <a:gd name="connsiteX11" fmla="*/ 2240850 w 2944854"/>
                    <a:gd name="connsiteY11" fmla="*/ 920305 h 1316375"/>
                    <a:gd name="connsiteX12" fmla="*/ 2944854 w 2944854"/>
                    <a:gd name="connsiteY12" fmla="*/ 1228607 h 1316375"/>
                    <a:gd name="connsiteX13" fmla="*/ 2756623 w 2944854"/>
                    <a:gd name="connsiteY13" fmla="*/ 1316375 h 1316375"/>
                    <a:gd name="connsiteX14" fmla="*/ 1486231 w 2944854"/>
                    <a:gd name="connsiteY14" fmla="*/ 727041 h 1316375"/>
                    <a:gd name="connsiteX0" fmla="*/ 1486231 w 3024520"/>
                    <a:gd name="connsiteY0" fmla="*/ 727041 h 1316375"/>
                    <a:gd name="connsiteX1" fmla="*/ 257675 w 3024520"/>
                    <a:gd name="connsiteY1" fmla="*/ 1302232 h 1316375"/>
                    <a:gd name="connsiteX2" fmla="*/ 0 w 3024520"/>
                    <a:gd name="connsiteY2" fmla="*/ 1228607 h 1316375"/>
                    <a:gd name="connsiteX3" fmla="*/ 911064 w 3024520"/>
                    <a:gd name="connsiteY3" fmla="*/ 837478 h 1316375"/>
                    <a:gd name="connsiteX4" fmla="*/ 883456 w 3024520"/>
                    <a:gd name="connsiteY4" fmla="*/ 450949 h 1316375"/>
                    <a:gd name="connsiteX5" fmla="*/ 161047 w 3024520"/>
                    <a:gd name="connsiteY5" fmla="*/ 119640 h 1316375"/>
                    <a:gd name="connsiteX6" fmla="*/ 404917 w 3024520"/>
                    <a:gd name="connsiteY6" fmla="*/ 50617 h 1316375"/>
                    <a:gd name="connsiteX7" fmla="*/ 1477028 w 3024520"/>
                    <a:gd name="connsiteY7" fmla="*/ 501566 h 1316375"/>
                    <a:gd name="connsiteX8" fmla="*/ 2572146 w 3024520"/>
                    <a:gd name="connsiteY8" fmla="*/ 0 h 1316375"/>
                    <a:gd name="connsiteX9" fmla="*/ 2875834 w 3024520"/>
                    <a:gd name="connsiteY9" fmla="*/ 96632 h 1316375"/>
                    <a:gd name="connsiteX10" fmla="*/ 2079803 w 3024520"/>
                    <a:gd name="connsiteY10" fmla="*/ 432543 h 1316375"/>
                    <a:gd name="connsiteX11" fmla="*/ 2240850 w 3024520"/>
                    <a:gd name="connsiteY11" fmla="*/ 920305 h 1316375"/>
                    <a:gd name="connsiteX12" fmla="*/ 3024520 w 3024520"/>
                    <a:gd name="connsiteY12" fmla="*/ 1228607 h 1316375"/>
                    <a:gd name="connsiteX13" fmla="*/ 2756623 w 3024520"/>
                    <a:gd name="connsiteY13" fmla="*/ 1316375 h 1316375"/>
                    <a:gd name="connsiteX14" fmla="*/ 1486231 w 3024520"/>
                    <a:gd name="connsiteY14" fmla="*/ 727041 h 1316375"/>
                    <a:gd name="connsiteX0" fmla="*/ 1537780 w 3076069"/>
                    <a:gd name="connsiteY0" fmla="*/ 727041 h 1316375"/>
                    <a:gd name="connsiteX1" fmla="*/ 309224 w 3076069"/>
                    <a:gd name="connsiteY1" fmla="*/ 1302232 h 1316375"/>
                    <a:gd name="connsiteX2" fmla="*/ 0 w 3076069"/>
                    <a:gd name="connsiteY2" fmla="*/ 1228607 h 1316375"/>
                    <a:gd name="connsiteX3" fmla="*/ 962613 w 3076069"/>
                    <a:gd name="connsiteY3" fmla="*/ 837478 h 1316375"/>
                    <a:gd name="connsiteX4" fmla="*/ 935005 w 3076069"/>
                    <a:gd name="connsiteY4" fmla="*/ 450949 h 1316375"/>
                    <a:gd name="connsiteX5" fmla="*/ 212596 w 3076069"/>
                    <a:gd name="connsiteY5" fmla="*/ 119640 h 1316375"/>
                    <a:gd name="connsiteX6" fmla="*/ 456466 w 3076069"/>
                    <a:gd name="connsiteY6" fmla="*/ 50617 h 1316375"/>
                    <a:gd name="connsiteX7" fmla="*/ 1528577 w 3076069"/>
                    <a:gd name="connsiteY7" fmla="*/ 501566 h 1316375"/>
                    <a:gd name="connsiteX8" fmla="*/ 2623695 w 3076069"/>
                    <a:gd name="connsiteY8" fmla="*/ 0 h 1316375"/>
                    <a:gd name="connsiteX9" fmla="*/ 2927383 w 3076069"/>
                    <a:gd name="connsiteY9" fmla="*/ 96632 h 1316375"/>
                    <a:gd name="connsiteX10" fmla="*/ 2131352 w 3076069"/>
                    <a:gd name="connsiteY10" fmla="*/ 432543 h 1316375"/>
                    <a:gd name="connsiteX11" fmla="*/ 2292399 w 3076069"/>
                    <a:gd name="connsiteY11" fmla="*/ 920305 h 1316375"/>
                    <a:gd name="connsiteX12" fmla="*/ 3076069 w 3076069"/>
                    <a:gd name="connsiteY12" fmla="*/ 1228607 h 1316375"/>
                    <a:gd name="connsiteX13" fmla="*/ 2808172 w 3076069"/>
                    <a:gd name="connsiteY13" fmla="*/ 1316375 h 1316375"/>
                    <a:gd name="connsiteX14" fmla="*/ 1537780 w 3076069"/>
                    <a:gd name="connsiteY14" fmla="*/ 727041 h 1316375"/>
                    <a:gd name="connsiteX0" fmla="*/ 1537780 w 3076069"/>
                    <a:gd name="connsiteY0" fmla="*/ 727041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27041 h 1321259"/>
                    <a:gd name="connsiteX0" fmla="*/ 1537780 w 3076069"/>
                    <a:gd name="connsiteY0" fmla="*/ 750825 h 1321259"/>
                    <a:gd name="connsiteX1" fmla="*/ 313981 w 3076069"/>
                    <a:gd name="connsiteY1" fmla="*/ 1321259 h 1321259"/>
                    <a:gd name="connsiteX2" fmla="*/ 0 w 3076069"/>
                    <a:gd name="connsiteY2" fmla="*/ 1228607 h 1321259"/>
                    <a:gd name="connsiteX3" fmla="*/ 962613 w 3076069"/>
                    <a:gd name="connsiteY3" fmla="*/ 837478 h 1321259"/>
                    <a:gd name="connsiteX4" fmla="*/ 935005 w 3076069"/>
                    <a:gd name="connsiteY4" fmla="*/ 450949 h 1321259"/>
                    <a:gd name="connsiteX5" fmla="*/ 212596 w 3076069"/>
                    <a:gd name="connsiteY5" fmla="*/ 119640 h 1321259"/>
                    <a:gd name="connsiteX6" fmla="*/ 456466 w 3076069"/>
                    <a:gd name="connsiteY6" fmla="*/ 50617 h 1321259"/>
                    <a:gd name="connsiteX7" fmla="*/ 1528577 w 3076069"/>
                    <a:gd name="connsiteY7" fmla="*/ 501566 h 1321259"/>
                    <a:gd name="connsiteX8" fmla="*/ 2623695 w 3076069"/>
                    <a:gd name="connsiteY8" fmla="*/ 0 h 1321259"/>
                    <a:gd name="connsiteX9" fmla="*/ 2927383 w 3076069"/>
                    <a:gd name="connsiteY9" fmla="*/ 96632 h 1321259"/>
                    <a:gd name="connsiteX10" fmla="*/ 2131352 w 3076069"/>
                    <a:gd name="connsiteY10" fmla="*/ 432543 h 1321259"/>
                    <a:gd name="connsiteX11" fmla="*/ 2292399 w 3076069"/>
                    <a:gd name="connsiteY11" fmla="*/ 920305 h 1321259"/>
                    <a:gd name="connsiteX12" fmla="*/ 3076069 w 3076069"/>
                    <a:gd name="connsiteY12" fmla="*/ 1228607 h 1321259"/>
                    <a:gd name="connsiteX13" fmla="*/ 2808172 w 3076069"/>
                    <a:gd name="connsiteY13" fmla="*/ 1316375 h 1321259"/>
                    <a:gd name="connsiteX14" fmla="*/ 1537780 w 3076069"/>
                    <a:gd name="connsiteY14" fmla="*/ 750825 h 132125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</a:cxnLst>
                  <a:rect l="l" t="t" r="r" b="b"/>
                  <a:pathLst>
                    <a:path w="3076069" h="1321259">
                      <a:moveTo>
                        <a:pt x="1537780" y="750825"/>
                      </a:moveTo>
                      <a:lnTo>
                        <a:pt x="313981" y="1321259"/>
                      </a:lnTo>
                      <a:lnTo>
                        <a:pt x="0" y="1228607"/>
                      </a:lnTo>
                      <a:lnTo>
                        <a:pt x="962613" y="837478"/>
                      </a:lnTo>
                      <a:lnTo>
                        <a:pt x="935005" y="450949"/>
                      </a:lnTo>
                      <a:lnTo>
                        <a:pt x="212596" y="119640"/>
                      </a:lnTo>
                      <a:lnTo>
                        <a:pt x="456466" y="50617"/>
                      </a:lnTo>
                      <a:lnTo>
                        <a:pt x="1528577" y="501566"/>
                      </a:lnTo>
                      <a:lnTo>
                        <a:pt x="2623695" y="0"/>
                      </a:lnTo>
                      <a:lnTo>
                        <a:pt x="2927383" y="96632"/>
                      </a:lnTo>
                      <a:lnTo>
                        <a:pt x="2131352" y="432543"/>
                      </a:lnTo>
                      <a:lnTo>
                        <a:pt x="2292399" y="920305"/>
                      </a:lnTo>
                      <a:lnTo>
                        <a:pt x="3076069" y="1228607"/>
                      </a:lnTo>
                      <a:lnTo>
                        <a:pt x="2808172" y="1316375"/>
                      </a:lnTo>
                      <a:lnTo>
                        <a:pt x="1537780" y="750825"/>
                      </a:lnTo>
                      <a:close/>
                    </a:path>
                  </a:pathLst>
                </a:cu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20" name="Freeform 519"/>
                <p:cNvSpPr/>
                <p:nvPr/>
              </p:nvSpPr>
              <p:spPr bwMode="auto">
                <a:xfrm>
                  <a:off x="2428615" y="1630876"/>
                  <a:ext cx="705752" cy="109663"/>
                </a:xfrm>
                <a:custGeom>
                  <a:avLst/>
                  <a:gdLst>
                    <a:gd name="connsiteX0" fmla="*/ 0 w 3645229"/>
                    <a:gd name="connsiteY0" fmla="*/ 214441 h 923747"/>
                    <a:gd name="connsiteX1" fmla="*/ 659770 w 3645229"/>
                    <a:gd name="connsiteY1" fmla="*/ 16495 h 923747"/>
                    <a:gd name="connsiteX2" fmla="*/ 1814367 w 3645229"/>
                    <a:gd name="connsiteY2" fmla="*/ 511360 h 923747"/>
                    <a:gd name="connsiteX3" fmla="*/ 2968965 w 3645229"/>
                    <a:gd name="connsiteY3" fmla="*/ 0 h 923747"/>
                    <a:gd name="connsiteX4" fmla="*/ 3645229 w 3645229"/>
                    <a:gd name="connsiteY4" fmla="*/ 197946 h 923747"/>
                    <a:gd name="connsiteX5" fmla="*/ 3199884 w 3645229"/>
                    <a:gd name="connsiteY5" fmla="*/ 461874 h 923747"/>
                    <a:gd name="connsiteX6" fmla="*/ 2985459 w 3645229"/>
                    <a:gd name="connsiteY6" fmla="*/ 379396 h 923747"/>
                    <a:gd name="connsiteX7" fmla="*/ 1830861 w 3645229"/>
                    <a:gd name="connsiteY7" fmla="*/ 923747 h 923747"/>
                    <a:gd name="connsiteX8" fmla="*/ 676264 w 3645229"/>
                    <a:gd name="connsiteY8" fmla="*/ 412387 h 923747"/>
                    <a:gd name="connsiteX9" fmla="*/ 527816 w 3645229"/>
                    <a:gd name="connsiteY9" fmla="*/ 478369 h 923747"/>
                    <a:gd name="connsiteX10" fmla="*/ 0 w 3645229"/>
                    <a:gd name="connsiteY10" fmla="*/ 21444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78369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71662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23747"/>
                    <a:gd name="connsiteX1" fmla="*/ 655168 w 3640627"/>
                    <a:gd name="connsiteY1" fmla="*/ 16495 h 923747"/>
                    <a:gd name="connsiteX2" fmla="*/ 1809765 w 3640627"/>
                    <a:gd name="connsiteY2" fmla="*/ 511360 h 923747"/>
                    <a:gd name="connsiteX3" fmla="*/ 2964363 w 3640627"/>
                    <a:gd name="connsiteY3" fmla="*/ 0 h 923747"/>
                    <a:gd name="connsiteX4" fmla="*/ 3640627 w 3640627"/>
                    <a:gd name="connsiteY4" fmla="*/ 197946 h 923747"/>
                    <a:gd name="connsiteX5" fmla="*/ 3195282 w 3640627"/>
                    <a:gd name="connsiteY5" fmla="*/ 461874 h 923747"/>
                    <a:gd name="connsiteX6" fmla="*/ 2980857 w 3640627"/>
                    <a:gd name="connsiteY6" fmla="*/ 379396 h 923747"/>
                    <a:gd name="connsiteX7" fmla="*/ 1826259 w 3640627"/>
                    <a:gd name="connsiteY7" fmla="*/ 923747 h 923747"/>
                    <a:gd name="connsiteX8" fmla="*/ 690067 w 3640627"/>
                    <a:gd name="connsiteY8" fmla="*/ 412387 h 923747"/>
                    <a:gd name="connsiteX9" fmla="*/ 523214 w 3640627"/>
                    <a:gd name="connsiteY9" fmla="*/ 482971 h 923747"/>
                    <a:gd name="connsiteX10" fmla="*/ 0 w 3640627"/>
                    <a:gd name="connsiteY10" fmla="*/ 242051 h 923747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09765 w 3640627"/>
                    <a:gd name="connsiteY2" fmla="*/ 511360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2980857 w 3640627"/>
                    <a:gd name="connsiteY6" fmla="*/ 379396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640627"/>
                    <a:gd name="connsiteY0" fmla="*/ 242051 h 946755"/>
                    <a:gd name="connsiteX1" fmla="*/ 655168 w 3640627"/>
                    <a:gd name="connsiteY1" fmla="*/ 16495 h 946755"/>
                    <a:gd name="connsiteX2" fmla="*/ 1855778 w 3640627"/>
                    <a:gd name="connsiteY2" fmla="*/ 534367 h 946755"/>
                    <a:gd name="connsiteX3" fmla="*/ 2964363 w 3640627"/>
                    <a:gd name="connsiteY3" fmla="*/ 0 h 946755"/>
                    <a:gd name="connsiteX4" fmla="*/ 3640627 w 3640627"/>
                    <a:gd name="connsiteY4" fmla="*/ 197946 h 946755"/>
                    <a:gd name="connsiteX5" fmla="*/ 3195282 w 3640627"/>
                    <a:gd name="connsiteY5" fmla="*/ 461874 h 946755"/>
                    <a:gd name="connsiteX6" fmla="*/ 3008465 w 3640627"/>
                    <a:gd name="connsiteY6" fmla="*/ 402404 h 946755"/>
                    <a:gd name="connsiteX7" fmla="*/ 1876873 w 3640627"/>
                    <a:gd name="connsiteY7" fmla="*/ 946755 h 946755"/>
                    <a:gd name="connsiteX8" fmla="*/ 690067 w 3640627"/>
                    <a:gd name="connsiteY8" fmla="*/ 412387 h 946755"/>
                    <a:gd name="connsiteX9" fmla="*/ 523214 w 3640627"/>
                    <a:gd name="connsiteY9" fmla="*/ 482971 h 946755"/>
                    <a:gd name="connsiteX10" fmla="*/ 0 w 3640627"/>
                    <a:gd name="connsiteY10" fmla="*/ 242051 h 946755"/>
                    <a:gd name="connsiteX0" fmla="*/ 0 w 3723451"/>
                    <a:gd name="connsiteY0" fmla="*/ 242051 h 946755"/>
                    <a:gd name="connsiteX1" fmla="*/ 655168 w 3723451"/>
                    <a:gd name="connsiteY1" fmla="*/ 16495 h 946755"/>
                    <a:gd name="connsiteX2" fmla="*/ 1855778 w 3723451"/>
                    <a:gd name="connsiteY2" fmla="*/ 534367 h 946755"/>
                    <a:gd name="connsiteX3" fmla="*/ 2964363 w 3723451"/>
                    <a:gd name="connsiteY3" fmla="*/ 0 h 946755"/>
                    <a:gd name="connsiteX4" fmla="*/ 3723451 w 3723451"/>
                    <a:gd name="connsiteY4" fmla="*/ 220954 h 946755"/>
                    <a:gd name="connsiteX5" fmla="*/ 3195282 w 3723451"/>
                    <a:gd name="connsiteY5" fmla="*/ 461874 h 946755"/>
                    <a:gd name="connsiteX6" fmla="*/ 3008465 w 3723451"/>
                    <a:gd name="connsiteY6" fmla="*/ 402404 h 946755"/>
                    <a:gd name="connsiteX7" fmla="*/ 1876873 w 3723451"/>
                    <a:gd name="connsiteY7" fmla="*/ 946755 h 946755"/>
                    <a:gd name="connsiteX8" fmla="*/ 690067 w 3723451"/>
                    <a:gd name="connsiteY8" fmla="*/ 412387 h 946755"/>
                    <a:gd name="connsiteX9" fmla="*/ 523214 w 3723451"/>
                    <a:gd name="connsiteY9" fmla="*/ 482971 h 946755"/>
                    <a:gd name="connsiteX10" fmla="*/ 0 w 3723451"/>
                    <a:gd name="connsiteY10" fmla="*/ 242051 h 946755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08465 w 3723451"/>
                    <a:gd name="connsiteY6" fmla="*/ 388599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95282 w 3723451"/>
                    <a:gd name="connsiteY5" fmla="*/ 448069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690067 w 3723451"/>
                    <a:gd name="connsiteY8" fmla="*/ 398582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  <a:gd name="connsiteX0" fmla="*/ 0 w 3723451"/>
                    <a:gd name="connsiteY0" fmla="*/ 228246 h 932950"/>
                    <a:gd name="connsiteX1" fmla="*/ 655168 w 3723451"/>
                    <a:gd name="connsiteY1" fmla="*/ 2690 h 932950"/>
                    <a:gd name="connsiteX2" fmla="*/ 1855778 w 3723451"/>
                    <a:gd name="connsiteY2" fmla="*/ 520562 h 932950"/>
                    <a:gd name="connsiteX3" fmla="*/ 3001174 w 3723451"/>
                    <a:gd name="connsiteY3" fmla="*/ 0 h 932950"/>
                    <a:gd name="connsiteX4" fmla="*/ 3723451 w 3723451"/>
                    <a:gd name="connsiteY4" fmla="*/ 207149 h 932950"/>
                    <a:gd name="connsiteX5" fmla="*/ 3186079 w 3723451"/>
                    <a:gd name="connsiteY5" fmla="*/ 461874 h 932950"/>
                    <a:gd name="connsiteX6" fmla="*/ 3013067 w 3723451"/>
                    <a:gd name="connsiteY6" fmla="*/ 393200 h 932950"/>
                    <a:gd name="connsiteX7" fmla="*/ 1876873 w 3723451"/>
                    <a:gd name="connsiteY7" fmla="*/ 932950 h 932950"/>
                    <a:gd name="connsiteX8" fmla="*/ 711613 w 3723451"/>
                    <a:gd name="connsiteY8" fmla="*/ 413055 h 932950"/>
                    <a:gd name="connsiteX9" fmla="*/ 523214 w 3723451"/>
                    <a:gd name="connsiteY9" fmla="*/ 469166 h 932950"/>
                    <a:gd name="connsiteX10" fmla="*/ 0 w 3723451"/>
                    <a:gd name="connsiteY10" fmla="*/ 228246 h 93295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</a:cxnLst>
                  <a:rect l="l" t="t" r="r" b="b"/>
                  <a:pathLst>
                    <a:path w="3723451" h="932950">
                      <a:moveTo>
                        <a:pt x="0" y="228246"/>
                      </a:moveTo>
                      <a:lnTo>
                        <a:pt x="655168" y="2690"/>
                      </a:lnTo>
                      <a:lnTo>
                        <a:pt x="1855778" y="520562"/>
                      </a:lnTo>
                      <a:lnTo>
                        <a:pt x="3001174" y="0"/>
                      </a:lnTo>
                      <a:lnTo>
                        <a:pt x="3723451" y="207149"/>
                      </a:lnTo>
                      <a:lnTo>
                        <a:pt x="3186079" y="461874"/>
                      </a:lnTo>
                      <a:lnTo>
                        <a:pt x="3013067" y="393200"/>
                      </a:lnTo>
                      <a:lnTo>
                        <a:pt x="1876873" y="932950"/>
                      </a:lnTo>
                      <a:lnTo>
                        <a:pt x="711613" y="413055"/>
                      </a:lnTo>
                      <a:lnTo>
                        <a:pt x="523214" y="469166"/>
                      </a:lnTo>
                      <a:lnTo>
                        <a:pt x="0" y="228246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21" name="Freeform 520"/>
                <p:cNvSpPr/>
                <p:nvPr/>
              </p:nvSpPr>
              <p:spPr bwMode="auto">
                <a:xfrm>
                  <a:off x="2892827" y="1723667"/>
                  <a:ext cx="256637" cy="95604"/>
                </a:xfrm>
                <a:custGeom>
                  <a:avLst/>
                  <a:gdLst>
                    <a:gd name="connsiteX0" fmla="*/ 55216 w 1421812"/>
                    <a:gd name="connsiteY0" fmla="*/ 0 h 800665"/>
                    <a:gd name="connsiteX1" fmla="*/ 1421812 w 1421812"/>
                    <a:gd name="connsiteY1" fmla="*/ 625807 h 800665"/>
                    <a:gd name="connsiteX2" fmla="*/ 947874 w 1421812"/>
                    <a:gd name="connsiteY2" fmla="*/ 800665 h 800665"/>
                    <a:gd name="connsiteX3" fmla="*/ 50614 w 1421812"/>
                    <a:gd name="connsiteY3" fmla="*/ 404934 h 800665"/>
                    <a:gd name="connsiteX4" fmla="*/ 0 w 1421812"/>
                    <a:gd name="connsiteY4" fmla="*/ 404934 h 800665"/>
                    <a:gd name="connsiteX5" fmla="*/ 55216 w 1421812"/>
                    <a:gd name="connsiteY5" fmla="*/ 0 h 800665"/>
                    <a:gd name="connsiteX0" fmla="*/ 4602 w 1371198"/>
                    <a:gd name="connsiteY0" fmla="*/ 0 h 800665"/>
                    <a:gd name="connsiteX1" fmla="*/ 1371198 w 1371198"/>
                    <a:gd name="connsiteY1" fmla="*/ 625807 h 800665"/>
                    <a:gd name="connsiteX2" fmla="*/ 897260 w 1371198"/>
                    <a:gd name="connsiteY2" fmla="*/ 800665 h 800665"/>
                    <a:gd name="connsiteX3" fmla="*/ 0 w 1371198"/>
                    <a:gd name="connsiteY3" fmla="*/ 404934 h 800665"/>
                    <a:gd name="connsiteX4" fmla="*/ 4602 w 1371198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0665"/>
                    <a:gd name="connsiteX1" fmla="*/ 1366596 w 1366596"/>
                    <a:gd name="connsiteY1" fmla="*/ 625807 h 800665"/>
                    <a:gd name="connsiteX2" fmla="*/ 892658 w 1366596"/>
                    <a:gd name="connsiteY2" fmla="*/ 800665 h 800665"/>
                    <a:gd name="connsiteX3" fmla="*/ 4601 w 1366596"/>
                    <a:gd name="connsiteY3" fmla="*/ 427942 h 800665"/>
                    <a:gd name="connsiteX4" fmla="*/ 0 w 1366596"/>
                    <a:gd name="connsiteY4" fmla="*/ 0 h 800665"/>
                    <a:gd name="connsiteX0" fmla="*/ 0 w 1366596"/>
                    <a:gd name="connsiteY0" fmla="*/ 0 h 809868"/>
                    <a:gd name="connsiteX1" fmla="*/ 1366596 w 1366596"/>
                    <a:gd name="connsiteY1" fmla="*/ 625807 h 809868"/>
                    <a:gd name="connsiteX2" fmla="*/ 865050 w 1366596"/>
                    <a:gd name="connsiteY2" fmla="*/ 809868 h 809868"/>
                    <a:gd name="connsiteX3" fmla="*/ 4601 w 1366596"/>
                    <a:gd name="connsiteY3" fmla="*/ 427942 h 809868"/>
                    <a:gd name="connsiteX4" fmla="*/ 0 w 1366596"/>
                    <a:gd name="connsiteY4" fmla="*/ 0 h 80986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66596" h="809868">
                      <a:moveTo>
                        <a:pt x="0" y="0"/>
                      </a:moveTo>
                      <a:lnTo>
                        <a:pt x="1366596" y="625807"/>
                      </a:lnTo>
                      <a:lnTo>
                        <a:pt x="865050" y="809868"/>
                      </a:lnTo>
                      <a:lnTo>
                        <a:pt x="4601" y="427942"/>
                      </a:lnTo>
                      <a:cubicBezTo>
                        <a:pt x="-1535" y="105836"/>
                        <a:pt x="1534" y="142647"/>
                        <a:pt x="0" y="0"/>
                      </a:cubicBez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522" name="Freeform 521"/>
                <p:cNvSpPr/>
                <p:nvPr/>
              </p:nvSpPr>
              <p:spPr bwMode="auto">
                <a:xfrm>
                  <a:off x="2417294" y="1726480"/>
                  <a:ext cx="252861" cy="92791"/>
                </a:xfrm>
                <a:custGeom>
                  <a:avLst/>
                  <a:gdLst>
                    <a:gd name="connsiteX0" fmla="*/ 1329786 w 1348191"/>
                    <a:gd name="connsiteY0" fmla="*/ 0 h 809869"/>
                    <a:gd name="connsiteX1" fmla="*/ 1348191 w 1348191"/>
                    <a:gd name="connsiteY1" fmla="*/ 400333 h 809869"/>
                    <a:gd name="connsiteX2" fmla="*/ 487742 w 1348191"/>
                    <a:gd name="connsiteY2" fmla="*/ 809869 h 809869"/>
                    <a:gd name="connsiteX3" fmla="*/ 0 w 1348191"/>
                    <a:gd name="connsiteY3" fmla="*/ 630409 h 809869"/>
                    <a:gd name="connsiteX4" fmla="*/ 1329786 w 1348191"/>
                    <a:gd name="connsiteY4" fmla="*/ 0 h 809869"/>
                    <a:gd name="connsiteX0" fmla="*/ 1329786 w 1348191"/>
                    <a:gd name="connsiteY0" fmla="*/ 0 h 791462"/>
                    <a:gd name="connsiteX1" fmla="*/ 1348191 w 1348191"/>
                    <a:gd name="connsiteY1" fmla="*/ 381926 h 791462"/>
                    <a:gd name="connsiteX2" fmla="*/ 487742 w 1348191"/>
                    <a:gd name="connsiteY2" fmla="*/ 791462 h 791462"/>
                    <a:gd name="connsiteX3" fmla="*/ 0 w 1348191"/>
                    <a:gd name="connsiteY3" fmla="*/ 612002 h 791462"/>
                    <a:gd name="connsiteX4" fmla="*/ 1329786 w 1348191"/>
                    <a:gd name="connsiteY4" fmla="*/ 0 h 791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348191" h="791462">
                      <a:moveTo>
                        <a:pt x="1329786" y="0"/>
                      </a:moveTo>
                      <a:lnTo>
                        <a:pt x="1348191" y="381926"/>
                      </a:lnTo>
                      <a:lnTo>
                        <a:pt x="487742" y="791462"/>
                      </a:lnTo>
                      <a:lnTo>
                        <a:pt x="0" y="612002"/>
                      </a:lnTo>
                      <a:lnTo>
                        <a:pt x="1329786" y="0"/>
                      </a:lnTo>
                      <a:close/>
                    </a:path>
                  </a:pathLst>
                </a:custGeom>
                <a:solidFill>
                  <a:schemeClr val="accent2">
                    <a:lumMod val="75000"/>
                  </a:schemeClr>
                </a:solidFill>
                <a:ln>
                  <a:noFill/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523" name="Straight Connector 522"/>
                <p:cNvCxnSpPr>
                  <a:endCxn id="518" idx="2"/>
                </p:cNvCxnSpPr>
                <p:nvPr/>
              </p:nvCxnSpPr>
              <p:spPr bwMode="auto">
                <a:xfrm flipH="1" flipV="1">
                  <a:off x="2183302" y="1732104"/>
                  <a:ext cx="3773" cy="120910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4" name="Straight Connector 523"/>
                <p:cNvCxnSpPr/>
                <p:nvPr/>
              </p:nvCxnSpPr>
              <p:spPr bwMode="auto">
                <a:xfrm flipH="1" flipV="1">
                  <a:off x="3379681" y="1729291"/>
                  <a:ext cx="3775" cy="120912"/>
                </a:xfrm>
                <a:prstGeom prst="line">
                  <a:avLst/>
                </a:prstGeom>
                <a:ln w="6350" cmpd="sng">
                  <a:solidFill>
                    <a:schemeClr val="tx1"/>
                  </a:solidFill>
                </a:ln>
                <a:effectLst>
                  <a:outerShdw blurRad="40005" dist="19939" dir="5400000" algn="tl" rotWithShape="0">
                    <a:srgbClr val="000000">
                      <a:alpha val="38000"/>
                    </a:srgbClr>
                  </a:outerShdw>
                </a:effectLst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47142" name="Text Box 167"/>
          <p:cNvSpPr txBox="1">
            <a:spLocks noChangeArrowheads="1"/>
          </p:cNvSpPr>
          <p:nvPr/>
        </p:nvSpPr>
        <p:spPr bwMode="auto">
          <a:xfrm>
            <a:off x="548640" y="267789"/>
            <a:ext cx="10789919" cy="76944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>
            <a:normAutofit fontScale="97500"/>
          </a:bodyPr>
          <a:lstStyle>
            <a:defPPr>
              <a:defRPr lang="en-US"/>
            </a:defPPr>
            <a:lvl1pPr>
              <a:spcBef>
                <a:spcPct val="0"/>
              </a:spcBef>
              <a:buNone/>
              <a:defRPr sz="4400" b="1">
                <a:latin typeface="Segoe UI" panose="020B0502040204020203" pitchFamily="34" charset="0"/>
                <a:ea typeface="+mj-ea"/>
                <a:cs typeface="Times New Roman" panose="02020603050405020304" pitchFamily="18" charset="0"/>
              </a:defRPr>
            </a:lvl1pPr>
            <a:lvl2pPr marL="742950" indent="-285750">
              <a:defRPr sz="2400">
                <a:latin typeface="Arial" charset="0"/>
                <a:ea typeface="ＭＳ Ｐゴシック" charset="0"/>
              </a:defRPr>
            </a:lvl2pPr>
            <a:lvl3pPr marL="1143000" indent="-228600">
              <a:defRPr sz="2400">
                <a:latin typeface="Arial" charset="0"/>
                <a:ea typeface="ＭＳ Ｐゴシック" charset="0"/>
              </a:defRPr>
            </a:lvl3pPr>
            <a:lvl4pPr marL="1600200" indent="-228600">
              <a:defRPr sz="2400">
                <a:latin typeface="Arial" charset="0"/>
                <a:ea typeface="ＭＳ Ｐゴシック" charset="0"/>
              </a:defRPr>
            </a:lvl4pPr>
            <a:lvl5pPr marL="2057400" indent="-228600">
              <a:defRPr sz="2400"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latin typeface="Arial" charset="0"/>
                <a:ea typeface="ＭＳ Ｐゴシック" charset="0"/>
              </a:defRPr>
            </a:lvl9pPr>
          </a:lstStyle>
          <a:p>
            <a:r>
              <a:rPr lang="en-US" dirty="0"/>
              <a:t>Today’s network</a:t>
            </a:r>
          </a:p>
        </p:txBody>
      </p:sp>
      <p:grpSp>
        <p:nvGrpSpPr>
          <p:cNvPr id="229" name="Group 228"/>
          <p:cNvGrpSpPr/>
          <p:nvPr/>
        </p:nvGrpSpPr>
        <p:grpSpPr>
          <a:xfrm>
            <a:off x="3318100" y="2890877"/>
            <a:ext cx="5112820" cy="879389"/>
            <a:chOff x="1866825" y="707349"/>
            <a:chExt cx="5112820" cy="879389"/>
          </a:xfrm>
        </p:grpSpPr>
        <p:sp>
          <p:nvSpPr>
            <p:cNvPr id="233" name="Oval 232"/>
            <p:cNvSpPr/>
            <p:nvPr/>
          </p:nvSpPr>
          <p:spPr>
            <a:xfrm>
              <a:off x="1866825" y="785347"/>
              <a:ext cx="954705" cy="491476"/>
            </a:xfrm>
            <a:prstGeom prst="ellipse">
              <a:avLst/>
            </a:prstGeom>
            <a:solidFill>
              <a:srgbClr val="CC0000">
                <a:alpha val="28000"/>
              </a:srgbClr>
            </a:solidFill>
            <a:ln w="3175">
              <a:solidFill>
                <a:srgbClr val="CC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4" name="TextBox 233"/>
            <p:cNvSpPr txBox="1"/>
            <p:nvPr/>
          </p:nvSpPr>
          <p:spPr>
            <a:xfrm>
              <a:off x="1891781" y="783191"/>
              <a:ext cx="910613" cy="4761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ts val="1480"/>
                </a:lnSpc>
              </a:pPr>
              <a:r>
                <a:rPr lang="en-US" sz="1400" dirty="0"/>
                <a:t>Routing</a:t>
              </a:r>
            </a:p>
            <a:p>
              <a:pPr algn="ctr">
                <a:lnSpc>
                  <a:spcPts val="1480"/>
                </a:lnSpc>
              </a:pPr>
              <a:r>
                <a:rPr lang="en-US" sz="1400" dirty="0"/>
                <a:t>Algorithm</a:t>
              </a:r>
            </a:p>
          </p:txBody>
        </p:sp>
        <p:cxnSp>
          <p:nvCxnSpPr>
            <p:cNvPr id="235" name="Straight Arrow Connector 234"/>
            <p:cNvCxnSpPr/>
            <p:nvPr/>
          </p:nvCxnSpPr>
          <p:spPr>
            <a:xfrm flipV="1">
              <a:off x="2833714" y="807908"/>
              <a:ext cx="1517851" cy="213379"/>
            </a:xfrm>
            <a:prstGeom prst="straightConnector1">
              <a:avLst/>
            </a:prstGeom>
            <a:ln w="25400">
              <a:solidFill>
                <a:srgbClr val="CC0000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Arrow Connector 235"/>
            <p:cNvCxnSpPr/>
            <p:nvPr/>
          </p:nvCxnSpPr>
          <p:spPr>
            <a:xfrm>
              <a:off x="2750618" y="1201670"/>
              <a:ext cx="797027" cy="279264"/>
            </a:xfrm>
            <a:prstGeom prst="straightConnector1">
              <a:avLst/>
            </a:prstGeom>
            <a:ln w="25400">
              <a:solidFill>
                <a:srgbClr val="CC0000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Arrow Connector 236"/>
            <p:cNvCxnSpPr/>
            <p:nvPr/>
          </p:nvCxnSpPr>
          <p:spPr>
            <a:xfrm>
              <a:off x="4684666" y="894080"/>
              <a:ext cx="893541" cy="510629"/>
            </a:xfrm>
            <a:prstGeom prst="straightConnector1">
              <a:avLst/>
            </a:prstGeom>
            <a:ln w="25400">
              <a:solidFill>
                <a:srgbClr val="CC0000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Arrow Connector 237"/>
            <p:cNvCxnSpPr/>
            <p:nvPr/>
          </p:nvCxnSpPr>
          <p:spPr>
            <a:xfrm>
              <a:off x="4800837" y="800746"/>
              <a:ext cx="1695897" cy="130795"/>
            </a:xfrm>
            <a:prstGeom prst="straightConnector1">
              <a:avLst/>
            </a:prstGeom>
            <a:ln w="25400">
              <a:solidFill>
                <a:srgbClr val="CC0000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9" name="Oval 238"/>
            <p:cNvSpPr/>
            <p:nvPr/>
          </p:nvSpPr>
          <p:spPr>
            <a:xfrm>
              <a:off x="6558622" y="894080"/>
              <a:ext cx="421023" cy="182029"/>
            </a:xfrm>
            <a:prstGeom prst="ellipse">
              <a:avLst/>
            </a:prstGeom>
            <a:solidFill>
              <a:srgbClr val="CC0000">
                <a:alpha val="28000"/>
              </a:srgbClr>
            </a:solidFill>
            <a:ln w="3175">
              <a:solidFill>
                <a:srgbClr val="CC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0" name="Oval 239"/>
            <p:cNvSpPr/>
            <p:nvPr/>
          </p:nvSpPr>
          <p:spPr>
            <a:xfrm>
              <a:off x="5572329" y="1404709"/>
              <a:ext cx="421023" cy="182029"/>
            </a:xfrm>
            <a:prstGeom prst="ellipse">
              <a:avLst/>
            </a:prstGeom>
            <a:solidFill>
              <a:srgbClr val="CC0000">
                <a:alpha val="28000"/>
              </a:srgbClr>
            </a:solidFill>
            <a:ln w="3175">
              <a:solidFill>
                <a:srgbClr val="CC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1" name="Oval 240"/>
            <p:cNvSpPr/>
            <p:nvPr/>
          </p:nvSpPr>
          <p:spPr>
            <a:xfrm>
              <a:off x="4367082" y="707349"/>
              <a:ext cx="421023" cy="182029"/>
            </a:xfrm>
            <a:prstGeom prst="ellipse">
              <a:avLst/>
            </a:prstGeom>
            <a:solidFill>
              <a:srgbClr val="CC0000">
                <a:alpha val="28000"/>
              </a:srgbClr>
            </a:solidFill>
            <a:ln w="3175">
              <a:solidFill>
                <a:srgbClr val="CC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2" name="Oval 241"/>
            <p:cNvSpPr/>
            <p:nvPr/>
          </p:nvSpPr>
          <p:spPr>
            <a:xfrm>
              <a:off x="3571953" y="1402071"/>
              <a:ext cx="421023" cy="182029"/>
            </a:xfrm>
            <a:prstGeom prst="ellipse">
              <a:avLst/>
            </a:prstGeom>
            <a:solidFill>
              <a:srgbClr val="CC0000">
                <a:alpha val="28000"/>
              </a:srgbClr>
            </a:solidFill>
            <a:ln w="3175">
              <a:solidFill>
                <a:srgbClr val="CC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3" name="Straight Arrow Connector 242"/>
            <p:cNvCxnSpPr/>
            <p:nvPr/>
          </p:nvCxnSpPr>
          <p:spPr>
            <a:xfrm>
              <a:off x="2821560" y="1106261"/>
              <a:ext cx="2738615" cy="338776"/>
            </a:xfrm>
            <a:prstGeom prst="straightConnector1">
              <a:avLst/>
            </a:prstGeom>
            <a:ln w="25400">
              <a:solidFill>
                <a:srgbClr val="CC0000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Arrow Connector 243"/>
            <p:cNvCxnSpPr>
              <a:endCxn id="239" idx="2"/>
            </p:cNvCxnSpPr>
            <p:nvPr/>
          </p:nvCxnSpPr>
          <p:spPr>
            <a:xfrm flipV="1">
              <a:off x="3997124" y="985095"/>
              <a:ext cx="2561498" cy="469120"/>
            </a:xfrm>
            <a:prstGeom prst="straightConnector1">
              <a:avLst/>
            </a:prstGeom>
            <a:ln w="25400">
              <a:solidFill>
                <a:srgbClr val="CC0000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Arrow Connector 244"/>
            <p:cNvCxnSpPr/>
            <p:nvPr/>
          </p:nvCxnSpPr>
          <p:spPr>
            <a:xfrm flipV="1">
              <a:off x="3992124" y="1509221"/>
              <a:ext cx="1580205" cy="2"/>
            </a:xfrm>
            <a:prstGeom prst="straightConnector1">
              <a:avLst/>
            </a:prstGeom>
            <a:ln w="25400">
              <a:solidFill>
                <a:srgbClr val="CC0000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Arrow Connector 245"/>
            <p:cNvCxnSpPr/>
            <p:nvPr/>
          </p:nvCxnSpPr>
          <p:spPr>
            <a:xfrm flipV="1">
              <a:off x="5997500" y="1083737"/>
              <a:ext cx="751103" cy="397197"/>
            </a:xfrm>
            <a:prstGeom prst="straightConnector1">
              <a:avLst/>
            </a:prstGeom>
            <a:ln w="25400">
              <a:solidFill>
                <a:srgbClr val="CC0000"/>
              </a:solidFill>
              <a:headEnd type="triangle"/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8" name="TextBox 257"/>
          <p:cNvSpPr txBox="1"/>
          <p:nvPr/>
        </p:nvSpPr>
        <p:spPr>
          <a:xfrm>
            <a:off x="548640" y="1125751"/>
            <a:ext cx="1101130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Bef>
                <a:spcPts val="1200"/>
              </a:spcBef>
              <a:spcAft>
                <a:spcPts val="1200"/>
              </a:spcAft>
            </a:pPr>
            <a:r>
              <a:rPr lang="en-US" sz="2800" dirty="0">
                <a:latin typeface="Segoe UI" panose="020B0502040204020203" pitchFamily="34" charset="0"/>
                <a:cs typeface="Times New Roman" panose="02020603050405020304" pitchFamily="18" charset="0"/>
              </a:rPr>
              <a:t>Individual routing algorithm components in </a:t>
            </a:r>
            <a:r>
              <a:rPr lang="en-US" sz="2800" dirty="0">
                <a:solidFill>
                  <a:schemeClr val="tx2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Times New Roman" panose="02020603050405020304" pitchFamily="18" charset="0"/>
              </a:rPr>
              <a:t>each and every </a:t>
            </a:r>
            <a:r>
              <a:rPr lang="en-US" sz="2800" dirty="0">
                <a:latin typeface="Segoe UI" panose="020B0502040204020203" pitchFamily="34" charset="0"/>
                <a:cs typeface="Times New Roman" panose="02020603050405020304" pitchFamily="18" charset="0"/>
              </a:rPr>
              <a:t>router interact with each other in control plane to compute forwarding tables</a:t>
            </a:r>
          </a:p>
        </p:txBody>
      </p:sp>
      <p:grpSp>
        <p:nvGrpSpPr>
          <p:cNvPr id="23" name="Group 22"/>
          <p:cNvGrpSpPr/>
          <p:nvPr/>
        </p:nvGrpSpPr>
        <p:grpSpPr>
          <a:xfrm>
            <a:off x="3047205" y="3279091"/>
            <a:ext cx="6382224" cy="1053316"/>
            <a:chOff x="1557338" y="3074988"/>
            <a:chExt cx="6382224" cy="1053316"/>
          </a:xfrm>
        </p:grpSpPr>
        <p:sp>
          <p:nvSpPr>
            <p:cNvPr id="47115" name="TextBox 232"/>
            <p:cNvSpPr txBox="1">
              <a:spLocks noChangeArrowheads="1"/>
            </p:cNvSpPr>
            <p:nvPr/>
          </p:nvSpPr>
          <p:spPr bwMode="auto">
            <a:xfrm>
              <a:off x="7279489" y="3651250"/>
              <a:ext cx="622286" cy="4770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463"/>
                </a:lnSpc>
              </a:pPr>
              <a:r>
                <a:rPr lang="en-US" sz="1400"/>
                <a:t>data</a:t>
              </a:r>
            </a:p>
            <a:p>
              <a:pPr algn="ctr">
                <a:lnSpc>
                  <a:spcPts val="1463"/>
                </a:lnSpc>
              </a:pPr>
              <a:r>
                <a:rPr lang="en-US" sz="1400"/>
                <a:t>plane</a:t>
              </a:r>
            </a:p>
          </p:txBody>
        </p:sp>
        <p:sp>
          <p:nvSpPr>
            <p:cNvPr id="47116" name="TextBox 233"/>
            <p:cNvSpPr txBox="1">
              <a:spLocks noChangeArrowheads="1"/>
            </p:cNvSpPr>
            <p:nvPr/>
          </p:nvSpPr>
          <p:spPr bwMode="auto">
            <a:xfrm>
              <a:off x="7217890" y="3074988"/>
              <a:ext cx="721672" cy="4770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lnSpc>
                  <a:spcPts val="1463"/>
                </a:lnSpc>
              </a:pPr>
              <a:r>
                <a:rPr lang="en-US" sz="1400"/>
                <a:t>control</a:t>
              </a:r>
            </a:p>
            <a:p>
              <a:pPr algn="ctr">
                <a:lnSpc>
                  <a:spcPts val="1463"/>
                </a:lnSpc>
              </a:pPr>
              <a:r>
                <a:rPr lang="en-US" sz="1400"/>
                <a:t>plane</a:t>
              </a:r>
            </a:p>
          </p:txBody>
        </p:sp>
        <p:cxnSp>
          <p:nvCxnSpPr>
            <p:cNvPr id="232" name="Straight Connector 231"/>
            <p:cNvCxnSpPr/>
            <p:nvPr/>
          </p:nvCxnSpPr>
          <p:spPr>
            <a:xfrm>
              <a:off x="1557338" y="3613150"/>
              <a:ext cx="6207125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/>
          <p:cNvGrpSpPr/>
          <p:nvPr/>
        </p:nvGrpSpPr>
        <p:grpSpPr>
          <a:xfrm>
            <a:off x="3319224" y="3906850"/>
            <a:ext cx="5126173" cy="1120753"/>
            <a:chOff x="-4746102" y="4471477"/>
            <a:chExt cx="5126173" cy="1120753"/>
          </a:xfrm>
        </p:grpSpPr>
        <p:pic>
          <p:nvPicPr>
            <p:cNvPr id="47268" name="Picture 10" descr="fig42_table.pdf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4746102" y="4471477"/>
              <a:ext cx="966463" cy="966962"/>
            </a:xfrm>
            <a:prstGeom prst="rect">
              <a:avLst/>
            </a:prstGeom>
            <a:noFill/>
            <a:ln w="9525">
              <a:solidFill>
                <a:srgbClr val="CC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6" name="Group 25"/>
            <p:cNvGrpSpPr/>
            <p:nvPr/>
          </p:nvGrpSpPr>
          <p:grpSpPr>
            <a:xfrm>
              <a:off x="-3025264" y="5228984"/>
              <a:ext cx="3405335" cy="363246"/>
              <a:chOff x="-3025264" y="5228984"/>
              <a:chExt cx="3405335" cy="363246"/>
            </a:xfrm>
          </p:grpSpPr>
          <p:grpSp>
            <p:nvGrpSpPr>
              <p:cNvPr id="47251" name="Group 241"/>
              <p:cNvGrpSpPr>
                <a:grpSpLocks/>
              </p:cNvGrpSpPr>
              <p:nvPr/>
            </p:nvGrpSpPr>
            <p:grpSpPr bwMode="auto">
              <a:xfrm>
                <a:off x="-3025264" y="5262858"/>
                <a:ext cx="430360" cy="329372"/>
                <a:chOff x="2931664" y="3912603"/>
                <a:chExt cx="430450" cy="329314"/>
              </a:xfrm>
            </p:grpSpPr>
            <p:sp>
              <p:nvSpPr>
                <p:cNvPr id="92" name="Rectangle 91"/>
                <p:cNvSpPr/>
                <p:nvPr/>
              </p:nvSpPr>
              <p:spPr>
                <a:xfrm>
                  <a:off x="2935837" y="3912034"/>
                  <a:ext cx="425539" cy="330142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rgbClr val="CC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93" name="Straight Connector 92"/>
                <p:cNvCxnSpPr/>
                <p:nvPr/>
              </p:nvCxnSpPr>
              <p:spPr>
                <a:xfrm>
                  <a:off x="2931074" y="4004093"/>
                  <a:ext cx="425539" cy="0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Straight Connector 93"/>
                <p:cNvCxnSpPr/>
                <p:nvPr/>
              </p:nvCxnSpPr>
              <p:spPr>
                <a:xfrm>
                  <a:off x="2931074" y="4067582"/>
                  <a:ext cx="425539" cy="0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" name="Straight Connector 95"/>
                <p:cNvCxnSpPr>
                  <a:stCxn id="92" idx="2"/>
                </p:cNvCxnSpPr>
                <p:nvPr/>
              </p:nvCxnSpPr>
              <p:spPr>
                <a:xfrm flipH="1" flipV="1">
                  <a:off x="3147019" y="4004093"/>
                  <a:ext cx="1587" cy="238083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7220" name="Group 444"/>
              <p:cNvGrpSpPr>
                <a:grpSpLocks/>
              </p:cNvGrpSpPr>
              <p:nvPr/>
            </p:nvGrpSpPr>
            <p:grpSpPr bwMode="auto">
              <a:xfrm>
                <a:off x="-2217227" y="5261364"/>
                <a:ext cx="430361" cy="329307"/>
                <a:chOff x="2931664" y="3912603"/>
                <a:chExt cx="430450" cy="329314"/>
              </a:xfrm>
            </p:grpSpPr>
            <p:sp>
              <p:nvSpPr>
                <p:cNvPr id="448" name="Rectangle 447"/>
                <p:cNvSpPr/>
                <p:nvPr/>
              </p:nvSpPr>
              <p:spPr>
                <a:xfrm>
                  <a:off x="2935838" y="3911941"/>
                  <a:ext cx="425538" cy="330207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rgbClr val="CC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449" name="Straight Connector 448"/>
                <p:cNvCxnSpPr/>
                <p:nvPr/>
              </p:nvCxnSpPr>
              <p:spPr>
                <a:xfrm>
                  <a:off x="2931074" y="4004018"/>
                  <a:ext cx="425538" cy="0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0" name="Straight Connector 449"/>
                <p:cNvCxnSpPr/>
                <p:nvPr/>
              </p:nvCxnSpPr>
              <p:spPr>
                <a:xfrm>
                  <a:off x="2931074" y="4067519"/>
                  <a:ext cx="425538" cy="0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1" name="Straight Connector 450"/>
                <p:cNvCxnSpPr>
                  <a:stCxn id="448" idx="2"/>
                </p:cNvCxnSpPr>
                <p:nvPr/>
              </p:nvCxnSpPr>
              <p:spPr>
                <a:xfrm flipH="1" flipV="1">
                  <a:off x="3147019" y="4004018"/>
                  <a:ext cx="1588" cy="238130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7191" name="Group 473"/>
              <p:cNvGrpSpPr>
                <a:grpSpLocks/>
              </p:cNvGrpSpPr>
              <p:nvPr/>
            </p:nvGrpSpPr>
            <p:grpSpPr bwMode="auto">
              <a:xfrm>
                <a:off x="-1034539" y="5261364"/>
                <a:ext cx="430360" cy="329307"/>
                <a:chOff x="2931664" y="3912603"/>
                <a:chExt cx="430450" cy="329314"/>
              </a:xfrm>
            </p:grpSpPr>
            <p:sp>
              <p:nvSpPr>
                <p:cNvPr id="477" name="Rectangle 476"/>
                <p:cNvSpPr/>
                <p:nvPr/>
              </p:nvSpPr>
              <p:spPr>
                <a:xfrm>
                  <a:off x="2935837" y="3911941"/>
                  <a:ext cx="425539" cy="330207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rgbClr val="CC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478" name="Straight Connector 477"/>
                <p:cNvCxnSpPr/>
                <p:nvPr/>
              </p:nvCxnSpPr>
              <p:spPr>
                <a:xfrm>
                  <a:off x="2931074" y="4004018"/>
                  <a:ext cx="425539" cy="0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9" name="Straight Connector 478"/>
                <p:cNvCxnSpPr/>
                <p:nvPr/>
              </p:nvCxnSpPr>
              <p:spPr>
                <a:xfrm>
                  <a:off x="2931074" y="4067519"/>
                  <a:ext cx="425539" cy="0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0" name="Straight Connector 479"/>
                <p:cNvCxnSpPr>
                  <a:stCxn id="477" idx="2"/>
                </p:cNvCxnSpPr>
                <p:nvPr/>
              </p:nvCxnSpPr>
              <p:spPr>
                <a:xfrm flipH="1" flipV="1">
                  <a:off x="3147019" y="4004018"/>
                  <a:ext cx="1587" cy="238130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7162" name="Group 502"/>
              <p:cNvGrpSpPr>
                <a:grpSpLocks/>
              </p:cNvGrpSpPr>
              <p:nvPr/>
            </p:nvGrpSpPr>
            <p:grpSpPr bwMode="auto">
              <a:xfrm>
                <a:off x="-50289" y="5228984"/>
                <a:ext cx="430360" cy="350559"/>
                <a:chOff x="2931664" y="3912603"/>
                <a:chExt cx="430450" cy="329314"/>
              </a:xfrm>
            </p:grpSpPr>
            <p:sp>
              <p:nvSpPr>
                <p:cNvPr id="506" name="Rectangle 505"/>
                <p:cNvSpPr/>
                <p:nvPr/>
              </p:nvSpPr>
              <p:spPr>
                <a:xfrm>
                  <a:off x="2935837" y="3911940"/>
                  <a:ext cx="425539" cy="330207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rgbClr val="CC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cxnSp>
              <p:nvCxnSpPr>
                <p:cNvPr id="507" name="Straight Connector 506"/>
                <p:cNvCxnSpPr/>
                <p:nvPr/>
              </p:nvCxnSpPr>
              <p:spPr>
                <a:xfrm>
                  <a:off x="2931074" y="4004017"/>
                  <a:ext cx="425539" cy="0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8" name="Straight Connector 507"/>
                <p:cNvCxnSpPr/>
                <p:nvPr/>
              </p:nvCxnSpPr>
              <p:spPr>
                <a:xfrm>
                  <a:off x="2931074" y="4067518"/>
                  <a:ext cx="425539" cy="0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9" name="Straight Connector 508"/>
                <p:cNvCxnSpPr>
                  <a:stCxn id="506" idx="2"/>
                </p:cNvCxnSpPr>
                <p:nvPr/>
              </p:nvCxnSpPr>
              <p:spPr>
                <a:xfrm flipH="1" flipV="1">
                  <a:off x="3147019" y="4004017"/>
                  <a:ext cx="1587" cy="238130"/>
                </a:xfrm>
                <a:prstGeom prst="line">
                  <a:avLst/>
                </a:prstGeom>
                <a:ln w="3175">
                  <a:solidFill>
                    <a:schemeClr val="tx1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25" name="Group 24"/>
          <p:cNvGrpSpPr/>
          <p:nvPr/>
        </p:nvGrpSpPr>
        <p:grpSpPr>
          <a:xfrm>
            <a:off x="3772355" y="3087008"/>
            <a:ext cx="4437063" cy="1781026"/>
            <a:chOff x="-4267279" y="3655204"/>
            <a:chExt cx="4437063" cy="1781026"/>
          </a:xfrm>
        </p:grpSpPr>
        <p:cxnSp>
          <p:nvCxnSpPr>
            <p:cNvPr id="111" name="Straight Arrow Connector 110"/>
            <p:cNvCxnSpPr/>
            <p:nvPr/>
          </p:nvCxnSpPr>
          <p:spPr bwMode="auto">
            <a:xfrm>
              <a:off x="-4267279" y="4046968"/>
              <a:ext cx="0" cy="422275"/>
            </a:xfrm>
            <a:prstGeom prst="straightConnector1">
              <a:avLst/>
            </a:prstGeom>
            <a:ln w="12700">
              <a:solidFill>
                <a:srgbClr val="CC0000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/>
            <p:cNvCxnSpPr/>
            <p:nvPr/>
          </p:nvCxnSpPr>
          <p:spPr bwMode="auto">
            <a:xfrm flipH="1">
              <a:off x="-2808366" y="4361550"/>
              <a:ext cx="154" cy="872164"/>
            </a:xfrm>
            <a:prstGeom prst="straightConnector1">
              <a:avLst/>
            </a:prstGeom>
            <a:ln w="6350">
              <a:solidFill>
                <a:srgbClr val="CC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6" name="Straight Arrow Connector 445"/>
            <p:cNvCxnSpPr/>
            <p:nvPr/>
          </p:nvCxnSpPr>
          <p:spPr bwMode="auto">
            <a:xfrm>
              <a:off x="-2006807" y="3655204"/>
              <a:ext cx="6479" cy="1576923"/>
            </a:xfrm>
            <a:prstGeom prst="straightConnector1">
              <a:avLst/>
            </a:prstGeom>
            <a:ln w="6350">
              <a:solidFill>
                <a:srgbClr val="CC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Straight Arrow Connector 474"/>
            <p:cNvCxnSpPr>
              <a:stCxn id="468" idx="0"/>
            </p:cNvCxnSpPr>
            <p:nvPr/>
          </p:nvCxnSpPr>
          <p:spPr bwMode="auto">
            <a:xfrm>
              <a:off x="-857657" y="4531376"/>
              <a:ext cx="5883" cy="904854"/>
            </a:xfrm>
            <a:prstGeom prst="straightConnector1">
              <a:avLst/>
            </a:prstGeom>
            <a:ln w="6350">
              <a:solidFill>
                <a:srgbClr val="CC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4" name="Straight Arrow Connector 503"/>
            <p:cNvCxnSpPr/>
            <p:nvPr/>
          </p:nvCxnSpPr>
          <p:spPr bwMode="auto">
            <a:xfrm flipH="1">
              <a:off x="166609" y="3798581"/>
              <a:ext cx="3175" cy="1399277"/>
            </a:xfrm>
            <a:prstGeom prst="straightConnector1">
              <a:avLst/>
            </a:prstGeom>
            <a:ln w="6350">
              <a:solidFill>
                <a:srgbClr val="CC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E679392-C5A3-ECEE-74FA-D12DBEAB7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128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 fontScale="97500"/>
          </a:bodyPr>
          <a:lstStyle/>
          <a:p>
            <a:pPr algn="l"/>
            <a:r>
              <a:rPr lang="en-US" b="1" dirty="0">
                <a:latin typeface="Segoe UI" panose="020B0502040204020203" pitchFamily="34" charset="0"/>
              </a:rPr>
              <a:t>Today’s network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1" y="1371600"/>
            <a:ext cx="10873338" cy="5317958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latin typeface="Segoe UI" panose="020B0502040204020203" pitchFamily="34" charset="0"/>
              </a:rPr>
              <a:t>Equipment vendors provide a set of routing (network control) choices: OSPF, RIP, ISIS, BGP, etc.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latin typeface="Segoe UI" panose="020B0502040204020203" pitchFamily="34" charset="0"/>
              </a:rPr>
              <a:t>Network control using a distributed, per router approach.</a:t>
            </a:r>
          </a:p>
          <a:p>
            <a:pPr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latin typeface="Segoe UI" panose="020B0502040204020203" pitchFamily="34" charset="0"/>
              </a:rPr>
              <a:t>Network administrator can change network parameters to achieve certain objectives: e.g. changing routes</a:t>
            </a:r>
          </a:p>
          <a:p>
            <a:pPr lvl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Segoe UI" panose="020B0502040204020203" pitchFamily="34" charset="0"/>
              </a:rPr>
              <a:t>Limited programmability</a:t>
            </a:r>
          </a:p>
          <a:p>
            <a:pPr lvl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Segoe UI" panose="020B0502040204020203" pitchFamily="34" charset="0"/>
              </a:rPr>
              <a:t>If one wants a new control mechanism (e.g. new routing services for data centers), (s)he is out of luck.</a:t>
            </a:r>
          </a:p>
          <a:p>
            <a:pPr lvl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Segoe UI" panose="020B0502040204020203" pitchFamily="34" charset="0"/>
              </a:rPr>
              <a:t>This is what SDN tries to overcome: making the network control like an API that user can develop by themselves. </a:t>
            </a:r>
          </a:p>
          <a:p>
            <a:pPr lvl="1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Segoe UI" panose="020B0502040204020203" pitchFamily="34" charset="0"/>
              </a:rPr>
              <a:t>SDN is to make network control more programmable, easier to deploy new services.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C6DAF1-4A29-1A65-A1FF-337CA2164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 fontScale="97500"/>
          </a:bodyPr>
          <a:lstStyle/>
          <a:p>
            <a:pPr algn="l"/>
            <a:r>
              <a:rPr lang="en-US" b="1" dirty="0">
                <a:latin typeface="Segoe UI" panose="020B0502040204020203" pitchFamily="34" charset="0"/>
              </a:rPr>
              <a:t>SDN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75073"/>
            <a:ext cx="10972800" cy="4983161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800" dirty="0">
                <a:latin typeface="Segoe UI" panose="020B0502040204020203" pitchFamily="34" charset="0"/>
              </a:rPr>
              <a:t>Why do we want to make network control more programmable?</a:t>
            </a:r>
          </a:p>
          <a:p>
            <a:pPr marL="342900" lvl="1" indent="-3429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en-US" dirty="0">
                <a:latin typeface="Segoe UI" panose="020B0502040204020203" pitchFamily="34" charset="0"/>
              </a:rPr>
              <a:t>Short term:</a:t>
            </a:r>
          </a:p>
          <a:p>
            <a:pPr marL="800100" lvl="3" indent="-3429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400" dirty="0">
                <a:latin typeface="Segoe UI" panose="020B0502040204020203" pitchFamily="34" charset="0"/>
              </a:rPr>
              <a:t>Existing network control is no longer sufficient in several important areas, need innovation here!</a:t>
            </a:r>
          </a:p>
          <a:p>
            <a:pPr marL="1257300" lvl="5" indent="-3429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ü"/>
            </a:pPr>
            <a:r>
              <a:rPr lang="en-US" dirty="0">
                <a:latin typeface="Segoe UI" panose="020B0502040204020203" pitchFamily="34" charset="0"/>
              </a:rPr>
              <a:t>Data centers, Wireless, network security</a:t>
            </a:r>
          </a:p>
          <a:p>
            <a:pPr marL="800100" lvl="3" indent="-3429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400" dirty="0">
                <a:latin typeface="Segoe UI" panose="020B0502040204020203" pitchFamily="34" charset="0"/>
              </a:rPr>
              <a:t>Existing network control is getting too complicated.</a:t>
            </a:r>
          </a:p>
          <a:p>
            <a:pPr marL="1257300" lvl="5" indent="-3429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ü"/>
            </a:pPr>
            <a:r>
              <a:rPr lang="en-US" dirty="0">
                <a:latin typeface="Segoe UI" panose="020B0502040204020203" pitchFamily="34" charset="0"/>
              </a:rPr>
              <a:t>Too many middleboxes with their own control</a:t>
            </a:r>
          </a:p>
          <a:p>
            <a:pPr marL="1257300" lvl="5" indent="-3429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ü"/>
            </a:pPr>
            <a:r>
              <a:rPr lang="en-US" dirty="0">
                <a:latin typeface="Segoe UI" panose="020B0502040204020203" pitchFamily="34" charset="0"/>
              </a:rPr>
              <a:t>Would be nice to provide a unified mechanism to deploy and manage these middleboxes</a:t>
            </a:r>
          </a:p>
          <a:p>
            <a:pPr marL="342900" lvl="1" indent="-34290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Font typeface="Arial"/>
              <a:buChar char="•"/>
            </a:pPr>
            <a:r>
              <a:rPr lang="en-US" dirty="0">
                <a:latin typeface="Segoe UI" panose="020B0502040204020203" pitchFamily="34" charset="0"/>
              </a:rPr>
              <a:t>Long term: </a:t>
            </a:r>
          </a:p>
          <a:p>
            <a:pPr marL="800100" lvl="3" indent="-342900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400" dirty="0">
                <a:latin typeface="Segoe UI" panose="020B0502040204020203" pitchFamily="34" charset="0"/>
              </a:rPr>
              <a:t>Programmability promotes innovation; and innovation is good for the networking industry.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509ADF-3E1D-BBA6-C9D7-4CD09DC51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8007" y="381000"/>
            <a:ext cx="11194181" cy="68580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l"/>
            <a:r>
              <a:rPr lang="en-US" b="1" dirty="0">
                <a:latin typeface="Segoe UI" panose="020B0502040204020203" pitchFamily="34" charset="0"/>
              </a:rPr>
              <a:t>Computing systems once upon a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95587" y="1386039"/>
            <a:ext cx="8577714" cy="5335438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latin typeface="Segoe UI" panose="020B0502040204020203" pitchFamily="34" charset="0"/>
              </a:rPr>
              <a:t>Vertically integrated systems</a:t>
            </a:r>
          </a:p>
          <a:p>
            <a:pPr marL="742950" lvl="2" indent="-342900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dirty="0">
                <a:latin typeface="Segoe UI" panose="020B0502040204020203" pitchFamily="34" charset="0"/>
              </a:rPr>
              <a:t>Proprietary hardware</a:t>
            </a:r>
          </a:p>
          <a:p>
            <a:pPr marL="742950" lvl="2" indent="-342900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dirty="0">
                <a:latin typeface="Segoe UI" panose="020B0502040204020203" pitchFamily="34" charset="0"/>
              </a:rPr>
              <a:t>Proprietary OS</a:t>
            </a:r>
          </a:p>
          <a:p>
            <a:pPr marL="742950" lvl="2" indent="-342900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dirty="0">
                <a:latin typeface="Segoe UI" panose="020B0502040204020203" pitchFamily="34" charset="0"/>
              </a:rPr>
              <a:t>Proprietary applications</a:t>
            </a:r>
          </a:p>
          <a:p>
            <a:pPr marL="742950" lvl="2" indent="-342900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dirty="0">
                <a:latin typeface="Segoe UI" panose="020B0502040204020203" pitchFamily="34" charset="0"/>
              </a:rPr>
              <a:t>Highly reliable</a:t>
            </a:r>
          </a:p>
          <a:p>
            <a:pPr marL="342900" lvl="1" indent="-342900">
              <a:spcBef>
                <a:spcPts val="1800"/>
              </a:spcBef>
              <a:spcAft>
                <a:spcPts val="600"/>
              </a:spcAft>
              <a:buFont typeface="Arial"/>
              <a:buChar char="•"/>
            </a:pPr>
            <a:r>
              <a:rPr lang="en-US" dirty="0">
                <a:latin typeface="Segoe UI" panose="020B0502040204020203" pitchFamily="34" charset="0"/>
              </a:rPr>
              <a:t>Dominated by a small number of large companies (IBM, HP, </a:t>
            </a:r>
            <a:r>
              <a:rPr lang="en-US" dirty="0" err="1">
                <a:latin typeface="Segoe UI" panose="020B0502040204020203" pitchFamily="34" charset="0"/>
              </a:rPr>
              <a:t>etc</a:t>
            </a:r>
            <a:r>
              <a:rPr lang="en-US" dirty="0">
                <a:latin typeface="Segoe UI" panose="020B0502040204020203" pitchFamily="34" charset="0"/>
              </a:rPr>
              <a:t>)</a:t>
            </a:r>
          </a:p>
          <a:p>
            <a:pPr marL="800100" lvl="3" indent="-342900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400" dirty="0">
                <a:latin typeface="Segoe UI" panose="020B0502040204020203" pitchFamily="34" charset="0"/>
              </a:rPr>
              <a:t>Slow software innovation</a:t>
            </a:r>
          </a:p>
          <a:p>
            <a:pPr marL="1257300" lvl="5" indent="-342900"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ü"/>
            </a:pPr>
            <a:r>
              <a:rPr lang="en-US" sz="2400" dirty="0">
                <a:latin typeface="Segoe UI" panose="020B0502040204020203" pitchFamily="34" charset="0"/>
              </a:rPr>
              <a:t>Proprietary development</a:t>
            </a:r>
          </a:p>
          <a:p>
            <a:pPr marL="800100" lvl="3" indent="-342900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400" dirty="0">
                <a:latin typeface="Segoe UI" panose="020B0502040204020203" pitchFamily="34" charset="0"/>
              </a:rPr>
              <a:t>Small industry</a:t>
            </a:r>
          </a:p>
        </p:txBody>
      </p:sp>
      <p:pic>
        <p:nvPicPr>
          <p:cNvPr id="10242" name="Picture 2" descr="http://images.techhive.com/images/idge/imported/imageapi/2014/05/slide_image_033114-mainframe-12-100282826-orig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8699" y="2010076"/>
            <a:ext cx="2611235" cy="2889183"/>
          </a:xfrm>
          <a:prstGeom prst="rect">
            <a:avLst/>
          </a:prstGeom>
          <a:noFill/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028137-BE54-993B-89F4-FCE9CB2D6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191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b="1" dirty="0">
                <a:latin typeface="Segoe UI" panose="020B0502040204020203" pitchFamily="34" charset="0"/>
              </a:rPr>
              <a:t>Computing Systems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934200" y="1905001"/>
            <a:ext cx="3276600" cy="2590799"/>
          </a:xfrm>
        </p:spPr>
        <p:txBody>
          <a:bodyPr>
            <a:normAutofit/>
          </a:bodyPr>
          <a:lstStyle/>
          <a:p>
            <a:endParaRPr lang="en-US" dirty="0"/>
          </a:p>
          <a:p>
            <a:pPr lvl="1"/>
            <a:endParaRPr lang="en-US" dirty="0"/>
          </a:p>
        </p:txBody>
      </p:sp>
      <p:grpSp>
        <p:nvGrpSpPr>
          <p:cNvPr id="4" name="Group 47"/>
          <p:cNvGrpSpPr>
            <a:grpSpLocks/>
          </p:cNvGrpSpPr>
          <p:nvPr/>
        </p:nvGrpSpPr>
        <p:grpSpPr bwMode="auto">
          <a:xfrm>
            <a:off x="505324" y="1905000"/>
            <a:ext cx="3657600" cy="685800"/>
            <a:chOff x="5334000" y="1371600"/>
            <a:chExt cx="3657600" cy="685800"/>
          </a:xfrm>
        </p:grpSpPr>
        <p:sp>
          <p:nvSpPr>
            <p:cNvPr id="5" name="Rounded Rectangle 4"/>
            <p:cNvSpPr/>
            <p:nvPr/>
          </p:nvSpPr>
          <p:spPr bwMode="auto">
            <a:xfrm>
              <a:off x="8382000" y="1371600"/>
              <a:ext cx="609600" cy="685800"/>
            </a:xfrm>
            <a:prstGeom prst="roundRect">
              <a:avLst/>
            </a:prstGeom>
            <a:solidFill>
              <a:srgbClr val="FFCC66"/>
            </a:soli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600" dirty="0">
                  <a:solidFill>
                    <a:srgbClr val="FFCC66"/>
                  </a:solidFill>
                </a:rPr>
                <a:t>App</a:t>
              </a:r>
            </a:p>
          </p:txBody>
        </p:sp>
        <p:sp>
          <p:nvSpPr>
            <p:cNvPr id="6" name="Rounded Rectangle 5"/>
            <p:cNvSpPr/>
            <p:nvPr/>
          </p:nvSpPr>
          <p:spPr bwMode="auto">
            <a:xfrm>
              <a:off x="8077200" y="1371600"/>
              <a:ext cx="609600" cy="685800"/>
            </a:xfrm>
            <a:prstGeom prst="roundRect">
              <a:avLst/>
            </a:prstGeom>
            <a:solidFill>
              <a:srgbClr val="FFCC66"/>
            </a:soli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600" dirty="0">
                  <a:solidFill>
                    <a:srgbClr val="FFCC66"/>
                  </a:solidFill>
                </a:rPr>
                <a:t>App</a:t>
              </a:r>
            </a:p>
          </p:txBody>
        </p:sp>
        <p:sp>
          <p:nvSpPr>
            <p:cNvPr id="7" name="Rounded Rectangle 6"/>
            <p:cNvSpPr/>
            <p:nvPr/>
          </p:nvSpPr>
          <p:spPr bwMode="auto">
            <a:xfrm>
              <a:off x="7772400" y="1371600"/>
              <a:ext cx="609600" cy="685800"/>
            </a:xfrm>
            <a:prstGeom prst="roundRect">
              <a:avLst/>
            </a:prstGeom>
            <a:solidFill>
              <a:srgbClr val="FFCC66"/>
            </a:soli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600" dirty="0">
                  <a:solidFill>
                    <a:srgbClr val="FFCC66"/>
                  </a:solidFill>
                </a:rPr>
                <a:t>App</a:t>
              </a:r>
            </a:p>
          </p:txBody>
        </p:sp>
        <p:sp>
          <p:nvSpPr>
            <p:cNvPr id="8" name="Rounded Rectangle 7"/>
            <p:cNvSpPr/>
            <p:nvPr/>
          </p:nvSpPr>
          <p:spPr bwMode="auto">
            <a:xfrm>
              <a:off x="7467600" y="1371600"/>
              <a:ext cx="609600" cy="685800"/>
            </a:xfrm>
            <a:prstGeom prst="roundRect">
              <a:avLst/>
            </a:prstGeom>
            <a:solidFill>
              <a:srgbClr val="FFCC66"/>
            </a:soli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600" dirty="0">
                  <a:solidFill>
                    <a:srgbClr val="FFCC66"/>
                  </a:solidFill>
                </a:rPr>
                <a:t>App</a:t>
              </a:r>
            </a:p>
          </p:txBody>
        </p:sp>
        <p:sp>
          <p:nvSpPr>
            <p:cNvPr id="9" name="Rounded Rectangle 8"/>
            <p:cNvSpPr/>
            <p:nvPr/>
          </p:nvSpPr>
          <p:spPr bwMode="auto">
            <a:xfrm>
              <a:off x="7162800" y="1371600"/>
              <a:ext cx="609600" cy="685800"/>
            </a:xfrm>
            <a:prstGeom prst="roundRect">
              <a:avLst/>
            </a:prstGeom>
            <a:solidFill>
              <a:srgbClr val="FFCC66"/>
            </a:soli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600" dirty="0">
                  <a:solidFill>
                    <a:srgbClr val="FFCC66"/>
                  </a:solidFill>
                </a:rPr>
                <a:t>App</a:t>
              </a:r>
            </a:p>
          </p:txBody>
        </p:sp>
        <p:sp>
          <p:nvSpPr>
            <p:cNvPr id="10" name="Rounded Rectangle 9"/>
            <p:cNvSpPr/>
            <p:nvPr/>
          </p:nvSpPr>
          <p:spPr bwMode="auto">
            <a:xfrm>
              <a:off x="6858000" y="1371600"/>
              <a:ext cx="609600" cy="685800"/>
            </a:xfrm>
            <a:prstGeom prst="roundRect">
              <a:avLst/>
            </a:prstGeom>
            <a:solidFill>
              <a:srgbClr val="FFCC66"/>
            </a:soli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600" dirty="0">
                  <a:solidFill>
                    <a:srgbClr val="FFCC66"/>
                  </a:solidFill>
                </a:rPr>
                <a:t>App</a:t>
              </a:r>
            </a:p>
          </p:txBody>
        </p:sp>
        <p:sp>
          <p:nvSpPr>
            <p:cNvPr id="11" name="Rounded Rectangle 10"/>
            <p:cNvSpPr/>
            <p:nvPr/>
          </p:nvSpPr>
          <p:spPr bwMode="auto">
            <a:xfrm>
              <a:off x="6553200" y="1371600"/>
              <a:ext cx="609600" cy="685800"/>
            </a:xfrm>
            <a:prstGeom prst="roundRect">
              <a:avLst/>
            </a:prstGeom>
            <a:solidFill>
              <a:srgbClr val="FFCC66"/>
            </a:soli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600" dirty="0">
                  <a:solidFill>
                    <a:srgbClr val="FFCC66"/>
                  </a:solidFill>
                </a:rPr>
                <a:t>App</a:t>
              </a:r>
            </a:p>
          </p:txBody>
        </p:sp>
        <p:sp>
          <p:nvSpPr>
            <p:cNvPr id="12" name="Rounded Rectangle 11"/>
            <p:cNvSpPr/>
            <p:nvPr/>
          </p:nvSpPr>
          <p:spPr bwMode="auto">
            <a:xfrm>
              <a:off x="6248400" y="1371600"/>
              <a:ext cx="609600" cy="685800"/>
            </a:xfrm>
            <a:prstGeom prst="roundRect">
              <a:avLst/>
            </a:prstGeom>
            <a:solidFill>
              <a:srgbClr val="FFCC66"/>
            </a:soli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600" dirty="0">
                  <a:solidFill>
                    <a:srgbClr val="FFCC66"/>
                  </a:solidFill>
                </a:rPr>
                <a:t>App</a:t>
              </a:r>
            </a:p>
          </p:txBody>
        </p:sp>
        <p:sp>
          <p:nvSpPr>
            <p:cNvPr id="13" name="Rounded Rectangle 12"/>
            <p:cNvSpPr/>
            <p:nvPr/>
          </p:nvSpPr>
          <p:spPr bwMode="auto">
            <a:xfrm>
              <a:off x="5943600" y="1371600"/>
              <a:ext cx="609600" cy="685800"/>
            </a:xfrm>
            <a:prstGeom prst="roundRect">
              <a:avLst/>
            </a:prstGeom>
            <a:solidFill>
              <a:srgbClr val="FFCC66"/>
            </a:soli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600" dirty="0">
                  <a:solidFill>
                    <a:srgbClr val="FFCC66"/>
                  </a:solidFill>
                </a:rPr>
                <a:t>App</a:t>
              </a:r>
            </a:p>
          </p:txBody>
        </p:sp>
        <p:sp>
          <p:nvSpPr>
            <p:cNvPr id="14" name="Rounded Rectangle 13"/>
            <p:cNvSpPr/>
            <p:nvPr/>
          </p:nvSpPr>
          <p:spPr bwMode="auto">
            <a:xfrm>
              <a:off x="5638800" y="1371600"/>
              <a:ext cx="609600" cy="685800"/>
            </a:xfrm>
            <a:prstGeom prst="roundRect">
              <a:avLst/>
            </a:prstGeom>
            <a:solidFill>
              <a:srgbClr val="FFCC66"/>
            </a:soli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600" dirty="0">
                  <a:solidFill>
                    <a:srgbClr val="FFCC66"/>
                  </a:solidFill>
                </a:rPr>
                <a:t>App</a:t>
              </a:r>
            </a:p>
          </p:txBody>
        </p:sp>
        <p:sp>
          <p:nvSpPr>
            <p:cNvPr id="15" name="Rounded Rectangle 14"/>
            <p:cNvSpPr/>
            <p:nvPr/>
          </p:nvSpPr>
          <p:spPr bwMode="auto">
            <a:xfrm>
              <a:off x="5334000" y="1371600"/>
              <a:ext cx="609600" cy="685800"/>
            </a:xfrm>
            <a:prstGeom prst="roundRect">
              <a:avLst/>
            </a:prstGeom>
            <a:solidFill>
              <a:srgbClr val="FFCC66"/>
            </a:soli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600" dirty="0">
                  <a:solidFill>
                    <a:schemeClr val="tx1"/>
                  </a:solidFill>
                </a:rPr>
                <a:t>App</a:t>
              </a:r>
            </a:p>
          </p:txBody>
        </p:sp>
      </p:grpSp>
      <p:grpSp>
        <p:nvGrpSpPr>
          <p:cNvPr id="16" name="Group 56"/>
          <p:cNvGrpSpPr>
            <a:grpSpLocks/>
          </p:cNvGrpSpPr>
          <p:nvPr/>
        </p:nvGrpSpPr>
        <p:grpSpPr bwMode="auto">
          <a:xfrm>
            <a:off x="696225" y="4267200"/>
            <a:ext cx="2895600" cy="990604"/>
            <a:chOff x="5410200" y="3212068"/>
            <a:chExt cx="3124200" cy="990303"/>
          </a:xfrm>
        </p:grpSpPr>
        <p:sp>
          <p:nvSpPr>
            <p:cNvPr id="17" name="Rounded Rectangle 16"/>
            <p:cNvSpPr/>
            <p:nvPr/>
          </p:nvSpPr>
          <p:spPr bwMode="auto">
            <a:xfrm>
              <a:off x="5410200" y="3592956"/>
              <a:ext cx="2137611" cy="609415"/>
            </a:xfrm>
            <a:prstGeom prst="roundRect">
              <a:avLst/>
            </a:prstGeom>
            <a:solidFill>
              <a:srgbClr val="000090"/>
            </a:solidFill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 eaLnBrk="1" hangingPunct="1"/>
              <a:r>
                <a:rPr lang="en-US" sz="2000" dirty="0">
                  <a:solidFill>
                    <a:schemeClr val="bg1"/>
                  </a:solidFill>
                </a:rPr>
                <a:t>Microprocessor</a:t>
              </a:r>
              <a:endParaRPr lang="en-US" sz="1800" dirty="0">
                <a:solidFill>
                  <a:schemeClr val="bg1"/>
                </a:solidFill>
              </a:endParaRPr>
            </a:p>
          </p:txBody>
        </p:sp>
        <p:grpSp>
          <p:nvGrpSpPr>
            <p:cNvPr id="19" name="Group 51"/>
            <p:cNvGrpSpPr>
              <a:grpSpLocks/>
            </p:cNvGrpSpPr>
            <p:nvPr/>
          </p:nvGrpSpPr>
          <p:grpSpPr bwMode="auto">
            <a:xfrm>
              <a:off x="5943600" y="3212068"/>
              <a:ext cx="2590800" cy="369220"/>
              <a:chOff x="6019800" y="3200400"/>
              <a:chExt cx="2590800" cy="369220"/>
            </a:xfrm>
          </p:grpSpPr>
          <p:cxnSp>
            <p:nvCxnSpPr>
              <p:cNvPr id="20" name="Straight Connector 19"/>
              <p:cNvCxnSpPr/>
              <p:nvPr/>
            </p:nvCxnSpPr>
            <p:spPr>
              <a:xfrm>
                <a:off x="6019800" y="3427343"/>
                <a:ext cx="2590800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1" name="TextBox 23"/>
              <p:cNvSpPr txBox="1">
                <a:spLocks noChangeArrowheads="1"/>
              </p:cNvSpPr>
              <p:nvPr/>
            </p:nvSpPr>
            <p:spPr bwMode="auto">
              <a:xfrm>
                <a:off x="6453792" y="3200400"/>
                <a:ext cx="1845782" cy="36922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1800"/>
                  <a:t>Open Interface</a:t>
                </a:r>
              </a:p>
            </p:txBody>
          </p:sp>
        </p:grpSp>
      </p:grpSp>
      <p:grpSp>
        <p:nvGrpSpPr>
          <p:cNvPr id="22" name="Group 57"/>
          <p:cNvGrpSpPr>
            <a:grpSpLocks/>
          </p:cNvGrpSpPr>
          <p:nvPr/>
        </p:nvGrpSpPr>
        <p:grpSpPr bwMode="auto">
          <a:xfrm>
            <a:off x="572701" y="2819400"/>
            <a:ext cx="3505200" cy="1295400"/>
            <a:chOff x="5334000" y="1828800"/>
            <a:chExt cx="3505200" cy="1295400"/>
          </a:xfrm>
        </p:grpSpPr>
        <p:sp>
          <p:nvSpPr>
            <p:cNvPr id="23" name="Rounded Rectangle 22"/>
            <p:cNvSpPr/>
            <p:nvPr/>
          </p:nvSpPr>
          <p:spPr bwMode="auto">
            <a:xfrm>
              <a:off x="6934200" y="2286000"/>
              <a:ext cx="762000" cy="838200"/>
            </a:xfrm>
            <a:prstGeom prst="roundRect">
              <a:avLst/>
            </a:prstGeom>
            <a:gradFill>
              <a:gsLst>
                <a:gs pos="0">
                  <a:srgbClr val="008000"/>
                </a:gs>
                <a:gs pos="100000">
                  <a:srgbClr val="00C362"/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600">
                  <a:solidFill>
                    <a:srgbClr val="FFFFFF"/>
                  </a:solidFill>
                </a:rPr>
                <a:t>Linux</a:t>
              </a:r>
            </a:p>
          </p:txBody>
        </p:sp>
        <p:sp>
          <p:nvSpPr>
            <p:cNvPr id="24" name="Rounded Rectangle 23"/>
            <p:cNvSpPr/>
            <p:nvPr/>
          </p:nvSpPr>
          <p:spPr bwMode="auto">
            <a:xfrm>
              <a:off x="8077200" y="2286000"/>
              <a:ext cx="762000" cy="838200"/>
            </a:xfrm>
            <a:prstGeom prst="roundRect">
              <a:avLst/>
            </a:prstGeom>
            <a:gradFill>
              <a:gsLst>
                <a:gs pos="0">
                  <a:srgbClr val="FF00FF"/>
                </a:gs>
                <a:gs pos="100000">
                  <a:srgbClr val="FF99CC"/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600">
                  <a:solidFill>
                    <a:srgbClr val="FFFFFF"/>
                  </a:solidFill>
                </a:rPr>
                <a:t>Mac</a:t>
              </a:r>
            </a:p>
            <a:p>
              <a:pPr algn="ctr">
                <a:defRPr/>
              </a:pPr>
              <a:r>
                <a:rPr lang="en-US" sz="1600">
                  <a:solidFill>
                    <a:srgbClr val="FFFFFF"/>
                  </a:solidFill>
                </a:rPr>
                <a:t>OS</a:t>
              </a:r>
            </a:p>
          </p:txBody>
        </p:sp>
        <p:sp>
          <p:nvSpPr>
            <p:cNvPr id="25" name="Rounded Rectangle 24"/>
            <p:cNvSpPr/>
            <p:nvPr/>
          </p:nvSpPr>
          <p:spPr bwMode="auto">
            <a:xfrm>
              <a:off x="5334000" y="2286000"/>
              <a:ext cx="1219200" cy="838200"/>
            </a:xfrm>
            <a:prstGeom prst="roundRect">
              <a:avLst/>
            </a:prstGeom>
            <a:gradFill>
              <a:gsLst>
                <a:gs pos="0">
                  <a:srgbClr val="FF0000"/>
                </a:gs>
                <a:gs pos="100000">
                  <a:srgbClr val="F7545C"/>
                </a:gs>
              </a:gsLst>
            </a:gradFill>
          </p:spPr>
          <p:style>
            <a:lnRef idx="0">
              <a:schemeClr val="accent6"/>
            </a:lnRef>
            <a:fillRef idx="3">
              <a:schemeClr val="accent6"/>
            </a:fillRef>
            <a:effectRef idx="3">
              <a:schemeClr val="accent6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rgbClr val="FFFFFF"/>
                  </a:solidFill>
                </a:rPr>
                <a:t>Windows</a:t>
              </a:r>
            </a:p>
            <a:p>
              <a:pPr algn="ctr">
                <a:defRPr/>
              </a:pPr>
              <a:r>
                <a:rPr lang="en-US" dirty="0">
                  <a:solidFill>
                    <a:srgbClr val="FFFFFF"/>
                  </a:solidFill>
                </a:rPr>
                <a:t>(OS)</a:t>
              </a:r>
            </a:p>
          </p:txBody>
        </p:sp>
        <p:sp>
          <p:nvSpPr>
            <p:cNvPr id="26" name="TextBox 23"/>
            <p:cNvSpPr txBox="1">
              <a:spLocks noChangeArrowheads="1"/>
            </p:cNvSpPr>
            <p:nvPr/>
          </p:nvSpPr>
          <p:spPr bwMode="auto">
            <a:xfrm>
              <a:off x="6553200" y="2526268"/>
              <a:ext cx="38991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800"/>
                <a:t>or</a:t>
              </a:r>
            </a:p>
          </p:txBody>
        </p:sp>
        <p:sp>
          <p:nvSpPr>
            <p:cNvPr id="27" name="TextBox 24"/>
            <p:cNvSpPr txBox="1">
              <a:spLocks noChangeArrowheads="1"/>
            </p:cNvSpPr>
            <p:nvPr/>
          </p:nvSpPr>
          <p:spPr bwMode="auto">
            <a:xfrm>
              <a:off x="7696200" y="2514600"/>
              <a:ext cx="38991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  <a:cs typeface="ＭＳ Ｐゴシック" charset="0"/>
                </a:defRPr>
              </a:lvl1pPr>
              <a:lvl2pPr marL="37931725" indent="-37474525"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eaLnBrk="0" hangingPunct="0"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4572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9144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1371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18288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eaLnBrk="1" hangingPunct="1"/>
              <a:r>
                <a:rPr lang="en-US" sz="1800" dirty="0"/>
                <a:t>or</a:t>
              </a:r>
            </a:p>
          </p:txBody>
        </p:sp>
        <p:grpSp>
          <p:nvGrpSpPr>
            <p:cNvPr id="28" name="Group 52"/>
            <p:cNvGrpSpPr>
              <a:grpSpLocks/>
            </p:cNvGrpSpPr>
            <p:nvPr/>
          </p:nvGrpSpPr>
          <p:grpSpPr bwMode="auto">
            <a:xfrm>
              <a:off x="5943600" y="1828800"/>
              <a:ext cx="2590800" cy="369332"/>
              <a:chOff x="6019800" y="3200400"/>
              <a:chExt cx="2590800" cy="369332"/>
            </a:xfrm>
          </p:grpSpPr>
          <p:cxnSp>
            <p:nvCxnSpPr>
              <p:cNvPr id="29" name="Straight Connector 28"/>
              <p:cNvCxnSpPr/>
              <p:nvPr/>
            </p:nvCxnSpPr>
            <p:spPr>
              <a:xfrm>
                <a:off x="6019800" y="3427413"/>
                <a:ext cx="2590800" cy="158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3"/>
              <p:cNvSpPr txBox="1">
                <a:spLocks noChangeArrowheads="1"/>
              </p:cNvSpPr>
              <p:nvPr/>
            </p:nvSpPr>
            <p:spPr bwMode="auto">
              <a:xfrm>
                <a:off x="6453791" y="3200400"/>
                <a:ext cx="1775809" cy="369332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  <a:cs typeface="ＭＳ Ｐゴシック" charset="0"/>
                  </a:defRPr>
                </a:lvl1pPr>
                <a:lvl2pPr marL="37931725" indent="-37474525"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2pPr>
                <a:lvl3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3pPr>
                <a:lvl4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4pPr>
                <a:lvl5pPr eaLnBrk="0" hangingPunct="0"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5pPr>
                <a:lvl6pPr marL="4572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6pPr>
                <a:lvl7pPr marL="9144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7pPr>
                <a:lvl8pPr marL="1371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8pPr>
                <a:lvl9pPr marL="1828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charset="0"/>
                    <a:ea typeface="ＭＳ Ｐゴシック" charset="0"/>
                  </a:defRPr>
                </a:lvl9pPr>
              </a:lstStyle>
              <a:p>
                <a:pPr eaLnBrk="1" hangingPunct="1"/>
                <a:r>
                  <a:rPr lang="en-US" sz="1800"/>
                  <a:t>Open Interface</a:t>
                </a:r>
              </a:p>
            </p:txBody>
          </p:sp>
        </p:grpSp>
      </p:grpSp>
      <p:sp>
        <p:nvSpPr>
          <p:cNvPr id="31" name="Rounded Rectangle 30"/>
          <p:cNvSpPr/>
          <p:nvPr/>
        </p:nvSpPr>
        <p:spPr bwMode="auto">
          <a:xfrm>
            <a:off x="2715125" y="4648200"/>
            <a:ext cx="1981200" cy="609600"/>
          </a:xfrm>
          <a:prstGeom prst="roundRect">
            <a:avLst/>
          </a:prstGeom>
          <a:solidFill>
            <a:srgbClr val="00009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en-US" sz="2000" dirty="0">
                <a:solidFill>
                  <a:schemeClr val="bg1"/>
                </a:solidFill>
              </a:rPr>
              <a:t>Microprocessor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051659" y="1600200"/>
            <a:ext cx="6941418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dirty="0">
                <a:latin typeface="Segoe UI" panose="020B0502040204020203" pitchFamily="34" charset="0"/>
                <a:cs typeface="Times New Roman" panose="02020603050405020304" pitchFamily="18" charset="0"/>
              </a:rPr>
              <a:t>Open interfaces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200" dirty="0">
                <a:latin typeface="Segoe UI" panose="020B0502040204020203" pitchFamily="34" charset="0"/>
                <a:cs typeface="Times New Roman" panose="02020603050405020304" pitchFamily="18" charset="0"/>
              </a:rPr>
              <a:t>Fast innovation</a:t>
            </a:r>
          </a:p>
          <a:p>
            <a:pPr marL="742950" lvl="2" indent="-342900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3200" dirty="0"/>
              <a:t> </a:t>
            </a:r>
            <a:r>
              <a:rPr lang="en-US" sz="2800" dirty="0">
                <a:latin typeface="Segoe UI" panose="020B0502040204020203" pitchFamily="34" charset="0"/>
                <a:cs typeface="Times New Roman" panose="02020603050405020304" pitchFamily="18" charset="0"/>
              </a:rPr>
              <a:t>Everyone can participate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en-US" sz="3200" dirty="0"/>
              <a:t>  </a:t>
            </a:r>
            <a:r>
              <a:rPr lang="en-US" sz="3200" dirty="0">
                <a:latin typeface="Segoe UI" panose="020B0502040204020203" pitchFamily="34" charset="0"/>
                <a:cs typeface="Times New Roman" panose="02020603050405020304" pitchFamily="18" charset="0"/>
              </a:rPr>
              <a:t>Industry</a:t>
            </a:r>
          </a:p>
          <a:p>
            <a:pPr marL="914400" lvl="1" indent="-457200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3200" dirty="0"/>
              <a:t> </a:t>
            </a:r>
            <a:r>
              <a:rPr lang="en-US" sz="2800" dirty="0">
                <a:latin typeface="Segoe UI" panose="020B0502040204020203" pitchFamily="34" charset="0"/>
                <a:cs typeface="Times New Roman" panose="02020603050405020304" pitchFamily="18" charset="0"/>
              </a:rPr>
              <a:t>Software is now part of everything.</a:t>
            </a:r>
          </a:p>
          <a:p>
            <a:pPr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</a:pPr>
            <a:r>
              <a:rPr lang="en-US" sz="3200" dirty="0"/>
              <a:t> </a:t>
            </a:r>
            <a:r>
              <a:rPr lang="en-US" sz="3200" dirty="0">
                <a:solidFill>
                  <a:schemeClr val="tx2">
                    <a:lumMod val="60000"/>
                    <a:lumOff val="40000"/>
                  </a:schemeClr>
                </a:solidFill>
                <a:latin typeface="Segoe UI" panose="020B0502040204020203" pitchFamily="34" charset="0"/>
                <a:cs typeface="Times New Roman" panose="02020603050405020304" pitchFamily="18" charset="0"/>
              </a:rPr>
              <a:t>To promote innovation, we must make network systems like this!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endParaRPr lang="en-US" sz="2400" dirty="0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8D8D08D8-0288-028F-9416-73F16DF0B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595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9C9EB-9F20-C014-AA5A-9E6B25DAC4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7153E-0752-1A0C-4D98-0E6A651DA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b="1" i="0" u="none" strike="noStrike" dirty="0">
                <a:effectLst/>
                <a:latin typeface="Segoe UI" panose="020B0502040204020203" pitchFamily="34" charset="0"/>
              </a:rPr>
              <a:t>Traditional vs. SDN Architecture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F9942F-A476-922C-DA16-BC1297883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8DE3DC-9DE4-78D4-071F-116E9E9449C7}"/>
              </a:ext>
            </a:extLst>
          </p:cNvPr>
          <p:cNvSpPr txBox="1"/>
          <p:nvPr/>
        </p:nvSpPr>
        <p:spPr>
          <a:xfrm>
            <a:off x="1175249" y="1974059"/>
            <a:ext cx="3949874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i="0" u="none" strike="noStrike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Network</a:t>
            </a:r>
          </a:p>
          <a:p>
            <a:pPr marL="285750" indent="-285750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sz="2400" b="0" i="0" u="none" strike="noStrike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Distributed control plane</a:t>
            </a:r>
          </a:p>
          <a:p>
            <a:pPr marL="285750" indent="-285750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sz="2400" b="0" i="0" u="none" strike="noStrike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Proprietary interfaces</a:t>
            </a:r>
          </a:p>
          <a:p>
            <a:pPr marL="285750" indent="-285750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sz="2400" b="0" i="0" u="none" strike="noStrike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Static configuration</a:t>
            </a:r>
          </a:p>
          <a:p>
            <a:pPr marL="285750" indent="-285750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sz="2400" b="0" i="0" u="none" strike="noStrike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Vendor lock-in</a:t>
            </a:r>
          </a:p>
          <a:p>
            <a:pPr marL="285750" indent="-285750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sz="2400" b="0" i="0" u="none" strike="noStrike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Complex management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2F9FC3-2381-905A-BBCE-2465E0833049}"/>
              </a:ext>
            </a:extLst>
          </p:cNvPr>
          <p:cNvSpPr txBox="1"/>
          <p:nvPr/>
        </p:nvSpPr>
        <p:spPr>
          <a:xfrm>
            <a:off x="6623214" y="1974058"/>
            <a:ext cx="3949874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SDN Network</a:t>
            </a:r>
          </a:p>
          <a:p>
            <a:pPr marL="285750" indent="-285750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Centralized control plane</a:t>
            </a:r>
          </a:p>
          <a:p>
            <a:pPr marL="285750" indent="-285750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Open, standard interfaces</a:t>
            </a:r>
          </a:p>
          <a:p>
            <a:pPr marL="285750" indent="-285750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 programmability</a:t>
            </a:r>
          </a:p>
          <a:p>
            <a:pPr marL="285750" indent="-285750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Vendor neutrality</a:t>
            </a:r>
          </a:p>
          <a:p>
            <a:pPr marL="285750" indent="-285750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Simplified management</a:t>
            </a:r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E36E45E8-44E5-B34E-2F71-FD0467B88F8B}"/>
              </a:ext>
            </a:extLst>
          </p:cNvPr>
          <p:cNvSpPr/>
          <p:nvPr/>
        </p:nvSpPr>
        <p:spPr>
          <a:xfrm>
            <a:off x="4831882" y="3205213"/>
            <a:ext cx="1453415" cy="885524"/>
          </a:xfrm>
          <a:prstGeom prst="right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B"/>
          </a:p>
        </p:txBody>
      </p:sp>
    </p:spTree>
    <p:extLst>
      <p:ext uri="{BB962C8B-B14F-4D97-AF65-F5344CB8AC3E}">
        <p14:creationId xmlns:p14="http://schemas.microsoft.com/office/powerpoint/2010/main" val="3096815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D54A30-1234-61A2-FF61-E68635CF7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57E80-62A5-A183-5D18-338D4AF2D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 rtl="0">
              <a:spcBef>
                <a:spcPts val="1875"/>
              </a:spcBef>
              <a:spcAft>
                <a:spcPts val="750"/>
              </a:spcAft>
            </a:pPr>
            <a:r>
              <a:rPr lang="en-US" b="1" i="0" u="none" strike="noStrike" dirty="0">
                <a:effectLst/>
                <a:latin typeface="Segoe UI" panose="020B0502040204020203" pitchFamily="34" charset="0"/>
              </a:rPr>
              <a:t>SDN Key Principles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1E3537-8956-4D50-E529-E62F37C79F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756149"/>
          </a:xfrm>
        </p:spPr>
        <p:txBody>
          <a:bodyPr>
            <a:normAutofit/>
          </a:bodyPr>
          <a:lstStyle/>
          <a:p>
            <a:pPr algn="l">
              <a:spcBef>
                <a:spcPts val="240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dirty="0">
                <a:effectLst/>
                <a:latin typeface="Segoe UI" panose="020B0502040204020203" pitchFamily="34" charset="0"/>
              </a:rPr>
              <a:t>Centralized Control:</a:t>
            </a:r>
            <a:r>
              <a:rPr lang="en-US" sz="2800" b="0" i="0" u="none" strike="noStrike" dirty="0">
                <a:effectLst/>
                <a:latin typeface="Segoe UI" panose="020B0502040204020203" pitchFamily="34" charset="0"/>
              </a:rPr>
              <a:t> Global network view and decision making</a:t>
            </a:r>
          </a:p>
          <a:p>
            <a:pPr algn="l">
              <a:spcBef>
                <a:spcPts val="240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dirty="0">
                <a:effectLst/>
                <a:latin typeface="Segoe UI" panose="020B0502040204020203" pitchFamily="34" charset="0"/>
              </a:rPr>
              <a:t>Programmability:</a:t>
            </a:r>
            <a:r>
              <a:rPr lang="en-US" sz="2800" b="0" i="0" u="none" strike="noStrike" dirty="0">
                <a:effectLst/>
                <a:latin typeface="Segoe UI" panose="020B0502040204020203" pitchFamily="34" charset="0"/>
              </a:rPr>
              <a:t> Software-defined network behavior</a:t>
            </a:r>
          </a:p>
          <a:p>
            <a:pPr algn="l">
              <a:spcBef>
                <a:spcPts val="240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dirty="0">
                <a:effectLst/>
                <a:latin typeface="Segoe UI" panose="020B0502040204020203" pitchFamily="34" charset="0"/>
              </a:rPr>
              <a:t>Abstraction:</a:t>
            </a:r>
            <a:r>
              <a:rPr lang="en-US" sz="2800" b="0" i="0" u="none" strike="noStrike" dirty="0">
                <a:effectLst/>
                <a:latin typeface="Segoe UI" panose="020B0502040204020203" pitchFamily="34" charset="0"/>
              </a:rPr>
              <a:t> Applications independent of hardware details</a:t>
            </a:r>
          </a:p>
          <a:p>
            <a:pPr algn="l">
              <a:spcBef>
                <a:spcPts val="2400"/>
              </a:spcBef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2800" b="1" i="0" u="none" strike="noStrike" dirty="0">
                <a:effectLst/>
                <a:latin typeface="Segoe UI" panose="020B0502040204020203" pitchFamily="34" charset="0"/>
              </a:rPr>
              <a:t>Openness:</a:t>
            </a:r>
            <a:r>
              <a:rPr lang="en-US" sz="2800" b="0" i="0" u="none" strike="noStrike" dirty="0">
                <a:effectLst/>
                <a:latin typeface="Segoe UI" panose="020B0502040204020203" pitchFamily="34" charset="0"/>
              </a:rPr>
              <a:t> Vendor-neutral and standards-based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348B79-C3C6-DE74-80DB-D2463B615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875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4A194-DB96-B681-2B40-D6D9C4F78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D9F1B-BDD4-D43E-2552-01F4D5534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956044"/>
          </a:xfrm>
        </p:spPr>
        <p:txBody>
          <a:bodyPr>
            <a:normAutofit/>
          </a:bodyPr>
          <a:lstStyle/>
          <a:p>
            <a:pPr algn="l">
              <a:spcBef>
                <a:spcPts val="1875"/>
              </a:spcBef>
              <a:spcAft>
                <a:spcPts val="750"/>
              </a:spcAft>
            </a:pPr>
            <a:r>
              <a:rPr lang="en-US" b="1" i="0" u="none" strike="noStrike" dirty="0">
                <a:effectLst/>
                <a:latin typeface="Segoe UI" panose="020B0502040204020203" pitchFamily="34" charset="0"/>
              </a:rPr>
              <a:t>SDN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40DD91-943A-3725-0B2D-C13743462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137" y="1420707"/>
            <a:ext cx="10972800" cy="641958"/>
          </a:xfrm>
        </p:spPr>
        <p:txBody>
          <a:bodyPr>
            <a:normAutofit/>
          </a:bodyPr>
          <a:lstStyle/>
          <a:p>
            <a:pPr algn="l" rtl="0">
              <a:spcBef>
                <a:spcPts val="1875"/>
              </a:spcBef>
              <a:spcAft>
                <a:spcPts val="750"/>
              </a:spcAft>
            </a:pPr>
            <a:r>
              <a:rPr lang="en-US" sz="2800" b="1" i="0" u="none" strike="noStrike" dirty="0">
                <a:effectLst/>
                <a:latin typeface="Segoe UI" panose="020B0502040204020203" pitchFamily="34" charset="0"/>
              </a:rPr>
              <a:t>SDN Architectural Components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774019-9F72-E640-11FA-79248DFEB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DE5AFE-ACEC-1B4F-13CB-2F4CD6DF29B5}"/>
              </a:ext>
            </a:extLst>
          </p:cNvPr>
          <p:cNvSpPr txBox="1"/>
          <p:nvPr/>
        </p:nvSpPr>
        <p:spPr>
          <a:xfrm>
            <a:off x="146137" y="2312403"/>
            <a:ext cx="534026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lvl="1" indent="-457200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effectLst/>
                <a:latin typeface="Segoe UI" panose="020B0502040204020203" pitchFamily="34" charset="0"/>
              </a:rPr>
              <a:t>Application Layer</a:t>
            </a:r>
          </a:p>
          <a:p>
            <a:pPr marL="914400" lvl="1" indent="-457200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effectLst/>
                <a:latin typeface="Segoe UI" panose="020B0502040204020203" pitchFamily="34" charset="0"/>
              </a:rPr>
              <a:t>Control Layer</a:t>
            </a:r>
          </a:p>
          <a:p>
            <a:pPr marL="914400" lvl="1" indent="-457200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effectLst/>
                <a:latin typeface="Segoe UI" panose="020B0502040204020203" pitchFamily="34" charset="0"/>
              </a:rPr>
              <a:t>Infrastructure Layer</a:t>
            </a:r>
          </a:p>
          <a:p>
            <a:pPr marL="914400" lvl="1" indent="-457200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sz="2800" b="0" i="0" u="none" strike="noStrike" dirty="0">
                <a:effectLst/>
                <a:latin typeface="Segoe UI" panose="020B0502040204020203" pitchFamily="34" charset="0"/>
              </a:rPr>
              <a:t>Southbound and Northbound APIs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37F8D5-4465-FFD0-F4D1-AA25E918BF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7364" y="2100937"/>
            <a:ext cx="7389631" cy="3285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21066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09EEB-64F0-F347-960C-F8D3CC193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3EA80-9743-477B-4E5E-E201D77A8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956044"/>
          </a:xfrm>
        </p:spPr>
        <p:txBody>
          <a:bodyPr>
            <a:normAutofit/>
          </a:bodyPr>
          <a:lstStyle/>
          <a:p>
            <a:pPr algn="l">
              <a:spcBef>
                <a:spcPts val="1875"/>
              </a:spcBef>
              <a:spcAft>
                <a:spcPts val="750"/>
              </a:spcAft>
            </a:pPr>
            <a:r>
              <a:rPr lang="en-US" b="1" i="0" u="none" strike="noStrike" dirty="0">
                <a:effectLst/>
                <a:latin typeface="Segoe UI" panose="020B0502040204020203" pitchFamily="34" charset="0"/>
              </a:rPr>
              <a:t>SDN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61A95-81BA-5E21-C713-3797258A12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137" y="1362296"/>
            <a:ext cx="10972800" cy="641958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ts val="1875"/>
              </a:spcBef>
              <a:spcAft>
                <a:spcPts val="750"/>
              </a:spcAft>
            </a:pPr>
            <a:r>
              <a:rPr lang="en-US" sz="2800" b="1" dirty="0">
                <a:latin typeface="Segoe UI" panose="020B0502040204020203" pitchFamily="34" charset="0"/>
              </a:rPr>
              <a:t>Layer Responsibilities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C0750-94F9-247E-D82A-09A196A4E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995C3C0-179F-98A9-790D-0346ACD7C5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7179" y="241799"/>
            <a:ext cx="3607496" cy="174730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08F5981-D234-307C-FDA9-D0F5941C674F}"/>
              </a:ext>
            </a:extLst>
          </p:cNvPr>
          <p:cNvSpPr txBox="1"/>
          <p:nvPr/>
        </p:nvSpPr>
        <p:spPr>
          <a:xfrm>
            <a:off x="584547" y="2014654"/>
            <a:ext cx="11290127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spcBef>
                <a:spcPts val="1800"/>
              </a:spcBef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en-US" sz="2600" b="1" i="0" u="none" strike="noStrike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Application Layer:</a:t>
            </a:r>
            <a:r>
              <a:rPr lang="en-US" sz="2600" b="0" i="0" u="none" strike="noStrike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 Business logic, network services, applications</a:t>
            </a:r>
          </a:p>
          <a:p>
            <a:pPr marL="457200" indent="-457200" algn="l">
              <a:spcBef>
                <a:spcPts val="1800"/>
              </a:spcBef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en-US" sz="2600" b="1" i="0" u="none" strike="noStrike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Control Layer:</a:t>
            </a:r>
            <a:r>
              <a:rPr lang="en-US" sz="2600" b="0" i="0" u="none" strike="noStrike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 Network intelligence, policy enforcement, orchestration</a:t>
            </a:r>
          </a:p>
          <a:p>
            <a:pPr marL="457200" indent="-457200" algn="l">
              <a:spcBef>
                <a:spcPts val="1800"/>
              </a:spcBef>
              <a:spcAft>
                <a:spcPts val="1200"/>
              </a:spcAft>
              <a:buFont typeface="Courier New" panose="02070309020205020404" pitchFamily="49" charset="0"/>
              <a:buChar char="o"/>
            </a:pPr>
            <a:r>
              <a:rPr lang="en-US" sz="2600" b="1" i="0" u="none" strike="noStrike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Infrastructure Layer:</a:t>
            </a:r>
            <a:r>
              <a:rPr lang="en-US" sz="2600" b="0" i="0" u="none" strike="noStrike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 Packet forwarding, switching, routing hardware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47D85F-0B9B-3AD2-A396-C35CB9387F33}"/>
              </a:ext>
            </a:extLst>
          </p:cNvPr>
          <p:cNvSpPr txBox="1"/>
          <p:nvPr/>
        </p:nvSpPr>
        <p:spPr>
          <a:xfrm>
            <a:off x="341333" y="4330236"/>
            <a:ext cx="4005199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spcBef>
                <a:spcPts val="1875"/>
              </a:spcBef>
              <a:spcAft>
                <a:spcPts val="750"/>
              </a:spcAft>
              <a:buFont typeface="Arial"/>
              <a:buChar char="•"/>
              <a:defRPr sz="2800" b="1">
                <a:latin typeface="Segoe UI" panose="020B0502040204020203" pitchFamily="34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r>
              <a:rPr lang="en-US" dirty="0"/>
              <a:t>API Functions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8BB6314-F104-5B82-903D-B7C6ECFB0823}"/>
              </a:ext>
            </a:extLst>
          </p:cNvPr>
          <p:cNvSpPr txBox="1"/>
          <p:nvPr/>
        </p:nvSpPr>
        <p:spPr>
          <a:xfrm>
            <a:off x="584547" y="4992848"/>
            <a:ext cx="1099785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spcBef>
                <a:spcPts val="12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600" b="1" i="0" u="none" strike="noStrike" dirty="0">
                <a:effectLst/>
                <a:latin typeface="Segoe UI" panose="020B0502040204020203" pitchFamily="34" charset="0"/>
              </a:rPr>
              <a:t>Northbound APIs:</a:t>
            </a:r>
            <a:r>
              <a:rPr lang="en-US" sz="2600" b="0" i="0" u="none" strike="noStrike" dirty="0">
                <a:effectLst/>
                <a:latin typeface="Segoe UI" panose="020B0502040204020203" pitchFamily="34" charset="0"/>
              </a:rPr>
              <a:t> Controller-to-application communication</a:t>
            </a:r>
          </a:p>
          <a:p>
            <a:pPr marL="457200" indent="-457200" algn="l">
              <a:spcBef>
                <a:spcPts val="12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600" b="1" i="0" u="none" strike="noStrike" dirty="0">
                <a:effectLst/>
                <a:latin typeface="Segoe UI" panose="020B0502040204020203" pitchFamily="34" charset="0"/>
              </a:rPr>
              <a:t>Southbound APIs:</a:t>
            </a:r>
            <a:r>
              <a:rPr lang="en-US" sz="2600" b="0" i="0" u="none" strike="noStrike" dirty="0">
                <a:effectLst/>
                <a:latin typeface="Segoe UI" panose="020B0502040204020203" pitchFamily="34" charset="0"/>
              </a:rPr>
              <a:t> Controller-to-infrastructure communication</a:t>
            </a:r>
          </a:p>
          <a:p>
            <a:pPr marL="457200" indent="-457200" algn="l">
              <a:spcBef>
                <a:spcPts val="12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600" b="1" i="0" u="none" strike="noStrike" dirty="0">
                <a:effectLst/>
                <a:latin typeface="Segoe UI" panose="020B0502040204020203" pitchFamily="34" charset="0"/>
              </a:rPr>
              <a:t>Eastbound/Westbound:</a:t>
            </a:r>
            <a:r>
              <a:rPr lang="en-US" sz="2600" b="0" i="0" u="none" strike="noStrike" dirty="0">
                <a:effectLst/>
                <a:latin typeface="Segoe UI" panose="020B0502040204020203" pitchFamily="34" charset="0"/>
              </a:rPr>
              <a:t> Inter-controller communication</a:t>
            </a:r>
          </a:p>
        </p:txBody>
      </p:sp>
    </p:spTree>
    <p:extLst>
      <p:ext uri="{BB962C8B-B14F-4D97-AF65-F5344CB8AC3E}">
        <p14:creationId xmlns:p14="http://schemas.microsoft.com/office/powerpoint/2010/main" val="36198927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0C7B1-86DE-DCC3-EB82-0EA3D0F4C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3DEFA-8B7E-8E50-70B4-028926B90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9560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Bef>
                <a:spcPts val="1875"/>
              </a:spcBef>
              <a:spcAft>
                <a:spcPts val="750"/>
              </a:spcAft>
            </a:pPr>
            <a:r>
              <a:rPr lang="en-US" b="1" dirty="0">
                <a:latin typeface="Segoe UI" panose="020B0502040204020203" pitchFamily="34" charset="0"/>
              </a:rPr>
              <a:t>Control Plane vs Data Plane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36818-1396-BD33-8DA5-BEF9D2BA17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137" y="1211984"/>
            <a:ext cx="10972800" cy="641958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ts val="1875"/>
              </a:spcBef>
              <a:spcAft>
                <a:spcPts val="750"/>
              </a:spcAft>
            </a:pPr>
            <a:r>
              <a:rPr lang="en-US" sz="2800" b="1" dirty="0">
                <a:latin typeface="Segoe UI" panose="020B0502040204020203" pitchFamily="34" charset="0"/>
              </a:rPr>
              <a:t>Plane Separation Concept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CF4F86-1C19-4A3E-9ED3-B5B50D5F5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350A82-9C3D-7060-57DA-51B668239374}"/>
              </a:ext>
            </a:extLst>
          </p:cNvPr>
          <p:cNvSpPr txBox="1"/>
          <p:nvPr/>
        </p:nvSpPr>
        <p:spPr>
          <a:xfrm>
            <a:off x="471813" y="1751608"/>
            <a:ext cx="1129012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113" lvl="1">
              <a:spcBef>
                <a:spcPts val="750"/>
              </a:spcBef>
              <a:spcAft>
                <a:spcPts val="750"/>
              </a:spcAft>
            </a:pPr>
            <a:r>
              <a:rPr lang="en-US" sz="2800" dirty="0">
                <a:latin typeface="Segoe UI" panose="020B0502040204020203" pitchFamily="34" charset="0"/>
              </a:rPr>
              <a:t>SDN fundamentally separates the </a:t>
            </a:r>
            <a:r>
              <a:rPr lang="en-US" sz="28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Segoe UI" panose="020B0502040204020203" pitchFamily="34" charset="0"/>
              </a:rPr>
              <a:t>control</a:t>
            </a:r>
            <a:r>
              <a:rPr lang="en-US" sz="2800" dirty="0">
                <a:latin typeface="Segoe UI" panose="020B0502040204020203" pitchFamily="34" charset="0"/>
              </a:rPr>
              <a:t> plane (network intelligence) from the </a:t>
            </a:r>
            <a:r>
              <a:rPr lang="en-US" sz="2800" b="1" i="1" dirty="0">
                <a:solidFill>
                  <a:schemeClr val="tx2">
                    <a:lumMod val="60000"/>
                    <a:lumOff val="40000"/>
                  </a:schemeClr>
                </a:solidFill>
                <a:latin typeface="Segoe UI" panose="020B0502040204020203" pitchFamily="34" charset="0"/>
              </a:rPr>
              <a:t>data</a:t>
            </a:r>
            <a:r>
              <a:rPr lang="en-US" sz="2800" dirty="0">
                <a:latin typeface="Segoe UI" panose="020B0502040204020203" pitchFamily="34" charset="0"/>
              </a:rPr>
              <a:t> plane (packet forwarding), enabling centralized control and programmable network behavior.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D44254-3B69-43C0-8C2C-D08DC6E9B9DC}"/>
              </a:ext>
            </a:extLst>
          </p:cNvPr>
          <p:cNvSpPr txBox="1"/>
          <p:nvPr/>
        </p:nvSpPr>
        <p:spPr>
          <a:xfrm>
            <a:off x="146137" y="3284303"/>
            <a:ext cx="9285962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spcBef>
                <a:spcPts val="1875"/>
              </a:spcBef>
              <a:spcAft>
                <a:spcPts val="750"/>
              </a:spcAft>
              <a:buFont typeface="Arial"/>
              <a:buChar char="•"/>
              <a:defRPr sz="2800" b="1">
                <a:latin typeface="Segoe UI" panose="020B0502040204020203" pitchFamily="34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r>
              <a:rPr lang="en-US" dirty="0"/>
              <a:t>Plane Comparison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344CF6F-126E-597C-9469-C3D7372594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5175764"/>
              </p:ext>
            </p:extLst>
          </p:nvPr>
        </p:nvGraphicFramePr>
        <p:xfrm>
          <a:off x="870037" y="4048422"/>
          <a:ext cx="10248900" cy="2590800"/>
        </p:xfrm>
        <a:graphic>
          <a:graphicData uri="http://schemas.openxmlformats.org/drawingml/2006/table">
            <a:tbl>
              <a:tblPr/>
              <a:tblGrid>
                <a:gridCol w="2361678">
                  <a:extLst>
                    <a:ext uri="{9D8B030D-6E8A-4147-A177-3AD203B41FA5}">
                      <a16:colId xmlns:a16="http://schemas.microsoft.com/office/drawing/2014/main" val="1171257488"/>
                    </a:ext>
                  </a:extLst>
                </a:gridCol>
                <a:gridCol w="3832964">
                  <a:extLst>
                    <a:ext uri="{9D8B030D-6E8A-4147-A177-3AD203B41FA5}">
                      <a16:colId xmlns:a16="http://schemas.microsoft.com/office/drawing/2014/main" val="2583716536"/>
                    </a:ext>
                  </a:extLst>
                </a:gridCol>
                <a:gridCol w="4054258">
                  <a:extLst>
                    <a:ext uri="{9D8B030D-6E8A-4147-A177-3AD203B41FA5}">
                      <a16:colId xmlns:a16="http://schemas.microsoft.com/office/drawing/2014/main" val="15913413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</a:rPr>
                        <a:t>Aspect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CEA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</a:rPr>
                        <a:t>Control Plane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CEA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solidFill>
                            <a:schemeClr val="tx1"/>
                          </a:solidFill>
                          <a:effectLst/>
                        </a:rPr>
                        <a:t>Data Plane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CEA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49655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Function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Network intelligence &amp; decisions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Packet forwarding &amp; processing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3267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Location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Centralized controller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Distributed switches/routers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8270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Processing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Control messages, topology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User data packets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02125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Performance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Scalability focused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Throughput &amp; latency focused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31687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Programmability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Highly programmable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Hardware-optimized</a:t>
                      </a:r>
                    </a:p>
                  </a:txBody>
                  <a:tcPr marL="76200" marR="76200" marT="76200" marB="76200" anchor="ctr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62444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98901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A40637-158D-FD8B-69B9-3A1ABAFD3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74F34-26F2-ED6F-3124-597D8C9E5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9560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Bef>
                <a:spcPts val="1875"/>
              </a:spcBef>
              <a:spcAft>
                <a:spcPts val="750"/>
              </a:spcAft>
            </a:pPr>
            <a:r>
              <a:rPr lang="en-US" b="1" dirty="0">
                <a:latin typeface="Segoe UI" panose="020B0502040204020203" pitchFamily="34" charset="0"/>
              </a:rPr>
              <a:t>Control Plane vs Data Plane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7A0B5-45C4-6FBE-65D4-05DB6CE63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137" y="1299666"/>
            <a:ext cx="10972800" cy="641958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ts val="1875"/>
              </a:spcBef>
              <a:spcAft>
                <a:spcPts val="750"/>
              </a:spcAft>
            </a:pPr>
            <a:r>
              <a:rPr lang="en-US" sz="2800" b="1" dirty="0">
                <a:latin typeface="Segoe UI" panose="020B0502040204020203" pitchFamily="34" charset="0"/>
              </a:rPr>
              <a:t>Benefits of Separation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5640BB-5725-85C3-B1C7-ED036B3A4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F451AD-4C96-CB1C-CAFB-969E86B16227}"/>
              </a:ext>
            </a:extLst>
          </p:cNvPr>
          <p:cNvSpPr txBox="1"/>
          <p:nvPr/>
        </p:nvSpPr>
        <p:spPr>
          <a:xfrm>
            <a:off x="501041" y="2054593"/>
            <a:ext cx="5373666" cy="37950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  <a:spcAft>
                <a:spcPts val="750"/>
              </a:spcAft>
            </a:pPr>
            <a:r>
              <a:rPr lang="en-US" sz="2400" b="1" dirty="0">
                <a:solidFill>
                  <a:srgbClr val="333333"/>
                </a:solidFill>
                <a:latin typeface="Segoe UI" panose="020B0502040204020203" pitchFamily="34" charset="0"/>
              </a:rPr>
              <a:t>Control Plane Benefits: 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750"/>
              </a:spcAft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333333"/>
                </a:solidFill>
                <a:latin typeface="Segoe UI" panose="020B0502040204020203" pitchFamily="34" charset="0"/>
              </a:rPr>
              <a:t>Global network view 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750"/>
              </a:spcAft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333333"/>
                </a:solidFill>
                <a:latin typeface="Segoe UI" panose="020B0502040204020203" pitchFamily="34" charset="0"/>
              </a:rPr>
              <a:t>Centralized policy enforcement 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750"/>
              </a:spcAft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333333"/>
                </a:solidFill>
                <a:latin typeface="Segoe UI" panose="020B0502040204020203" pitchFamily="34" charset="0"/>
              </a:rPr>
              <a:t>Simplified network management 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750"/>
              </a:spcAft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333333"/>
                </a:solidFill>
                <a:latin typeface="Segoe UI" panose="020B0502040204020203" pitchFamily="34" charset="0"/>
              </a:rPr>
              <a:t>Rapid service deployment 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750"/>
              </a:spcAft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333333"/>
                </a:solidFill>
                <a:latin typeface="Segoe UI" panose="020B0502040204020203" pitchFamily="34" charset="0"/>
              </a:rPr>
              <a:t>Vendor independence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F44290-47CA-518E-D2A3-CA747D56B24B}"/>
              </a:ext>
            </a:extLst>
          </p:cNvPr>
          <p:cNvSpPr txBox="1"/>
          <p:nvPr/>
        </p:nvSpPr>
        <p:spPr>
          <a:xfrm>
            <a:off x="5874707" y="2054593"/>
            <a:ext cx="6030935" cy="36924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solidFill>
                  <a:srgbClr val="333333"/>
                </a:solidFill>
                <a:latin typeface="Segoe UI" panose="020B0502040204020203" pitchFamily="34" charset="0"/>
              </a:rPr>
              <a:t>Data Plane Benefits: 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750"/>
              </a:spcAft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333333"/>
                </a:solidFill>
                <a:latin typeface="Segoe UI" panose="020B0502040204020203" pitchFamily="34" charset="0"/>
              </a:rPr>
              <a:t>Hardware-optimized forwarding 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750"/>
              </a:spcAft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333333"/>
                </a:solidFill>
                <a:latin typeface="Segoe UI" panose="020B0502040204020203" pitchFamily="34" charset="0"/>
              </a:rPr>
              <a:t>High throughput performance 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750"/>
              </a:spcAft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333333"/>
                </a:solidFill>
                <a:latin typeface="Segoe UI" panose="020B0502040204020203" pitchFamily="34" charset="0"/>
              </a:rPr>
              <a:t>Low latency packet processing 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750"/>
              </a:spcAft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333333"/>
                </a:solidFill>
                <a:latin typeface="Segoe UI" panose="020B0502040204020203" pitchFamily="34" charset="0"/>
              </a:rPr>
              <a:t>Simplified switch design 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750"/>
              </a:spcAft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333333"/>
                </a:solidFill>
                <a:latin typeface="Segoe UI" panose="020B0502040204020203" pitchFamily="34" charset="0"/>
              </a:rPr>
              <a:t>Cost-effective infrastructure</a:t>
            </a:r>
            <a:endParaRPr lang="en-LB" sz="2000" dirty="0">
              <a:solidFill>
                <a:srgbClr val="333333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77531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B3591-201D-6FA8-39FB-D86CF1AD3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B996C-2786-1607-3A3A-966F995BB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9560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Bef>
                <a:spcPts val="1875"/>
              </a:spcBef>
              <a:spcAft>
                <a:spcPts val="750"/>
              </a:spcAft>
            </a:pPr>
            <a:r>
              <a:rPr lang="en-US" b="1" dirty="0">
                <a:latin typeface="Segoe UI" panose="020B0502040204020203" pitchFamily="34" charset="0"/>
              </a:rPr>
              <a:t>SDN Controllers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1D249C-7019-BA25-0E20-B5F80992F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914B5D-79B3-F492-2FB7-197612FE26FD}"/>
              </a:ext>
            </a:extLst>
          </p:cNvPr>
          <p:cNvSpPr txBox="1"/>
          <p:nvPr/>
        </p:nvSpPr>
        <p:spPr>
          <a:xfrm>
            <a:off x="301557" y="1226053"/>
            <a:ext cx="6094378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spcBef>
                <a:spcPts val="1875"/>
              </a:spcBef>
              <a:spcAft>
                <a:spcPts val="750"/>
              </a:spcAft>
              <a:buFont typeface="Arial"/>
              <a:buChar char="•"/>
              <a:defRPr sz="2800" b="1">
                <a:latin typeface="Segoe UI" panose="020B0502040204020203" pitchFamily="34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r>
              <a:rPr lang="en-US" dirty="0"/>
              <a:t>Controller Functions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6FC0D1-E486-4F9C-11A5-72E56FE18616}"/>
              </a:ext>
            </a:extLst>
          </p:cNvPr>
          <p:cNvSpPr txBox="1"/>
          <p:nvPr/>
        </p:nvSpPr>
        <p:spPr>
          <a:xfrm>
            <a:off x="609600" y="1720082"/>
            <a:ext cx="11112230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200" b="1" i="0" u="none" strike="noStrike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Network View:</a:t>
            </a:r>
            <a:r>
              <a:rPr lang="en-US" sz="2200" b="0" i="0" u="none" strike="noStrike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 Maintain global topology and state</a:t>
            </a:r>
          </a:p>
          <a:p>
            <a:pPr marL="342900" indent="-342900" algn="l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200" b="1" i="0" u="none" strike="noStrike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Policy Enforcement:</a:t>
            </a:r>
            <a:r>
              <a:rPr lang="en-US" sz="2200" b="0" i="0" u="none" strike="noStrike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 Implement network policies</a:t>
            </a:r>
          </a:p>
          <a:p>
            <a:pPr marL="342900" indent="-342900" algn="l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200" b="1" i="0" u="none" strike="noStrike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Flow Management:</a:t>
            </a:r>
            <a:r>
              <a:rPr lang="en-US" sz="2200" b="0" i="0" u="none" strike="noStrike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 Install and manage flow rules</a:t>
            </a:r>
          </a:p>
          <a:p>
            <a:pPr marL="342900" indent="-342900" algn="l"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en-US" sz="2200" b="1" i="0" u="none" strike="noStrike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Application Interface:</a:t>
            </a:r>
            <a:r>
              <a:rPr lang="en-US" sz="2200" b="0" i="0" u="none" strike="noStrike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 Provide northbound APIs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5CA12C-51AE-4C23-17E3-215EDD115F9B}"/>
              </a:ext>
            </a:extLst>
          </p:cNvPr>
          <p:cNvSpPr txBox="1"/>
          <p:nvPr/>
        </p:nvSpPr>
        <p:spPr>
          <a:xfrm>
            <a:off x="301557" y="3752832"/>
            <a:ext cx="6094378" cy="5232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342900" indent="-342900">
              <a:spcBef>
                <a:spcPts val="1875"/>
              </a:spcBef>
              <a:spcAft>
                <a:spcPts val="750"/>
              </a:spcAft>
              <a:buFont typeface="Arial"/>
              <a:buChar char="•"/>
              <a:defRPr sz="2800" b="1">
                <a:latin typeface="Segoe UI" panose="020B0502040204020203" pitchFamily="34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r>
              <a:rPr lang="en-US" dirty="0"/>
              <a:t>Popular SDN Controllers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D1DCF6-A183-2973-57C2-0E07535D68AD}"/>
              </a:ext>
            </a:extLst>
          </p:cNvPr>
          <p:cNvSpPr txBox="1"/>
          <p:nvPr/>
        </p:nvSpPr>
        <p:spPr>
          <a:xfrm>
            <a:off x="609600" y="4346759"/>
            <a:ext cx="4944894" cy="2287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i="0" u="none" strike="noStrike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Open Source Controllers</a:t>
            </a:r>
          </a:p>
          <a:p>
            <a:pPr marL="285750" indent="-285750" algn="l">
              <a:spcBef>
                <a:spcPts val="750"/>
              </a:spcBef>
              <a:spcAft>
                <a:spcPts val="750"/>
              </a:spcAft>
              <a:buFont typeface="Courier New" panose="02070309020205020404" pitchFamily="49" charset="0"/>
              <a:buChar char="o"/>
            </a:pPr>
            <a:r>
              <a:rPr lang="en-US" b="1" i="0" u="none" strike="noStrike" dirty="0" err="1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OpenDaylight</a:t>
            </a:r>
            <a:r>
              <a:rPr lang="en-US" b="1" i="0" u="none" strike="noStrike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:</a:t>
            </a:r>
            <a:r>
              <a:rPr lang="en-US" b="0" i="0" u="none" strike="noStrike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 Java-based, modular</a:t>
            </a:r>
          </a:p>
          <a:p>
            <a:pPr marL="285750" indent="-285750" algn="l">
              <a:spcBef>
                <a:spcPts val="750"/>
              </a:spcBef>
              <a:spcAft>
                <a:spcPts val="750"/>
              </a:spcAft>
              <a:buFont typeface="Courier New" panose="02070309020205020404" pitchFamily="49" charset="0"/>
              <a:buChar char="o"/>
            </a:pPr>
            <a:r>
              <a:rPr lang="en-US" b="1" i="0" u="none" strike="noStrike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ONOS:</a:t>
            </a:r>
            <a:r>
              <a:rPr lang="en-US" b="0" i="0" u="none" strike="noStrike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 Carrier-grade, high availability</a:t>
            </a:r>
          </a:p>
          <a:p>
            <a:pPr marL="285750" indent="-285750" algn="l">
              <a:spcBef>
                <a:spcPts val="750"/>
              </a:spcBef>
              <a:spcAft>
                <a:spcPts val="750"/>
              </a:spcAft>
              <a:buFont typeface="Courier New" panose="02070309020205020404" pitchFamily="49" charset="0"/>
              <a:buChar char="o"/>
            </a:pPr>
            <a:r>
              <a:rPr lang="en-US" b="1" i="0" u="none" strike="noStrike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Floodlight:</a:t>
            </a:r>
            <a:r>
              <a:rPr lang="en-US" b="0" i="0" u="none" strike="noStrike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 Simple, REST APIs</a:t>
            </a:r>
          </a:p>
          <a:p>
            <a:pPr marL="285750" indent="-285750" algn="l">
              <a:spcBef>
                <a:spcPts val="750"/>
              </a:spcBef>
              <a:spcAft>
                <a:spcPts val="750"/>
              </a:spcAft>
              <a:buFont typeface="Courier New" panose="02070309020205020404" pitchFamily="49" charset="0"/>
              <a:buChar char="o"/>
            </a:pPr>
            <a:r>
              <a:rPr lang="en-US" b="1" i="0" u="none" strike="noStrike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Ryu:</a:t>
            </a:r>
            <a:r>
              <a:rPr lang="en-US" b="0" i="0" u="none" strike="noStrike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 Python-based, component architecture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C3386B-1913-67EA-5620-4E390FB223F3}"/>
              </a:ext>
            </a:extLst>
          </p:cNvPr>
          <p:cNvSpPr txBox="1"/>
          <p:nvPr/>
        </p:nvSpPr>
        <p:spPr>
          <a:xfrm>
            <a:off x="6097622" y="4346759"/>
            <a:ext cx="6094378" cy="2287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1" dirty="0">
                <a:solidFill>
                  <a:srgbClr val="333333"/>
                </a:solidFill>
                <a:latin typeface="Segoe UI" panose="020B0502040204020203" pitchFamily="34" charset="0"/>
              </a:rPr>
              <a:t>Commercial Controllers</a:t>
            </a:r>
          </a:p>
          <a:p>
            <a:pPr marL="285750" indent="-285750" algn="l">
              <a:spcBef>
                <a:spcPts val="750"/>
              </a:spcBef>
              <a:spcAft>
                <a:spcPts val="750"/>
              </a:spcAft>
              <a:buFont typeface="Courier New" panose="02070309020205020404" pitchFamily="49" charset="0"/>
              <a:buChar char="o"/>
            </a:pPr>
            <a:r>
              <a:rPr lang="en-US" b="1" i="0" u="none" strike="noStrike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Cisco APIC:</a:t>
            </a:r>
            <a:r>
              <a:rPr lang="en-US" b="0" i="0" u="none" strike="noStrike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 Application Policy Infrastructure</a:t>
            </a:r>
          </a:p>
          <a:p>
            <a:pPr marL="285750" indent="-285750" algn="l">
              <a:spcBef>
                <a:spcPts val="750"/>
              </a:spcBef>
              <a:spcAft>
                <a:spcPts val="750"/>
              </a:spcAft>
              <a:buFont typeface="Courier New" panose="02070309020205020404" pitchFamily="49" charset="0"/>
              <a:buChar char="o"/>
            </a:pPr>
            <a:r>
              <a:rPr lang="en-US" b="1" i="0" u="none" strike="noStrike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VMware NSX:</a:t>
            </a:r>
            <a:r>
              <a:rPr lang="en-US" b="0" i="0" u="none" strike="noStrike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 Network virtualization</a:t>
            </a:r>
          </a:p>
          <a:p>
            <a:pPr marL="285750" indent="-285750" algn="l">
              <a:spcBef>
                <a:spcPts val="750"/>
              </a:spcBef>
              <a:spcAft>
                <a:spcPts val="750"/>
              </a:spcAft>
              <a:buFont typeface="Courier New" panose="02070309020205020404" pitchFamily="49" charset="0"/>
              <a:buChar char="o"/>
            </a:pPr>
            <a:r>
              <a:rPr lang="en-US" b="1" i="0" u="none" strike="noStrike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Juniper Contrail:</a:t>
            </a:r>
            <a:r>
              <a:rPr lang="en-US" b="0" i="0" u="none" strike="noStrike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 Virtual networking</a:t>
            </a:r>
          </a:p>
          <a:p>
            <a:pPr marL="285750" indent="-285750" algn="l">
              <a:spcBef>
                <a:spcPts val="750"/>
              </a:spcBef>
              <a:spcAft>
                <a:spcPts val="750"/>
              </a:spcAft>
              <a:buFont typeface="Courier New" panose="02070309020205020404" pitchFamily="49" charset="0"/>
              <a:buChar char="o"/>
            </a:pPr>
            <a:r>
              <a:rPr lang="en-US" b="1" i="0" u="none" strike="noStrike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Big Switch Big Cloud Fabric:</a:t>
            </a:r>
            <a:r>
              <a:rPr lang="en-US" b="0" i="0" u="none" strike="noStrike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 Data center</a:t>
            </a:r>
          </a:p>
        </p:txBody>
      </p:sp>
    </p:spTree>
    <p:extLst>
      <p:ext uri="{BB962C8B-B14F-4D97-AF65-F5344CB8AC3E}">
        <p14:creationId xmlns:p14="http://schemas.microsoft.com/office/powerpoint/2010/main" val="18032922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8870D-9196-32DB-EA9B-9DDF2C0FA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693BA-0705-3CFE-524B-61BC35C5B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9560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Bef>
                <a:spcPts val="1875"/>
              </a:spcBef>
              <a:spcAft>
                <a:spcPts val="750"/>
              </a:spcAft>
            </a:pPr>
            <a:r>
              <a:rPr lang="en-US" b="1" dirty="0">
                <a:latin typeface="Segoe UI" panose="020B0502040204020203" pitchFamily="34" charset="0"/>
              </a:rPr>
              <a:t>SDN Controllers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DEC4E2-C13F-E934-4487-87F8A150F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022347-C468-3B01-F455-3A9920A97BDD}"/>
              </a:ext>
            </a:extLst>
          </p:cNvPr>
          <p:cNvSpPr txBox="1"/>
          <p:nvPr/>
        </p:nvSpPr>
        <p:spPr>
          <a:xfrm>
            <a:off x="301557" y="1226052"/>
            <a:ext cx="8589524" cy="7761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spcBef>
                <a:spcPts val="1875"/>
              </a:spcBef>
              <a:spcAft>
                <a:spcPts val="750"/>
              </a:spcAft>
              <a:buFont typeface="Arial"/>
              <a:buChar char="•"/>
              <a:defRPr sz="2800" b="1">
                <a:latin typeface="Segoe UI" panose="020B0502040204020203" pitchFamily="34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r>
              <a:rPr lang="en-US" sz="3200" dirty="0"/>
              <a:t>Controller Architecture Patterns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4BBCAAC-2060-4CEF-7EA9-C3B1A778B962}"/>
              </a:ext>
            </a:extLst>
          </p:cNvPr>
          <p:cNvSpPr txBox="1"/>
          <p:nvPr/>
        </p:nvSpPr>
        <p:spPr>
          <a:xfrm>
            <a:off x="609600" y="2002184"/>
            <a:ext cx="11112230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Bef>
                <a:spcPts val="750"/>
              </a:spcBef>
              <a:spcAft>
                <a:spcPts val="750"/>
              </a:spcAft>
              <a:buFont typeface="Courier New" panose="02070309020205020404" pitchFamily="49" charset="0"/>
              <a:buChar char="o"/>
            </a:pPr>
            <a:r>
              <a:rPr lang="en-US" sz="2800" b="1" i="0" u="none" strike="noStrike" dirty="0">
                <a:effectLst/>
                <a:latin typeface="Segoe UI" panose="020B0502040204020203" pitchFamily="34" charset="0"/>
              </a:rPr>
              <a:t>Centralized:</a:t>
            </a:r>
            <a:r>
              <a:rPr lang="en-US" sz="2800" b="0" i="0" u="none" strike="noStrike" dirty="0">
                <a:effectLst/>
                <a:latin typeface="Segoe UI" panose="020B0502040204020203" pitchFamily="34" charset="0"/>
              </a:rPr>
              <a:t> Single controller instance</a:t>
            </a:r>
          </a:p>
          <a:p>
            <a:pPr marL="342900" indent="-342900" algn="l">
              <a:spcBef>
                <a:spcPts val="750"/>
              </a:spcBef>
              <a:spcAft>
                <a:spcPts val="750"/>
              </a:spcAft>
              <a:buFont typeface="Courier New" panose="02070309020205020404" pitchFamily="49" charset="0"/>
              <a:buChar char="o"/>
            </a:pPr>
            <a:r>
              <a:rPr lang="en-US" sz="2800" b="1" i="0" u="none" strike="noStrike" dirty="0">
                <a:effectLst/>
                <a:latin typeface="Segoe UI" panose="020B0502040204020203" pitchFamily="34" charset="0"/>
              </a:rPr>
              <a:t>Hierarchical:</a:t>
            </a:r>
            <a:r>
              <a:rPr lang="en-US" sz="2800" b="0" i="0" u="none" strike="noStrike" dirty="0">
                <a:effectLst/>
                <a:latin typeface="Segoe UI" panose="020B0502040204020203" pitchFamily="34" charset="0"/>
              </a:rPr>
              <a:t> Master-slave controller relationships</a:t>
            </a:r>
          </a:p>
          <a:p>
            <a:pPr marL="342900" indent="-342900" algn="l">
              <a:spcBef>
                <a:spcPts val="750"/>
              </a:spcBef>
              <a:spcAft>
                <a:spcPts val="750"/>
              </a:spcAft>
              <a:buFont typeface="Courier New" panose="02070309020205020404" pitchFamily="49" charset="0"/>
              <a:buChar char="o"/>
            </a:pPr>
            <a:r>
              <a:rPr lang="en-US" sz="2800" b="1" i="0" u="none" strike="noStrike" dirty="0">
                <a:effectLst/>
                <a:latin typeface="Segoe UI" panose="020B0502040204020203" pitchFamily="34" charset="0"/>
              </a:rPr>
              <a:t>Distributed:</a:t>
            </a:r>
            <a:r>
              <a:rPr lang="en-US" sz="2800" b="0" i="0" u="none" strike="noStrike" dirty="0">
                <a:effectLst/>
                <a:latin typeface="Segoe UI" panose="020B0502040204020203" pitchFamily="34" charset="0"/>
              </a:rPr>
              <a:t> Multiple coordinated controllers</a:t>
            </a:r>
          </a:p>
          <a:p>
            <a:pPr marL="342900" indent="-342900" algn="l">
              <a:spcBef>
                <a:spcPts val="750"/>
              </a:spcBef>
              <a:spcAft>
                <a:spcPts val="750"/>
              </a:spcAft>
              <a:buFont typeface="Courier New" panose="02070309020205020404" pitchFamily="49" charset="0"/>
              <a:buChar char="o"/>
            </a:pPr>
            <a:r>
              <a:rPr lang="en-US" sz="2800" b="1" i="0" u="none" strike="noStrike" dirty="0">
                <a:effectLst/>
                <a:latin typeface="Segoe UI" panose="020B0502040204020203" pitchFamily="34" charset="0"/>
              </a:rPr>
              <a:t>Federated:</a:t>
            </a:r>
            <a:r>
              <a:rPr lang="en-US" sz="2800" b="0" i="0" u="none" strike="noStrike" dirty="0">
                <a:effectLst/>
                <a:latin typeface="Segoe UI" panose="020B0502040204020203" pitchFamily="34" charset="0"/>
              </a:rPr>
              <a:t> Inter-domain controller cooperation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BC55C7-83DB-19F3-35A7-CF923FCD8ACE}"/>
              </a:ext>
            </a:extLst>
          </p:cNvPr>
          <p:cNvSpPr txBox="1"/>
          <p:nvPr/>
        </p:nvSpPr>
        <p:spPr>
          <a:xfrm>
            <a:off x="77821" y="464982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LB" dirty="0"/>
          </a:p>
        </p:txBody>
      </p:sp>
    </p:spTree>
    <p:extLst>
      <p:ext uri="{BB962C8B-B14F-4D97-AF65-F5344CB8AC3E}">
        <p14:creationId xmlns:p14="http://schemas.microsoft.com/office/powerpoint/2010/main" val="13396599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1F060-CA47-7C88-79E4-8DA92E1829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82716-6928-4933-8258-31809BDA0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9560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Bef>
                <a:spcPts val="1875"/>
              </a:spcBef>
              <a:spcAft>
                <a:spcPts val="750"/>
              </a:spcAft>
            </a:pPr>
            <a:r>
              <a:rPr lang="en-US" b="1" dirty="0">
                <a:latin typeface="Segoe UI" panose="020B0502040204020203" pitchFamily="34" charset="0"/>
              </a:rPr>
              <a:t>Northbound APIs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01CB24-79A6-EE24-D243-7EF5226B1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18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84B92E-0083-1715-E6B5-55E7BE435499}"/>
              </a:ext>
            </a:extLst>
          </p:cNvPr>
          <p:cNvSpPr txBox="1"/>
          <p:nvPr/>
        </p:nvSpPr>
        <p:spPr>
          <a:xfrm>
            <a:off x="77821" y="464982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L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894B53-E525-5B77-51A5-CB49C72F9278}"/>
              </a:ext>
            </a:extLst>
          </p:cNvPr>
          <p:cNvSpPr txBox="1"/>
          <p:nvPr/>
        </p:nvSpPr>
        <p:spPr>
          <a:xfrm>
            <a:off x="388307" y="1303179"/>
            <a:ext cx="8784875" cy="584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342900" indent="-342900">
              <a:spcBef>
                <a:spcPts val="1875"/>
              </a:spcBef>
              <a:spcAft>
                <a:spcPts val="750"/>
              </a:spcAft>
              <a:buFont typeface="Arial"/>
              <a:buChar char="•"/>
              <a:defRPr sz="3200" b="1">
                <a:latin typeface="Segoe UI" panose="020B0502040204020203" pitchFamily="34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r>
              <a:rPr lang="en-US" dirty="0"/>
              <a:t>Northbound API Purpose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603A97-9662-3788-81D9-C12CD7CBCB18}"/>
              </a:ext>
            </a:extLst>
          </p:cNvPr>
          <p:cNvSpPr txBox="1"/>
          <p:nvPr/>
        </p:nvSpPr>
        <p:spPr>
          <a:xfrm>
            <a:off x="388307" y="1887954"/>
            <a:ext cx="1119409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0" i="0" u="none" strike="noStrike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Northbound APIs provide programmable interfaces between SDN controllers and applications, enabling network services and business logic implementation.</a:t>
            </a:r>
            <a:endParaRPr lang="en-LB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14DFCE-1293-B9EA-A909-1B72336D4FBD}"/>
              </a:ext>
            </a:extLst>
          </p:cNvPr>
          <p:cNvSpPr txBox="1"/>
          <p:nvPr/>
        </p:nvSpPr>
        <p:spPr>
          <a:xfrm>
            <a:off x="388307" y="2811938"/>
            <a:ext cx="8563583" cy="6170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342900" indent="-342900">
              <a:spcBef>
                <a:spcPts val="1875"/>
              </a:spcBef>
              <a:spcAft>
                <a:spcPts val="750"/>
              </a:spcAft>
              <a:buFont typeface="Arial"/>
              <a:buChar char="•"/>
              <a:defRPr sz="3200" b="1">
                <a:latin typeface="Segoe UI" panose="020B0502040204020203" pitchFamily="34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r>
              <a:rPr lang="en-US" dirty="0"/>
              <a:t>Common Northbound Interfaces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07AF32-DBF8-4644-DBE1-C496188E4835}"/>
              </a:ext>
            </a:extLst>
          </p:cNvPr>
          <p:cNvSpPr txBox="1"/>
          <p:nvPr/>
        </p:nvSpPr>
        <p:spPr>
          <a:xfrm>
            <a:off x="609600" y="3524738"/>
            <a:ext cx="5365315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333333"/>
                </a:solidFill>
                <a:latin typeface="Segoe UI" panose="020B0502040204020203" pitchFamily="34" charset="0"/>
              </a:rPr>
              <a:t>REST APIs: 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333333"/>
                </a:solidFill>
                <a:latin typeface="Segoe UI" panose="020B0502040204020203" pitchFamily="34" charset="0"/>
              </a:rPr>
              <a:t>HTTP-based CRUD operations 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333333"/>
                </a:solidFill>
                <a:latin typeface="Segoe UI" panose="020B0502040204020203" pitchFamily="34" charset="0"/>
              </a:rPr>
              <a:t>JSON/XML data exchange 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333333"/>
                </a:solidFill>
                <a:latin typeface="Segoe UI" panose="020B0502040204020203" pitchFamily="34" charset="0"/>
              </a:rPr>
              <a:t>Stateless communication 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333333"/>
                </a:solidFill>
                <a:latin typeface="Segoe UI" panose="020B0502040204020203" pitchFamily="34" charset="0"/>
              </a:rPr>
              <a:t>Easy integration with web applications </a:t>
            </a:r>
          </a:p>
          <a:p>
            <a:r>
              <a:rPr lang="en-US" sz="2000" b="1" dirty="0">
                <a:solidFill>
                  <a:srgbClr val="333333"/>
                </a:solidFill>
                <a:latin typeface="Segoe UI" panose="020B0502040204020203" pitchFamily="34" charset="0"/>
              </a:rPr>
              <a:t>Intent-Based APIs: 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333333"/>
                </a:solidFill>
                <a:latin typeface="Segoe UI" panose="020B0502040204020203" pitchFamily="34" charset="0"/>
              </a:rPr>
              <a:t>High-level policy specification 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333333"/>
                </a:solidFill>
                <a:latin typeface="Segoe UI" panose="020B0502040204020203" pitchFamily="34" charset="0"/>
              </a:rPr>
              <a:t>Business logic abstraction 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333333"/>
                </a:solidFill>
                <a:latin typeface="Segoe UI" panose="020B0502040204020203" pitchFamily="34" charset="0"/>
              </a:rPr>
              <a:t>Declarative network configuration 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333333"/>
                </a:solidFill>
                <a:latin typeface="Segoe UI" panose="020B0502040204020203" pitchFamily="34" charset="0"/>
              </a:rPr>
              <a:t>Automated policy translation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2BDA10-47C4-7B59-5558-51274142AC33}"/>
              </a:ext>
            </a:extLst>
          </p:cNvPr>
          <p:cNvSpPr txBox="1"/>
          <p:nvPr/>
        </p:nvSpPr>
        <p:spPr>
          <a:xfrm>
            <a:off x="5974916" y="4017053"/>
            <a:ext cx="611656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333333"/>
                </a:solidFill>
                <a:latin typeface="Segoe UI" panose="020B0502040204020203" pitchFamily="34" charset="0"/>
              </a:rPr>
              <a:t>Network Programming Languages: 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333333"/>
                </a:solidFill>
                <a:latin typeface="Segoe UI" panose="020B0502040204020203" pitchFamily="34" charset="0"/>
              </a:rPr>
              <a:t>Frenetic: Functional reactive programming 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333333"/>
                </a:solidFill>
                <a:latin typeface="Segoe UI" panose="020B0502040204020203" pitchFamily="34" charset="0"/>
              </a:rPr>
              <a:t>Pyretic: Python-based DSL 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dirty="0" err="1">
                <a:solidFill>
                  <a:srgbClr val="333333"/>
                </a:solidFill>
                <a:latin typeface="Segoe UI" panose="020B0502040204020203" pitchFamily="34" charset="0"/>
              </a:rPr>
              <a:t>NetKAT</a:t>
            </a:r>
            <a:r>
              <a:rPr lang="en-US" sz="2000" dirty="0">
                <a:solidFill>
                  <a:srgbClr val="333333"/>
                </a:solidFill>
                <a:latin typeface="Segoe UI" panose="020B0502040204020203" pitchFamily="34" charset="0"/>
              </a:rPr>
              <a:t>: Network Kleene Algebra with Tests 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333333"/>
                </a:solidFill>
                <a:latin typeface="Segoe UI" panose="020B0502040204020203" pitchFamily="34" charset="0"/>
              </a:rPr>
              <a:t>P4: Programming Protocol-Independent Packets</a:t>
            </a:r>
            <a:endParaRPr lang="en-LB" sz="2000" dirty="0">
              <a:solidFill>
                <a:srgbClr val="333333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86589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6BAD3-CA5E-0441-EE4D-A8F7A4272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3A1DE-4068-3898-00BE-A9E4133CD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9560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Bef>
                <a:spcPts val="1875"/>
              </a:spcBef>
              <a:spcAft>
                <a:spcPts val="750"/>
              </a:spcAft>
            </a:pPr>
            <a:r>
              <a:rPr lang="en-US" b="1" dirty="0">
                <a:latin typeface="Segoe UI" panose="020B0502040204020203" pitchFamily="34" charset="0"/>
              </a:rPr>
              <a:t>Northbound APIs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88248B-607E-1B40-9787-6A32204AC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19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83CE79-090C-3BF8-35EC-2C23D519DB87}"/>
              </a:ext>
            </a:extLst>
          </p:cNvPr>
          <p:cNvSpPr txBox="1"/>
          <p:nvPr/>
        </p:nvSpPr>
        <p:spPr>
          <a:xfrm>
            <a:off x="77821" y="464982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L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505837-6C10-CF3A-9C24-18107FBFC8AE}"/>
              </a:ext>
            </a:extLst>
          </p:cNvPr>
          <p:cNvSpPr txBox="1"/>
          <p:nvPr/>
        </p:nvSpPr>
        <p:spPr>
          <a:xfrm>
            <a:off x="449904" y="1584334"/>
            <a:ext cx="5406146" cy="2718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i="0" u="none" strike="noStrike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Intent-Based Networking</a:t>
            </a:r>
          </a:p>
          <a:p>
            <a:pPr marL="285750" indent="-285750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33333"/>
                </a:solidFill>
                <a:latin typeface="Segoe UI" panose="020B0502040204020203" pitchFamily="34" charset="0"/>
              </a:rPr>
              <a:t>High-level policy expression</a:t>
            </a:r>
          </a:p>
          <a:p>
            <a:pPr marL="285750" indent="-285750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33333"/>
                </a:solidFill>
                <a:latin typeface="Segoe UI" panose="020B0502040204020203" pitchFamily="34" charset="0"/>
              </a:rPr>
              <a:t>Automated implementation</a:t>
            </a:r>
          </a:p>
          <a:p>
            <a:pPr marL="285750" indent="-285750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33333"/>
                </a:solidFill>
                <a:latin typeface="Segoe UI" panose="020B0502040204020203" pitchFamily="34" charset="0"/>
              </a:rPr>
              <a:t>Business-driven networking</a:t>
            </a:r>
          </a:p>
          <a:p>
            <a:pPr marL="285750" indent="-285750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33333"/>
                </a:solidFill>
                <a:latin typeface="Segoe UI" panose="020B0502040204020203" pitchFamily="34" charset="0"/>
              </a:rPr>
              <a:t>Simplified configuration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54793B-3B21-43BE-4B5E-351297755BB0}"/>
              </a:ext>
            </a:extLst>
          </p:cNvPr>
          <p:cNvSpPr txBox="1"/>
          <p:nvPr/>
        </p:nvSpPr>
        <p:spPr>
          <a:xfrm>
            <a:off x="6335951" y="1584334"/>
            <a:ext cx="565582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dirty="0">
                <a:solidFill>
                  <a:srgbClr val="333333"/>
                </a:solidFill>
                <a:latin typeface="Segoe UI" panose="020B0502040204020203" pitchFamily="34" charset="0"/>
              </a:rPr>
              <a:t>API Examples</a:t>
            </a:r>
          </a:p>
          <a:p>
            <a:pPr marL="285750" indent="-285750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33333"/>
                </a:solidFill>
                <a:latin typeface="Segoe UI" panose="020B0502040204020203" pitchFamily="34" charset="0"/>
              </a:rPr>
              <a:t>Network topology discovery</a:t>
            </a:r>
          </a:p>
          <a:p>
            <a:pPr marL="285750" indent="-285750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33333"/>
                </a:solidFill>
                <a:latin typeface="Segoe UI" panose="020B0502040204020203" pitchFamily="34" charset="0"/>
              </a:rPr>
              <a:t>Flow rule installation</a:t>
            </a:r>
          </a:p>
          <a:p>
            <a:pPr marL="285750" indent="-285750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33333"/>
                </a:solidFill>
                <a:latin typeface="Segoe UI" panose="020B0502040204020203" pitchFamily="34" charset="0"/>
              </a:rPr>
              <a:t>Traffic engineering</a:t>
            </a:r>
          </a:p>
          <a:p>
            <a:pPr marL="285750" indent="-285750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33333"/>
                </a:solidFill>
                <a:latin typeface="Segoe UI" panose="020B0502040204020203" pitchFamily="34" charset="0"/>
              </a:rPr>
              <a:t>Security policy enforcement</a:t>
            </a:r>
          </a:p>
          <a:p>
            <a:pPr marL="285750" indent="-285750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333333"/>
                </a:solidFill>
                <a:latin typeface="Segoe UI" panose="020B0502040204020203" pitchFamily="34" charset="0"/>
              </a:rPr>
              <a:t>Quality of service management</a:t>
            </a:r>
          </a:p>
        </p:txBody>
      </p:sp>
    </p:spTree>
    <p:extLst>
      <p:ext uri="{BB962C8B-B14F-4D97-AF65-F5344CB8AC3E}">
        <p14:creationId xmlns:p14="http://schemas.microsoft.com/office/powerpoint/2010/main" val="7176461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25D53-56B9-5479-C9E4-BAD562776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EC3FB-BA6B-A4A8-5A16-5222BC1F8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765" y="70355"/>
            <a:ext cx="10972800" cy="632918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l">
              <a:spcBef>
                <a:spcPts val="1875"/>
              </a:spcBef>
              <a:spcAft>
                <a:spcPts val="750"/>
              </a:spcAft>
            </a:pPr>
            <a:r>
              <a:rPr lang="en-US" sz="4000" b="1" dirty="0">
                <a:latin typeface="Segoe UI" panose="020B0502040204020203" pitchFamily="34" charset="0"/>
              </a:rPr>
              <a:t>SDN Benefits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FBE1A6-20D0-6910-C943-436AB6C23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20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B76C25-D58B-1252-D54E-E026F4194E00}"/>
              </a:ext>
            </a:extLst>
          </p:cNvPr>
          <p:cNvSpPr txBox="1"/>
          <p:nvPr/>
        </p:nvSpPr>
        <p:spPr>
          <a:xfrm>
            <a:off x="77821" y="430934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L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5D411B-D8BA-2C73-8BB9-07360DE44A52}"/>
              </a:ext>
            </a:extLst>
          </p:cNvPr>
          <p:cNvSpPr txBox="1"/>
          <p:nvPr/>
        </p:nvSpPr>
        <p:spPr>
          <a:xfrm>
            <a:off x="1404027" y="718562"/>
            <a:ext cx="4452024" cy="222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i="0" u="none" strike="noStrike" dirty="0">
                <a:solidFill>
                  <a:srgbClr val="333333"/>
                </a:solidFill>
                <a:effectLst/>
                <a:latin typeface="Segoe UI" panose="020B0502040204020203" pitchFamily="34" charset="0"/>
              </a:rPr>
              <a:t>Centralized Control</a:t>
            </a:r>
          </a:p>
          <a:p>
            <a:pPr marL="285750" indent="-285750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Segoe UI" panose="020B0502040204020203" pitchFamily="34" charset="0"/>
              </a:rPr>
              <a:t>Global network view and intelligence</a:t>
            </a:r>
          </a:p>
          <a:p>
            <a:pPr marL="285750" indent="-285750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Segoe UI" panose="020B0502040204020203" pitchFamily="34" charset="0"/>
              </a:rPr>
              <a:t>Simplified network management</a:t>
            </a:r>
          </a:p>
          <a:p>
            <a:pPr marL="285750" indent="-285750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Segoe UI" panose="020B0502040204020203" pitchFamily="34" charset="0"/>
              </a:rPr>
              <a:t>Consistent policy enforcement</a:t>
            </a:r>
          </a:p>
          <a:p>
            <a:pPr marL="285750" indent="-285750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Segoe UI" panose="020B0502040204020203" pitchFamily="34" charset="0"/>
              </a:rPr>
              <a:t>Reduced configuration complexity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1A667A-4D3F-E28D-3046-906CAA35C188}"/>
              </a:ext>
            </a:extLst>
          </p:cNvPr>
          <p:cNvSpPr txBox="1"/>
          <p:nvPr/>
        </p:nvSpPr>
        <p:spPr>
          <a:xfrm>
            <a:off x="6536986" y="718562"/>
            <a:ext cx="3472776" cy="222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333333"/>
                </a:solidFill>
                <a:latin typeface="Segoe UI" panose="020B0502040204020203" pitchFamily="34" charset="0"/>
              </a:rPr>
              <a:t>Agility and Innovation</a:t>
            </a:r>
          </a:p>
          <a:p>
            <a:pPr marL="285750" indent="-285750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Segoe UI" panose="020B0502040204020203" pitchFamily="34" charset="0"/>
              </a:rPr>
              <a:t>Rapid service deployment</a:t>
            </a:r>
          </a:p>
          <a:p>
            <a:pPr marL="285750" indent="-285750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Segoe UI" panose="020B0502040204020203" pitchFamily="34" charset="0"/>
              </a:rPr>
              <a:t>Network programmability</a:t>
            </a:r>
          </a:p>
          <a:p>
            <a:pPr marL="285750" indent="-285750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Segoe UI" panose="020B0502040204020203" pitchFamily="34" charset="0"/>
              </a:rPr>
              <a:t>Faster time-to-market</a:t>
            </a:r>
          </a:p>
          <a:p>
            <a:pPr marL="285750" indent="-285750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Segoe UI" panose="020B0502040204020203" pitchFamily="34" charset="0"/>
              </a:rPr>
              <a:t>Dynamic resource allocation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81642E-E556-D31E-61C8-42247F969E40}"/>
              </a:ext>
            </a:extLst>
          </p:cNvPr>
          <p:cNvSpPr txBox="1"/>
          <p:nvPr/>
        </p:nvSpPr>
        <p:spPr>
          <a:xfrm>
            <a:off x="1404027" y="3074543"/>
            <a:ext cx="4128580" cy="22262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dirty="0">
                <a:solidFill>
                  <a:srgbClr val="333333"/>
                </a:solidFill>
                <a:latin typeface="Segoe UI" panose="020B0502040204020203" pitchFamily="34" charset="0"/>
              </a:rPr>
              <a:t>Cost Reduction</a:t>
            </a:r>
          </a:p>
          <a:p>
            <a:pPr marL="285750" indent="-285750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Segoe UI" panose="020B0502040204020203" pitchFamily="34" charset="0"/>
              </a:rPr>
              <a:t>Commodity hardware utilization</a:t>
            </a:r>
          </a:p>
          <a:p>
            <a:pPr marL="285750" indent="-285750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Segoe UI" panose="020B0502040204020203" pitchFamily="34" charset="0"/>
              </a:rPr>
              <a:t>Reduced operational expenses</a:t>
            </a:r>
          </a:p>
          <a:p>
            <a:pPr marL="285750" indent="-285750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Segoe UI" panose="020B0502040204020203" pitchFamily="34" charset="0"/>
              </a:rPr>
              <a:t>Efficient resource utilization</a:t>
            </a:r>
          </a:p>
          <a:p>
            <a:pPr marL="285750" indent="-285750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Segoe UI" panose="020B0502040204020203" pitchFamily="34" charset="0"/>
              </a:rPr>
              <a:t>Simplified network architecture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F441B1-D771-DA47-6818-F15C267CD484}"/>
              </a:ext>
            </a:extLst>
          </p:cNvPr>
          <p:cNvSpPr txBox="1"/>
          <p:nvPr/>
        </p:nvSpPr>
        <p:spPr>
          <a:xfrm>
            <a:off x="6536986" y="3074543"/>
            <a:ext cx="3547354" cy="22647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0"/>
              </a:spcBef>
              <a:spcAft>
                <a:spcPts val="300"/>
              </a:spcAft>
            </a:pPr>
            <a:r>
              <a:rPr lang="en-US" sz="2000" b="1" dirty="0">
                <a:solidFill>
                  <a:srgbClr val="333333"/>
                </a:solidFill>
                <a:latin typeface="Segoe UI" panose="020B0502040204020203" pitchFamily="34" charset="0"/>
              </a:rPr>
              <a:t>Flexibility</a:t>
            </a:r>
          </a:p>
          <a:p>
            <a:pPr marL="285750" indent="-285750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Segoe UI" panose="020B0502040204020203" pitchFamily="34" charset="0"/>
              </a:rPr>
              <a:t>Vendor-independent solutions</a:t>
            </a:r>
          </a:p>
          <a:p>
            <a:pPr marL="285750" indent="-285750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Segoe UI" panose="020B0502040204020203" pitchFamily="34" charset="0"/>
              </a:rPr>
              <a:t>Open standards adoption</a:t>
            </a:r>
          </a:p>
          <a:p>
            <a:pPr marL="285750" indent="-285750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Segoe UI" panose="020B0502040204020203" pitchFamily="34" charset="0"/>
              </a:rPr>
              <a:t>Multi-vendor interoperability</a:t>
            </a:r>
          </a:p>
          <a:p>
            <a:pPr marL="285750" indent="-285750">
              <a:spcBef>
                <a:spcPts val="750"/>
              </a:spcBef>
              <a:spcAft>
                <a:spcPts val="75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33333"/>
                </a:solidFill>
                <a:latin typeface="Segoe UI" panose="020B0502040204020203" pitchFamily="34" charset="0"/>
              </a:rPr>
              <a:t>Future-proof architecture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3FF9ED0-345F-7860-C222-246E7DC0D18C}"/>
              </a:ext>
            </a:extLst>
          </p:cNvPr>
          <p:cNvCxnSpPr>
            <a:cxnSpLocks/>
          </p:cNvCxnSpPr>
          <p:nvPr/>
        </p:nvCxnSpPr>
        <p:spPr>
          <a:xfrm>
            <a:off x="5856051" y="885217"/>
            <a:ext cx="0" cy="44155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B974D6A-6E9D-1EF7-B393-7EB2E40573EB}"/>
              </a:ext>
            </a:extLst>
          </p:cNvPr>
          <p:cNvCxnSpPr>
            <a:cxnSpLocks/>
          </p:cNvCxnSpPr>
          <p:nvPr/>
        </p:nvCxnSpPr>
        <p:spPr>
          <a:xfrm flipH="1">
            <a:off x="710119" y="3006452"/>
            <a:ext cx="978602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2A9D984-69EE-B05D-7DBA-572849CD6F79}"/>
              </a:ext>
            </a:extLst>
          </p:cNvPr>
          <p:cNvSpPr txBox="1"/>
          <p:nvPr/>
        </p:nvSpPr>
        <p:spPr>
          <a:xfrm>
            <a:off x="4134266" y="5673287"/>
            <a:ext cx="704928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effectLst/>
                <a:latin typeface="Segoe UI" panose="020B0502040204020203" pitchFamily="34" charset="0"/>
              </a:rPr>
              <a:t>Innovation: </a:t>
            </a:r>
            <a:r>
              <a:rPr lang="en-US" b="0" i="0" u="none" strike="noStrike" dirty="0">
                <a:effectLst/>
                <a:latin typeface="Segoe UI" panose="020B0502040204020203" pitchFamily="34" charset="0"/>
              </a:rPr>
              <a:t>Enables new network services and business models</a:t>
            </a:r>
            <a:endParaRPr lang="en-US" b="1" i="0" u="none" strike="noStrike" dirty="0">
              <a:effectLst/>
              <a:latin typeface="Segoe UI" panose="020B0502040204020203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57F17B6-83B7-A336-9B0E-816E505B9FCF}"/>
              </a:ext>
            </a:extLst>
          </p:cNvPr>
          <p:cNvSpPr txBox="1"/>
          <p:nvPr/>
        </p:nvSpPr>
        <p:spPr>
          <a:xfrm>
            <a:off x="4134266" y="6081529"/>
            <a:ext cx="72957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effectLst/>
                <a:latin typeface="Segoe UI" panose="020B0502040204020203" pitchFamily="34" charset="0"/>
              </a:rPr>
              <a:t>Scalability: </a:t>
            </a:r>
            <a:r>
              <a:rPr lang="en-US" b="0" i="0" u="none" strike="noStrike" dirty="0">
                <a:effectLst/>
                <a:latin typeface="Segoe UI" panose="020B0502040204020203" pitchFamily="34" charset="0"/>
              </a:rPr>
              <a:t>Supports growth and changing requirements</a:t>
            </a:r>
            <a:r>
              <a:rPr lang="en-US" b="1" i="0" u="none" strike="noStrike" dirty="0">
                <a:effectLst/>
                <a:latin typeface="Segoe UI" panose="020B0502040204020203" pitchFamily="34" charset="0"/>
              </a:rPr>
              <a:t>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9963165-9C47-7EC8-FA9B-DD172FA58974}"/>
              </a:ext>
            </a:extLst>
          </p:cNvPr>
          <p:cNvSpPr txBox="1"/>
          <p:nvPr/>
        </p:nvSpPr>
        <p:spPr>
          <a:xfrm>
            <a:off x="4134267" y="6457208"/>
            <a:ext cx="70492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rtl="0">
              <a:buFont typeface="Arial" panose="020B0604020202020204" pitchFamily="34" charset="0"/>
              <a:buChar char="•"/>
            </a:pPr>
            <a:r>
              <a:rPr lang="en-US" b="1" i="0" u="none" strike="noStrike" dirty="0">
                <a:effectLst/>
                <a:latin typeface="Segoe UI" panose="020B0502040204020203" pitchFamily="34" charset="0"/>
              </a:rPr>
              <a:t>Automation: </a:t>
            </a:r>
            <a:r>
              <a:rPr lang="en-US" b="0" i="0" u="none" strike="noStrike" dirty="0">
                <a:effectLst/>
                <a:latin typeface="Segoe UI" panose="020B0502040204020203" pitchFamily="34" charset="0"/>
              </a:rPr>
              <a:t>Reduces manual tasks and human errors</a:t>
            </a:r>
            <a:endParaRPr lang="en-US" b="1" i="0" u="none" strike="noStrike" dirty="0">
              <a:effectLst/>
              <a:latin typeface="Segoe UI" panose="020B0502040204020203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8DFE81E-AFAC-4F76-85D2-9341832739B0}"/>
              </a:ext>
            </a:extLst>
          </p:cNvPr>
          <p:cNvSpPr txBox="1"/>
          <p:nvPr/>
        </p:nvSpPr>
        <p:spPr>
          <a:xfrm>
            <a:off x="398739" y="5949739"/>
            <a:ext cx="3382561" cy="6329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342900" indent="-342900">
              <a:spcBef>
                <a:spcPts val="1875"/>
              </a:spcBef>
              <a:spcAft>
                <a:spcPts val="750"/>
              </a:spcAft>
              <a:buFont typeface="Arial"/>
              <a:buChar char="•"/>
              <a:defRPr sz="3200" b="1">
                <a:latin typeface="Segoe UI" panose="020B0502040204020203" pitchFamily="34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pPr marL="0" indent="0" algn="ctr">
              <a:buNone/>
            </a:pPr>
            <a:r>
              <a:rPr lang="en-LB" sz="2800" dirty="0"/>
              <a:t>Business Impact</a:t>
            </a:r>
          </a:p>
        </p:txBody>
      </p:sp>
    </p:spTree>
    <p:extLst>
      <p:ext uri="{BB962C8B-B14F-4D97-AF65-F5344CB8AC3E}">
        <p14:creationId xmlns:p14="http://schemas.microsoft.com/office/powerpoint/2010/main" val="13458290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83162-D5F8-BB0E-59D3-3841865BB7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892A7-7C5E-54E5-58E2-7E40158E8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765" y="70355"/>
            <a:ext cx="10972800" cy="632918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l">
              <a:spcBef>
                <a:spcPts val="1875"/>
              </a:spcBef>
              <a:spcAft>
                <a:spcPts val="750"/>
              </a:spcAft>
            </a:pPr>
            <a:r>
              <a:rPr lang="en-US" sz="4000" b="1" dirty="0">
                <a:latin typeface="Segoe UI" panose="020B0502040204020203" pitchFamily="34" charset="0"/>
              </a:rPr>
              <a:t>SDN Implementation Challenges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67CBA9-5D65-84CD-71E2-23744FBB4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21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A8BDD5C-D8D6-EB99-47F1-4E03C9D95296}"/>
              </a:ext>
            </a:extLst>
          </p:cNvPr>
          <p:cNvSpPr txBox="1"/>
          <p:nvPr/>
        </p:nvSpPr>
        <p:spPr>
          <a:xfrm>
            <a:off x="77821" y="430934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LB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D60085-8E55-2D54-0067-9FCB3A771825}"/>
              </a:ext>
            </a:extLst>
          </p:cNvPr>
          <p:cNvSpPr txBox="1"/>
          <p:nvPr/>
        </p:nvSpPr>
        <p:spPr>
          <a:xfrm>
            <a:off x="398739" y="815381"/>
            <a:ext cx="8563582" cy="584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342900" indent="-342900">
              <a:spcBef>
                <a:spcPts val="1875"/>
              </a:spcBef>
              <a:spcAft>
                <a:spcPts val="750"/>
              </a:spcAft>
              <a:buFont typeface="Arial"/>
              <a:buChar char="•"/>
              <a:defRPr sz="3200" b="1">
                <a:latin typeface="Segoe UI" panose="020B0502040204020203" pitchFamily="34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r>
              <a:rPr lang="en-US" sz="2800" dirty="0"/>
              <a:t>Technical Challenges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AD0666-C8C1-79B0-16D2-84BFF4717C92}"/>
              </a:ext>
            </a:extLst>
          </p:cNvPr>
          <p:cNvSpPr txBox="1"/>
          <p:nvPr/>
        </p:nvSpPr>
        <p:spPr>
          <a:xfrm>
            <a:off x="1031131" y="1439066"/>
            <a:ext cx="10398867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Bef>
                <a:spcPts val="750"/>
              </a:spcBef>
              <a:spcAft>
                <a:spcPts val="750"/>
              </a:spcAft>
              <a:buFont typeface="Courier New" panose="02070309020205020404" pitchFamily="49" charset="0"/>
              <a:buChar char="o"/>
            </a:pPr>
            <a:r>
              <a:rPr lang="en-US" sz="2200" b="1" dirty="0">
                <a:latin typeface="Segoe UI" panose="020B0502040204020203" pitchFamily="34" charset="0"/>
              </a:rPr>
              <a:t>Controller Scalability: </a:t>
            </a:r>
            <a:r>
              <a:rPr lang="en-US" sz="2200" dirty="0">
                <a:latin typeface="Segoe UI" panose="020B0502040204020203" pitchFamily="34" charset="0"/>
              </a:rPr>
              <a:t>Performance bottlenecks and scaling limits</a:t>
            </a:r>
          </a:p>
          <a:p>
            <a:pPr marL="342900" indent="-342900">
              <a:spcBef>
                <a:spcPts val="750"/>
              </a:spcBef>
              <a:spcAft>
                <a:spcPts val="750"/>
              </a:spcAft>
              <a:buFont typeface="Courier New" panose="02070309020205020404" pitchFamily="49" charset="0"/>
              <a:buChar char="o"/>
            </a:pPr>
            <a:r>
              <a:rPr lang="en-US" sz="2200" b="1" dirty="0">
                <a:latin typeface="Segoe UI" panose="020B0502040204020203" pitchFamily="34" charset="0"/>
              </a:rPr>
              <a:t>Network Latency: </a:t>
            </a:r>
            <a:r>
              <a:rPr lang="en-US" sz="2200" dirty="0">
                <a:latin typeface="Segoe UI" panose="020B0502040204020203" pitchFamily="34" charset="0"/>
              </a:rPr>
              <a:t>Controller communication overhead</a:t>
            </a:r>
          </a:p>
          <a:p>
            <a:pPr marL="342900" indent="-342900">
              <a:spcBef>
                <a:spcPts val="750"/>
              </a:spcBef>
              <a:spcAft>
                <a:spcPts val="750"/>
              </a:spcAft>
              <a:buFont typeface="Courier New" panose="02070309020205020404" pitchFamily="49" charset="0"/>
              <a:buChar char="o"/>
            </a:pPr>
            <a:r>
              <a:rPr lang="en-US" sz="2200" b="1" dirty="0">
                <a:latin typeface="Segoe UI" panose="020B0502040204020203" pitchFamily="34" charset="0"/>
              </a:rPr>
              <a:t>Reliability: </a:t>
            </a:r>
            <a:r>
              <a:rPr lang="en-US" sz="2200" dirty="0">
                <a:latin typeface="Segoe UI" panose="020B0502040204020203" pitchFamily="34" charset="0"/>
              </a:rPr>
              <a:t>Single point of failure concerns</a:t>
            </a:r>
          </a:p>
          <a:p>
            <a:pPr marL="342900" indent="-342900">
              <a:spcBef>
                <a:spcPts val="750"/>
              </a:spcBef>
              <a:spcAft>
                <a:spcPts val="750"/>
              </a:spcAft>
              <a:buFont typeface="Courier New" panose="02070309020205020404" pitchFamily="49" charset="0"/>
              <a:buChar char="o"/>
            </a:pPr>
            <a:r>
              <a:rPr lang="en-US" sz="2200" b="1" dirty="0">
                <a:latin typeface="Segoe UI" panose="020B0502040204020203" pitchFamily="34" charset="0"/>
              </a:rPr>
              <a:t>Security: </a:t>
            </a:r>
            <a:r>
              <a:rPr lang="en-US" sz="2200" dirty="0">
                <a:latin typeface="Segoe UI" panose="020B0502040204020203" pitchFamily="34" charset="0"/>
              </a:rPr>
              <a:t>Centralized attack surface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AE1090-1691-2342-B86A-A07295245E9C}"/>
              </a:ext>
            </a:extLst>
          </p:cNvPr>
          <p:cNvSpPr txBox="1"/>
          <p:nvPr/>
        </p:nvSpPr>
        <p:spPr>
          <a:xfrm>
            <a:off x="398739" y="3657759"/>
            <a:ext cx="6094378" cy="584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342900" indent="-342900">
              <a:spcBef>
                <a:spcPts val="1875"/>
              </a:spcBef>
              <a:spcAft>
                <a:spcPts val="750"/>
              </a:spcAft>
              <a:buFont typeface="Arial"/>
              <a:buChar char="•"/>
              <a:defRPr sz="3200" b="1">
                <a:latin typeface="Segoe UI" panose="020B0502040204020203" pitchFamily="34" charset="0"/>
                <a:cs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Font typeface="Arial"/>
              <a:buChar char="–"/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Font typeface="Arial"/>
              <a:buChar char="•"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Font typeface="Arial"/>
              <a:buChar char="–"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Font typeface="Arial"/>
              <a:buChar char="»"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514600" indent="-228600">
              <a:spcBef>
                <a:spcPct val="20000"/>
              </a:spcBef>
              <a:buFont typeface="Arial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/>
              <a:buChar char="•"/>
              <a:defRPr sz="2000"/>
            </a:lvl9pPr>
          </a:lstStyle>
          <a:p>
            <a:r>
              <a:rPr lang="en-US" sz="2800" dirty="0"/>
              <a:t>Operational Challenges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98840E-5C00-A94B-FFF9-BD161E341560}"/>
              </a:ext>
            </a:extLst>
          </p:cNvPr>
          <p:cNvSpPr txBox="1"/>
          <p:nvPr/>
        </p:nvSpPr>
        <p:spPr>
          <a:xfrm>
            <a:off x="767673" y="4262522"/>
            <a:ext cx="4929492" cy="2385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333333"/>
                </a:solidFill>
                <a:latin typeface="Segoe UI" panose="020B0502040204020203" pitchFamily="34" charset="0"/>
              </a:rPr>
              <a:t>Migration Complexity: </a:t>
            </a:r>
          </a:p>
          <a:p>
            <a:pPr marL="342900" indent="-34290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333333"/>
                </a:solidFill>
                <a:latin typeface="Segoe UI" panose="020B0502040204020203" pitchFamily="34" charset="0"/>
              </a:rPr>
              <a:t>Legacy system integration </a:t>
            </a:r>
          </a:p>
          <a:p>
            <a:pPr marL="342900" indent="-34290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333333"/>
                </a:solidFill>
                <a:latin typeface="Segoe UI" panose="020B0502040204020203" pitchFamily="34" charset="0"/>
              </a:rPr>
              <a:t>Gradual transition planning </a:t>
            </a:r>
          </a:p>
          <a:p>
            <a:pPr marL="342900" indent="-34290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333333"/>
                </a:solidFill>
                <a:latin typeface="Segoe UI" panose="020B0502040204020203" pitchFamily="34" charset="0"/>
              </a:rPr>
              <a:t>Skill set transformation </a:t>
            </a:r>
          </a:p>
          <a:p>
            <a:pPr marL="342900" indent="-34290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333333"/>
                </a:solidFill>
                <a:latin typeface="Segoe UI" panose="020B0502040204020203" pitchFamily="34" charset="0"/>
              </a:rPr>
              <a:t>Process re-engineering </a:t>
            </a:r>
          </a:p>
          <a:p>
            <a:pPr marL="342900" indent="-34290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333333"/>
                </a:solidFill>
                <a:latin typeface="Segoe UI" panose="020B0502040204020203" pitchFamily="34" charset="0"/>
              </a:rPr>
              <a:t>Tool and platform changes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71F23AC-4C02-7C8A-345F-0235ECAA81B6}"/>
              </a:ext>
            </a:extLst>
          </p:cNvPr>
          <p:cNvSpPr txBox="1"/>
          <p:nvPr/>
        </p:nvSpPr>
        <p:spPr>
          <a:xfrm>
            <a:off x="5971973" y="4312435"/>
            <a:ext cx="5610427" cy="2385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333333"/>
                </a:solidFill>
                <a:latin typeface="Segoe UI" panose="020B0502040204020203" pitchFamily="34" charset="0"/>
              </a:rPr>
              <a:t>Performance Considerations: </a:t>
            </a:r>
          </a:p>
          <a:p>
            <a:pPr marL="342900" indent="-34290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333333"/>
                </a:solidFill>
                <a:latin typeface="Segoe UI" panose="020B0502040204020203" pitchFamily="34" charset="0"/>
              </a:rPr>
              <a:t>Controller placement optimization </a:t>
            </a:r>
          </a:p>
          <a:p>
            <a:pPr marL="342900" indent="-34290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333333"/>
                </a:solidFill>
                <a:latin typeface="Segoe UI" panose="020B0502040204020203" pitchFamily="34" charset="0"/>
              </a:rPr>
              <a:t>Flow setup latency </a:t>
            </a:r>
          </a:p>
          <a:p>
            <a:pPr marL="342900" indent="-34290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333333"/>
                </a:solidFill>
                <a:latin typeface="Segoe UI" panose="020B0502040204020203" pitchFamily="34" charset="0"/>
              </a:rPr>
              <a:t>Reactive vs. proactive approaches </a:t>
            </a:r>
          </a:p>
          <a:p>
            <a:pPr marL="342900" indent="-34290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333333"/>
                </a:solidFill>
                <a:latin typeface="Segoe UI" panose="020B0502040204020203" pitchFamily="34" charset="0"/>
              </a:rPr>
              <a:t>Network-wide consistency </a:t>
            </a:r>
          </a:p>
          <a:p>
            <a:pPr marL="342900" indent="-342900">
              <a:spcBef>
                <a:spcPts val="600"/>
              </a:spcBef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333333"/>
                </a:solidFill>
                <a:latin typeface="Segoe UI" panose="020B0502040204020203" pitchFamily="34" charset="0"/>
              </a:rPr>
              <a:t>Fault tolerance mechanisms</a:t>
            </a:r>
            <a:endParaRPr lang="en-LB" sz="2000" dirty="0">
              <a:solidFill>
                <a:srgbClr val="333333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16094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1403</TotalTime>
  <Words>1130</Words>
  <Application>Microsoft Macintosh PowerPoint</Application>
  <PresentationFormat>Widescreen</PresentationFormat>
  <Paragraphs>270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Aptos</vt:lpstr>
      <vt:lpstr>Arial</vt:lpstr>
      <vt:lpstr>Calibri</vt:lpstr>
      <vt:lpstr>Courier New</vt:lpstr>
      <vt:lpstr>Segoe UI</vt:lpstr>
      <vt:lpstr>Times New Roman</vt:lpstr>
      <vt:lpstr>Wingdings</vt:lpstr>
      <vt:lpstr>Office Theme</vt:lpstr>
      <vt:lpstr>Chapter 4  Software Defined Network (SDN)</vt:lpstr>
      <vt:lpstr>What is Software-Defined Networking?</vt:lpstr>
      <vt:lpstr>Today’s router: control plane and data plane</vt:lpstr>
      <vt:lpstr>PowerPoint Presentation</vt:lpstr>
      <vt:lpstr>PowerPoint Presentation</vt:lpstr>
      <vt:lpstr>Today’s network</vt:lpstr>
      <vt:lpstr>SDN motivation</vt:lpstr>
      <vt:lpstr>Computing systems once upon a time</vt:lpstr>
      <vt:lpstr>Computing Systems Today</vt:lpstr>
      <vt:lpstr>Traditional vs. SDN Architecture</vt:lpstr>
      <vt:lpstr>SDN Key Principles</vt:lpstr>
      <vt:lpstr>SDN Architecture</vt:lpstr>
      <vt:lpstr>SDN Architecture</vt:lpstr>
      <vt:lpstr>Control Plane vs Data Plane</vt:lpstr>
      <vt:lpstr>Control Plane vs Data Plane</vt:lpstr>
      <vt:lpstr>SDN Controllers</vt:lpstr>
      <vt:lpstr>SDN Controllers</vt:lpstr>
      <vt:lpstr>Northbound APIs</vt:lpstr>
      <vt:lpstr>Northbound APIs</vt:lpstr>
      <vt:lpstr>SDN Benefits</vt:lpstr>
      <vt:lpstr>SDN Implementation Challenges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Rami Tawil</cp:lastModifiedBy>
  <cp:revision>124</cp:revision>
  <dcterms:created xsi:type="dcterms:W3CDTF">2013-01-27T09:14:16Z</dcterms:created>
  <dcterms:modified xsi:type="dcterms:W3CDTF">2025-11-21T03:40:30Z</dcterms:modified>
  <cp:category/>
</cp:coreProperties>
</file>