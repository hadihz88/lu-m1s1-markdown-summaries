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44"/>
  </p:notesMasterIdLst>
  <p:handoutMasterIdLst>
    <p:handoutMasterId r:id="rId45"/>
  </p:handoutMasterIdLst>
  <p:sldIdLst>
    <p:sldId id="500" r:id="rId3"/>
    <p:sldId id="541" r:id="rId4"/>
    <p:sldId id="828" r:id="rId5"/>
    <p:sldId id="855" r:id="rId6"/>
    <p:sldId id="825" r:id="rId7"/>
    <p:sldId id="863" r:id="rId8"/>
    <p:sldId id="826" r:id="rId9"/>
    <p:sldId id="864" r:id="rId10"/>
    <p:sldId id="865" r:id="rId11"/>
    <p:sldId id="866" r:id="rId12"/>
    <p:sldId id="827" r:id="rId13"/>
    <p:sldId id="867" r:id="rId14"/>
    <p:sldId id="856" r:id="rId15"/>
    <p:sldId id="869" r:id="rId16"/>
    <p:sldId id="831" r:id="rId17"/>
    <p:sldId id="868" r:id="rId18"/>
    <p:sldId id="870" r:id="rId19"/>
    <p:sldId id="832" r:id="rId20"/>
    <p:sldId id="833" r:id="rId21"/>
    <p:sldId id="834" r:id="rId22"/>
    <p:sldId id="871" r:id="rId23"/>
    <p:sldId id="835" r:id="rId24"/>
    <p:sldId id="857" r:id="rId25"/>
    <p:sldId id="872" r:id="rId26"/>
    <p:sldId id="836" r:id="rId27"/>
    <p:sldId id="858" r:id="rId28"/>
    <p:sldId id="837" r:id="rId29"/>
    <p:sldId id="896" r:id="rId30"/>
    <p:sldId id="875" r:id="rId31"/>
    <p:sldId id="877" r:id="rId32"/>
    <p:sldId id="878" r:id="rId33"/>
    <p:sldId id="882" r:id="rId34"/>
    <p:sldId id="883" r:id="rId35"/>
    <p:sldId id="884" r:id="rId36"/>
    <p:sldId id="838" r:id="rId37"/>
    <p:sldId id="839" r:id="rId38"/>
    <p:sldId id="886" r:id="rId39"/>
    <p:sldId id="887" r:id="rId40"/>
    <p:sldId id="890" r:id="rId41"/>
    <p:sldId id="841" r:id="rId42"/>
    <p:sldId id="893" r:id="rId43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65" autoAdjust="0"/>
    <p:restoredTop sz="95940" autoAdjust="0"/>
  </p:normalViewPr>
  <p:slideViewPr>
    <p:cSldViewPr snapToGrid="0">
      <p:cViewPr varScale="1">
        <p:scale>
          <a:sx n="111" d="100"/>
          <a:sy n="111" d="100"/>
        </p:scale>
        <p:origin x="203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9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5.xml"/><Relationship Id="rId18" Type="http://schemas.openxmlformats.org/officeDocument/2006/relationships/slide" Target="slides/slide20.xml"/><Relationship Id="rId26" Type="http://schemas.openxmlformats.org/officeDocument/2006/relationships/slide" Target="slides/slide29.xml"/><Relationship Id="rId21" Type="http://schemas.openxmlformats.org/officeDocument/2006/relationships/slide" Target="slides/slide23.xml"/><Relationship Id="rId34" Type="http://schemas.openxmlformats.org/officeDocument/2006/relationships/slide" Target="slides/slide37.xml"/><Relationship Id="rId7" Type="http://schemas.openxmlformats.org/officeDocument/2006/relationships/slide" Target="slides/slide9.xml"/><Relationship Id="rId12" Type="http://schemas.openxmlformats.org/officeDocument/2006/relationships/slide" Target="slides/slide14.xml"/><Relationship Id="rId17" Type="http://schemas.openxmlformats.org/officeDocument/2006/relationships/slide" Target="slides/slide19.xml"/><Relationship Id="rId25" Type="http://schemas.openxmlformats.org/officeDocument/2006/relationships/slide" Target="slides/slide27.xml"/><Relationship Id="rId33" Type="http://schemas.openxmlformats.org/officeDocument/2006/relationships/slide" Target="slides/slide36.xml"/><Relationship Id="rId38" Type="http://schemas.openxmlformats.org/officeDocument/2006/relationships/slide" Target="slides/slide41.xml"/><Relationship Id="rId2" Type="http://schemas.openxmlformats.org/officeDocument/2006/relationships/slide" Target="slides/slide4.xml"/><Relationship Id="rId16" Type="http://schemas.openxmlformats.org/officeDocument/2006/relationships/slide" Target="slides/slide18.xml"/><Relationship Id="rId20" Type="http://schemas.openxmlformats.org/officeDocument/2006/relationships/slide" Target="slides/slide22.xml"/><Relationship Id="rId29" Type="http://schemas.openxmlformats.org/officeDocument/2006/relationships/slide" Target="slides/slide32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24" Type="http://schemas.openxmlformats.org/officeDocument/2006/relationships/slide" Target="slides/slide26.xml"/><Relationship Id="rId32" Type="http://schemas.openxmlformats.org/officeDocument/2006/relationships/slide" Target="slides/slide35.xml"/><Relationship Id="rId37" Type="http://schemas.openxmlformats.org/officeDocument/2006/relationships/slide" Target="slides/slide40.xml"/><Relationship Id="rId5" Type="http://schemas.openxmlformats.org/officeDocument/2006/relationships/slide" Target="slides/slide7.xml"/><Relationship Id="rId15" Type="http://schemas.openxmlformats.org/officeDocument/2006/relationships/slide" Target="slides/slide17.xml"/><Relationship Id="rId23" Type="http://schemas.openxmlformats.org/officeDocument/2006/relationships/slide" Target="slides/slide25.xml"/><Relationship Id="rId28" Type="http://schemas.openxmlformats.org/officeDocument/2006/relationships/slide" Target="slides/slide31.xml"/><Relationship Id="rId36" Type="http://schemas.openxmlformats.org/officeDocument/2006/relationships/slide" Target="slides/slide39.xml"/><Relationship Id="rId10" Type="http://schemas.openxmlformats.org/officeDocument/2006/relationships/slide" Target="slides/slide12.xml"/><Relationship Id="rId19" Type="http://schemas.openxmlformats.org/officeDocument/2006/relationships/slide" Target="slides/slide21.xml"/><Relationship Id="rId31" Type="http://schemas.openxmlformats.org/officeDocument/2006/relationships/slide" Target="slides/slide34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6.xml"/><Relationship Id="rId22" Type="http://schemas.openxmlformats.org/officeDocument/2006/relationships/slide" Target="slides/slide24.xml"/><Relationship Id="rId27" Type="http://schemas.openxmlformats.org/officeDocument/2006/relationships/slide" Target="slides/slide30.xml"/><Relationship Id="rId30" Type="http://schemas.openxmlformats.org/officeDocument/2006/relationships/slide" Target="slides/slide33.xml"/><Relationship Id="rId35" Type="http://schemas.openxmlformats.org/officeDocument/2006/relationships/slide" Target="slides/slide38.xml"/><Relationship Id="rId8" Type="http://schemas.openxmlformats.org/officeDocument/2006/relationships/slide" Target="slides/slide10.xml"/><Relationship Id="rId3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DA18195A-CB64-47E2-B402-53696444ACC8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365603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1C615CF7-9F59-4C8A-B650-E68E69E0FC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4278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678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1347AE-0112-4774-B739-631BBB09207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Cisco Networking Academy program</a:t>
            </a:r>
          </a:p>
          <a:p>
            <a:pPr>
              <a:buFontTx/>
              <a:buNone/>
            </a:pPr>
            <a:r>
              <a:rPr lang="en-US" b="1" dirty="0"/>
              <a:t>Routing Protocols</a:t>
            </a:r>
          </a:p>
          <a:p>
            <a:pPr>
              <a:buFontTx/>
              <a:buNone/>
            </a:pPr>
            <a:r>
              <a:rPr lang="en-US" b="1" dirty="0"/>
              <a:t>Chapter 8</a:t>
            </a:r>
            <a:endParaRPr lang="en-GB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3E50C7-A33A-4B96-B5B8-3BD9C10BC48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Chapter 8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8.1.1.1 Evolution of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8.1.1.2 Features of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8.1.1.3 Components of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8.1.1.3 Components of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(cont.)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8.1.1.4 Link-State Operation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8.1.1.4 Link-State Operation (cont.)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8.1.1.4 Link-State Operation (cont.)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8.1.1.4 Link-State Operation (cont.)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8.1.1.5 Single-Area and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Multiarea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8.1.1.5 Single-Area and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Multiarea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(cont.)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8.1.2.1 Encapsulating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Messages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8.1.2.2 Types of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Packets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8.1.2.3 Hello Packet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8.1.2.3 Hello Packet (cont.)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8.1.2.4 Hello Packet Intervals (cont.)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8.1.2.5 Link-State Updates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8.1.3.1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Operational States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8.1.3.2 Establish Neighbor Adjacencies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8.1.3.2 Establish Neighbor Adjacencies (cont.)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8.1.3.3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DR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BDR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8.1.3.4 Synchronizing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Databases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8.1.3.4 Synchronizing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Databases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fr-FR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8.2.1.2 Router </a:t>
            </a:r>
            <a:r>
              <a:rPr lang="fr-FR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fr-FR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Configuration Mode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8.2.1.3 Router IDs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8.2.1.4 Configuring an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Router ID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8.2.1.5 Modifying a Router ID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8.2.1.6 Using a Loopback Interface as the Router ID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8.2.2.1 Enabling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on Interfaces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8.2.2.2 Wildcard Mask</a:t>
            </a:r>
          </a:p>
          <a:p>
            <a:pPr marL="0" marR="0" indent="0" algn="l" defTabSz="1020763" rtl="0" eaLnBrk="0" fontAlgn="base" latinLnBrk="0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8.2.2.3 The network Command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3125" y="244475"/>
            <a:ext cx="5321300" cy="3990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8.2.2.4 Passive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C615CF7-9F59-4C8A-B650-E68E69E0FCFD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3054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8.2.2.5 Configuring Passive Interfaces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8.2.3.1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Metric = Cost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8.2.3.2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Accumulates Costs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8.2.3.6 Manually Setting the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Cost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8.2.4.1 Verify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Neighbors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it-IT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8.2.4.2 Verify OSPF Protocol Settings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8.3.1.1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OSPFv3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8.3.1.2 Similarities Between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OSPFv2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to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OSPFv3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8.3.1.3 Differences Between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OSPFv2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OSPFv3</a:t>
            </a:r>
            <a:endParaRPr lang="en-US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8.3.1.4 Link-Local Addresses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8.3.2.4 Configuring the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OSPFv3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Router ID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8.3.2.6 Enabling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OSPFv3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on Interfaces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3125" y="244475"/>
            <a:ext cx="5321300" cy="3990975"/>
          </a:xfrm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8.3.3.3 Verify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OSPFv3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Interfaces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6" y="6670531"/>
            <a:ext cx="2366776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17619" y="6670531"/>
            <a:ext cx="656371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809"/>
            <a:ext cx="962025" cy="29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4043" y="6624363"/>
            <a:ext cx="322947" cy="2368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8">
              <a:lnSpc>
                <a:spcPct val="100000"/>
              </a:lnSpc>
              <a:defRPr/>
            </a:pPr>
            <a:fld id="{8549DCE3-6259-4D7A-B1A4-505BEFE2CF19}" type="slidenum">
              <a:rPr lang="en-US" sz="1000">
                <a:solidFill>
                  <a:srgbClr val="D3D3D3"/>
                </a:solidFill>
              </a:rPr>
              <a:pPr algn="r" defTabSz="81436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6" y="5940429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5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1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42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42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7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40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42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6" y="6670531"/>
            <a:ext cx="2041365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88387" y="6670531"/>
            <a:ext cx="885601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0531"/>
            <a:ext cx="962025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4043" y="6624363"/>
            <a:ext cx="322947" cy="2368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8">
              <a:lnSpc>
                <a:spcPct val="100000"/>
              </a:lnSpc>
              <a:defRPr/>
            </a:pPr>
            <a:fld id="{68B39EAB-15C0-47DB-80CA-636A5D3D8FC3}" type="slidenum">
              <a:rPr lang="en-US" sz="1000">
                <a:solidFill>
                  <a:srgbClr val="D3D3D3"/>
                </a:solidFill>
              </a:rPr>
              <a:pPr algn="r" defTabSz="81436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6" y="5940429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5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1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42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42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7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40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809"/>
            <a:ext cx="962025" cy="29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4043" y="6624363"/>
            <a:ext cx="322947" cy="2368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8">
              <a:lnSpc>
                <a:spcPct val="100000"/>
              </a:lnSpc>
              <a:defRPr/>
            </a:pPr>
            <a:fld id="{934F42D9-89E1-4620-9E58-D735D372F12F}" type="slidenum">
              <a:rPr lang="en-US" sz="1000">
                <a:solidFill>
                  <a:srgbClr val="D3D3D3"/>
                </a:solidFill>
              </a:rPr>
              <a:pPr algn="r" defTabSz="81436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42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6" y="6670531"/>
            <a:ext cx="2366776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17619" y="6670531"/>
            <a:ext cx="656371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0" r:id="rId1"/>
    <p:sldLayoutId id="2147484509" r:id="rId2"/>
    <p:sldLayoutId id="2147484510" r:id="rId3"/>
    <p:sldLayoutId id="2147484511" r:id="rId4"/>
    <p:sldLayoutId id="2147484512" r:id="rId5"/>
    <p:sldLayoutId id="2147484513" r:id="rId6"/>
    <p:sldLayoutId id="2147484514" r:id="rId7"/>
    <p:sldLayoutId id="2147484515" r:id="rId8"/>
    <p:sldLayoutId id="2147484516" r:id="rId9"/>
    <p:sldLayoutId id="2147484517" r:id="rId10"/>
    <p:sldLayoutId id="2147484518" r:id="rId11"/>
    <p:sldLayoutId id="2147484519" r:id="rId12"/>
  </p:sldLayoutIdLst>
  <p:hf hdr="0" ftr="0" dt="0"/>
  <p:txStyles>
    <p:titleStyle>
      <a:lvl1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189" algn="l" defTabSz="81436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377" algn="l" defTabSz="81436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566" algn="l" defTabSz="81436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754" algn="l" defTabSz="81436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3" indent="-236533" algn="l" defTabSz="81436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60" indent="-117472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377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094" indent="117472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23" indent="223833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11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00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488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677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0531"/>
            <a:ext cx="962025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4043" y="6624363"/>
            <a:ext cx="322947" cy="2368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8">
              <a:lnSpc>
                <a:spcPct val="100000"/>
              </a:lnSpc>
              <a:defRPr/>
            </a:pPr>
            <a:fld id="{9C83DDDE-9DCD-477B-857E-9601FF96A69C}" type="slidenum">
              <a:rPr lang="en-US" sz="1000">
                <a:solidFill>
                  <a:srgbClr val="D3D3D3"/>
                </a:solidFill>
              </a:rPr>
              <a:pPr algn="r" defTabSz="81436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42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6" y="6670531"/>
            <a:ext cx="2041365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88387" y="6670531"/>
            <a:ext cx="885601" cy="19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6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2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hf hdr="0" ftr="0" dt="0"/>
  <p:txStyles>
    <p:titleStyle>
      <a:lvl1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6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189" algn="l" defTabSz="81436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377" algn="l" defTabSz="81436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566" algn="l" defTabSz="81436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754" algn="l" defTabSz="81436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3" indent="-236533" algn="l" defTabSz="81436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60" indent="-117472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377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094" indent="117472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23" indent="223833" algn="l" defTabSz="81436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11" algn="l" defTabSz="81436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00" algn="l" defTabSz="81436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488" algn="l" defTabSz="81436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677" algn="l" defTabSz="81436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6116" y="2263776"/>
            <a:ext cx="4513943" cy="1481139"/>
          </a:xfrm>
        </p:spPr>
        <p:txBody>
          <a:bodyPr/>
          <a:lstStyle/>
          <a:p>
            <a:pPr eaLnBrk="1" hangingPunct="1"/>
            <a:r>
              <a:rPr lang="en-US" sz="2800" dirty="0"/>
              <a:t>Chapter 8: Single-Area OSPF</a:t>
            </a:r>
            <a:endParaRPr lang="en-US" sz="2800" dirty="0">
              <a:solidFill>
                <a:schemeClr val="folHlink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0755" y="3534331"/>
            <a:ext cx="7462492" cy="1673776"/>
          </a:xfrm>
        </p:spPr>
        <p:txBody>
          <a:bodyPr/>
          <a:lstStyle/>
          <a:p>
            <a:pPr algn="ctr" eaLnBrk="1" hangingPunct="1"/>
            <a:r>
              <a:rPr lang="en-US" sz="5400" dirty="0"/>
              <a:t>Routing &amp; Switching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606E6E7-7521-8746-4DFE-B30DF6371364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287892" y="1844677"/>
            <a:ext cx="8145463" cy="1478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ctr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b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5pPr>
            <a:lvl6pPr marL="4572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6pPr>
            <a:lvl7pPr marL="9144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7pPr>
            <a:lvl8pPr marL="13716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8pPr>
            <a:lvl9pPr marL="1828800" algn="l" defTabSz="814388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708CA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800" kern="0">
                <a:solidFill>
                  <a:schemeClr val="tx1"/>
                </a:solidFill>
                <a:ea typeface="ＭＳ Ｐゴシック" pitchFamily="34" charset="-128"/>
              </a:rPr>
              <a:t>Chapter 5</a:t>
            </a:r>
            <a:endParaRPr lang="en-US" sz="4800" kern="0" dirty="0">
              <a:solidFill>
                <a:schemeClr val="tx1"/>
              </a:solidFill>
              <a:ea typeface="ＭＳ Ｐゴシック" pitchFamily="34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47716" y="1799774"/>
            <a:ext cx="8131175" cy="4239079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Characteristics of OSPF</a:t>
            </a:r>
          </a:p>
          <a:p>
            <a:pPr eaLnBrk="1" hangingPunct="1"/>
            <a:r>
              <a:rPr lang="en-US" dirty="0">
                <a:cs typeface="Arial" charset="0"/>
              </a:rPr>
              <a:t>Configuring Single-area OSPFv2</a:t>
            </a:r>
          </a:p>
          <a:p>
            <a:pPr eaLnBrk="1" hangingPunct="1"/>
            <a:r>
              <a:rPr lang="en-US" dirty="0">
                <a:cs typeface="Arial" charset="0"/>
              </a:rPr>
              <a:t>Configure Single-area OSPFv3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171DC0-ADE3-3FE3-6BF6-8DCA41D2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LB" dirty="0"/>
              <a:t>utline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Evolution of OSPF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39526" y="1724934"/>
            <a:ext cx="7940675" cy="553811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Interior Gateway Protocols</a:t>
            </a:r>
            <a:r>
              <a:rPr lang="en-CA" dirty="0"/>
              <a:t> 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744" y="2420259"/>
            <a:ext cx="7430047" cy="203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H="1">
            <a:off x="2786746" y="3629802"/>
            <a:ext cx="1175659" cy="15808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2409375" y="5210630"/>
            <a:ext cx="754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1988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>
            <a:off x="4368803" y="4020458"/>
            <a:ext cx="1074057" cy="11901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442858" y="4905828"/>
            <a:ext cx="1494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1989</a:t>
            </a:r>
          </a:p>
          <a:p>
            <a:r>
              <a:rPr lang="en-US" sz="2000" dirty="0">
                <a:solidFill>
                  <a:srgbClr val="FF0000"/>
                </a:solidFill>
              </a:rPr>
              <a:t>updated in 2008</a:t>
            </a:r>
          </a:p>
        </p:txBody>
      </p:sp>
    </p:spTree>
    <p:extLst>
      <p:ext uri="{BB962C8B-B14F-4D97-AF65-F5344CB8AC3E}">
        <p14:creationId xmlns:p14="http://schemas.microsoft.com/office/powerpoint/2010/main" val="3404542314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Features of OSPF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456" y="1557339"/>
            <a:ext cx="5887803" cy="4810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396496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Components of OSPF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2" y="1560063"/>
            <a:ext cx="6618515" cy="487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6003117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Components of OSPF (cont.)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3"/>
          <a:stretch/>
        </p:blipFill>
        <p:spPr bwMode="auto">
          <a:xfrm>
            <a:off x="1469584" y="3684105"/>
            <a:ext cx="6200311" cy="3106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0578" y="1513115"/>
            <a:ext cx="817091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dirty="0"/>
              <a:t>OSPF Routers Exchange Packets - These packets are used </a:t>
            </a:r>
          </a:p>
          <a:p>
            <a:pPr marL="457189" indent="-457189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discover neighboring routers</a:t>
            </a:r>
          </a:p>
          <a:p>
            <a:pPr marL="457189" indent="-457189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exchange routing information</a:t>
            </a:r>
          </a:p>
          <a:p>
            <a:pPr marL="457189" indent="-457189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maintain accurate information about the network.</a:t>
            </a:r>
          </a:p>
        </p:txBody>
      </p:sp>
    </p:spTree>
    <p:extLst>
      <p:ext uri="{BB962C8B-B14F-4D97-AF65-F5344CB8AC3E}">
        <p14:creationId xmlns:p14="http://schemas.microsoft.com/office/powerpoint/2010/main" val="4232987559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Link-State Operation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80" y="1770244"/>
            <a:ext cx="4458835" cy="4471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221359" y="2385637"/>
            <a:ext cx="3776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/>
              <a:t>If a neighbor is present, the OSPF-enabled router attempts to establish a neighbor adjacency with that neighbor</a:t>
            </a:r>
          </a:p>
        </p:txBody>
      </p:sp>
    </p:spTree>
    <p:extLst>
      <p:ext uri="{BB962C8B-B14F-4D97-AF65-F5344CB8AC3E}">
        <p14:creationId xmlns:p14="http://schemas.microsoft.com/office/powerpoint/2010/main" val="1967631064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Link-State Operation (cont.)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861659" y="1550086"/>
            <a:ext cx="428234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91" indent="-342891" algn="l">
              <a:lnSpc>
                <a:spcPct val="10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LSAs contain the state and cost of each directly connected link. 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Routers flood their LSAs to adjacent neighbors. 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Adjacent neighbors receiving the LSA immediately flood the LSA to other directly connected neighbors, until all routers in the area have all LSAs.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09" y="1708609"/>
            <a:ext cx="4584248" cy="4558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7816991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Link-State Operation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7" y="1611086"/>
            <a:ext cx="5210793" cy="489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035826" y="1786511"/>
            <a:ext cx="4043971" cy="308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91" indent="-342891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Build the topology table based on the received LSAs. </a:t>
            </a:r>
          </a:p>
          <a:p>
            <a:pPr marL="342891" indent="-342891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This database eventually holds all the information about the topology of the network.</a:t>
            </a:r>
          </a:p>
          <a:p>
            <a:pPr marL="342891" indent="-342891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Execute the SPF Algorithm.</a:t>
            </a:r>
          </a:p>
        </p:txBody>
      </p:sp>
    </p:spTree>
    <p:extLst>
      <p:ext uri="{BB962C8B-B14F-4D97-AF65-F5344CB8AC3E}">
        <p14:creationId xmlns:p14="http://schemas.microsoft.com/office/powerpoint/2010/main" val="3328232239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Link-State Operation (cont.)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47274" y="2718038"/>
            <a:ext cx="3455083" cy="164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/>
              <a:t>From the SPF tree, the best paths are inserted into the routing table. 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00" y="1640738"/>
            <a:ext cx="4675415" cy="4829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6007692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733" y="2830062"/>
            <a:ext cx="4320249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Single-area and Multiarea OSPF 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" y="1558570"/>
            <a:ext cx="4452729" cy="3448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0862354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Open Shortest Path First</a:t>
            </a:r>
            <a:br>
              <a:rPr lang="en-US" dirty="0"/>
            </a:br>
            <a:r>
              <a:rPr lang="en-US" dirty="0"/>
              <a:t>Single-area and Multiarea OSPF (cont.)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60" y="1681163"/>
            <a:ext cx="6466440" cy="481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8042173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Messages</a:t>
            </a:r>
            <a:br>
              <a:rPr lang="en-US" dirty="0"/>
            </a:br>
            <a:r>
              <a:rPr lang="en-US" dirty="0"/>
              <a:t>Encapsulating OSPF Messages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031" y="1629231"/>
            <a:ext cx="5522007" cy="5059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5931206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Messages</a:t>
            </a:r>
            <a:br>
              <a:rPr lang="en-US" dirty="0"/>
            </a:br>
            <a:r>
              <a:rPr lang="en-US" dirty="0"/>
              <a:t>Types of OSPF Packets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11"/>
          <a:stretch/>
        </p:blipFill>
        <p:spPr bwMode="auto">
          <a:xfrm>
            <a:off x="564815" y="1872343"/>
            <a:ext cx="7882503" cy="3971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0973461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Messages</a:t>
            </a:r>
            <a:br>
              <a:rPr lang="en-US" sz="1800" dirty="0"/>
            </a:br>
            <a:r>
              <a:rPr lang="en-US" dirty="0"/>
              <a:t>Hello Packet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7323" y="1680159"/>
            <a:ext cx="8229600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OSPF Type 1 packet = Hello packet: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678DC5"/>
              </a:buClr>
              <a:buFont typeface="Wingdings" pitchFamily="2" charset="2"/>
              <a:buChar char="§"/>
            </a:pPr>
            <a:r>
              <a:rPr lang="en-US" dirty="0"/>
              <a:t>Discover OSPF neighbors and establish neighbor adjacencies.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678DC5"/>
              </a:buClr>
              <a:buFont typeface="Wingdings" pitchFamily="2" charset="2"/>
              <a:buChar char="§"/>
            </a:pPr>
            <a:r>
              <a:rPr lang="en-US" dirty="0"/>
              <a:t>Advertise parameters on which two routers must agree to become neighbors.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678DC5"/>
              </a:buClr>
              <a:buFont typeface="Wingdings" pitchFamily="2" charset="2"/>
              <a:buChar char="§"/>
            </a:pPr>
            <a:r>
              <a:rPr lang="en-US" dirty="0"/>
              <a:t>Elect the Designated Router (DR) and Backup Designated Router (BDR) on multiaccess networks like Ethernet and Frame Relay.</a:t>
            </a:r>
          </a:p>
        </p:txBody>
      </p:sp>
    </p:spTree>
    <p:extLst>
      <p:ext uri="{BB962C8B-B14F-4D97-AF65-F5344CB8AC3E}">
        <p14:creationId xmlns:p14="http://schemas.microsoft.com/office/powerpoint/2010/main" val="1991882133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Messages</a:t>
            </a:r>
            <a:br>
              <a:rPr lang="en-US" sz="1800" dirty="0"/>
            </a:br>
            <a:r>
              <a:rPr lang="en-US" dirty="0"/>
              <a:t>Hello Packet (cont.)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183" y="1412423"/>
            <a:ext cx="6344172" cy="5220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7132989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Messages</a:t>
            </a:r>
            <a:br>
              <a:rPr lang="en-US" sz="1800" dirty="0"/>
            </a:br>
            <a:r>
              <a:rPr lang="en-US" dirty="0"/>
              <a:t>Hello Packet Intervals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8974" y="1637028"/>
            <a:ext cx="8113487" cy="4909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OSPF Hello packets are transmitted: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/>
              <a:t>To 224.0.0.5 in IPv4 and FF02::5 in IPv6 (all OSPF routers)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/>
              <a:t>Every 10 seconds (default on </a:t>
            </a:r>
            <a:r>
              <a:rPr lang="en-US" dirty="0" err="1"/>
              <a:t>multiaccess</a:t>
            </a:r>
            <a:r>
              <a:rPr lang="en-US" dirty="0"/>
              <a:t> and point-to-point networks)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/>
              <a:t>Every 30 seconds (default on non-broadcast </a:t>
            </a:r>
            <a:r>
              <a:rPr lang="en-US" dirty="0" err="1"/>
              <a:t>multiaccess</a:t>
            </a:r>
            <a:r>
              <a:rPr lang="en-US" dirty="0"/>
              <a:t> [NBMA] networks)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/>
              <a:t>Dead interval is the period that the router waits to receive a Hello packet before declaring the neighbor down</a:t>
            </a:r>
          </a:p>
          <a:p>
            <a:pPr marL="342891" indent="-342891" algn="l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dirty="0"/>
              <a:t>Router floods the LSDB with information about down neighbors out all OSPF enabled interfaces</a:t>
            </a:r>
          </a:p>
        </p:txBody>
      </p:sp>
    </p:spTree>
    <p:extLst>
      <p:ext uri="{BB962C8B-B14F-4D97-AF65-F5344CB8AC3E}">
        <p14:creationId xmlns:p14="http://schemas.microsoft.com/office/powerpoint/2010/main" val="3069834745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Messages</a:t>
            </a:r>
            <a:br>
              <a:rPr lang="en-US" dirty="0"/>
            </a:br>
            <a:r>
              <a:rPr lang="en-US" dirty="0"/>
              <a:t>Link-State Updates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042" y="1604283"/>
            <a:ext cx="6658827" cy="507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6807861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Operation</a:t>
            </a:r>
            <a:br>
              <a:rPr lang="en-US" sz="1800" dirty="0"/>
            </a:br>
            <a:r>
              <a:rPr lang="en-US" dirty="0"/>
              <a:t>OSPF Operational States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88" y="1731511"/>
            <a:ext cx="3723255" cy="4704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35432" y="1731512"/>
            <a:ext cx="3744685" cy="474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When an OSPF router is initially connected to a network, it attempts to:</a:t>
            </a:r>
          </a:p>
          <a:p>
            <a:pPr marL="342891" indent="-342891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Create adjacencies with neighbors</a:t>
            </a:r>
          </a:p>
          <a:p>
            <a:pPr marL="342891" indent="-342891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Exchange routing information</a:t>
            </a:r>
          </a:p>
          <a:p>
            <a:pPr marL="342891" indent="-342891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Calculate the best routes</a:t>
            </a:r>
          </a:p>
          <a:p>
            <a:pPr marL="342891" indent="-342891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Reach convergence</a:t>
            </a:r>
          </a:p>
          <a:p>
            <a:pPr marL="342891" indent="-342891"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</a:pPr>
            <a:r>
              <a:rPr lang="en-US" dirty="0"/>
              <a:t>OSPF progresses through several states while attempting to reach convergence.</a:t>
            </a:r>
          </a:p>
        </p:txBody>
      </p:sp>
    </p:spTree>
    <p:extLst>
      <p:ext uri="{BB962C8B-B14F-4D97-AF65-F5344CB8AC3E}">
        <p14:creationId xmlns:p14="http://schemas.microsoft.com/office/powerpoint/2010/main" val="3270213307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898" y="3976915"/>
            <a:ext cx="4745563" cy="2534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Operation</a:t>
            </a:r>
            <a:br>
              <a:rPr lang="en-US" sz="1800" dirty="0"/>
            </a:br>
            <a:r>
              <a:rPr lang="en-US" dirty="0"/>
              <a:t>Establish Neighbor Adjacencies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4" y="1857116"/>
            <a:ext cx="4404407" cy="308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602571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Operation</a:t>
            </a:r>
            <a:br>
              <a:rPr lang="en-US" sz="1800" dirty="0"/>
            </a:br>
            <a:r>
              <a:rPr lang="en-US" dirty="0"/>
              <a:t>Establish Neighbor Adjacencies (cont.)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2" y="1729018"/>
            <a:ext cx="4747923" cy="2523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381" y="3730174"/>
            <a:ext cx="5068220" cy="243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14400" y="6169253"/>
            <a:ext cx="75692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 </a:t>
            </a:r>
            <a:r>
              <a:rPr lang="en-US" sz="1400" b="1" dirty="0"/>
              <a:t>DR and BDR election only occurs on multi-access networks such as Ethernet LANs.</a:t>
            </a:r>
          </a:p>
        </p:txBody>
      </p:sp>
    </p:spTree>
    <p:extLst>
      <p:ext uri="{BB962C8B-B14F-4D97-AF65-F5344CB8AC3E}">
        <p14:creationId xmlns:p14="http://schemas.microsoft.com/office/powerpoint/2010/main" val="1923434376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Operation</a:t>
            </a:r>
            <a:br>
              <a:rPr lang="en-US" dirty="0"/>
            </a:br>
            <a:r>
              <a:rPr lang="en-US" dirty="0"/>
              <a:t>OSPF DR and BDR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890" y="1465943"/>
            <a:ext cx="4605431" cy="521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1401386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Operation</a:t>
            </a:r>
            <a:br>
              <a:rPr lang="en-US" dirty="0"/>
            </a:br>
            <a:r>
              <a:rPr lang="en-US" dirty="0"/>
              <a:t>Synchronizing OSPF Database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370" y="1795238"/>
            <a:ext cx="6628375" cy="2833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8202724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Operation</a:t>
            </a:r>
            <a:br>
              <a:rPr lang="en-US" dirty="0"/>
            </a:br>
            <a:r>
              <a:rPr lang="en-US" dirty="0"/>
              <a:t>Synchronizing OSPF Database (cont.)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887" y="1885271"/>
            <a:ext cx="5135336" cy="4700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1153849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Router ID</a:t>
            </a:r>
            <a:br>
              <a:rPr lang="en-US" sz="1800" dirty="0"/>
            </a:br>
            <a:r>
              <a:rPr lang="en-US" dirty="0"/>
              <a:t>OSPF Network Topology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231" y="1530582"/>
            <a:ext cx="7028189" cy="513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8547545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Router ID</a:t>
            </a:r>
            <a:br>
              <a:rPr lang="en-US" dirty="0"/>
            </a:br>
            <a:r>
              <a:rPr lang="en-US" dirty="0"/>
              <a:t>Router IDs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38" y="4792667"/>
            <a:ext cx="4209143" cy="1702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097" y="956980"/>
            <a:ext cx="5334760" cy="416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66"/>
          <a:stretch/>
        </p:blipFill>
        <p:spPr bwMode="auto">
          <a:xfrm>
            <a:off x="199734" y="1524000"/>
            <a:ext cx="4242545" cy="1572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77" y="3174781"/>
            <a:ext cx="4267200" cy="1000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5768974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 Configure Single-area OSPFv2</a:t>
            </a:r>
            <a:br>
              <a:rPr lang="en-US" dirty="0"/>
            </a:br>
            <a:r>
              <a:rPr lang="en-US" dirty="0"/>
              <a:t>The network Command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988" y="1644881"/>
            <a:ext cx="6300365" cy="233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8101" y="4223658"/>
            <a:ext cx="6134129" cy="2383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952212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41" y="1651690"/>
            <a:ext cx="7940675" cy="3571875"/>
          </a:xfrm>
        </p:spPr>
        <p:txBody>
          <a:bodyPr/>
          <a:lstStyle/>
          <a:p>
            <a:r>
              <a:rPr lang="en-US" sz="2000" dirty="0"/>
              <a:t>By default, </a:t>
            </a:r>
            <a:r>
              <a:rPr lang="en-US" sz="2000" dirty="0" err="1"/>
              <a:t>OSPF</a:t>
            </a:r>
            <a:r>
              <a:rPr lang="en-US" sz="2000" dirty="0"/>
              <a:t> messages are forwarded out all </a:t>
            </a:r>
            <a:r>
              <a:rPr lang="en-US" sz="2000" dirty="0" err="1"/>
              <a:t>OSPF</a:t>
            </a:r>
            <a:r>
              <a:rPr lang="en-US" sz="2000" dirty="0"/>
              <a:t>-enabled interfaces. However, these messages really only need to be sent out interfaces connecting to other </a:t>
            </a:r>
            <a:r>
              <a:rPr lang="en-US" sz="2000" dirty="0" err="1"/>
              <a:t>OSPF</a:t>
            </a:r>
            <a:r>
              <a:rPr lang="en-US" sz="2000" dirty="0"/>
              <a:t>-enabled routers.</a:t>
            </a:r>
          </a:p>
          <a:p>
            <a:r>
              <a:rPr lang="en-US" sz="2000" dirty="0"/>
              <a:t>Sending out unneeded messages on a LAN affects the network in three ways:</a:t>
            </a:r>
          </a:p>
          <a:p>
            <a:pPr marL="681020" lvl="1" indent="-342891">
              <a:buFont typeface="Wingdings" pitchFamily="2" charset="2"/>
              <a:buChar char="§"/>
            </a:pPr>
            <a:r>
              <a:rPr lang="en-US" dirty="0"/>
              <a:t>Inefficient Use of Bandwidth</a:t>
            </a:r>
          </a:p>
          <a:p>
            <a:pPr marL="681020" lvl="1" indent="-342891">
              <a:buFont typeface="Wingdings" pitchFamily="2" charset="2"/>
              <a:buChar char="§"/>
            </a:pPr>
            <a:r>
              <a:rPr lang="en-US" dirty="0"/>
              <a:t>Inefficient Use of Resources</a:t>
            </a:r>
          </a:p>
          <a:p>
            <a:pPr marL="681020" lvl="1" indent="-342891">
              <a:buFont typeface="Wingdings" pitchFamily="2" charset="2"/>
              <a:buChar char="§"/>
            </a:pPr>
            <a:r>
              <a:rPr lang="en-US" dirty="0"/>
              <a:t>Increased Security Risk</a:t>
            </a:r>
          </a:p>
          <a:p>
            <a:r>
              <a:rPr lang="pt-BR" sz="2000" dirty="0"/>
              <a:t>The Passive Interface feature helps limiting the scope of routing updates advertisements.</a:t>
            </a:r>
            <a:endParaRPr lang="en-US" sz="20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55639" y="595317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Single-Area OSPFv2</a:t>
            </a:r>
            <a:br>
              <a:rPr lang="en-US" dirty="0"/>
            </a:br>
            <a:r>
              <a:rPr lang="en-US" dirty="0"/>
              <a:t>Passive Interface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48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 Configure Single-area OSPFv2</a:t>
            </a:r>
            <a:br>
              <a:rPr lang="en-US" dirty="0"/>
            </a:br>
            <a:r>
              <a:rPr lang="en-US" dirty="0"/>
              <a:t>Configuring Passive Interfaces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244" y="1725613"/>
            <a:ext cx="6440901" cy="1999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719943" y="4004880"/>
            <a:ext cx="62774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/>
              <a:t>Use the</a:t>
            </a:r>
            <a:r>
              <a:rPr lang="en-US" b="1" dirty="0"/>
              <a:t> passive-interface </a:t>
            </a:r>
            <a:r>
              <a:rPr lang="en-US" dirty="0"/>
              <a:t>router configuration mode command to prevent the transmission of routing messages through a router interface, but still allow that network to be advertised to other routers.</a:t>
            </a:r>
          </a:p>
        </p:txBody>
      </p:sp>
    </p:spTree>
    <p:extLst>
      <p:ext uri="{BB962C8B-B14F-4D97-AF65-F5344CB8AC3E}">
        <p14:creationId xmlns:p14="http://schemas.microsoft.com/office/powerpoint/2010/main" val="1028975329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 OSPF Cost</a:t>
            </a:r>
            <a:br>
              <a:rPr lang="en-US" dirty="0"/>
            </a:br>
            <a:r>
              <a:rPr lang="en-US" dirty="0"/>
              <a:t>OSPF Metric = Cost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831" y="2322548"/>
            <a:ext cx="5085896" cy="43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49943" y="1399217"/>
            <a:ext cx="8461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Cost = </a:t>
            </a:r>
            <a:r>
              <a:rPr lang="en-US" sz="2000" i="1" u="sng" dirty="0"/>
              <a:t>reference bandwidth</a:t>
            </a:r>
            <a:r>
              <a:rPr lang="en-US" sz="2000" i="1" dirty="0"/>
              <a:t> </a:t>
            </a:r>
            <a:r>
              <a:rPr lang="en-US" sz="2000" dirty="0"/>
              <a:t>/ </a:t>
            </a:r>
            <a:r>
              <a:rPr lang="en-US" sz="2000" i="1" u="sng" dirty="0"/>
              <a:t>interface bandwidth</a:t>
            </a:r>
            <a:endParaRPr lang="en-US" sz="2000" dirty="0"/>
          </a:p>
          <a:p>
            <a:pPr algn="l"/>
            <a:r>
              <a:rPr lang="en-US" sz="2000" dirty="0"/>
              <a:t>(default reference bandwidth is 10^8)</a:t>
            </a:r>
          </a:p>
          <a:p>
            <a:pPr algn="l"/>
            <a:r>
              <a:rPr lang="en-US" sz="2000" dirty="0"/>
              <a:t>Cost = </a:t>
            </a:r>
            <a:r>
              <a:rPr lang="en-US" sz="2000" u="sng" dirty="0"/>
              <a:t>100,000,000 bps</a:t>
            </a:r>
            <a:r>
              <a:rPr lang="en-US" sz="2000" dirty="0"/>
              <a:t> / </a:t>
            </a:r>
            <a:r>
              <a:rPr lang="en-US" sz="2000" i="1" u="sng" dirty="0"/>
              <a:t>interface bandwidth in bps</a:t>
            </a:r>
            <a:r>
              <a:rPr lang="en-US" sz="2000" i="1" dirty="0"/>
              <a:t> 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9931094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 OSPF Cost</a:t>
            </a:r>
            <a:br>
              <a:rPr lang="en-US" dirty="0"/>
            </a:br>
            <a:r>
              <a:rPr lang="en-US" dirty="0"/>
              <a:t>OSPF Accumulates Costs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9943" y="1573391"/>
            <a:ext cx="8461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Cost of an OSPF route is the accumulated value from one router to the destination network.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41" y="2290443"/>
            <a:ext cx="7748777" cy="3921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7725451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 OSPF Cost</a:t>
            </a:r>
            <a:br>
              <a:rPr lang="en-US" dirty="0"/>
            </a:br>
            <a:r>
              <a:rPr lang="en-US" dirty="0"/>
              <a:t>Manually Setting the OSPF Cost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4460" y="1567545"/>
            <a:ext cx="815702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dirty="0"/>
              <a:t>Both the</a:t>
            </a:r>
            <a:r>
              <a:rPr lang="en-US" sz="2000" b="1" dirty="0"/>
              <a:t> bandwidth </a:t>
            </a:r>
            <a:r>
              <a:rPr lang="en-US" sz="2000" dirty="0"/>
              <a:t>interface command and the</a:t>
            </a:r>
            <a:r>
              <a:rPr lang="en-US" sz="2000" b="1" dirty="0"/>
              <a:t> </a:t>
            </a:r>
            <a:r>
              <a:rPr lang="en-US" sz="2000" b="1" dirty="0" err="1"/>
              <a:t>ip</a:t>
            </a:r>
            <a:r>
              <a:rPr lang="en-US" sz="2000" b="1" dirty="0"/>
              <a:t> </a:t>
            </a:r>
            <a:r>
              <a:rPr lang="en-US" sz="2000" b="1" dirty="0" err="1"/>
              <a:t>ospf</a:t>
            </a:r>
            <a:r>
              <a:rPr lang="en-US" sz="2000" b="1" dirty="0"/>
              <a:t> cost </a:t>
            </a:r>
            <a:r>
              <a:rPr lang="en-US" sz="2000" dirty="0"/>
              <a:t>interface command achieve the same result, which is to provide an accurate value for use by OSPF in determining the best route.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614" y="2817133"/>
            <a:ext cx="6408721" cy="2974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7277010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 Verify OSPF</a:t>
            </a:r>
            <a:br>
              <a:rPr lang="en-US" sz="1800" dirty="0"/>
            </a:br>
            <a:r>
              <a:rPr lang="en-US" dirty="0"/>
              <a:t>Verify OSPF Neighbors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773" y="2520728"/>
            <a:ext cx="6110515" cy="1845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349830" y="1874397"/>
            <a:ext cx="599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Verify that the router has formed an adjacency with its neighboring routers.</a:t>
            </a:r>
          </a:p>
        </p:txBody>
      </p:sp>
    </p:spTree>
    <p:extLst>
      <p:ext uri="{BB962C8B-B14F-4D97-AF65-F5344CB8AC3E}">
        <p14:creationId xmlns:p14="http://schemas.microsoft.com/office/powerpoint/2010/main" val="2612333853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 Verify OSPF</a:t>
            </a:r>
            <a:br>
              <a:rPr lang="en-US" sz="1800" dirty="0"/>
            </a:br>
            <a:r>
              <a:rPr lang="en-US" dirty="0"/>
              <a:t>Verify OSPF Protocol Settings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427" y="1497469"/>
            <a:ext cx="5432607" cy="5004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3810883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OSPFv2 vs. OSPFv3</a:t>
            </a:r>
            <a:br>
              <a:rPr lang="en-US" sz="1800" dirty="0"/>
            </a:br>
            <a:r>
              <a:rPr lang="en-US" dirty="0" err="1"/>
              <a:t>OSPFv3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947" y="1742943"/>
            <a:ext cx="5856968" cy="4648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37118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OSPFv2 vs. OSPFv3</a:t>
            </a:r>
            <a:br>
              <a:rPr lang="en-US" sz="1800" dirty="0"/>
            </a:br>
            <a:r>
              <a:rPr lang="en-US" dirty="0"/>
              <a:t>Similarities Between OSPFv2 to OSPFv3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73" y="2281242"/>
            <a:ext cx="7530428" cy="343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284742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OSPFv2 vs. OSPFv3</a:t>
            </a:r>
            <a:br>
              <a:rPr lang="en-US" sz="1800" dirty="0"/>
            </a:br>
            <a:r>
              <a:rPr lang="en-US" dirty="0"/>
              <a:t>Differences Between OSPFv2 to OSPFv3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791" y="1660071"/>
            <a:ext cx="6956983" cy="460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7360156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OSPFv2 vs. OSPFv3</a:t>
            </a:r>
            <a:br>
              <a:rPr lang="en-US" sz="1800" dirty="0"/>
            </a:br>
            <a:r>
              <a:rPr lang="en-US" dirty="0"/>
              <a:t>Link-Local Addresses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373" y="1457327"/>
            <a:ext cx="5769429" cy="4390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96571" y="5733142"/>
            <a:ext cx="6574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FF02::5 address is the all OSPF router address</a:t>
            </a:r>
          </a:p>
          <a:p>
            <a:pPr algn="l"/>
            <a:r>
              <a:rPr lang="en-US" sz="2000" dirty="0"/>
              <a:t>FF02::6 is the DR/BDR multicast address</a:t>
            </a:r>
          </a:p>
        </p:txBody>
      </p:sp>
    </p:spTree>
    <p:extLst>
      <p:ext uri="{BB962C8B-B14F-4D97-AF65-F5344CB8AC3E}">
        <p14:creationId xmlns:p14="http://schemas.microsoft.com/office/powerpoint/2010/main" val="1968663770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9181" y="5937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Configuring OSFPv3</a:t>
            </a:r>
            <a:br>
              <a:rPr lang="en-US" sz="1800" dirty="0"/>
            </a:br>
            <a:r>
              <a:rPr lang="en-US" dirty="0"/>
              <a:t>Configuring the OSPFv3 Router ID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886" y="1720173"/>
            <a:ext cx="4879975" cy="451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987201"/>
      </p:ext>
    </p:extLst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8" y="492126"/>
            <a:ext cx="8456613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OSPF Configuring OSFPv3</a:t>
            </a:r>
            <a:br>
              <a:rPr lang="en-US" sz="1800" dirty="0"/>
            </a:br>
            <a:r>
              <a:rPr lang="en-US" dirty="0"/>
              <a:t>Enabling OSPFv3 on Interfaces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03"/>
          <a:stretch/>
        </p:blipFill>
        <p:spPr bwMode="auto">
          <a:xfrm>
            <a:off x="1378440" y="2772229"/>
            <a:ext cx="5849677" cy="380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98290" y="1669145"/>
            <a:ext cx="7823199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dirty="0"/>
              <a:t>Instead of using the</a:t>
            </a:r>
            <a:r>
              <a:rPr lang="en-US" b="1" dirty="0"/>
              <a:t> network </a:t>
            </a:r>
            <a:r>
              <a:rPr lang="en-US" dirty="0"/>
              <a:t>router configuration mode command to specify matching interface addresses, OSPFv3 is configured directly on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3581053464"/>
      </p:ext>
    </p:extLst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17716" y="492126"/>
            <a:ext cx="8824687" cy="871539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Verify OSPFv3</a:t>
            </a:r>
            <a:br>
              <a:rPr lang="en-US" sz="1800" dirty="0"/>
            </a:br>
            <a:r>
              <a:rPr lang="en-US" dirty="0"/>
              <a:t>Verify OSPFv3 Interfaces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507" y="2026524"/>
            <a:ext cx="7214669" cy="2124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2824736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17516</TotalTime>
  <Pages>28</Pages>
  <Words>1135</Words>
  <Application>Microsoft Macintosh PowerPoint</Application>
  <PresentationFormat>On-screen Show (4:3)</PresentationFormat>
  <Paragraphs>184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ＭＳ Ｐゴシック</vt:lpstr>
      <vt:lpstr>Arial</vt:lpstr>
      <vt:lpstr>Wingdings</vt:lpstr>
      <vt:lpstr>PPT-TMPLT-WHT_C</vt:lpstr>
      <vt:lpstr>NetAcad-4F_PPT-WHT_060408</vt:lpstr>
      <vt:lpstr>Chapter 8: Single-Area OSPF</vt:lpstr>
      <vt:lpstr>Outline </vt:lpstr>
      <vt:lpstr>Open Shortest Path First Evolution of OSPF</vt:lpstr>
      <vt:lpstr>Open Shortest Path First Features of OSPF</vt:lpstr>
      <vt:lpstr>Open Shortest Path First Components of OSPF</vt:lpstr>
      <vt:lpstr>Open Shortest Path First Components of OSPF (cont.)</vt:lpstr>
      <vt:lpstr>Open Shortest Path First Link-State Operation</vt:lpstr>
      <vt:lpstr>Open Shortest Path First Link-State Operation (cont.)</vt:lpstr>
      <vt:lpstr>Open Shortest Path First Link-State Operation</vt:lpstr>
      <vt:lpstr>Open Shortest Path First Link-State Operation (cont.)</vt:lpstr>
      <vt:lpstr>Open Shortest Path First Single-area and Multiarea OSPF </vt:lpstr>
      <vt:lpstr>Open Shortest Path First Single-area and Multiarea OSPF (cont.)</vt:lpstr>
      <vt:lpstr>OSPF Messages Encapsulating OSPF Messages</vt:lpstr>
      <vt:lpstr>OSPF Messages Types of OSPF Packets</vt:lpstr>
      <vt:lpstr>OSPF Messages Hello Packet</vt:lpstr>
      <vt:lpstr>OSPF Messages Hello Packet (cont.)</vt:lpstr>
      <vt:lpstr>OSPF Messages Hello Packet Intervals</vt:lpstr>
      <vt:lpstr>OSPF Messages Link-State Updates</vt:lpstr>
      <vt:lpstr>OSPF Operation OSPF Operational States</vt:lpstr>
      <vt:lpstr>OSPF Operation Establish Neighbor Adjacencies</vt:lpstr>
      <vt:lpstr>OSPF Operation Establish Neighbor Adjacencies (cont.)</vt:lpstr>
      <vt:lpstr>OSPF Operation OSPF DR and BDR</vt:lpstr>
      <vt:lpstr>OSPF Operation Synchronizing OSPF Database</vt:lpstr>
      <vt:lpstr>OSPF Operation Synchronizing OSPF Database (cont.)</vt:lpstr>
      <vt:lpstr>OSPF Router ID OSPF Network Topology</vt:lpstr>
      <vt:lpstr>OSPF Router ID Router IDs</vt:lpstr>
      <vt:lpstr> Configure Single-area OSPFv2 The network Command</vt:lpstr>
      <vt:lpstr>Configure Single-Area OSPFv2 Passive Interface</vt:lpstr>
      <vt:lpstr> Configure Single-area OSPFv2 Configuring Passive Interfaces</vt:lpstr>
      <vt:lpstr> OSPF Cost OSPF Metric = Cost</vt:lpstr>
      <vt:lpstr> OSPF Cost OSPF Accumulates Costs</vt:lpstr>
      <vt:lpstr> OSPF Cost Manually Setting the OSPF Cost</vt:lpstr>
      <vt:lpstr> Verify OSPF Verify OSPF Neighbors</vt:lpstr>
      <vt:lpstr> Verify OSPF Verify OSPF Protocol Settings</vt:lpstr>
      <vt:lpstr>OSPFv2 vs. OSPFv3 OSPFv3</vt:lpstr>
      <vt:lpstr>OSPFv2 vs. OSPFv3 Similarities Between OSPFv2 to OSPFv3</vt:lpstr>
      <vt:lpstr>OSPFv2 vs. OSPFv3 Differences Between OSPFv2 to OSPFv3</vt:lpstr>
      <vt:lpstr>OSPFv2 vs. OSPFv3 Link-Local Addresses</vt:lpstr>
      <vt:lpstr>Configuring OSFPv3 Configuring the OSPFv3 Router ID</vt:lpstr>
      <vt:lpstr>OSPF Configuring OSFPv3 Enabling OSPFv3 on Interfaces</vt:lpstr>
      <vt:lpstr>Verify OSPFv3 Verify OSPFv3 Interfaces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CCNA5.0 Instructor PPT</dc:title>
  <dc:creator>Karen Alderson</dc:creator>
  <cp:lastModifiedBy>Rami Tawil</cp:lastModifiedBy>
  <cp:revision>1049</cp:revision>
  <cp:lastPrinted>1999-01-27T00:54:54Z</cp:lastPrinted>
  <dcterms:created xsi:type="dcterms:W3CDTF">2006-10-23T15:07:30Z</dcterms:created>
  <dcterms:modified xsi:type="dcterms:W3CDTF">2025-11-28T07:59:42Z</dcterms:modified>
</cp:coreProperties>
</file>