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sldIdLst>
    <p:sldId id="256" r:id="rId2"/>
    <p:sldId id="257" r:id="rId3"/>
    <p:sldId id="318" r:id="rId4"/>
    <p:sldId id="271" r:id="rId5"/>
    <p:sldId id="258" r:id="rId6"/>
    <p:sldId id="270" r:id="rId7"/>
    <p:sldId id="259" r:id="rId8"/>
    <p:sldId id="261" r:id="rId9"/>
    <p:sldId id="272" r:id="rId10"/>
    <p:sldId id="293" r:id="rId11"/>
    <p:sldId id="310" r:id="rId12"/>
    <p:sldId id="273" r:id="rId13"/>
    <p:sldId id="290" r:id="rId14"/>
    <p:sldId id="291" r:id="rId15"/>
    <p:sldId id="292" r:id="rId16"/>
    <p:sldId id="321" r:id="rId17"/>
    <p:sldId id="322" r:id="rId18"/>
    <p:sldId id="311" r:id="rId19"/>
    <p:sldId id="294" r:id="rId20"/>
    <p:sldId id="295" r:id="rId21"/>
    <p:sldId id="296" r:id="rId22"/>
    <p:sldId id="297" r:id="rId23"/>
    <p:sldId id="312" r:id="rId24"/>
    <p:sldId id="298" r:id="rId25"/>
    <p:sldId id="299" r:id="rId26"/>
    <p:sldId id="300" r:id="rId27"/>
    <p:sldId id="301" r:id="rId28"/>
    <p:sldId id="302" r:id="rId29"/>
    <p:sldId id="303" r:id="rId30"/>
    <p:sldId id="313" r:id="rId31"/>
    <p:sldId id="304" r:id="rId32"/>
    <p:sldId id="305" r:id="rId33"/>
    <p:sldId id="306" r:id="rId34"/>
    <p:sldId id="314" r:id="rId35"/>
    <p:sldId id="286" r:id="rId36"/>
    <p:sldId id="274" r:id="rId37"/>
    <p:sldId id="277" r:id="rId38"/>
    <p:sldId id="315" r:id="rId39"/>
    <p:sldId id="287" r:id="rId40"/>
    <p:sldId id="275" r:id="rId41"/>
    <p:sldId id="278" r:id="rId42"/>
    <p:sldId id="316" r:id="rId43"/>
    <p:sldId id="288" r:id="rId44"/>
    <p:sldId id="276" r:id="rId45"/>
    <p:sldId id="280" r:id="rId46"/>
    <p:sldId id="279" r:id="rId47"/>
    <p:sldId id="317" r:id="rId48"/>
    <p:sldId id="289" r:id="rId49"/>
    <p:sldId id="282" r:id="rId50"/>
    <p:sldId id="281" r:id="rId51"/>
    <p:sldId id="283" r:id="rId52"/>
    <p:sldId id="284" r:id="rId53"/>
    <p:sldId id="285" r:id="rId54"/>
    <p:sldId id="307" r:id="rId55"/>
    <p:sldId id="308" r:id="rId56"/>
    <p:sldId id="323" r:id="rId57"/>
    <p:sldId id="262" r:id="rId58"/>
    <p:sldId id="325" r:id="rId59"/>
    <p:sldId id="327" r:id="rId60"/>
    <p:sldId id="328" r:id="rId61"/>
    <p:sldId id="326" r:id="rId62"/>
    <p:sldId id="330" r:id="rId63"/>
    <p:sldId id="329" r:id="rId64"/>
    <p:sldId id="331" r:id="rId65"/>
    <p:sldId id="332" r:id="rId66"/>
    <p:sldId id="333" r:id="rId67"/>
    <p:sldId id="334" r:id="rId68"/>
    <p:sldId id="335" r:id="rId69"/>
    <p:sldId id="336" r:id="rId70"/>
    <p:sldId id="337" r:id="rId71"/>
    <p:sldId id="338" r:id="rId72"/>
    <p:sldId id="339"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13"/>
    <p:restoredTop sz="94970"/>
  </p:normalViewPr>
  <p:slideViewPr>
    <p:cSldViewPr snapToGrid="0" snapToObjects="1">
      <p:cViewPr varScale="1">
        <p:scale>
          <a:sx n="102" d="100"/>
          <a:sy n="102" d="100"/>
        </p:scale>
        <p:origin x="208" y="280"/>
      </p:cViewPr>
      <p:guideLst>
        <p:guide orient="horz" pos="2160"/>
        <p:guide pos="384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79E141-C8F1-4919-9FCB-BBC328D71D2E}"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8A9396C9-F402-4C7E-9825-1FCEC673D785}">
      <dgm:prSet custT="1"/>
      <dgm:spPr/>
      <dgm:t>
        <a:bodyPr/>
        <a:lstStyle/>
        <a:p>
          <a:pPr marL="180975" indent="-180975">
            <a:lnSpc>
              <a:spcPct val="100000"/>
            </a:lnSpc>
            <a:tabLst/>
            <a:defRPr b="1"/>
          </a:pPr>
          <a:r>
            <a:rPr lang="en-US" sz="1800" dirty="0"/>
            <a:t>Complex carrier networks </a:t>
          </a:r>
          <a:r>
            <a:rPr lang="en-US" sz="1800" b="0" i="1" dirty="0"/>
            <a:t>with a large variety of proprietary nodes and hardware appliances. </a:t>
          </a:r>
        </a:p>
      </dgm:t>
    </dgm:pt>
    <dgm:pt modelId="{4DC55E71-4A0D-4682-B80A-DF9BD79AA4A0}" type="parTrans" cxnId="{65F69AAF-13F5-408D-994C-E839BA2F7197}">
      <dgm:prSet/>
      <dgm:spPr/>
      <dgm:t>
        <a:bodyPr/>
        <a:lstStyle/>
        <a:p>
          <a:endParaRPr lang="en-US" sz="2400"/>
        </a:p>
      </dgm:t>
    </dgm:pt>
    <dgm:pt modelId="{BF944256-5048-47AC-878A-BBB1B9F527BB}" type="sibTrans" cxnId="{65F69AAF-13F5-408D-994C-E839BA2F7197}">
      <dgm:prSet/>
      <dgm:spPr/>
      <dgm:t>
        <a:bodyPr/>
        <a:lstStyle/>
        <a:p>
          <a:endParaRPr lang="en-US" sz="2400"/>
        </a:p>
      </dgm:t>
    </dgm:pt>
    <dgm:pt modelId="{340752B3-3905-4614-9F8A-6B761A82FF6E}">
      <dgm:prSet custT="1"/>
      <dgm:spPr/>
      <dgm:t>
        <a:bodyPr/>
        <a:lstStyle/>
        <a:p>
          <a:pPr>
            <a:lnSpc>
              <a:spcPct val="100000"/>
            </a:lnSpc>
            <a:defRPr b="1"/>
          </a:pPr>
          <a:r>
            <a:rPr lang="en-US" sz="1800" dirty="0"/>
            <a:t>Launching new services is difficult and takes too long</a:t>
          </a:r>
        </a:p>
      </dgm:t>
    </dgm:pt>
    <dgm:pt modelId="{3E1A79B9-334A-44F1-A9F8-5B4C50E0887F}" type="parTrans" cxnId="{6B7C0984-910B-45EB-8488-E1BF9D3369DA}">
      <dgm:prSet/>
      <dgm:spPr/>
      <dgm:t>
        <a:bodyPr/>
        <a:lstStyle/>
        <a:p>
          <a:endParaRPr lang="en-US" sz="2400"/>
        </a:p>
      </dgm:t>
    </dgm:pt>
    <dgm:pt modelId="{68C25041-863F-4067-9EF0-8EB0D00F5AB9}" type="sibTrans" cxnId="{6B7C0984-910B-45EB-8488-E1BF9D3369DA}">
      <dgm:prSet/>
      <dgm:spPr/>
      <dgm:t>
        <a:bodyPr/>
        <a:lstStyle/>
        <a:p>
          <a:endParaRPr lang="en-US" sz="2400"/>
        </a:p>
      </dgm:t>
    </dgm:pt>
    <dgm:pt modelId="{0D9C8AD0-F465-4C90-B3EE-CA7E37C2AB4D}">
      <dgm:prSet custT="1"/>
      <dgm:spPr/>
      <dgm:t>
        <a:bodyPr/>
        <a:lstStyle/>
        <a:p>
          <a:pPr>
            <a:lnSpc>
              <a:spcPct val="100000"/>
            </a:lnSpc>
          </a:pPr>
          <a:r>
            <a:rPr lang="en-US" sz="1400" i="1" dirty="0"/>
            <a:t>Space and power to accommodate</a:t>
          </a:r>
        </a:p>
      </dgm:t>
    </dgm:pt>
    <dgm:pt modelId="{DD44C470-E275-4092-9C6C-4099EF14FE9E}" type="parTrans" cxnId="{FA197196-25C3-469F-99EC-0F4A78B44C22}">
      <dgm:prSet/>
      <dgm:spPr/>
      <dgm:t>
        <a:bodyPr/>
        <a:lstStyle/>
        <a:p>
          <a:endParaRPr lang="en-US" sz="2400"/>
        </a:p>
      </dgm:t>
    </dgm:pt>
    <dgm:pt modelId="{B2ADAE8A-EB3D-4CB9-B961-5A406943964D}" type="sibTrans" cxnId="{FA197196-25C3-469F-99EC-0F4A78B44C22}">
      <dgm:prSet/>
      <dgm:spPr/>
      <dgm:t>
        <a:bodyPr/>
        <a:lstStyle/>
        <a:p>
          <a:endParaRPr lang="en-US" sz="2400"/>
        </a:p>
      </dgm:t>
    </dgm:pt>
    <dgm:pt modelId="{A4F6410F-2D5C-458F-B6FB-0000306012B8}">
      <dgm:prSet custT="1"/>
      <dgm:spPr/>
      <dgm:t>
        <a:bodyPr/>
        <a:lstStyle/>
        <a:p>
          <a:pPr>
            <a:lnSpc>
              <a:spcPct val="100000"/>
            </a:lnSpc>
          </a:pPr>
          <a:r>
            <a:rPr lang="en-US" sz="1400" i="1" dirty="0"/>
            <a:t>Requires just another variety of box, which needs to be integrated.</a:t>
          </a:r>
        </a:p>
      </dgm:t>
    </dgm:pt>
    <dgm:pt modelId="{0AF0E356-B6F8-4ABA-87E3-3F9755F17561}" type="parTrans" cxnId="{E87F4134-8DB9-4172-979A-D39162E8E11A}">
      <dgm:prSet/>
      <dgm:spPr/>
      <dgm:t>
        <a:bodyPr/>
        <a:lstStyle/>
        <a:p>
          <a:endParaRPr lang="en-US" sz="2400"/>
        </a:p>
      </dgm:t>
    </dgm:pt>
    <dgm:pt modelId="{F235FD67-0C04-4695-B48F-6EAC802AE436}" type="sibTrans" cxnId="{E87F4134-8DB9-4172-979A-D39162E8E11A}">
      <dgm:prSet/>
      <dgm:spPr/>
      <dgm:t>
        <a:bodyPr/>
        <a:lstStyle/>
        <a:p>
          <a:endParaRPr lang="en-US" sz="2400"/>
        </a:p>
      </dgm:t>
    </dgm:pt>
    <dgm:pt modelId="{7E75CEE5-9CB6-4451-981E-C0349C39DD7C}">
      <dgm:prSet custT="1"/>
      <dgm:spPr/>
      <dgm:t>
        <a:bodyPr/>
        <a:lstStyle/>
        <a:p>
          <a:pPr>
            <a:lnSpc>
              <a:spcPct val="100000"/>
            </a:lnSpc>
            <a:defRPr b="1"/>
          </a:pPr>
          <a:r>
            <a:rPr lang="en-US" sz="1800"/>
            <a:t>Operation is expensive </a:t>
          </a:r>
        </a:p>
      </dgm:t>
    </dgm:pt>
    <dgm:pt modelId="{7BE54DB4-0FF8-4A80-AE27-89F3814CF70C}" type="parTrans" cxnId="{5AFDED06-EC57-4EBA-9FB0-995165942CB8}">
      <dgm:prSet/>
      <dgm:spPr/>
      <dgm:t>
        <a:bodyPr/>
        <a:lstStyle/>
        <a:p>
          <a:endParaRPr lang="en-US" sz="2400"/>
        </a:p>
      </dgm:t>
    </dgm:pt>
    <dgm:pt modelId="{CF8ACB12-9005-4930-83DD-9222C26F0EE8}" type="sibTrans" cxnId="{5AFDED06-EC57-4EBA-9FB0-995165942CB8}">
      <dgm:prSet/>
      <dgm:spPr/>
      <dgm:t>
        <a:bodyPr/>
        <a:lstStyle/>
        <a:p>
          <a:endParaRPr lang="en-US" sz="2400"/>
        </a:p>
      </dgm:t>
    </dgm:pt>
    <dgm:pt modelId="{2543DF0E-3779-41F2-BA85-F4073C5C52FA}">
      <dgm:prSet custT="1"/>
      <dgm:spPr/>
      <dgm:t>
        <a:bodyPr/>
        <a:lstStyle/>
        <a:p>
          <a:pPr>
            <a:lnSpc>
              <a:spcPct val="100000"/>
            </a:lnSpc>
          </a:pPr>
          <a:r>
            <a:rPr lang="en-US" sz="1400" i="1"/>
            <a:t>Rapidly reach end of life </a:t>
          </a:r>
        </a:p>
      </dgm:t>
    </dgm:pt>
    <dgm:pt modelId="{CAA2C1BB-9F13-4134-A15E-52C6B03EE9AC}" type="parTrans" cxnId="{7CE7B8DB-58E3-4A2D-A432-AA503DC78BB6}">
      <dgm:prSet/>
      <dgm:spPr/>
      <dgm:t>
        <a:bodyPr/>
        <a:lstStyle/>
        <a:p>
          <a:endParaRPr lang="en-US" sz="2400"/>
        </a:p>
      </dgm:t>
    </dgm:pt>
    <dgm:pt modelId="{38372474-18AB-4E1B-BC33-40E44841F6D7}" type="sibTrans" cxnId="{7CE7B8DB-58E3-4A2D-A432-AA503DC78BB6}">
      <dgm:prSet/>
      <dgm:spPr/>
      <dgm:t>
        <a:bodyPr/>
        <a:lstStyle/>
        <a:p>
          <a:endParaRPr lang="en-US" sz="2400"/>
        </a:p>
      </dgm:t>
    </dgm:pt>
    <dgm:pt modelId="{8E82391D-64DE-42F0-A020-44303FA9C7FD}">
      <dgm:prSet custT="1"/>
      <dgm:spPr/>
      <dgm:t>
        <a:bodyPr/>
        <a:lstStyle/>
        <a:p>
          <a:pPr>
            <a:lnSpc>
              <a:spcPct val="100000"/>
            </a:lnSpc>
          </a:pPr>
          <a:r>
            <a:rPr lang="en-US" sz="1400" i="1" dirty="0"/>
            <a:t>Due to existing procure-design,-integrate-deploy cycle.  </a:t>
          </a:r>
        </a:p>
      </dgm:t>
    </dgm:pt>
    <dgm:pt modelId="{91DC58DA-EE92-4209-B956-64C5F74D182B}" type="parTrans" cxnId="{0C20C7C5-43F5-4410-884A-6FF50E486E12}">
      <dgm:prSet/>
      <dgm:spPr/>
      <dgm:t>
        <a:bodyPr/>
        <a:lstStyle/>
        <a:p>
          <a:endParaRPr lang="en-US" sz="2400"/>
        </a:p>
      </dgm:t>
    </dgm:pt>
    <dgm:pt modelId="{2742E889-8D81-4543-A125-9EBE323410FE}" type="sibTrans" cxnId="{0C20C7C5-43F5-4410-884A-6FF50E486E12}">
      <dgm:prSet/>
      <dgm:spPr/>
      <dgm:t>
        <a:bodyPr/>
        <a:lstStyle/>
        <a:p>
          <a:endParaRPr lang="en-US" sz="2400"/>
        </a:p>
      </dgm:t>
    </dgm:pt>
    <dgm:pt modelId="{9DFFD800-8B57-4B52-9E04-EB7808F6A8E8}" type="pres">
      <dgm:prSet presAssocID="{0679E141-C8F1-4919-9FCB-BBC328D71D2E}" presName="root" presStyleCnt="0">
        <dgm:presLayoutVars>
          <dgm:dir/>
          <dgm:resizeHandles val="exact"/>
        </dgm:presLayoutVars>
      </dgm:prSet>
      <dgm:spPr/>
    </dgm:pt>
    <dgm:pt modelId="{AE4D5DA6-DFA0-4329-B111-90E1EE7819B1}" type="pres">
      <dgm:prSet presAssocID="{8A9396C9-F402-4C7E-9825-1FCEC673D785}" presName="compNode" presStyleCnt="0"/>
      <dgm:spPr/>
    </dgm:pt>
    <dgm:pt modelId="{B0BC7351-3FEB-407D-8385-180650DC9639}" type="pres">
      <dgm:prSet presAssocID="{8A9396C9-F402-4C7E-9825-1FCEC673D78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787886C7-71A4-4D60-B90D-9ECCBDB50901}" type="pres">
      <dgm:prSet presAssocID="{8A9396C9-F402-4C7E-9825-1FCEC673D785}" presName="iconSpace" presStyleCnt="0"/>
      <dgm:spPr/>
    </dgm:pt>
    <dgm:pt modelId="{086BC19A-74C9-45D2-8012-713C545B81FE}" type="pres">
      <dgm:prSet presAssocID="{8A9396C9-F402-4C7E-9825-1FCEC673D785}" presName="parTx" presStyleLbl="revTx" presStyleIdx="0" presStyleCnt="6">
        <dgm:presLayoutVars>
          <dgm:chMax val="0"/>
          <dgm:chPref val="0"/>
        </dgm:presLayoutVars>
      </dgm:prSet>
      <dgm:spPr/>
    </dgm:pt>
    <dgm:pt modelId="{4A744CE3-C0DC-4501-8D52-E379AE15395F}" type="pres">
      <dgm:prSet presAssocID="{8A9396C9-F402-4C7E-9825-1FCEC673D785}" presName="txSpace" presStyleCnt="0"/>
      <dgm:spPr/>
    </dgm:pt>
    <dgm:pt modelId="{D6B4D612-5C5F-4D4A-8943-F55AB6B8794C}" type="pres">
      <dgm:prSet presAssocID="{8A9396C9-F402-4C7E-9825-1FCEC673D785}" presName="desTx" presStyleLbl="revTx" presStyleIdx="1" presStyleCnt="6">
        <dgm:presLayoutVars/>
      </dgm:prSet>
      <dgm:spPr/>
    </dgm:pt>
    <dgm:pt modelId="{54818496-AC92-4568-9303-7E90D4609BB7}" type="pres">
      <dgm:prSet presAssocID="{BF944256-5048-47AC-878A-BBB1B9F527BB}" presName="sibTrans" presStyleCnt="0"/>
      <dgm:spPr/>
    </dgm:pt>
    <dgm:pt modelId="{DA872DA2-57CD-406B-B540-7ED76ED24DA9}" type="pres">
      <dgm:prSet presAssocID="{340752B3-3905-4614-9F8A-6B761A82FF6E}" presName="compNode" presStyleCnt="0"/>
      <dgm:spPr/>
    </dgm:pt>
    <dgm:pt modelId="{619B203E-3FC7-4F95-BD53-4E63A6523CB9}" type="pres">
      <dgm:prSet presAssocID="{340752B3-3905-4614-9F8A-6B761A82FF6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0C617E9E-6B4E-44BE-8B25-303AB5065E88}" type="pres">
      <dgm:prSet presAssocID="{340752B3-3905-4614-9F8A-6B761A82FF6E}" presName="iconSpace" presStyleCnt="0"/>
      <dgm:spPr/>
    </dgm:pt>
    <dgm:pt modelId="{3ADE7C71-B3E2-4074-826B-55196368ED71}" type="pres">
      <dgm:prSet presAssocID="{340752B3-3905-4614-9F8A-6B761A82FF6E}" presName="parTx" presStyleLbl="revTx" presStyleIdx="2" presStyleCnt="6">
        <dgm:presLayoutVars>
          <dgm:chMax val="0"/>
          <dgm:chPref val="0"/>
        </dgm:presLayoutVars>
      </dgm:prSet>
      <dgm:spPr/>
    </dgm:pt>
    <dgm:pt modelId="{69D7A58C-FE50-49C6-9C31-18BE49FD5886}" type="pres">
      <dgm:prSet presAssocID="{340752B3-3905-4614-9F8A-6B761A82FF6E}" presName="txSpace" presStyleCnt="0"/>
      <dgm:spPr/>
    </dgm:pt>
    <dgm:pt modelId="{CF5AF058-72A2-4AE1-B622-9F1F54006C4F}" type="pres">
      <dgm:prSet presAssocID="{340752B3-3905-4614-9F8A-6B761A82FF6E}" presName="desTx" presStyleLbl="revTx" presStyleIdx="3" presStyleCnt="6" custScaleY="96727" custLinFactNeighborY="-6735">
        <dgm:presLayoutVars/>
      </dgm:prSet>
      <dgm:spPr/>
    </dgm:pt>
    <dgm:pt modelId="{DBE707B2-2606-4D02-B910-AB8EB03B3EC0}" type="pres">
      <dgm:prSet presAssocID="{68C25041-863F-4067-9EF0-8EB0D00F5AB9}" presName="sibTrans" presStyleCnt="0"/>
      <dgm:spPr/>
    </dgm:pt>
    <dgm:pt modelId="{A15241E6-84DB-41FA-B720-C65B4532D3E5}" type="pres">
      <dgm:prSet presAssocID="{7E75CEE5-9CB6-4451-981E-C0349C39DD7C}" presName="compNode" presStyleCnt="0"/>
      <dgm:spPr/>
    </dgm:pt>
    <dgm:pt modelId="{786F71A1-698F-45AF-A831-E44C3FE66B2E}" type="pres">
      <dgm:prSet presAssocID="{7E75CEE5-9CB6-4451-981E-C0349C39DD7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lectrician"/>
        </a:ext>
      </dgm:extLst>
    </dgm:pt>
    <dgm:pt modelId="{7E75172F-A2D6-4D0B-BFF6-B4400EC900FE}" type="pres">
      <dgm:prSet presAssocID="{7E75CEE5-9CB6-4451-981E-C0349C39DD7C}" presName="iconSpace" presStyleCnt="0"/>
      <dgm:spPr/>
    </dgm:pt>
    <dgm:pt modelId="{28AC6909-BD02-47AC-BD85-D553D31C4E03}" type="pres">
      <dgm:prSet presAssocID="{7E75CEE5-9CB6-4451-981E-C0349C39DD7C}" presName="parTx" presStyleLbl="revTx" presStyleIdx="4" presStyleCnt="6">
        <dgm:presLayoutVars>
          <dgm:chMax val="0"/>
          <dgm:chPref val="0"/>
        </dgm:presLayoutVars>
      </dgm:prSet>
      <dgm:spPr/>
    </dgm:pt>
    <dgm:pt modelId="{A8238D05-8C1F-4B1C-B9CA-8608453093FE}" type="pres">
      <dgm:prSet presAssocID="{7E75CEE5-9CB6-4451-981E-C0349C39DD7C}" presName="txSpace" presStyleCnt="0"/>
      <dgm:spPr/>
    </dgm:pt>
    <dgm:pt modelId="{1F93B869-7C51-404A-9E92-FB36D97FD310}" type="pres">
      <dgm:prSet presAssocID="{7E75CEE5-9CB6-4451-981E-C0349C39DD7C}" presName="desTx" presStyleLbl="revTx" presStyleIdx="5" presStyleCnt="6" custLinFactNeighborY="-46464">
        <dgm:presLayoutVars/>
      </dgm:prSet>
      <dgm:spPr/>
    </dgm:pt>
  </dgm:ptLst>
  <dgm:cxnLst>
    <dgm:cxn modelId="{5AFDED06-EC57-4EBA-9FB0-995165942CB8}" srcId="{0679E141-C8F1-4919-9FCB-BBC328D71D2E}" destId="{7E75CEE5-9CB6-4451-981E-C0349C39DD7C}" srcOrd="2" destOrd="0" parTransId="{7BE54DB4-0FF8-4A80-AE27-89F3814CF70C}" sibTransId="{CF8ACB12-9005-4930-83DD-9222C26F0EE8}"/>
    <dgm:cxn modelId="{DCF68A0E-8C0F-4696-8316-5C1C004F545C}" type="presOf" srcId="{0D9C8AD0-F465-4C90-B3EE-CA7E37C2AB4D}" destId="{CF5AF058-72A2-4AE1-B622-9F1F54006C4F}" srcOrd="0" destOrd="0" presId="urn:microsoft.com/office/officeart/2018/2/layout/IconLabelDescriptionList"/>
    <dgm:cxn modelId="{E87F4134-8DB9-4172-979A-D39162E8E11A}" srcId="{340752B3-3905-4614-9F8A-6B761A82FF6E}" destId="{A4F6410F-2D5C-458F-B6FB-0000306012B8}" srcOrd="1" destOrd="0" parTransId="{0AF0E356-B6F8-4ABA-87E3-3F9755F17561}" sibTransId="{F235FD67-0C04-4695-B48F-6EAC802AE436}"/>
    <dgm:cxn modelId="{473C4E34-124C-4794-B174-F26318AA236F}" type="presOf" srcId="{8A9396C9-F402-4C7E-9825-1FCEC673D785}" destId="{086BC19A-74C9-45D2-8012-713C545B81FE}" srcOrd="0" destOrd="0" presId="urn:microsoft.com/office/officeart/2018/2/layout/IconLabelDescriptionList"/>
    <dgm:cxn modelId="{2E037378-66DF-4243-8242-CCEA67EC5898}" type="presOf" srcId="{2543DF0E-3779-41F2-BA85-F4073C5C52FA}" destId="{1F93B869-7C51-404A-9E92-FB36D97FD310}" srcOrd="0" destOrd="0" presId="urn:microsoft.com/office/officeart/2018/2/layout/IconLabelDescriptionList"/>
    <dgm:cxn modelId="{D032D479-4013-4793-BC4D-C1312373A852}" type="presOf" srcId="{7E75CEE5-9CB6-4451-981E-C0349C39DD7C}" destId="{28AC6909-BD02-47AC-BD85-D553D31C4E03}" srcOrd="0" destOrd="0" presId="urn:microsoft.com/office/officeart/2018/2/layout/IconLabelDescriptionList"/>
    <dgm:cxn modelId="{6B7C0984-910B-45EB-8488-E1BF9D3369DA}" srcId="{0679E141-C8F1-4919-9FCB-BBC328D71D2E}" destId="{340752B3-3905-4614-9F8A-6B761A82FF6E}" srcOrd="1" destOrd="0" parTransId="{3E1A79B9-334A-44F1-A9F8-5B4C50E0887F}" sibTransId="{68C25041-863F-4067-9EF0-8EB0D00F5AB9}"/>
    <dgm:cxn modelId="{1C7F4A84-7C39-45F2-A0AA-D089CD8286A8}" type="presOf" srcId="{8E82391D-64DE-42F0-A020-44303FA9C7FD}" destId="{1F93B869-7C51-404A-9E92-FB36D97FD310}" srcOrd="0" destOrd="1" presId="urn:microsoft.com/office/officeart/2018/2/layout/IconLabelDescriptionList"/>
    <dgm:cxn modelId="{FA197196-25C3-469F-99EC-0F4A78B44C22}" srcId="{340752B3-3905-4614-9F8A-6B761A82FF6E}" destId="{0D9C8AD0-F465-4C90-B3EE-CA7E37C2AB4D}" srcOrd="0" destOrd="0" parTransId="{DD44C470-E275-4092-9C6C-4099EF14FE9E}" sibTransId="{B2ADAE8A-EB3D-4CB9-B961-5A406943964D}"/>
    <dgm:cxn modelId="{65F69AAF-13F5-408D-994C-E839BA2F7197}" srcId="{0679E141-C8F1-4919-9FCB-BBC328D71D2E}" destId="{8A9396C9-F402-4C7E-9825-1FCEC673D785}" srcOrd="0" destOrd="0" parTransId="{4DC55E71-4A0D-4682-B80A-DF9BD79AA4A0}" sibTransId="{BF944256-5048-47AC-878A-BBB1B9F527BB}"/>
    <dgm:cxn modelId="{0C20C7C5-43F5-4410-884A-6FF50E486E12}" srcId="{7E75CEE5-9CB6-4451-981E-C0349C39DD7C}" destId="{8E82391D-64DE-42F0-A020-44303FA9C7FD}" srcOrd="1" destOrd="0" parTransId="{91DC58DA-EE92-4209-B956-64C5F74D182B}" sibTransId="{2742E889-8D81-4543-A125-9EBE323410FE}"/>
    <dgm:cxn modelId="{2850B0C8-8FB7-4333-8E42-2F962BB0A4C5}" type="presOf" srcId="{0679E141-C8F1-4919-9FCB-BBC328D71D2E}" destId="{9DFFD800-8B57-4B52-9E04-EB7808F6A8E8}" srcOrd="0" destOrd="0" presId="urn:microsoft.com/office/officeart/2018/2/layout/IconLabelDescriptionList"/>
    <dgm:cxn modelId="{4941BECA-8CBF-449C-8790-8DD492DDEE4B}" type="presOf" srcId="{340752B3-3905-4614-9F8A-6B761A82FF6E}" destId="{3ADE7C71-B3E2-4074-826B-55196368ED71}" srcOrd="0" destOrd="0" presId="urn:microsoft.com/office/officeart/2018/2/layout/IconLabelDescriptionList"/>
    <dgm:cxn modelId="{A0B9A7CB-1DB9-4D25-8824-A8AB4423F3C9}" type="presOf" srcId="{A4F6410F-2D5C-458F-B6FB-0000306012B8}" destId="{CF5AF058-72A2-4AE1-B622-9F1F54006C4F}" srcOrd="0" destOrd="1" presId="urn:microsoft.com/office/officeart/2018/2/layout/IconLabelDescriptionList"/>
    <dgm:cxn modelId="{7CE7B8DB-58E3-4A2D-A432-AA503DC78BB6}" srcId="{7E75CEE5-9CB6-4451-981E-C0349C39DD7C}" destId="{2543DF0E-3779-41F2-BA85-F4073C5C52FA}" srcOrd="0" destOrd="0" parTransId="{CAA2C1BB-9F13-4134-A15E-52C6B03EE9AC}" sibTransId="{38372474-18AB-4E1B-BC33-40E44841F6D7}"/>
    <dgm:cxn modelId="{D337D55E-FB93-4122-B35A-32666B9FFA00}" type="presParOf" srcId="{9DFFD800-8B57-4B52-9E04-EB7808F6A8E8}" destId="{AE4D5DA6-DFA0-4329-B111-90E1EE7819B1}" srcOrd="0" destOrd="0" presId="urn:microsoft.com/office/officeart/2018/2/layout/IconLabelDescriptionList"/>
    <dgm:cxn modelId="{B50C55C6-64F2-4202-AEDF-C29FCD47D8DD}" type="presParOf" srcId="{AE4D5DA6-DFA0-4329-B111-90E1EE7819B1}" destId="{B0BC7351-3FEB-407D-8385-180650DC9639}" srcOrd="0" destOrd="0" presId="urn:microsoft.com/office/officeart/2018/2/layout/IconLabelDescriptionList"/>
    <dgm:cxn modelId="{722490CB-ADF4-48AC-8254-016C3E85B4B2}" type="presParOf" srcId="{AE4D5DA6-DFA0-4329-B111-90E1EE7819B1}" destId="{787886C7-71A4-4D60-B90D-9ECCBDB50901}" srcOrd="1" destOrd="0" presId="urn:microsoft.com/office/officeart/2018/2/layout/IconLabelDescriptionList"/>
    <dgm:cxn modelId="{A70EDEF5-DACB-40FC-8541-355B73442958}" type="presParOf" srcId="{AE4D5DA6-DFA0-4329-B111-90E1EE7819B1}" destId="{086BC19A-74C9-45D2-8012-713C545B81FE}" srcOrd="2" destOrd="0" presId="urn:microsoft.com/office/officeart/2018/2/layout/IconLabelDescriptionList"/>
    <dgm:cxn modelId="{A36783BE-9A69-409B-8B10-08FE859905E6}" type="presParOf" srcId="{AE4D5DA6-DFA0-4329-B111-90E1EE7819B1}" destId="{4A744CE3-C0DC-4501-8D52-E379AE15395F}" srcOrd="3" destOrd="0" presId="urn:microsoft.com/office/officeart/2018/2/layout/IconLabelDescriptionList"/>
    <dgm:cxn modelId="{A941BAF8-4BEF-428E-AA01-DAA5B05B5DF6}" type="presParOf" srcId="{AE4D5DA6-DFA0-4329-B111-90E1EE7819B1}" destId="{D6B4D612-5C5F-4D4A-8943-F55AB6B8794C}" srcOrd="4" destOrd="0" presId="urn:microsoft.com/office/officeart/2018/2/layout/IconLabelDescriptionList"/>
    <dgm:cxn modelId="{D20373C0-1EDD-43CE-95E8-42291124DDE6}" type="presParOf" srcId="{9DFFD800-8B57-4B52-9E04-EB7808F6A8E8}" destId="{54818496-AC92-4568-9303-7E90D4609BB7}" srcOrd="1" destOrd="0" presId="urn:microsoft.com/office/officeart/2018/2/layout/IconLabelDescriptionList"/>
    <dgm:cxn modelId="{9597B765-CB9F-49B1-9E77-E85096F983CD}" type="presParOf" srcId="{9DFFD800-8B57-4B52-9E04-EB7808F6A8E8}" destId="{DA872DA2-57CD-406B-B540-7ED76ED24DA9}" srcOrd="2" destOrd="0" presId="urn:microsoft.com/office/officeart/2018/2/layout/IconLabelDescriptionList"/>
    <dgm:cxn modelId="{DE577F61-48F7-4B19-8AAD-9F1DE89AB7E7}" type="presParOf" srcId="{DA872DA2-57CD-406B-B540-7ED76ED24DA9}" destId="{619B203E-3FC7-4F95-BD53-4E63A6523CB9}" srcOrd="0" destOrd="0" presId="urn:microsoft.com/office/officeart/2018/2/layout/IconLabelDescriptionList"/>
    <dgm:cxn modelId="{E42FEAC4-3E36-4A65-9FF6-D3064FEDD026}" type="presParOf" srcId="{DA872DA2-57CD-406B-B540-7ED76ED24DA9}" destId="{0C617E9E-6B4E-44BE-8B25-303AB5065E88}" srcOrd="1" destOrd="0" presId="urn:microsoft.com/office/officeart/2018/2/layout/IconLabelDescriptionList"/>
    <dgm:cxn modelId="{D2889D65-15F6-482A-82F5-E91A1C8C1384}" type="presParOf" srcId="{DA872DA2-57CD-406B-B540-7ED76ED24DA9}" destId="{3ADE7C71-B3E2-4074-826B-55196368ED71}" srcOrd="2" destOrd="0" presId="urn:microsoft.com/office/officeart/2018/2/layout/IconLabelDescriptionList"/>
    <dgm:cxn modelId="{61B1303A-2B3E-4D10-9F21-57E5B1A328DA}" type="presParOf" srcId="{DA872DA2-57CD-406B-B540-7ED76ED24DA9}" destId="{69D7A58C-FE50-49C6-9C31-18BE49FD5886}" srcOrd="3" destOrd="0" presId="urn:microsoft.com/office/officeart/2018/2/layout/IconLabelDescriptionList"/>
    <dgm:cxn modelId="{BA9A14C1-3FE2-413E-BDBA-5A1D426AA179}" type="presParOf" srcId="{DA872DA2-57CD-406B-B540-7ED76ED24DA9}" destId="{CF5AF058-72A2-4AE1-B622-9F1F54006C4F}" srcOrd="4" destOrd="0" presId="urn:microsoft.com/office/officeart/2018/2/layout/IconLabelDescriptionList"/>
    <dgm:cxn modelId="{8D0389A3-A14D-4636-ACA0-9E1D9EE34CA7}" type="presParOf" srcId="{9DFFD800-8B57-4B52-9E04-EB7808F6A8E8}" destId="{DBE707B2-2606-4D02-B910-AB8EB03B3EC0}" srcOrd="3" destOrd="0" presId="urn:microsoft.com/office/officeart/2018/2/layout/IconLabelDescriptionList"/>
    <dgm:cxn modelId="{E93083A4-B9B1-404D-8908-1FD18E591EEA}" type="presParOf" srcId="{9DFFD800-8B57-4B52-9E04-EB7808F6A8E8}" destId="{A15241E6-84DB-41FA-B720-C65B4532D3E5}" srcOrd="4" destOrd="0" presId="urn:microsoft.com/office/officeart/2018/2/layout/IconLabelDescriptionList"/>
    <dgm:cxn modelId="{B48691B8-CAB8-4D78-B051-257A805B63BF}" type="presParOf" srcId="{A15241E6-84DB-41FA-B720-C65B4532D3E5}" destId="{786F71A1-698F-45AF-A831-E44C3FE66B2E}" srcOrd="0" destOrd="0" presId="urn:microsoft.com/office/officeart/2018/2/layout/IconLabelDescriptionList"/>
    <dgm:cxn modelId="{13865ACE-40DE-482E-8676-AB5C05E482D6}" type="presParOf" srcId="{A15241E6-84DB-41FA-B720-C65B4532D3E5}" destId="{7E75172F-A2D6-4D0B-BFF6-B4400EC900FE}" srcOrd="1" destOrd="0" presId="urn:microsoft.com/office/officeart/2018/2/layout/IconLabelDescriptionList"/>
    <dgm:cxn modelId="{E9CFF375-64C7-49A0-A01A-ACD8CA08E637}" type="presParOf" srcId="{A15241E6-84DB-41FA-B720-C65B4532D3E5}" destId="{28AC6909-BD02-47AC-BD85-D553D31C4E03}" srcOrd="2" destOrd="0" presId="urn:microsoft.com/office/officeart/2018/2/layout/IconLabelDescriptionList"/>
    <dgm:cxn modelId="{4F3BEC5E-6709-4086-8FE4-E0E01569C433}" type="presParOf" srcId="{A15241E6-84DB-41FA-B720-C65B4532D3E5}" destId="{A8238D05-8C1F-4B1C-B9CA-8608453093FE}" srcOrd="3" destOrd="0" presId="urn:microsoft.com/office/officeart/2018/2/layout/IconLabelDescriptionList"/>
    <dgm:cxn modelId="{54E9EA51-5014-4992-8E03-5785B2EC1FBB}" type="presParOf" srcId="{A15241E6-84DB-41FA-B720-C65B4532D3E5}" destId="{1F93B869-7C51-404A-9E92-FB36D97FD310}"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BC7351-3FEB-407D-8385-180650DC9639}">
      <dsp:nvSpPr>
        <dsp:cNvPr id="0" name=""/>
        <dsp:cNvSpPr/>
      </dsp:nvSpPr>
      <dsp:spPr>
        <a:xfrm>
          <a:off x="10180" y="202714"/>
          <a:ext cx="857681" cy="8576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6BC19A-74C9-45D2-8012-713C545B81FE}">
      <dsp:nvSpPr>
        <dsp:cNvPr id="0" name=""/>
        <dsp:cNvSpPr/>
      </dsp:nvSpPr>
      <dsp:spPr>
        <a:xfrm>
          <a:off x="10180" y="1184974"/>
          <a:ext cx="2450519" cy="1116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80975" lvl="0" indent="-180975" algn="l" defTabSz="800100">
            <a:lnSpc>
              <a:spcPct val="100000"/>
            </a:lnSpc>
            <a:spcBef>
              <a:spcPct val="0"/>
            </a:spcBef>
            <a:spcAft>
              <a:spcPct val="35000"/>
            </a:spcAft>
            <a:buNone/>
            <a:tabLst/>
            <a:defRPr b="1"/>
          </a:pPr>
          <a:r>
            <a:rPr lang="en-US" sz="1800" kern="1200" dirty="0"/>
            <a:t>Complex carrier networks </a:t>
          </a:r>
          <a:r>
            <a:rPr lang="en-US" sz="1800" b="0" i="1" kern="1200" dirty="0"/>
            <a:t>with a large variety of proprietary nodes and hardware appliances. </a:t>
          </a:r>
        </a:p>
      </dsp:txBody>
      <dsp:txXfrm>
        <a:off x="10180" y="1184974"/>
        <a:ext cx="2450519" cy="1116281"/>
      </dsp:txXfrm>
    </dsp:sp>
    <dsp:sp modelId="{D6B4D612-5C5F-4D4A-8943-F55AB6B8794C}">
      <dsp:nvSpPr>
        <dsp:cNvPr id="0" name=""/>
        <dsp:cNvSpPr/>
      </dsp:nvSpPr>
      <dsp:spPr>
        <a:xfrm>
          <a:off x="10180" y="2359198"/>
          <a:ext cx="2450519" cy="740682"/>
        </a:xfrm>
        <a:prstGeom prst="rect">
          <a:avLst/>
        </a:prstGeom>
        <a:noFill/>
        <a:ln>
          <a:noFill/>
        </a:ln>
        <a:effectLst/>
      </dsp:spPr>
      <dsp:style>
        <a:lnRef idx="0">
          <a:scrgbClr r="0" g="0" b="0"/>
        </a:lnRef>
        <a:fillRef idx="0">
          <a:scrgbClr r="0" g="0" b="0"/>
        </a:fillRef>
        <a:effectRef idx="0">
          <a:scrgbClr r="0" g="0" b="0"/>
        </a:effectRef>
        <a:fontRef idx="minor"/>
      </dsp:style>
    </dsp:sp>
    <dsp:sp modelId="{619B203E-3FC7-4F95-BD53-4E63A6523CB9}">
      <dsp:nvSpPr>
        <dsp:cNvPr id="0" name=""/>
        <dsp:cNvSpPr/>
      </dsp:nvSpPr>
      <dsp:spPr>
        <a:xfrm>
          <a:off x="2889540" y="125976"/>
          <a:ext cx="857681" cy="8576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DE7C71-B3E2-4074-826B-55196368ED71}">
      <dsp:nvSpPr>
        <dsp:cNvPr id="0" name=""/>
        <dsp:cNvSpPr/>
      </dsp:nvSpPr>
      <dsp:spPr>
        <a:xfrm>
          <a:off x="2889540" y="1108236"/>
          <a:ext cx="2450519" cy="1116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kern="1200" dirty="0"/>
            <a:t>Launching new services is difficult and takes too long</a:t>
          </a:r>
        </a:p>
      </dsp:txBody>
      <dsp:txXfrm>
        <a:off x="2889540" y="1108236"/>
        <a:ext cx="2450519" cy="1116281"/>
      </dsp:txXfrm>
    </dsp:sp>
    <dsp:sp modelId="{CF5AF058-72A2-4AE1-B622-9F1F54006C4F}">
      <dsp:nvSpPr>
        <dsp:cNvPr id="0" name=""/>
        <dsp:cNvSpPr/>
      </dsp:nvSpPr>
      <dsp:spPr>
        <a:xfrm>
          <a:off x="2889540" y="2056040"/>
          <a:ext cx="2450519" cy="10476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i="1" kern="1200" dirty="0"/>
            <a:t>Space and power to accommodate</a:t>
          </a:r>
        </a:p>
        <a:p>
          <a:pPr marL="0" lvl="0" indent="0" algn="l" defTabSz="622300">
            <a:lnSpc>
              <a:spcPct val="100000"/>
            </a:lnSpc>
            <a:spcBef>
              <a:spcPct val="0"/>
            </a:spcBef>
            <a:spcAft>
              <a:spcPct val="35000"/>
            </a:spcAft>
            <a:buNone/>
          </a:pPr>
          <a:r>
            <a:rPr lang="en-US" sz="1400" i="1" kern="1200" dirty="0"/>
            <a:t>Requires just another variety of box, which needs to be integrated.</a:t>
          </a:r>
        </a:p>
      </dsp:txBody>
      <dsp:txXfrm>
        <a:off x="2889540" y="2056040"/>
        <a:ext cx="2450519" cy="1047632"/>
      </dsp:txXfrm>
    </dsp:sp>
    <dsp:sp modelId="{786F71A1-698F-45AF-A831-E44C3FE66B2E}">
      <dsp:nvSpPr>
        <dsp:cNvPr id="0" name=""/>
        <dsp:cNvSpPr/>
      </dsp:nvSpPr>
      <dsp:spPr>
        <a:xfrm>
          <a:off x="5768900" y="202714"/>
          <a:ext cx="857681" cy="8576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AC6909-BD02-47AC-BD85-D553D31C4E03}">
      <dsp:nvSpPr>
        <dsp:cNvPr id="0" name=""/>
        <dsp:cNvSpPr/>
      </dsp:nvSpPr>
      <dsp:spPr>
        <a:xfrm>
          <a:off x="5768900" y="1184974"/>
          <a:ext cx="2450519" cy="1116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kern="1200"/>
            <a:t>Operation is expensive </a:t>
          </a:r>
        </a:p>
      </dsp:txBody>
      <dsp:txXfrm>
        <a:off x="5768900" y="1184974"/>
        <a:ext cx="2450519" cy="1116281"/>
      </dsp:txXfrm>
    </dsp:sp>
    <dsp:sp modelId="{1F93B869-7C51-404A-9E92-FB36D97FD310}">
      <dsp:nvSpPr>
        <dsp:cNvPr id="0" name=""/>
        <dsp:cNvSpPr/>
      </dsp:nvSpPr>
      <dsp:spPr>
        <a:xfrm>
          <a:off x="5768900" y="2015047"/>
          <a:ext cx="2450519" cy="7406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i="1" kern="1200"/>
            <a:t>Rapidly reach end of life </a:t>
          </a:r>
        </a:p>
        <a:p>
          <a:pPr marL="0" lvl="0" indent="0" algn="l" defTabSz="622300">
            <a:lnSpc>
              <a:spcPct val="100000"/>
            </a:lnSpc>
            <a:spcBef>
              <a:spcPct val="0"/>
            </a:spcBef>
            <a:spcAft>
              <a:spcPct val="35000"/>
            </a:spcAft>
            <a:buNone/>
          </a:pPr>
          <a:r>
            <a:rPr lang="en-US" sz="1400" i="1" kern="1200" dirty="0"/>
            <a:t>Due to existing procure-design,-integrate-deploy cycle.  </a:t>
          </a:r>
        </a:p>
      </dsp:txBody>
      <dsp:txXfrm>
        <a:off x="5768900" y="2015047"/>
        <a:ext cx="2450519" cy="74068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C2A7D6-0F56-E549-B024-0CB85431E2BA}" type="datetimeFigureOut">
              <a:rPr lang="en-LB" smtClean="0"/>
              <a:t>13/11/2025</a:t>
            </a:fld>
            <a:endParaRPr lang="en-L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EA5495-EF57-284F-B0B9-2F0D2302B2C8}" type="slidenum">
              <a:rPr lang="en-LB" smtClean="0"/>
              <a:t>‹#›</a:t>
            </a:fld>
            <a:endParaRPr lang="en-LB"/>
          </a:p>
        </p:txBody>
      </p:sp>
    </p:spTree>
    <p:extLst>
      <p:ext uri="{BB962C8B-B14F-4D97-AF65-F5344CB8AC3E}">
        <p14:creationId xmlns:p14="http://schemas.microsoft.com/office/powerpoint/2010/main" val="2741564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u="none" strike="noStrike" dirty="0">
                <a:solidFill>
                  <a:srgbClr val="0F1115"/>
                </a:solidFill>
                <a:effectLst/>
                <a:latin typeface="quote-cjk-patch"/>
              </a:rPr>
              <a:t>AMF - Access and Mobility Management Function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u="none" strike="noStrike" dirty="0">
                <a:solidFill>
                  <a:srgbClr val="0F1115"/>
                </a:solidFill>
                <a:effectLst/>
                <a:latin typeface="quote-cjk-patch"/>
              </a:rPr>
              <a:t>SMF - Session Management Function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u="none" strike="noStrike" dirty="0">
                <a:solidFill>
                  <a:srgbClr val="0F1115"/>
                </a:solidFill>
                <a:effectLst/>
                <a:latin typeface="quote-cjk-patch"/>
              </a:rPr>
              <a:t>EPC - Evolved Packet Core: </a:t>
            </a:r>
            <a:r>
              <a:rPr lang="en-US" b="0" i="0" u="none" strike="noStrike" dirty="0">
                <a:solidFill>
                  <a:srgbClr val="0F1115"/>
                </a:solidFill>
                <a:effectLst/>
                <a:latin typeface="quote-cjk-patch"/>
              </a:rPr>
              <a:t>In 4G EPC, the control plane (signaling) and user plane (data traffic) are more tightly coupled. 5GC separates them completely, allowing for more flexibility and scalability. The 5G Core (with AMF/SMF) is a cloud-native, service-based architecture, while the EPC is a more traditional, node-based architecture.</a:t>
            </a:r>
            <a:endParaRPr lang="en-LB" dirty="0"/>
          </a:p>
        </p:txBody>
      </p:sp>
      <p:sp>
        <p:nvSpPr>
          <p:cNvPr id="4" name="Slide Number Placeholder 3"/>
          <p:cNvSpPr>
            <a:spLocks noGrp="1"/>
          </p:cNvSpPr>
          <p:nvPr>
            <p:ph type="sldNum" sz="quarter" idx="5"/>
          </p:nvPr>
        </p:nvSpPr>
        <p:spPr/>
        <p:txBody>
          <a:bodyPr/>
          <a:lstStyle/>
          <a:p>
            <a:fld id="{ACEA5495-EF57-284F-B0B9-2F0D2302B2C8}" type="slidenum">
              <a:rPr lang="en-LB" smtClean="0"/>
              <a:t>7</a:t>
            </a:fld>
            <a:endParaRPr lang="en-LB"/>
          </a:p>
        </p:txBody>
      </p:sp>
    </p:spTree>
    <p:extLst>
      <p:ext uri="{BB962C8B-B14F-4D97-AF65-F5344CB8AC3E}">
        <p14:creationId xmlns:p14="http://schemas.microsoft.com/office/powerpoint/2010/main" val="313748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dirty="0"/>
              <a:t>NFVI: NFV Infrastructure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C2A48"/>
                </a:solidFill>
                <a:effectLst/>
                <a:latin typeface="Arial" panose="020B0604020202020204" pitchFamily="34" charset="0"/>
              </a:rPr>
              <a:t>VNF: Virtual Network Functions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C2A48"/>
                </a:solidFill>
                <a:effectLst/>
                <a:latin typeface="Arial" panose="020B0604020202020204" pitchFamily="34" charset="0"/>
              </a:rPr>
              <a:t>MANO: </a:t>
            </a:r>
            <a:r>
              <a:rPr lang="en-US" b="0" dirty="0">
                <a:solidFill>
                  <a:srgbClr val="52BAA3"/>
                </a:solidFill>
                <a:effectLst/>
                <a:latin typeface="Arial" panose="020B0604020202020204" pitchFamily="34" charset="0"/>
              </a:rPr>
              <a:t>Management and Network Orchestration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LB" sz="1100" dirty="0"/>
              <a:t>EM : Element Management System</a:t>
            </a:r>
          </a:p>
          <a:p>
            <a:r>
              <a:rPr lang="en-LB" sz="1100" dirty="0"/>
              <a:t>Virtual </a:t>
            </a:r>
            <a:r>
              <a:rPr lang="en-LB" sz="1100"/>
              <a:t>Network Function (VNF)</a:t>
            </a:r>
            <a:endParaRPr lang="en-LB" sz="1100" dirty="0"/>
          </a:p>
          <a:p>
            <a:r>
              <a:rPr lang="en-LB" sz="1100" dirty="0"/>
              <a:t>Virtualized Infrastructure Manager (VIM)</a:t>
            </a:r>
          </a:p>
        </p:txBody>
      </p:sp>
      <p:sp>
        <p:nvSpPr>
          <p:cNvPr id="4" name="Slide Number Placeholder 3"/>
          <p:cNvSpPr>
            <a:spLocks noGrp="1"/>
          </p:cNvSpPr>
          <p:nvPr>
            <p:ph type="sldNum" sz="quarter" idx="5"/>
          </p:nvPr>
        </p:nvSpPr>
        <p:spPr/>
        <p:txBody>
          <a:bodyPr/>
          <a:lstStyle/>
          <a:p>
            <a:fld id="{ACEA5495-EF57-284F-B0B9-2F0D2302B2C8}" type="slidenum">
              <a:rPr lang="en-LB" smtClean="0"/>
              <a:t>9</a:t>
            </a:fld>
            <a:endParaRPr lang="en-LB"/>
          </a:p>
        </p:txBody>
      </p:sp>
    </p:spTree>
    <p:extLst>
      <p:ext uri="{BB962C8B-B14F-4D97-AF65-F5344CB8AC3E}">
        <p14:creationId xmlns:p14="http://schemas.microsoft.com/office/powerpoint/2010/main" val="3423963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9E064-3679-4AA8-2954-E709C8DDD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38DCB-3B9E-725C-DB97-29661872AF9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FCE58A9-51ED-4902-01E1-1437F320D88A}"/>
              </a:ext>
            </a:extLst>
          </p:cNvPr>
          <p:cNvSpPr>
            <a:spLocks noGrp="1"/>
          </p:cNvSpPr>
          <p:nvPr>
            <p:ph type="body" idx="1"/>
          </p:nvPr>
        </p:nvSpPr>
        <p:spPr/>
        <p:txBody>
          <a:bodyPr/>
          <a:lstStyle/>
          <a:p>
            <a:endParaRPr lang="en-LB" sz="1100" dirty="0"/>
          </a:p>
        </p:txBody>
      </p:sp>
      <p:sp>
        <p:nvSpPr>
          <p:cNvPr id="4" name="Slide Number Placeholder 3">
            <a:extLst>
              <a:ext uri="{FF2B5EF4-FFF2-40B4-BE49-F238E27FC236}">
                <a16:creationId xmlns:a16="http://schemas.microsoft.com/office/drawing/2014/main" id="{68B83262-7DE4-BCF0-4F17-3A3B7F7D800C}"/>
              </a:ext>
            </a:extLst>
          </p:cNvPr>
          <p:cNvSpPr>
            <a:spLocks noGrp="1"/>
          </p:cNvSpPr>
          <p:nvPr>
            <p:ph type="sldNum" sz="quarter" idx="5"/>
          </p:nvPr>
        </p:nvSpPr>
        <p:spPr/>
        <p:txBody>
          <a:bodyPr/>
          <a:lstStyle/>
          <a:p>
            <a:fld id="{ACEA5495-EF57-284F-B0B9-2F0D2302B2C8}" type="slidenum">
              <a:rPr lang="en-LB" smtClean="0"/>
              <a:t>11</a:t>
            </a:fld>
            <a:endParaRPr lang="en-LB"/>
          </a:p>
        </p:txBody>
      </p:sp>
    </p:spTree>
    <p:extLst>
      <p:ext uri="{BB962C8B-B14F-4D97-AF65-F5344CB8AC3E}">
        <p14:creationId xmlns:p14="http://schemas.microsoft.com/office/powerpoint/2010/main" val="376138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b="1" i="0" u="none" strike="noStrike" dirty="0">
                <a:solidFill>
                  <a:srgbClr val="000000"/>
                </a:solidFill>
                <a:effectLst/>
              </a:rPr>
              <a:t>Business Support System — BSS</a:t>
            </a:r>
          </a:p>
          <a:p>
            <a:r>
              <a:rPr lang="en-US" sz="1200" b="1" i="0" u="none" strike="noStrike" dirty="0">
                <a:solidFill>
                  <a:srgbClr val="000000"/>
                </a:solidFill>
                <a:effectLst/>
              </a:rPr>
              <a:t>Operations Support System (OSS)</a:t>
            </a:r>
            <a:endParaRPr lang="en-LB" dirty="0"/>
          </a:p>
        </p:txBody>
      </p:sp>
      <p:sp>
        <p:nvSpPr>
          <p:cNvPr id="4" name="Slide Number Placeholder 3"/>
          <p:cNvSpPr>
            <a:spLocks noGrp="1"/>
          </p:cNvSpPr>
          <p:nvPr>
            <p:ph type="sldNum" sz="quarter" idx="5"/>
          </p:nvPr>
        </p:nvSpPr>
        <p:spPr/>
        <p:txBody>
          <a:bodyPr/>
          <a:lstStyle/>
          <a:p>
            <a:fld id="{ACEA5495-EF57-284F-B0B9-2F0D2302B2C8}" type="slidenum">
              <a:rPr lang="en-LB" smtClean="0"/>
              <a:t>15</a:t>
            </a:fld>
            <a:endParaRPr lang="en-LB"/>
          </a:p>
        </p:txBody>
      </p:sp>
    </p:spTree>
    <p:extLst>
      <p:ext uri="{BB962C8B-B14F-4D97-AF65-F5344CB8AC3E}">
        <p14:creationId xmlns:p14="http://schemas.microsoft.com/office/powerpoint/2010/main" val="42646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0CEB5-390C-31FA-B2F9-E289843060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B56BF-2C4B-C458-8949-405EA66B820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BB50EB7-C61B-AE94-1B69-D9BD500F0C1E}"/>
              </a:ext>
            </a:extLst>
          </p:cNvPr>
          <p:cNvSpPr>
            <a:spLocks noGrp="1"/>
          </p:cNvSpPr>
          <p:nvPr>
            <p:ph type="body" idx="1"/>
          </p:nvPr>
        </p:nvSpPr>
        <p:spPr/>
        <p:txBody>
          <a:bodyPr/>
          <a:lstStyle/>
          <a:p>
            <a:endParaRPr lang="en-LB" sz="1100" dirty="0"/>
          </a:p>
        </p:txBody>
      </p:sp>
      <p:sp>
        <p:nvSpPr>
          <p:cNvPr id="4" name="Slide Number Placeholder 3">
            <a:extLst>
              <a:ext uri="{FF2B5EF4-FFF2-40B4-BE49-F238E27FC236}">
                <a16:creationId xmlns:a16="http://schemas.microsoft.com/office/drawing/2014/main" id="{62FA904F-0BAC-0BE1-04C3-3C0F9CDDEB36}"/>
              </a:ext>
            </a:extLst>
          </p:cNvPr>
          <p:cNvSpPr>
            <a:spLocks noGrp="1"/>
          </p:cNvSpPr>
          <p:nvPr>
            <p:ph type="sldNum" sz="quarter" idx="5"/>
          </p:nvPr>
        </p:nvSpPr>
        <p:spPr/>
        <p:txBody>
          <a:bodyPr/>
          <a:lstStyle/>
          <a:p>
            <a:fld id="{ACEA5495-EF57-284F-B0B9-2F0D2302B2C8}" type="slidenum">
              <a:rPr lang="en-LB" smtClean="0"/>
              <a:t>18</a:t>
            </a:fld>
            <a:endParaRPr lang="en-LB"/>
          </a:p>
        </p:txBody>
      </p:sp>
    </p:spTree>
    <p:extLst>
      <p:ext uri="{BB962C8B-B14F-4D97-AF65-F5344CB8AC3E}">
        <p14:creationId xmlns:p14="http://schemas.microsoft.com/office/powerpoint/2010/main" val="501685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58CE0-9721-EB37-D70E-9F4BDA592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168E0-D0FC-21F8-16B1-4E2A1FDFE01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3D43309-A07B-7DBC-CAA9-0F7A012C3C03}"/>
              </a:ext>
            </a:extLst>
          </p:cNvPr>
          <p:cNvSpPr>
            <a:spLocks noGrp="1"/>
          </p:cNvSpPr>
          <p:nvPr>
            <p:ph type="body" idx="1"/>
          </p:nvPr>
        </p:nvSpPr>
        <p:spPr/>
        <p:txBody>
          <a:bodyPr/>
          <a:lstStyle/>
          <a:p>
            <a:endParaRPr lang="en-LB" sz="1100" dirty="0"/>
          </a:p>
        </p:txBody>
      </p:sp>
      <p:sp>
        <p:nvSpPr>
          <p:cNvPr id="4" name="Slide Number Placeholder 3">
            <a:extLst>
              <a:ext uri="{FF2B5EF4-FFF2-40B4-BE49-F238E27FC236}">
                <a16:creationId xmlns:a16="http://schemas.microsoft.com/office/drawing/2014/main" id="{6B9F614D-818E-7DDA-EF1C-A33C1911CDAE}"/>
              </a:ext>
            </a:extLst>
          </p:cNvPr>
          <p:cNvSpPr>
            <a:spLocks noGrp="1"/>
          </p:cNvSpPr>
          <p:nvPr>
            <p:ph type="sldNum" sz="quarter" idx="5"/>
          </p:nvPr>
        </p:nvSpPr>
        <p:spPr/>
        <p:txBody>
          <a:bodyPr/>
          <a:lstStyle/>
          <a:p>
            <a:fld id="{ACEA5495-EF57-284F-B0B9-2F0D2302B2C8}" type="slidenum">
              <a:rPr lang="en-LB" smtClean="0"/>
              <a:t>23</a:t>
            </a:fld>
            <a:endParaRPr lang="en-LB"/>
          </a:p>
        </p:txBody>
      </p:sp>
    </p:spTree>
    <p:extLst>
      <p:ext uri="{BB962C8B-B14F-4D97-AF65-F5344CB8AC3E}">
        <p14:creationId xmlns:p14="http://schemas.microsoft.com/office/powerpoint/2010/main" val="1174170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A723B-D739-6977-4D26-868E9DFC10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07D06-F64D-105E-047E-09D132AD12B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F83A410-FECA-ECFD-D1BA-13CFF18F3FD9}"/>
              </a:ext>
            </a:extLst>
          </p:cNvPr>
          <p:cNvSpPr>
            <a:spLocks noGrp="1"/>
          </p:cNvSpPr>
          <p:nvPr>
            <p:ph type="body" idx="1"/>
          </p:nvPr>
        </p:nvSpPr>
        <p:spPr/>
        <p:txBody>
          <a:bodyPr/>
          <a:lstStyle/>
          <a:p>
            <a:endParaRPr lang="en-LB" sz="1100" dirty="0"/>
          </a:p>
        </p:txBody>
      </p:sp>
      <p:sp>
        <p:nvSpPr>
          <p:cNvPr id="4" name="Slide Number Placeholder 3">
            <a:extLst>
              <a:ext uri="{FF2B5EF4-FFF2-40B4-BE49-F238E27FC236}">
                <a16:creationId xmlns:a16="http://schemas.microsoft.com/office/drawing/2014/main" id="{ED789110-59F2-03F4-113D-5266A6F2A10C}"/>
              </a:ext>
            </a:extLst>
          </p:cNvPr>
          <p:cNvSpPr>
            <a:spLocks noGrp="1"/>
          </p:cNvSpPr>
          <p:nvPr>
            <p:ph type="sldNum" sz="quarter" idx="5"/>
          </p:nvPr>
        </p:nvSpPr>
        <p:spPr/>
        <p:txBody>
          <a:bodyPr/>
          <a:lstStyle/>
          <a:p>
            <a:fld id="{ACEA5495-EF57-284F-B0B9-2F0D2302B2C8}" type="slidenum">
              <a:rPr lang="en-LB" smtClean="0"/>
              <a:t>30</a:t>
            </a:fld>
            <a:endParaRPr lang="en-LB"/>
          </a:p>
        </p:txBody>
      </p:sp>
    </p:spTree>
    <p:extLst>
      <p:ext uri="{BB962C8B-B14F-4D97-AF65-F5344CB8AC3E}">
        <p14:creationId xmlns:p14="http://schemas.microsoft.com/office/powerpoint/2010/main" val="1855440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i="0" u="none" strike="noStrike" dirty="0" err="1">
                <a:solidFill>
                  <a:srgbClr val="0F1115"/>
                </a:solidFill>
                <a:effectLst/>
                <a:latin typeface="quote-cjk-patch"/>
              </a:rPr>
              <a:t>ESXi</a:t>
            </a:r>
            <a:r>
              <a:rPr lang="en-US" b="1" i="0" u="none" strike="noStrike" dirty="0">
                <a:solidFill>
                  <a:srgbClr val="0F1115"/>
                </a:solidFill>
                <a:effectLst/>
                <a:latin typeface="quote-cjk-patch"/>
              </a:rPr>
              <a:t>: Elastic Sky X Integrated</a:t>
            </a:r>
            <a:r>
              <a:rPr lang="en-US" b="0" i="0" u="none" strike="noStrike" dirty="0">
                <a:solidFill>
                  <a:srgbClr val="0F1115"/>
                </a:solidFill>
                <a:effectLst/>
                <a:latin typeface="quote-cjk-patch"/>
              </a:rPr>
              <a:t>.</a:t>
            </a:r>
            <a:endParaRPr lang="en-LB" dirty="0"/>
          </a:p>
        </p:txBody>
      </p:sp>
      <p:sp>
        <p:nvSpPr>
          <p:cNvPr id="4" name="Slide Number Placeholder 3"/>
          <p:cNvSpPr>
            <a:spLocks noGrp="1"/>
          </p:cNvSpPr>
          <p:nvPr>
            <p:ph type="sldNum" sz="quarter" idx="5"/>
          </p:nvPr>
        </p:nvSpPr>
        <p:spPr/>
        <p:txBody>
          <a:bodyPr/>
          <a:lstStyle/>
          <a:p>
            <a:fld id="{ACEA5495-EF57-284F-B0B9-2F0D2302B2C8}" type="slidenum">
              <a:rPr lang="en-LB" smtClean="0"/>
              <a:t>32</a:t>
            </a:fld>
            <a:endParaRPr lang="en-LB"/>
          </a:p>
        </p:txBody>
      </p:sp>
    </p:spTree>
    <p:extLst>
      <p:ext uri="{BB962C8B-B14F-4D97-AF65-F5344CB8AC3E}">
        <p14:creationId xmlns:p14="http://schemas.microsoft.com/office/powerpoint/2010/main" val="1339312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6CD02-0F0C-33EF-CBDE-9EBE46A340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77103-3350-6CAA-3D08-19D92568FE3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9779356-3A46-F0B4-124E-B4EC5E22A16D}"/>
              </a:ext>
            </a:extLst>
          </p:cNvPr>
          <p:cNvSpPr>
            <a:spLocks noGrp="1"/>
          </p:cNvSpPr>
          <p:nvPr>
            <p:ph type="body" idx="1"/>
          </p:nvPr>
        </p:nvSpPr>
        <p:spPr/>
        <p:txBody>
          <a:bodyPr/>
          <a:lstStyle/>
          <a:p>
            <a:endParaRPr lang="en-LB" sz="1100" dirty="0"/>
          </a:p>
        </p:txBody>
      </p:sp>
      <p:sp>
        <p:nvSpPr>
          <p:cNvPr id="4" name="Slide Number Placeholder 3">
            <a:extLst>
              <a:ext uri="{FF2B5EF4-FFF2-40B4-BE49-F238E27FC236}">
                <a16:creationId xmlns:a16="http://schemas.microsoft.com/office/drawing/2014/main" id="{9C359496-C979-2DB1-0972-C426C4AE7948}"/>
              </a:ext>
            </a:extLst>
          </p:cNvPr>
          <p:cNvSpPr>
            <a:spLocks noGrp="1"/>
          </p:cNvSpPr>
          <p:nvPr>
            <p:ph type="sldNum" sz="quarter" idx="5"/>
          </p:nvPr>
        </p:nvSpPr>
        <p:spPr/>
        <p:txBody>
          <a:bodyPr/>
          <a:lstStyle/>
          <a:p>
            <a:fld id="{ACEA5495-EF57-284F-B0B9-2F0D2302B2C8}" type="slidenum">
              <a:rPr lang="en-LB" smtClean="0"/>
              <a:t>34</a:t>
            </a:fld>
            <a:endParaRPr lang="en-LB"/>
          </a:p>
        </p:txBody>
      </p:sp>
    </p:spTree>
    <p:extLst>
      <p:ext uri="{BB962C8B-B14F-4D97-AF65-F5344CB8AC3E}">
        <p14:creationId xmlns:p14="http://schemas.microsoft.com/office/powerpoint/2010/main" val="1214770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spcBef>
                <a:spcPts val="1200"/>
              </a:spcBef>
              <a:spcAft>
                <a:spcPts val="1200"/>
              </a:spcAft>
              <a:buFont typeface="Arial" panose="020B0604020202020204" pitchFamily="34" charset="0"/>
              <a:buChar char="•"/>
            </a:pPr>
            <a:r>
              <a:rPr lang="en-US" b="1" i="0" u="none" strike="noStrike" dirty="0">
                <a:solidFill>
                  <a:srgbClr val="0F1115"/>
                </a:solidFill>
                <a:effectLst/>
                <a:latin typeface="quote-cjk-patch"/>
              </a:rPr>
              <a:t>Network Inventory:</a:t>
            </a:r>
            <a:r>
              <a:rPr lang="en-US" b="0" i="0" u="none" strike="noStrike" dirty="0">
                <a:solidFill>
                  <a:srgbClr val="0F1115"/>
                </a:solidFill>
                <a:effectLst/>
                <a:latin typeface="quote-cjk-patch"/>
              </a:rPr>
              <a:t> Keeping a detailed record of every piece of physical and logical network equipment (e.g., which router is where, what cards are in it, which ports are used, what services are running on them).</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Fault Management:</a:t>
            </a:r>
            <a:r>
              <a:rPr lang="en-US" b="0" i="0" u="none" strike="noStrike" dirty="0">
                <a:solidFill>
                  <a:srgbClr val="0F1115"/>
                </a:solidFill>
                <a:effectLst/>
                <a:latin typeface="quote-cjk-patch"/>
              </a:rPr>
              <a:t> Continuously monitoring the network for failures (e.g., a fiber cut, a router crash, a failing circuit). It collects alarms, identifies the root cause, and helps technicians dispatch repairs.</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Configuration Management:</a:t>
            </a:r>
            <a:r>
              <a:rPr lang="en-US" b="0" i="0" u="none" strike="noStrike" dirty="0">
                <a:solidFill>
                  <a:srgbClr val="0F1115"/>
                </a:solidFill>
                <a:effectLst/>
                <a:latin typeface="quote-cjk-patch"/>
              </a:rPr>
              <a:t> Remotely configuring network devices (e.g., setting up a new customer's internet connection, updating software on a cell tower).</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Performance Management:</a:t>
            </a:r>
            <a:r>
              <a:rPr lang="en-US" b="0" i="0" u="none" strike="noStrike" dirty="0">
                <a:solidFill>
                  <a:srgbClr val="0F1115"/>
                </a:solidFill>
                <a:effectLst/>
                <a:latin typeface="quote-cjk-patch"/>
              </a:rPr>
              <a:t> Collecting and analyzing performance data (e.g., bandwidth utilization, latency, packet loss, signal strength) to ensure the network meets quality standards.</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Service Provisioning &amp; Activation:</a:t>
            </a:r>
            <a:r>
              <a:rPr lang="en-US" b="0" i="0" u="none" strike="noStrike" dirty="0">
                <a:solidFill>
                  <a:srgbClr val="0F1115"/>
                </a:solidFill>
                <a:effectLst/>
                <a:latin typeface="quote-cjk-patch"/>
              </a:rPr>
              <a:t> The process of automatically setting up and activating a new service for a customer (e.g., activating a new fiber line or a 5G mobile plan).</a:t>
            </a:r>
          </a:p>
          <a:p>
            <a:endParaRPr lang="en-LB" dirty="0"/>
          </a:p>
          <a:p>
            <a:pPr algn="l">
              <a:spcBef>
                <a:spcPts val="2400"/>
              </a:spcBef>
              <a:spcAft>
                <a:spcPts val="1200"/>
              </a:spcAft>
            </a:pPr>
            <a:r>
              <a:rPr lang="en-US" b="1" i="0" u="none" strike="noStrike" dirty="0">
                <a:solidFill>
                  <a:srgbClr val="0F1115"/>
                </a:solidFill>
                <a:effectLst/>
                <a:latin typeface="quote-cjk-patch"/>
              </a:rPr>
              <a:t>Real-World Example: Activating a New Home Fiber Internet Customer</a:t>
            </a:r>
          </a:p>
          <a:p>
            <a:pPr algn="l">
              <a:spcBef>
                <a:spcPts val="1200"/>
              </a:spcBef>
              <a:spcAft>
                <a:spcPts val="1200"/>
              </a:spcAft>
            </a:pPr>
            <a:r>
              <a:rPr lang="en-US" b="0" i="0" u="none" strike="noStrike" dirty="0">
                <a:solidFill>
                  <a:srgbClr val="0F1115"/>
                </a:solidFill>
                <a:effectLst/>
                <a:latin typeface="quote-cjk-patch"/>
              </a:rPr>
              <a:t>Let's follow the journey of a new customer, "Alex," who orders a 1 Gbps fiber internet package from "Telecom Giant Inc." The OSS platforms work behind the scenes to make this happen.</a:t>
            </a:r>
          </a:p>
          <a:p>
            <a:pPr algn="l">
              <a:spcBef>
                <a:spcPts val="1200"/>
              </a:spcBef>
              <a:spcAft>
                <a:spcPts val="1200"/>
              </a:spcAft>
            </a:pPr>
            <a:r>
              <a:rPr lang="en-US" b="1" i="0" u="none" strike="noStrike" dirty="0">
                <a:solidFill>
                  <a:srgbClr val="0F1115"/>
                </a:solidFill>
                <a:effectLst/>
                <a:latin typeface="quote-cjk-patch"/>
              </a:rPr>
              <a:t>Step 1: Order Receipt and Service Design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Alex places an order online. This order enters Telecom Giant's </a:t>
            </a:r>
            <a:r>
              <a:rPr lang="en-US" b="1" i="0" u="none" strike="noStrike" dirty="0">
                <a:solidFill>
                  <a:srgbClr val="0F1115"/>
                </a:solidFill>
                <a:effectLst/>
                <a:latin typeface="quote-cjk-patch"/>
              </a:rPr>
              <a:t>Business Support System (BSS)</a:t>
            </a:r>
            <a:r>
              <a:rPr lang="en-US" b="0" i="0" u="none" strike="noStrike" dirty="0">
                <a:solidFill>
                  <a:srgbClr val="0F1115"/>
                </a:solidFill>
                <a:effectLst/>
                <a:latin typeface="quote-cjk-patch"/>
              </a:rPr>
              <a:t>—the system that handles customer-facing processes like orders, billing, and CRM.</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BSS sends a request to the OSS: </a:t>
            </a:r>
            <a:r>
              <a:rPr lang="en-US" b="0" i="1" u="none" strike="noStrike" dirty="0">
                <a:solidFill>
                  <a:srgbClr val="0F1115"/>
                </a:solidFill>
                <a:effectLst/>
                <a:latin typeface="quote-cjk-patch"/>
              </a:rPr>
              <a:t>"Please provision a 1 Gbps internet service for Alex at 123 Main St."</a:t>
            </a:r>
            <a:endParaRPr lang="en-US" b="0" i="0" u="none" strike="noStrike" dirty="0">
              <a:solidFill>
                <a:srgbClr val="0F1115"/>
              </a:solidFill>
              <a:effectLst/>
              <a:latin typeface="quote-cjk-patch"/>
            </a:endParaRPr>
          </a:p>
          <a:p>
            <a:pPr algn="l">
              <a:spcBef>
                <a:spcPts val="1200"/>
              </a:spcBef>
              <a:spcAft>
                <a:spcPts val="1200"/>
              </a:spcAft>
            </a:pPr>
            <a:r>
              <a:rPr lang="en-US" b="1" i="0" u="none" strike="noStrike" dirty="0">
                <a:solidFill>
                  <a:srgbClr val="0F1115"/>
                </a:solidFill>
                <a:effectLst/>
                <a:latin typeface="quote-cjk-patch"/>
              </a:rPr>
              <a:t>Step 2: Network Inventory Check (OSS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Network Inventory Management System</a:t>
            </a:r>
            <a:r>
              <a:rPr lang="en-US" b="0" i="0" u="none" strike="noStrike" dirty="0">
                <a:solidFill>
                  <a:srgbClr val="0F1115"/>
                </a:solidFill>
                <a:effectLst/>
                <a:latin typeface="quote-cjk-patch"/>
              </a:rPr>
              <a:t> (a core OSS component) receives the request.</a:t>
            </a:r>
          </a:p>
          <a:p>
            <a:pPr algn="l">
              <a:spcBef>
                <a:spcPts val="450"/>
              </a:spcBef>
              <a:spcAft>
                <a:spcPts val="600"/>
              </a:spcAft>
              <a:buFont typeface="Arial" panose="020B0604020202020204" pitchFamily="34" charset="0"/>
              <a:buChar char="•"/>
            </a:pPr>
            <a:r>
              <a:rPr lang="en-US" b="0" i="0" u="none" strike="noStrike" dirty="0">
                <a:solidFill>
                  <a:srgbClr val="0F1115"/>
                </a:solidFill>
                <a:effectLst/>
                <a:latin typeface="quote-cjk-patch"/>
              </a:rPr>
              <a:t>It queries its database to answer critical questions:</a:t>
            </a:r>
          </a:p>
          <a:p>
            <a:pPr marL="742950" lvl="1" indent="-285750" algn="l">
              <a:spcBef>
                <a:spcPts val="300"/>
              </a:spcBef>
              <a:spcAft>
                <a:spcPts val="1200"/>
              </a:spcAft>
              <a:buFont typeface="Arial" panose="020B0604020202020204" pitchFamily="34" charset="0"/>
              <a:buChar char="•"/>
            </a:pPr>
            <a:r>
              <a:rPr lang="en-US" b="0" i="0" u="none" strike="noStrike" dirty="0">
                <a:solidFill>
                  <a:srgbClr val="0F1115"/>
                </a:solidFill>
                <a:effectLst/>
                <a:latin typeface="quote-cjk-patch"/>
              </a:rPr>
              <a:t>Is there a free </a:t>
            </a:r>
            <a:r>
              <a:rPr lang="en-US" b="1" i="0" u="none" strike="noStrike" dirty="0">
                <a:solidFill>
                  <a:srgbClr val="0F1115"/>
                </a:solidFill>
                <a:effectLst/>
                <a:latin typeface="quote-cjk-patch"/>
              </a:rPr>
              <a:t>port</a:t>
            </a:r>
            <a:r>
              <a:rPr lang="en-US" b="0" i="0" u="none" strike="noStrike" dirty="0">
                <a:solidFill>
                  <a:srgbClr val="0F1115"/>
                </a:solidFill>
                <a:effectLst/>
                <a:latin typeface="quote-cjk-patch"/>
              </a:rPr>
              <a:t> on the </a:t>
            </a:r>
            <a:r>
              <a:rPr lang="en-US" b="1" i="0" u="none" strike="noStrike" dirty="0">
                <a:solidFill>
                  <a:srgbClr val="0F1115"/>
                </a:solidFill>
                <a:effectLst/>
                <a:latin typeface="quote-cjk-patch"/>
              </a:rPr>
              <a:t>Optical Line Terminal (OLT)</a:t>
            </a:r>
            <a:r>
              <a:rPr lang="en-US" b="0" i="0" u="none" strike="noStrike" dirty="0">
                <a:solidFill>
                  <a:srgbClr val="0F1115"/>
                </a:solidFill>
                <a:effectLst/>
                <a:latin typeface="quote-cjk-patch"/>
              </a:rPr>
              <a:t> at the street cabinet near 123 Main St.?</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Is there a spare </a:t>
            </a:r>
            <a:r>
              <a:rPr lang="en-US" b="1" i="0" u="none" strike="noStrike" dirty="0">
                <a:solidFill>
                  <a:srgbClr val="0F1115"/>
                </a:solidFill>
                <a:effectLst/>
                <a:latin typeface="quote-cjk-patch"/>
              </a:rPr>
              <a:t>fiber strand</a:t>
            </a:r>
            <a:r>
              <a:rPr lang="en-US" b="0" i="0" u="none" strike="noStrike" dirty="0">
                <a:solidFill>
                  <a:srgbClr val="0F1115"/>
                </a:solidFill>
                <a:effectLst/>
                <a:latin typeface="quote-cjk-patch"/>
              </a:rPr>
              <a:t> running from that port to Alex's house?</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What is the unique identifier for the </a:t>
            </a:r>
            <a:r>
              <a:rPr lang="en-US" b="1" i="0" u="none" strike="noStrike" dirty="0">
                <a:solidFill>
                  <a:srgbClr val="0F1115"/>
                </a:solidFill>
                <a:effectLst/>
                <a:latin typeface="quote-cjk-patch"/>
              </a:rPr>
              <a:t>ONT (Optical Network Terminal)</a:t>
            </a:r>
            <a:r>
              <a:rPr lang="en-US" b="0" i="0" u="none" strike="noStrike" dirty="0">
                <a:solidFill>
                  <a:srgbClr val="0F1115"/>
                </a:solidFill>
                <a:effectLst/>
                <a:latin typeface="quote-cjk-patch"/>
              </a:rPr>
              <a:t> device that will be installed in Alex's home?</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inventory system reserves these resources to prevent another order from using them.</a:t>
            </a:r>
          </a:p>
          <a:p>
            <a:pPr algn="l">
              <a:spcBef>
                <a:spcPts val="1200"/>
              </a:spcBef>
              <a:spcAft>
                <a:spcPts val="1200"/>
              </a:spcAft>
            </a:pPr>
            <a:r>
              <a:rPr lang="en-US" b="1" i="0" u="none" strike="noStrike" dirty="0">
                <a:solidFill>
                  <a:srgbClr val="0F1115"/>
                </a:solidFill>
                <a:effectLst/>
                <a:latin typeface="quote-cjk-patch"/>
              </a:rPr>
              <a:t>Step 3: Service Provisioning &amp; Activation (OSS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Service Fulfillment / Provisioning System</a:t>
            </a:r>
            <a:r>
              <a:rPr lang="en-US" b="0" i="0" u="none" strike="noStrike" dirty="0">
                <a:solidFill>
                  <a:srgbClr val="0F1115"/>
                </a:solidFill>
                <a:effectLst/>
                <a:latin typeface="quote-cjk-patch"/>
              </a:rPr>
              <a:t> (another OSS component) takes over.</a:t>
            </a:r>
          </a:p>
          <a:p>
            <a:pPr algn="l">
              <a:spcBef>
                <a:spcPts val="450"/>
              </a:spcBef>
              <a:spcAft>
                <a:spcPts val="600"/>
              </a:spcAft>
              <a:buFont typeface="Arial" panose="020B0604020202020204" pitchFamily="34" charset="0"/>
              <a:buChar char="•"/>
            </a:pPr>
            <a:r>
              <a:rPr lang="en-US" b="0" i="0" u="none" strike="noStrike" dirty="0">
                <a:solidFill>
                  <a:srgbClr val="0F1115"/>
                </a:solidFill>
                <a:effectLst/>
                <a:latin typeface="quote-cjk-patch"/>
              </a:rPr>
              <a:t>It automatically sends configuration commands to the network devices:</a:t>
            </a:r>
          </a:p>
          <a:p>
            <a:pPr marL="742950" lvl="1" indent="-285750" algn="l">
              <a:spcBef>
                <a:spcPts val="300"/>
              </a:spcBef>
              <a:spcAft>
                <a:spcPts val="1200"/>
              </a:spcAft>
              <a:buFont typeface="Arial" panose="020B0604020202020204" pitchFamily="34" charset="0"/>
              <a:buChar char="•"/>
            </a:pPr>
            <a:r>
              <a:rPr lang="en-US" b="0" i="0" u="none" strike="noStrike" dirty="0">
                <a:solidFill>
                  <a:srgbClr val="0F1115"/>
                </a:solidFill>
                <a:effectLst/>
                <a:latin typeface="quote-cjk-patch"/>
              </a:rPr>
              <a:t>It configures the </a:t>
            </a:r>
            <a:r>
              <a:rPr lang="en-US" b="1" i="0" u="none" strike="noStrike" dirty="0">
                <a:solidFill>
                  <a:srgbClr val="0F1115"/>
                </a:solidFill>
                <a:effectLst/>
                <a:latin typeface="quote-cjk-patch"/>
              </a:rPr>
              <a:t>OLT port</a:t>
            </a:r>
            <a:r>
              <a:rPr lang="en-US" b="0" i="0" u="none" strike="noStrike" dirty="0">
                <a:solidFill>
                  <a:srgbClr val="0F1115"/>
                </a:solidFill>
                <a:effectLst/>
                <a:latin typeface="quote-cjk-patch"/>
              </a:rPr>
              <a:t> to recognize the unique serial number of Alex's ONT.</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It sets the bandwidth profile on the OLT and the core router to </a:t>
            </a:r>
            <a:r>
              <a:rPr lang="en-US" b="1" i="0" u="none" strike="noStrike" dirty="0">
                <a:solidFill>
                  <a:srgbClr val="0F1115"/>
                </a:solidFill>
                <a:effectLst/>
                <a:latin typeface="quote-cjk-patch"/>
              </a:rPr>
              <a:t>1 Gbps</a:t>
            </a:r>
            <a:r>
              <a:rPr lang="en-US" b="0" i="0" u="none" strike="noStrike" dirty="0">
                <a:solidFill>
                  <a:srgbClr val="0F1115"/>
                </a:solidFill>
                <a:effectLst/>
                <a:latin typeface="quote-cjk-patch"/>
              </a:rPr>
              <a:t> for that specific port.</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It establishes the connection from Alex's future ONT, through the aggregation network, to the </a:t>
            </a:r>
            <a:r>
              <a:rPr lang="en-US" b="1" i="0" u="none" strike="noStrike" dirty="0">
                <a:solidFill>
                  <a:srgbClr val="0F1115"/>
                </a:solidFill>
                <a:effectLst/>
                <a:latin typeface="quote-cjk-patch"/>
              </a:rPr>
              <a:t>Broadband Network Gateway (BNG)</a:t>
            </a:r>
            <a:r>
              <a:rPr lang="en-US" b="0" i="0" u="none" strike="noStrike" dirty="0">
                <a:solidFill>
                  <a:srgbClr val="0F1115"/>
                </a:solidFill>
                <a:effectLst/>
                <a:latin typeface="quote-cjk-patch"/>
              </a:rPr>
              <a:t> in the core network, which assigns an IP address.</a:t>
            </a:r>
          </a:p>
          <a:p>
            <a:pPr algn="l">
              <a:spcBef>
                <a:spcPts val="1200"/>
              </a:spcBef>
              <a:spcAft>
                <a:spcPts val="1200"/>
              </a:spcAft>
            </a:pPr>
            <a:r>
              <a:rPr lang="en-US" b="1" i="0" u="none" strike="noStrike" dirty="0">
                <a:solidFill>
                  <a:srgbClr val="0F1115"/>
                </a:solidFill>
                <a:effectLst/>
                <a:latin typeface="quote-cjk-patch"/>
              </a:rPr>
              <a:t>Step 4: Work Order Dispatch</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OSS generates a work order for a field technician and dispatches it to their mobile device. The work order, derived from the inventory system, tells the technician exactly which ONT device to install and which port on the street cabinet to plug the fiber into.</a:t>
            </a:r>
          </a:p>
          <a:p>
            <a:pPr algn="l">
              <a:spcBef>
                <a:spcPts val="1200"/>
              </a:spcBef>
              <a:spcAft>
                <a:spcPts val="1200"/>
              </a:spcAft>
            </a:pPr>
            <a:r>
              <a:rPr lang="en-US" b="1" i="0" u="none" strike="noStrike" dirty="0">
                <a:solidFill>
                  <a:srgbClr val="0F1115"/>
                </a:solidFill>
                <a:effectLst/>
                <a:latin typeface="quote-cjk-patch"/>
              </a:rPr>
              <a:t>Step 5: Installation and Activation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technician installs the ONT at Alex's home and plugs in the fiber.</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ONT "lights up" and authenticates with the OLT. Because the OSS pre-configured everything, the connection is established instantly.</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Alex can now connect to the internet.</a:t>
            </a:r>
          </a:p>
          <a:p>
            <a:pPr algn="l">
              <a:spcBef>
                <a:spcPts val="1200"/>
              </a:spcBef>
              <a:spcAft>
                <a:spcPts val="1200"/>
              </a:spcAft>
            </a:pPr>
            <a:r>
              <a:rPr lang="en-US" b="1" i="0" u="none" strike="noStrike" dirty="0">
                <a:solidFill>
                  <a:srgbClr val="0F1115"/>
                </a:solidFill>
                <a:effectLst/>
                <a:latin typeface="quote-cjk-patch"/>
              </a:rPr>
              <a:t>Step 6: Ongoing Monitoring &amp; Assurance (OSS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Now that Alex is a customer, the </a:t>
            </a:r>
            <a:r>
              <a:rPr lang="en-US" b="1" i="0" u="none" strike="noStrike" dirty="0">
                <a:solidFill>
                  <a:srgbClr val="0F1115"/>
                </a:solidFill>
                <a:effectLst/>
                <a:latin typeface="quote-cjk-patch"/>
              </a:rPr>
              <a:t>Network Monitoring and Fault Management System</a:t>
            </a:r>
            <a:r>
              <a:rPr lang="en-US" b="0" i="0" u="none" strike="noStrike" dirty="0">
                <a:solidFill>
                  <a:srgbClr val="0F1115"/>
                </a:solidFill>
                <a:effectLst/>
                <a:latin typeface="quote-cjk-patch"/>
              </a:rPr>
              <a:t> (an OSS) begins watching his service.</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It collects performance metrics from the ONT and OLT: optical signal strength, data usage, error rates.</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If the fiber line gets damaged a week later, causing Alex's signal to drop, this system immediately generates an alarm. It correlates the alarm, identifies that the issue is likely a physical break between the cabinet and Alex's house, and automatically creates a repair ticket for a technician.</a:t>
            </a:r>
          </a:p>
          <a:p>
            <a:pPr algn="l">
              <a:spcBef>
                <a:spcPts val="450"/>
              </a:spcBef>
              <a:spcAft>
                <a:spcPts val="1200"/>
              </a:spcAft>
              <a:buFont typeface="Arial" panose="020B0604020202020204" pitchFamily="34" charset="0"/>
              <a:buChar char="•"/>
            </a:pPr>
            <a:endParaRPr lang="en-US" b="0" i="0" u="none" strike="noStrike" dirty="0">
              <a:solidFill>
                <a:srgbClr val="0F1115"/>
              </a:solidFill>
              <a:effectLst/>
              <a:latin typeface="quote-cjk-patch"/>
            </a:endParaRPr>
          </a:p>
        </p:txBody>
      </p:sp>
      <p:sp>
        <p:nvSpPr>
          <p:cNvPr id="4" name="Slide Number Placeholder 3"/>
          <p:cNvSpPr>
            <a:spLocks noGrp="1"/>
          </p:cNvSpPr>
          <p:nvPr>
            <p:ph type="sldNum" sz="quarter" idx="5"/>
          </p:nvPr>
        </p:nvSpPr>
        <p:spPr/>
        <p:txBody>
          <a:bodyPr/>
          <a:lstStyle/>
          <a:p>
            <a:fld id="{ACEA5495-EF57-284F-B0B9-2F0D2302B2C8}" type="slidenum">
              <a:rPr lang="en-LB" smtClean="0"/>
              <a:t>36</a:t>
            </a:fld>
            <a:endParaRPr lang="en-LB"/>
          </a:p>
        </p:txBody>
      </p:sp>
    </p:spTree>
    <p:extLst>
      <p:ext uri="{BB962C8B-B14F-4D97-AF65-F5344CB8AC3E}">
        <p14:creationId xmlns:p14="http://schemas.microsoft.com/office/powerpoint/2010/main" val="2609438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B0B5-8E2D-9492-CAD2-C31349B2C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D81A9-05AB-F1FD-B18B-AF728BE4343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0D4D6E3-7262-A9E6-24DB-CE15211BF85D}"/>
              </a:ext>
            </a:extLst>
          </p:cNvPr>
          <p:cNvSpPr>
            <a:spLocks noGrp="1"/>
          </p:cNvSpPr>
          <p:nvPr>
            <p:ph type="body" idx="1"/>
          </p:nvPr>
        </p:nvSpPr>
        <p:spPr/>
        <p:txBody>
          <a:bodyPr/>
          <a:lstStyle/>
          <a:p>
            <a:pPr algn="l">
              <a:spcBef>
                <a:spcPts val="1200"/>
              </a:spcBef>
              <a:spcAft>
                <a:spcPts val="1200"/>
              </a:spcAft>
              <a:buFont typeface="Arial" panose="020B0604020202020204" pitchFamily="34" charset="0"/>
              <a:buChar char="•"/>
            </a:pPr>
            <a:r>
              <a:rPr lang="en-US" b="1" i="0" u="none" strike="noStrike" dirty="0">
                <a:solidFill>
                  <a:srgbClr val="0F1115"/>
                </a:solidFill>
                <a:effectLst/>
                <a:latin typeface="quote-cjk-patch"/>
              </a:rPr>
              <a:t>Network Inventory:</a:t>
            </a:r>
            <a:r>
              <a:rPr lang="en-US" b="0" i="0" u="none" strike="noStrike" dirty="0">
                <a:solidFill>
                  <a:srgbClr val="0F1115"/>
                </a:solidFill>
                <a:effectLst/>
                <a:latin typeface="quote-cjk-patch"/>
              </a:rPr>
              <a:t> Keeping a detailed record of every piece of physical and logical network equipment (e.g., which router is where, what cards are in it, which ports are used, what services are running on them).</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Fault Management:</a:t>
            </a:r>
            <a:r>
              <a:rPr lang="en-US" b="0" i="0" u="none" strike="noStrike" dirty="0">
                <a:solidFill>
                  <a:srgbClr val="0F1115"/>
                </a:solidFill>
                <a:effectLst/>
                <a:latin typeface="quote-cjk-patch"/>
              </a:rPr>
              <a:t> Continuously monitoring the network for failures (e.g., a fiber cut, a router crash, a failing circuit). It collects alarms, identifies the root cause, and helps technicians dispatch repairs.</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Configuration Management:</a:t>
            </a:r>
            <a:r>
              <a:rPr lang="en-US" b="0" i="0" u="none" strike="noStrike" dirty="0">
                <a:solidFill>
                  <a:srgbClr val="0F1115"/>
                </a:solidFill>
                <a:effectLst/>
                <a:latin typeface="quote-cjk-patch"/>
              </a:rPr>
              <a:t> Remotely configuring network devices (e.g., setting up a new customer's internet connection, updating software on a cell tower).</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Performance Management:</a:t>
            </a:r>
            <a:r>
              <a:rPr lang="en-US" b="0" i="0" u="none" strike="noStrike" dirty="0">
                <a:solidFill>
                  <a:srgbClr val="0F1115"/>
                </a:solidFill>
                <a:effectLst/>
                <a:latin typeface="quote-cjk-patch"/>
              </a:rPr>
              <a:t> Collecting and analyzing performance data (e.g., bandwidth utilization, latency, packet loss, signal strength) to ensure the network meets quality standards.</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Service Provisioning &amp; Activation:</a:t>
            </a:r>
            <a:r>
              <a:rPr lang="en-US" b="0" i="0" u="none" strike="noStrike" dirty="0">
                <a:solidFill>
                  <a:srgbClr val="0F1115"/>
                </a:solidFill>
                <a:effectLst/>
                <a:latin typeface="quote-cjk-patch"/>
              </a:rPr>
              <a:t> The process of automatically setting up and activating a new service for a customer (e.g., activating a new fiber line or a 5G mobile plan).</a:t>
            </a:r>
          </a:p>
          <a:p>
            <a:endParaRPr lang="en-LB" dirty="0"/>
          </a:p>
          <a:p>
            <a:pPr algn="l">
              <a:spcBef>
                <a:spcPts val="2400"/>
              </a:spcBef>
              <a:spcAft>
                <a:spcPts val="1200"/>
              </a:spcAft>
            </a:pPr>
            <a:r>
              <a:rPr lang="en-US" b="1" i="0" u="none" strike="noStrike" dirty="0">
                <a:solidFill>
                  <a:srgbClr val="0F1115"/>
                </a:solidFill>
                <a:effectLst/>
                <a:latin typeface="quote-cjk-patch"/>
              </a:rPr>
              <a:t>Real-World Example: Activating a New Home Fiber Internet Customer</a:t>
            </a:r>
          </a:p>
          <a:p>
            <a:pPr algn="l">
              <a:spcBef>
                <a:spcPts val="1200"/>
              </a:spcBef>
              <a:spcAft>
                <a:spcPts val="1200"/>
              </a:spcAft>
            </a:pPr>
            <a:r>
              <a:rPr lang="en-US" b="0" i="0" u="none" strike="noStrike" dirty="0">
                <a:solidFill>
                  <a:srgbClr val="0F1115"/>
                </a:solidFill>
                <a:effectLst/>
                <a:latin typeface="quote-cjk-patch"/>
              </a:rPr>
              <a:t>Let's follow the journey of a new customer, "Alex," who orders a 1 Gbps fiber internet package from "Telecom Giant Inc." The OSS platforms work behind the scenes to make this happen.</a:t>
            </a:r>
          </a:p>
          <a:p>
            <a:pPr algn="l">
              <a:spcBef>
                <a:spcPts val="1200"/>
              </a:spcBef>
              <a:spcAft>
                <a:spcPts val="1200"/>
              </a:spcAft>
            </a:pPr>
            <a:r>
              <a:rPr lang="en-US" b="1" i="0" u="none" strike="noStrike" dirty="0">
                <a:solidFill>
                  <a:srgbClr val="0F1115"/>
                </a:solidFill>
                <a:effectLst/>
                <a:latin typeface="quote-cjk-patch"/>
              </a:rPr>
              <a:t>Step 1: Order Receipt and Service Design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Alex places an order online. This order enters Telecom Giant's </a:t>
            </a:r>
            <a:r>
              <a:rPr lang="en-US" b="1" i="0" u="none" strike="noStrike" dirty="0">
                <a:solidFill>
                  <a:srgbClr val="0F1115"/>
                </a:solidFill>
                <a:effectLst/>
                <a:latin typeface="quote-cjk-patch"/>
              </a:rPr>
              <a:t>Business Support System (BSS)</a:t>
            </a:r>
            <a:r>
              <a:rPr lang="en-US" b="0" i="0" u="none" strike="noStrike" dirty="0">
                <a:solidFill>
                  <a:srgbClr val="0F1115"/>
                </a:solidFill>
                <a:effectLst/>
                <a:latin typeface="quote-cjk-patch"/>
              </a:rPr>
              <a:t>—the system that handles customer-facing processes like orders, billing, and CRM.</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BSS sends a request to the OSS: </a:t>
            </a:r>
            <a:r>
              <a:rPr lang="en-US" b="0" i="1" u="none" strike="noStrike" dirty="0">
                <a:solidFill>
                  <a:srgbClr val="0F1115"/>
                </a:solidFill>
                <a:effectLst/>
                <a:latin typeface="quote-cjk-patch"/>
              </a:rPr>
              <a:t>"Please provision a 1 Gbps internet service for Alex at 123 Main St."</a:t>
            </a:r>
            <a:endParaRPr lang="en-US" b="0" i="0" u="none" strike="noStrike" dirty="0">
              <a:solidFill>
                <a:srgbClr val="0F1115"/>
              </a:solidFill>
              <a:effectLst/>
              <a:latin typeface="quote-cjk-patch"/>
            </a:endParaRPr>
          </a:p>
          <a:p>
            <a:pPr algn="l">
              <a:spcBef>
                <a:spcPts val="1200"/>
              </a:spcBef>
              <a:spcAft>
                <a:spcPts val="1200"/>
              </a:spcAft>
            </a:pPr>
            <a:r>
              <a:rPr lang="en-US" b="1" i="0" u="none" strike="noStrike" dirty="0">
                <a:solidFill>
                  <a:srgbClr val="0F1115"/>
                </a:solidFill>
                <a:effectLst/>
                <a:latin typeface="quote-cjk-patch"/>
              </a:rPr>
              <a:t>Step 2: Network Inventory Check (OSS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Network Inventory Management System</a:t>
            </a:r>
            <a:r>
              <a:rPr lang="en-US" b="0" i="0" u="none" strike="noStrike" dirty="0">
                <a:solidFill>
                  <a:srgbClr val="0F1115"/>
                </a:solidFill>
                <a:effectLst/>
                <a:latin typeface="quote-cjk-patch"/>
              </a:rPr>
              <a:t> (a core OSS component) receives the request.</a:t>
            </a:r>
          </a:p>
          <a:p>
            <a:pPr algn="l">
              <a:spcBef>
                <a:spcPts val="450"/>
              </a:spcBef>
              <a:spcAft>
                <a:spcPts val="600"/>
              </a:spcAft>
              <a:buFont typeface="Arial" panose="020B0604020202020204" pitchFamily="34" charset="0"/>
              <a:buChar char="•"/>
            </a:pPr>
            <a:r>
              <a:rPr lang="en-US" b="0" i="0" u="none" strike="noStrike" dirty="0">
                <a:solidFill>
                  <a:srgbClr val="0F1115"/>
                </a:solidFill>
                <a:effectLst/>
                <a:latin typeface="quote-cjk-patch"/>
              </a:rPr>
              <a:t>It queries its database to answer critical questions:</a:t>
            </a:r>
          </a:p>
          <a:p>
            <a:pPr marL="742950" lvl="1" indent="-285750" algn="l">
              <a:spcBef>
                <a:spcPts val="300"/>
              </a:spcBef>
              <a:spcAft>
                <a:spcPts val="1200"/>
              </a:spcAft>
              <a:buFont typeface="Arial" panose="020B0604020202020204" pitchFamily="34" charset="0"/>
              <a:buChar char="•"/>
            </a:pPr>
            <a:r>
              <a:rPr lang="en-US" b="0" i="0" u="none" strike="noStrike" dirty="0">
                <a:solidFill>
                  <a:srgbClr val="0F1115"/>
                </a:solidFill>
                <a:effectLst/>
                <a:latin typeface="quote-cjk-patch"/>
              </a:rPr>
              <a:t>Is there a free </a:t>
            </a:r>
            <a:r>
              <a:rPr lang="en-US" b="1" i="0" u="none" strike="noStrike" dirty="0">
                <a:solidFill>
                  <a:srgbClr val="0F1115"/>
                </a:solidFill>
                <a:effectLst/>
                <a:latin typeface="quote-cjk-patch"/>
              </a:rPr>
              <a:t>port</a:t>
            </a:r>
            <a:r>
              <a:rPr lang="en-US" b="0" i="0" u="none" strike="noStrike" dirty="0">
                <a:solidFill>
                  <a:srgbClr val="0F1115"/>
                </a:solidFill>
                <a:effectLst/>
                <a:latin typeface="quote-cjk-patch"/>
              </a:rPr>
              <a:t> on the </a:t>
            </a:r>
            <a:r>
              <a:rPr lang="en-US" b="1" i="0" u="none" strike="noStrike" dirty="0">
                <a:solidFill>
                  <a:srgbClr val="0F1115"/>
                </a:solidFill>
                <a:effectLst/>
                <a:latin typeface="quote-cjk-patch"/>
              </a:rPr>
              <a:t>Optical Line Terminal (OLT)</a:t>
            </a:r>
            <a:r>
              <a:rPr lang="en-US" b="0" i="0" u="none" strike="noStrike" dirty="0">
                <a:solidFill>
                  <a:srgbClr val="0F1115"/>
                </a:solidFill>
                <a:effectLst/>
                <a:latin typeface="quote-cjk-patch"/>
              </a:rPr>
              <a:t> at the street cabinet near 123 Main St.?</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Is there a spare </a:t>
            </a:r>
            <a:r>
              <a:rPr lang="en-US" b="1" i="0" u="none" strike="noStrike" dirty="0">
                <a:solidFill>
                  <a:srgbClr val="0F1115"/>
                </a:solidFill>
                <a:effectLst/>
                <a:latin typeface="quote-cjk-patch"/>
              </a:rPr>
              <a:t>fiber strand</a:t>
            </a:r>
            <a:r>
              <a:rPr lang="en-US" b="0" i="0" u="none" strike="noStrike" dirty="0">
                <a:solidFill>
                  <a:srgbClr val="0F1115"/>
                </a:solidFill>
                <a:effectLst/>
                <a:latin typeface="quote-cjk-patch"/>
              </a:rPr>
              <a:t> running from that port to Alex's house?</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What is the unique identifier for the </a:t>
            </a:r>
            <a:r>
              <a:rPr lang="en-US" b="1" i="0" u="none" strike="noStrike" dirty="0">
                <a:solidFill>
                  <a:srgbClr val="0F1115"/>
                </a:solidFill>
                <a:effectLst/>
                <a:latin typeface="quote-cjk-patch"/>
              </a:rPr>
              <a:t>ONT (Optical Network Terminal)</a:t>
            </a:r>
            <a:r>
              <a:rPr lang="en-US" b="0" i="0" u="none" strike="noStrike" dirty="0">
                <a:solidFill>
                  <a:srgbClr val="0F1115"/>
                </a:solidFill>
                <a:effectLst/>
                <a:latin typeface="quote-cjk-patch"/>
              </a:rPr>
              <a:t> device that will be installed in Alex's home?</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inventory system reserves these resources to prevent another order from using them.</a:t>
            </a:r>
          </a:p>
          <a:p>
            <a:pPr algn="l">
              <a:spcBef>
                <a:spcPts val="1200"/>
              </a:spcBef>
              <a:spcAft>
                <a:spcPts val="1200"/>
              </a:spcAft>
            </a:pPr>
            <a:r>
              <a:rPr lang="en-US" b="1" i="0" u="none" strike="noStrike" dirty="0">
                <a:solidFill>
                  <a:srgbClr val="0F1115"/>
                </a:solidFill>
                <a:effectLst/>
                <a:latin typeface="quote-cjk-patch"/>
              </a:rPr>
              <a:t>Step 3: Service Provisioning &amp; Activation (OSS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Service Fulfillment / Provisioning System</a:t>
            </a:r>
            <a:r>
              <a:rPr lang="en-US" b="0" i="0" u="none" strike="noStrike" dirty="0">
                <a:solidFill>
                  <a:srgbClr val="0F1115"/>
                </a:solidFill>
                <a:effectLst/>
                <a:latin typeface="quote-cjk-patch"/>
              </a:rPr>
              <a:t> (another OSS component) takes over.</a:t>
            </a:r>
          </a:p>
          <a:p>
            <a:pPr algn="l">
              <a:spcBef>
                <a:spcPts val="450"/>
              </a:spcBef>
              <a:spcAft>
                <a:spcPts val="600"/>
              </a:spcAft>
              <a:buFont typeface="Arial" panose="020B0604020202020204" pitchFamily="34" charset="0"/>
              <a:buChar char="•"/>
            </a:pPr>
            <a:r>
              <a:rPr lang="en-US" b="0" i="0" u="none" strike="noStrike" dirty="0">
                <a:solidFill>
                  <a:srgbClr val="0F1115"/>
                </a:solidFill>
                <a:effectLst/>
                <a:latin typeface="quote-cjk-patch"/>
              </a:rPr>
              <a:t>It automatically sends configuration commands to the network devices:</a:t>
            </a:r>
          </a:p>
          <a:p>
            <a:pPr marL="742950" lvl="1" indent="-285750" algn="l">
              <a:spcBef>
                <a:spcPts val="300"/>
              </a:spcBef>
              <a:spcAft>
                <a:spcPts val="1200"/>
              </a:spcAft>
              <a:buFont typeface="Arial" panose="020B0604020202020204" pitchFamily="34" charset="0"/>
              <a:buChar char="•"/>
            </a:pPr>
            <a:r>
              <a:rPr lang="en-US" b="0" i="0" u="none" strike="noStrike" dirty="0">
                <a:solidFill>
                  <a:srgbClr val="0F1115"/>
                </a:solidFill>
                <a:effectLst/>
                <a:latin typeface="quote-cjk-patch"/>
              </a:rPr>
              <a:t>It configures the </a:t>
            </a:r>
            <a:r>
              <a:rPr lang="en-US" b="1" i="0" u="none" strike="noStrike" dirty="0">
                <a:solidFill>
                  <a:srgbClr val="0F1115"/>
                </a:solidFill>
                <a:effectLst/>
                <a:latin typeface="quote-cjk-patch"/>
              </a:rPr>
              <a:t>OLT port</a:t>
            </a:r>
            <a:r>
              <a:rPr lang="en-US" b="0" i="0" u="none" strike="noStrike" dirty="0">
                <a:solidFill>
                  <a:srgbClr val="0F1115"/>
                </a:solidFill>
                <a:effectLst/>
                <a:latin typeface="quote-cjk-patch"/>
              </a:rPr>
              <a:t> to recognize the unique serial number of Alex's ONT.</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It sets the bandwidth profile on the OLT and the core router to </a:t>
            </a:r>
            <a:r>
              <a:rPr lang="en-US" b="1" i="0" u="none" strike="noStrike" dirty="0">
                <a:solidFill>
                  <a:srgbClr val="0F1115"/>
                </a:solidFill>
                <a:effectLst/>
                <a:latin typeface="quote-cjk-patch"/>
              </a:rPr>
              <a:t>1 Gbps</a:t>
            </a:r>
            <a:r>
              <a:rPr lang="en-US" b="0" i="0" u="none" strike="noStrike" dirty="0">
                <a:solidFill>
                  <a:srgbClr val="0F1115"/>
                </a:solidFill>
                <a:effectLst/>
                <a:latin typeface="quote-cjk-patch"/>
              </a:rPr>
              <a:t> for that specific port.</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It establishes the connection from Alex's future ONT, through the aggregation network, to the </a:t>
            </a:r>
            <a:r>
              <a:rPr lang="en-US" b="1" i="0" u="none" strike="noStrike" dirty="0">
                <a:solidFill>
                  <a:srgbClr val="0F1115"/>
                </a:solidFill>
                <a:effectLst/>
                <a:latin typeface="quote-cjk-patch"/>
              </a:rPr>
              <a:t>Broadband Network Gateway (BNG)</a:t>
            </a:r>
            <a:r>
              <a:rPr lang="en-US" b="0" i="0" u="none" strike="noStrike" dirty="0">
                <a:solidFill>
                  <a:srgbClr val="0F1115"/>
                </a:solidFill>
                <a:effectLst/>
                <a:latin typeface="quote-cjk-patch"/>
              </a:rPr>
              <a:t> in the core network, which assigns an IP address.</a:t>
            </a:r>
          </a:p>
          <a:p>
            <a:pPr algn="l">
              <a:spcBef>
                <a:spcPts val="1200"/>
              </a:spcBef>
              <a:spcAft>
                <a:spcPts val="1200"/>
              </a:spcAft>
            </a:pPr>
            <a:r>
              <a:rPr lang="en-US" b="1" i="0" u="none" strike="noStrike" dirty="0">
                <a:solidFill>
                  <a:srgbClr val="0F1115"/>
                </a:solidFill>
                <a:effectLst/>
                <a:latin typeface="quote-cjk-patch"/>
              </a:rPr>
              <a:t>Step 4: Work Order Dispatch</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OSS generates a work order for a field technician and dispatches it to their mobile device. The work order, derived from the inventory system, tells the technician exactly which ONT device to install and which port on the street cabinet to plug the fiber into.</a:t>
            </a:r>
          </a:p>
          <a:p>
            <a:pPr algn="l">
              <a:spcBef>
                <a:spcPts val="1200"/>
              </a:spcBef>
              <a:spcAft>
                <a:spcPts val="1200"/>
              </a:spcAft>
            </a:pPr>
            <a:r>
              <a:rPr lang="en-US" b="1" i="0" u="none" strike="noStrike" dirty="0">
                <a:solidFill>
                  <a:srgbClr val="0F1115"/>
                </a:solidFill>
                <a:effectLst/>
                <a:latin typeface="quote-cjk-patch"/>
              </a:rPr>
              <a:t>Step 5: Installation and Activation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technician installs the ONT at Alex's home and plugs in the fiber.</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ONT "lights up" and authenticates with the OLT. Because the OSS pre-configured everything, the connection is established instantly.</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Alex can now connect to the internet.</a:t>
            </a:r>
          </a:p>
          <a:p>
            <a:pPr algn="l">
              <a:spcBef>
                <a:spcPts val="1200"/>
              </a:spcBef>
              <a:spcAft>
                <a:spcPts val="1200"/>
              </a:spcAft>
            </a:pPr>
            <a:r>
              <a:rPr lang="en-US" b="1" i="0" u="none" strike="noStrike" dirty="0">
                <a:solidFill>
                  <a:srgbClr val="0F1115"/>
                </a:solidFill>
                <a:effectLst/>
                <a:latin typeface="quote-cjk-patch"/>
              </a:rPr>
              <a:t>Step 6: Ongoing Monitoring &amp; Assurance (OSS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Now that Alex is a customer, the </a:t>
            </a:r>
            <a:r>
              <a:rPr lang="en-US" b="1" i="0" u="none" strike="noStrike" dirty="0">
                <a:solidFill>
                  <a:srgbClr val="0F1115"/>
                </a:solidFill>
                <a:effectLst/>
                <a:latin typeface="quote-cjk-patch"/>
              </a:rPr>
              <a:t>Network Monitoring and Fault Management System</a:t>
            </a:r>
            <a:r>
              <a:rPr lang="en-US" b="0" i="0" u="none" strike="noStrike" dirty="0">
                <a:solidFill>
                  <a:srgbClr val="0F1115"/>
                </a:solidFill>
                <a:effectLst/>
                <a:latin typeface="quote-cjk-patch"/>
              </a:rPr>
              <a:t> (an OSS) begins watching his service.</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It collects performance metrics from the ONT and OLT: optical signal strength, data usage, error rates.</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If the fiber line gets damaged a week later, causing Alex's signal to drop, this system immediately generates an alarm. It correlates the alarm, identifies that the issue is likely a physical break between the cabinet and Alex's house, and automatically creates a repair ticket for a technician.</a:t>
            </a:r>
          </a:p>
          <a:p>
            <a:pPr algn="l">
              <a:spcBef>
                <a:spcPts val="450"/>
              </a:spcBef>
              <a:spcAft>
                <a:spcPts val="1200"/>
              </a:spcAft>
              <a:buFont typeface="Arial" panose="020B0604020202020204" pitchFamily="34" charset="0"/>
              <a:buChar char="•"/>
            </a:pPr>
            <a:endParaRPr lang="en-US" b="0" i="0" u="none" strike="noStrike" dirty="0">
              <a:solidFill>
                <a:srgbClr val="0F1115"/>
              </a:solidFill>
              <a:effectLst/>
              <a:latin typeface="quote-cjk-patch"/>
            </a:endParaRPr>
          </a:p>
          <a:p>
            <a:endParaRPr lang="en-LB" dirty="0"/>
          </a:p>
        </p:txBody>
      </p:sp>
      <p:sp>
        <p:nvSpPr>
          <p:cNvPr id="4" name="Slide Number Placeholder 3">
            <a:extLst>
              <a:ext uri="{FF2B5EF4-FFF2-40B4-BE49-F238E27FC236}">
                <a16:creationId xmlns:a16="http://schemas.microsoft.com/office/drawing/2014/main" id="{DF75D3AC-EF43-D9F2-038C-E4071C7AB7A9}"/>
              </a:ext>
            </a:extLst>
          </p:cNvPr>
          <p:cNvSpPr>
            <a:spLocks noGrp="1"/>
          </p:cNvSpPr>
          <p:nvPr>
            <p:ph type="sldNum" sz="quarter" idx="5"/>
          </p:nvPr>
        </p:nvSpPr>
        <p:spPr/>
        <p:txBody>
          <a:bodyPr/>
          <a:lstStyle/>
          <a:p>
            <a:fld id="{ACEA5495-EF57-284F-B0B9-2F0D2302B2C8}" type="slidenum">
              <a:rPr lang="en-LB" smtClean="0"/>
              <a:t>37</a:t>
            </a:fld>
            <a:endParaRPr lang="en-LB"/>
          </a:p>
        </p:txBody>
      </p:sp>
    </p:spTree>
    <p:extLst>
      <p:ext uri="{BB962C8B-B14F-4D97-AF65-F5344CB8AC3E}">
        <p14:creationId xmlns:p14="http://schemas.microsoft.com/office/powerpoint/2010/main" val="2639942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BEE13-919F-1252-1080-7ECFBB3AAC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434BD-8A48-09D1-FC16-10D0639956E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928981D-2FF6-101B-F4D3-62D7EE00B59E}"/>
              </a:ext>
            </a:extLst>
          </p:cNvPr>
          <p:cNvSpPr>
            <a:spLocks noGrp="1"/>
          </p:cNvSpPr>
          <p:nvPr>
            <p:ph type="body" idx="1"/>
          </p:nvPr>
        </p:nvSpPr>
        <p:spPr/>
        <p:txBody>
          <a:bodyPr/>
          <a:lstStyle/>
          <a:p>
            <a:endParaRPr lang="en-LB" sz="1100" dirty="0"/>
          </a:p>
        </p:txBody>
      </p:sp>
      <p:sp>
        <p:nvSpPr>
          <p:cNvPr id="4" name="Slide Number Placeholder 3">
            <a:extLst>
              <a:ext uri="{FF2B5EF4-FFF2-40B4-BE49-F238E27FC236}">
                <a16:creationId xmlns:a16="http://schemas.microsoft.com/office/drawing/2014/main" id="{3736DABC-FF39-5F42-7D0F-D6585BA7C6DB}"/>
              </a:ext>
            </a:extLst>
          </p:cNvPr>
          <p:cNvSpPr>
            <a:spLocks noGrp="1"/>
          </p:cNvSpPr>
          <p:nvPr>
            <p:ph type="sldNum" sz="quarter" idx="5"/>
          </p:nvPr>
        </p:nvSpPr>
        <p:spPr/>
        <p:txBody>
          <a:bodyPr/>
          <a:lstStyle/>
          <a:p>
            <a:fld id="{ACEA5495-EF57-284F-B0B9-2F0D2302B2C8}" type="slidenum">
              <a:rPr lang="en-LB" smtClean="0"/>
              <a:t>38</a:t>
            </a:fld>
            <a:endParaRPr lang="en-LB"/>
          </a:p>
        </p:txBody>
      </p:sp>
    </p:spTree>
    <p:extLst>
      <p:ext uri="{BB962C8B-B14F-4D97-AF65-F5344CB8AC3E}">
        <p14:creationId xmlns:p14="http://schemas.microsoft.com/office/powerpoint/2010/main" val="3303609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040AB-D738-962D-C646-E4E8494455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C0374D-E3B3-76F6-439A-650E0F1502D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73D6D83-7349-8824-890E-35B533D114F6}"/>
              </a:ext>
            </a:extLst>
          </p:cNvPr>
          <p:cNvSpPr>
            <a:spLocks noGrp="1"/>
          </p:cNvSpPr>
          <p:nvPr>
            <p:ph type="body" idx="1"/>
          </p:nvPr>
        </p:nvSpPr>
        <p:spPr/>
        <p:txBody>
          <a:bodyPr/>
          <a:lstStyle/>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BSS</a:t>
            </a:r>
          </a:p>
          <a:p>
            <a:pPr algn="l">
              <a:spcBef>
                <a:spcPts val="1200"/>
              </a:spcBef>
              <a:spcAft>
                <a:spcPts val="1200"/>
              </a:spcAft>
            </a:pPr>
            <a:r>
              <a:rPr lang="en-US" b="0" i="0" u="none" strike="noStrike" dirty="0">
                <a:solidFill>
                  <a:srgbClr val="0F1115"/>
                </a:solidFill>
                <a:effectLst/>
                <a:latin typeface="quote-cjk-patch"/>
              </a:rPr>
              <a:t>Key functions of a BSS typically include:</a:t>
            </a:r>
          </a:p>
          <a:p>
            <a:pPr algn="l">
              <a:spcBef>
                <a:spcPts val="1200"/>
              </a:spcBef>
              <a:spcAft>
                <a:spcPts val="1200"/>
              </a:spcAft>
              <a:buFont typeface="Arial" panose="020B0604020202020204" pitchFamily="34" charset="0"/>
              <a:buChar char="•"/>
            </a:pPr>
            <a:r>
              <a:rPr lang="en-US" b="1" i="0" u="none" strike="noStrike" dirty="0">
                <a:solidFill>
                  <a:srgbClr val="0F1115"/>
                </a:solidFill>
                <a:effectLst/>
                <a:latin typeface="quote-cjk-patch"/>
              </a:rPr>
              <a:t>Customer Relationship Management (CRM):</a:t>
            </a:r>
            <a:r>
              <a:rPr lang="en-US" b="0" i="0" u="none" strike="noStrike" dirty="0">
                <a:solidFill>
                  <a:srgbClr val="0F1115"/>
                </a:solidFill>
                <a:effectLst/>
                <a:latin typeface="quote-cjk-patch"/>
              </a:rPr>
              <a:t> The single view of the customer, managing all interactions, sales history, and contact information.</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Order Management:</a:t>
            </a:r>
            <a:r>
              <a:rPr lang="en-US" b="0" i="0" u="none" strike="noStrike" dirty="0">
                <a:solidFill>
                  <a:srgbClr val="0F1115"/>
                </a:solidFill>
                <a:effectLst/>
                <a:latin typeface="quote-cjk-patch"/>
              </a:rPr>
              <a:t> Capturing and managing the customer's order for a new service, upgrade, or change.</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Billing and Revenue Management:</a:t>
            </a:r>
            <a:r>
              <a:rPr lang="en-US" b="0" i="0" u="none" strike="noStrike" dirty="0">
                <a:solidFill>
                  <a:srgbClr val="0F1115"/>
                </a:solidFill>
                <a:effectLst/>
                <a:latin typeface="quote-cjk-patch"/>
              </a:rPr>
              <a:t> Generating invoices, processing payments, applying discounts, and managing complex rating for usage (e.g., data overages, international calls).</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Product Catalog:</a:t>
            </a:r>
            <a:r>
              <a:rPr lang="en-US" b="0" i="0" u="none" strike="noStrike" dirty="0">
                <a:solidFill>
                  <a:srgbClr val="0F1115"/>
                </a:solidFill>
                <a:effectLst/>
                <a:latin typeface="quote-cjk-patch"/>
              </a:rPr>
              <a:t> Defining the sellable products and services (e.g., "1 Gbps Internet," "Unlimited Mobile Plan," "Streaming TV Bundle") and their rules.</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Fulfillment Orchestration:</a:t>
            </a:r>
            <a:r>
              <a:rPr lang="en-US" b="0" i="0" u="none" strike="noStrike" dirty="0">
                <a:solidFill>
                  <a:srgbClr val="0F1115"/>
                </a:solidFill>
                <a:effectLst/>
                <a:latin typeface="quote-cjk-patch"/>
              </a:rPr>
              <a:t> Taking the customer's order and triggering the correct processes in the OSS to have the service delivered.</a:t>
            </a:r>
          </a:p>
          <a:p>
            <a:pPr algn="l">
              <a:spcBef>
                <a:spcPts val="2400"/>
              </a:spcBef>
              <a:spcAft>
                <a:spcPts val="1200"/>
              </a:spcAft>
            </a:pPr>
            <a:r>
              <a:rPr lang="en-US" b="1" i="0" u="none" strike="noStrike" dirty="0">
                <a:solidFill>
                  <a:srgbClr val="0F1115"/>
                </a:solidFill>
                <a:effectLst/>
                <a:latin typeface="quote-cjk-patch"/>
              </a:rPr>
              <a:t>Real-World Example: The Same Home Fiber Internet Customer</a:t>
            </a:r>
          </a:p>
          <a:p>
            <a:pPr algn="l">
              <a:spcBef>
                <a:spcPts val="1200"/>
              </a:spcBef>
              <a:spcAft>
                <a:spcPts val="1200"/>
              </a:spcAft>
            </a:pPr>
            <a:r>
              <a:rPr lang="en-US" b="0" i="0" u="none" strike="noStrike" dirty="0">
                <a:solidFill>
                  <a:srgbClr val="0F1115"/>
                </a:solidFill>
                <a:effectLst/>
                <a:latin typeface="quote-cjk-patch"/>
              </a:rPr>
              <a:t>Let's revisit our customer, "Alex," ordering from "Telecom Giant Inc." We'll now see the crucial role the BSS plays in his journey.</a:t>
            </a:r>
          </a:p>
          <a:p>
            <a:pPr algn="l">
              <a:spcBef>
                <a:spcPts val="1200"/>
              </a:spcBef>
              <a:spcAft>
                <a:spcPts val="1200"/>
              </a:spcAft>
            </a:pPr>
            <a:r>
              <a:rPr lang="en-US" b="1" i="0" u="none" strike="noStrike" dirty="0">
                <a:solidFill>
                  <a:srgbClr val="0F1115"/>
                </a:solidFill>
                <a:effectLst/>
                <a:latin typeface="quote-cjk-patch"/>
              </a:rPr>
              <a:t>Step 1: Product Discovery &amp; Shopping Cart (BSS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Alex visits Telecom Giant's website. The prices, packages, and promotional offers (e.g., "First 3 months at $50/month") he sees are all managed in the </a:t>
            </a:r>
            <a:r>
              <a:rPr lang="en-US" b="1" i="0" u="none" strike="noStrike" dirty="0">
                <a:solidFill>
                  <a:srgbClr val="0F1115"/>
                </a:solidFill>
                <a:effectLst/>
                <a:latin typeface="quote-cjk-patch"/>
              </a:rPr>
              <a:t>Product Catalog</a:t>
            </a:r>
            <a:r>
              <a:rPr lang="en-US" b="0" i="0" u="none" strike="noStrike" dirty="0">
                <a:solidFill>
                  <a:srgbClr val="0F1115"/>
                </a:solidFill>
                <a:effectLst/>
                <a:latin typeface="quote-cjk-patch"/>
              </a:rPr>
              <a:t> within the BSS.</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When Alex selects the 1 Gbps internet plan and clicks "Order Now," the BSS's </a:t>
            </a:r>
            <a:r>
              <a:rPr lang="en-US" b="1" i="0" u="none" strike="noStrike" dirty="0">
                <a:solidFill>
                  <a:srgbClr val="0F1115"/>
                </a:solidFill>
                <a:effectLst/>
                <a:latin typeface="quote-cjk-patch"/>
              </a:rPr>
              <a:t>Order </a:t>
            </a:r>
            <a:r>
              <a:rPr lang="en-US" b="1" i="0" u="none" strike="noStrike" dirty="0" err="1">
                <a:solidFill>
                  <a:srgbClr val="0F1115"/>
                </a:solidFill>
                <a:effectLst/>
                <a:latin typeface="quote-cjk-patch"/>
              </a:rPr>
              <a:t>Management</a:t>
            </a:r>
            <a:r>
              <a:rPr lang="en-US" b="0" i="0" u="none" strike="noStrike" dirty="0" err="1">
                <a:solidFill>
                  <a:srgbClr val="0F1115"/>
                </a:solidFill>
                <a:effectLst/>
                <a:latin typeface="quote-cjk-patch"/>
              </a:rPr>
              <a:t>system</a:t>
            </a:r>
            <a:r>
              <a:rPr lang="en-US" b="0" i="0" u="none" strike="noStrike" dirty="0">
                <a:solidFill>
                  <a:srgbClr val="0F1115"/>
                </a:solidFill>
                <a:effectLst/>
                <a:latin typeface="quote-cjk-patch"/>
              </a:rPr>
              <a:t> captures his selection and creates a "shopping cart."</a:t>
            </a:r>
          </a:p>
          <a:p>
            <a:pPr algn="l">
              <a:spcBef>
                <a:spcPts val="1200"/>
              </a:spcBef>
              <a:spcAft>
                <a:spcPts val="1200"/>
              </a:spcAft>
            </a:pPr>
            <a:r>
              <a:rPr lang="en-US" b="1" i="0" u="none" strike="noStrike" dirty="0">
                <a:solidFill>
                  <a:srgbClr val="0F1115"/>
                </a:solidFill>
                <a:effectLst/>
                <a:latin typeface="quote-cjk-patch"/>
              </a:rPr>
              <a:t>Step 2: Customer Creation &amp; Credit Check (BSS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Alex enters his personal details: name, address, Social Security Number for a credit check, and contact information.</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CRM</a:t>
            </a:r>
            <a:r>
              <a:rPr lang="en-US" b="0" i="0" u="none" strike="noStrike" dirty="0">
                <a:solidFill>
                  <a:srgbClr val="0F1115"/>
                </a:solidFill>
                <a:effectLst/>
                <a:latin typeface="quote-cjk-patch"/>
              </a:rPr>
              <a:t> system creates a new customer account for Alex.</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BSS interfaces with an external credit agency to perform a credit check. Based on the result, the system might approve the order or require a deposit.</a:t>
            </a:r>
          </a:p>
          <a:p>
            <a:pPr algn="l">
              <a:spcBef>
                <a:spcPts val="1200"/>
              </a:spcBef>
              <a:spcAft>
                <a:spcPts val="1200"/>
              </a:spcAft>
            </a:pPr>
            <a:r>
              <a:rPr lang="en-US" b="1" i="0" u="none" strike="noStrike" dirty="0">
                <a:solidFill>
                  <a:srgbClr val="0F1115"/>
                </a:solidFill>
                <a:effectLst/>
                <a:latin typeface="quote-cjk-patch"/>
              </a:rPr>
              <a:t>Step 3: Order Submission &amp; Orchestration (BSS &amp; OSS Handshake)</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Alex submits the order. This is a critical handoff point.</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BSS </a:t>
            </a:r>
            <a:r>
              <a:rPr lang="en-US" b="1" i="0" u="none" strike="noStrike" dirty="0">
                <a:solidFill>
                  <a:srgbClr val="0F1115"/>
                </a:solidFill>
                <a:effectLst/>
                <a:latin typeface="quote-cjk-patch"/>
              </a:rPr>
              <a:t>Order Management</a:t>
            </a:r>
            <a:r>
              <a:rPr lang="en-US" b="0" i="0" u="none" strike="noStrike" dirty="0">
                <a:solidFill>
                  <a:srgbClr val="0F1115"/>
                </a:solidFill>
                <a:effectLst/>
                <a:latin typeface="quote-cjk-patch"/>
              </a:rPr>
              <a:t> system receives the complete order. It doesn't know how to configure a router, but it knows </a:t>
            </a:r>
            <a:r>
              <a:rPr lang="en-US" b="0" i="1" u="none" strike="noStrike" dirty="0">
                <a:solidFill>
                  <a:srgbClr val="0F1115"/>
                </a:solidFill>
                <a:effectLst/>
                <a:latin typeface="quote-cjk-patch"/>
              </a:rPr>
              <a:t>what service</a:t>
            </a:r>
            <a:r>
              <a:rPr lang="en-US" b="0" i="0" u="none" strike="noStrike" dirty="0">
                <a:solidFill>
                  <a:srgbClr val="0F1115"/>
                </a:solidFill>
                <a:effectLst/>
                <a:latin typeface="quote-cjk-patch"/>
              </a:rPr>
              <a:t> the customer bought.</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It translates the business order ("1 Gbps Internet for Alex") into a technical service request and sends it to the OSS (specifically, to the OSS's service provisioning system) to be </a:t>
            </a:r>
            <a:r>
              <a:rPr lang="en-US" b="1" i="0" u="none" strike="noStrike" dirty="0">
                <a:solidFill>
                  <a:srgbClr val="0F1115"/>
                </a:solidFill>
                <a:effectLst/>
                <a:latin typeface="quote-cjk-patch"/>
              </a:rPr>
              <a:t>fulfilled</a:t>
            </a:r>
            <a:r>
              <a:rPr lang="en-US" b="0" i="0" u="none" strike="noStrike" dirty="0">
                <a:solidFill>
                  <a:srgbClr val="0F1115"/>
                </a:solidFill>
                <a:effectLst/>
                <a:latin typeface="quote-cjk-patch"/>
              </a:rPr>
              <a:t>.</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BSS order status now shows "In Progress."</a:t>
            </a:r>
          </a:p>
          <a:p>
            <a:pPr algn="l">
              <a:spcBef>
                <a:spcPts val="1200"/>
              </a:spcBef>
              <a:spcAft>
                <a:spcPts val="1200"/>
              </a:spcAft>
            </a:pPr>
            <a:r>
              <a:rPr lang="en-US" b="1" i="0" u="none" strike="noStrike" dirty="0">
                <a:solidFill>
                  <a:srgbClr val="0F1115"/>
                </a:solidFill>
                <a:effectLst/>
                <a:latin typeface="quote-cjk-patch"/>
              </a:rPr>
              <a:t>Step 4: Billing Cycle Activation (BSS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Once the BSS receives a confirmation from the OSS that the service has been successfully </a:t>
            </a:r>
            <a:r>
              <a:rPr lang="en-US" b="1" i="0" u="none" strike="noStrike" dirty="0">
                <a:solidFill>
                  <a:srgbClr val="0F1115"/>
                </a:solidFill>
                <a:effectLst/>
                <a:latin typeface="quote-cjk-patch"/>
              </a:rPr>
              <a:t>provisioned and activated</a:t>
            </a:r>
            <a:r>
              <a:rPr lang="en-US" b="0" i="0" u="none" strike="noStrike" dirty="0">
                <a:solidFill>
                  <a:srgbClr val="0F1115"/>
                </a:solidFill>
                <a:effectLst/>
                <a:latin typeface="quote-cjk-patch"/>
              </a:rPr>
              <a:t> (see the OSS example), a crucial BSS action is triggered.</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Billing System</a:t>
            </a:r>
            <a:r>
              <a:rPr lang="en-US" b="0" i="0" u="none" strike="noStrike" dirty="0">
                <a:solidFill>
                  <a:srgbClr val="0F1115"/>
                </a:solidFill>
                <a:effectLst/>
                <a:latin typeface="quote-cjk-patch"/>
              </a:rPr>
              <a:t> is notified: "Alex's service is now live."</a:t>
            </a:r>
          </a:p>
          <a:p>
            <a:pPr algn="l">
              <a:spcBef>
                <a:spcPts val="450"/>
              </a:spcBef>
              <a:spcAft>
                <a:spcPts val="600"/>
              </a:spcAft>
              <a:buFont typeface="Arial" panose="020B0604020202020204" pitchFamily="34" charset="0"/>
              <a:buChar char="•"/>
            </a:pPr>
            <a:r>
              <a:rPr lang="en-US" b="0" i="0" u="none" strike="noStrike" dirty="0">
                <a:solidFill>
                  <a:srgbClr val="0F1115"/>
                </a:solidFill>
                <a:effectLst/>
                <a:latin typeface="quote-cjk-patch"/>
              </a:rPr>
              <a:t>The billing system:</a:t>
            </a:r>
          </a:p>
          <a:p>
            <a:pPr marL="742950" lvl="1" indent="-285750" algn="l">
              <a:spcBef>
                <a:spcPts val="300"/>
              </a:spcBef>
              <a:spcAft>
                <a:spcPts val="1200"/>
              </a:spcAft>
              <a:buFont typeface="Arial" panose="020B0604020202020204" pitchFamily="34" charset="0"/>
              <a:buChar char="•"/>
            </a:pPr>
            <a:r>
              <a:rPr lang="en-US" b="0" i="0" u="none" strike="noStrike" dirty="0">
                <a:solidFill>
                  <a:srgbClr val="0F1115"/>
                </a:solidFill>
                <a:effectLst/>
                <a:latin typeface="quote-cjk-patch"/>
              </a:rPr>
              <a:t>Creates a new billing account for Alex.</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Starts the billing cycle.</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Schedules the first invoice to be generated.</a:t>
            </a:r>
          </a:p>
          <a:p>
            <a:pPr algn="l">
              <a:spcBef>
                <a:spcPts val="1200"/>
              </a:spcBef>
              <a:spcAft>
                <a:spcPts val="1200"/>
              </a:spcAft>
            </a:pPr>
            <a:r>
              <a:rPr lang="en-US" b="1" i="0" u="none" strike="noStrike" dirty="0">
                <a:solidFill>
                  <a:srgbClr val="0F1115"/>
                </a:solidFill>
                <a:effectLst/>
                <a:latin typeface="quote-cjk-patch"/>
              </a:rPr>
              <a:t>Step 5: Invoicing and Payment (BSS Function)</a:t>
            </a:r>
            <a:endParaRPr lang="en-US" b="0" i="0" u="none" strike="noStrike" dirty="0">
              <a:solidFill>
                <a:srgbClr val="0F1115"/>
              </a:solidFill>
              <a:effectLst/>
              <a:latin typeface="quote-cjk-patch"/>
            </a:endParaRPr>
          </a:p>
          <a:p>
            <a:pPr algn="l">
              <a:spcBef>
                <a:spcPts val="1200"/>
              </a:spcBef>
              <a:spcAft>
                <a:spcPts val="600"/>
              </a:spcAft>
              <a:buFont typeface="Arial" panose="020B0604020202020204" pitchFamily="34" charset="0"/>
              <a:buChar char="•"/>
            </a:pPr>
            <a:r>
              <a:rPr lang="en-US" b="0" i="0" u="none" strike="noStrike" dirty="0">
                <a:solidFill>
                  <a:srgbClr val="0F1115"/>
                </a:solidFill>
                <a:effectLst/>
                <a:latin typeface="quote-cjk-patch"/>
              </a:rPr>
              <a:t>At the end of the billing cycle, the Billing System generates an invoice. It pulls data from various sources:</a:t>
            </a:r>
          </a:p>
          <a:p>
            <a:pPr marL="742950" lvl="1" indent="-285750" algn="l">
              <a:spcBef>
                <a:spcPts val="30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Product Catalog</a:t>
            </a:r>
            <a:r>
              <a:rPr lang="en-US" b="0" i="0" u="none" strike="noStrike" dirty="0">
                <a:solidFill>
                  <a:srgbClr val="0F1115"/>
                </a:solidFill>
                <a:effectLst/>
                <a:latin typeface="quote-cjk-patch"/>
              </a:rPr>
              <a:t> for the recurring monthly charge of $79.99.</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OSS (if applicable) for any usage-based charges (this is more common for mobile data).</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It applies the promotional discount for the first three months.</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invoice is sent to Alex via email or post.</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When Alex pays online, the payment is processed and recorded by the BSS's </a:t>
            </a:r>
            <a:r>
              <a:rPr lang="en-US" b="1" i="0" u="none" strike="noStrike" dirty="0">
                <a:solidFill>
                  <a:srgbClr val="0F1115"/>
                </a:solidFill>
                <a:effectLst/>
                <a:latin typeface="quote-cjk-patch"/>
              </a:rPr>
              <a:t>Revenue </a:t>
            </a:r>
            <a:r>
              <a:rPr lang="en-US" b="1" i="0" u="none" strike="noStrike" dirty="0" err="1">
                <a:solidFill>
                  <a:srgbClr val="0F1115"/>
                </a:solidFill>
                <a:effectLst/>
                <a:latin typeface="quote-cjk-patch"/>
              </a:rPr>
              <a:t>Management</a:t>
            </a:r>
            <a:r>
              <a:rPr lang="en-US" b="0" i="0" u="none" strike="noStrike" dirty="0" err="1">
                <a:solidFill>
                  <a:srgbClr val="0F1115"/>
                </a:solidFill>
                <a:effectLst/>
                <a:latin typeface="quote-cjk-patch"/>
              </a:rPr>
              <a:t>system</a:t>
            </a:r>
            <a:r>
              <a:rPr lang="en-US" b="0" i="0" u="none" strike="noStrike" dirty="0">
                <a:solidFill>
                  <a:srgbClr val="0F1115"/>
                </a:solidFill>
                <a:effectLst/>
                <a:latin typeface="quote-cjk-patch"/>
              </a:rPr>
              <a:t>.</a:t>
            </a:r>
          </a:p>
          <a:p>
            <a:pPr algn="l">
              <a:spcBef>
                <a:spcPts val="1200"/>
              </a:spcBef>
              <a:spcAft>
                <a:spcPts val="1200"/>
              </a:spcAft>
            </a:pPr>
            <a:r>
              <a:rPr lang="en-US" b="1" i="0" u="none" strike="noStrike" dirty="0">
                <a:solidFill>
                  <a:srgbClr val="0F1115"/>
                </a:solidFill>
                <a:effectLst/>
                <a:latin typeface="quote-cjk-patch"/>
              </a:rPr>
              <a:t>Step 6: Ongoing Customer Support &amp; Retention (BSS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If Alex calls customer service because he's moving, the agent uses the </a:t>
            </a:r>
            <a:r>
              <a:rPr lang="en-US" b="1" i="0" u="none" strike="noStrike" dirty="0">
                <a:solidFill>
                  <a:srgbClr val="0F1115"/>
                </a:solidFill>
                <a:effectLst/>
                <a:latin typeface="quote-cjk-patch"/>
              </a:rPr>
              <a:t>CRM</a:t>
            </a:r>
            <a:r>
              <a:rPr lang="en-US" b="0" i="0" u="none" strike="noStrike" dirty="0">
                <a:solidFill>
                  <a:srgbClr val="0F1115"/>
                </a:solidFill>
                <a:effectLst/>
                <a:latin typeface="quote-cjk-patch"/>
              </a:rPr>
              <a:t> to see his entire history and create a "Change of Address" order.</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If Alex complains about his bill, the agent can use the BSS to issue a credit or explain charges.</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If Alex tries to cancel his service, the retention team uses the BSS to see his value as a customer and may offer a new promotion from the </a:t>
            </a:r>
            <a:r>
              <a:rPr lang="en-US" b="1" i="0" u="none" strike="noStrike" dirty="0">
                <a:solidFill>
                  <a:srgbClr val="0F1115"/>
                </a:solidFill>
                <a:effectLst/>
                <a:latin typeface="quote-cjk-patch"/>
              </a:rPr>
              <a:t>Product Catalog</a:t>
            </a:r>
            <a:r>
              <a:rPr lang="en-US" b="0" i="0" u="none" strike="noStrike" dirty="0">
                <a:solidFill>
                  <a:srgbClr val="0F1115"/>
                </a:solidFill>
                <a:effectLst/>
                <a:latin typeface="quote-cjk-patch"/>
              </a:rPr>
              <a:t> to keep him.</a:t>
            </a:r>
          </a:p>
          <a:p>
            <a:endParaRPr lang="en-LB" dirty="0"/>
          </a:p>
        </p:txBody>
      </p:sp>
      <p:sp>
        <p:nvSpPr>
          <p:cNvPr id="4" name="Slide Number Placeholder 3">
            <a:extLst>
              <a:ext uri="{FF2B5EF4-FFF2-40B4-BE49-F238E27FC236}">
                <a16:creationId xmlns:a16="http://schemas.microsoft.com/office/drawing/2014/main" id="{CE54CB8B-935E-1D73-FEB4-6C3FA6129BCE}"/>
              </a:ext>
            </a:extLst>
          </p:cNvPr>
          <p:cNvSpPr>
            <a:spLocks noGrp="1"/>
          </p:cNvSpPr>
          <p:nvPr>
            <p:ph type="sldNum" sz="quarter" idx="5"/>
          </p:nvPr>
        </p:nvSpPr>
        <p:spPr/>
        <p:txBody>
          <a:bodyPr/>
          <a:lstStyle/>
          <a:p>
            <a:fld id="{ACEA5495-EF57-284F-B0B9-2F0D2302B2C8}" type="slidenum">
              <a:rPr lang="en-LB" smtClean="0"/>
              <a:t>40</a:t>
            </a:fld>
            <a:endParaRPr lang="en-LB"/>
          </a:p>
        </p:txBody>
      </p:sp>
    </p:spTree>
    <p:extLst>
      <p:ext uri="{BB962C8B-B14F-4D97-AF65-F5344CB8AC3E}">
        <p14:creationId xmlns:p14="http://schemas.microsoft.com/office/powerpoint/2010/main" val="28418388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35E20-1E0B-193C-E75D-C943F430E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430AB-8463-1B71-27BE-3CEA7E4B5D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83B186E-E08D-008F-8067-36003DE6975E}"/>
              </a:ext>
            </a:extLst>
          </p:cNvPr>
          <p:cNvSpPr>
            <a:spLocks noGrp="1"/>
          </p:cNvSpPr>
          <p:nvPr>
            <p:ph type="body" idx="1"/>
          </p:nvPr>
        </p:nvSpPr>
        <p:spPr/>
        <p:txBody>
          <a:bodyPr/>
          <a:lstStyle/>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BSS</a:t>
            </a:r>
          </a:p>
          <a:p>
            <a:pPr algn="l">
              <a:spcBef>
                <a:spcPts val="1200"/>
              </a:spcBef>
              <a:spcAft>
                <a:spcPts val="1200"/>
              </a:spcAft>
            </a:pPr>
            <a:r>
              <a:rPr lang="en-US" b="0" i="0" u="none" strike="noStrike" dirty="0">
                <a:solidFill>
                  <a:srgbClr val="0F1115"/>
                </a:solidFill>
                <a:effectLst/>
                <a:latin typeface="quote-cjk-patch"/>
              </a:rPr>
              <a:t>Key functions of a BSS typically include:</a:t>
            </a:r>
          </a:p>
          <a:p>
            <a:pPr algn="l">
              <a:spcBef>
                <a:spcPts val="1200"/>
              </a:spcBef>
              <a:spcAft>
                <a:spcPts val="1200"/>
              </a:spcAft>
              <a:buFont typeface="Arial" panose="020B0604020202020204" pitchFamily="34" charset="0"/>
              <a:buChar char="•"/>
            </a:pPr>
            <a:r>
              <a:rPr lang="en-US" b="1" i="0" u="none" strike="noStrike" dirty="0">
                <a:solidFill>
                  <a:srgbClr val="0F1115"/>
                </a:solidFill>
                <a:effectLst/>
                <a:latin typeface="quote-cjk-patch"/>
              </a:rPr>
              <a:t>Customer Relationship Management (CRM):</a:t>
            </a:r>
            <a:r>
              <a:rPr lang="en-US" b="0" i="0" u="none" strike="noStrike" dirty="0">
                <a:solidFill>
                  <a:srgbClr val="0F1115"/>
                </a:solidFill>
                <a:effectLst/>
                <a:latin typeface="quote-cjk-patch"/>
              </a:rPr>
              <a:t> The single view of the customer, managing all interactions, sales history, and contact information.</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Order Management:</a:t>
            </a:r>
            <a:r>
              <a:rPr lang="en-US" b="0" i="0" u="none" strike="noStrike" dirty="0">
                <a:solidFill>
                  <a:srgbClr val="0F1115"/>
                </a:solidFill>
                <a:effectLst/>
                <a:latin typeface="quote-cjk-patch"/>
              </a:rPr>
              <a:t> Capturing and managing the customer's order for a new service, upgrade, or change.</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Billing and Revenue Management:</a:t>
            </a:r>
            <a:r>
              <a:rPr lang="en-US" b="0" i="0" u="none" strike="noStrike" dirty="0">
                <a:solidFill>
                  <a:srgbClr val="0F1115"/>
                </a:solidFill>
                <a:effectLst/>
                <a:latin typeface="quote-cjk-patch"/>
              </a:rPr>
              <a:t> Generating invoices, processing payments, applying discounts, and managing complex rating for usage (e.g., data overages, international calls).</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Product Catalog:</a:t>
            </a:r>
            <a:r>
              <a:rPr lang="en-US" b="0" i="0" u="none" strike="noStrike" dirty="0">
                <a:solidFill>
                  <a:srgbClr val="0F1115"/>
                </a:solidFill>
                <a:effectLst/>
                <a:latin typeface="quote-cjk-patch"/>
              </a:rPr>
              <a:t> Defining the sellable products and services (e.g., "1 Gbps Internet," "Unlimited Mobile Plan," "Streaming TV Bundle") and their rules.</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Fulfillment Orchestration:</a:t>
            </a:r>
            <a:r>
              <a:rPr lang="en-US" b="0" i="0" u="none" strike="noStrike" dirty="0">
                <a:solidFill>
                  <a:srgbClr val="0F1115"/>
                </a:solidFill>
                <a:effectLst/>
                <a:latin typeface="quote-cjk-patch"/>
              </a:rPr>
              <a:t> Taking the customer's order and triggering the correct processes in the OSS to have the service delivered.</a:t>
            </a:r>
          </a:p>
          <a:p>
            <a:pPr algn="l">
              <a:spcBef>
                <a:spcPts val="2400"/>
              </a:spcBef>
              <a:spcAft>
                <a:spcPts val="1200"/>
              </a:spcAft>
            </a:pPr>
            <a:r>
              <a:rPr lang="en-US" b="1" i="0" u="none" strike="noStrike" dirty="0">
                <a:solidFill>
                  <a:srgbClr val="0F1115"/>
                </a:solidFill>
                <a:effectLst/>
                <a:latin typeface="quote-cjk-patch"/>
              </a:rPr>
              <a:t>Real-World Example: The Same Home Fiber Internet Customer</a:t>
            </a:r>
          </a:p>
          <a:p>
            <a:pPr algn="l">
              <a:spcBef>
                <a:spcPts val="1200"/>
              </a:spcBef>
              <a:spcAft>
                <a:spcPts val="1200"/>
              </a:spcAft>
            </a:pPr>
            <a:r>
              <a:rPr lang="en-US" b="0" i="0" u="none" strike="noStrike" dirty="0">
                <a:solidFill>
                  <a:srgbClr val="0F1115"/>
                </a:solidFill>
                <a:effectLst/>
                <a:latin typeface="quote-cjk-patch"/>
              </a:rPr>
              <a:t>Let's revisit our customer, "Alex," ordering from "Telecom Giant Inc." We'll now see the crucial role the BSS plays in his journey.</a:t>
            </a:r>
          </a:p>
          <a:p>
            <a:pPr algn="l">
              <a:spcBef>
                <a:spcPts val="1200"/>
              </a:spcBef>
              <a:spcAft>
                <a:spcPts val="1200"/>
              </a:spcAft>
            </a:pPr>
            <a:r>
              <a:rPr lang="en-US" b="1" i="0" u="none" strike="noStrike" dirty="0">
                <a:solidFill>
                  <a:srgbClr val="0F1115"/>
                </a:solidFill>
                <a:effectLst/>
                <a:latin typeface="quote-cjk-patch"/>
              </a:rPr>
              <a:t>Step 1: Product Discovery &amp; Shopping Cart (BSS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Alex visits Telecom Giant's website. The prices, packages, and promotional offers (e.g., "First 3 months at $50/month") he sees are all managed in the </a:t>
            </a:r>
            <a:r>
              <a:rPr lang="en-US" b="1" i="0" u="none" strike="noStrike" dirty="0">
                <a:solidFill>
                  <a:srgbClr val="0F1115"/>
                </a:solidFill>
                <a:effectLst/>
                <a:latin typeface="quote-cjk-patch"/>
              </a:rPr>
              <a:t>Product Catalog</a:t>
            </a:r>
            <a:r>
              <a:rPr lang="en-US" b="0" i="0" u="none" strike="noStrike" dirty="0">
                <a:solidFill>
                  <a:srgbClr val="0F1115"/>
                </a:solidFill>
                <a:effectLst/>
                <a:latin typeface="quote-cjk-patch"/>
              </a:rPr>
              <a:t> within the BSS.</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When Alex selects the 1 Gbps internet plan and clicks "Order Now," the BSS's </a:t>
            </a:r>
            <a:r>
              <a:rPr lang="en-US" b="1" i="0" u="none" strike="noStrike" dirty="0">
                <a:solidFill>
                  <a:srgbClr val="0F1115"/>
                </a:solidFill>
                <a:effectLst/>
                <a:latin typeface="quote-cjk-patch"/>
              </a:rPr>
              <a:t>Order </a:t>
            </a:r>
            <a:r>
              <a:rPr lang="en-US" b="1" i="0" u="none" strike="noStrike" dirty="0" err="1">
                <a:solidFill>
                  <a:srgbClr val="0F1115"/>
                </a:solidFill>
                <a:effectLst/>
                <a:latin typeface="quote-cjk-patch"/>
              </a:rPr>
              <a:t>Management</a:t>
            </a:r>
            <a:r>
              <a:rPr lang="en-US" b="0" i="0" u="none" strike="noStrike" dirty="0" err="1">
                <a:solidFill>
                  <a:srgbClr val="0F1115"/>
                </a:solidFill>
                <a:effectLst/>
                <a:latin typeface="quote-cjk-patch"/>
              </a:rPr>
              <a:t>system</a:t>
            </a:r>
            <a:r>
              <a:rPr lang="en-US" b="0" i="0" u="none" strike="noStrike" dirty="0">
                <a:solidFill>
                  <a:srgbClr val="0F1115"/>
                </a:solidFill>
                <a:effectLst/>
                <a:latin typeface="quote-cjk-patch"/>
              </a:rPr>
              <a:t> captures his selection and creates a "shopping cart."</a:t>
            </a:r>
          </a:p>
          <a:p>
            <a:pPr algn="l">
              <a:spcBef>
                <a:spcPts val="1200"/>
              </a:spcBef>
              <a:spcAft>
                <a:spcPts val="1200"/>
              </a:spcAft>
            </a:pPr>
            <a:r>
              <a:rPr lang="en-US" b="1" i="0" u="none" strike="noStrike" dirty="0">
                <a:solidFill>
                  <a:srgbClr val="0F1115"/>
                </a:solidFill>
                <a:effectLst/>
                <a:latin typeface="quote-cjk-patch"/>
              </a:rPr>
              <a:t>Step 2: Customer Creation &amp; Credit Check (BSS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Alex enters his personal details: name, address, Social Security Number for a credit check, and contact information.</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CRM</a:t>
            </a:r>
            <a:r>
              <a:rPr lang="en-US" b="0" i="0" u="none" strike="noStrike" dirty="0">
                <a:solidFill>
                  <a:srgbClr val="0F1115"/>
                </a:solidFill>
                <a:effectLst/>
                <a:latin typeface="quote-cjk-patch"/>
              </a:rPr>
              <a:t> system creates a new customer account for Alex.</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BSS interfaces with an external credit agency to perform a credit check. Based on the result, the system might approve the order or require a deposit.</a:t>
            </a:r>
          </a:p>
          <a:p>
            <a:pPr algn="l">
              <a:spcBef>
                <a:spcPts val="1200"/>
              </a:spcBef>
              <a:spcAft>
                <a:spcPts val="1200"/>
              </a:spcAft>
            </a:pPr>
            <a:r>
              <a:rPr lang="en-US" b="1" i="0" u="none" strike="noStrike" dirty="0">
                <a:solidFill>
                  <a:srgbClr val="0F1115"/>
                </a:solidFill>
                <a:effectLst/>
                <a:latin typeface="quote-cjk-patch"/>
              </a:rPr>
              <a:t>Step 3: Order Submission &amp; Orchestration (BSS &amp; OSS Handshake)</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Alex submits the order. This is a critical handoff point.</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BSS </a:t>
            </a:r>
            <a:r>
              <a:rPr lang="en-US" b="1" i="0" u="none" strike="noStrike" dirty="0">
                <a:solidFill>
                  <a:srgbClr val="0F1115"/>
                </a:solidFill>
                <a:effectLst/>
                <a:latin typeface="quote-cjk-patch"/>
              </a:rPr>
              <a:t>Order Management</a:t>
            </a:r>
            <a:r>
              <a:rPr lang="en-US" b="0" i="0" u="none" strike="noStrike" dirty="0">
                <a:solidFill>
                  <a:srgbClr val="0F1115"/>
                </a:solidFill>
                <a:effectLst/>
                <a:latin typeface="quote-cjk-patch"/>
              </a:rPr>
              <a:t> system receives the complete order. It doesn't know how to configure a router, but it knows </a:t>
            </a:r>
            <a:r>
              <a:rPr lang="en-US" b="0" i="1" u="none" strike="noStrike" dirty="0">
                <a:solidFill>
                  <a:srgbClr val="0F1115"/>
                </a:solidFill>
                <a:effectLst/>
                <a:latin typeface="quote-cjk-patch"/>
              </a:rPr>
              <a:t>what service</a:t>
            </a:r>
            <a:r>
              <a:rPr lang="en-US" b="0" i="0" u="none" strike="noStrike" dirty="0">
                <a:solidFill>
                  <a:srgbClr val="0F1115"/>
                </a:solidFill>
                <a:effectLst/>
                <a:latin typeface="quote-cjk-patch"/>
              </a:rPr>
              <a:t> the customer bought.</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It translates the business order ("1 Gbps Internet for Alex") into a technical service request and sends it to the OSS (specifically, to the OSS's service provisioning system) to be </a:t>
            </a:r>
            <a:r>
              <a:rPr lang="en-US" b="1" i="0" u="none" strike="noStrike" dirty="0">
                <a:solidFill>
                  <a:srgbClr val="0F1115"/>
                </a:solidFill>
                <a:effectLst/>
                <a:latin typeface="quote-cjk-patch"/>
              </a:rPr>
              <a:t>fulfilled</a:t>
            </a:r>
            <a:r>
              <a:rPr lang="en-US" b="0" i="0" u="none" strike="noStrike" dirty="0">
                <a:solidFill>
                  <a:srgbClr val="0F1115"/>
                </a:solidFill>
                <a:effectLst/>
                <a:latin typeface="quote-cjk-patch"/>
              </a:rPr>
              <a:t>.</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BSS order status now shows "In Progress."</a:t>
            </a:r>
          </a:p>
          <a:p>
            <a:pPr algn="l">
              <a:spcBef>
                <a:spcPts val="1200"/>
              </a:spcBef>
              <a:spcAft>
                <a:spcPts val="1200"/>
              </a:spcAft>
            </a:pPr>
            <a:r>
              <a:rPr lang="en-US" b="1" i="0" u="none" strike="noStrike" dirty="0">
                <a:solidFill>
                  <a:srgbClr val="0F1115"/>
                </a:solidFill>
                <a:effectLst/>
                <a:latin typeface="quote-cjk-patch"/>
              </a:rPr>
              <a:t>Step 4: Billing Cycle Activation (BSS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Once the BSS receives a confirmation from the OSS that the service has been successfully </a:t>
            </a:r>
            <a:r>
              <a:rPr lang="en-US" b="1" i="0" u="none" strike="noStrike" dirty="0">
                <a:solidFill>
                  <a:srgbClr val="0F1115"/>
                </a:solidFill>
                <a:effectLst/>
                <a:latin typeface="quote-cjk-patch"/>
              </a:rPr>
              <a:t>provisioned and activated</a:t>
            </a:r>
            <a:r>
              <a:rPr lang="en-US" b="0" i="0" u="none" strike="noStrike" dirty="0">
                <a:solidFill>
                  <a:srgbClr val="0F1115"/>
                </a:solidFill>
                <a:effectLst/>
                <a:latin typeface="quote-cjk-patch"/>
              </a:rPr>
              <a:t> (see the OSS example), a crucial BSS action is triggered.</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Billing System</a:t>
            </a:r>
            <a:r>
              <a:rPr lang="en-US" b="0" i="0" u="none" strike="noStrike" dirty="0">
                <a:solidFill>
                  <a:srgbClr val="0F1115"/>
                </a:solidFill>
                <a:effectLst/>
                <a:latin typeface="quote-cjk-patch"/>
              </a:rPr>
              <a:t> is notified: "Alex's service is now live."</a:t>
            </a:r>
          </a:p>
          <a:p>
            <a:pPr algn="l">
              <a:spcBef>
                <a:spcPts val="450"/>
              </a:spcBef>
              <a:spcAft>
                <a:spcPts val="600"/>
              </a:spcAft>
              <a:buFont typeface="Arial" panose="020B0604020202020204" pitchFamily="34" charset="0"/>
              <a:buChar char="•"/>
            </a:pPr>
            <a:r>
              <a:rPr lang="en-US" b="0" i="0" u="none" strike="noStrike" dirty="0">
                <a:solidFill>
                  <a:srgbClr val="0F1115"/>
                </a:solidFill>
                <a:effectLst/>
                <a:latin typeface="quote-cjk-patch"/>
              </a:rPr>
              <a:t>The billing system:</a:t>
            </a:r>
          </a:p>
          <a:p>
            <a:pPr marL="742950" lvl="1" indent="-285750" algn="l">
              <a:spcBef>
                <a:spcPts val="300"/>
              </a:spcBef>
              <a:spcAft>
                <a:spcPts val="1200"/>
              </a:spcAft>
              <a:buFont typeface="Arial" panose="020B0604020202020204" pitchFamily="34" charset="0"/>
              <a:buChar char="•"/>
            </a:pPr>
            <a:r>
              <a:rPr lang="en-US" b="0" i="0" u="none" strike="noStrike" dirty="0">
                <a:solidFill>
                  <a:srgbClr val="0F1115"/>
                </a:solidFill>
                <a:effectLst/>
                <a:latin typeface="quote-cjk-patch"/>
              </a:rPr>
              <a:t>Creates a new billing account for Alex.</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Starts the billing cycle.</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Schedules the first invoice to be generated.</a:t>
            </a:r>
          </a:p>
          <a:p>
            <a:pPr algn="l">
              <a:spcBef>
                <a:spcPts val="1200"/>
              </a:spcBef>
              <a:spcAft>
                <a:spcPts val="1200"/>
              </a:spcAft>
            </a:pPr>
            <a:r>
              <a:rPr lang="en-US" b="1" i="0" u="none" strike="noStrike" dirty="0">
                <a:solidFill>
                  <a:srgbClr val="0F1115"/>
                </a:solidFill>
                <a:effectLst/>
                <a:latin typeface="quote-cjk-patch"/>
              </a:rPr>
              <a:t>Step 5: Invoicing and Payment (BSS Function)</a:t>
            </a:r>
            <a:endParaRPr lang="en-US" b="0" i="0" u="none" strike="noStrike" dirty="0">
              <a:solidFill>
                <a:srgbClr val="0F1115"/>
              </a:solidFill>
              <a:effectLst/>
              <a:latin typeface="quote-cjk-patch"/>
            </a:endParaRPr>
          </a:p>
          <a:p>
            <a:pPr algn="l">
              <a:spcBef>
                <a:spcPts val="1200"/>
              </a:spcBef>
              <a:spcAft>
                <a:spcPts val="600"/>
              </a:spcAft>
              <a:buFont typeface="Arial" panose="020B0604020202020204" pitchFamily="34" charset="0"/>
              <a:buChar char="•"/>
            </a:pPr>
            <a:r>
              <a:rPr lang="en-US" b="0" i="0" u="none" strike="noStrike" dirty="0">
                <a:solidFill>
                  <a:srgbClr val="0F1115"/>
                </a:solidFill>
                <a:effectLst/>
                <a:latin typeface="quote-cjk-patch"/>
              </a:rPr>
              <a:t>At the end of the billing cycle, the Billing System generates an invoice. It pulls data from various sources:</a:t>
            </a:r>
          </a:p>
          <a:p>
            <a:pPr marL="742950" lvl="1" indent="-285750" algn="l">
              <a:spcBef>
                <a:spcPts val="30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Product Catalog</a:t>
            </a:r>
            <a:r>
              <a:rPr lang="en-US" b="0" i="0" u="none" strike="noStrike" dirty="0">
                <a:solidFill>
                  <a:srgbClr val="0F1115"/>
                </a:solidFill>
                <a:effectLst/>
                <a:latin typeface="quote-cjk-patch"/>
              </a:rPr>
              <a:t> for the recurring monthly charge of $79.99.</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OSS (if applicable) for any usage-based charges (this is more common for mobile data).</a:t>
            </a:r>
          </a:p>
          <a:p>
            <a:pPr marL="742950" lvl="1" indent="-285750"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It applies the promotional discount for the first three months.</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invoice is sent to Alex via email or post.</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When Alex pays online, the payment is processed and recorded by the BSS's </a:t>
            </a:r>
            <a:r>
              <a:rPr lang="en-US" b="1" i="0" u="none" strike="noStrike" dirty="0">
                <a:solidFill>
                  <a:srgbClr val="0F1115"/>
                </a:solidFill>
                <a:effectLst/>
                <a:latin typeface="quote-cjk-patch"/>
              </a:rPr>
              <a:t>Revenue </a:t>
            </a:r>
            <a:r>
              <a:rPr lang="en-US" b="1" i="0" u="none" strike="noStrike" dirty="0" err="1">
                <a:solidFill>
                  <a:srgbClr val="0F1115"/>
                </a:solidFill>
                <a:effectLst/>
                <a:latin typeface="quote-cjk-patch"/>
              </a:rPr>
              <a:t>Management</a:t>
            </a:r>
            <a:r>
              <a:rPr lang="en-US" b="0" i="0" u="none" strike="noStrike" dirty="0" err="1">
                <a:solidFill>
                  <a:srgbClr val="0F1115"/>
                </a:solidFill>
                <a:effectLst/>
                <a:latin typeface="quote-cjk-patch"/>
              </a:rPr>
              <a:t>system</a:t>
            </a:r>
            <a:r>
              <a:rPr lang="en-US" b="0" i="0" u="none" strike="noStrike" dirty="0">
                <a:solidFill>
                  <a:srgbClr val="0F1115"/>
                </a:solidFill>
                <a:effectLst/>
                <a:latin typeface="quote-cjk-patch"/>
              </a:rPr>
              <a:t>.</a:t>
            </a:r>
          </a:p>
          <a:p>
            <a:pPr algn="l">
              <a:spcBef>
                <a:spcPts val="1200"/>
              </a:spcBef>
              <a:spcAft>
                <a:spcPts val="1200"/>
              </a:spcAft>
            </a:pPr>
            <a:r>
              <a:rPr lang="en-US" b="1" i="0" u="none" strike="noStrike" dirty="0">
                <a:solidFill>
                  <a:srgbClr val="0F1115"/>
                </a:solidFill>
                <a:effectLst/>
                <a:latin typeface="quote-cjk-patch"/>
              </a:rPr>
              <a:t>Step 6: Ongoing Customer Support &amp; Retention (BSS Function)</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If Alex calls customer service because he's moving, the agent uses the </a:t>
            </a:r>
            <a:r>
              <a:rPr lang="en-US" b="1" i="0" u="none" strike="noStrike" dirty="0">
                <a:solidFill>
                  <a:srgbClr val="0F1115"/>
                </a:solidFill>
                <a:effectLst/>
                <a:latin typeface="quote-cjk-patch"/>
              </a:rPr>
              <a:t>CRM</a:t>
            </a:r>
            <a:r>
              <a:rPr lang="en-US" b="0" i="0" u="none" strike="noStrike" dirty="0">
                <a:solidFill>
                  <a:srgbClr val="0F1115"/>
                </a:solidFill>
                <a:effectLst/>
                <a:latin typeface="quote-cjk-patch"/>
              </a:rPr>
              <a:t> to see his entire history and create a "Change of Address" order.</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If Alex complains about his bill, the agent can use the BSS to issue a credit or explain charges.</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If Alex tries to cancel his service, the retention team uses the BSS to see his value as a customer and may offer a new promotion from the </a:t>
            </a:r>
            <a:r>
              <a:rPr lang="en-US" b="1" i="0" u="none" strike="noStrike" dirty="0">
                <a:solidFill>
                  <a:srgbClr val="0F1115"/>
                </a:solidFill>
                <a:effectLst/>
                <a:latin typeface="quote-cjk-patch"/>
              </a:rPr>
              <a:t>Product Catalog</a:t>
            </a:r>
            <a:r>
              <a:rPr lang="en-US" b="0" i="0" u="none" strike="noStrike" dirty="0">
                <a:solidFill>
                  <a:srgbClr val="0F1115"/>
                </a:solidFill>
                <a:effectLst/>
                <a:latin typeface="quote-cjk-patch"/>
              </a:rPr>
              <a:t> to keep him.</a:t>
            </a:r>
          </a:p>
          <a:p>
            <a:endParaRPr lang="en-LB" dirty="0"/>
          </a:p>
        </p:txBody>
      </p:sp>
      <p:sp>
        <p:nvSpPr>
          <p:cNvPr id="4" name="Slide Number Placeholder 3">
            <a:extLst>
              <a:ext uri="{FF2B5EF4-FFF2-40B4-BE49-F238E27FC236}">
                <a16:creationId xmlns:a16="http://schemas.microsoft.com/office/drawing/2014/main" id="{D85EB46D-502E-A909-6862-8855915F3362}"/>
              </a:ext>
            </a:extLst>
          </p:cNvPr>
          <p:cNvSpPr>
            <a:spLocks noGrp="1"/>
          </p:cNvSpPr>
          <p:nvPr>
            <p:ph type="sldNum" sz="quarter" idx="5"/>
          </p:nvPr>
        </p:nvSpPr>
        <p:spPr/>
        <p:txBody>
          <a:bodyPr/>
          <a:lstStyle/>
          <a:p>
            <a:fld id="{ACEA5495-EF57-284F-B0B9-2F0D2302B2C8}" type="slidenum">
              <a:rPr lang="en-LB" smtClean="0"/>
              <a:t>41</a:t>
            </a:fld>
            <a:endParaRPr lang="en-LB"/>
          </a:p>
        </p:txBody>
      </p:sp>
    </p:spTree>
    <p:extLst>
      <p:ext uri="{BB962C8B-B14F-4D97-AF65-F5344CB8AC3E}">
        <p14:creationId xmlns:p14="http://schemas.microsoft.com/office/powerpoint/2010/main" val="929625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EA6B9-6F81-0789-A5E5-80AD634BC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F15DB-B1BB-5E2A-7C6A-70351060A72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67CD548-5CAE-BDD6-CA28-A03EF62A5AC1}"/>
              </a:ext>
            </a:extLst>
          </p:cNvPr>
          <p:cNvSpPr>
            <a:spLocks noGrp="1"/>
          </p:cNvSpPr>
          <p:nvPr>
            <p:ph type="body" idx="1"/>
          </p:nvPr>
        </p:nvSpPr>
        <p:spPr/>
        <p:txBody>
          <a:bodyPr/>
          <a:lstStyle/>
          <a:p>
            <a:endParaRPr lang="en-LB" sz="1100" dirty="0"/>
          </a:p>
        </p:txBody>
      </p:sp>
      <p:sp>
        <p:nvSpPr>
          <p:cNvPr id="4" name="Slide Number Placeholder 3">
            <a:extLst>
              <a:ext uri="{FF2B5EF4-FFF2-40B4-BE49-F238E27FC236}">
                <a16:creationId xmlns:a16="http://schemas.microsoft.com/office/drawing/2014/main" id="{3DEF383A-C919-59E0-3BCD-559BE8252F0B}"/>
              </a:ext>
            </a:extLst>
          </p:cNvPr>
          <p:cNvSpPr>
            <a:spLocks noGrp="1"/>
          </p:cNvSpPr>
          <p:nvPr>
            <p:ph type="sldNum" sz="quarter" idx="5"/>
          </p:nvPr>
        </p:nvSpPr>
        <p:spPr/>
        <p:txBody>
          <a:bodyPr/>
          <a:lstStyle/>
          <a:p>
            <a:fld id="{ACEA5495-EF57-284F-B0B9-2F0D2302B2C8}" type="slidenum">
              <a:rPr lang="en-LB" smtClean="0"/>
              <a:t>42</a:t>
            </a:fld>
            <a:endParaRPr lang="en-LB"/>
          </a:p>
        </p:txBody>
      </p:sp>
    </p:spTree>
    <p:extLst>
      <p:ext uri="{BB962C8B-B14F-4D97-AF65-F5344CB8AC3E}">
        <p14:creationId xmlns:p14="http://schemas.microsoft.com/office/powerpoint/2010/main" val="14424620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06D2C-9E94-7E15-A8BB-DFCB26A6D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8FB4C-A8CB-9517-BAC7-1DE05FEF74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E54CA3C-5C38-9806-80D2-AB4400952450}"/>
              </a:ext>
            </a:extLst>
          </p:cNvPr>
          <p:cNvSpPr>
            <a:spLocks noGrp="1"/>
          </p:cNvSpPr>
          <p:nvPr>
            <p:ph type="body" idx="1"/>
          </p:nvPr>
        </p:nvSpPr>
        <p:spPr/>
        <p:txBody>
          <a:bodyPr/>
          <a:lstStyle/>
          <a:p>
            <a:pPr algn="l">
              <a:spcBef>
                <a:spcPts val="2400"/>
              </a:spcBef>
              <a:spcAft>
                <a:spcPts val="1200"/>
              </a:spcAft>
            </a:pPr>
            <a:r>
              <a:rPr lang="en-US" b="1" i="0" u="none" strike="noStrike" dirty="0">
                <a:solidFill>
                  <a:srgbClr val="0F1115"/>
                </a:solidFill>
                <a:effectLst/>
                <a:latin typeface="quote-cjk-patch"/>
              </a:rPr>
              <a:t>What is an EMS? (Deep Dive)</a:t>
            </a:r>
          </a:p>
          <a:p>
            <a:pPr algn="l">
              <a:spcBef>
                <a:spcPts val="1200"/>
              </a:spcBef>
              <a:spcAft>
                <a:spcPts val="1200"/>
              </a:spcAft>
            </a:pPr>
            <a:r>
              <a:rPr lang="en-US" b="0" i="0" u="none" strike="noStrike" dirty="0">
                <a:solidFill>
                  <a:srgbClr val="0F1115"/>
                </a:solidFill>
                <a:effectLst/>
                <a:latin typeface="quote-cjk-patch"/>
              </a:rPr>
              <a:t>An </a:t>
            </a:r>
            <a:r>
              <a:rPr lang="en-US" b="1" i="0" u="none" strike="noStrike" dirty="0">
                <a:solidFill>
                  <a:srgbClr val="0F1115"/>
                </a:solidFill>
                <a:effectLst/>
                <a:latin typeface="quote-cjk-patch"/>
              </a:rPr>
              <a:t>Element Management System (EMS)</a:t>
            </a:r>
            <a:r>
              <a:rPr lang="en-US" b="0" i="0" u="none" strike="noStrike" dirty="0">
                <a:solidFill>
                  <a:srgbClr val="0F1115"/>
                </a:solidFill>
                <a:effectLst/>
                <a:latin typeface="quote-cjk-patch"/>
              </a:rPr>
              <a:t> is a software system that is responsible for managing one or more specific types of </a:t>
            </a:r>
            <a:r>
              <a:rPr lang="en-US" b="1" i="0" u="none" strike="noStrike" dirty="0">
                <a:solidFill>
                  <a:srgbClr val="0F1115"/>
                </a:solidFill>
                <a:effectLst/>
                <a:latin typeface="quote-cjk-patch"/>
              </a:rPr>
              <a:t>network elements</a:t>
            </a:r>
            <a:r>
              <a:rPr lang="en-US" b="0" i="0" u="none" strike="noStrike" dirty="0">
                <a:solidFill>
                  <a:srgbClr val="0F1115"/>
                </a:solidFill>
                <a:effectLst/>
                <a:latin typeface="quote-cjk-patch"/>
              </a:rPr>
              <a:t> (devices) from a single vendor or technology domain.</a:t>
            </a:r>
          </a:p>
          <a:p>
            <a:pPr algn="l">
              <a:spcBef>
                <a:spcPts val="1200"/>
              </a:spcBef>
              <a:spcAft>
                <a:spcPts val="1200"/>
              </a:spcAft>
            </a:pPr>
            <a:r>
              <a:rPr lang="en-US" b="0" i="0" u="none" strike="noStrike" dirty="0">
                <a:solidFill>
                  <a:srgbClr val="0F1115"/>
                </a:solidFill>
                <a:effectLst/>
                <a:latin typeface="quote-cjk-patch"/>
              </a:rPr>
              <a:t>An EMS provides the direct, hands-on control and visibility into the hardware. It is the specialized tool that network operators use to configure, monitor, and troubleshoot the actual "boxes" in the network, like routers, switches, optical transceivers, or cell tower radios.</a:t>
            </a:r>
          </a:p>
          <a:p>
            <a:pPr algn="l">
              <a:spcBef>
                <a:spcPts val="1200"/>
              </a:spcBef>
              <a:spcAft>
                <a:spcPts val="1200"/>
              </a:spcAft>
            </a:pPr>
            <a:r>
              <a:rPr lang="en-US" b="0" i="0" u="none" strike="noStrike" dirty="0">
                <a:solidFill>
                  <a:srgbClr val="0F1115"/>
                </a:solidFill>
                <a:effectLst/>
                <a:latin typeface="quote-cjk-patch"/>
              </a:rPr>
              <a:t>Key functions of an EMS typically include:</a:t>
            </a:r>
          </a:p>
          <a:p>
            <a:pPr algn="l">
              <a:spcBef>
                <a:spcPts val="1200"/>
              </a:spcBef>
              <a:spcAft>
                <a:spcPts val="1200"/>
              </a:spcAft>
              <a:buFont typeface="Arial" panose="020B0604020202020204" pitchFamily="34" charset="0"/>
              <a:buChar char="•"/>
            </a:pPr>
            <a:r>
              <a:rPr lang="en-US" b="1" i="0" u="none" strike="noStrike" dirty="0">
                <a:solidFill>
                  <a:srgbClr val="0F1115"/>
                </a:solidFill>
                <a:effectLst/>
                <a:latin typeface="quote-cjk-patch"/>
              </a:rPr>
              <a:t>Device-Level Fault Management:</a:t>
            </a:r>
            <a:r>
              <a:rPr lang="en-US" b="0" i="0" u="none" strike="noStrike" dirty="0">
                <a:solidFill>
                  <a:srgbClr val="0F1115"/>
                </a:solidFill>
                <a:effectLst/>
                <a:latin typeface="quote-cjk-patch"/>
              </a:rPr>
              <a:t> Receiving real-time alarms and events from a specific device (e.g., "Port 5 Failure," "CPU Overload," "Transmitter Laser Fault").</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Device Configuration:</a:t>
            </a:r>
            <a:r>
              <a:rPr lang="en-US" b="0" i="0" u="none" strike="noStrike" dirty="0">
                <a:solidFill>
                  <a:srgbClr val="0F1115"/>
                </a:solidFill>
                <a:effectLst/>
                <a:latin typeface="quote-cjk-patch"/>
              </a:rPr>
              <a:t> Directly configuring settings on the device (e.g., setting up VLANs, adjusting radio power, provisioning a port speed).</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Performance Monitoring:</a:t>
            </a:r>
            <a:r>
              <a:rPr lang="en-US" b="0" i="0" u="none" strike="noStrike" dirty="0">
                <a:solidFill>
                  <a:srgbClr val="0F1115"/>
                </a:solidFill>
                <a:effectLst/>
                <a:latin typeface="quote-cjk-patch"/>
              </a:rPr>
              <a:t> Collecting detailed performance metrics from the device (e.g., bytes in/out on an interface, optical power levels, error counts, memory utilization).</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Software/Firmware Management:</a:t>
            </a:r>
            <a:r>
              <a:rPr lang="en-US" b="0" i="0" u="none" strike="noStrike" dirty="0">
                <a:solidFill>
                  <a:srgbClr val="0F1115"/>
                </a:solidFill>
                <a:effectLst/>
                <a:latin typeface="quote-cjk-patch"/>
              </a:rPr>
              <a:t> Pushing software updates and patches to the devices it manages.</a:t>
            </a:r>
          </a:p>
          <a:p>
            <a:pPr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Log Management:</a:t>
            </a:r>
            <a:r>
              <a:rPr lang="en-US" b="0" i="0" u="none" strike="noStrike" dirty="0">
                <a:solidFill>
                  <a:srgbClr val="0F1115"/>
                </a:solidFill>
                <a:effectLst/>
                <a:latin typeface="quote-cjk-patch"/>
              </a:rPr>
              <a:t> Collecting and storing logs from the device for audit and debugging purposes.</a:t>
            </a:r>
          </a:p>
          <a:p>
            <a:pPr algn="l">
              <a:spcBef>
                <a:spcPts val="2400"/>
              </a:spcBef>
              <a:spcAft>
                <a:spcPts val="1200"/>
              </a:spcAft>
            </a:pPr>
            <a:r>
              <a:rPr lang="en-US" b="1" i="0" u="none" strike="noStrike" dirty="0">
                <a:solidFill>
                  <a:srgbClr val="0F1115"/>
                </a:solidFill>
                <a:effectLst/>
                <a:latin typeface="quote-cjk-patch"/>
              </a:rPr>
              <a:t>Real-World Example: Troubleshooting a Network Slowdown in a Specific Area</a:t>
            </a:r>
          </a:p>
          <a:p>
            <a:pPr algn="l">
              <a:spcBef>
                <a:spcPts val="1200"/>
              </a:spcBef>
              <a:spcAft>
                <a:spcPts val="1200"/>
              </a:spcAft>
            </a:pPr>
            <a:r>
              <a:rPr lang="en-US" b="0" i="0" u="none" strike="noStrike" dirty="0">
                <a:solidFill>
                  <a:srgbClr val="0F1115"/>
                </a:solidFill>
                <a:effectLst/>
                <a:latin typeface="quote-cjk-patch"/>
              </a:rPr>
              <a:t>Let's return to "Telecom Giant Inc." The NOC (Network Operations Center) gets several calls from businesses in a downtown office building complaining that their internet is slow.</a:t>
            </a:r>
          </a:p>
          <a:p>
            <a:pPr algn="l">
              <a:spcBef>
                <a:spcPts val="1200"/>
              </a:spcBef>
              <a:spcAft>
                <a:spcPts val="1200"/>
              </a:spcAft>
            </a:pPr>
            <a:r>
              <a:rPr lang="en-US" b="1" i="0" u="none" strike="noStrike" dirty="0">
                <a:solidFill>
                  <a:srgbClr val="0F1115"/>
                </a:solidFill>
                <a:effectLst/>
                <a:latin typeface="quote-cjk-patch"/>
              </a:rPr>
              <a:t>Step 1: The OSS Raises the Alert</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OSS Network Monitoring System</a:t>
            </a:r>
            <a:r>
              <a:rPr lang="en-US" b="0" i="0" u="none" strike="noStrike" dirty="0">
                <a:solidFill>
                  <a:srgbClr val="0F1115"/>
                </a:solidFill>
                <a:effectLst/>
                <a:latin typeface="quote-cjk-patch"/>
              </a:rPr>
              <a:t> detects a performance degradation affecting the service for customers connected through the aggregation router located in the "Main St. Central Office."</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OSS dashboard shows a service-level alarm: </a:t>
            </a:r>
            <a:r>
              <a:rPr lang="en-US" b="1" i="0" u="none" strike="noStrike" dirty="0">
                <a:solidFill>
                  <a:srgbClr val="0F1115"/>
                </a:solidFill>
                <a:effectLst/>
                <a:latin typeface="quote-cjk-patch"/>
              </a:rPr>
              <a:t>"Performance Degradation - Main St. Central Office."</a:t>
            </a:r>
            <a:r>
              <a:rPr lang="en-US" b="0" i="0" u="none" strike="noStrike" dirty="0">
                <a:solidFill>
                  <a:srgbClr val="0F1115"/>
                </a:solidFill>
                <a:effectLst/>
                <a:latin typeface="quote-cjk-patch"/>
              </a:rPr>
              <a:t> It knows </a:t>
            </a:r>
            <a:r>
              <a:rPr lang="en-US" b="0" i="1" u="none" strike="noStrike" dirty="0">
                <a:solidFill>
                  <a:srgbClr val="0F1115"/>
                </a:solidFill>
                <a:effectLst/>
                <a:latin typeface="quote-cjk-patch"/>
              </a:rPr>
              <a:t>that</a:t>
            </a:r>
            <a:r>
              <a:rPr lang="en-US" b="0" i="0" u="none" strike="noStrike" dirty="0">
                <a:solidFill>
                  <a:srgbClr val="0F1115"/>
                </a:solidFill>
                <a:effectLst/>
                <a:latin typeface="quote-cjk-patch"/>
              </a:rPr>
              <a:t> there is a problem and </a:t>
            </a:r>
            <a:r>
              <a:rPr lang="en-US" b="0" i="1" u="none" strike="noStrike" dirty="0">
                <a:solidFill>
                  <a:srgbClr val="0F1115"/>
                </a:solidFill>
                <a:effectLst/>
                <a:latin typeface="quote-cjk-patch"/>
              </a:rPr>
              <a:t>where</a:t>
            </a:r>
            <a:r>
              <a:rPr lang="en-US" b="0" i="0" u="none" strike="noStrike" dirty="0">
                <a:solidFill>
                  <a:srgbClr val="0F1115"/>
                </a:solidFill>
                <a:effectLst/>
                <a:latin typeface="quote-cjk-patch"/>
              </a:rPr>
              <a:t> it is roughly located, but it doesn't necessarily know the exact root cause inside the device.</a:t>
            </a:r>
          </a:p>
          <a:p>
            <a:pPr algn="l">
              <a:spcBef>
                <a:spcPts val="1200"/>
              </a:spcBef>
              <a:spcAft>
                <a:spcPts val="1200"/>
              </a:spcAft>
            </a:pPr>
            <a:r>
              <a:rPr lang="en-US" b="1" i="0" u="none" strike="noStrike" dirty="0">
                <a:solidFill>
                  <a:srgbClr val="0F1115"/>
                </a:solidFill>
                <a:effectLst/>
                <a:latin typeface="quote-cjk-patch"/>
              </a:rPr>
              <a:t>Step 2: Drilling Down with the EMS</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A network engineer opens the specific </a:t>
            </a:r>
            <a:r>
              <a:rPr lang="en-US" b="1" i="0" u="none" strike="noStrike" dirty="0">
                <a:solidFill>
                  <a:srgbClr val="0F1115"/>
                </a:solidFill>
                <a:effectLst/>
                <a:latin typeface="quote-cjk-patch"/>
              </a:rPr>
              <a:t>EMS for the "</a:t>
            </a:r>
            <a:r>
              <a:rPr lang="en-US" b="1" i="0" u="none" strike="noStrike" dirty="0" err="1">
                <a:solidFill>
                  <a:srgbClr val="0F1115"/>
                </a:solidFill>
                <a:effectLst/>
                <a:latin typeface="quote-cjk-patch"/>
              </a:rPr>
              <a:t>NetGiant</a:t>
            </a:r>
            <a:r>
              <a:rPr lang="en-US" b="1" i="0" u="none" strike="noStrike" dirty="0">
                <a:solidFill>
                  <a:srgbClr val="0F1115"/>
                </a:solidFill>
                <a:effectLst/>
                <a:latin typeface="quote-cjk-patch"/>
              </a:rPr>
              <a:t> 9000" series routers</a:t>
            </a:r>
            <a:r>
              <a:rPr lang="en-US" b="0" i="0" u="none" strike="noStrike" dirty="0">
                <a:solidFill>
                  <a:srgbClr val="0F1115"/>
                </a:solidFill>
                <a:effectLst/>
                <a:latin typeface="quote-cjk-patch"/>
              </a:rPr>
              <a:t> (the vendor and model of the problematic router).</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While the OSS monitors the service, the EMS monitors the device. The engineer now has a detailed, device-specific view.</a:t>
            </a:r>
          </a:p>
          <a:p>
            <a:pPr algn="l">
              <a:spcBef>
                <a:spcPts val="1200"/>
              </a:spcBef>
              <a:spcAft>
                <a:spcPts val="1200"/>
              </a:spcAft>
            </a:pPr>
            <a:r>
              <a:rPr lang="en-US" b="1" i="0" u="none" strike="noStrike" dirty="0">
                <a:solidFill>
                  <a:srgbClr val="0F1115"/>
                </a:solidFill>
                <a:effectLst/>
                <a:latin typeface="quote-cjk-patch"/>
              </a:rPr>
              <a:t>Step 3: Identifying the Root Cause (EMS Function)</a:t>
            </a:r>
            <a:endParaRPr lang="en-US" b="0" i="0" u="none" strike="noStrike" dirty="0">
              <a:solidFill>
                <a:srgbClr val="0F1115"/>
              </a:solidFill>
              <a:effectLst/>
              <a:latin typeface="quote-cjk-patch"/>
            </a:endParaRPr>
          </a:p>
          <a:p>
            <a:pPr algn="l">
              <a:spcBef>
                <a:spcPts val="1200"/>
              </a:spcBef>
              <a:spcAft>
                <a:spcPts val="600"/>
              </a:spcAft>
              <a:buFont typeface="Arial" panose="020B0604020202020204" pitchFamily="34" charset="0"/>
              <a:buChar char="•"/>
            </a:pPr>
            <a:r>
              <a:rPr lang="en-US" b="0" i="0" u="none" strike="noStrike" dirty="0">
                <a:solidFill>
                  <a:srgbClr val="0F1115"/>
                </a:solidFill>
                <a:effectLst/>
                <a:latin typeface="quote-cjk-patch"/>
              </a:rPr>
              <a:t>Inside the EMS, the engineer can see:</a:t>
            </a:r>
          </a:p>
          <a:p>
            <a:pPr marL="742950" lvl="1" indent="-285750" algn="l">
              <a:spcBef>
                <a:spcPts val="300"/>
              </a:spcBef>
              <a:spcAft>
                <a:spcPts val="1200"/>
              </a:spcAft>
              <a:buFont typeface="Arial" panose="020B0604020202020204" pitchFamily="34" charset="0"/>
              <a:buChar char="•"/>
            </a:pPr>
            <a:r>
              <a:rPr lang="en-US" b="1" i="0" u="none" strike="noStrike" dirty="0">
                <a:solidFill>
                  <a:srgbClr val="0F1115"/>
                </a:solidFill>
                <a:effectLst/>
                <a:latin typeface="quote-cjk-patch"/>
              </a:rPr>
              <a:t>Performance Data:</a:t>
            </a:r>
            <a:r>
              <a:rPr lang="en-US" b="0" i="0" u="none" strike="noStrike" dirty="0">
                <a:solidFill>
                  <a:srgbClr val="0F1115"/>
                </a:solidFill>
                <a:effectLst/>
                <a:latin typeface="quote-cjk-patch"/>
              </a:rPr>
              <a:t> The EMS shows that the GigabitEthernet0/1 interface on the router has been running at </a:t>
            </a:r>
            <a:r>
              <a:rPr lang="en-US" b="1" i="0" u="none" strike="noStrike" dirty="0">
                <a:solidFill>
                  <a:srgbClr val="0F1115"/>
                </a:solidFill>
                <a:effectLst/>
                <a:latin typeface="quote-cjk-patch"/>
              </a:rPr>
              <a:t>98% utilization</a:t>
            </a:r>
            <a:r>
              <a:rPr lang="en-US" b="0" i="0" u="none" strike="noStrike" dirty="0">
                <a:solidFill>
                  <a:srgbClr val="0F1115"/>
                </a:solidFill>
                <a:effectLst/>
                <a:latin typeface="quote-cjk-patch"/>
              </a:rPr>
              <a:t> for the last 2 hours, which is the cause of the congestion and slow speeds.</a:t>
            </a:r>
          </a:p>
          <a:p>
            <a:pPr marL="742950" lvl="1" indent="-285750"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Fault Data:</a:t>
            </a:r>
            <a:r>
              <a:rPr lang="en-US" b="0" i="0" u="none" strike="noStrike" dirty="0">
                <a:solidFill>
                  <a:srgbClr val="0F1115"/>
                </a:solidFill>
                <a:effectLst/>
                <a:latin typeface="quote-cjk-patch"/>
              </a:rPr>
              <a:t> The EMS alarm log shows a related, minor alarm that the OSS might have filtered: </a:t>
            </a:r>
            <a:r>
              <a:rPr lang="en-US" b="1" i="0" u="none" strike="noStrike" dirty="0">
                <a:solidFill>
                  <a:srgbClr val="0F1115"/>
                </a:solidFill>
                <a:effectLst/>
                <a:latin typeface="quote-cjk-patch"/>
              </a:rPr>
              <a:t>"Interface Consistent Over-Utilization on GigabitEthernet0/1".</a:t>
            </a:r>
            <a:endParaRPr lang="en-US" b="0" i="0" u="none" strike="noStrike" dirty="0">
              <a:solidFill>
                <a:srgbClr val="0F1115"/>
              </a:solidFill>
              <a:effectLst/>
              <a:latin typeface="quote-cjk-patch"/>
            </a:endParaRPr>
          </a:p>
          <a:p>
            <a:pPr marL="742950" lvl="1" indent="-285750"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Configuration Data:</a:t>
            </a:r>
            <a:r>
              <a:rPr lang="en-US" b="0" i="0" u="none" strike="noStrike" dirty="0">
                <a:solidFill>
                  <a:srgbClr val="0F1115"/>
                </a:solidFill>
                <a:effectLst/>
                <a:latin typeface="quote-cjk-patch"/>
              </a:rPr>
              <a:t> The EMS displays the current configuration of that interface, showing it's a 1 Gbps link.</a:t>
            </a:r>
          </a:p>
          <a:p>
            <a:pPr algn="l">
              <a:spcBef>
                <a:spcPts val="1200"/>
              </a:spcBef>
              <a:spcAft>
                <a:spcPts val="1200"/>
              </a:spcAft>
            </a:pPr>
            <a:r>
              <a:rPr lang="en-US" b="1" i="0" u="none" strike="noStrike" dirty="0">
                <a:solidFill>
                  <a:srgbClr val="0F1115"/>
                </a:solidFill>
                <a:effectLst/>
                <a:latin typeface="quote-cjk-patch"/>
              </a:rPr>
              <a:t>Step 4: Taking Action via the EMS</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engineer uses the </a:t>
            </a:r>
            <a:r>
              <a:rPr lang="en-US" b="1" i="0" u="none" strike="noStrike" dirty="0">
                <a:solidFill>
                  <a:srgbClr val="0F1115"/>
                </a:solidFill>
                <a:effectLst/>
                <a:latin typeface="quote-cjk-patch"/>
              </a:rPr>
              <a:t>EMS's configuration tools</a:t>
            </a:r>
            <a:r>
              <a:rPr lang="en-US" b="0" i="0" u="none" strike="noStrike" dirty="0">
                <a:solidFill>
                  <a:srgbClr val="0F1115"/>
                </a:solidFill>
                <a:effectLst/>
                <a:latin typeface="quote-cjk-patch"/>
              </a:rPr>
              <a:t> to investigate the traffic.</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She sees that a single tenant in the building is running a massive data backup, consuming most of the link's capacity.</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Using the EMS, she applies a temporary </a:t>
            </a:r>
            <a:r>
              <a:rPr lang="en-US" b="1" i="0" u="none" strike="noStrike" dirty="0">
                <a:solidFill>
                  <a:srgbClr val="0F1115"/>
                </a:solidFill>
                <a:effectLst/>
                <a:latin typeface="quote-cjk-patch"/>
              </a:rPr>
              <a:t>Quality of Service (QoS) policy</a:t>
            </a:r>
            <a:r>
              <a:rPr lang="en-US" b="0" i="0" u="none" strike="noStrike" dirty="0">
                <a:solidFill>
                  <a:srgbClr val="0F1115"/>
                </a:solidFill>
                <a:effectLst/>
                <a:latin typeface="quote-cjk-patch"/>
              </a:rPr>
              <a:t> to the interface, limiting the bandwidth for that type of backup traffic and ensuring fair access for all other users. She does this directly through the EMS's interface, which generates the correct command-line instructions for the router.</a:t>
            </a:r>
          </a:p>
          <a:p>
            <a:pPr algn="l">
              <a:spcBef>
                <a:spcPts val="1200"/>
              </a:spcBef>
              <a:spcAft>
                <a:spcPts val="1200"/>
              </a:spcAft>
            </a:pPr>
            <a:r>
              <a:rPr lang="en-US" b="1" i="0" u="none" strike="noStrike" dirty="0">
                <a:solidFill>
                  <a:srgbClr val="0F1115"/>
                </a:solidFill>
                <a:effectLst/>
                <a:latin typeface="quote-cjk-patch"/>
              </a:rPr>
              <a:t>Step 5: Proactive Maintenance with the EMS</a:t>
            </a:r>
            <a:endParaRPr lang="en-US" b="0" i="0" u="none" strike="noStrike" dirty="0">
              <a:solidFill>
                <a:srgbClr val="0F1115"/>
              </a:solidFill>
              <a:effectLst/>
              <a:latin typeface="quote-cjk-patch"/>
            </a:endParaRPr>
          </a:p>
          <a:p>
            <a:pPr algn="l">
              <a:spcBef>
                <a:spcPts val="1200"/>
              </a:spcBef>
              <a:spcAft>
                <a:spcPts val="600"/>
              </a:spcAft>
              <a:buFont typeface="Arial" panose="020B0604020202020204" pitchFamily="34" charset="0"/>
              <a:buChar char="•"/>
            </a:pPr>
            <a:r>
              <a:rPr lang="en-US" b="0" i="0" u="none" strike="noStrike" dirty="0">
                <a:solidFill>
                  <a:srgbClr val="0F1115"/>
                </a:solidFill>
                <a:effectLst/>
                <a:latin typeface="quote-cjk-patch"/>
              </a:rPr>
              <a:t>The root cause is a need for a network upgrade. The engineer uses the EMS for other tasks:</a:t>
            </a:r>
          </a:p>
          <a:p>
            <a:pPr marL="742950" lvl="1" indent="-285750" algn="l">
              <a:spcBef>
                <a:spcPts val="300"/>
              </a:spcBef>
              <a:spcAft>
                <a:spcPts val="1200"/>
              </a:spcAft>
              <a:buFont typeface="Arial" panose="020B0604020202020204" pitchFamily="34" charset="0"/>
              <a:buChar char="•"/>
            </a:pPr>
            <a:r>
              <a:rPr lang="en-US" b="1" i="0" u="none" strike="noStrike" dirty="0">
                <a:solidFill>
                  <a:srgbClr val="0F1115"/>
                </a:solidFill>
                <a:effectLst/>
                <a:latin typeface="quote-cjk-patch"/>
              </a:rPr>
              <a:t>Inventory:</a:t>
            </a:r>
            <a:r>
              <a:rPr lang="en-US" b="0" i="0" u="none" strike="noStrike" dirty="0">
                <a:solidFill>
                  <a:srgbClr val="0F1115"/>
                </a:solidFill>
                <a:effectLst/>
                <a:latin typeface="quote-cjk-patch"/>
              </a:rPr>
              <a:t> The EMS confirms the exact hardware model of the router and what free slots it has.</a:t>
            </a:r>
          </a:p>
          <a:p>
            <a:pPr marL="742950" lvl="1" indent="-285750"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Software Upgrade:</a:t>
            </a:r>
            <a:r>
              <a:rPr lang="en-US" b="0" i="0" u="none" strike="noStrike" dirty="0">
                <a:solidFill>
                  <a:srgbClr val="0F1115"/>
                </a:solidFill>
                <a:effectLst/>
                <a:latin typeface="quote-cjk-patch"/>
              </a:rPr>
              <a:t> She uses the EMS to schedule and push a new software version to the router during a maintenance window to improve its traffic handling.</a:t>
            </a:r>
          </a:p>
          <a:p>
            <a:pPr marL="742950" lvl="1" indent="-285750"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Configuration Backup:</a:t>
            </a:r>
            <a:r>
              <a:rPr lang="en-US" b="0" i="0" u="none" strike="noStrike" dirty="0">
                <a:solidFill>
                  <a:srgbClr val="0F1115"/>
                </a:solidFill>
                <a:effectLst/>
                <a:latin typeface="quote-cjk-patch"/>
              </a:rPr>
              <a:t> Before the upgrade, the EMS automatically performs a backup of the router's full configuration.</a:t>
            </a:r>
          </a:p>
          <a:p>
            <a:br>
              <a:rPr lang="en-US" dirty="0"/>
            </a:br>
            <a:endParaRPr lang="en-LB" dirty="0"/>
          </a:p>
        </p:txBody>
      </p:sp>
      <p:sp>
        <p:nvSpPr>
          <p:cNvPr id="4" name="Slide Number Placeholder 3">
            <a:extLst>
              <a:ext uri="{FF2B5EF4-FFF2-40B4-BE49-F238E27FC236}">
                <a16:creationId xmlns:a16="http://schemas.microsoft.com/office/drawing/2014/main" id="{8AE2E87D-CD2C-2442-7193-660374EB0EBE}"/>
              </a:ext>
            </a:extLst>
          </p:cNvPr>
          <p:cNvSpPr>
            <a:spLocks noGrp="1"/>
          </p:cNvSpPr>
          <p:nvPr>
            <p:ph type="sldNum" sz="quarter" idx="5"/>
          </p:nvPr>
        </p:nvSpPr>
        <p:spPr/>
        <p:txBody>
          <a:bodyPr/>
          <a:lstStyle/>
          <a:p>
            <a:fld id="{ACEA5495-EF57-284F-B0B9-2F0D2302B2C8}" type="slidenum">
              <a:rPr lang="en-LB" smtClean="0"/>
              <a:t>44</a:t>
            </a:fld>
            <a:endParaRPr lang="en-LB"/>
          </a:p>
        </p:txBody>
      </p:sp>
    </p:spTree>
    <p:extLst>
      <p:ext uri="{BB962C8B-B14F-4D97-AF65-F5344CB8AC3E}">
        <p14:creationId xmlns:p14="http://schemas.microsoft.com/office/powerpoint/2010/main" val="8612050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0EFE4-E4B3-A7CB-87B4-D9C659FC1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5E09E-601A-F4E8-F270-32AB99C1464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67D450F-70C8-03CE-79AE-E331643217A3}"/>
              </a:ext>
            </a:extLst>
          </p:cNvPr>
          <p:cNvSpPr>
            <a:spLocks noGrp="1"/>
          </p:cNvSpPr>
          <p:nvPr>
            <p:ph type="body" idx="1"/>
          </p:nvPr>
        </p:nvSpPr>
        <p:spPr/>
        <p:txBody>
          <a:bodyPr/>
          <a:lstStyle/>
          <a:p>
            <a:pPr algn="l">
              <a:spcBef>
                <a:spcPts val="2400"/>
              </a:spcBef>
              <a:spcAft>
                <a:spcPts val="1200"/>
              </a:spcAft>
            </a:pPr>
            <a:r>
              <a:rPr lang="en-US" b="1" i="0" u="none" strike="noStrike" dirty="0">
                <a:solidFill>
                  <a:srgbClr val="0F1115"/>
                </a:solidFill>
                <a:effectLst/>
                <a:latin typeface="quote-cjk-patch"/>
              </a:rPr>
              <a:t>Real-World Example: Troubleshooting a Network Slowdown in a Specific Area</a:t>
            </a:r>
          </a:p>
          <a:p>
            <a:pPr algn="l">
              <a:spcBef>
                <a:spcPts val="1200"/>
              </a:spcBef>
              <a:spcAft>
                <a:spcPts val="1200"/>
              </a:spcAft>
            </a:pPr>
            <a:r>
              <a:rPr lang="en-US" b="0" i="0" u="none" strike="noStrike" dirty="0">
                <a:solidFill>
                  <a:srgbClr val="0F1115"/>
                </a:solidFill>
                <a:effectLst/>
                <a:latin typeface="quote-cjk-patch"/>
              </a:rPr>
              <a:t>Let's return to "Telecom Giant Inc." The NOC (Network Operations Center) gets several calls from businesses in a downtown office building complaining that their internet is slow.</a:t>
            </a:r>
          </a:p>
          <a:p>
            <a:pPr algn="l">
              <a:spcBef>
                <a:spcPts val="1200"/>
              </a:spcBef>
              <a:spcAft>
                <a:spcPts val="1200"/>
              </a:spcAft>
            </a:pPr>
            <a:r>
              <a:rPr lang="en-US" b="1" i="0" u="none" strike="noStrike" dirty="0">
                <a:solidFill>
                  <a:srgbClr val="0F1115"/>
                </a:solidFill>
                <a:effectLst/>
                <a:latin typeface="quote-cjk-patch"/>
              </a:rPr>
              <a:t>Step 1: The OSS Raises the Alert</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a:t>
            </a:r>
            <a:r>
              <a:rPr lang="en-US" b="1" i="0" u="none" strike="noStrike" dirty="0">
                <a:solidFill>
                  <a:srgbClr val="0F1115"/>
                </a:solidFill>
                <a:effectLst/>
                <a:latin typeface="quote-cjk-patch"/>
              </a:rPr>
              <a:t>OSS Network Monitoring System</a:t>
            </a:r>
            <a:r>
              <a:rPr lang="en-US" b="0" i="0" u="none" strike="noStrike" dirty="0">
                <a:solidFill>
                  <a:srgbClr val="0F1115"/>
                </a:solidFill>
                <a:effectLst/>
                <a:latin typeface="quote-cjk-patch"/>
              </a:rPr>
              <a:t> detects a performance degradation affecting the service for customers connected through the aggregation router located in the "Main St. Central Office."</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The OSS dashboard shows a service-level alarm: </a:t>
            </a:r>
            <a:r>
              <a:rPr lang="en-US" b="1" i="0" u="none" strike="noStrike" dirty="0">
                <a:solidFill>
                  <a:srgbClr val="0F1115"/>
                </a:solidFill>
                <a:effectLst/>
                <a:latin typeface="quote-cjk-patch"/>
              </a:rPr>
              <a:t>"Performance Degradation - Main St. Central Office."</a:t>
            </a:r>
            <a:r>
              <a:rPr lang="en-US" b="0" i="0" u="none" strike="noStrike" dirty="0">
                <a:solidFill>
                  <a:srgbClr val="0F1115"/>
                </a:solidFill>
                <a:effectLst/>
                <a:latin typeface="quote-cjk-patch"/>
              </a:rPr>
              <a:t> It knows </a:t>
            </a:r>
            <a:r>
              <a:rPr lang="en-US" b="0" i="1" u="none" strike="noStrike" dirty="0">
                <a:solidFill>
                  <a:srgbClr val="0F1115"/>
                </a:solidFill>
                <a:effectLst/>
                <a:latin typeface="quote-cjk-patch"/>
              </a:rPr>
              <a:t>that</a:t>
            </a:r>
            <a:r>
              <a:rPr lang="en-US" b="0" i="0" u="none" strike="noStrike" dirty="0">
                <a:solidFill>
                  <a:srgbClr val="0F1115"/>
                </a:solidFill>
                <a:effectLst/>
                <a:latin typeface="quote-cjk-patch"/>
              </a:rPr>
              <a:t> there is a problem and </a:t>
            </a:r>
            <a:r>
              <a:rPr lang="en-US" b="0" i="1" u="none" strike="noStrike" dirty="0">
                <a:solidFill>
                  <a:srgbClr val="0F1115"/>
                </a:solidFill>
                <a:effectLst/>
                <a:latin typeface="quote-cjk-patch"/>
              </a:rPr>
              <a:t>where</a:t>
            </a:r>
            <a:r>
              <a:rPr lang="en-US" b="0" i="0" u="none" strike="noStrike" dirty="0">
                <a:solidFill>
                  <a:srgbClr val="0F1115"/>
                </a:solidFill>
                <a:effectLst/>
                <a:latin typeface="quote-cjk-patch"/>
              </a:rPr>
              <a:t> it is roughly located, but it doesn't necessarily know the exact root cause inside the device.</a:t>
            </a:r>
          </a:p>
          <a:p>
            <a:pPr algn="l">
              <a:spcBef>
                <a:spcPts val="1200"/>
              </a:spcBef>
              <a:spcAft>
                <a:spcPts val="1200"/>
              </a:spcAft>
            </a:pPr>
            <a:r>
              <a:rPr lang="en-US" b="1" i="0" u="none" strike="noStrike" dirty="0">
                <a:solidFill>
                  <a:srgbClr val="0F1115"/>
                </a:solidFill>
                <a:effectLst/>
                <a:latin typeface="quote-cjk-patch"/>
              </a:rPr>
              <a:t>Step 2: Drilling Down with the EMS</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A network engineer opens the specific </a:t>
            </a:r>
            <a:r>
              <a:rPr lang="en-US" b="1" i="0" u="none" strike="noStrike" dirty="0">
                <a:solidFill>
                  <a:srgbClr val="0F1115"/>
                </a:solidFill>
                <a:effectLst/>
                <a:latin typeface="quote-cjk-patch"/>
              </a:rPr>
              <a:t>EMS for the "</a:t>
            </a:r>
            <a:r>
              <a:rPr lang="en-US" b="1" i="0" u="none" strike="noStrike" dirty="0" err="1">
                <a:solidFill>
                  <a:srgbClr val="0F1115"/>
                </a:solidFill>
                <a:effectLst/>
                <a:latin typeface="quote-cjk-patch"/>
              </a:rPr>
              <a:t>NetGiant</a:t>
            </a:r>
            <a:r>
              <a:rPr lang="en-US" b="1" i="0" u="none" strike="noStrike" dirty="0">
                <a:solidFill>
                  <a:srgbClr val="0F1115"/>
                </a:solidFill>
                <a:effectLst/>
                <a:latin typeface="quote-cjk-patch"/>
              </a:rPr>
              <a:t> 9000" series routers</a:t>
            </a:r>
            <a:r>
              <a:rPr lang="en-US" b="0" i="0" u="none" strike="noStrike" dirty="0">
                <a:solidFill>
                  <a:srgbClr val="0F1115"/>
                </a:solidFill>
                <a:effectLst/>
                <a:latin typeface="quote-cjk-patch"/>
              </a:rPr>
              <a:t> (the vendor and model of the problematic router).</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While the OSS monitors the service, the EMS monitors the device. The engineer now has a detailed, device-specific view.</a:t>
            </a:r>
          </a:p>
          <a:p>
            <a:pPr algn="l">
              <a:spcBef>
                <a:spcPts val="1200"/>
              </a:spcBef>
              <a:spcAft>
                <a:spcPts val="1200"/>
              </a:spcAft>
            </a:pPr>
            <a:r>
              <a:rPr lang="en-US" b="1" i="0" u="none" strike="noStrike" dirty="0">
                <a:solidFill>
                  <a:srgbClr val="0F1115"/>
                </a:solidFill>
                <a:effectLst/>
                <a:latin typeface="quote-cjk-patch"/>
              </a:rPr>
              <a:t>Step 3: Identifying the Root Cause (EMS Function)</a:t>
            </a:r>
            <a:endParaRPr lang="en-US" b="0" i="0" u="none" strike="noStrike" dirty="0">
              <a:solidFill>
                <a:srgbClr val="0F1115"/>
              </a:solidFill>
              <a:effectLst/>
              <a:latin typeface="quote-cjk-patch"/>
            </a:endParaRPr>
          </a:p>
          <a:p>
            <a:pPr algn="l">
              <a:spcBef>
                <a:spcPts val="1200"/>
              </a:spcBef>
              <a:spcAft>
                <a:spcPts val="600"/>
              </a:spcAft>
              <a:buFont typeface="Arial" panose="020B0604020202020204" pitchFamily="34" charset="0"/>
              <a:buChar char="•"/>
            </a:pPr>
            <a:r>
              <a:rPr lang="en-US" b="0" i="0" u="none" strike="noStrike" dirty="0">
                <a:solidFill>
                  <a:srgbClr val="0F1115"/>
                </a:solidFill>
                <a:effectLst/>
                <a:latin typeface="quote-cjk-patch"/>
              </a:rPr>
              <a:t>Inside the EMS, the engineer can see:</a:t>
            </a:r>
          </a:p>
          <a:p>
            <a:pPr marL="742950" lvl="1" indent="-285750" algn="l">
              <a:spcBef>
                <a:spcPts val="300"/>
              </a:spcBef>
              <a:spcAft>
                <a:spcPts val="1200"/>
              </a:spcAft>
              <a:buFont typeface="Arial" panose="020B0604020202020204" pitchFamily="34" charset="0"/>
              <a:buChar char="•"/>
            </a:pPr>
            <a:r>
              <a:rPr lang="en-US" b="1" i="0" u="none" strike="noStrike" dirty="0">
                <a:solidFill>
                  <a:srgbClr val="0F1115"/>
                </a:solidFill>
                <a:effectLst/>
                <a:latin typeface="quote-cjk-patch"/>
              </a:rPr>
              <a:t>Performance Data:</a:t>
            </a:r>
            <a:r>
              <a:rPr lang="en-US" b="0" i="0" u="none" strike="noStrike" dirty="0">
                <a:solidFill>
                  <a:srgbClr val="0F1115"/>
                </a:solidFill>
                <a:effectLst/>
                <a:latin typeface="quote-cjk-patch"/>
              </a:rPr>
              <a:t> The EMS shows that the GigabitEthernet0/1 interface on the router has been running at </a:t>
            </a:r>
            <a:r>
              <a:rPr lang="en-US" b="1" i="0" u="none" strike="noStrike" dirty="0">
                <a:solidFill>
                  <a:srgbClr val="0F1115"/>
                </a:solidFill>
                <a:effectLst/>
                <a:latin typeface="quote-cjk-patch"/>
              </a:rPr>
              <a:t>98% utilization</a:t>
            </a:r>
            <a:r>
              <a:rPr lang="en-US" b="0" i="0" u="none" strike="noStrike" dirty="0">
                <a:solidFill>
                  <a:srgbClr val="0F1115"/>
                </a:solidFill>
                <a:effectLst/>
                <a:latin typeface="quote-cjk-patch"/>
              </a:rPr>
              <a:t> for the last 2 hours, which is the cause of the congestion and slow speeds.</a:t>
            </a:r>
          </a:p>
          <a:p>
            <a:pPr marL="742950" lvl="1" indent="-285750"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Fault Data:</a:t>
            </a:r>
            <a:r>
              <a:rPr lang="en-US" b="0" i="0" u="none" strike="noStrike" dirty="0">
                <a:solidFill>
                  <a:srgbClr val="0F1115"/>
                </a:solidFill>
                <a:effectLst/>
                <a:latin typeface="quote-cjk-patch"/>
              </a:rPr>
              <a:t> The EMS alarm log shows a related, minor alarm that the OSS might have filtered: </a:t>
            </a:r>
            <a:r>
              <a:rPr lang="en-US" b="1" i="0" u="none" strike="noStrike" dirty="0">
                <a:solidFill>
                  <a:srgbClr val="0F1115"/>
                </a:solidFill>
                <a:effectLst/>
                <a:latin typeface="quote-cjk-patch"/>
              </a:rPr>
              <a:t>"Interface Consistent Over-Utilization on GigabitEthernet0/1".</a:t>
            </a:r>
            <a:endParaRPr lang="en-US" b="0" i="0" u="none" strike="noStrike" dirty="0">
              <a:solidFill>
                <a:srgbClr val="0F1115"/>
              </a:solidFill>
              <a:effectLst/>
              <a:latin typeface="quote-cjk-patch"/>
            </a:endParaRPr>
          </a:p>
          <a:p>
            <a:pPr marL="742950" lvl="1" indent="-285750"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Configuration Data:</a:t>
            </a:r>
            <a:r>
              <a:rPr lang="en-US" b="0" i="0" u="none" strike="noStrike" dirty="0">
                <a:solidFill>
                  <a:srgbClr val="0F1115"/>
                </a:solidFill>
                <a:effectLst/>
                <a:latin typeface="quote-cjk-patch"/>
              </a:rPr>
              <a:t> The EMS displays the current configuration of that interface, showing it's a 1 Gbps link.</a:t>
            </a:r>
          </a:p>
          <a:p>
            <a:pPr algn="l">
              <a:spcBef>
                <a:spcPts val="1200"/>
              </a:spcBef>
              <a:spcAft>
                <a:spcPts val="1200"/>
              </a:spcAft>
            </a:pPr>
            <a:r>
              <a:rPr lang="en-US" b="1" i="0" u="none" strike="noStrike" dirty="0">
                <a:solidFill>
                  <a:srgbClr val="0F1115"/>
                </a:solidFill>
                <a:effectLst/>
                <a:latin typeface="quote-cjk-patch"/>
              </a:rPr>
              <a:t>Step 4: Taking Action via the EMS</a:t>
            </a:r>
            <a:endParaRPr lang="en-US" b="0" i="0" u="none" strike="noStrike"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0" i="0" u="none" strike="noStrike" dirty="0">
                <a:solidFill>
                  <a:srgbClr val="0F1115"/>
                </a:solidFill>
                <a:effectLst/>
                <a:latin typeface="quote-cjk-patch"/>
              </a:rPr>
              <a:t>The engineer uses the </a:t>
            </a:r>
            <a:r>
              <a:rPr lang="en-US" b="1" i="0" u="none" strike="noStrike" dirty="0">
                <a:solidFill>
                  <a:srgbClr val="0F1115"/>
                </a:solidFill>
                <a:effectLst/>
                <a:latin typeface="quote-cjk-patch"/>
              </a:rPr>
              <a:t>EMS's configuration tools</a:t>
            </a:r>
            <a:r>
              <a:rPr lang="en-US" b="0" i="0" u="none" strike="noStrike" dirty="0">
                <a:solidFill>
                  <a:srgbClr val="0F1115"/>
                </a:solidFill>
                <a:effectLst/>
                <a:latin typeface="quote-cjk-patch"/>
              </a:rPr>
              <a:t> to investigate the traffic.</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She sees that a single tenant in the building is running a massive data backup, consuming most of the link's capacity.</a:t>
            </a:r>
          </a:p>
          <a:p>
            <a:pPr algn="l">
              <a:spcBef>
                <a:spcPts val="450"/>
              </a:spcBef>
              <a:spcAft>
                <a:spcPts val="1200"/>
              </a:spcAft>
              <a:buFont typeface="Arial" panose="020B0604020202020204" pitchFamily="34" charset="0"/>
              <a:buChar char="•"/>
            </a:pPr>
            <a:r>
              <a:rPr lang="en-US" b="0" i="0" u="none" strike="noStrike" dirty="0">
                <a:solidFill>
                  <a:srgbClr val="0F1115"/>
                </a:solidFill>
                <a:effectLst/>
                <a:latin typeface="quote-cjk-patch"/>
              </a:rPr>
              <a:t>Using the EMS, she applies a temporary </a:t>
            </a:r>
            <a:r>
              <a:rPr lang="en-US" b="1" i="0" u="none" strike="noStrike" dirty="0">
                <a:solidFill>
                  <a:srgbClr val="0F1115"/>
                </a:solidFill>
                <a:effectLst/>
                <a:latin typeface="quote-cjk-patch"/>
              </a:rPr>
              <a:t>Quality of Service (QoS) policy</a:t>
            </a:r>
            <a:r>
              <a:rPr lang="en-US" b="0" i="0" u="none" strike="noStrike" dirty="0">
                <a:solidFill>
                  <a:srgbClr val="0F1115"/>
                </a:solidFill>
                <a:effectLst/>
                <a:latin typeface="quote-cjk-patch"/>
              </a:rPr>
              <a:t> to the interface, limiting the bandwidth for that type of backup traffic and ensuring fair access for all other users. She does this directly through the EMS's interface, which generates the correct command-line instructions for the router.</a:t>
            </a:r>
          </a:p>
          <a:p>
            <a:pPr algn="l">
              <a:spcBef>
                <a:spcPts val="1200"/>
              </a:spcBef>
              <a:spcAft>
                <a:spcPts val="1200"/>
              </a:spcAft>
            </a:pPr>
            <a:r>
              <a:rPr lang="en-US" b="1" i="0" u="none" strike="noStrike" dirty="0">
                <a:solidFill>
                  <a:srgbClr val="0F1115"/>
                </a:solidFill>
                <a:effectLst/>
                <a:latin typeface="quote-cjk-patch"/>
              </a:rPr>
              <a:t>Step 5: Proactive Maintenance with the EMS</a:t>
            </a:r>
            <a:endParaRPr lang="en-US" b="0" i="0" u="none" strike="noStrike" dirty="0">
              <a:solidFill>
                <a:srgbClr val="0F1115"/>
              </a:solidFill>
              <a:effectLst/>
              <a:latin typeface="quote-cjk-patch"/>
            </a:endParaRPr>
          </a:p>
          <a:p>
            <a:pPr algn="l">
              <a:spcBef>
                <a:spcPts val="1200"/>
              </a:spcBef>
              <a:spcAft>
                <a:spcPts val="600"/>
              </a:spcAft>
              <a:buFont typeface="Arial" panose="020B0604020202020204" pitchFamily="34" charset="0"/>
              <a:buChar char="•"/>
            </a:pPr>
            <a:r>
              <a:rPr lang="en-US" b="0" i="0" u="none" strike="noStrike" dirty="0">
                <a:solidFill>
                  <a:srgbClr val="0F1115"/>
                </a:solidFill>
                <a:effectLst/>
                <a:latin typeface="quote-cjk-patch"/>
              </a:rPr>
              <a:t>The root cause is a need for a network upgrade. The engineer uses the EMS for other tasks:</a:t>
            </a:r>
          </a:p>
          <a:p>
            <a:pPr marL="742950" lvl="1" indent="-285750" algn="l">
              <a:spcBef>
                <a:spcPts val="300"/>
              </a:spcBef>
              <a:spcAft>
                <a:spcPts val="1200"/>
              </a:spcAft>
              <a:buFont typeface="Arial" panose="020B0604020202020204" pitchFamily="34" charset="0"/>
              <a:buChar char="•"/>
            </a:pPr>
            <a:r>
              <a:rPr lang="en-US" b="1" i="0" u="none" strike="noStrike" dirty="0">
                <a:solidFill>
                  <a:srgbClr val="0F1115"/>
                </a:solidFill>
                <a:effectLst/>
                <a:latin typeface="quote-cjk-patch"/>
              </a:rPr>
              <a:t>Inventory:</a:t>
            </a:r>
            <a:r>
              <a:rPr lang="en-US" b="0" i="0" u="none" strike="noStrike" dirty="0">
                <a:solidFill>
                  <a:srgbClr val="0F1115"/>
                </a:solidFill>
                <a:effectLst/>
                <a:latin typeface="quote-cjk-patch"/>
              </a:rPr>
              <a:t> The EMS confirms the exact hardware model of the router and what free slots it has.</a:t>
            </a:r>
          </a:p>
          <a:p>
            <a:pPr marL="742950" lvl="1" indent="-285750"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Software Upgrade:</a:t>
            </a:r>
            <a:r>
              <a:rPr lang="en-US" b="0" i="0" u="none" strike="noStrike" dirty="0">
                <a:solidFill>
                  <a:srgbClr val="0F1115"/>
                </a:solidFill>
                <a:effectLst/>
                <a:latin typeface="quote-cjk-patch"/>
              </a:rPr>
              <a:t> She uses the EMS to schedule and push a new software version to the router during a maintenance window to improve its traffic handling.</a:t>
            </a:r>
          </a:p>
          <a:p>
            <a:pPr marL="742950" lvl="1" indent="-285750" algn="l">
              <a:spcBef>
                <a:spcPts val="450"/>
              </a:spcBef>
              <a:spcAft>
                <a:spcPts val="1200"/>
              </a:spcAft>
              <a:buFont typeface="Arial" panose="020B0604020202020204" pitchFamily="34" charset="0"/>
              <a:buChar char="•"/>
            </a:pPr>
            <a:r>
              <a:rPr lang="en-US" b="1" i="0" u="none" strike="noStrike" dirty="0">
                <a:solidFill>
                  <a:srgbClr val="0F1115"/>
                </a:solidFill>
                <a:effectLst/>
                <a:latin typeface="quote-cjk-patch"/>
              </a:rPr>
              <a:t>Configuration Backup:</a:t>
            </a:r>
            <a:r>
              <a:rPr lang="en-US" b="0" i="0" u="none" strike="noStrike" dirty="0">
                <a:solidFill>
                  <a:srgbClr val="0F1115"/>
                </a:solidFill>
                <a:effectLst/>
                <a:latin typeface="quote-cjk-patch"/>
              </a:rPr>
              <a:t> Before the upgrade, the EMS automatically performs a backup of the router's full configuration.</a:t>
            </a:r>
          </a:p>
          <a:p>
            <a:br>
              <a:rPr lang="en-US" dirty="0"/>
            </a:br>
            <a:endParaRPr lang="en-LB" dirty="0"/>
          </a:p>
        </p:txBody>
      </p:sp>
      <p:sp>
        <p:nvSpPr>
          <p:cNvPr id="4" name="Slide Number Placeholder 3">
            <a:extLst>
              <a:ext uri="{FF2B5EF4-FFF2-40B4-BE49-F238E27FC236}">
                <a16:creationId xmlns:a16="http://schemas.microsoft.com/office/drawing/2014/main" id="{2E6289E6-E748-B558-496B-31369383CA39}"/>
              </a:ext>
            </a:extLst>
          </p:cNvPr>
          <p:cNvSpPr>
            <a:spLocks noGrp="1"/>
          </p:cNvSpPr>
          <p:nvPr>
            <p:ph type="sldNum" sz="quarter" idx="5"/>
          </p:nvPr>
        </p:nvSpPr>
        <p:spPr/>
        <p:txBody>
          <a:bodyPr/>
          <a:lstStyle/>
          <a:p>
            <a:fld id="{ACEA5495-EF57-284F-B0B9-2F0D2302B2C8}" type="slidenum">
              <a:rPr lang="en-LB" smtClean="0"/>
              <a:t>45</a:t>
            </a:fld>
            <a:endParaRPr lang="en-LB"/>
          </a:p>
        </p:txBody>
      </p:sp>
    </p:spTree>
    <p:extLst>
      <p:ext uri="{BB962C8B-B14F-4D97-AF65-F5344CB8AC3E}">
        <p14:creationId xmlns:p14="http://schemas.microsoft.com/office/powerpoint/2010/main" val="23667656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317C4-A670-D4C5-4818-50893D2C8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DE51B-5B95-3042-AC22-1D1E0A20D3F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6AA57E6-A1AC-A3FF-E0A6-A53A660C4267}"/>
              </a:ext>
            </a:extLst>
          </p:cNvPr>
          <p:cNvSpPr>
            <a:spLocks noGrp="1"/>
          </p:cNvSpPr>
          <p:nvPr>
            <p:ph type="body" idx="1"/>
          </p:nvPr>
        </p:nvSpPr>
        <p:spPr/>
        <p:txBody>
          <a:bodyPr/>
          <a:lstStyle/>
          <a:p>
            <a:pPr algn="l">
              <a:spcBef>
                <a:spcPts val="2400"/>
              </a:spcBef>
              <a:spcAft>
                <a:spcPts val="1200"/>
              </a:spcAft>
            </a:pPr>
            <a:endParaRPr lang="en-LB" dirty="0"/>
          </a:p>
        </p:txBody>
      </p:sp>
      <p:sp>
        <p:nvSpPr>
          <p:cNvPr id="4" name="Slide Number Placeholder 3">
            <a:extLst>
              <a:ext uri="{FF2B5EF4-FFF2-40B4-BE49-F238E27FC236}">
                <a16:creationId xmlns:a16="http://schemas.microsoft.com/office/drawing/2014/main" id="{AC1D9C36-0EC3-F077-4B5B-710F45DFABE9}"/>
              </a:ext>
            </a:extLst>
          </p:cNvPr>
          <p:cNvSpPr>
            <a:spLocks noGrp="1"/>
          </p:cNvSpPr>
          <p:nvPr>
            <p:ph type="sldNum" sz="quarter" idx="5"/>
          </p:nvPr>
        </p:nvSpPr>
        <p:spPr/>
        <p:txBody>
          <a:bodyPr/>
          <a:lstStyle/>
          <a:p>
            <a:fld id="{ACEA5495-EF57-284F-B0B9-2F0D2302B2C8}" type="slidenum">
              <a:rPr lang="en-LB" smtClean="0"/>
              <a:t>46</a:t>
            </a:fld>
            <a:endParaRPr lang="en-LB"/>
          </a:p>
        </p:txBody>
      </p:sp>
    </p:spTree>
    <p:extLst>
      <p:ext uri="{BB962C8B-B14F-4D97-AF65-F5344CB8AC3E}">
        <p14:creationId xmlns:p14="http://schemas.microsoft.com/office/powerpoint/2010/main" val="1345364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E240D-670D-A49F-6B0C-FE1484E274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E5276-62EA-9F47-05BD-183E5B6C651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7795720-47BC-9E58-505B-CC47E7F30035}"/>
              </a:ext>
            </a:extLst>
          </p:cNvPr>
          <p:cNvSpPr>
            <a:spLocks noGrp="1"/>
          </p:cNvSpPr>
          <p:nvPr>
            <p:ph type="body" idx="1"/>
          </p:nvPr>
        </p:nvSpPr>
        <p:spPr/>
        <p:txBody>
          <a:bodyPr/>
          <a:lstStyle/>
          <a:p>
            <a:endParaRPr lang="en-LB" sz="1100" dirty="0"/>
          </a:p>
        </p:txBody>
      </p:sp>
      <p:sp>
        <p:nvSpPr>
          <p:cNvPr id="4" name="Slide Number Placeholder 3">
            <a:extLst>
              <a:ext uri="{FF2B5EF4-FFF2-40B4-BE49-F238E27FC236}">
                <a16:creationId xmlns:a16="http://schemas.microsoft.com/office/drawing/2014/main" id="{B1EAE7B9-D8E7-EEC5-E62C-A9D4FED53767}"/>
              </a:ext>
            </a:extLst>
          </p:cNvPr>
          <p:cNvSpPr>
            <a:spLocks noGrp="1"/>
          </p:cNvSpPr>
          <p:nvPr>
            <p:ph type="sldNum" sz="quarter" idx="5"/>
          </p:nvPr>
        </p:nvSpPr>
        <p:spPr/>
        <p:txBody>
          <a:bodyPr/>
          <a:lstStyle/>
          <a:p>
            <a:fld id="{ACEA5495-EF57-284F-B0B9-2F0D2302B2C8}" type="slidenum">
              <a:rPr lang="en-LB" smtClean="0"/>
              <a:t>47</a:t>
            </a:fld>
            <a:endParaRPr lang="en-LB"/>
          </a:p>
        </p:txBody>
      </p:sp>
    </p:spTree>
    <p:extLst>
      <p:ext uri="{BB962C8B-B14F-4D97-AF65-F5344CB8AC3E}">
        <p14:creationId xmlns:p14="http://schemas.microsoft.com/office/powerpoint/2010/main" val="2727939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19A8E-CA71-17D9-0BA6-FAC31B01A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DFFBD-A985-15A0-49A3-45965B32E03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94DDC13-5982-C484-8529-72571628A11E}"/>
              </a:ext>
            </a:extLst>
          </p:cNvPr>
          <p:cNvSpPr>
            <a:spLocks noGrp="1"/>
          </p:cNvSpPr>
          <p:nvPr>
            <p:ph type="body" idx="1"/>
          </p:nvPr>
        </p:nvSpPr>
        <p:spPr/>
        <p:txBody>
          <a:bodyPr/>
          <a:lstStyle/>
          <a:p>
            <a:pPr algn="l">
              <a:spcBef>
                <a:spcPts val="2400"/>
              </a:spcBef>
              <a:spcAft>
                <a:spcPts val="1200"/>
              </a:spcAft>
            </a:pPr>
            <a:endParaRPr lang="en-LB" dirty="0"/>
          </a:p>
        </p:txBody>
      </p:sp>
      <p:sp>
        <p:nvSpPr>
          <p:cNvPr id="4" name="Slide Number Placeholder 3">
            <a:extLst>
              <a:ext uri="{FF2B5EF4-FFF2-40B4-BE49-F238E27FC236}">
                <a16:creationId xmlns:a16="http://schemas.microsoft.com/office/drawing/2014/main" id="{92EB8DB4-3C43-C9E6-0DF0-6E95A1892203}"/>
              </a:ext>
            </a:extLst>
          </p:cNvPr>
          <p:cNvSpPr>
            <a:spLocks noGrp="1"/>
          </p:cNvSpPr>
          <p:nvPr>
            <p:ph type="sldNum" sz="quarter" idx="5"/>
          </p:nvPr>
        </p:nvSpPr>
        <p:spPr/>
        <p:txBody>
          <a:bodyPr/>
          <a:lstStyle/>
          <a:p>
            <a:fld id="{ACEA5495-EF57-284F-B0B9-2F0D2302B2C8}" type="slidenum">
              <a:rPr lang="en-LB" smtClean="0"/>
              <a:t>54</a:t>
            </a:fld>
            <a:endParaRPr lang="en-LB"/>
          </a:p>
        </p:txBody>
      </p:sp>
    </p:spTree>
    <p:extLst>
      <p:ext uri="{BB962C8B-B14F-4D97-AF65-F5344CB8AC3E}">
        <p14:creationId xmlns:p14="http://schemas.microsoft.com/office/powerpoint/2010/main" val="21737650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A15A6-B605-BDB0-3B51-27B9A7A2E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BE6FA-DB55-C598-151E-F88E2D5B687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1681176-AB1D-AB11-74EB-DE7BAE03FD16}"/>
              </a:ext>
            </a:extLst>
          </p:cNvPr>
          <p:cNvSpPr>
            <a:spLocks noGrp="1"/>
          </p:cNvSpPr>
          <p:nvPr>
            <p:ph type="body" idx="1"/>
          </p:nvPr>
        </p:nvSpPr>
        <p:spPr/>
        <p:txBody>
          <a:bodyPr/>
          <a:lstStyle/>
          <a:p>
            <a:pPr algn="l">
              <a:spcBef>
                <a:spcPts val="2400"/>
              </a:spcBef>
              <a:spcAft>
                <a:spcPts val="1200"/>
              </a:spcAft>
            </a:pPr>
            <a:endParaRPr lang="en-LB" dirty="0"/>
          </a:p>
        </p:txBody>
      </p:sp>
      <p:sp>
        <p:nvSpPr>
          <p:cNvPr id="4" name="Slide Number Placeholder 3">
            <a:extLst>
              <a:ext uri="{FF2B5EF4-FFF2-40B4-BE49-F238E27FC236}">
                <a16:creationId xmlns:a16="http://schemas.microsoft.com/office/drawing/2014/main" id="{220AD05B-6865-EB8E-4CF0-8FCAF7FE0DDA}"/>
              </a:ext>
            </a:extLst>
          </p:cNvPr>
          <p:cNvSpPr>
            <a:spLocks noGrp="1"/>
          </p:cNvSpPr>
          <p:nvPr>
            <p:ph type="sldNum" sz="quarter" idx="5"/>
          </p:nvPr>
        </p:nvSpPr>
        <p:spPr/>
        <p:txBody>
          <a:bodyPr/>
          <a:lstStyle/>
          <a:p>
            <a:fld id="{ACEA5495-EF57-284F-B0B9-2F0D2302B2C8}" type="slidenum">
              <a:rPr lang="en-LB" smtClean="0"/>
              <a:t>55</a:t>
            </a:fld>
            <a:endParaRPr lang="en-LB"/>
          </a:p>
        </p:txBody>
      </p:sp>
    </p:spTree>
    <p:extLst>
      <p:ext uri="{BB962C8B-B14F-4D97-AF65-F5344CB8AC3E}">
        <p14:creationId xmlns:p14="http://schemas.microsoft.com/office/powerpoint/2010/main" val="39353500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B0506-3A11-DDBB-1963-9F1946AFB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C6FAA-2AD8-B51B-629D-79FE15F70C9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2FA742B-B63E-1FE0-2C29-CFAF2CED0FEA}"/>
              </a:ext>
            </a:extLst>
          </p:cNvPr>
          <p:cNvSpPr>
            <a:spLocks noGrp="1"/>
          </p:cNvSpPr>
          <p:nvPr>
            <p:ph type="body" idx="1"/>
          </p:nvPr>
        </p:nvSpPr>
        <p:spPr/>
        <p:txBody>
          <a:bodyPr/>
          <a:lstStyle/>
          <a:p>
            <a:pPr algn="l">
              <a:spcBef>
                <a:spcPts val="2400"/>
              </a:spcBef>
              <a:spcAft>
                <a:spcPts val="1200"/>
              </a:spcAft>
            </a:pPr>
            <a:endParaRPr lang="en-LB" dirty="0"/>
          </a:p>
        </p:txBody>
      </p:sp>
      <p:sp>
        <p:nvSpPr>
          <p:cNvPr id="4" name="Slide Number Placeholder 3">
            <a:extLst>
              <a:ext uri="{FF2B5EF4-FFF2-40B4-BE49-F238E27FC236}">
                <a16:creationId xmlns:a16="http://schemas.microsoft.com/office/drawing/2014/main" id="{A0947E38-78D7-CC85-A2B9-1F4149761D18}"/>
              </a:ext>
            </a:extLst>
          </p:cNvPr>
          <p:cNvSpPr>
            <a:spLocks noGrp="1"/>
          </p:cNvSpPr>
          <p:nvPr>
            <p:ph type="sldNum" sz="quarter" idx="5"/>
          </p:nvPr>
        </p:nvSpPr>
        <p:spPr/>
        <p:txBody>
          <a:bodyPr/>
          <a:lstStyle/>
          <a:p>
            <a:fld id="{ACEA5495-EF57-284F-B0B9-2F0D2302B2C8}" type="slidenum">
              <a:rPr lang="en-LB" smtClean="0"/>
              <a:t>56</a:t>
            </a:fld>
            <a:endParaRPr lang="en-LB"/>
          </a:p>
        </p:txBody>
      </p:sp>
    </p:spTree>
    <p:extLst>
      <p:ext uri="{BB962C8B-B14F-4D97-AF65-F5344CB8AC3E}">
        <p14:creationId xmlns:p14="http://schemas.microsoft.com/office/powerpoint/2010/main" val="39864301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lang="en-US" b="0" i="0" u="none" strike="noStrike" dirty="0">
              <a:solidFill>
                <a:srgbClr val="000000"/>
              </a:solidFill>
              <a:effectLst/>
              <a:latin typeface="-webkit-standard"/>
            </a:endParaRPr>
          </a:p>
          <a:p>
            <a:r>
              <a:rPr lang="en-US" b="1" i="0" u="none" strike="noStrike" dirty="0">
                <a:solidFill>
                  <a:srgbClr val="000000"/>
                </a:solidFill>
                <a:effectLst/>
                <a:latin typeface="-webkit-standard"/>
              </a:rPr>
              <a:t>SOAP</a:t>
            </a:r>
            <a:r>
              <a:rPr lang="en-US" b="0" i="0" u="none" strike="noStrike" dirty="0">
                <a:solidFill>
                  <a:srgbClr val="000000"/>
                </a:solidFill>
                <a:effectLst/>
                <a:latin typeface="-webkit-standard"/>
              </a:rPr>
              <a:t>: Simple Object Access Protocol</a:t>
            </a:r>
          </a:p>
          <a:p>
            <a:r>
              <a:rPr lang="en-US" b="1" dirty="0"/>
              <a:t>REST</a:t>
            </a:r>
            <a:r>
              <a:rPr lang="en-US" dirty="0"/>
              <a:t> = Simple, fast, uses JSON, great for modern apps</a:t>
            </a:r>
          </a:p>
          <a:p>
            <a:r>
              <a:rPr lang="en-US" b="1" dirty="0"/>
              <a:t>SOAP over HTTPS</a:t>
            </a:r>
            <a:r>
              <a:rPr lang="en-US" dirty="0"/>
              <a:t> = Strict, secure, uses XML, good for banking/government</a:t>
            </a:r>
          </a:p>
          <a:p>
            <a:r>
              <a:rPr lang="en-US" dirty="0"/>
              <a:t>Both can work over </a:t>
            </a:r>
            <a:r>
              <a:rPr lang="en-US" b="1" dirty="0"/>
              <a:t>HTTPS</a:t>
            </a:r>
            <a:r>
              <a:rPr lang="en-US" dirty="0"/>
              <a:t>, but SOAP has </a:t>
            </a:r>
            <a:r>
              <a:rPr lang="en-US" b="1" dirty="0"/>
              <a:t>extra security layers</a:t>
            </a:r>
            <a:endParaRPr lang="en-US" dirty="0"/>
          </a:p>
          <a:p>
            <a:r>
              <a:rPr lang="en-US" dirty="0"/>
              <a:t>REST is more common today</a:t>
            </a:r>
          </a:p>
          <a:p>
            <a:endParaRPr lang="en-US" b="0" dirty="0"/>
          </a:p>
          <a:p>
            <a:pPr algn="l"/>
            <a:r>
              <a:rPr lang="en-US" b="0" i="0" u="none" strike="noStrike" dirty="0">
                <a:solidFill>
                  <a:srgbClr val="000000"/>
                </a:solidFill>
                <a:effectLst/>
              </a:rPr>
              <a:t>OS = Operations System (like OSS/BSS)</a:t>
            </a:r>
          </a:p>
          <a:p>
            <a:pPr algn="l"/>
            <a:r>
              <a:rPr lang="en-US" b="0" i="0" u="none" strike="noStrike" dirty="0">
                <a:solidFill>
                  <a:srgbClr val="000000"/>
                </a:solidFill>
                <a:effectLst/>
              </a:rPr>
              <a:t>MA = Management Application (like network management tools)</a:t>
            </a:r>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8991B-C12E-674E-3CA6-986597DF6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E2658-7213-D62C-51DF-36073ADD1F3D}"/>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3BE4ABC0-E9BA-8317-41BC-872B6312B7C4}"/>
              </a:ext>
            </a:extLst>
          </p:cNvPr>
          <p:cNvSpPr>
            <a:spLocks noGrp="1"/>
          </p:cNvSpPr>
          <p:nvPr>
            <p:ph type="body" sz="quarter" idx="3"/>
          </p:nvPr>
        </p:nvSpPr>
        <p:spPr/>
        <p:txBody>
          <a:bodyPr/>
          <a:lstStyle/>
          <a:p>
            <a:endParaRPr lang="en-US" b="0" i="0" u="none" strike="noStrike" dirty="0">
              <a:solidFill>
                <a:srgbClr val="000000"/>
              </a:solidFill>
              <a:effectLst/>
              <a:latin typeface="-webkit-standard"/>
            </a:endParaRPr>
          </a:p>
          <a:p>
            <a:r>
              <a:rPr lang="en-US" b="1" i="0" u="none" strike="noStrike" dirty="0">
                <a:solidFill>
                  <a:srgbClr val="000000"/>
                </a:solidFill>
                <a:effectLst/>
                <a:latin typeface="-webkit-standard"/>
              </a:rPr>
              <a:t>SOAP</a:t>
            </a:r>
            <a:r>
              <a:rPr lang="en-US" b="0" i="0" u="none" strike="noStrike" dirty="0">
                <a:solidFill>
                  <a:srgbClr val="000000"/>
                </a:solidFill>
                <a:effectLst/>
                <a:latin typeface="-webkit-standard"/>
              </a:rPr>
              <a:t>: Simple Object Access Protocol</a:t>
            </a:r>
          </a:p>
          <a:p>
            <a:r>
              <a:rPr lang="en-US" b="1" dirty="0"/>
              <a:t>REST</a:t>
            </a:r>
            <a:r>
              <a:rPr lang="en-US" dirty="0"/>
              <a:t> = Simple, fast, uses JSON, great for modern apps</a:t>
            </a:r>
          </a:p>
          <a:p>
            <a:r>
              <a:rPr lang="en-US" b="1" dirty="0"/>
              <a:t>SOAP over HTTPS</a:t>
            </a:r>
            <a:r>
              <a:rPr lang="en-US" dirty="0"/>
              <a:t> = Strict, secure, uses XML, good for banking/government</a:t>
            </a:r>
          </a:p>
          <a:p>
            <a:r>
              <a:rPr lang="en-US" dirty="0"/>
              <a:t>Both can work over </a:t>
            </a:r>
            <a:r>
              <a:rPr lang="en-US" b="1" dirty="0"/>
              <a:t>HTTPS</a:t>
            </a:r>
            <a:r>
              <a:rPr lang="en-US" dirty="0"/>
              <a:t>, but SOAP has </a:t>
            </a:r>
            <a:r>
              <a:rPr lang="en-US" b="1" dirty="0"/>
              <a:t>extra security layers</a:t>
            </a:r>
            <a:endParaRPr lang="en-US" dirty="0"/>
          </a:p>
          <a:p>
            <a:r>
              <a:rPr lang="en-US" dirty="0"/>
              <a:t>REST is more common today</a:t>
            </a:r>
          </a:p>
          <a:p>
            <a:endParaRPr lang="en-US" b="0" dirty="0"/>
          </a:p>
          <a:p>
            <a:pPr algn="l"/>
            <a:r>
              <a:rPr lang="en-US" b="0" i="0" u="none" strike="noStrike" dirty="0">
                <a:solidFill>
                  <a:srgbClr val="000000"/>
                </a:solidFill>
                <a:effectLst/>
              </a:rPr>
              <a:t>OS = Operations System (like OSS/BSS)</a:t>
            </a:r>
          </a:p>
          <a:p>
            <a:pPr algn="l"/>
            <a:r>
              <a:rPr lang="en-US" b="0" i="0" u="none" strike="noStrike" dirty="0">
                <a:solidFill>
                  <a:srgbClr val="000000"/>
                </a:solidFill>
                <a:effectLst/>
              </a:rPr>
              <a:t>MA = Management Application (like network management tools)</a:t>
            </a:r>
          </a:p>
          <a:p>
            <a:endParaRPr lang="en-US" dirty="0"/>
          </a:p>
          <a:p>
            <a:endParaRPr dirty="0"/>
          </a:p>
        </p:txBody>
      </p:sp>
      <p:sp>
        <p:nvSpPr>
          <p:cNvPr id="4" name="Slide Number Placeholder 3">
            <a:extLst>
              <a:ext uri="{FF2B5EF4-FFF2-40B4-BE49-F238E27FC236}">
                <a16:creationId xmlns:a16="http://schemas.microsoft.com/office/drawing/2014/main" id="{EE3702CC-4744-195F-BC9E-872479FD583E}"/>
              </a:ext>
            </a:extLst>
          </p:cNvPr>
          <p:cNvSpPr>
            <a:spLocks noGrp="1"/>
          </p:cNvSpPr>
          <p:nvPr>
            <p:ph type="sldNum" sz="quarter" idx="5"/>
          </p:nvPr>
        </p:nvSpPr>
        <p:spPr/>
      </p:sp>
    </p:spTree>
    <p:extLst>
      <p:ext uri="{BB962C8B-B14F-4D97-AF65-F5344CB8AC3E}">
        <p14:creationId xmlns:p14="http://schemas.microsoft.com/office/powerpoint/2010/main" val="15144019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8118C-5517-7257-6582-DBBB66E9EF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6D0C7-4DC3-370E-9412-F3213A0EFED8}"/>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1F7F5CF5-6405-1EF0-D361-DAE38E976C43}"/>
              </a:ext>
            </a:extLst>
          </p:cNvPr>
          <p:cNvSpPr>
            <a:spLocks noGrp="1"/>
          </p:cNvSpPr>
          <p:nvPr>
            <p:ph type="body" sz="quarter" idx="3"/>
          </p:nvPr>
        </p:nvSpPr>
        <p:spPr/>
        <p:txBody>
          <a:bodyPr/>
          <a:lstStyle/>
          <a:p>
            <a:endParaRPr lang="en-US" b="0" i="0" u="none" strike="noStrike" dirty="0">
              <a:solidFill>
                <a:srgbClr val="000000"/>
              </a:solidFill>
              <a:effectLst/>
              <a:latin typeface="-webkit-standard"/>
            </a:endParaRPr>
          </a:p>
          <a:p>
            <a:r>
              <a:rPr lang="en-US" b="1" i="0" u="none" strike="noStrike" dirty="0">
                <a:solidFill>
                  <a:srgbClr val="000000"/>
                </a:solidFill>
                <a:effectLst/>
                <a:latin typeface="-webkit-standard"/>
              </a:rPr>
              <a:t>SOAP</a:t>
            </a:r>
            <a:r>
              <a:rPr lang="en-US" b="0" i="0" u="none" strike="noStrike" dirty="0">
                <a:solidFill>
                  <a:srgbClr val="000000"/>
                </a:solidFill>
                <a:effectLst/>
                <a:latin typeface="-webkit-standard"/>
              </a:rPr>
              <a:t>: Simple Object Access Protocol</a:t>
            </a:r>
          </a:p>
          <a:p>
            <a:r>
              <a:rPr lang="en-US" b="1" dirty="0"/>
              <a:t>REST</a:t>
            </a:r>
            <a:r>
              <a:rPr lang="en-US" dirty="0"/>
              <a:t> = Simple, fast, uses JSON, great for modern apps</a:t>
            </a:r>
          </a:p>
          <a:p>
            <a:r>
              <a:rPr lang="en-US" b="1" dirty="0"/>
              <a:t>SOAP over HTTPS</a:t>
            </a:r>
            <a:r>
              <a:rPr lang="en-US" dirty="0"/>
              <a:t> = Strict, secure, uses XML, good for banking/government</a:t>
            </a:r>
          </a:p>
          <a:p>
            <a:r>
              <a:rPr lang="en-US" dirty="0"/>
              <a:t>Both can work over </a:t>
            </a:r>
            <a:r>
              <a:rPr lang="en-US" b="1" dirty="0"/>
              <a:t>HTTPS</a:t>
            </a:r>
            <a:r>
              <a:rPr lang="en-US" dirty="0"/>
              <a:t>, but SOAP has </a:t>
            </a:r>
            <a:r>
              <a:rPr lang="en-US" b="1" dirty="0"/>
              <a:t>extra security layers</a:t>
            </a:r>
            <a:endParaRPr lang="en-US" dirty="0"/>
          </a:p>
          <a:p>
            <a:r>
              <a:rPr lang="en-US" dirty="0"/>
              <a:t>REST is more common today</a:t>
            </a:r>
          </a:p>
          <a:p>
            <a:endParaRPr lang="en-US" b="0" dirty="0"/>
          </a:p>
          <a:p>
            <a:pPr algn="l"/>
            <a:r>
              <a:rPr lang="en-US" b="0" i="0" u="none" strike="noStrike" dirty="0">
                <a:solidFill>
                  <a:srgbClr val="000000"/>
                </a:solidFill>
                <a:effectLst/>
              </a:rPr>
              <a:t>OS = Operations System (like OSS/BSS)</a:t>
            </a:r>
          </a:p>
          <a:p>
            <a:pPr algn="l"/>
            <a:r>
              <a:rPr lang="en-US" b="0" i="0" u="none" strike="noStrike" dirty="0">
                <a:solidFill>
                  <a:srgbClr val="000000"/>
                </a:solidFill>
                <a:effectLst/>
              </a:rPr>
              <a:t>MA = Management Application (like network management tools)</a:t>
            </a:r>
          </a:p>
          <a:p>
            <a:endParaRPr lang="en-US" dirty="0"/>
          </a:p>
          <a:p>
            <a:endParaRPr dirty="0"/>
          </a:p>
        </p:txBody>
      </p:sp>
      <p:sp>
        <p:nvSpPr>
          <p:cNvPr id="4" name="Slide Number Placeholder 3">
            <a:extLst>
              <a:ext uri="{FF2B5EF4-FFF2-40B4-BE49-F238E27FC236}">
                <a16:creationId xmlns:a16="http://schemas.microsoft.com/office/drawing/2014/main" id="{8524207F-9897-44BB-C1F7-8AE31AC7530E}"/>
              </a:ext>
            </a:extLst>
          </p:cNvPr>
          <p:cNvSpPr>
            <a:spLocks noGrp="1"/>
          </p:cNvSpPr>
          <p:nvPr>
            <p:ph type="sldNum" sz="quarter" idx="5"/>
          </p:nvPr>
        </p:nvSpPr>
        <p:spPr/>
      </p:sp>
    </p:spTree>
    <p:extLst>
      <p:ext uri="{BB962C8B-B14F-4D97-AF65-F5344CB8AC3E}">
        <p14:creationId xmlns:p14="http://schemas.microsoft.com/office/powerpoint/2010/main" val="34681237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1B9B5-07C1-AC0E-69BB-D34FE51932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5771BD-A34C-A1E4-1D09-35C1DF23C35D}"/>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6CDD5A28-F005-0D0E-5D67-B50D81FE02A5}"/>
              </a:ext>
            </a:extLst>
          </p:cNvPr>
          <p:cNvSpPr>
            <a:spLocks noGrp="1"/>
          </p:cNvSpPr>
          <p:nvPr>
            <p:ph type="body" sz="quarter" idx="3"/>
          </p:nvPr>
        </p:nvSpPr>
        <p:spPr/>
        <p:txBody>
          <a:bodyPr/>
          <a:lstStyle/>
          <a:p>
            <a:endParaRPr lang="en-US" b="0" i="0" u="none" strike="noStrike" dirty="0">
              <a:solidFill>
                <a:srgbClr val="000000"/>
              </a:solidFill>
              <a:effectLst/>
              <a:latin typeface="-webkit-standard"/>
            </a:endParaRPr>
          </a:p>
          <a:p>
            <a:r>
              <a:rPr lang="en-US" b="1" i="0" u="none" strike="noStrike" dirty="0">
                <a:solidFill>
                  <a:srgbClr val="000000"/>
                </a:solidFill>
                <a:effectLst/>
                <a:latin typeface="-webkit-standard"/>
              </a:rPr>
              <a:t>SOAP</a:t>
            </a:r>
            <a:r>
              <a:rPr lang="en-US" b="0" i="0" u="none" strike="noStrike" dirty="0">
                <a:solidFill>
                  <a:srgbClr val="000000"/>
                </a:solidFill>
                <a:effectLst/>
                <a:latin typeface="-webkit-standard"/>
              </a:rPr>
              <a:t>: Simple Object Access Protocol</a:t>
            </a:r>
          </a:p>
          <a:p>
            <a:r>
              <a:rPr lang="en-US" b="1" dirty="0"/>
              <a:t>REST</a:t>
            </a:r>
            <a:r>
              <a:rPr lang="en-US" dirty="0"/>
              <a:t> = Simple, fast, uses JSON, great for modern apps</a:t>
            </a:r>
          </a:p>
          <a:p>
            <a:r>
              <a:rPr lang="en-US" b="1" dirty="0"/>
              <a:t>SOAP over HTTPS</a:t>
            </a:r>
            <a:r>
              <a:rPr lang="en-US" dirty="0"/>
              <a:t> = Strict, secure, uses XML, good for banking/government</a:t>
            </a:r>
          </a:p>
          <a:p>
            <a:r>
              <a:rPr lang="en-US" dirty="0"/>
              <a:t>Both can work over </a:t>
            </a:r>
            <a:r>
              <a:rPr lang="en-US" b="1" dirty="0"/>
              <a:t>HTTPS</a:t>
            </a:r>
            <a:r>
              <a:rPr lang="en-US" dirty="0"/>
              <a:t>, but SOAP has </a:t>
            </a:r>
            <a:r>
              <a:rPr lang="en-US" b="1" dirty="0"/>
              <a:t>extra security layers</a:t>
            </a:r>
            <a:endParaRPr lang="en-US" dirty="0"/>
          </a:p>
          <a:p>
            <a:r>
              <a:rPr lang="en-US" dirty="0"/>
              <a:t>REST is more common today</a:t>
            </a:r>
          </a:p>
          <a:p>
            <a:endParaRPr lang="en-US" b="0" dirty="0"/>
          </a:p>
          <a:p>
            <a:pPr algn="l"/>
            <a:r>
              <a:rPr lang="en-US" b="0" i="0" u="none" strike="noStrike" dirty="0">
                <a:solidFill>
                  <a:srgbClr val="000000"/>
                </a:solidFill>
                <a:effectLst/>
              </a:rPr>
              <a:t>OS = Operations System (like OSS/BSS)</a:t>
            </a:r>
          </a:p>
          <a:p>
            <a:pPr algn="l"/>
            <a:r>
              <a:rPr lang="en-US" b="0" i="0" u="none" strike="noStrike" dirty="0">
                <a:solidFill>
                  <a:srgbClr val="000000"/>
                </a:solidFill>
                <a:effectLst/>
              </a:rPr>
              <a:t>MA = Management Application (like network management tools)</a:t>
            </a:r>
          </a:p>
          <a:p>
            <a:endParaRPr lang="en-US" dirty="0"/>
          </a:p>
          <a:p>
            <a:endParaRPr dirty="0"/>
          </a:p>
        </p:txBody>
      </p:sp>
      <p:sp>
        <p:nvSpPr>
          <p:cNvPr id="4" name="Slide Number Placeholder 3">
            <a:extLst>
              <a:ext uri="{FF2B5EF4-FFF2-40B4-BE49-F238E27FC236}">
                <a16:creationId xmlns:a16="http://schemas.microsoft.com/office/drawing/2014/main" id="{3451E5C9-1598-D87F-378F-CBE631F6299D}"/>
              </a:ext>
            </a:extLst>
          </p:cNvPr>
          <p:cNvSpPr>
            <a:spLocks noGrp="1"/>
          </p:cNvSpPr>
          <p:nvPr>
            <p:ph type="sldNum" sz="quarter" idx="5"/>
          </p:nvPr>
        </p:nvSpPr>
        <p:spPr/>
      </p:sp>
    </p:spTree>
    <p:extLst>
      <p:ext uri="{BB962C8B-B14F-4D97-AF65-F5344CB8AC3E}">
        <p14:creationId xmlns:p14="http://schemas.microsoft.com/office/powerpoint/2010/main" val="2706238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AE659-07C6-A606-B02B-2B69E3D64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BBEFA9-C161-82FA-6973-CE58B838551E}"/>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C48E646A-5ABD-52F1-B8A6-359FC630C749}"/>
              </a:ext>
            </a:extLst>
          </p:cNvPr>
          <p:cNvSpPr>
            <a:spLocks noGrp="1"/>
          </p:cNvSpPr>
          <p:nvPr>
            <p:ph type="body" sz="quarter" idx="3"/>
          </p:nvPr>
        </p:nvSpPr>
        <p:spPr/>
        <p:txBody>
          <a:bodyPr/>
          <a:lstStyle/>
          <a:p>
            <a:endParaRPr lang="en-US" b="0" i="0" u="none" strike="noStrike" dirty="0">
              <a:solidFill>
                <a:srgbClr val="000000"/>
              </a:solidFill>
              <a:effectLst/>
              <a:latin typeface="-webkit-standard"/>
            </a:endParaRPr>
          </a:p>
          <a:p>
            <a:r>
              <a:rPr lang="en-US" b="1" i="0" u="none" strike="noStrike" dirty="0">
                <a:solidFill>
                  <a:srgbClr val="000000"/>
                </a:solidFill>
                <a:effectLst/>
                <a:latin typeface="-webkit-standard"/>
              </a:rPr>
              <a:t>SOAP</a:t>
            </a:r>
            <a:r>
              <a:rPr lang="en-US" b="0" i="0" u="none" strike="noStrike" dirty="0">
                <a:solidFill>
                  <a:srgbClr val="000000"/>
                </a:solidFill>
                <a:effectLst/>
                <a:latin typeface="-webkit-standard"/>
              </a:rPr>
              <a:t>: Simple Object Access Protocol</a:t>
            </a:r>
          </a:p>
          <a:p>
            <a:r>
              <a:rPr lang="en-US" b="1" dirty="0"/>
              <a:t>REST</a:t>
            </a:r>
            <a:r>
              <a:rPr lang="en-US" dirty="0"/>
              <a:t> = Simple, fast, uses JSON, great for modern apps</a:t>
            </a:r>
          </a:p>
          <a:p>
            <a:r>
              <a:rPr lang="en-US" b="1" dirty="0"/>
              <a:t>SOAP over HTTPS</a:t>
            </a:r>
            <a:r>
              <a:rPr lang="en-US" dirty="0"/>
              <a:t> = Strict, secure, uses XML, good for banking/government</a:t>
            </a:r>
          </a:p>
          <a:p>
            <a:r>
              <a:rPr lang="en-US" dirty="0"/>
              <a:t>Both can work over </a:t>
            </a:r>
            <a:r>
              <a:rPr lang="en-US" b="1" dirty="0"/>
              <a:t>HTTPS</a:t>
            </a:r>
            <a:r>
              <a:rPr lang="en-US" dirty="0"/>
              <a:t>, but SOAP has </a:t>
            </a:r>
            <a:r>
              <a:rPr lang="en-US" b="1" dirty="0"/>
              <a:t>extra security layers</a:t>
            </a:r>
            <a:endParaRPr lang="en-US" dirty="0"/>
          </a:p>
          <a:p>
            <a:r>
              <a:rPr lang="en-US" dirty="0"/>
              <a:t>REST is more common today</a:t>
            </a:r>
          </a:p>
          <a:p>
            <a:endParaRPr lang="en-US" b="0" dirty="0"/>
          </a:p>
          <a:p>
            <a:pPr algn="l"/>
            <a:r>
              <a:rPr lang="en-US" b="0" i="0" u="none" strike="noStrike" dirty="0">
                <a:solidFill>
                  <a:srgbClr val="000000"/>
                </a:solidFill>
                <a:effectLst/>
              </a:rPr>
              <a:t>OS = Operations System (like OSS/BSS)</a:t>
            </a:r>
          </a:p>
          <a:p>
            <a:pPr algn="l"/>
            <a:r>
              <a:rPr lang="en-US" b="0" i="0" u="none" strike="noStrike" dirty="0">
                <a:solidFill>
                  <a:srgbClr val="000000"/>
                </a:solidFill>
                <a:effectLst/>
              </a:rPr>
              <a:t>MA = Management Application (like network management tools)</a:t>
            </a:r>
          </a:p>
          <a:p>
            <a:endParaRPr lang="en-US" dirty="0"/>
          </a:p>
          <a:p>
            <a:endParaRPr dirty="0"/>
          </a:p>
        </p:txBody>
      </p:sp>
      <p:sp>
        <p:nvSpPr>
          <p:cNvPr id="4" name="Slide Number Placeholder 3">
            <a:extLst>
              <a:ext uri="{FF2B5EF4-FFF2-40B4-BE49-F238E27FC236}">
                <a16:creationId xmlns:a16="http://schemas.microsoft.com/office/drawing/2014/main" id="{354BBF1F-4D70-D46B-7F88-E555DB2B8686}"/>
              </a:ext>
            </a:extLst>
          </p:cNvPr>
          <p:cNvSpPr>
            <a:spLocks noGrp="1"/>
          </p:cNvSpPr>
          <p:nvPr>
            <p:ph type="sldNum" sz="quarter" idx="5"/>
          </p:nvPr>
        </p:nvSpPr>
        <p:spPr/>
      </p:sp>
    </p:spTree>
    <p:extLst>
      <p:ext uri="{BB962C8B-B14F-4D97-AF65-F5344CB8AC3E}">
        <p14:creationId xmlns:p14="http://schemas.microsoft.com/office/powerpoint/2010/main" val="3604293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84F54-BBBF-2D4D-1199-B68B57F14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F04E1-A6D1-2CE7-58F1-F26CF925D26F}"/>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541B8238-D9A4-0169-D653-1491512BC658}"/>
              </a:ext>
            </a:extLst>
          </p:cNvPr>
          <p:cNvSpPr>
            <a:spLocks noGrp="1"/>
          </p:cNvSpPr>
          <p:nvPr>
            <p:ph type="body" sz="quarter" idx="3"/>
          </p:nvPr>
        </p:nvSpPr>
        <p:spPr/>
        <p:txBody>
          <a:bodyPr/>
          <a:lstStyle/>
          <a:p>
            <a:endParaRPr lang="en-US" b="0" i="0" u="none" strike="noStrike" dirty="0">
              <a:solidFill>
                <a:srgbClr val="000000"/>
              </a:solidFill>
              <a:effectLst/>
              <a:latin typeface="-webkit-standard"/>
            </a:endParaRPr>
          </a:p>
          <a:p>
            <a:r>
              <a:rPr lang="en-US" b="1" i="0" u="none" strike="noStrike" dirty="0">
                <a:solidFill>
                  <a:srgbClr val="000000"/>
                </a:solidFill>
                <a:effectLst/>
                <a:latin typeface="-webkit-standard"/>
              </a:rPr>
              <a:t>SOAP</a:t>
            </a:r>
            <a:r>
              <a:rPr lang="en-US" b="0" i="0" u="none" strike="noStrike" dirty="0">
                <a:solidFill>
                  <a:srgbClr val="000000"/>
                </a:solidFill>
                <a:effectLst/>
                <a:latin typeface="-webkit-standard"/>
              </a:rPr>
              <a:t>: Simple Object Access Protocol</a:t>
            </a:r>
          </a:p>
          <a:p>
            <a:r>
              <a:rPr lang="en-US" b="1" dirty="0"/>
              <a:t>REST</a:t>
            </a:r>
            <a:r>
              <a:rPr lang="en-US" dirty="0"/>
              <a:t> = Simple, fast, uses JSON, great for modern apps</a:t>
            </a:r>
          </a:p>
          <a:p>
            <a:r>
              <a:rPr lang="en-US" b="1" dirty="0"/>
              <a:t>SOAP over HTTPS</a:t>
            </a:r>
            <a:r>
              <a:rPr lang="en-US" dirty="0"/>
              <a:t> = Strict, secure, uses XML, good for banking/government</a:t>
            </a:r>
          </a:p>
          <a:p>
            <a:r>
              <a:rPr lang="en-US" dirty="0"/>
              <a:t>Both can work over </a:t>
            </a:r>
            <a:r>
              <a:rPr lang="en-US" b="1" dirty="0"/>
              <a:t>HTTPS</a:t>
            </a:r>
            <a:r>
              <a:rPr lang="en-US" dirty="0"/>
              <a:t>, but SOAP has </a:t>
            </a:r>
            <a:r>
              <a:rPr lang="en-US" b="1" dirty="0"/>
              <a:t>extra security layers</a:t>
            </a:r>
            <a:endParaRPr lang="en-US" dirty="0"/>
          </a:p>
          <a:p>
            <a:r>
              <a:rPr lang="en-US" dirty="0"/>
              <a:t>REST is more common today</a:t>
            </a:r>
          </a:p>
          <a:p>
            <a:endParaRPr lang="en-US" b="0" dirty="0"/>
          </a:p>
          <a:p>
            <a:pPr algn="l"/>
            <a:r>
              <a:rPr lang="en-US" b="0" i="0" u="none" strike="noStrike" dirty="0">
                <a:solidFill>
                  <a:srgbClr val="000000"/>
                </a:solidFill>
                <a:effectLst/>
              </a:rPr>
              <a:t>OS = Operations System (like OSS/BSS)</a:t>
            </a:r>
          </a:p>
          <a:p>
            <a:pPr algn="l"/>
            <a:r>
              <a:rPr lang="en-US" b="0" i="0" u="none" strike="noStrike" dirty="0">
                <a:solidFill>
                  <a:srgbClr val="000000"/>
                </a:solidFill>
                <a:effectLst/>
              </a:rPr>
              <a:t>MA = Management Application (like network management tools)</a:t>
            </a:r>
          </a:p>
          <a:p>
            <a:endParaRPr lang="en-US" dirty="0"/>
          </a:p>
          <a:p>
            <a:endParaRPr dirty="0"/>
          </a:p>
        </p:txBody>
      </p:sp>
      <p:sp>
        <p:nvSpPr>
          <p:cNvPr id="4" name="Slide Number Placeholder 3">
            <a:extLst>
              <a:ext uri="{FF2B5EF4-FFF2-40B4-BE49-F238E27FC236}">
                <a16:creationId xmlns:a16="http://schemas.microsoft.com/office/drawing/2014/main" id="{C88E010D-E9A3-7CA6-3667-20967EE0F9DC}"/>
              </a:ext>
            </a:extLst>
          </p:cNvPr>
          <p:cNvSpPr>
            <a:spLocks noGrp="1"/>
          </p:cNvSpPr>
          <p:nvPr>
            <p:ph type="sldNum" sz="quarter" idx="5"/>
          </p:nvPr>
        </p:nvSpPr>
        <p:spPr/>
      </p:sp>
    </p:spTree>
    <p:extLst>
      <p:ext uri="{BB962C8B-B14F-4D97-AF65-F5344CB8AC3E}">
        <p14:creationId xmlns:p14="http://schemas.microsoft.com/office/powerpoint/2010/main" val="3373385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E534F-7D54-FF14-D817-5B241A528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E1E5C7-A954-D6C9-12C9-E823D2B83D5D}"/>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4ECD641C-0E81-32A5-A980-AFD30F80A426}"/>
              </a:ext>
            </a:extLst>
          </p:cNvPr>
          <p:cNvSpPr>
            <a:spLocks noGrp="1"/>
          </p:cNvSpPr>
          <p:nvPr>
            <p:ph type="body" sz="quarter" idx="3"/>
          </p:nvPr>
        </p:nvSpPr>
        <p:spPr/>
        <p:txBody>
          <a:bodyPr/>
          <a:lstStyle/>
          <a:p>
            <a:endParaRPr lang="en-US" b="0" i="0" u="none" strike="noStrike" dirty="0">
              <a:solidFill>
                <a:srgbClr val="000000"/>
              </a:solidFill>
              <a:effectLst/>
              <a:latin typeface="-webkit-standard"/>
            </a:endParaRPr>
          </a:p>
          <a:p>
            <a:r>
              <a:rPr lang="en-US" b="1" i="0" u="none" strike="noStrike" dirty="0">
                <a:solidFill>
                  <a:srgbClr val="000000"/>
                </a:solidFill>
                <a:effectLst/>
                <a:latin typeface="-webkit-standard"/>
              </a:rPr>
              <a:t>SOAP</a:t>
            </a:r>
            <a:r>
              <a:rPr lang="en-US" b="0" i="0" u="none" strike="noStrike" dirty="0">
                <a:solidFill>
                  <a:srgbClr val="000000"/>
                </a:solidFill>
                <a:effectLst/>
                <a:latin typeface="-webkit-standard"/>
              </a:rPr>
              <a:t>: Simple Object Access Protocol</a:t>
            </a:r>
          </a:p>
          <a:p>
            <a:r>
              <a:rPr lang="en-US" b="1" dirty="0"/>
              <a:t>REST</a:t>
            </a:r>
            <a:r>
              <a:rPr lang="en-US" dirty="0"/>
              <a:t> = Simple, fast, uses JSON, great for modern apps</a:t>
            </a:r>
          </a:p>
          <a:p>
            <a:r>
              <a:rPr lang="en-US" b="1" dirty="0"/>
              <a:t>SOAP over HTTPS</a:t>
            </a:r>
            <a:r>
              <a:rPr lang="en-US" dirty="0"/>
              <a:t> = Strict, secure, uses XML, good for banking/government</a:t>
            </a:r>
          </a:p>
          <a:p>
            <a:r>
              <a:rPr lang="en-US" dirty="0"/>
              <a:t>Both can work over </a:t>
            </a:r>
            <a:r>
              <a:rPr lang="en-US" b="1" dirty="0"/>
              <a:t>HTTPS</a:t>
            </a:r>
            <a:r>
              <a:rPr lang="en-US" dirty="0"/>
              <a:t>, but SOAP has </a:t>
            </a:r>
            <a:r>
              <a:rPr lang="en-US" b="1" dirty="0"/>
              <a:t>extra security layers</a:t>
            </a:r>
            <a:endParaRPr lang="en-US" dirty="0"/>
          </a:p>
          <a:p>
            <a:r>
              <a:rPr lang="en-US" dirty="0"/>
              <a:t>REST is more common today</a:t>
            </a:r>
          </a:p>
          <a:p>
            <a:endParaRPr lang="en-US" b="0" dirty="0"/>
          </a:p>
          <a:p>
            <a:pPr algn="l"/>
            <a:r>
              <a:rPr lang="en-US" b="0" i="0" u="none" strike="noStrike" dirty="0">
                <a:solidFill>
                  <a:srgbClr val="000000"/>
                </a:solidFill>
                <a:effectLst/>
              </a:rPr>
              <a:t>OS = Operations System (like OSS/BSS)</a:t>
            </a:r>
          </a:p>
          <a:p>
            <a:pPr algn="l"/>
            <a:r>
              <a:rPr lang="en-US" b="0" i="0" u="none" strike="noStrike" dirty="0">
                <a:solidFill>
                  <a:srgbClr val="000000"/>
                </a:solidFill>
                <a:effectLst/>
              </a:rPr>
              <a:t>MA = Management Application (like network management tools)</a:t>
            </a:r>
          </a:p>
          <a:p>
            <a:endParaRPr lang="en-US" dirty="0"/>
          </a:p>
          <a:p>
            <a:endParaRPr dirty="0"/>
          </a:p>
        </p:txBody>
      </p:sp>
      <p:sp>
        <p:nvSpPr>
          <p:cNvPr id="4" name="Slide Number Placeholder 3">
            <a:extLst>
              <a:ext uri="{FF2B5EF4-FFF2-40B4-BE49-F238E27FC236}">
                <a16:creationId xmlns:a16="http://schemas.microsoft.com/office/drawing/2014/main" id="{1590F66A-1851-47A4-0E52-FAD976A5F9A4}"/>
              </a:ext>
            </a:extLst>
          </p:cNvPr>
          <p:cNvSpPr>
            <a:spLocks noGrp="1"/>
          </p:cNvSpPr>
          <p:nvPr>
            <p:ph type="sldNum" sz="quarter" idx="5"/>
          </p:nvPr>
        </p:nvSpPr>
        <p:spPr/>
      </p:sp>
    </p:spTree>
    <p:extLst>
      <p:ext uri="{BB962C8B-B14F-4D97-AF65-F5344CB8AC3E}">
        <p14:creationId xmlns:p14="http://schemas.microsoft.com/office/powerpoint/2010/main" val="41845233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EC370-24B5-7E61-4D52-A9BAAA204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AB4D7D-51C0-49FF-8FD1-1B30B0B97D9E}"/>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B17741E0-98B9-9C86-D1BA-A6A63B2941E1}"/>
              </a:ext>
            </a:extLst>
          </p:cNvPr>
          <p:cNvSpPr>
            <a:spLocks noGrp="1"/>
          </p:cNvSpPr>
          <p:nvPr>
            <p:ph type="body" sz="quarter" idx="3"/>
          </p:nvPr>
        </p:nvSpPr>
        <p:spPr/>
        <p:txBody>
          <a:bodyPr/>
          <a:lstStyle/>
          <a:p>
            <a:endParaRPr lang="en-US" b="0" i="0" u="none" strike="noStrike" dirty="0">
              <a:solidFill>
                <a:srgbClr val="000000"/>
              </a:solidFill>
              <a:effectLst/>
              <a:latin typeface="-webkit-standard"/>
            </a:endParaRPr>
          </a:p>
          <a:p>
            <a:r>
              <a:rPr lang="en-US" b="1" i="0" u="none" strike="noStrike" dirty="0">
                <a:solidFill>
                  <a:srgbClr val="000000"/>
                </a:solidFill>
                <a:effectLst/>
                <a:latin typeface="-webkit-standard"/>
              </a:rPr>
              <a:t>SOAP</a:t>
            </a:r>
            <a:r>
              <a:rPr lang="en-US" b="0" i="0" u="none" strike="noStrike" dirty="0">
                <a:solidFill>
                  <a:srgbClr val="000000"/>
                </a:solidFill>
                <a:effectLst/>
                <a:latin typeface="-webkit-standard"/>
              </a:rPr>
              <a:t>: Simple Object Access Protocol</a:t>
            </a:r>
          </a:p>
          <a:p>
            <a:r>
              <a:rPr lang="en-US" b="1" dirty="0"/>
              <a:t>REST</a:t>
            </a:r>
            <a:r>
              <a:rPr lang="en-US" dirty="0"/>
              <a:t> = Simple, fast, uses JSON, great for modern apps</a:t>
            </a:r>
          </a:p>
          <a:p>
            <a:r>
              <a:rPr lang="en-US" b="1" dirty="0"/>
              <a:t>SOAP over HTTPS</a:t>
            </a:r>
            <a:r>
              <a:rPr lang="en-US" dirty="0"/>
              <a:t> = Strict, secure, uses XML, good for banking/government</a:t>
            </a:r>
          </a:p>
          <a:p>
            <a:r>
              <a:rPr lang="en-US" dirty="0"/>
              <a:t>Both can work over </a:t>
            </a:r>
            <a:r>
              <a:rPr lang="en-US" b="1" dirty="0"/>
              <a:t>HTTPS</a:t>
            </a:r>
            <a:r>
              <a:rPr lang="en-US" dirty="0"/>
              <a:t>, but SOAP has </a:t>
            </a:r>
            <a:r>
              <a:rPr lang="en-US" b="1" dirty="0"/>
              <a:t>extra security layers</a:t>
            </a:r>
            <a:endParaRPr lang="en-US" dirty="0"/>
          </a:p>
          <a:p>
            <a:r>
              <a:rPr lang="en-US" dirty="0"/>
              <a:t>REST is more common today</a:t>
            </a:r>
          </a:p>
          <a:p>
            <a:endParaRPr lang="en-US" b="0" dirty="0"/>
          </a:p>
          <a:p>
            <a:pPr algn="l"/>
            <a:r>
              <a:rPr lang="en-US" b="0" i="0" u="none" strike="noStrike" dirty="0">
                <a:solidFill>
                  <a:srgbClr val="000000"/>
                </a:solidFill>
                <a:effectLst/>
              </a:rPr>
              <a:t>OS = Operations System (like OSS/BSS)</a:t>
            </a:r>
          </a:p>
          <a:p>
            <a:pPr algn="l"/>
            <a:r>
              <a:rPr lang="en-US" b="0" i="0" u="none" strike="noStrike" dirty="0">
                <a:solidFill>
                  <a:srgbClr val="000000"/>
                </a:solidFill>
                <a:effectLst/>
              </a:rPr>
              <a:t>MA = Management Application (like network management tools)</a:t>
            </a:r>
          </a:p>
          <a:p>
            <a:endParaRPr lang="en-US" dirty="0"/>
          </a:p>
          <a:p>
            <a:endParaRPr dirty="0"/>
          </a:p>
        </p:txBody>
      </p:sp>
      <p:sp>
        <p:nvSpPr>
          <p:cNvPr id="4" name="Slide Number Placeholder 3">
            <a:extLst>
              <a:ext uri="{FF2B5EF4-FFF2-40B4-BE49-F238E27FC236}">
                <a16:creationId xmlns:a16="http://schemas.microsoft.com/office/drawing/2014/main" id="{E2AD30CC-F5EC-9FBC-43E3-25D6EC43369C}"/>
              </a:ext>
            </a:extLst>
          </p:cNvPr>
          <p:cNvSpPr>
            <a:spLocks noGrp="1"/>
          </p:cNvSpPr>
          <p:nvPr>
            <p:ph type="sldNum" sz="quarter" idx="5"/>
          </p:nvPr>
        </p:nvSpPr>
        <p:spPr/>
      </p:sp>
    </p:spTree>
    <p:extLst>
      <p:ext uri="{BB962C8B-B14F-4D97-AF65-F5344CB8AC3E}">
        <p14:creationId xmlns:p14="http://schemas.microsoft.com/office/powerpoint/2010/main" val="24104985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290D6-9BA9-9B73-9863-6F7E3A98C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4C9CB-A167-1F78-9A76-88B85454D370}"/>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D65C97C7-766B-C5F7-6960-4F564D17F0D0}"/>
              </a:ext>
            </a:extLst>
          </p:cNvPr>
          <p:cNvSpPr>
            <a:spLocks noGrp="1"/>
          </p:cNvSpPr>
          <p:nvPr>
            <p:ph type="body" sz="quarter" idx="3"/>
          </p:nvPr>
        </p:nvSpPr>
        <p:spPr/>
        <p:txBody>
          <a:bodyPr/>
          <a:lstStyle/>
          <a:p>
            <a:pPr algn="l"/>
            <a:r>
              <a:rPr lang="en-US" b="0" i="0" u="none" strike="noStrike" dirty="0">
                <a:solidFill>
                  <a:srgbClr val="000000"/>
                </a:solidFill>
                <a:effectLst/>
              </a:rPr>
              <a:t>YAML is popular because:</a:t>
            </a:r>
          </a:p>
          <a:p>
            <a:pPr algn="l"/>
            <a:r>
              <a:rPr lang="en-US" b="0" i="0" u="none" strike="noStrike" dirty="0">
                <a:solidFill>
                  <a:srgbClr val="000000"/>
                </a:solidFill>
                <a:effectLst/>
              </a:rPr>
              <a:t>✔ Easy to read (looks like simple text)</a:t>
            </a:r>
            <a:br>
              <a:rPr lang="en-US" b="0" i="0" u="none" strike="noStrike" dirty="0">
                <a:solidFill>
                  <a:srgbClr val="000000"/>
                </a:solidFill>
                <a:effectLst/>
              </a:rPr>
            </a:br>
            <a:r>
              <a:rPr lang="en-US" b="0" i="0" u="none" strike="noStrike" dirty="0">
                <a:solidFill>
                  <a:srgbClr val="000000"/>
                </a:solidFill>
                <a:effectLst/>
              </a:rPr>
              <a:t>✔ Uses </a:t>
            </a:r>
            <a:r>
              <a:rPr lang="en-US" b="1" i="0" u="none" strike="noStrike" dirty="0">
                <a:solidFill>
                  <a:srgbClr val="000000"/>
                </a:solidFill>
                <a:effectLst/>
              </a:rPr>
              <a:t>indentation</a:t>
            </a:r>
            <a:r>
              <a:rPr lang="en-US" b="0" i="0" u="none" strike="noStrike" dirty="0">
                <a:solidFill>
                  <a:srgbClr val="000000"/>
                </a:solidFill>
                <a:effectLst/>
              </a:rPr>
              <a:t>, not curly braces {} or brackets []</a:t>
            </a:r>
            <a:br>
              <a:rPr lang="en-US" b="0" i="0" u="none" strike="noStrike" dirty="0">
                <a:solidFill>
                  <a:srgbClr val="000000"/>
                </a:solidFill>
                <a:effectLst/>
              </a:rPr>
            </a:br>
            <a:r>
              <a:rPr lang="en-US" b="0" i="0" u="none" strike="noStrike" dirty="0">
                <a:solidFill>
                  <a:srgbClr val="000000"/>
                </a:solidFill>
                <a:effectLst/>
              </a:rPr>
              <a:t>✔ Supports complex data structures</a:t>
            </a:r>
            <a:br>
              <a:rPr lang="en-US" b="0" i="0" u="none" strike="noStrike" dirty="0">
                <a:solidFill>
                  <a:srgbClr val="000000"/>
                </a:solidFill>
                <a:effectLst/>
              </a:rPr>
            </a:br>
            <a:r>
              <a:rPr lang="en-US" b="0" i="0" u="none" strike="noStrike" dirty="0">
                <a:solidFill>
                  <a:srgbClr val="000000"/>
                </a:solidFill>
                <a:effectLst/>
              </a:rPr>
              <a:t>✔ Used for configuration files</a:t>
            </a:r>
            <a:br>
              <a:rPr lang="en-US" b="0" i="0" u="none" strike="noStrike" dirty="0">
                <a:solidFill>
                  <a:srgbClr val="000000"/>
                </a:solidFill>
                <a:effectLst/>
              </a:rPr>
            </a:br>
            <a:r>
              <a:rPr lang="en-US" b="0" i="0" u="none" strike="noStrike" dirty="0">
                <a:solidFill>
                  <a:srgbClr val="000000"/>
                </a:solidFill>
                <a:effectLst/>
              </a:rPr>
              <a:t>✔ Used in DevOps, cloud, APIs, and more</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r>
              <a:rPr lang="en-US" dirty="0"/>
              <a:t>KVM: </a:t>
            </a:r>
            <a:r>
              <a:rPr lang="en-US" b="0" i="1" u="none" strike="noStrike" dirty="0">
                <a:solidFill>
                  <a:srgbClr val="000000"/>
                </a:solidFill>
                <a:effectLst/>
              </a:rPr>
              <a:t>Kernel-based Virtual Machine</a:t>
            </a:r>
            <a:r>
              <a:rPr lang="en-US" b="0" i="0" u="none" strike="noStrike" dirty="0">
                <a:solidFill>
                  <a:srgbClr val="000000"/>
                </a:solidFill>
                <a:effectLst/>
                <a:latin typeface="-webkit-standard"/>
              </a:rPr>
              <a:t>.</a:t>
            </a:r>
            <a:endParaRPr dirty="0"/>
          </a:p>
        </p:txBody>
      </p:sp>
      <p:sp>
        <p:nvSpPr>
          <p:cNvPr id="4" name="Slide Number Placeholder 3">
            <a:extLst>
              <a:ext uri="{FF2B5EF4-FFF2-40B4-BE49-F238E27FC236}">
                <a16:creationId xmlns:a16="http://schemas.microsoft.com/office/drawing/2014/main" id="{998E7AC6-7232-0807-62E2-FD4165C2089A}"/>
              </a:ext>
            </a:extLst>
          </p:cNvPr>
          <p:cNvSpPr>
            <a:spLocks noGrp="1"/>
          </p:cNvSpPr>
          <p:nvPr>
            <p:ph type="sldNum" sz="quarter" idx="5"/>
          </p:nvPr>
        </p:nvSpPr>
        <p:spPr/>
      </p:sp>
    </p:spTree>
    <p:extLst>
      <p:ext uri="{BB962C8B-B14F-4D97-AF65-F5344CB8AC3E}">
        <p14:creationId xmlns:p14="http://schemas.microsoft.com/office/powerpoint/2010/main" val="34999846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A1831-1D4A-A1C0-9C53-AF4418A4A3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937B7-5456-13A0-754C-D3A2A54B1A1C}"/>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77E08F32-9326-BA50-F226-39B75A45F56A}"/>
              </a:ext>
            </a:extLst>
          </p:cNvPr>
          <p:cNvSpPr>
            <a:spLocks noGrp="1"/>
          </p:cNvSpPr>
          <p:nvPr>
            <p:ph type="body" sz="quarter" idx="3"/>
          </p:nvPr>
        </p:nvSpPr>
        <p:spPr/>
        <p:txBody>
          <a:bodyPr/>
          <a:lstStyle/>
          <a:p>
            <a:pPr algn="l"/>
            <a:r>
              <a:rPr lang="en-US" b="0" i="0" u="none" strike="noStrike" dirty="0">
                <a:solidFill>
                  <a:srgbClr val="000000"/>
                </a:solidFill>
                <a:effectLst/>
              </a:rPr>
              <a:t>YAML is popular because:</a:t>
            </a:r>
          </a:p>
          <a:p>
            <a:pPr algn="l"/>
            <a:r>
              <a:rPr lang="en-US" b="0" i="0" u="none" strike="noStrike" dirty="0">
                <a:solidFill>
                  <a:srgbClr val="000000"/>
                </a:solidFill>
                <a:effectLst/>
              </a:rPr>
              <a:t>✔ Easy to read (looks like simple text)</a:t>
            </a:r>
            <a:br>
              <a:rPr lang="en-US" b="0" i="0" u="none" strike="noStrike" dirty="0">
                <a:solidFill>
                  <a:srgbClr val="000000"/>
                </a:solidFill>
                <a:effectLst/>
              </a:rPr>
            </a:br>
            <a:r>
              <a:rPr lang="en-US" b="0" i="0" u="none" strike="noStrike" dirty="0">
                <a:solidFill>
                  <a:srgbClr val="000000"/>
                </a:solidFill>
                <a:effectLst/>
              </a:rPr>
              <a:t>✔ Uses </a:t>
            </a:r>
            <a:r>
              <a:rPr lang="en-US" b="1" i="0" u="none" strike="noStrike" dirty="0">
                <a:solidFill>
                  <a:srgbClr val="000000"/>
                </a:solidFill>
                <a:effectLst/>
              </a:rPr>
              <a:t>indentation</a:t>
            </a:r>
            <a:r>
              <a:rPr lang="en-US" b="0" i="0" u="none" strike="noStrike" dirty="0">
                <a:solidFill>
                  <a:srgbClr val="000000"/>
                </a:solidFill>
                <a:effectLst/>
              </a:rPr>
              <a:t>, not curly braces {} or brackets []</a:t>
            </a:r>
            <a:br>
              <a:rPr lang="en-US" b="0" i="0" u="none" strike="noStrike" dirty="0">
                <a:solidFill>
                  <a:srgbClr val="000000"/>
                </a:solidFill>
                <a:effectLst/>
              </a:rPr>
            </a:br>
            <a:r>
              <a:rPr lang="en-US" b="0" i="0" u="none" strike="noStrike" dirty="0">
                <a:solidFill>
                  <a:srgbClr val="000000"/>
                </a:solidFill>
                <a:effectLst/>
              </a:rPr>
              <a:t>✔ Supports complex data structures</a:t>
            </a:r>
            <a:br>
              <a:rPr lang="en-US" b="0" i="0" u="none" strike="noStrike" dirty="0">
                <a:solidFill>
                  <a:srgbClr val="000000"/>
                </a:solidFill>
                <a:effectLst/>
              </a:rPr>
            </a:br>
            <a:r>
              <a:rPr lang="en-US" b="0" i="0" u="none" strike="noStrike" dirty="0">
                <a:solidFill>
                  <a:srgbClr val="000000"/>
                </a:solidFill>
                <a:effectLst/>
              </a:rPr>
              <a:t>✔ Used for configuration files</a:t>
            </a:r>
            <a:br>
              <a:rPr lang="en-US" b="0" i="0" u="none" strike="noStrike" dirty="0">
                <a:solidFill>
                  <a:srgbClr val="000000"/>
                </a:solidFill>
                <a:effectLst/>
              </a:rPr>
            </a:br>
            <a:r>
              <a:rPr lang="en-US" b="0" i="0" u="none" strike="noStrike" dirty="0">
                <a:solidFill>
                  <a:srgbClr val="000000"/>
                </a:solidFill>
                <a:effectLst/>
              </a:rPr>
              <a:t>✔ Used in DevOps, cloud, APIs, and more</a:t>
            </a:r>
          </a:p>
          <a:p>
            <a:endParaRPr dirty="0"/>
          </a:p>
        </p:txBody>
      </p:sp>
      <p:sp>
        <p:nvSpPr>
          <p:cNvPr id="4" name="Slide Number Placeholder 3">
            <a:extLst>
              <a:ext uri="{FF2B5EF4-FFF2-40B4-BE49-F238E27FC236}">
                <a16:creationId xmlns:a16="http://schemas.microsoft.com/office/drawing/2014/main" id="{683E0136-6641-AD72-328B-B95ED801BE6A}"/>
              </a:ext>
            </a:extLst>
          </p:cNvPr>
          <p:cNvSpPr>
            <a:spLocks noGrp="1"/>
          </p:cNvSpPr>
          <p:nvPr>
            <p:ph type="sldNum" sz="quarter" idx="5"/>
          </p:nvPr>
        </p:nvSpPr>
        <p:spPr/>
      </p:sp>
    </p:spTree>
    <p:extLst>
      <p:ext uri="{BB962C8B-B14F-4D97-AF65-F5344CB8AC3E}">
        <p14:creationId xmlns:p14="http://schemas.microsoft.com/office/powerpoint/2010/main" val="4712633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01DEB-6EBB-0602-FCD5-6643230D8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A077BE-11E7-82E4-1105-EAB6FC353AF5}"/>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0CD247A4-2319-0867-51CB-BD2AA04695A9}"/>
              </a:ext>
            </a:extLst>
          </p:cNvPr>
          <p:cNvSpPr>
            <a:spLocks noGrp="1"/>
          </p:cNvSpPr>
          <p:nvPr>
            <p:ph type="body" sz="quarter" idx="3"/>
          </p:nvPr>
        </p:nvSpPr>
        <p:spPr/>
        <p:txBody>
          <a:bodyPr/>
          <a:lstStyle/>
          <a:p>
            <a:pPr algn="l"/>
            <a:r>
              <a:rPr lang="en-US" b="0" i="0" u="none" strike="noStrike" dirty="0">
                <a:solidFill>
                  <a:srgbClr val="000000"/>
                </a:solidFill>
                <a:effectLst/>
              </a:rPr>
              <a:t>YAML is popular because:</a:t>
            </a:r>
          </a:p>
          <a:p>
            <a:pPr algn="l"/>
            <a:r>
              <a:rPr lang="en-US" b="0" i="0" u="none" strike="noStrike" dirty="0">
                <a:solidFill>
                  <a:srgbClr val="000000"/>
                </a:solidFill>
                <a:effectLst/>
              </a:rPr>
              <a:t>✔ Easy to read (looks like simple text)</a:t>
            </a:r>
            <a:br>
              <a:rPr lang="en-US" b="0" i="0" u="none" strike="noStrike" dirty="0">
                <a:solidFill>
                  <a:srgbClr val="000000"/>
                </a:solidFill>
                <a:effectLst/>
              </a:rPr>
            </a:br>
            <a:r>
              <a:rPr lang="en-US" b="0" i="0" u="none" strike="noStrike" dirty="0">
                <a:solidFill>
                  <a:srgbClr val="000000"/>
                </a:solidFill>
                <a:effectLst/>
              </a:rPr>
              <a:t>✔ Uses </a:t>
            </a:r>
            <a:r>
              <a:rPr lang="en-US" b="1" i="0" u="none" strike="noStrike" dirty="0">
                <a:solidFill>
                  <a:srgbClr val="000000"/>
                </a:solidFill>
                <a:effectLst/>
              </a:rPr>
              <a:t>indentation</a:t>
            </a:r>
            <a:r>
              <a:rPr lang="en-US" b="0" i="0" u="none" strike="noStrike" dirty="0">
                <a:solidFill>
                  <a:srgbClr val="000000"/>
                </a:solidFill>
                <a:effectLst/>
              </a:rPr>
              <a:t>, not curly braces {} or brackets []</a:t>
            </a:r>
            <a:br>
              <a:rPr lang="en-US" b="0" i="0" u="none" strike="noStrike" dirty="0">
                <a:solidFill>
                  <a:srgbClr val="000000"/>
                </a:solidFill>
                <a:effectLst/>
              </a:rPr>
            </a:br>
            <a:r>
              <a:rPr lang="en-US" b="0" i="0" u="none" strike="noStrike" dirty="0">
                <a:solidFill>
                  <a:srgbClr val="000000"/>
                </a:solidFill>
                <a:effectLst/>
              </a:rPr>
              <a:t>✔ Supports complex data structures</a:t>
            </a:r>
            <a:br>
              <a:rPr lang="en-US" b="0" i="0" u="none" strike="noStrike" dirty="0">
                <a:solidFill>
                  <a:srgbClr val="000000"/>
                </a:solidFill>
                <a:effectLst/>
              </a:rPr>
            </a:br>
            <a:r>
              <a:rPr lang="en-US" b="0" i="0" u="none" strike="noStrike" dirty="0">
                <a:solidFill>
                  <a:srgbClr val="000000"/>
                </a:solidFill>
                <a:effectLst/>
              </a:rPr>
              <a:t>✔ Used for configuration files</a:t>
            </a:r>
            <a:br>
              <a:rPr lang="en-US" b="0" i="0" u="none" strike="noStrike" dirty="0">
                <a:solidFill>
                  <a:srgbClr val="000000"/>
                </a:solidFill>
                <a:effectLst/>
              </a:rPr>
            </a:br>
            <a:r>
              <a:rPr lang="en-US" b="0" i="0" u="none" strike="noStrike" dirty="0">
                <a:solidFill>
                  <a:srgbClr val="000000"/>
                </a:solidFill>
                <a:effectLst/>
              </a:rPr>
              <a:t>✔ Used in DevOps, cloud, APIs, and more</a:t>
            </a:r>
          </a:p>
          <a:p>
            <a:endParaRPr dirty="0"/>
          </a:p>
        </p:txBody>
      </p:sp>
      <p:sp>
        <p:nvSpPr>
          <p:cNvPr id="4" name="Slide Number Placeholder 3">
            <a:extLst>
              <a:ext uri="{FF2B5EF4-FFF2-40B4-BE49-F238E27FC236}">
                <a16:creationId xmlns:a16="http://schemas.microsoft.com/office/drawing/2014/main" id="{C4F52E97-E72F-7DE6-ED47-12BDB3AA0F76}"/>
              </a:ext>
            </a:extLst>
          </p:cNvPr>
          <p:cNvSpPr>
            <a:spLocks noGrp="1"/>
          </p:cNvSpPr>
          <p:nvPr>
            <p:ph type="sldNum" sz="quarter" idx="5"/>
          </p:nvPr>
        </p:nvSpPr>
        <p:spPr/>
      </p:sp>
    </p:spTree>
    <p:extLst>
      <p:ext uri="{BB962C8B-B14F-4D97-AF65-F5344CB8AC3E}">
        <p14:creationId xmlns:p14="http://schemas.microsoft.com/office/powerpoint/2010/main" val="17768533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0F057-8015-1109-B5D9-75C8C19E2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4FB4E-5BEE-3F87-4DAB-8F25BD56912B}"/>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8F47A332-950B-5A0B-B780-3966BAB80F25}"/>
              </a:ext>
            </a:extLst>
          </p:cNvPr>
          <p:cNvSpPr>
            <a:spLocks noGrp="1"/>
          </p:cNvSpPr>
          <p:nvPr>
            <p:ph type="body" sz="quarter" idx="3"/>
          </p:nvPr>
        </p:nvSpPr>
        <p:spPr/>
        <p:txBody>
          <a:bodyPr/>
          <a:lstStyle/>
          <a:p>
            <a:pPr algn="l"/>
            <a:r>
              <a:rPr lang="en-US" b="0" i="0" u="none" strike="noStrike" dirty="0">
                <a:solidFill>
                  <a:srgbClr val="000000"/>
                </a:solidFill>
                <a:effectLst/>
              </a:rPr>
              <a:t>YAML is popular because:</a:t>
            </a:r>
          </a:p>
          <a:p>
            <a:pPr algn="l"/>
            <a:r>
              <a:rPr lang="en-US" b="0" i="0" u="none" strike="noStrike" dirty="0">
                <a:solidFill>
                  <a:srgbClr val="000000"/>
                </a:solidFill>
                <a:effectLst/>
              </a:rPr>
              <a:t>✔ Easy to read (looks like simple text)</a:t>
            </a:r>
            <a:br>
              <a:rPr lang="en-US" b="0" i="0" u="none" strike="noStrike" dirty="0">
                <a:solidFill>
                  <a:srgbClr val="000000"/>
                </a:solidFill>
                <a:effectLst/>
              </a:rPr>
            </a:br>
            <a:r>
              <a:rPr lang="en-US" b="0" i="0" u="none" strike="noStrike" dirty="0">
                <a:solidFill>
                  <a:srgbClr val="000000"/>
                </a:solidFill>
                <a:effectLst/>
              </a:rPr>
              <a:t>✔ Uses </a:t>
            </a:r>
            <a:r>
              <a:rPr lang="en-US" b="1" i="0" u="none" strike="noStrike" dirty="0">
                <a:solidFill>
                  <a:srgbClr val="000000"/>
                </a:solidFill>
                <a:effectLst/>
              </a:rPr>
              <a:t>indentation</a:t>
            </a:r>
            <a:r>
              <a:rPr lang="en-US" b="0" i="0" u="none" strike="noStrike" dirty="0">
                <a:solidFill>
                  <a:srgbClr val="000000"/>
                </a:solidFill>
                <a:effectLst/>
              </a:rPr>
              <a:t>, not curly braces {} or brackets []</a:t>
            </a:r>
            <a:br>
              <a:rPr lang="en-US" b="0" i="0" u="none" strike="noStrike" dirty="0">
                <a:solidFill>
                  <a:srgbClr val="000000"/>
                </a:solidFill>
                <a:effectLst/>
              </a:rPr>
            </a:br>
            <a:r>
              <a:rPr lang="en-US" b="0" i="0" u="none" strike="noStrike" dirty="0">
                <a:solidFill>
                  <a:srgbClr val="000000"/>
                </a:solidFill>
                <a:effectLst/>
              </a:rPr>
              <a:t>✔ Supports complex data structures</a:t>
            </a:r>
            <a:br>
              <a:rPr lang="en-US" b="0" i="0" u="none" strike="noStrike" dirty="0">
                <a:solidFill>
                  <a:srgbClr val="000000"/>
                </a:solidFill>
                <a:effectLst/>
              </a:rPr>
            </a:br>
            <a:r>
              <a:rPr lang="en-US" b="0" i="0" u="none" strike="noStrike" dirty="0">
                <a:solidFill>
                  <a:srgbClr val="000000"/>
                </a:solidFill>
                <a:effectLst/>
              </a:rPr>
              <a:t>✔ Used for configuration files</a:t>
            </a:r>
            <a:br>
              <a:rPr lang="en-US" b="0" i="0" u="none" strike="noStrike" dirty="0">
                <a:solidFill>
                  <a:srgbClr val="000000"/>
                </a:solidFill>
                <a:effectLst/>
              </a:rPr>
            </a:br>
            <a:r>
              <a:rPr lang="en-US" b="0" i="0" u="none" strike="noStrike" dirty="0">
                <a:solidFill>
                  <a:srgbClr val="000000"/>
                </a:solidFill>
                <a:effectLst/>
              </a:rPr>
              <a:t>✔ Used in DevOps, cloud, APIs, and more</a:t>
            </a:r>
          </a:p>
          <a:p>
            <a:endParaRPr dirty="0"/>
          </a:p>
        </p:txBody>
      </p:sp>
      <p:sp>
        <p:nvSpPr>
          <p:cNvPr id="4" name="Slide Number Placeholder 3">
            <a:extLst>
              <a:ext uri="{FF2B5EF4-FFF2-40B4-BE49-F238E27FC236}">
                <a16:creationId xmlns:a16="http://schemas.microsoft.com/office/drawing/2014/main" id="{9C0FAC4B-9932-66B8-E9E8-B1DBC5D72224}"/>
              </a:ext>
            </a:extLst>
          </p:cNvPr>
          <p:cNvSpPr>
            <a:spLocks noGrp="1"/>
          </p:cNvSpPr>
          <p:nvPr>
            <p:ph type="sldNum" sz="quarter" idx="5"/>
          </p:nvPr>
        </p:nvSpPr>
        <p:spPr/>
      </p:sp>
    </p:spTree>
    <p:extLst>
      <p:ext uri="{BB962C8B-B14F-4D97-AF65-F5344CB8AC3E}">
        <p14:creationId xmlns:p14="http://schemas.microsoft.com/office/powerpoint/2010/main" val="34879473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83525-14C6-CAC8-13D0-4E6289664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7EB02-26AA-6176-0D27-51AE450F231A}"/>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A0813E3F-BA47-3E36-CB29-79CC18EBDC78}"/>
              </a:ext>
            </a:extLst>
          </p:cNvPr>
          <p:cNvSpPr>
            <a:spLocks noGrp="1"/>
          </p:cNvSpPr>
          <p:nvPr>
            <p:ph type="body" sz="quarter" idx="3"/>
          </p:nvPr>
        </p:nvSpPr>
        <p:spPr/>
        <p:txBody>
          <a:bodyPr/>
          <a:lstStyle/>
          <a:p>
            <a:pPr algn="l"/>
            <a:r>
              <a:rPr lang="en-US" b="0" i="0" u="none" strike="noStrike" dirty="0" err="1">
                <a:solidFill>
                  <a:srgbClr val="000000"/>
                </a:solidFill>
                <a:effectLst/>
                <a:latin typeface="-webkit-standard"/>
              </a:rPr>
              <a:t>gRPC</a:t>
            </a:r>
            <a:r>
              <a:rPr lang="en-US" b="0" i="0" u="none" strike="noStrike" dirty="0">
                <a:solidFill>
                  <a:srgbClr val="000000"/>
                </a:solidFill>
                <a:effectLst/>
                <a:latin typeface="-webkit-standard"/>
              </a:rPr>
              <a:t> = Remote Procedure Call using HTTP/2 + Protocol Buffers</a:t>
            </a:r>
          </a:p>
          <a:p>
            <a:pPr algn="l"/>
            <a:r>
              <a:rPr lang="en-US" b="0" i="0" u="none" strike="noStrike" dirty="0">
                <a:solidFill>
                  <a:srgbClr val="000000"/>
                </a:solidFill>
                <a:effectLst/>
                <a:latin typeface="-webkit-standard"/>
              </a:rPr>
              <a:t>✔ Very fast (much faster than REST APIs)</a:t>
            </a:r>
            <a:br>
              <a:rPr lang="en-US" dirty="0"/>
            </a:br>
            <a:r>
              <a:rPr lang="en-US" b="0" i="0" u="none" strike="noStrike" dirty="0">
                <a:solidFill>
                  <a:srgbClr val="000000"/>
                </a:solidFill>
                <a:effectLst/>
                <a:latin typeface="-webkit-standard"/>
              </a:rPr>
              <a:t>✔ Uses </a:t>
            </a:r>
            <a:r>
              <a:rPr lang="en-US" b="1" i="0" u="none" strike="noStrike" dirty="0">
                <a:solidFill>
                  <a:srgbClr val="000000"/>
                </a:solidFill>
                <a:effectLst/>
              </a:rPr>
              <a:t>binary data</a:t>
            </a:r>
            <a:r>
              <a:rPr lang="en-US" b="0" i="0" u="none" strike="noStrike" dirty="0">
                <a:solidFill>
                  <a:srgbClr val="000000"/>
                </a:solidFill>
                <a:effectLst/>
                <a:latin typeface="-webkit-standard"/>
              </a:rPr>
              <a:t>, not heavy JSON</a:t>
            </a:r>
            <a:br>
              <a:rPr lang="en-US" dirty="0"/>
            </a:br>
            <a:r>
              <a:rPr lang="en-US" b="0" i="0" u="none" strike="noStrike" dirty="0">
                <a:solidFill>
                  <a:srgbClr val="000000"/>
                </a:solidFill>
                <a:effectLst/>
                <a:latin typeface="-webkit-standard"/>
              </a:rPr>
              <a:t>✔ Supports </a:t>
            </a:r>
            <a:r>
              <a:rPr lang="en-US" b="1" i="0" u="none" strike="noStrike" dirty="0">
                <a:solidFill>
                  <a:srgbClr val="000000"/>
                </a:solidFill>
                <a:effectLst/>
              </a:rPr>
              <a:t>streaming</a:t>
            </a:r>
            <a:r>
              <a:rPr lang="en-US" b="0" i="0" u="none" strike="noStrike" dirty="0">
                <a:solidFill>
                  <a:srgbClr val="000000"/>
                </a:solidFill>
                <a:effectLst/>
                <a:latin typeface="-webkit-standard"/>
              </a:rPr>
              <a:t> (real-time data)</a:t>
            </a:r>
            <a:br>
              <a:rPr lang="en-US" dirty="0"/>
            </a:br>
            <a:r>
              <a:rPr lang="en-US" b="0" i="0" u="none" strike="noStrike" dirty="0">
                <a:solidFill>
                  <a:srgbClr val="000000"/>
                </a:solidFill>
                <a:effectLst/>
                <a:latin typeface="-webkit-standard"/>
              </a:rPr>
              <a:t>✔ Automatically generates code for </a:t>
            </a:r>
            <a:r>
              <a:rPr lang="en-US" b="1" i="0" u="none" strike="noStrike" dirty="0">
                <a:solidFill>
                  <a:srgbClr val="000000"/>
                </a:solidFill>
                <a:effectLst/>
              </a:rPr>
              <a:t>many programming languages</a:t>
            </a:r>
            <a:br>
              <a:rPr lang="en-US" dirty="0"/>
            </a:br>
            <a:r>
              <a:rPr lang="en-US" b="0" i="0" u="none" strike="noStrike" dirty="0">
                <a:solidFill>
                  <a:srgbClr val="000000"/>
                </a:solidFill>
                <a:effectLst/>
                <a:latin typeface="-webkit-standard"/>
              </a:rPr>
              <a:t>✔ Great for </a:t>
            </a:r>
            <a:r>
              <a:rPr lang="en-US" b="1" i="0" u="none" strike="noStrike" dirty="0">
                <a:solidFill>
                  <a:srgbClr val="000000"/>
                </a:solidFill>
                <a:effectLst/>
              </a:rPr>
              <a:t>microservices</a:t>
            </a:r>
            <a:br>
              <a:rPr lang="en-US" dirty="0"/>
            </a:br>
            <a:r>
              <a:rPr lang="en-US" b="0" i="0" u="none" strike="noStrike" dirty="0">
                <a:solidFill>
                  <a:srgbClr val="000000"/>
                </a:solidFill>
                <a:effectLst/>
                <a:latin typeface="-webkit-standard"/>
              </a:rPr>
              <a:t>✔ Works perfectly in </a:t>
            </a:r>
            <a:r>
              <a:rPr lang="en-US" b="1" i="0" u="none" strike="noStrike" dirty="0">
                <a:solidFill>
                  <a:srgbClr val="000000"/>
                </a:solidFill>
                <a:effectLst/>
              </a:rPr>
              <a:t>cloud</a:t>
            </a:r>
            <a:r>
              <a:rPr lang="en-US" b="0" i="0" u="none" strike="noStrike" dirty="0">
                <a:solidFill>
                  <a:srgbClr val="000000"/>
                </a:solidFill>
                <a:effectLst/>
                <a:latin typeface="-webkit-standard"/>
              </a:rPr>
              <a:t> and </a:t>
            </a:r>
            <a:r>
              <a:rPr lang="en-US" b="1" i="0" u="none" strike="noStrike" dirty="0">
                <a:solidFill>
                  <a:srgbClr val="000000"/>
                </a:solidFill>
                <a:effectLst/>
              </a:rPr>
              <a:t>Kubernetes</a:t>
            </a:r>
          </a:p>
          <a:p>
            <a:pPr algn="l"/>
            <a:endParaRPr lang="en-US" b="1" i="0" u="none" strike="noStrike"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latin typeface="-webkit-standard"/>
              </a:rPr>
              <a:t>.qcow2: Virtual disk image format, used by KVM, QEMU</a:t>
            </a:r>
          </a:p>
          <a:p>
            <a:pPr algn="l"/>
            <a:endParaRPr lang="en-US" b="0" i="0" u="none" strike="noStrike" dirty="0">
              <a:solidFill>
                <a:srgbClr val="000000"/>
              </a:solidFill>
              <a:effectLst/>
            </a:endParaRPr>
          </a:p>
        </p:txBody>
      </p:sp>
      <p:sp>
        <p:nvSpPr>
          <p:cNvPr id="4" name="Slide Number Placeholder 3">
            <a:extLst>
              <a:ext uri="{FF2B5EF4-FFF2-40B4-BE49-F238E27FC236}">
                <a16:creationId xmlns:a16="http://schemas.microsoft.com/office/drawing/2014/main" id="{8C6F94D4-AE10-7FDD-4F5C-2DFA4E903F7C}"/>
              </a:ext>
            </a:extLst>
          </p:cNvPr>
          <p:cNvSpPr>
            <a:spLocks noGrp="1"/>
          </p:cNvSpPr>
          <p:nvPr>
            <p:ph type="sldNum" sz="quarter" idx="5"/>
          </p:nvPr>
        </p:nvSpPr>
        <p:spPr/>
      </p:sp>
    </p:spTree>
    <p:extLst>
      <p:ext uri="{BB962C8B-B14F-4D97-AF65-F5344CB8AC3E}">
        <p14:creationId xmlns:p14="http://schemas.microsoft.com/office/powerpoint/2010/main" val="22926353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51634-6FC5-ED2A-3B18-D9179DFEF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B0203-10D7-32B2-76DF-7DFBAB9E0B9D}"/>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E82A8CBD-B79B-25EA-18E8-D008F2813F8B}"/>
              </a:ext>
            </a:extLst>
          </p:cNvPr>
          <p:cNvSpPr>
            <a:spLocks noGrp="1"/>
          </p:cNvSpPr>
          <p:nvPr>
            <p:ph type="body" sz="quarter" idx="3"/>
          </p:nvPr>
        </p:nvSpPr>
        <p:spPr/>
        <p:txBody>
          <a:bodyPr/>
          <a:lstStyle/>
          <a:p>
            <a:pPr algn="l"/>
            <a:r>
              <a:rPr lang="en-US" sz="1400" b="1" i="0" u="none" strike="noStrike" dirty="0" err="1">
                <a:solidFill>
                  <a:srgbClr val="000000"/>
                </a:solidFill>
                <a:effectLst/>
                <a:latin typeface="Times New Roman" panose="02020603050405020304" pitchFamily="18" charset="0"/>
                <a:cs typeface="Times New Roman" panose="02020603050405020304" pitchFamily="18" charset="0"/>
              </a:rPr>
              <a:t>VxLAN</a:t>
            </a:r>
            <a:r>
              <a:rPr lang="en-US" sz="1400" b="1" i="0" u="none" strike="noStrike" dirty="0">
                <a:solidFill>
                  <a:srgbClr val="000000"/>
                </a:solidFill>
                <a:effectLst/>
                <a:latin typeface="Times New Roman" panose="02020603050405020304" pitchFamily="18" charset="0"/>
                <a:cs typeface="Times New Roman" panose="02020603050405020304" pitchFamily="18" charset="0"/>
              </a:rPr>
              <a:t>: Virtual Extensible LAN.</a:t>
            </a:r>
          </a:p>
        </p:txBody>
      </p:sp>
      <p:sp>
        <p:nvSpPr>
          <p:cNvPr id="4" name="Slide Number Placeholder 3">
            <a:extLst>
              <a:ext uri="{FF2B5EF4-FFF2-40B4-BE49-F238E27FC236}">
                <a16:creationId xmlns:a16="http://schemas.microsoft.com/office/drawing/2014/main" id="{2027A558-2598-A10B-5D19-018675CD01A3}"/>
              </a:ext>
            </a:extLst>
          </p:cNvPr>
          <p:cNvSpPr>
            <a:spLocks noGrp="1"/>
          </p:cNvSpPr>
          <p:nvPr>
            <p:ph type="sldNum" sz="quarter" idx="5"/>
          </p:nvPr>
        </p:nvSpPr>
        <p:spPr/>
      </p:sp>
    </p:spTree>
    <p:extLst>
      <p:ext uri="{BB962C8B-B14F-4D97-AF65-F5344CB8AC3E}">
        <p14:creationId xmlns:p14="http://schemas.microsoft.com/office/powerpoint/2010/main" val="38272485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96A56-240D-424E-21AE-4531B63B2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FCB356-42D7-E68F-E28A-A94D227AE977}"/>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AAB25335-AA71-25A6-8BF8-0C7C97C3032C}"/>
              </a:ext>
            </a:extLst>
          </p:cNvPr>
          <p:cNvSpPr>
            <a:spLocks noGrp="1"/>
          </p:cNvSpPr>
          <p:nvPr>
            <p:ph type="body" sz="quarter" idx="3"/>
          </p:nvPr>
        </p:nvSpPr>
        <p:spPr/>
        <p:txBody>
          <a:bodyPr/>
          <a:lstStyle/>
          <a:p>
            <a:pPr algn="l"/>
            <a:endParaRPr lang="en-US" b="0" i="0" u="none" strike="noStrike" dirty="0">
              <a:solidFill>
                <a:srgbClr val="000000"/>
              </a:solidFill>
              <a:effectLst/>
            </a:endParaRPr>
          </a:p>
        </p:txBody>
      </p:sp>
      <p:sp>
        <p:nvSpPr>
          <p:cNvPr id="4" name="Slide Number Placeholder 3">
            <a:extLst>
              <a:ext uri="{FF2B5EF4-FFF2-40B4-BE49-F238E27FC236}">
                <a16:creationId xmlns:a16="http://schemas.microsoft.com/office/drawing/2014/main" id="{253648A9-44FD-7278-EFBD-C4B352D0B739}"/>
              </a:ext>
            </a:extLst>
          </p:cNvPr>
          <p:cNvSpPr>
            <a:spLocks noGrp="1"/>
          </p:cNvSpPr>
          <p:nvPr>
            <p:ph type="sldNum" sz="quarter" idx="5"/>
          </p:nvPr>
        </p:nvSpPr>
        <p:spPr/>
      </p:sp>
    </p:spTree>
    <p:extLst>
      <p:ext uri="{BB962C8B-B14F-4D97-AF65-F5344CB8AC3E}">
        <p14:creationId xmlns:p14="http://schemas.microsoft.com/office/powerpoint/2010/main" val="11459014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444C8-2125-2FCB-280C-62AF7855F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49758-8CF1-9ACF-BE90-83F65AB0E860}"/>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879D3A39-A501-2F34-A7F8-4E351EE3FDD6}"/>
              </a:ext>
            </a:extLst>
          </p:cNvPr>
          <p:cNvSpPr>
            <a:spLocks noGrp="1"/>
          </p:cNvSpPr>
          <p:nvPr>
            <p:ph type="body" sz="quarter" idx="3"/>
          </p:nvPr>
        </p:nvSpPr>
        <p:spPr/>
        <p:txBody>
          <a:bodyPr/>
          <a:lstStyle/>
          <a:p>
            <a:pPr algn="l"/>
            <a:endParaRPr lang="en-US" b="0" i="0" u="none" strike="noStrike" dirty="0">
              <a:solidFill>
                <a:srgbClr val="000000"/>
              </a:solidFill>
              <a:effectLst/>
            </a:endParaRPr>
          </a:p>
        </p:txBody>
      </p:sp>
      <p:sp>
        <p:nvSpPr>
          <p:cNvPr id="4" name="Slide Number Placeholder 3">
            <a:extLst>
              <a:ext uri="{FF2B5EF4-FFF2-40B4-BE49-F238E27FC236}">
                <a16:creationId xmlns:a16="http://schemas.microsoft.com/office/drawing/2014/main" id="{B8FBD3ED-E008-BFEE-45D2-AFBA064D9092}"/>
              </a:ext>
            </a:extLst>
          </p:cNvPr>
          <p:cNvSpPr>
            <a:spLocks noGrp="1"/>
          </p:cNvSpPr>
          <p:nvPr>
            <p:ph type="sldNum" sz="quarter" idx="5"/>
          </p:nvPr>
        </p:nvSpPr>
        <p:spPr/>
      </p:sp>
    </p:spTree>
    <p:extLst>
      <p:ext uri="{BB962C8B-B14F-4D97-AF65-F5344CB8AC3E}">
        <p14:creationId xmlns:p14="http://schemas.microsoft.com/office/powerpoint/2010/main" val="4100807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3B66161-10E9-D34E-9302-ED818D7EF3BA}" type="datetime1">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DFE0DB4-91CE-4248-BA78-F3B010EB6AE5}" type="datetime1">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9FF606-D7A1-C246-830A-977AB4491F13}" type="datetime1">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12204DE-E6B3-A745-A118-6ED3C59B0ED6}" type="datetime1">
              <a:rPr lang="en-US" smtClean="0"/>
              <a:t>11/13/25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422929-BF8A-EA47-810F-D10532B017CF}" type="datetime1">
              <a:rPr lang="en-US" smtClean="0"/>
              <a:t>11/13/25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BFDCCE2-D9D5-9544-902E-04B5DC7BB814}" type="datetime1">
              <a:rPr lang="en-US" smtClean="0"/>
              <a:t>11/13/25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FC5F6D-E3F5-0142-9329-D120AE641760}" type="datetime1">
              <a:rPr lang="en-US" smtClean="0"/>
              <a:t>11/13/25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4FB925-CC83-B94F-B254-60E6FD015C4D}" type="datetime1">
              <a:rPr lang="en-US" smtClean="0"/>
              <a:t>11/13/25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B9EDAF-A015-FB42-90ED-356E355AB601}" type="datetime1">
              <a:rPr lang="en-US" smtClean="0"/>
              <a:t>11/13/25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871B42-DB91-4348-A7DE-5664EA939042}" type="datetime1">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20441F-F416-DD46-B1A8-AE9B81111761}" type="datetime1">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4E9E0D-4363-994A-B13E-EE4A320EAB96}" type="datetime1">
              <a:rPr lang="en-US" smtClean="0"/>
              <a:t>11/13/25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880886B-02ED-4317-9236-CB60C22CF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004060" y="1241274"/>
            <a:ext cx="8181594" cy="4382287"/>
          </a:xfrm>
        </p:spPr>
        <p:txBody>
          <a:bodyPr anchor="ctr">
            <a:normAutofit/>
          </a:bodyPr>
          <a:lstStyle/>
          <a:p>
            <a:pPr>
              <a:lnSpc>
                <a:spcPct val="90000"/>
              </a:lnSpc>
              <a:spcAft>
                <a:spcPts val="3600"/>
              </a:spcAft>
            </a:pPr>
            <a:r>
              <a:rPr lang="en-US" b="1" dirty="0"/>
              <a:t>Chapter 3</a:t>
            </a:r>
            <a:br>
              <a:rPr lang="en-US" b="1" dirty="0"/>
            </a:br>
            <a:br>
              <a:rPr lang="en-US" b="1" dirty="0"/>
            </a:br>
            <a:r>
              <a:rPr lang="en-US" b="1" dirty="0"/>
              <a:t>Network Function Virtualization (NFV)</a:t>
            </a:r>
          </a:p>
        </p:txBody>
      </p:sp>
      <p:sp>
        <p:nvSpPr>
          <p:cNvPr id="5" name="Subtitle 4">
            <a:extLst>
              <a:ext uri="{FF2B5EF4-FFF2-40B4-BE49-F238E27FC236}">
                <a16:creationId xmlns:a16="http://schemas.microsoft.com/office/drawing/2014/main" id="{040A5DE4-9329-4182-EFA1-FC6DE97718C7}"/>
              </a:ext>
            </a:extLst>
          </p:cNvPr>
          <p:cNvSpPr>
            <a:spLocks noGrp="1"/>
          </p:cNvSpPr>
          <p:nvPr>
            <p:ph type="subTitle" idx="1"/>
          </p:nvPr>
        </p:nvSpPr>
        <p:spPr>
          <a:xfrm>
            <a:off x="2004060" y="5669280"/>
            <a:ext cx="8181594" cy="548640"/>
          </a:xfrm>
        </p:spPr>
        <p:txBody>
          <a:bodyPr anchor="ctr">
            <a:normAutofit/>
          </a:bodyPr>
          <a:lstStyle/>
          <a:p>
            <a:pPr>
              <a:lnSpc>
                <a:spcPct val="90000"/>
              </a:lnSpc>
            </a:pPr>
            <a:r>
              <a:rPr lang="en-LB"/>
              <a:t>Rami Tawil</a:t>
            </a:r>
          </a:p>
        </p:txBody>
      </p:sp>
      <p:sp>
        <p:nvSpPr>
          <p:cNvPr id="13" name="sketch line">
            <a:extLst>
              <a:ext uri="{FF2B5EF4-FFF2-40B4-BE49-F238E27FC236}">
                <a16:creationId xmlns:a16="http://schemas.microsoft.com/office/drawing/2014/main" id="{28C31856-6ABF-41FD-B683-B06E5FFF9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560" y="5598439"/>
            <a:ext cx="2468880" cy="18288"/>
          </a:xfrm>
          <a:custGeom>
            <a:avLst/>
            <a:gdLst>
              <a:gd name="connsiteX0" fmla="*/ 0 w 2468880"/>
              <a:gd name="connsiteY0" fmla="*/ 0 h 18288"/>
              <a:gd name="connsiteX1" fmla="*/ 592531 w 2468880"/>
              <a:gd name="connsiteY1" fmla="*/ 0 h 18288"/>
              <a:gd name="connsiteX2" fmla="*/ 1160374 w 2468880"/>
              <a:gd name="connsiteY2" fmla="*/ 0 h 18288"/>
              <a:gd name="connsiteX3" fmla="*/ 1728216 w 2468880"/>
              <a:gd name="connsiteY3" fmla="*/ 0 h 18288"/>
              <a:gd name="connsiteX4" fmla="*/ 2468880 w 2468880"/>
              <a:gd name="connsiteY4" fmla="*/ 0 h 18288"/>
              <a:gd name="connsiteX5" fmla="*/ 2468880 w 2468880"/>
              <a:gd name="connsiteY5" fmla="*/ 18288 h 18288"/>
              <a:gd name="connsiteX6" fmla="*/ 1802282 w 2468880"/>
              <a:gd name="connsiteY6" fmla="*/ 18288 h 18288"/>
              <a:gd name="connsiteX7" fmla="*/ 1209751 w 2468880"/>
              <a:gd name="connsiteY7" fmla="*/ 18288 h 18288"/>
              <a:gd name="connsiteX8" fmla="*/ 641909 w 2468880"/>
              <a:gd name="connsiteY8" fmla="*/ 18288 h 18288"/>
              <a:gd name="connsiteX9" fmla="*/ 0 w 2468880"/>
              <a:gd name="connsiteY9" fmla="*/ 18288 h 18288"/>
              <a:gd name="connsiteX10" fmla="*/ 0 w 246888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68880" h="18288" fill="none" extrusionOk="0">
                <a:moveTo>
                  <a:pt x="0" y="0"/>
                </a:moveTo>
                <a:cubicBezTo>
                  <a:pt x="171523" y="-1510"/>
                  <a:pt x="416079" y="20036"/>
                  <a:pt x="592531" y="0"/>
                </a:cubicBezTo>
                <a:cubicBezTo>
                  <a:pt x="768983" y="-20036"/>
                  <a:pt x="878305" y="13110"/>
                  <a:pt x="1160374" y="0"/>
                </a:cubicBezTo>
                <a:cubicBezTo>
                  <a:pt x="1442443" y="-13110"/>
                  <a:pt x="1612108" y="24695"/>
                  <a:pt x="1728216" y="0"/>
                </a:cubicBezTo>
                <a:cubicBezTo>
                  <a:pt x="1844324" y="-24695"/>
                  <a:pt x="2271040" y="20667"/>
                  <a:pt x="2468880" y="0"/>
                </a:cubicBezTo>
                <a:cubicBezTo>
                  <a:pt x="2468302" y="4771"/>
                  <a:pt x="2469633" y="12323"/>
                  <a:pt x="2468880" y="18288"/>
                </a:cubicBezTo>
                <a:cubicBezTo>
                  <a:pt x="2229297" y="-14659"/>
                  <a:pt x="2066775" y="30253"/>
                  <a:pt x="1802282" y="18288"/>
                </a:cubicBezTo>
                <a:cubicBezTo>
                  <a:pt x="1537789" y="6323"/>
                  <a:pt x="1379930" y="22266"/>
                  <a:pt x="1209751" y="18288"/>
                </a:cubicBezTo>
                <a:cubicBezTo>
                  <a:pt x="1039572" y="14310"/>
                  <a:pt x="837025" y="12850"/>
                  <a:pt x="641909" y="18288"/>
                </a:cubicBezTo>
                <a:cubicBezTo>
                  <a:pt x="446793" y="23726"/>
                  <a:pt x="170561" y="18472"/>
                  <a:pt x="0" y="18288"/>
                </a:cubicBezTo>
                <a:cubicBezTo>
                  <a:pt x="841" y="12879"/>
                  <a:pt x="-726" y="3977"/>
                  <a:pt x="0" y="0"/>
                </a:cubicBezTo>
                <a:close/>
              </a:path>
              <a:path w="2468880" h="18288" stroke="0" extrusionOk="0">
                <a:moveTo>
                  <a:pt x="0" y="0"/>
                </a:moveTo>
                <a:cubicBezTo>
                  <a:pt x="190931" y="24910"/>
                  <a:pt x="333688" y="11559"/>
                  <a:pt x="567842" y="0"/>
                </a:cubicBezTo>
                <a:cubicBezTo>
                  <a:pt x="801996" y="-11559"/>
                  <a:pt x="939971" y="-5677"/>
                  <a:pt x="1234440" y="0"/>
                </a:cubicBezTo>
                <a:cubicBezTo>
                  <a:pt x="1528909" y="5677"/>
                  <a:pt x="1658539" y="5184"/>
                  <a:pt x="1777594" y="0"/>
                </a:cubicBezTo>
                <a:cubicBezTo>
                  <a:pt x="1896649" y="-5184"/>
                  <a:pt x="2186164" y="23915"/>
                  <a:pt x="2468880" y="0"/>
                </a:cubicBezTo>
                <a:cubicBezTo>
                  <a:pt x="2468266" y="8857"/>
                  <a:pt x="2469384" y="13619"/>
                  <a:pt x="2468880" y="18288"/>
                </a:cubicBezTo>
                <a:cubicBezTo>
                  <a:pt x="2271330" y="36599"/>
                  <a:pt x="2001027" y="31554"/>
                  <a:pt x="1876349" y="18288"/>
                </a:cubicBezTo>
                <a:cubicBezTo>
                  <a:pt x="1751671" y="5022"/>
                  <a:pt x="1364652" y="15063"/>
                  <a:pt x="1209751" y="18288"/>
                </a:cubicBezTo>
                <a:cubicBezTo>
                  <a:pt x="1054850" y="21513"/>
                  <a:pt x="748438" y="20074"/>
                  <a:pt x="617220" y="18288"/>
                </a:cubicBezTo>
                <a:cubicBezTo>
                  <a:pt x="486002" y="16502"/>
                  <a:pt x="237432" y="27200"/>
                  <a:pt x="0" y="18288"/>
                </a:cubicBezTo>
                <a:cubicBezTo>
                  <a:pt x="-487" y="10816"/>
                  <a:pt x="-839" y="605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9387D764-DBB9-67EE-FA2A-1ABAC01D10B5}"/>
              </a:ext>
            </a:extLst>
          </p:cNvPr>
          <p:cNvSpPr>
            <a:spLocks noGrp="1"/>
          </p:cNvSpPr>
          <p:nvPr>
            <p:ph type="sldNum" sz="quarter" idx="12"/>
          </p:nvPr>
        </p:nvSpPr>
        <p:spPr>
          <a:xfrm>
            <a:off x="7981950" y="6356351"/>
            <a:ext cx="2057400" cy="365125"/>
          </a:xfrm>
        </p:spPr>
        <p:txBody>
          <a:bodyPr>
            <a:normAutofit/>
          </a:bodyPr>
          <a:lstStyle/>
          <a:p>
            <a:pPr>
              <a:spcAft>
                <a:spcPts val="600"/>
              </a:spcAft>
            </a:pPr>
            <a:fld id="{C1FF6DA9-008F-8B48-92A6-B652298478BF}" type="slidenum">
              <a:rPr lang="en-US" smtClean="0"/>
              <a:pPr>
                <a:spcAft>
                  <a:spcPts val="600"/>
                </a:spcAft>
              </a:pPr>
              <a:t>1</a:t>
            </a:fld>
            <a:endParaRPr lang="en-US"/>
          </a:p>
        </p:txBody>
      </p:sp>
      <p:pic>
        <p:nvPicPr>
          <p:cNvPr id="7" name="Picture 6" descr="Lebanese University - Crunchbase School Profile &amp; Alumni">
            <a:extLst>
              <a:ext uri="{FF2B5EF4-FFF2-40B4-BE49-F238E27FC236}">
                <a16:creationId xmlns:a16="http://schemas.microsoft.com/office/drawing/2014/main" id="{560B73BB-6E08-81CF-2BA1-4ADC5993D1D8}"/>
              </a:ext>
            </a:extLst>
          </p:cNvPr>
          <p:cNvPicPr>
            <a:picLocks noChangeAspect="1" noChangeArrowheads="1"/>
          </p:cNvPicPr>
          <p:nvPr/>
        </p:nvPicPr>
        <p:blipFill>
          <a:blip r:embed="rId2" cstate="print">
            <a:alphaModFix amt="85000"/>
          </a:blip>
          <a:srcRect/>
          <a:stretch>
            <a:fillRect/>
          </a:stretch>
        </p:blipFill>
        <p:spPr bwMode="auto">
          <a:xfrm>
            <a:off x="2004061" y="415708"/>
            <a:ext cx="2399333" cy="2399333"/>
          </a:xfrm>
          <a:prstGeom prst="ellipse">
            <a:avLst/>
          </a:prstGeom>
          <a:ln>
            <a:noFill/>
          </a:ln>
          <a:effectLst>
            <a:softEdge rad="112500"/>
          </a:effectLst>
        </p:spPr>
      </p:pic>
      <p:pic>
        <p:nvPicPr>
          <p:cNvPr id="8" name="Picture 4" descr="Lebanese University">
            <a:extLst>
              <a:ext uri="{FF2B5EF4-FFF2-40B4-BE49-F238E27FC236}">
                <a16:creationId xmlns:a16="http://schemas.microsoft.com/office/drawing/2014/main" id="{26DB007F-6BF3-DCAD-78B3-88BAD732EDF9}"/>
              </a:ext>
            </a:extLst>
          </p:cNvPr>
          <p:cNvPicPr>
            <a:picLocks noChangeAspect="1" noChangeArrowheads="1"/>
          </p:cNvPicPr>
          <p:nvPr/>
        </p:nvPicPr>
        <p:blipFill>
          <a:blip r:embed="rId3" cstate="print">
            <a:alphaModFix amt="85000"/>
          </a:blip>
          <a:srcRect/>
          <a:stretch>
            <a:fillRect/>
          </a:stretch>
        </p:blipFill>
        <p:spPr bwMode="auto">
          <a:xfrm>
            <a:off x="7697981" y="303814"/>
            <a:ext cx="2625339" cy="2623119"/>
          </a:xfrm>
          <a:prstGeom prst="ellipse">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886814"/>
          </a:xfrm>
        </p:spPr>
        <p:txBody>
          <a:bodyPr>
            <a:noAutofit/>
          </a:bodyPr>
          <a:lstStyle/>
          <a:p>
            <a:r>
              <a:rPr sz="3200" dirty="0"/>
              <a:t>Evolution from Hardware-Based to Virtualized Network Functions</a:t>
            </a:r>
          </a:p>
        </p:txBody>
      </p:sp>
      <p:sp>
        <p:nvSpPr>
          <p:cNvPr id="4" name="Slide Number Placeholder 3">
            <a:extLst>
              <a:ext uri="{FF2B5EF4-FFF2-40B4-BE49-F238E27FC236}">
                <a16:creationId xmlns:a16="http://schemas.microsoft.com/office/drawing/2014/main" id="{8E0AB742-EC25-82D8-EB1D-9A58B8E32CE4}"/>
              </a:ext>
            </a:extLst>
          </p:cNvPr>
          <p:cNvSpPr>
            <a:spLocks noGrp="1"/>
          </p:cNvSpPr>
          <p:nvPr>
            <p:ph type="sldNum" sz="quarter" idx="12"/>
          </p:nvPr>
        </p:nvSpPr>
        <p:spPr/>
        <p:txBody>
          <a:bodyPr/>
          <a:lstStyle/>
          <a:p>
            <a:fld id="{C1FF6DA9-008F-8B48-92A6-B652298478BF}" type="slidenum">
              <a:rPr lang="en-US" smtClean="0"/>
              <a:t>2</a:t>
            </a:fld>
            <a:endParaRPr lang="en-US"/>
          </a:p>
        </p:txBody>
      </p:sp>
      <p:pic>
        <p:nvPicPr>
          <p:cNvPr id="1028" name="Picture 4" descr="A Small Office/Home Office (SOHO) Network Topology – Computer Networking  Demystified">
            <a:extLst>
              <a:ext uri="{FF2B5EF4-FFF2-40B4-BE49-F238E27FC236}">
                <a16:creationId xmlns:a16="http://schemas.microsoft.com/office/drawing/2014/main" id="{91F544BF-9ACB-40EC-55C2-E6F00D9EED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9245" y="1213069"/>
            <a:ext cx="4875481" cy="306658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3E08084-5AD6-3E82-FFBE-791B01C7A706}"/>
              </a:ext>
            </a:extLst>
          </p:cNvPr>
          <p:cNvSpPr txBox="1"/>
          <p:nvPr/>
        </p:nvSpPr>
        <p:spPr>
          <a:xfrm>
            <a:off x="6594726" y="1282138"/>
            <a:ext cx="3878031" cy="923330"/>
          </a:xfrm>
          <a:prstGeom prst="rect">
            <a:avLst/>
          </a:prstGeom>
          <a:noFill/>
        </p:spPr>
        <p:txBody>
          <a:bodyPr wrap="square">
            <a:spAutoFit/>
          </a:bodyPr>
          <a:lstStyle/>
          <a:p>
            <a:pPr>
              <a:spcBef>
                <a:spcPts val="1200"/>
              </a:spcBef>
              <a:spcAft>
                <a:spcPts val="600"/>
              </a:spcAft>
            </a:pPr>
            <a:r>
              <a:rPr lang="en-US" dirty="0"/>
              <a:t>Traditional networks relied on proprietary hardware appliances for each network function.</a:t>
            </a:r>
          </a:p>
        </p:txBody>
      </p:sp>
      <p:sp>
        <p:nvSpPr>
          <p:cNvPr id="11" name="TextBox 10">
            <a:extLst>
              <a:ext uri="{FF2B5EF4-FFF2-40B4-BE49-F238E27FC236}">
                <a16:creationId xmlns:a16="http://schemas.microsoft.com/office/drawing/2014/main" id="{9E964B87-B5E9-66FF-C670-1365D4891A02}"/>
              </a:ext>
            </a:extLst>
          </p:cNvPr>
          <p:cNvSpPr txBox="1"/>
          <p:nvPr/>
        </p:nvSpPr>
        <p:spPr>
          <a:xfrm>
            <a:off x="6594726" y="2329465"/>
            <a:ext cx="3878031" cy="923330"/>
          </a:xfrm>
          <a:prstGeom prst="rect">
            <a:avLst/>
          </a:prstGeom>
          <a:noFill/>
        </p:spPr>
        <p:txBody>
          <a:bodyPr wrap="square">
            <a:spAutoFit/>
          </a:bodyPr>
          <a:lstStyle/>
          <a:p>
            <a:pPr>
              <a:spcBef>
                <a:spcPts val="1200"/>
              </a:spcBef>
              <a:spcAft>
                <a:spcPts val="600"/>
              </a:spcAft>
            </a:pPr>
            <a:r>
              <a:rPr lang="en-US" dirty="0"/>
              <a:t>Examples: routers, firewalls, load balancers, and intrusion detection systems.</a:t>
            </a:r>
          </a:p>
        </p:txBody>
      </p:sp>
      <p:sp>
        <p:nvSpPr>
          <p:cNvPr id="13" name="TextBox 12">
            <a:extLst>
              <a:ext uri="{FF2B5EF4-FFF2-40B4-BE49-F238E27FC236}">
                <a16:creationId xmlns:a16="http://schemas.microsoft.com/office/drawing/2014/main" id="{2A464FD3-E985-C447-50EC-BF49030305A4}"/>
              </a:ext>
            </a:extLst>
          </p:cNvPr>
          <p:cNvSpPr txBox="1"/>
          <p:nvPr/>
        </p:nvSpPr>
        <p:spPr>
          <a:xfrm>
            <a:off x="1981200" y="6002311"/>
            <a:ext cx="8229601" cy="461665"/>
          </a:xfrm>
          <a:prstGeom prst="rect">
            <a:avLst/>
          </a:prstGeom>
          <a:noFill/>
        </p:spPr>
        <p:txBody>
          <a:bodyPr wrap="square">
            <a:spAutoFit/>
          </a:bodyPr>
          <a:lstStyle/>
          <a:p>
            <a:pPr>
              <a:spcBef>
                <a:spcPts val="1200"/>
              </a:spcBef>
              <a:spcAft>
                <a:spcPts val="600"/>
              </a:spcAft>
            </a:pPr>
            <a:r>
              <a:rPr lang="en-US" sz="2400" dirty="0"/>
              <a:t>Scaling and upgrading required costly physical installations.</a:t>
            </a:r>
          </a:p>
        </p:txBody>
      </p:sp>
      <p:pic>
        <p:nvPicPr>
          <p:cNvPr id="1030" name="Picture 6" descr="Big data communication, networking, and processing infrastructure, and... |  Download Scientific Diagram">
            <a:extLst>
              <a:ext uri="{FF2B5EF4-FFF2-40B4-BE49-F238E27FC236}">
                <a16:creationId xmlns:a16="http://schemas.microsoft.com/office/drawing/2014/main" id="{C69ECF5C-C89A-560D-F23C-76027A2270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9245" y="1075039"/>
            <a:ext cx="8753512" cy="45698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checkerboard(across)">
                                      <p:cBhvr>
                                        <p:cTn id="7" dur="500"/>
                                        <p:tgtEl>
                                          <p:spTgt spid="102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heckerboard(across)">
                                      <p:cBhvr>
                                        <p:cTn id="10" dur="500"/>
                                        <p:tgtEl>
                                          <p:spTgt spid="9"/>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heckerboard(across)">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030"/>
                                        </p:tgtEl>
                                        <p:attrNameLst>
                                          <p:attrName>style.visibility</p:attrName>
                                        </p:attrNameLst>
                                      </p:cBhvr>
                                      <p:to>
                                        <p:strVal val="visible"/>
                                      </p:to>
                                    </p:set>
                                    <p:animEffect transition="in" filter="dissolve">
                                      <p:cBhvr>
                                        <p:cTn id="18" dur="500"/>
                                        <p:tgtEl>
                                          <p:spTgt spid="1030"/>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checkerboard(across)">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A0209-4C23-BBFE-EA10-7F6563D5369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C1891E-2715-C788-9DF5-08E1B36198CD}"/>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10" name="Title 1">
            <a:extLst>
              <a:ext uri="{FF2B5EF4-FFF2-40B4-BE49-F238E27FC236}">
                <a16:creationId xmlns:a16="http://schemas.microsoft.com/office/drawing/2014/main" id="{83342EC8-CEF2-C005-3CD4-867AEBADE677}"/>
              </a:ext>
            </a:extLst>
          </p:cNvPr>
          <p:cNvSpPr>
            <a:spLocks noGrp="1"/>
          </p:cNvSpPr>
          <p:nvPr>
            <p:ph type="title"/>
          </p:nvPr>
        </p:nvSpPr>
        <p:spPr>
          <a:xfrm>
            <a:off x="1981200" y="0"/>
            <a:ext cx="8229600" cy="886814"/>
          </a:xfrm>
        </p:spPr>
        <p:txBody>
          <a:bodyPr>
            <a:noAutofit/>
          </a:bodyPr>
          <a:lstStyle/>
          <a:p>
            <a:r>
              <a:rPr sz="3200" dirty="0"/>
              <a:t>Evolution from Hardware-Based to Virtualized Network Functions</a:t>
            </a:r>
          </a:p>
        </p:txBody>
      </p:sp>
      <p:sp>
        <p:nvSpPr>
          <p:cNvPr id="12" name="TextBox 11">
            <a:extLst>
              <a:ext uri="{FF2B5EF4-FFF2-40B4-BE49-F238E27FC236}">
                <a16:creationId xmlns:a16="http://schemas.microsoft.com/office/drawing/2014/main" id="{322B2DB8-5672-8C8D-DA36-FF031E29D311}"/>
              </a:ext>
            </a:extLst>
          </p:cNvPr>
          <p:cNvSpPr txBox="1"/>
          <p:nvPr/>
        </p:nvSpPr>
        <p:spPr>
          <a:xfrm>
            <a:off x="1647568" y="5094056"/>
            <a:ext cx="8563232" cy="830997"/>
          </a:xfrm>
          <a:prstGeom prst="rect">
            <a:avLst/>
          </a:prstGeom>
          <a:noFill/>
        </p:spPr>
        <p:txBody>
          <a:bodyPr wrap="square">
            <a:spAutoFit/>
          </a:bodyPr>
          <a:lstStyle/>
          <a:p>
            <a:pPr marL="285750" indent="-285750">
              <a:spcBef>
                <a:spcPts val="1200"/>
              </a:spcBef>
              <a:spcAft>
                <a:spcPts val="600"/>
              </a:spcAft>
              <a:buFont typeface="Arial" panose="020B0604020202020204" pitchFamily="34" charset="0"/>
              <a:buChar char="•"/>
            </a:pPr>
            <a:r>
              <a:rPr lang="en-US" sz="2400" dirty="0"/>
              <a:t>NFV replaces dedicated hardware with software-based Virtual Network Functions (VNFs) running on commodity servers.</a:t>
            </a:r>
          </a:p>
        </p:txBody>
      </p:sp>
      <p:pic>
        <p:nvPicPr>
          <p:cNvPr id="2054" name="Picture 6" descr="Security challenges with network functions virtualization - ScienceDirect">
            <a:extLst>
              <a:ext uri="{FF2B5EF4-FFF2-40B4-BE49-F238E27FC236}">
                <a16:creationId xmlns:a16="http://schemas.microsoft.com/office/drawing/2014/main" id="{ABAAD650-C98B-0379-0338-4E86F4836B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5709" y="1079331"/>
            <a:ext cx="6060582" cy="366979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6525EAA7-F0E5-7457-F0A4-32EF90E7C71B}"/>
              </a:ext>
            </a:extLst>
          </p:cNvPr>
          <p:cNvSpPr txBox="1"/>
          <p:nvPr/>
        </p:nvSpPr>
        <p:spPr>
          <a:xfrm>
            <a:off x="1647568" y="6035888"/>
            <a:ext cx="8563231" cy="461665"/>
          </a:xfrm>
          <a:prstGeom prst="rect">
            <a:avLst/>
          </a:prstGeom>
          <a:noFill/>
        </p:spPr>
        <p:txBody>
          <a:bodyPr wrap="square">
            <a:spAutoFit/>
          </a:bodyPr>
          <a:lstStyle/>
          <a:p>
            <a:pPr marL="285750" indent="-285750">
              <a:spcBef>
                <a:spcPts val="1200"/>
              </a:spcBef>
              <a:spcAft>
                <a:spcPts val="600"/>
              </a:spcAft>
              <a:buFont typeface="Arial" panose="020B0604020202020204" pitchFamily="34" charset="0"/>
              <a:buChar char="•"/>
            </a:pPr>
            <a:r>
              <a:rPr lang="en-US" sz="2400" dirty="0"/>
              <a:t>This transition improves flexibility, scalability, and cost-efficiency.</a:t>
            </a:r>
          </a:p>
        </p:txBody>
      </p:sp>
    </p:spTree>
    <p:extLst>
      <p:ext uri="{BB962C8B-B14F-4D97-AF65-F5344CB8AC3E}">
        <p14:creationId xmlns:p14="http://schemas.microsoft.com/office/powerpoint/2010/main" val="3075119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5" presetClass="entr" presetSubtype="10" fill="hold" nodeType="withEffect">
                                  <p:stCondLst>
                                    <p:cond delay="0"/>
                                  </p:stCondLst>
                                  <p:childTnLst>
                                    <p:set>
                                      <p:cBhvr>
                                        <p:cTn id="9" dur="1" fill="hold">
                                          <p:stCondLst>
                                            <p:cond delay="0"/>
                                          </p:stCondLst>
                                        </p:cTn>
                                        <p:tgtEl>
                                          <p:spTgt spid="2054"/>
                                        </p:tgtEl>
                                        <p:attrNameLst>
                                          <p:attrName>style.visibility</p:attrName>
                                        </p:attrNameLst>
                                      </p:cBhvr>
                                      <p:to>
                                        <p:strVal val="visible"/>
                                      </p:to>
                                    </p:set>
                                    <p:animEffect transition="in" filter="checkerboard(across)">
                                      <p:cBhvr>
                                        <p:cTn id="10" dur="500"/>
                                        <p:tgtEl>
                                          <p:spTgt spid="2054"/>
                                        </p:tgtEl>
                                      </p:cBhvr>
                                    </p:animEffect>
                                  </p:childTnLst>
                                </p:cTn>
                              </p:par>
                              <p:par>
                                <p:cTn id="11" presetID="9" presetClass="entr" presetSubtype="0" fill="hold" grpId="0" nodeType="withEffect">
                                  <p:stCondLst>
                                    <p:cond delay="1500"/>
                                  </p:stCondLst>
                                  <p:childTnLst>
                                    <p:set>
                                      <p:cBhvr>
                                        <p:cTn id="12" dur="1" fill="hold">
                                          <p:stCondLst>
                                            <p:cond delay="0"/>
                                          </p:stCondLst>
                                        </p:cTn>
                                        <p:tgtEl>
                                          <p:spTgt spid="14"/>
                                        </p:tgtEl>
                                        <p:attrNameLst>
                                          <p:attrName>style.visibility</p:attrName>
                                        </p:attrNameLst>
                                      </p:cBhvr>
                                      <p:to>
                                        <p:strVal val="visible"/>
                                      </p:to>
                                    </p:set>
                                    <p:animEffect transition="in" filter="dissolv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FABC62-6188-DDAA-1A47-55305D7A4B4B}"/>
              </a:ext>
            </a:extLst>
          </p:cNvPr>
          <p:cNvPicPr>
            <a:picLocks noChangeAspect="1"/>
          </p:cNvPicPr>
          <p:nvPr/>
        </p:nvPicPr>
        <p:blipFill>
          <a:blip r:embed="rId2"/>
          <a:stretch>
            <a:fillRect/>
          </a:stretch>
        </p:blipFill>
        <p:spPr>
          <a:xfrm>
            <a:off x="6391637" y="2313773"/>
            <a:ext cx="3988294" cy="3737983"/>
          </a:xfrm>
          <a:prstGeom prst="rect">
            <a:avLst/>
          </a:prstGeom>
        </p:spPr>
      </p:pic>
      <p:pic>
        <p:nvPicPr>
          <p:cNvPr id="7" name="Picture 6">
            <a:extLst>
              <a:ext uri="{FF2B5EF4-FFF2-40B4-BE49-F238E27FC236}">
                <a16:creationId xmlns:a16="http://schemas.microsoft.com/office/drawing/2014/main" id="{FF7A3174-2003-9721-2F37-7EE5CAA661B1}"/>
              </a:ext>
            </a:extLst>
          </p:cNvPr>
          <p:cNvPicPr>
            <a:picLocks noChangeAspect="1"/>
          </p:cNvPicPr>
          <p:nvPr/>
        </p:nvPicPr>
        <p:blipFill>
          <a:blip r:embed="rId3"/>
          <a:stretch>
            <a:fillRect/>
          </a:stretch>
        </p:blipFill>
        <p:spPr>
          <a:xfrm>
            <a:off x="1812071" y="2313773"/>
            <a:ext cx="3988294" cy="3737983"/>
          </a:xfrm>
          <a:prstGeom prst="rect">
            <a:avLst/>
          </a:prstGeom>
        </p:spPr>
      </p:pic>
      <p:sp>
        <p:nvSpPr>
          <p:cNvPr id="9" name="TextBox 8">
            <a:extLst>
              <a:ext uri="{FF2B5EF4-FFF2-40B4-BE49-F238E27FC236}">
                <a16:creationId xmlns:a16="http://schemas.microsoft.com/office/drawing/2014/main" id="{7D97095A-116F-F71F-1C22-E87AAB4D4813}"/>
              </a:ext>
            </a:extLst>
          </p:cNvPr>
          <p:cNvSpPr txBox="1"/>
          <p:nvPr/>
        </p:nvSpPr>
        <p:spPr>
          <a:xfrm>
            <a:off x="2386109" y="1287640"/>
            <a:ext cx="2840219" cy="461665"/>
          </a:xfrm>
          <a:prstGeom prst="rect">
            <a:avLst/>
          </a:prstGeom>
          <a:solidFill>
            <a:schemeClr val="bg2">
              <a:lumMod val="40000"/>
              <a:lumOff val="60000"/>
            </a:schemeClr>
          </a:solidFill>
        </p:spPr>
        <p:txBody>
          <a:bodyPr wrap="square">
            <a:spAutoFit/>
          </a:bodyPr>
          <a:lstStyle/>
          <a:p>
            <a:pPr algn="ctr"/>
            <a:r>
              <a:rPr lang="en-US" sz="2400" dirty="0"/>
              <a:t>Hardware-Based</a:t>
            </a:r>
            <a:endParaRPr lang="en-LB" sz="2400" dirty="0"/>
          </a:p>
        </p:txBody>
      </p:sp>
      <p:sp>
        <p:nvSpPr>
          <p:cNvPr id="13" name="TextBox 12">
            <a:extLst>
              <a:ext uri="{FF2B5EF4-FFF2-40B4-BE49-F238E27FC236}">
                <a16:creationId xmlns:a16="http://schemas.microsoft.com/office/drawing/2014/main" id="{CB383DEA-825C-FC71-EA18-7F87E78C7C17}"/>
              </a:ext>
            </a:extLst>
          </p:cNvPr>
          <p:cNvSpPr txBox="1"/>
          <p:nvPr/>
        </p:nvSpPr>
        <p:spPr>
          <a:xfrm>
            <a:off x="6391637" y="1102973"/>
            <a:ext cx="3625526" cy="830997"/>
          </a:xfrm>
          <a:prstGeom prst="rect">
            <a:avLst/>
          </a:prstGeom>
          <a:solidFill>
            <a:schemeClr val="bg2">
              <a:lumMod val="40000"/>
              <a:lumOff val="60000"/>
            </a:schemeClr>
          </a:solidFill>
        </p:spPr>
        <p:txBody>
          <a:bodyPr wrap="square">
            <a:spAutoFit/>
          </a:bodyPr>
          <a:lstStyle/>
          <a:p>
            <a:pPr algn="ctr"/>
            <a:r>
              <a:rPr lang="en-US" sz="2400" dirty="0"/>
              <a:t>Virtualized Network Functions</a:t>
            </a:r>
            <a:endParaRPr lang="en-LB" sz="2400" dirty="0"/>
          </a:p>
        </p:txBody>
      </p:sp>
      <p:sp>
        <p:nvSpPr>
          <p:cNvPr id="14" name="Slide Number Placeholder 13">
            <a:extLst>
              <a:ext uri="{FF2B5EF4-FFF2-40B4-BE49-F238E27FC236}">
                <a16:creationId xmlns:a16="http://schemas.microsoft.com/office/drawing/2014/main" id="{2C895F21-FF48-1942-E69F-13D55F4A8619}"/>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2" name="Title 1">
            <a:extLst>
              <a:ext uri="{FF2B5EF4-FFF2-40B4-BE49-F238E27FC236}">
                <a16:creationId xmlns:a16="http://schemas.microsoft.com/office/drawing/2014/main" id="{765E0757-6CCB-124B-CA0D-511FA05D544F}"/>
              </a:ext>
            </a:extLst>
          </p:cNvPr>
          <p:cNvSpPr>
            <a:spLocks noGrp="1"/>
          </p:cNvSpPr>
          <p:nvPr>
            <p:ph type="title"/>
          </p:nvPr>
        </p:nvSpPr>
        <p:spPr>
          <a:xfrm>
            <a:off x="1981200" y="0"/>
            <a:ext cx="8229600" cy="670954"/>
          </a:xfrm>
        </p:spPr>
        <p:txBody>
          <a:bodyPr>
            <a:normAutofit fontScale="90000"/>
          </a:bodyPr>
          <a:lstStyle/>
          <a:p>
            <a:r>
              <a:rPr lang="en-US" sz="4000" dirty="0"/>
              <a:t>Implementing new idea</a:t>
            </a:r>
            <a:endParaRPr sz="4000" dirty="0"/>
          </a:p>
        </p:txBody>
      </p:sp>
    </p:spTree>
    <p:extLst>
      <p:ext uri="{BB962C8B-B14F-4D97-AF65-F5344CB8AC3E}">
        <p14:creationId xmlns:p14="http://schemas.microsoft.com/office/powerpoint/2010/main" val="2860012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checkerboard(across)">
                                      <p:cBhvr>
                                        <p:cTn id="17" dur="500"/>
                                        <p:tgtEl>
                                          <p:spTgt spid="13"/>
                                        </p:tgtEl>
                                      </p:cBhvr>
                                    </p:animEffect>
                                  </p:childTnLst>
                                </p:cTn>
                              </p:par>
                              <p:par>
                                <p:cTn id="18" presetID="5"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checkerboard(across)">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Motivation and Advantages of NFV</a:t>
            </a:r>
          </a:p>
        </p:txBody>
      </p:sp>
      <p:sp>
        <p:nvSpPr>
          <p:cNvPr id="3" name="Content Placeholder 2"/>
          <p:cNvSpPr>
            <a:spLocks noGrp="1"/>
          </p:cNvSpPr>
          <p:nvPr>
            <p:ph idx="1"/>
          </p:nvPr>
        </p:nvSpPr>
        <p:spPr>
          <a:xfrm>
            <a:off x="1981200" y="1563129"/>
            <a:ext cx="8229600" cy="4983162"/>
          </a:xfrm>
        </p:spPr>
        <p:txBody>
          <a:bodyPr>
            <a:noAutofit/>
          </a:bodyPr>
          <a:lstStyle/>
          <a:p>
            <a:pPr>
              <a:spcBef>
                <a:spcPts val="1200"/>
              </a:spcBef>
              <a:spcAft>
                <a:spcPts val="600"/>
              </a:spcAft>
            </a:pPr>
            <a:r>
              <a:rPr sz="2600" dirty="0"/>
              <a:t>Reduce dependency on proprietary network hardware.</a:t>
            </a:r>
          </a:p>
          <a:p>
            <a:pPr>
              <a:spcBef>
                <a:spcPts val="1200"/>
              </a:spcBef>
              <a:spcAft>
                <a:spcPts val="600"/>
              </a:spcAft>
            </a:pPr>
            <a:r>
              <a:rPr sz="2600" dirty="0"/>
              <a:t>Lower capital and operational costs (CAPEX and OPEX).</a:t>
            </a:r>
          </a:p>
          <a:p>
            <a:pPr>
              <a:spcBef>
                <a:spcPts val="1200"/>
              </a:spcBef>
              <a:spcAft>
                <a:spcPts val="600"/>
              </a:spcAft>
            </a:pPr>
            <a:r>
              <a:rPr sz="2600" dirty="0"/>
              <a:t>Enable rapid deployment of new network services.</a:t>
            </a:r>
          </a:p>
          <a:p>
            <a:pPr>
              <a:spcBef>
                <a:spcPts val="1200"/>
              </a:spcBef>
              <a:spcAft>
                <a:spcPts val="600"/>
              </a:spcAft>
            </a:pPr>
            <a:r>
              <a:rPr sz="2600" dirty="0"/>
              <a:t>Increase scalability through on-demand resource allocation.</a:t>
            </a:r>
          </a:p>
          <a:p>
            <a:pPr>
              <a:spcBef>
                <a:spcPts val="1200"/>
              </a:spcBef>
              <a:spcAft>
                <a:spcPts val="600"/>
              </a:spcAft>
            </a:pPr>
            <a:r>
              <a:rPr sz="2600" dirty="0"/>
              <a:t>Simplify management and automation using orchestration frameworks.</a:t>
            </a:r>
          </a:p>
          <a:p>
            <a:pPr>
              <a:spcBef>
                <a:spcPts val="1200"/>
              </a:spcBef>
              <a:spcAft>
                <a:spcPts val="600"/>
              </a:spcAft>
            </a:pPr>
            <a:r>
              <a:rPr sz="2600" dirty="0"/>
              <a:t>Enhance innovation by decoupling software from hardware vendors.</a:t>
            </a:r>
          </a:p>
        </p:txBody>
      </p:sp>
      <p:sp>
        <p:nvSpPr>
          <p:cNvPr id="4" name="Slide Number Placeholder 3">
            <a:extLst>
              <a:ext uri="{FF2B5EF4-FFF2-40B4-BE49-F238E27FC236}">
                <a16:creationId xmlns:a16="http://schemas.microsoft.com/office/drawing/2014/main" id="{4542F21A-F950-755A-DF88-057BDC1BF789}"/>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dissolv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checkerboard(across)">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2B8ED-2861-4249-CA71-920669ABD16E}"/>
              </a:ext>
            </a:extLst>
          </p:cNvPr>
          <p:cNvSpPr>
            <a:spLocks noGrp="1"/>
          </p:cNvSpPr>
          <p:nvPr>
            <p:ph type="title"/>
          </p:nvPr>
        </p:nvSpPr>
        <p:spPr>
          <a:xfrm>
            <a:off x="1981200" y="274639"/>
            <a:ext cx="8229600" cy="596731"/>
          </a:xfrm>
        </p:spPr>
        <p:txBody>
          <a:bodyPr>
            <a:normAutofit fontScale="90000"/>
          </a:bodyPr>
          <a:lstStyle/>
          <a:p>
            <a:r>
              <a:rPr lang="en-US" dirty="0"/>
              <a:t>Problem Statement</a:t>
            </a:r>
            <a:endParaRPr lang="en-LB" dirty="0"/>
          </a:p>
        </p:txBody>
      </p:sp>
      <p:graphicFrame>
        <p:nvGraphicFramePr>
          <p:cNvPr id="8" name="Content Placeholder 2">
            <a:extLst>
              <a:ext uri="{FF2B5EF4-FFF2-40B4-BE49-F238E27FC236}">
                <a16:creationId xmlns:a16="http://schemas.microsoft.com/office/drawing/2014/main" id="{F19EAD12-5FB1-C4D4-D702-34F8DEA4840E}"/>
              </a:ext>
            </a:extLst>
          </p:cNvPr>
          <p:cNvGraphicFramePr>
            <a:graphicFrameLocks noGrp="1"/>
          </p:cNvGraphicFramePr>
          <p:nvPr>
            <p:ph idx="1"/>
            <p:extLst>
              <p:ext uri="{D42A27DB-BD31-4B8C-83A1-F6EECF244321}">
                <p14:modId xmlns:p14="http://schemas.microsoft.com/office/powerpoint/2010/main" val="3632701418"/>
              </p:ext>
            </p:extLst>
          </p:nvPr>
        </p:nvGraphicFramePr>
        <p:xfrm>
          <a:off x="1981200" y="989706"/>
          <a:ext cx="8229600" cy="33025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Slide Number Placeholder 6">
            <a:extLst>
              <a:ext uri="{FF2B5EF4-FFF2-40B4-BE49-F238E27FC236}">
                <a16:creationId xmlns:a16="http://schemas.microsoft.com/office/drawing/2014/main" id="{087E7934-F723-4087-C4E0-3BE337D394B1}"/>
              </a:ext>
            </a:extLst>
          </p:cNvPr>
          <p:cNvSpPr>
            <a:spLocks noGrp="1"/>
          </p:cNvSpPr>
          <p:nvPr>
            <p:ph type="sldNum" sz="quarter" idx="12"/>
          </p:nvPr>
        </p:nvSpPr>
        <p:spPr/>
        <p:txBody>
          <a:bodyPr/>
          <a:lstStyle/>
          <a:p>
            <a:fld id="{C1FF6DA9-008F-8B48-92A6-B652298478BF}" type="slidenum">
              <a:rPr lang="en-US" smtClean="0"/>
              <a:t>6</a:t>
            </a:fld>
            <a:endParaRPr lang="en-US"/>
          </a:p>
        </p:txBody>
      </p:sp>
      <p:pic>
        <p:nvPicPr>
          <p:cNvPr id="4" name="Picture 3" descr="A group of round blue and red objects&#10;&#10;AI-generated content may be incorrect.">
            <a:extLst>
              <a:ext uri="{FF2B5EF4-FFF2-40B4-BE49-F238E27FC236}">
                <a16:creationId xmlns:a16="http://schemas.microsoft.com/office/drawing/2014/main" id="{27B8E4D7-DACD-6369-5785-9BE4FEC5D0FC}"/>
              </a:ext>
            </a:extLst>
          </p:cNvPr>
          <p:cNvPicPr>
            <a:picLocks noChangeAspect="1"/>
          </p:cNvPicPr>
          <p:nvPr/>
        </p:nvPicPr>
        <p:blipFill>
          <a:blip r:embed="rId7"/>
          <a:stretch>
            <a:fillRect/>
          </a:stretch>
        </p:blipFill>
        <p:spPr>
          <a:xfrm>
            <a:off x="1981201" y="4597675"/>
            <a:ext cx="3958187" cy="1870785"/>
          </a:xfrm>
          <a:prstGeom prst="rect">
            <a:avLst/>
          </a:prstGeom>
        </p:spPr>
      </p:pic>
      <p:sp>
        <p:nvSpPr>
          <p:cNvPr id="6" name="TextBox 5">
            <a:extLst>
              <a:ext uri="{FF2B5EF4-FFF2-40B4-BE49-F238E27FC236}">
                <a16:creationId xmlns:a16="http://schemas.microsoft.com/office/drawing/2014/main" id="{FFF90846-3342-F063-0F0F-1752C94E20C3}"/>
              </a:ext>
            </a:extLst>
          </p:cNvPr>
          <p:cNvSpPr txBox="1"/>
          <p:nvPr/>
        </p:nvSpPr>
        <p:spPr>
          <a:xfrm>
            <a:off x="5896984" y="4932902"/>
            <a:ext cx="4771017" cy="1200329"/>
          </a:xfrm>
          <a:prstGeom prst="rect">
            <a:avLst/>
          </a:prstGeom>
          <a:noFill/>
        </p:spPr>
        <p:txBody>
          <a:bodyPr wrap="square">
            <a:spAutoFit/>
          </a:bodyPr>
          <a:lstStyle/>
          <a:p>
            <a:pPr marL="285750" indent="-285750">
              <a:buFont typeface="Arial" panose="020B0604020202020204" pitchFamily="34" charset="0"/>
              <a:buChar char="•"/>
            </a:pPr>
            <a:r>
              <a:rPr lang="en-US" dirty="0"/>
              <a:t>Network functionalities are based on specific HW&amp;SW  </a:t>
            </a:r>
          </a:p>
          <a:p>
            <a:pPr marL="285750" indent="-285750">
              <a:buFont typeface="Arial" panose="020B0604020202020204" pitchFamily="34" charset="0"/>
              <a:buChar char="•"/>
            </a:pPr>
            <a:r>
              <a:rPr lang="en-US" dirty="0"/>
              <a:t>One physical node per role Traditional Network model</a:t>
            </a:r>
            <a:endParaRPr lang="en-LB" dirty="0"/>
          </a:p>
        </p:txBody>
      </p:sp>
    </p:spTree>
    <p:extLst>
      <p:ext uri="{BB962C8B-B14F-4D97-AF65-F5344CB8AC3E}">
        <p14:creationId xmlns:p14="http://schemas.microsoft.com/office/powerpoint/2010/main" val="2095929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7058"/>
            <a:ext cx="8229600" cy="1143000"/>
          </a:xfrm>
        </p:spPr>
        <p:txBody>
          <a:bodyPr>
            <a:noAutofit/>
          </a:bodyPr>
          <a:lstStyle/>
          <a:p>
            <a:r>
              <a:rPr sz="4000" dirty="0"/>
              <a:t>NFV Use Cases: 5G, Cloud Services, IoT, and Enterprise Networks</a:t>
            </a:r>
          </a:p>
        </p:txBody>
      </p:sp>
      <p:sp>
        <p:nvSpPr>
          <p:cNvPr id="3" name="Content Placeholder 2"/>
          <p:cNvSpPr>
            <a:spLocks noGrp="1"/>
          </p:cNvSpPr>
          <p:nvPr>
            <p:ph idx="1"/>
          </p:nvPr>
        </p:nvSpPr>
        <p:spPr>
          <a:xfrm>
            <a:off x="1981200" y="1532587"/>
            <a:ext cx="8229600" cy="4971245"/>
          </a:xfrm>
        </p:spPr>
        <p:txBody>
          <a:bodyPr>
            <a:noAutofit/>
          </a:bodyPr>
          <a:lstStyle/>
          <a:p>
            <a:pPr>
              <a:spcBef>
                <a:spcPts val="1200"/>
              </a:spcBef>
              <a:spcAft>
                <a:spcPts val="600"/>
              </a:spcAft>
            </a:pPr>
            <a:r>
              <a:rPr sz="2800" b="1" dirty="0"/>
              <a:t>5G Networks</a:t>
            </a:r>
            <a:r>
              <a:rPr sz="2800" dirty="0"/>
              <a:t>: Enables core network functions (EPC, AMF, SMF) as virtualized services.</a:t>
            </a:r>
          </a:p>
          <a:p>
            <a:pPr>
              <a:spcBef>
                <a:spcPts val="1200"/>
              </a:spcBef>
              <a:spcAft>
                <a:spcPts val="600"/>
              </a:spcAft>
            </a:pPr>
            <a:r>
              <a:rPr sz="2800" b="1" dirty="0"/>
              <a:t>Cloud Services</a:t>
            </a:r>
            <a:r>
              <a:rPr sz="2800" dirty="0"/>
              <a:t>: Supports scalable and flexible virtualized data centers.</a:t>
            </a:r>
          </a:p>
          <a:p>
            <a:pPr>
              <a:spcBef>
                <a:spcPts val="1200"/>
              </a:spcBef>
              <a:spcAft>
                <a:spcPts val="600"/>
              </a:spcAft>
            </a:pPr>
            <a:r>
              <a:rPr sz="2800" b="1" dirty="0"/>
              <a:t>IoT</a:t>
            </a:r>
            <a:r>
              <a:rPr sz="2800" dirty="0"/>
              <a:t>: Facilitates dynamic resource management for billions of connected devices.</a:t>
            </a:r>
          </a:p>
          <a:p>
            <a:pPr>
              <a:spcBef>
                <a:spcPts val="1200"/>
              </a:spcBef>
              <a:spcAft>
                <a:spcPts val="600"/>
              </a:spcAft>
            </a:pPr>
            <a:r>
              <a:rPr sz="2800" b="1" dirty="0"/>
              <a:t>Enterprise Networks</a:t>
            </a:r>
            <a:r>
              <a:rPr sz="2800" dirty="0"/>
              <a:t>: Allows deployment of virtual firewalls, VPNs, and load balancers on demand.</a:t>
            </a:r>
          </a:p>
        </p:txBody>
      </p:sp>
      <p:sp>
        <p:nvSpPr>
          <p:cNvPr id="4" name="Slide Number Placeholder 3">
            <a:extLst>
              <a:ext uri="{FF2B5EF4-FFF2-40B4-BE49-F238E27FC236}">
                <a16:creationId xmlns:a16="http://schemas.microsoft.com/office/drawing/2014/main" id="{6FDE3117-16FF-ED05-AA4F-CBB643CB25EF}"/>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NFV Architecture and Standards</a:t>
            </a:r>
          </a:p>
        </p:txBody>
      </p:sp>
      <p:sp>
        <p:nvSpPr>
          <p:cNvPr id="3" name="Content Placeholder 2"/>
          <p:cNvSpPr>
            <a:spLocks noGrp="1"/>
          </p:cNvSpPr>
          <p:nvPr>
            <p:ph idx="1"/>
          </p:nvPr>
        </p:nvSpPr>
        <p:spPr/>
        <p:txBody>
          <a:bodyPr/>
          <a:lstStyle/>
          <a:p>
            <a:pPr>
              <a:spcBef>
                <a:spcPts val="1200"/>
              </a:spcBef>
              <a:spcAft>
                <a:spcPts val="1200"/>
              </a:spcAft>
            </a:pPr>
            <a:r>
              <a:rPr lang="en-US" b="0" i="0" u="none" strike="noStrike" dirty="0">
                <a:solidFill>
                  <a:srgbClr val="001D35"/>
                </a:solidFill>
                <a:effectLst/>
              </a:rPr>
              <a:t>European Telecommunications Standards Institute (</a:t>
            </a:r>
            <a:r>
              <a:rPr dirty="0"/>
              <a:t>ETSI</a:t>
            </a:r>
            <a:r>
              <a:rPr lang="en-US" dirty="0"/>
              <a:t>)</a:t>
            </a:r>
            <a:r>
              <a:rPr dirty="0"/>
              <a:t> NFV Architectural Framework</a:t>
            </a:r>
          </a:p>
          <a:p>
            <a:pPr>
              <a:spcBef>
                <a:spcPts val="1200"/>
              </a:spcBef>
              <a:spcAft>
                <a:spcPts val="1200"/>
              </a:spcAft>
            </a:pPr>
            <a:r>
              <a:rPr dirty="0"/>
              <a:t>Core components: NFVI, VNFs, MANO</a:t>
            </a:r>
          </a:p>
          <a:p>
            <a:pPr>
              <a:spcBef>
                <a:spcPts val="1200"/>
              </a:spcBef>
              <a:spcAft>
                <a:spcPts val="1200"/>
              </a:spcAft>
            </a:pPr>
            <a:r>
              <a:rPr dirty="0"/>
              <a:t>Interfaces and reference points</a:t>
            </a:r>
          </a:p>
          <a:p>
            <a:pPr>
              <a:spcBef>
                <a:spcPts val="1200"/>
              </a:spcBef>
              <a:spcAft>
                <a:spcPts val="1200"/>
              </a:spcAft>
            </a:pPr>
            <a:r>
              <a:rPr dirty="0"/>
              <a:t>Example deployments</a:t>
            </a:r>
          </a:p>
        </p:txBody>
      </p:sp>
      <p:sp>
        <p:nvSpPr>
          <p:cNvPr id="4" name="Slide Number Placeholder 3">
            <a:extLst>
              <a:ext uri="{FF2B5EF4-FFF2-40B4-BE49-F238E27FC236}">
                <a16:creationId xmlns:a16="http://schemas.microsoft.com/office/drawing/2014/main" id="{95E3EBC9-28BF-CDB4-0DB3-180FA560BAAD}"/>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TSI NFV architectural framework. | Download Scientific Diagram">
            <a:extLst>
              <a:ext uri="{FF2B5EF4-FFF2-40B4-BE49-F238E27FC236}">
                <a16:creationId xmlns:a16="http://schemas.microsoft.com/office/drawing/2014/main" id="{5727BEFA-D3D3-D1DC-F82E-40CB8B5865D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30830" y="643468"/>
            <a:ext cx="7930341"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81881A-715A-32EA-F0E4-9E9AE9EB0CE5}"/>
              </a:ext>
            </a:extLst>
          </p:cNvPr>
          <p:cNvSpPr txBox="1"/>
          <p:nvPr/>
        </p:nvSpPr>
        <p:spPr>
          <a:xfrm>
            <a:off x="2900376" y="43283"/>
            <a:ext cx="5726766" cy="556902"/>
          </a:xfrm>
          <a:prstGeom prst="rect">
            <a:avLst/>
          </a:prstGeom>
        </p:spPr>
        <p:txBody>
          <a:bodyPr vert="horz" lIns="91440" tIns="45720" rIns="91440" bIns="45720" rtlCol="0" anchor="ctr">
            <a:normAutofit fontScale="77500" lnSpcReduction="20000"/>
          </a:bodyPr>
          <a:lstStyle>
            <a:lvl1pPr algn="ctr">
              <a:spcBef>
                <a:spcPct val="0"/>
              </a:spcBef>
              <a:buNone/>
              <a:defRPr sz="4000">
                <a:latin typeface="+mj-lt"/>
                <a:ea typeface="+mj-ea"/>
                <a:cs typeface="+mj-cs"/>
              </a:defRPr>
            </a:lvl1pPr>
          </a:lstStyle>
          <a:p>
            <a:r>
              <a:rPr lang="en-US" dirty="0"/>
              <a:t>ETSI NFV Architectural Framework</a:t>
            </a:r>
          </a:p>
        </p:txBody>
      </p:sp>
      <p:sp>
        <p:nvSpPr>
          <p:cNvPr id="6" name="Slide Number Placeholder 5">
            <a:extLst>
              <a:ext uri="{FF2B5EF4-FFF2-40B4-BE49-F238E27FC236}">
                <a16:creationId xmlns:a16="http://schemas.microsoft.com/office/drawing/2014/main" id="{30467510-F4E2-7E85-BB35-7E0C0761EAD7}"/>
              </a:ext>
            </a:extLst>
          </p:cNvPr>
          <p:cNvSpPr>
            <a:spLocks noGrp="1"/>
          </p:cNvSpPr>
          <p:nvPr>
            <p:ph type="sldNum" sz="quarter" idx="12"/>
          </p:nvPr>
        </p:nvSpPr>
        <p:spPr/>
        <p:txBody>
          <a:bodyPr/>
          <a:lstStyle/>
          <a:p>
            <a:fld id="{C1FF6DA9-008F-8B48-92A6-B652298478BF}" type="slidenum">
              <a:rPr lang="en-US" smtClean="0"/>
              <a:t>9</a:t>
            </a:fld>
            <a:endParaRPr lang="en-US"/>
          </a:p>
        </p:txBody>
      </p:sp>
    </p:spTree>
    <p:extLst>
      <p:ext uri="{BB962C8B-B14F-4D97-AF65-F5344CB8AC3E}">
        <p14:creationId xmlns:p14="http://schemas.microsoft.com/office/powerpoint/2010/main" val="2402097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AACB0-29FD-1F81-DA24-7599755EE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08264-FBD4-E6E6-ADC3-09C6F79E7849}"/>
              </a:ext>
            </a:extLst>
          </p:cNvPr>
          <p:cNvSpPr>
            <a:spLocks noGrp="1"/>
          </p:cNvSpPr>
          <p:nvPr>
            <p:ph type="title"/>
          </p:nvPr>
        </p:nvSpPr>
        <p:spPr>
          <a:xfrm>
            <a:off x="2209800" y="2521578"/>
            <a:ext cx="7772400" cy="1814844"/>
          </a:xfrm>
        </p:spPr>
        <p:txBody>
          <a:bodyPr>
            <a:normAutofit fontScale="90000"/>
          </a:bodyPr>
          <a:lstStyle/>
          <a:p>
            <a:pPr algn="ctr"/>
            <a:r>
              <a:rPr lang="en-LB" sz="6600" dirty="0"/>
              <a:t>NFV MANAGEMENT AND ORCHESTRATION</a:t>
            </a:r>
            <a:endParaRPr lang="en-LB" sz="6600" b="0" dirty="0"/>
          </a:p>
        </p:txBody>
      </p:sp>
      <p:sp>
        <p:nvSpPr>
          <p:cNvPr id="3" name="Slide Number Placeholder 2">
            <a:extLst>
              <a:ext uri="{FF2B5EF4-FFF2-40B4-BE49-F238E27FC236}">
                <a16:creationId xmlns:a16="http://schemas.microsoft.com/office/drawing/2014/main" id="{5A3F2D9E-77F5-8041-104D-F56D8A86DC93}"/>
              </a:ext>
            </a:extLst>
          </p:cNvPr>
          <p:cNvSpPr>
            <a:spLocks noGrp="1"/>
          </p:cNvSpPr>
          <p:nvPr>
            <p:ph type="sldNum" sz="quarter" idx="12"/>
          </p:nvPr>
        </p:nvSpPr>
        <p:spPr/>
        <p:txBody>
          <a:bodyPr/>
          <a:lstStyle/>
          <a:p>
            <a:fld id="{C1FF6DA9-008F-8B48-92A6-B652298478BF}" type="slidenum">
              <a:rPr lang="en-US" smtClean="0"/>
              <a:t>10</a:t>
            </a:fld>
            <a:endParaRPr lang="en-US"/>
          </a:p>
        </p:txBody>
      </p:sp>
    </p:spTree>
    <p:extLst>
      <p:ext uri="{BB962C8B-B14F-4D97-AF65-F5344CB8AC3E}">
        <p14:creationId xmlns:p14="http://schemas.microsoft.com/office/powerpoint/2010/main" val="2491759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FC3C8-43AA-6286-2225-96CA175F7F53}"/>
            </a:ext>
          </a:extLst>
        </p:cNvPr>
        <p:cNvGrpSpPr/>
        <p:nvPr/>
      </p:nvGrpSpPr>
      <p:grpSpPr>
        <a:xfrm>
          <a:off x="0" y="0"/>
          <a:ext cx="0" cy="0"/>
          <a:chOff x="0" y="0"/>
          <a:chExt cx="0" cy="0"/>
        </a:xfrm>
      </p:grpSpPr>
      <p:pic>
        <p:nvPicPr>
          <p:cNvPr id="1026" name="Picture 2" descr="ETSI NFV architectural framework. | Download Scientific Diagram">
            <a:extLst>
              <a:ext uri="{FF2B5EF4-FFF2-40B4-BE49-F238E27FC236}">
                <a16:creationId xmlns:a16="http://schemas.microsoft.com/office/drawing/2014/main" id="{922CCF24-7119-8F8C-36D8-58D4C9948C7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30830" y="643468"/>
            <a:ext cx="7930341"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42EF33E-8FDF-5CF1-A447-06154A663E42}"/>
              </a:ext>
            </a:extLst>
          </p:cNvPr>
          <p:cNvSpPr txBox="1"/>
          <p:nvPr/>
        </p:nvSpPr>
        <p:spPr>
          <a:xfrm>
            <a:off x="2900376" y="43283"/>
            <a:ext cx="5726766" cy="556902"/>
          </a:xfrm>
          <a:prstGeom prst="rect">
            <a:avLst/>
          </a:prstGeom>
        </p:spPr>
        <p:txBody>
          <a:bodyPr vert="horz" lIns="91440" tIns="45720" rIns="91440" bIns="45720" rtlCol="0" anchor="ctr">
            <a:normAutofit fontScale="77500" lnSpcReduction="20000"/>
          </a:bodyPr>
          <a:lstStyle>
            <a:lvl1pPr algn="ctr">
              <a:spcBef>
                <a:spcPct val="0"/>
              </a:spcBef>
              <a:buNone/>
              <a:defRPr sz="4000">
                <a:latin typeface="+mj-lt"/>
                <a:ea typeface="+mj-ea"/>
                <a:cs typeface="+mj-cs"/>
              </a:defRPr>
            </a:lvl1pPr>
          </a:lstStyle>
          <a:p>
            <a:r>
              <a:rPr lang="en-US" dirty="0"/>
              <a:t>ETSI NFV Architectural Framework</a:t>
            </a:r>
          </a:p>
        </p:txBody>
      </p:sp>
      <p:sp>
        <p:nvSpPr>
          <p:cNvPr id="6" name="Slide Number Placeholder 5">
            <a:extLst>
              <a:ext uri="{FF2B5EF4-FFF2-40B4-BE49-F238E27FC236}">
                <a16:creationId xmlns:a16="http://schemas.microsoft.com/office/drawing/2014/main" id="{1728F5A9-098D-5DAE-CA03-BF2796CDDFB2}"/>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2" name="Oval 1">
            <a:extLst>
              <a:ext uri="{FF2B5EF4-FFF2-40B4-BE49-F238E27FC236}">
                <a16:creationId xmlns:a16="http://schemas.microsoft.com/office/drawing/2014/main" id="{0B3613DA-1093-C03E-0AA0-AC4F2BE32ACA}"/>
              </a:ext>
            </a:extLst>
          </p:cNvPr>
          <p:cNvSpPr/>
          <p:nvPr/>
        </p:nvSpPr>
        <p:spPr>
          <a:xfrm>
            <a:off x="7942729" y="1272988"/>
            <a:ext cx="159571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Tree>
    <p:extLst>
      <p:ext uri="{BB962C8B-B14F-4D97-AF65-F5344CB8AC3E}">
        <p14:creationId xmlns:p14="http://schemas.microsoft.com/office/powerpoint/2010/main" val="1693950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p:cNvSpPr>
            <a:spLocks noGrp="1"/>
          </p:cNvSpPr>
          <p:nvPr>
            <p:ph type="sldNum" sz="quarter" idx="12"/>
          </p:nvPr>
        </p:nvSpPr>
        <p:spPr/>
        <p:txBody>
          <a:bodyPr/>
          <a:lstStyle/>
          <a:p>
            <a:fld id="{B6F15528-21DE-4FAA-801E-634DDDAF4B2B}" type="slidenum">
              <a:rPr lang="en-US" smtClean="0"/>
              <a:t>12</a:t>
            </a:fld>
            <a:endParaRPr lang="en-US" dirty="0"/>
          </a:p>
        </p:txBody>
      </p:sp>
      <p:sp>
        <p:nvSpPr>
          <p:cNvPr id="3" name="object 3"/>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spc="-5" dirty="0">
                <a:latin typeface="Times New Roman"/>
                <a:cs typeface="Times New Roman"/>
              </a:rPr>
              <a:t>NFV Orchestrator</a:t>
            </a:r>
            <a:endParaRPr sz="3200" b="1" dirty="0">
              <a:latin typeface="Times New Roman"/>
              <a:cs typeface="Times New Roman"/>
            </a:endParaRPr>
          </a:p>
        </p:txBody>
      </p:sp>
      <p:sp>
        <p:nvSpPr>
          <p:cNvPr id="6" name="TextBox 5">
            <a:extLst>
              <a:ext uri="{FF2B5EF4-FFF2-40B4-BE49-F238E27FC236}">
                <a16:creationId xmlns:a16="http://schemas.microsoft.com/office/drawing/2014/main" id="{293536E9-51FF-D811-E20C-74088969828B}"/>
              </a:ext>
            </a:extLst>
          </p:cNvPr>
          <p:cNvSpPr txBox="1"/>
          <p:nvPr/>
        </p:nvSpPr>
        <p:spPr>
          <a:xfrm>
            <a:off x="1981452" y="2274839"/>
            <a:ext cx="8229348" cy="2908489"/>
          </a:xfrm>
          <a:prstGeom prst="rect">
            <a:avLst/>
          </a:prstGeom>
          <a:noFill/>
        </p:spPr>
        <p:txBody>
          <a:bodyPr wrap="square">
            <a:spAutoFit/>
          </a:bodyPr>
          <a:lstStyle/>
          <a:p>
            <a:pPr marL="457200" indent="-457200" algn="just">
              <a:spcBef>
                <a:spcPts val="1200"/>
              </a:spcBef>
              <a:spcAft>
                <a:spcPts val="600"/>
              </a:spcAft>
              <a:buFont typeface="Arial" panose="020B0604020202020204" pitchFamily="34" charset="0"/>
              <a:buChar char="•"/>
            </a:pPr>
            <a:r>
              <a:rPr lang="en-US" sz="2800" dirty="0">
                <a:solidFill>
                  <a:srgbClr val="0F1115"/>
                </a:solidFill>
                <a:latin typeface="Times New Roman" panose="02020603050405020304" pitchFamily="18" charset="0"/>
                <a:cs typeface="Times New Roman" panose="02020603050405020304" pitchFamily="18" charset="0"/>
              </a:rPr>
              <a:t>The central brain and automation engine in an NFV architecture. </a:t>
            </a:r>
          </a:p>
          <a:p>
            <a:pPr marL="457200" indent="-457200" algn="just">
              <a:spcBef>
                <a:spcPts val="1200"/>
              </a:spcBef>
              <a:spcAft>
                <a:spcPts val="600"/>
              </a:spcAft>
              <a:buFont typeface="Arial" panose="020B0604020202020204" pitchFamily="34" charset="0"/>
              <a:buChar char="•"/>
            </a:pPr>
            <a:r>
              <a:rPr lang="en-US" sz="2800" dirty="0">
                <a:solidFill>
                  <a:srgbClr val="0F1115"/>
                </a:solidFill>
                <a:latin typeface="Times New Roman" panose="02020603050405020304" pitchFamily="18" charset="0"/>
                <a:cs typeface="Times New Roman" panose="02020603050405020304" pitchFamily="18" charset="0"/>
              </a:rPr>
              <a:t>Primary role: manage the </a:t>
            </a:r>
            <a:r>
              <a:rPr lang="en-US" sz="2800" dirty="0">
                <a:solidFill>
                  <a:schemeClr val="accent5">
                    <a:lumMod val="75000"/>
                  </a:schemeClr>
                </a:solidFill>
                <a:latin typeface="Times New Roman" panose="02020603050405020304" pitchFamily="18" charset="0"/>
                <a:cs typeface="Times New Roman" panose="02020603050405020304" pitchFamily="18" charset="0"/>
              </a:rPr>
              <a:t>end-to-end lifecycle of Network Services</a:t>
            </a:r>
            <a:r>
              <a:rPr lang="en-US" sz="2800" b="1" dirty="0">
                <a:solidFill>
                  <a:srgbClr val="0F1115"/>
                </a:solidFill>
                <a:latin typeface="Times New Roman" panose="02020603050405020304" pitchFamily="18" charset="0"/>
                <a:cs typeface="Times New Roman" panose="02020603050405020304" pitchFamily="18" charset="0"/>
              </a:rPr>
              <a:t> </a:t>
            </a:r>
            <a:r>
              <a:rPr lang="en-US" sz="2800" i="1" dirty="0">
                <a:solidFill>
                  <a:srgbClr val="0F1115"/>
                </a:solidFill>
                <a:latin typeface="Times New Roman" panose="02020603050405020304" pitchFamily="18" charset="0"/>
                <a:cs typeface="Times New Roman" panose="02020603050405020304" pitchFamily="18" charset="0"/>
              </a:rPr>
              <a:t>(chains of Virtualized Network Functions (VNFs))</a:t>
            </a:r>
            <a:r>
              <a:rPr lang="en-US" sz="2800" dirty="0">
                <a:solidFill>
                  <a:srgbClr val="0F1115"/>
                </a:solidFill>
                <a:latin typeface="Times New Roman" panose="02020603050405020304" pitchFamily="18" charset="0"/>
                <a:cs typeface="Times New Roman" panose="02020603050405020304" pitchFamily="18" charset="0"/>
              </a:rPr>
              <a:t> by coordinating resources and processes across the entire NFV infrastructure.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E9656-A484-DD43-AB9E-3CBDDFA88F2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22906E0-DBD1-B55D-C051-7B6CDDEF8A44}"/>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E4D1D8EB-3A63-1142-F47E-41096AA426C7}"/>
              </a:ext>
            </a:extLst>
          </p:cNvPr>
          <p:cNvSpPr>
            <a:spLocks noGrp="1"/>
          </p:cNvSpPr>
          <p:nvPr>
            <p:ph type="sldNum" sz="quarter" idx="12"/>
          </p:nvPr>
        </p:nvSpPr>
        <p:spPr/>
        <p:txBody>
          <a:bodyPr/>
          <a:lstStyle/>
          <a:p>
            <a:fld id="{B6F15528-21DE-4FAA-801E-634DDDAF4B2B}" type="slidenum">
              <a:rPr lang="en-US" smtClean="0"/>
              <a:t>13</a:t>
            </a:fld>
            <a:endParaRPr lang="en-US" dirty="0"/>
          </a:p>
        </p:txBody>
      </p:sp>
      <p:sp>
        <p:nvSpPr>
          <p:cNvPr id="3" name="object 3">
            <a:extLst>
              <a:ext uri="{FF2B5EF4-FFF2-40B4-BE49-F238E27FC236}">
                <a16:creationId xmlns:a16="http://schemas.microsoft.com/office/drawing/2014/main" id="{96338363-5547-E4C7-B2D0-FBF9270F0ECE}"/>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spc="-5" dirty="0">
                <a:latin typeface="Times New Roman"/>
                <a:cs typeface="Times New Roman"/>
              </a:rPr>
              <a:t>NFV Orchestrator</a:t>
            </a:r>
            <a:endParaRPr sz="3200" b="1" dirty="0">
              <a:latin typeface="Times New Roman"/>
              <a:cs typeface="Times New Roman"/>
            </a:endParaRPr>
          </a:p>
        </p:txBody>
      </p:sp>
      <p:sp>
        <p:nvSpPr>
          <p:cNvPr id="6" name="TextBox 5">
            <a:extLst>
              <a:ext uri="{FF2B5EF4-FFF2-40B4-BE49-F238E27FC236}">
                <a16:creationId xmlns:a16="http://schemas.microsoft.com/office/drawing/2014/main" id="{12D4605E-2AB0-E4C4-D008-7F9B4BDE27F4}"/>
              </a:ext>
            </a:extLst>
          </p:cNvPr>
          <p:cNvSpPr txBox="1"/>
          <p:nvPr/>
        </p:nvSpPr>
        <p:spPr>
          <a:xfrm>
            <a:off x="1903197" y="1589834"/>
            <a:ext cx="8229348" cy="461665"/>
          </a:xfrm>
          <a:prstGeom prst="rect">
            <a:avLst/>
          </a:prstGeom>
          <a:noFill/>
        </p:spPr>
        <p:txBody>
          <a:bodyPr wrap="square">
            <a:spAutoFit/>
          </a:bodyPr>
          <a:lstStyle/>
          <a:p>
            <a:pPr>
              <a:spcBef>
                <a:spcPts val="2400"/>
              </a:spcBef>
              <a:spcAft>
                <a:spcPts val="1200"/>
              </a:spcAft>
            </a:pPr>
            <a:r>
              <a:rPr lang="en-US" sz="2400" dirty="0">
                <a:solidFill>
                  <a:srgbClr val="0F1115"/>
                </a:solidFill>
                <a:latin typeface="quote-cjk-patch"/>
              </a:rPr>
              <a:t>Key Responsibilities and Functionalities</a:t>
            </a:r>
          </a:p>
        </p:txBody>
      </p:sp>
      <p:sp>
        <p:nvSpPr>
          <p:cNvPr id="7" name="TextBox 6">
            <a:extLst>
              <a:ext uri="{FF2B5EF4-FFF2-40B4-BE49-F238E27FC236}">
                <a16:creationId xmlns:a16="http://schemas.microsoft.com/office/drawing/2014/main" id="{53382498-530E-32E0-D13E-76AF80680E07}"/>
              </a:ext>
            </a:extLst>
          </p:cNvPr>
          <p:cNvSpPr txBox="1"/>
          <p:nvPr/>
        </p:nvSpPr>
        <p:spPr>
          <a:xfrm>
            <a:off x="1845197" y="2234680"/>
            <a:ext cx="8501606" cy="4278094"/>
          </a:xfrm>
          <a:prstGeom prst="rect">
            <a:avLst/>
          </a:prstGeom>
          <a:noFill/>
        </p:spPr>
        <p:txBody>
          <a:bodyPr wrap="square">
            <a:spAutoFit/>
          </a:bodyPr>
          <a:lstStyle/>
          <a:p>
            <a:pPr algn="just">
              <a:spcBef>
                <a:spcPts val="600"/>
              </a:spcBef>
              <a:spcAft>
                <a:spcPts val="600"/>
              </a:spcAft>
            </a:pPr>
            <a:r>
              <a:rPr lang="en-US" sz="2400" b="1" dirty="0">
                <a:solidFill>
                  <a:srgbClr val="0F1115"/>
                </a:solidFill>
                <a:latin typeface="quote-cjk-patch"/>
              </a:rPr>
              <a:t>1- Network Service Lifecycle Management (core function) </a:t>
            </a:r>
          </a:p>
          <a:p>
            <a:pPr marL="742950" lvl="1" indent="-285750" algn="just">
              <a:spcBef>
                <a:spcPts val="600"/>
              </a:spcBef>
              <a:spcAft>
                <a:spcPts val="600"/>
              </a:spcAft>
              <a:buFont typeface="Arial" panose="020B0604020202020204" pitchFamily="34" charset="0"/>
              <a:buChar char="•"/>
            </a:pPr>
            <a:r>
              <a:rPr lang="en-US" b="1" dirty="0">
                <a:solidFill>
                  <a:srgbClr val="0F1115"/>
                </a:solidFill>
                <a:latin typeface="quote-cjk-patch"/>
              </a:rPr>
              <a:t>Instantiation: </a:t>
            </a:r>
            <a:r>
              <a:rPr lang="en-US" dirty="0">
                <a:solidFill>
                  <a:srgbClr val="0F1115"/>
                </a:solidFill>
                <a:latin typeface="quote-cjk-patch"/>
              </a:rPr>
              <a:t>reads a blueprint (Network Service Descriptor) and automatically coordinates with the VNF Manager(s) and VIM to create, connect, and launch all the VNFs in the correct order.</a:t>
            </a:r>
          </a:p>
          <a:p>
            <a:pPr marL="742950" lvl="1" indent="-285750" algn="just">
              <a:spcBef>
                <a:spcPts val="600"/>
              </a:spcBef>
              <a:spcAft>
                <a:spcPts val="600"/>
              </a:spcAft>
              <a:buFont typeface="Arial" panose="020B0604020202020204" pitchFamily="34" charset="0"/>
              <a:buChar char="•"/>
            </a:pPr>
            <a:r>
              <a:rPr lang="en-US" b="1" dirty="0">
                <a:solidFill>
                  <a:srgbClr val="0F1115"/>
                </a:solidFill>
                <a:latin typeface="quote-cjk-patch"/>
              </a:rPr>
              <a:t>Scaling:</a:t>
            </a:r>
            <a:r>
              <a:rPr lang="en-US" dirty="0">
                <a:solidFill>
                  <a:srgbClr val="0F1115"/>
                </a:solidFill>
                <a:latin typeface="quote-cjk-patch"/>
              </a:rPr>
              <a:t> can automatically scale a service in or out based on policies and traffic demands (e.g., adding more virtual firewall instances during peak load).</a:t>
            </a:r>
          </a:p>
          <a:p>
            <a:pPr marL="742950" lvl="1" indent="-285750" algn="just">
              <a:spcBef>
                <a:spcPts val="600"/>
              </a:spcBef>
              <a:spcAft>
                <a:spcPts val="600"/>
              </a:spcAft>
              <a:buFont typeface="Arial" panose="020B0604020202020204" pitchFamily="34" charset="0"/>
              <a:buChar char="•"/>
            </a:pPr>
            <a:r>
              <a:rPr lang="en-US" b="1" dirty="0">
                <a:solidFill>
                  <a:srgbClr val="0F1115"/>
                </a:solidFill>
                <a:latin typeface="quote-cjk-patch"/>
              </a:rPr>
              <a:t>Healing:</a:t>
            </a:r>
            <a:r>
              <a:rPr lang="en-US" dirty="0">
                <a:solidFill>
                  <a:srgbClr val="0F1115"/>
                </a:solidFill>
                <a:latin typeface="quote-cjk-patch"/>
              </a:rPr>
              <a:t> If a service fails, it can initiate recovery actions, like restarting a VNF or moving it to a healthy server.</a:t>
            </a:r>
          </a:p>
          <a:p>
            <a:pPr marL="742950" lvl="1" indent="-285750" algn="just">
              <a:spcBef>
                <a:spcPts val="600"/>
              </a:spcBef>
              <a:spcAft>
                <a:spcPts val="600"/>
              </a:spcAft>
              <a:buFont typeface="Arial" panose="020B0604020202020204" pitchFamily="34" charset="0"/>
              <a:buChar char="•"/>
            </a:pPr>
            <a:r>
              <a:rPr lang="en-US" b="1" dirty="0">
                <a:solidFill>
                  <a:srgbClr val="0F1115"/>
                </a:solidFill>
                <a:latin typeface="quote-cjk-patch"/>
              </a:rPr>
              <a:t>Update/Upgrade:</a:t>
            </a:r>
            <a:r>
              <a:rPr lang="en-US" dirty="0">
                <a:solidFill>
                  <a:srgbClr val="0F1115"/>
                </a:solidFill>
                <a:latin typeface="quote-cjk-patch"/>
              </a:rPr>
              <a:t> It manages coordinated software upgrades for the entire service without causing downtime.</a:t>
            </a:r>
          </a:p>
          <a:p>
            <a:pPr marL="742950" lvl="1" indent="-285750" algn="just">
              <a:spcBef>
                <a:spcPts val="600"/>
              </a:spcBef>
              <a:spcAft>
                <a:spcPts val="600"/>
              </a:spcAft>
              <a:buFont typeface="Arial" panose="020B0604020202020204" pitchFamily="34" charset="0"/>
              <a:buChar char="•"/>
            </a:pPr>
            <a:r>
              <a:rPr lang="en-US" b="1" dirty="0">
                <a:solidFill>
                  <a:srgbClr val="0F1115"/>
                </a:solidFill>
                <a:latin typeface="quote-cjk-patch"/>
              </a:rPr>
              <a:t>Termination:</a:t>
            </a:r>
            <a:r>
              <a:rPr lang="en-US" dirty="0">
                <a:solidFill>
                  <a:srgbClr val="0F1115"/>
                </a:solidFill>
                <a:latin typeface="quote-cjk-patch"/>
              </a:rPr>
              <a:t> It cleanly shuts down and decommissions the entire service, freeing up all resources.</a:t>
            </a:r>
          </a:p>
        </p:txBody>
      </p:sp>
    </p:spTree>
    <p:extLst>
      <p:ext uri="{BB962C8B-B14F-4D97-AF65-F5344CB8AC3E}">
        <p14:creationId xmlns:p14="http://schemas.microsoft.com/office/powerpoint/2010/main" val="403910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checkerboard(across)">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dissolv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blinds(horizontal)">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dissolv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blinds(horizontal)">
                                      <p:cBhvr>
                                        <p:cTn id="2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4BF7E-ECD5-9EA2-5B38-54B40F344F4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CA595EE-4C15-F367-5A41-E9CB893720B5}"/>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304D1F67-A1CD-4705-076C-C90E75A99B5D}"/>
              </a:ext>
            </a:extLst>
          </p:cNvPr>
          <p:cNvSpPr>
            <a:spLocks noGrp="1"/>
          </p:cNvSpPr>
          <p:nvPr>
            <p:ph type="sldNum" sz="quarter" idx="12"/>
          </p:nvPr>
        </p:nvSpPr>
        <p:spPr/>
        <p:txBody>
          <a:bodyPr/>
          <a:lstStyle/>
          <a:p>
            <a:fld id="{B6F15528-21DE-4FAA-801E-634DDDAF4B2B}" type="slidenum">
              <a:rPr lang="en-US" smtClean="0"/>
              <a:t>14</a:t>
            </a:fld>
            <a:endParaRPr lang="en-US" dirty="0"/>
          </a:p>
        </p:txBody>
      </p:sp>
      <p:sp>
        <p:nvSpPr>
          <p:cNvPr id="3" name="object 3">
            <a:extLst>
              <a:ext uri="{FF2B5EF4-FFF2-40B4-BE49-F238E27FC236}">
                <a16:creationId xmlns:a16="http://schemas.microsoft.com/office/drawing/2014/main" id="{2B8CEC3E-515C-5289-CA78-D3FF30C4B55F}"/>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spc="-5" dirty="0">
                <a:latin typeface="Times New Roman"/>
                <a:cs typeface="Times New Roman"/>
              </a:rPr>
              <a:t>NFV Orchestrator</a:t>
            </a:r>
            <a:endParaRPr sz="3200" b="1" dirty="0">
              <a:latin typeface="Times New Roman"/>
              <a:cs typeface="Times New Roman"/>
            </a:endParaRPr>
          </a:p>
        </p:txBody>
      </p:sp>
      <p:sp>
        <p:nvSpPr>
          <p:cNvPr id="6" name="TextBox 5">
            <a:extLst>
              <a:ext uri="{FF2B5EF4-FFF2-40B4-BE49-F238E27FC236}">
                <a16:creationId xmlns:a16="http://schemas.microsoft.com/office/drawing/2014/main" id="{A01A4E74-607F-5BB7-8AF5-53FE4EAAE6FB}"/>
              </a:ext>
            </a:extLst>
          </p:cNvPr>
          <p:cNvSpPr txBox="1"/>
          <p:nvPr/>
        </p:nvSpPr>
        <p:spPr>
          <a:xfrm>
            <a:off x="1903197" y="1589834"/>
            <a:ext cx="8229348" cy="461665"/>
          </a:xfrm>
          <a:prstGeom prst="rect">
            <a:avLst/>
          </a:prstGeom>
          <a:noFill/>
        </p:spPr>
        <p:txBody>
          <a:bodyPr wrap="square">
            <a:spAutoFit/>
          </a:bodyPr>
          <a:lstStyle/>
          <a:p>
            <a:pPr>
              <a:spcBef>
                <a:spcPts val="2400"/>
              </a:spcBef>
              <a:spcAft>
                <a:spcPts val="1200"/>
              </a:spcAft>
            </a:pPr>
            <a:r>
              <a:rPr lang="en-US" sz="2400" dirty="0">
                <a:solidFill>
                  <a:srgbClr val="0F1115"/>
                </a:solidFill>
                <a:latin typeface="quote-cjk-patch"/>
              </a:rPr>
              <a:t>Key Responsibilities and Functionalities</a:t>
            </a:r>
          </a:p>
        </p:txBody>
      </p:sp>
      <p:sp>
        <p:nvSpPr>
          <p:cNvPr id="7" name="TextBox 6">
            <a:extLst>
              <a:ext uri="{FF2B5EF4-FFF2-40B4-BE49-F238E27FC236}">
                <a16:creationId xmlns:a16="http://schemas.microsoft.com/office/drawing/2014/main" id="{860AFC6C-E5F1-81EA-D551-02E788FECC0F}"/>
              </a:ext>
            </a:extLst>
          </p:cNvPr>
          <p:cNvSpPr txBox="1"/>
          <p:nvPr/>
        </p:nvSpPr>
        <p:spPr>
          <a:xfrm>
            <a:off x="1845197" y="2126283"/>
            <a:ext cx="8501606" cy="2539157"/>
          </a:xfrm>
          <a:prstGeom prst="rect">
            <a:avLst/>
          </a:prstGeom>
          <a:noFill/>
        </p:spPr>
        <p:txBody>
          <a:bodyPr wrap="square">
            <a:spAutoFit/>
          </a:bodyPr>
          <a:lstStyle/>
          <a:p>
            <a:pPr algn="just">
              <a:spcBef>
                <a:spcPts val="600"/>
              </a:spcBef>
            </a:pPr>
            <a:r>
              <a:rPr lang="en-US" sz="2400" b="1" dirty="0">
                <a:solidFill>
                  <a:srgbClr val="0F1115"/>
                </a:solidFill>
                <a:latin typeface="quote-cjk-patch"/>
              </a:rPr>
              <a:t>2- Resource Orchestration &amp; Global Inventory</a:t>
            </a:r>
          </a:p>
          <a:p>
            <a:pPr marL="742950" lvl="1" indent="-285750" algn="just">
              <a:spcBef>
                <a:spcPts val="600"/>
              </a:spcBef>
              <a:buFont typeface="Arial" panose="020B0604020202020204" pitchFamily="34" charset="0"/>
              <a:buChar char="•"/>
            </a:pPr>
            <a:r>
              <a:rPr lang="en-US" sz="2000" dirty="0">
                <a:solidFill>
                  <a:srgbClr val="0F1115"/>
                </a:solidFill>
                <a:latin typeface="quote-cjk-patch"/>
              </a:rPr>
              <a:t>Maintains a global view of all available resources (compute, storage, network) across multiple data centers and cloud sites by talking to one or more VIMs.</a:t>
            </a:r>
          </a:p>
          <a:p>
            <a:pPr marL="742950" lvl="1" indent="-285750" algn="just">
              <a:spcBef>
                <a:spcPts val="600"/>
              </a:spcBef>
              <a:buFont typeface="Arial" panose="020B0604020202020204" pitchFamily="34" charset="0"/>
              <a:buChar char="•"/>
            </a:pPr>
            <a:r>
              <a:rPr lang="en-US" sz="2000" dirty="0">
                <a:solidFill>
                  <a:srgbClr val="0F1115"/>
                </a:solidFill>
                <a:latin typeface="quote-cjk-patch"/>
              </a:rPr>
              <a:t>It makes intelligent placement decisions for VNFs based on policies </a:t>
            </a:r>
          </a:p>
          <a:p>
            <a:pPr marL="1257300" lvl="2" indent="-342900" algn="just">
              <a:spcBef>
                <a:spcPts val="600"/>
              </a:spcBef>
              <a:buFont typeface="Courier New" panose="02070309020205020404" pitchFamily="49" charset="0"/>
              <a:buChar char="o"/>
            </a:pPr>
            <a:r>
              <a:rPr lang="en-US" dirty="0">
                <a:solidFill>
                  <a:srgbClr val="0F1115"/>
                </a:solidFill>
                <a:latin typeface="quote-cjk-patch"/>
              </a:rPr>
              <a:t>"place this VNF in the data center closest to the user" or "ensure these two VNFs are on separate physical servers for redundancy".</a:t>
            </a:r>
          </a:p>
        </p:txBody>
      </p:sp>
      <p:sp>
        <p:nvSpPr>
          <p:cNvPr id="8" name="TextBox 7">
            <a:extLst>
              <a:ext uri="{FF2B5EF4-FFF2-40B4-BE49-F238E27FC236}">
                <a16:creationId xmlns:a16="http://schemas.microsoft.com/office/drawing/2014/main" id="{B0A775F7-20B7-969F-5CF0-09CA60BBC672}"/>
              </a:ext>
            </a:extLst>
          </p:cNvPr>
          <p:cNvSpPr txBox="1"/>
          <p:nvPr/>
        </p:nvSpPr>
        <p:spPr>
          <a:xfrm>
            <a:off x="1903198" y="4740224"/>
            <a:ext cx="8307603" cy="461665"/>
          </a:xfrm>
          <a:prstGeom prst="rect">
            <a:avLst/>
          </a:prstGeom>
          <a:noFill/>
        </p:spPr>
        <p:txBody>
          <a:bodyPr wrap="square">
            <a:spAutoFit/>
          </a:bodyPr>
          <a:lstStyle/>
          <a:p>
            <a:pPr>
              <a:spcBef>
                <a:spcPts val="1200"/>
              </a:spcBef>
              <a:spcAft>
                <a:spcPts val="600"/>
              </a:spcAft>
            </a:pPr>
            <a:r>
              <a:rPr lang="en-US" sz="2400" b="1" dirty="0">
                <a:solidFill>
                  <a:srgbClr val="0F1115"/>
                </a:solidFill>
                <a:latin typeface="quote-cjk-patch"/>
              </a:rPr>
              <a:t>3- Policy Management and Enforcement</a:t>
            </a:r>
          </a:p>
        </p:txBody>
      </p:sp>
      <p:sp>
        <p:nvSpPr>
          <p:cNvPr id="10" name="TextBox 9">
            <a:extLst>
              <a:ext uri="{FF2B5EF4-FFF2-40B4-BE49-F238E27FC236}">
                <a16:creationId xmlns:a16="http://schemas.microsoft.com/office/drawing/2014/main" id="{ABDBF462-02D5-ED59-C5BF-DCFE3B8A3768}"/>
              </a:ext>
            </a:extLst>
          </p:cNvPr>
          <p:cNvSpPr txBox="1"/>
          <p:nvPr/>
        </p:nvSpPr>
        <p:spPr>
          <a:xfrm>
            <a:off x="1845197" y="5246782"/>
            <a:ext cx="8501606" cy="1092607"/>
          </a:xfrm>
          <a:prstGeom prst="rect">
            <a:avLst/>
          </a:prstGeom>
          <a:noFill/>
        </p:spPr>
        <p:txBody>
          <a:bodyPr wrap="square">
            <a:spAutoFit/>
          </a:bodyPr>
          <a:lstStyle/>
          <a:p>
            <a:pPr marL="742950" lvl="1" indent="-285750" algn="just">
              <a:spcBef>
                <a:spcPts val="600"/>
              </a:spcBef>
              <a:buFont typeface="Arial" panose="020B0604020202020204" pitchFamily="34" charset="0"/>
              <a:buChar char="•"/>
            </a:pPr>
            <a:r>
              <a:rPr lang="en-US" sz="2000" dirty="0">
                <a:solidFill>
                  <a:srgbClr val="0F1115"/>
                </a:solidFill>
                <a:latin typeface="quote-cjk-patch"/>
              </a:rPr>
              <a:t>Implements high-level business and operational policies, such as Service Level Agreements (SLAs), security rules, and affinity/anti-affinity rules </a:t>
            </a:r>
          </a:p>
          <a:p>
            <a:pPr marL="1257300" lvl="2" indent="-342900" algn="just">
              <a:spcBef>
                <a:spcPts val="600"/>
              </a:spcBef>
              <a:buFont typeface="Courier New" panose="02070309020205020404" pitchFamily="49" charset="0"/>
              <a:buChar char="o"/>
            </a:pPr>
            <a:r>
              <a:rPr lang="en-US" dirty="0">
                <a:solidFill>
                  <a:srgbClr val="0F1115"/>
                </a:solidFill>
                <a:latin typeface="quote-cjk-patch"/>
              </a:rPr>
              <a:t>"these VNFs must not run on the same physical host”.</a:t>
            </a:r>
          </a:p>
        </p:txBody>
      </p:sp>
    </p:spTree>
    <p:extLst>
      <p:ext uri="{BB962C8B-B14F-4D97-AF65-F5344CB8AC3E}">
        <p14:creationId xmlns:p14="http://schemas.microsoft.com/office/powerpoint/2010/main" val="1030477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dissolve">
                                      <p:cBhvr>
                                        <p:cTn id="7" dur="500"/>
                                        <p:tgtEl>
                                          <p:spTgt spid="7">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dissolve">
                                      <p:cBhvr>
                                        <p:cTn id="10" dur="500"/>
                                        <p:tgtEl>
                                          <p:spTgt spid="7">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dissolve">
                                      <p:cBhvr>
                                        <p:cTn id="13" dur="500"/>
                                        <p:tgtEl>
                                          <p:spTgt spid="7">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dissolve">
                                      <p:cBhvr>
                                        <p:cTn id="16" dur="500"/>
                                        <p:tgtEl>
                                          <p:spTgt spid="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8E3F9-FE5F-8639-8C17-6B8BA87BAB4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B8901EB-E466-FA57-4E75-2D3232D7652D}"/>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7844139B-5B10-07AC-EAF6-871A7A7D5870}"/>
              </a:ext>
            </a:extLst>
          </p:cNvPr>
          <p:cNvSpPr>
            <a:spLocks noGrp="1"/>
          </p:cNvSpPr>
          <p:nvPr>
            <p:ph type="sldNum" sz="quarter" idx="12"/>
          </p:nvPr>
        </p:nvSpPr>
        <p:spPr/>
        <p:txBody>
          <a:bodyPr/>
          <a:lstStyle/>
          <a:p>
            <a:fld id="{B6F15528-21DE-4FAA-801E-634DDDAF4B2B}" type="slidenum">
              <a:rPr lang="en-US" smtClean="0"/>
              <a:t>15</a:t>
            </a:fld>
            <a:endParaRPr lang="en-US" dirty="0"/>
          </a:p>
        </p:txBody>
      </p:sp>
      <p:sp>
        <p:nvSpPr>
          <p:cNvPr id="3" name="object 3">
            <a:extLst>
              <a:ext uri="{FF2B5EF4-FFF2-40B4-BE49-F238E27FC236}">
                <a16:creationId xmlns:a16="http://schemas.microsoft.com/office/drawing/2014/main" id="{9CB292FB-267E-498A-0C6B-09DCCDD50C06}"/>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spc="-5" dirty="0">
                <a:latin typeface="Times New Roman"/>
                <a:cs typeface="Times New Roman"/>
              </a:rPr>
              <a:t>NFV Orchestrator</a:t>
            </a:r>
            <a:endParaRPr sz="3200" b="1" dirty="0">
              <a:latin typeface="Times New Roman"/>
              <a:cs typeface="Times New Roman"/>
            </a:endParaRPr>
          </a:p>
        </p:txBody>
      </p:sp>
      <p:sp>
        <p:nvSpPr>
          <p:cNvPr id="6" name="TextBox 5">
            <a:extLst>
              <a:ext uri="{FF2B5EF4-FFF2-40B4-BE49-F238E27FC236}">
                <a16:creationId xmlns:a16="http://schemas.microsoft.com/office/drawing/2014/main" id="{823A0E16-AB75-D0B6-E719-539014490318}"/>
              </a:ext>
            </a:extLst>
          </p:cNvPr>
          <p:cNvSpPr txBox="1"/>
          <p:nvPr/>
        </p:nvSpPr>
        <p:spPr>
          <a:xfrm>
            <a:off x="1903197" y="1589834"/>
            <a:ext cx="8229348" cy="461665"/>
          </a:xfrm>
          <a:prstGeom prst="rect">
            <a:avLst/>
          </a:prstGeom>
          <a:noFill/>
        </p:spPr>
        <p:txBody>
          <a:bodyPr wrap="square">
            <a:spAutoFit/>
          </a:bodyPr>
          <a:lstStyle/>
          <a:p>
            <a:pPr>
              <a:spcBef>
                <a:spcPts val="2400"/>
              </a:spcBef>
              <a:spcAft>
                <a:spcPts val="1200"/>
              </a:spcAft>
            </a:pPr>
            <a:r>
              <a:rPr lang="en-US" sz="2400" dirty="0">
                <a:solidFill>
                  <a:srgbClr val="0F1115"/>
                </a:solidFill>
                <a:latin typeface="quote-cjk-patch"/>
              </a:rPr>
              <a:t>Key Responsibilities and Functionalities</a:t>
            </a:r>
          </a:p>
        </p:txBody>
      </p:sp>
      <p:sp>
        <p:nvSpPr>
          <p:cNvPr id="7" name="TextBox 6">
            <a:extLst>
              <a:ext uri="{FF2B5EF4-FFF2-40B4-BE49-F238E27FC236}">
                <a16:creationId xmlns:a16="http://schemas.microsoft.com/office/drawing/2014/main" id="{89490A14-2086-C88B-A045-FA151D9E9EAE}"/>
              </a:ext>
            </a:extLst>
          </p:cNvPr>
          <p:cNvSpPr txBox="1"/>
          <p:nvPr/>
        </p:nvSpPr>
        <p:spPr>
          <a:xfrm>
            <a:off x="1845197" y="2126283"/>
            <a:ext cx="8501606" cy="461665"/>
          </a:xfrm>
          <a:prstGeom prst="rect">
            <a:avLst/>
          </a:prstGeom>
          <a:noFill/>
        </p:spPr>
        <p:txBody>
          <a:bodyPr wrap="square">
            <a:spAutoFit/>
          </a:bodyPr>
          <a:lstStyle/>
          <a:p>
            <a:pPr algn="just">
              <a:spcBef>
                <a:spcPts val="600"/>
              </a:spcBef>
            </a:pPr>
            <a:r>
              <a:rPr lang="en-US" sz="2400" b="1" dirty="0">
                <a:solidFill>
                  <a:srgbClr val="0F1115"/>
                </a:solidFill>
                <a:latin typeface="quote-cjk-patch"/>
              </a:rPr>
              <a:t>4- Service Catalog Management</a:t>
            </a:r>
          </a:p>
        </p:txBody>
      </p:sp>
      <p:sp>
        <p:nvSpPr>
          <p:cNvPr id="8" name="TextBox 7">
            <a:extLst>
              <a:ext uri="{FF2B5EF4-FFF2-40B4-BE49-F238E27FC236}">
                <a16:creationId xmlns:a16="http://schemas.microsoft.com/office/drawing/2014/main" id="{18255ABA-C2CF-1DAB-F52E-6751A30B189E}"/>
              </a:ext>
            </a:extLst>
          </p:cNvPr>
          <p:cNvSpPr txBox="1"/>
          <p:nvPr/>
        </p:nvSpPr>
        <p:spPr>
          <a:xfrm>
            <a:off x="1903198" y="3999179"/>
            <a:ext cx="8307603" cy="461665"/>
          </a:xfrm>
          <a:prstGeom prst="rect">
            <a:avLst/>
          </a:prstGeom>
          <a:noFill/>
        </p:spPr>
        <p:txBody>
          <a:bodyPr wrap="square">
            <a:spAutoFit/>
          </a:bodyPr>
          <a:lstStyle/>
          <a:p>
            <a:pPr>
              <a:spcBef>
                <a:spcPts val="1200"/>
              </a:spcBef>
              <a:spcAft>
                <a:spcPts val="600"/>
              </a:spcAft>
            </a:pPr>
            <a:r>
              <a:rPr lang="en-US" sz="2400" b="1" dirty="0">
                <a:solidFill>
                  <a:srgbClr val="0F1115"/>
                </a:solidFill>
                <a:latin typeface="quote-cjk-patch"/>
              </a:rPr>
              <a:t>5- Interaction with OSS/BSS</a:t>
            </a:r>
          </a:p>
        </p:txBody>
      </p:sp>
      <p:sp>
        <p:nvSpPr>
          <p:cNvPr id="10" name="TextBox 9">
            <a:extLst>
              <a:ext uri="{FF2B5EF4-FFF2-40B4-BE49-F238E27FC236}">
                <a16:creationId xmlns:a16="http://schemas.microsoft.com/office/drawing/2014/main" id="{776E819E-9626-662F-2195-60E01BF4691F}"/>
              </a:ext>
            </a:extLst>
          </p:cNvPr>
          <p:cNvSpPr txBox="1"/>
          <p:nvPr/>
        </p:nvSpPr>
        <p:spPr>
          <a:xfrm>
            <a:off x="1845197" y="4567614"/>
            <a:ext cx="8501606" cy="1184940"/>
          </a:xfrm>
          <a:prstGeom prst="rect">
            <a:avLst/>
          </a:prstGeom>
          <a:noFill/>
        </p:spPr>
        <p:txBody>
          <a:bodyPr wrap="square">
            <a:spAutoFit/>
          </a:bodyPr>
          <a:lstStyle/>
          <a:p>
            <a:pPr marL="742950" lvl="1" indent="-285750" algn="just">
              <a:spcBef>
                <a:spcPts val="600"/>
              </a:spcBef>
              <a:spcAft>
                <a:spcPts val="1200"/>
              </a:spcAft>
              <a:buFont typeface="Arial" panose="020B0604020202020204" pitchFamily="34" charset="0"/>
              <a:buChar char="•"/>
            </a:pPr>
            <a:r>
              <a:rPr lang="en-US" sz="2000" dirty="0">
                <a:solidFill>
                  <a:srgbClr val="0F1115"/>
                </a:solidFill>
                <a:latin typeface="quote-cjk-patch"/>
              </a:rPr>
              <a:t>Provides a northbound interface for the traditional OSS/BSS. </a:t>
            </a:r>
          </a:p>
          <a:p>
            <a:pPr marL="1257300" lvl="2" indent="-342900" algn="just">
              <a:spcBef>
                <a:spcPts val="600"/>
              </a:spcBef>
              <a:spcAft>
                <a:spcPts val="1200"/>
              </a:spcAft>
              <a:buFont typeface="Courier New" panose="02070309020205020404" pitchFamily="49" charset="0"/>
              <a:buChar char="o"/>
            </a:pPr>
            <a:r>
              <a:rPr lang="en-US" dirty="0">
                <a:solidFill>
                  <a:srgbClr val="0F1115"/>
                </a:solidFill>
                <a:latin typeface="quote-cjk-patch"/>
              </a:rPr>
              <a:t>When the OSS requests a new service for a customer, the NFVO receives that request and executes the complex orchestration process to deliver it.</a:t>
            </a:r>
          </a:p>
        </p:txBody>
      </p:sp>
      <p:sp>
        <p:nvSpPr>
          <p:cNvPr id="9" name="TextBox 8">
            <a:extLst>
              <a:ext uri="{FF2B5EF4-FFF2-40B4-BE49-F238E27FC236}">
                <a16:creationId xmlns:a16="http://schemas.microsoft.com/office/drawing/2014/main" id="{C602B8C3-0EE4-2A52-4C2A-EBEDCCAB5735}"/>
              </a:ext>
            </a:extLst>
          </p:cNvPr>
          <p:cNvSpPr txBox="1"/>
          <p:nvPr/>
        </p:nvSpPr>
        <p:spPr>
          <a:xfrm>
            <a:off x="1845197" y="2693230"/>
            <a:ext cx="8501606" cy="1015663"/>
          </a:xfrm>
          <a:prstGeom prst="rect">
            <a:avLst/>
          </a:prstGeom>
          <a:noFill/>
        </p:spPr>
        <p:txBody>
          <a:bodyPr wrap="square">
            <a:spAutoFit/>
          </a:bodyPr>
          <a:lstStyle/>
          <a:p>
            <a:pPr marL="742950" lvl="1" indent="-285750" algn="just">
              <a:spcBef>
                <a:spcPts val="600"/>
              </a:spcBef>
              <a:spcAft>
                <a:spcPts val="1200"/>
              </a:spcAft>
              <a:buFont typeface="Arial" panose="020B0604020202020204" pitchFamily="34" charset="0"/>
              <a:buChar char="•"/>
            </a:pPr>
            <a:r>
              <a:rPr lang="en-US" sz="2000" dirty="0">
                <a:solidFill>
                  <a:srgbClr val="0F1115"/>
                </a:solidFill>
                <a:latin typeface="quote-cjk-patch"/>
              </a:rPr>
              <a:t>Maintains a catalog of available VNFs and pre-defined Network Service blueprints, which are templates that define the service's structure, dependencies, and resource requirements.</a:t>
            </a:r>
          </a:p>
        </p:txBody>
      </p:sp>
    </p:spTree>
    <p:extLst>
      <p:ext uri="{BB962C8B-B14F-4D97-AF65-F5344CB8AC3E}">
        <p14:creationId xmlns:p14="http://schemas.microsoft.com/office/powerpoint/2010/main" val="549658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FEA42-E0EB-9E32-7A2A-A6F6EC07686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E570D6-CD24-ED91-D339-2D3DFE023F0B}"/>
              </a:ext>
            </a:extLst>
          </p:cNvPr>
          <p:cNvSpPr>
            <a:spLocks noGrp="1"/>
          </p:cNvSpPr>
          <p:nvPr>
            <p:ph type="sldNum" sz="quarter" idx="12"/>
          </p:nvPr>
        </p:nvSpPr>
        <p:spPr/>
        <p:txBody>
          <a:bodyPr/>
          <a:lstStyle/>
          <a:p>
            <a:fld id="{B6F15528-21DE-4FAA-801E-634DDDAF4B2B}" type="slidenum">
              <a:rPr lang="en-US" smtClean="0"/>
              <a:t>16</a:t>
            </a:fld>
            <a:endParaRPr lang="en-US" dirty="0"/>
          </a:p>
        </p:txBody>
      </p:sp>
      <p:sp>
        <p:nvSpPr>
          <p:cNvPr id="11" name="TextBox 10">
            <a:extLst>
              <a:ext uri="{FF2B5EF4-FFF2-40B4-BE49-F238E27FC236}">
                <a16:creationId xmlns:a16="http://schemas.microsoft.com/office/drawing/2014/main" id="{E7001E54-0D87-EE06-1202-3A59693D4EDE}"/>
              </a:ext>
            </a:extLst>
          </p:cNvPr>
          <p:cNvSpPr txBox="1"/>
          <p:nvPr/>
        </p:nvSpPr>
        <p:spPr>
          <a:xfrm>
            <a:off x="1524000" y="484648"/>
            <a:ext cx="9144000" cy="6370975"/>
          </a:xfrm>
          <a:prstGeom prst="rect">
            <a:avLst/>
          </a:prstGeom>
          <a:noFill/>
        </p:spPr>
        <p:txBody>
          <a:bodyPr wrap="square">
            <a:spAutoFit/>
          </a:bodyPr>
          <a:lstStyle/>
          <a:p>
            <a:pPr algn="l">
              <a:buFont typeface="+mj-lt"/>
              <a:buAutoNum type="arabicPeriod"/>
            </a:pPr>
            <a:r>
              <a:rPr lang="en-US" sz="1700" b="1" dirty="0">
                <a:solidFill>
                  <a:srgbClr val="000000"/>
                </a:solidFill>
              </a:rPr>
              <a:t>Catalog Contents:</a:t>
            </a:r>
            <a:endParaRPr lang="en-US" sz="1700" dirty="0">
              <a:solidFill>
                <a:srgbClr val="000000"/>
              </a:solidFill>
            </a:endParaRPr>
          </a:p>
          <a:p>
            <a:pPr marL="742950" lvl="1" indent="-285750">
              <a:buFont typeface="+mj-lt"/>
              <a:buAutoNum type="arabicPeriod"/>
            </a:pPr>
            <a:r>
              <a:rPr lang="en-US" sz="1700" dirty="0">
                <a:solidFill>
                  <a:srgbClr val="000000"/>
                </a:solidFill>
              </a:rPr>
              <a:t>The </a:t>
            </a:r>
            <a:r>
              <a:rPr lang="en-US" sz="1700" b="1" dirty="0">
                <a:solidFill>
                  <a:srgbClr val="000000"/>
                </a:solidFill>
              </a:rPr>
              <a:t>Service Catalog</a:t>
            </a:r>
            <a:r>
              <a:rPr lang="en-US" sz="1700" dirty="0">
                <a:solidFill>
                  <a:srgbClr val="000000"/>
                </a:solidFill>
              </a:rPr>
              <a:t> contains a list of all available </a:t>
            </a:r>
            <a:r>
              <a:rPr lang="en-US" sz="1700" b="1" dirty="0">
                <a:solidFill>
                  <a:srgbClr val="000000"/>
                </a:solidFill>
              </a:rPr>
              <a:t>VNFs</a:t>
            </a:r>
            <a:r>
              <a:rPr lang="en-US" sz="1700" dirty="0">
                <a:solidFill>
                  <a:srgbClr val="000000"/>
                </a:solidFill>
              </a:rPr>
              <a:t> and </a:t>
            </a:r>
            <a:r>
              <a:rPr lang="en-US" sz="1700" b="1" dirty="0">
                <a:solidFill>
                  <a:srgbClr val="000000"/>
                </a:solidFill>
              </a:rPr>
              <a:t>Network Services</a:t>
            </a:r>
            <a:r>
              <a:rPr lang="en-US" sz="1700" dirty="0">
                <a:solidFill>
                  <a:srgbClr val="000000"/>
                </a:solidFill>
              </a:rPr>
              <a:t>, such as:</a:t>
            </a:r>
          </a:p>
          <a:p>
            <a:pPr marL="1143000" lvl="2" indent="-228600">
              <a:buFont typeface="+mj-lt"/>
              <a:buAutoNum type="arabicPeriod"/>
            </a:pPr>
            <a:r>
              <a:rPr lang="en-US" sz="1700" dirty="0">
                <a:solidFill>
                  <a:srgbClr val="000000"/>
                </a:solidFill>
              </a:rPr>
              <a:t>Virtual EPC (</a:t>
            </a:r>
            <a:r>
              <a:rPr lang="en-US" sz="1700" dirty="0" err="1">
                <a:solidFill>
                  <a:srgbClr val="000000"/>
                </a:solidFill>
              </a:rPr>
              <a:t>vEPC</a:t>
            </a:r>
            <a:r>
              <a:rPr lang="en-US" sz="1700" dirty="0">
                <a:solidFill>
                  <a:srgbClr val="000000"/>
                </a:solidFill>
              </a:rPr>
              <a:t>)</a:t>
            </a:r>
          </a:p>
          <a:p>
            <a:pPr marL="1143000" lvl="2" indent="-228600">
              <a:buFont typeface="+mj-lt"/>
              <a:buAutoNum type="arabicPeriod"/>
            </a:pPr>
            <a:r>
              <a:rPr lang="en-US" sz="1700" dirty="0">
                <a:solidFill>
                  <a:srgbClr val="000000"/>
                </a:solidFill>
              </a:rPr>
              <a:t>Virtual IMS (</a:t>
            </a:r>
            <a:r>
              <a:rPr lang="en-US" sz="1700" dirty="0" err="1">
                <a:solidFill>
                  <a:srgbClr val="000000"/>
                </a:solidFill>
              </a:rPr>
              <a:t>vIMS</a:t>
            </a:r>
            <a:r>
              <a:rPr lang="en-US" sz="1700" dirty="0">
                <a:solidFill>
                  <a:srgbClr val="000000"/>
                </a:solidFill>
              </a:rPr>
              <a:t>)</a:t>
            </a:r>
          </a:p>
          <a:p>
            <a:pPr marL="1143000" lvl="2" indent="-228600">
              <a:buFont typeface="+mj-lt"/>
              <a:buAutoNum type="arabicPeriod"/>
            </a:pPr>
            <a:r>
              <a:rPr lang="en-US" sz="1700" dirty="0">
                <a:solidFill>
                  <a:srgbClr val="000000"/>
                </a:solidFill>
              </a:rPr>
              <a:t>Virtual Firewall (</a:t>
            </a:r>
            <a:r>
              <a:rPr lang="en-US" sz="1700" dirty="0" err="1">
                <a:solidFill>
                  <a:srgbClr val="000000"/>
                </a:solidFill>
              </a:rPr>
              <a:t>vFW</a:t>
            </a:r>
            <a:r>
              <a:rPr lang="en-US" sz="1700" dirty="0">
                <a:solidFill>
                  <a:srgbClr val="000000"/>
                </a:solidFill>
              </a:rPr>
              <a:t>)</a:t>
            </a:r>
          </a:p>
          <a:p>
            <a:pPr marL="1143000" lvl="2" indent="-228600">
              <a:buFont typeface="+mj-lt"/>
              <a:buAutoNum type="arabicPeriod"/>
            </a:pPr>
            <a:r>
              <a:rPr lang="en-US" sz="1700" dirty="0">
                <a:solidFill>
                  <a:srgbClr val="000000"/>
                </a:solidFill>
              </a:rPr>
              <a:t>Load Balancer (</a:t>
            </a:r>
            <a:r>
              <a:rPr lang="en-US" sz="1700" dirty="0" err="1">
                <a:solidFill>
                  <a:srgbClr val="000000"/>
                </a:solidFill>
              </a:rPr>
              <a:t>vLB</a:t>
            </a:r>
            <a:r>
              <a:rPr lang="en-US" sz="1700" dirty="0">
                <a:solidFill>
                  <a:srgbClr val="000000"/>
                </a:solidFill>
              </a:rPr>
              <a:t>)</a:t>
            </a:r>
          </a:p>
          <a:p>
            <a:pPr marL="1143000" lvl="2" indent="-228600">
              <a:buFont typeface="+mj-lt"/>
              <a:buAutoNum type="arabicPeriod"/>
            </a:pPr>
            <a:r>
              <a:rPr lang="en-US" sz="1700" dirty="0">
                <a:solidFill>
                  <a:srgbClr val="000000"/>
                </a:solidFill>
              </a:rPr>
              <a:t>Network Slice Template for 5G services</a:t>
            </a:r>
          </a:p>
          <a:p>
            <a:pPr algn="l">
              <a:buFont typeface="+mj-lt"/>
              <a:buAutoNum type="arabicPeriod"/>
            </a:pPr>
            <a:r>
              <a:rPr lang="en-US" sz="1700" b="1" dirty="0">
                <a:solidFill>
                  <a:srgbClr val="000000"/>
                </a:solidFill>
              </a:rPr>
              <a:t>Blueprints:</a:t>
            </a:r>
            <a:endParaRPr lang="en-US" sz="1700" dirty="0">
              <a:solidFill>
                <a:srgbClr val="000000"/>
              </a:solidFill>
            </a:endParaRPr>
          </a:p>
          <a:p>
            <a:pPr marL="742950" lvl="1" indent="-285750">
              <a:buFont typeface="+mj-lt"/>
              <a:buAutoNum type="arabicPeriod"/>
            </a:pPr>
            <a:r>
              <a:rPr lang="en-US" sz="1700" dirty="0">
                <a:solidFill>
                  <a:srgbClr val="000000"/>
                </a:solidFill>
              </a:rPr>
              <a:t>Each service has a </a:t>
            </a:r>
            <a:r>
              <a:rPr lang="en-US" sz="1700" b="1" dirty="0">
                <a:solidFill>
                  <a:srgbClr val="000000"/>
                </a:solidFill>
              </a:rPr>
              <a:t>blueprint</a:t>
            </a:r>
            <a:r>
              <a:rPr lang="en-US" sz="1700" dirty="0">
                <a:solidFill>
                  <a:srgbClr val="000000"/>
                </a:solidFill>
              </a:rPr>
              <a:t> (template) that defines:</a:t>
            </a:r>
          </a:p>
          <a:p>
            <a:pPr marL="1143000" lvl="2" indent="-228600">
              <a:buFont typeface="+mj-lt"/>
              <a:buAutoNum type="arabicPeriod"/>
            </a:pPr>
            <a:r>
              <a:rPr lang="en-US" sz="1700" b="1" dirty="0">
                <a:solidFill>
                  <a:srgbClr val="000000"/>
                </a:solidFill>
              </a:rPr>
              <a:t>Structure</a:t>
            </a:r>
            <a:r>
              <a:rPr lang="en-US" sz="1700" dirty="0">
                <a:solidFill>
                  <a:srgbClr val="000000"/>
                </a:solidFill>
              </a:rPr>
              <a:t>: What VNFs are included (e.g., </a:t>
            </a:r>
            <a:r>
              <a:rPr lang="en-US" sz="1700" dirty="0" err="1">
                <a:solidFill>
                  <a:srgbClr val="000000"/>
                </a:solidFill>
              </a:rPr>
              <a:t>vMME</a:t>
            </a:r>
            <a:r>
              <a:rPr lang="en-US" sz="1700" dirty="0">
                <a:solidFill>
                  <a:srgbClr val="000000"/>
                </a:solidFill>
              </a:rPr>
              <a:t>, </a:t>
            </a:r>
            <a:r>
              <a:rPr lang="en-US" sz="1700" dirty="0" err="1">
                <a:solidFill>
                  <a:srgbClr val="000000"/>
                </a:solidFill>
              </a:rPr>
              <a:t>vSGW</a:t>
            </a:r>
            <a:r>
              <a:rPr lang="en-US" sz="1700" dirty="0">
                <a:solidFill>
                  <a:srgbClr val="000000"/>
                </a:solidFill>
              </a:rPr>
              <a:t>, </a:t>
            </a:r>
            <a:r>
              <a:rPr lang="en-US" sz="1700" dirty="0" err="1">
                <a:solidFill>
                  <a:srgbClr val="000000"/>
                </a:solidFill>
              </a:rPr>
              <a:t>vPGW</a:t>
            </a:r>
            <a:r>
              <a:rPr lang="en-US" sz="1700" dirty="0">
                <a:solidFill>
                  <a:srgbClr val="000000"/>
                </a:solidFill>
              </a:rPr>
              <a:t> for EPC)</a:t>
            </a:r>
          </a:p>
          <a:p>
            <a:pPr marL="1143000" lvl="2" indent="-228600">
              <a:buFont typeface="+mj-lt"/>
              <a:buAutoNum type="arabicPeriod"/>
            </a:pPr>
            <a:r>
              <a:rPr lang="en-US" sz="1700" b="1" dirty="0">
                <a:solidFill>
                  <a:srgbClr val="000000"/>
                </a:solidFill>
              </a:rPr>
              <a:t>Dependencies</a:t>
            </a:r>
            <a:r>
              <a:rPr lang="en-US" sz="1700" dirty="0">
                <a:solidFill>
                  <a:srgbClr val="000000"/>
                </a:solidFill>
              </a:rPr>
              <a:t>: Which functions depend on others</a:t>
            </a:r>
          </a:p>
          <a:p>
            <a:pPr marL="1143000" lvl="2" indent="-228600">
              <a:buFont typeface="+mj-lt"/>
              <a:buAutoNum type="arabicPeriod"/>
            </a:pPr>
            <a:r>
              <a:rPr lang="en-US" sz="1700" b="1" dirty="0">
                <a:solidFill>
                  <a:srgbClr val="000000"/>
                </a:solidFill>
              </a:rPr>
              <a:t>Resources</a:t>
            </a:r>
            <a:r>
              <a:rPr lang="en-US" sz="1700" dirty="0">
                <a:solidFill>
                  <a:srgbClr val="000000"/>
                </a:solidFill>
              </a:rPr>
              <a:t>: Required CPU, memory, and bandwidth</a:t>
            </a:r>
          </a:p>
          <a:p>
            <a:pPr marL="1143000" lvl="2" indent="-228600">
              <a:buFont typeface="+mj-lt"/>
              <a:buAutoNum type="arabicPeriod"/>
            </a:pPr>
            <a:r>
              <a:rPr lang="en-US" sz="1700" b="1" dirty="0">
                <a:solidFill>
                  <a:srgbClr val="000000"/>
                </a:solidFill>
              </a:rPr>
              <a:t>Configuration</a:t>
            </a:r>
            <a:r>
              <a:rPr lang="en-US" sz="1700" dirty="0">
                <a:solidFill>
                  <a:srgbClr val="000000"/>
                </a:solidFill>
              </a:rPr>
              <a:t>: Network topology and interfaces</a:t>
            </a:r>
          </a:p>
          <a:p>
            <a:pPr algn="l">
              <a:buFont typeface="+mj-lt"/>
              <a:buAutoNum type="arabicPeriod"/>
            </a:pPr>
            <a:r>
              <a:rPr lang="en-US" sz="1700" b="1" dirty="0">
                <a:solidFill>
                  <a:srgbClr val="000000"/>
                </a:solidFill>
              </a:rPr>
              <a:t>Use Case:</a:t>
            </a:r>
            <a:endParaRPr lang="en-US" sz="1700" dirty="0">
              <a:solidFill>
                <a:srgbClr val="000000"/>
              </a:solidFill>
            </a:endParaRPr>
          </a:p>
          <a:p>
            <a:pPr marL="742950" lvl="1" indent="-285750">
              <a:buFont typeface="+mj-lt"/>
              <a:buAutoNum type="arabicPeriod"/>
            </a:pPr>
            <a:r>
              <a:rPr lang="en-US" sz="1700" dirty="0">
                <a:solidFill>
                  <a:srgbClr val="000000"/>
                </a:solidFill>
              </a:rPr>
              <a:t>When Vodafone launches a new </a:t>
            </a:r>
            <a:r>
              <a:rPr lang="en-US" sz="1700" b="1" dirty="0">
                <a:solidFill>
                  <a:srgbClr val="000000"/>
                </a:solidFill>
              </a:rPr>
              <a:t>5G enterprise service</a:t>
            </a:r>
            <a:r>
              <a:rPr lang="en-US" sz="1700" dirty="0">
                <a:solidFill>
                  <a:srgbClr val="000000"/>
                </a:solidFill>
              </a:rPr>
              <a:t> for a client:</a:t>
            </a:r>
          </a:p>
          <a:p>
            <a:pPr marL="1143000" lvl="2" indent="-228600">
              <a:buFont typeface="+mj-lt"/>
              <a:buAutoNum type="arabicPeriod"/>
            </a:pPr>
            <a:r>
              <a:rPr lang="en-US" sz="1700" dirty="0">
                <a:solidFill>
                  <a:srgbClr val="000000"/>
                </a:solidFill>
              </a:rPr>
              <a:t>The orchestrator selects the appropriate </a:t>
            </a:r>
            <a:r>
              <a:rPr lang="en-US" sz="1700" b="1" dirty="0">
                <a:solidFill>
                  <a:srgbClr val="000000"/>
                </a:solidFill>
              </a:rPr>
              <a:t>Network Service Blueprint</a:t>
            </a:r>
            <a:r>
              <a:rPr lang="en-US" sz="1700" dirty="0">
                <a:solidFill>
                  <a:srgbClr val="000000"/>
                </a:solidFill>
              </a:rPr>
              <a:t> (e.g., “5G Slice for IoT”).</a:t>
            </a:r>
          </a:p>
          <a:p>
            <a:pPr marL="1143000" lvl="2" indent="-228600">
              <a:buFont typeface="+mj-lt"/>
              <a:buAutoNum type="arabicPeriod"/>
            </a:pPr>
            <a:r>
              <a:rPr lang="en-US" sz="1700" dirty="0">
                <a:solidFill>
                  <a:srgbClr val="000000"/>
                </a:solidFill>
              </a:rPr>
              <a:t>The blueprint automatically triggers deployment of all required VNFs (firewall, load balancer, EPC components) from the catalog.</a:t>
            </a:r>
          </a:p>
          <a:p>
            <a:pPr marL="1143000" lvl="2" indent="-228600">
              <a:buFont typeface="+mj-lt"/>
              <a:buAutoNum type="arabicPeriod"/>
            </a:pPr>
            <a:r>
              <a:rPr lang="en-US" sz="1700" dirty="0">
                <a:solidFill>
                  <a:srgbClr val="000000"/>
                </a:solidFill>
              </a:rPr>
              <a:t>This ensures a consistent, tested configuration is used across all deployments.</a:t>
            </a:r>
          </a:p>
          <a:p>
            <a:pPr algn="l">
              <a:buFont typeface="+mj-lt"/>
              <a:buAutoNum type="arabicPeriod"/>
            </a:pPr>
            <a:r>
              <a:rPr lang="en-US" sz="1700" b="1" dirty="0">
                <a:solidFill>
                  <a:srgbClr val="000000"/>
                </a:solidFill>
              </a:rPr>
              <a:t>Benefits:</a:t>
            </a:r>
            <a:endParaRPr lang="en-US" sz="1700" dirty="0">
              <a:solidFill>
                <a:srgbClr val="000000"/>
              </a:solidFill>
            </a:endParaRPr>
          </a:p>
          <a:p>
            <a:pPr marL="742950" lvl="1" indent="-285750">
              <a:buFont typeface="+mj-lt"/>
              <a:buAutoNum type="arabicPeriod"/>
            </a:pPr>
            <a:r>
              <a:rPr lang="en-US" sz="1700" dirty="0">
                <a:solidFill>
                  <a:srgbClr val="000000"/>
                </a:solidFill>
              </a:rPr>
              <a:t>Reduces </a:t>
            </a:r>
            <a:r>
              <a:rPr lang="en-US" sz="1700" b="1" dirty="0">
                <a:solidFill>
                  <a:srgbClr val="000000"/>
                </a:solidFill>
              </a:rPr>
              <a:t>service deployment time</a:t>
            </a:r>
            <a:r>
              <a:rPr lang="en-US" sz="1700" dirty="0">
                <a:solidFill>
                  <a:srgbClr val="000000"/>
                </a:solidFill>
              </a:rPr>
              <a:t> from weeks to minutes.</a:t>
            </a:r>
          </a:p>
          <a:p>
            <a:pPr marL="742950" lvl="1" indent="-285750">
              <a:buFont typeface="+mj-lt"/>
              <a:buAutoNum type="arabicPeriod"/>
            </a:pPr>
            <a:r>
              <a:rPr lang="en-US" sz="1700" dirty="0">
                <a:solidFill>
                  <a:srgbClr val="000000"/>
                </a:solidFill>
              </a:rPr>
              <a:t>Ensures </a:t>
            </a:r>
            <a:r>
              <a:rPr lang="en-US" sz="1700" b="1" dirty="0">
                <a:solidFill>
                  <a:srgbClr val="000000"/>
                </a:solidFill>
              </a:rPr>
              <a:t>standardization</a:t>
            </a:r>
            <a:r>
              <a:rPr lang="en-US" sz="1700" dirty="0">
                <a:solidFill>
                  <a:srgbClr val="000000"/>
                </a:solidFill>
              </a:rPr>
              <a:t> of network services.</a:t>
            </a:r>
          </a:p>
          <a:p>
            <a:pPr marL="742950" lvl="1" indent="-285750">
              <a:buFont typeface="+mj-lt"/>
              <a:buAutoNum type="arabicPeriod"/>
            </a:pPr>
            <a:r>
              <a:rPr lang="en-US" sz="1700" dirty="0">
                <a:solidFill>
                  <a:srgbClr val="000000"/>
                </a:solidFill>
              </a:rPr>
              <a:t>Supports </a:t>
            </a:r>
            <a:r>
              <a:rPr lang="en-US" sz="1700" b="1" dirty="0">
                <a:solidFill>
                  <a:srgbClr val="000000"/>
                </a:solidFill>
              </a:rPr>
              <a:t>multi-vendor VNFs</a:t>
            </a:r>
            <a:r>
              <a:rPr lang="en-US" sz="1700" dirty="0">
                <a:solidFill>
                  <a:srgbClr val="000000"/>
                </a:solidFill>
              </a:rPr>
              <a:t> seamlessly.</a:t>
            </a:r>
          </a:p>
        </p:txBody>
      </p:sp>
      <p:sp>
        <p:nvSpPr>
          <p:cNvPr id="15" name="TextBox 14">
            <a:extLst>
              <a:ext uri="{FF2B5EF4-FFF2-40B4-BE49-F238E27FC236}">
                <a16:creationId xmlns:a16="http://schemas.microsoft.com/office/drawing/2014/main" id="{E3BA76FB-BE92-C90B-6209-080AADEC7B6D}"/>
              </a:ext>
            </a:extLst>
          </p:cNvPr>
          <p:cNvSpPr txBox="1"/>
          <p:nvPr/>
        </p:nvSpPr>
        <p:spPr>
          <a:xfrm>
            <a:off x="1606826" y="21591"/>
            <a:ext cx="6211957" cy="461665"/>
          </a:xfrm>
          <a:prstGeom prst="rect">
            <a:avLst/>
          </a:prstGeom>
          <a:noFill/>
        </p:spPr>
        <p:txBody>
          <a:bodyPr wrap="square">
            <a:spAutoFit/>
          </a:bodyPr>
          <a:lstStyle/>
          <a:p>
            <a:pPr algn="l"/>
            <a:r>
              <a:rPr lang="en-US" sz="2400" b="1" dirty="0">
                <a:solidFill>
                  <a:srgbClr val="000000"/>
                </a:solidFill>
              </a:rPr>
              <a:t>Service Catalog Management in Action</a:t>
            </a:r>
          </a:p>
        </p:txBody>
      </p:sp>
    </p:spTree>
    <p:extLst>
      <p:ext uri="{BB962C8B-B14F-4D97-AF65-F5344CB8AC3E}">
        <p14:creationId xmlns:p14="http://schemas.microsoft.com/office/powerpoint/2010/main" val="2434123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50591-B75A-BB54-5F00-689FDCBD3A3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CC25E0-942D-B6CE-052C-5005A0F6DD56}"/>
              </a:ext>
            </a:extLst>
          </p:cNvPr>
          <p:cNvSpPr>
            <a:spLocks noGrp="1"/>
          </p:cNvSpPr>
          <p:nvPr>
            <p:ph type="sldNum" sz="quarter" idx="12"/>
          </p:nvPr>
        </p:nvSpPr>
        <p:spPr/>
        <p:txBody>
          <a:bodyPr/>
          <a:lstStyle/>
          <a:p>
            <a:fld id="{B6F15528-21DE-4FAA-801E-634DDDAF4B2B}" type="slidenum">
              <a:rPr lang="en-US" smtClean="0"/>
              <a:t>17</a:t>
            </a:fld>
            <a:endParaRPr lang="en-US" dirty="0"/>
          </a:p>
        </p:txBody>
      </p:sp>
      <p:sp>
        <p:nvSpPr>
          <p:cNvPr id="11" name="TextBox 10">
            <a:extLst>
              <a:ext uri="{FF2B5EF4-FFF2-40B4-BE49-F238E27FC236}">
                <a16:creationId xmlns:a16="http://schemas.microsoft.com/office/drawing/2014/main" id="{A8BCBF9B-C11E-01CF-08A7-0099DCDC64CE}"/>
              </a:ext>
            </a:extLst>
          </p:cNvPr>
          <p:cNvSpPr txBox="1"/>
          <p:nvPr/>
        </p:nvSpPr>
        <p:spPr>
          <a:xfrm>
            <a:off x="1524000" y="577408"/>
            <a:ext cx="9144000" cy="6155531"/>
          </a:xfrm>
          <a:prstGeom prst="rect">
            <a:avLst/>
          </a:prstGeom>
          <a:noFill/>
        </p:spPr>
        <p:txBody>
          <a:bodyPr wrap="square">
            <a:spAutoFit/>
          </a:bodyPr>
          <a:lstStyle/>
          <a:p>
            <a:pPr algn="l">
              <a:buFont typeface="+mj-lt"/>
              <a:buAutoNum type="arabicPeriod"/>
            </a:pPr>
            <a:r>
              <a:rPr lang="en-US" sz="1700" b="1" dirty="0">
                <a:solidFill>
                  <a:srgbClr val="000000"/>
                </a:solidFill>
              </a:rPr>
              <a:t>Customer Service Request (BSS):</a:t>
            </a:r>
            <a:endParaRPr lang="en-US" sz="1700" dirty="0">
              <a:solidFill>
                <a:srgbClr val="000000"/>
              </a:solidFill>
            </a:endParaRPr>
          </a:p>
          <a:p>
            <a:pPr marL="742950" lvl="1" indent="-285750">
              <a:buFont typeface="+mj-lt"/>
              <a:buAutoNum type="arabicPeriod"/>
            </a:pPr>
            <a:r>
              <a:rPr lang="en-US" sz="1700" dirty="0">
                <a:solidFill>
                  <a:srgbClr val="000000"/>
                </a:solidFill>
              </a:rPr>
              <a:t>A customer (for example, a business client) orders a </a:t>
            </a:r>
            <a:r>
              <a:rPr lang="en-US" sz="1700" b="1" dirty="0">
                <a:solidFill>
                  <a:srgbClr val="000000"/>
                </a:solidFill>
              </a:rPr>
              <a:t>VPN</a:t>
            </a:r>
            <a:r>
              <a:rPr lang="en-US" sz="1700" dirty="0">
                <a:solidFill>
                  <a:srgbClr val="000000"/>
                </a:solidFill>
              </a:rPr>
              <a:t> or a </a:t>
            </a:r>
            <a:r>
              <a:rPr lang="en-US" sz="1700" b="1" dirty="0">
                <a:solidFill>
                  <a:srgbClr val="000000"/>
                </a:solidFill>
              </a:rPr>
              <a:t>5G enterprise slice</a:t>
            </a:r>
            <a:r>
              <a:rPr lang="en-US" sz="1700" dirty="0">
                <a:solidFill>
                  <a:srgbClr val="000000"/>
                </a:solidFill>
              </a:rPr>
              <a:t> through AT&amp;T’s customer portal (part of the </a:t>
            </a:r>
            <a:r>
              <a:rPr lang="en-US" sz="1700" b="1" dirty="0">
                <a:solidFill>
                  <a:srgbClr val="000000"/>
                </a:solidFill>
              </a:rPr>
              <a:t>Business Support System — BSS</a:t>
            </a:r>
            <a:r>
              <a:rPr lang="en-US" sz="1700" dirty="0">
                <a:solidFill>
                  <a:srgbClr val="000000"/>
                </a:solidFill>
              </a:rPr>
              <a:t>).</a:t>
            </a:r>
          </a:p>
          <a:p>
            <a:pPr marL="742950" lvl="1" indent="-285750">
              <a:buFont typeface="+mj-lt"/>
              <a:buAutoNum type="arabicPeriod"/>
            </a:pPr>
            <a:r>
              <a:rPr lang="en-US" sz="1700" dirty="0">
                <a:solidFill>
                  <a:srgbClr val="000000"/>
                </a:solidFill>
              </a:rPr>
              <a:t>The BSS sends a </a:t>
            </a:r>
            <a:r>
              <a:rPr lang="en-US" sz="1700" b="1" dirty="0">
                <a:solidFill>
                  <a:srgbClr val="000000"/>
                </a:solidFill>
              </a:rPr>
              <a:t>service order request</a:t>
            </a:r>
            <a:r>
              <a:rPr lang="en-US" sz="1700" dirty="0">
                <a:solidFill>
                  <a:srgbClr val="000000"/>
                </a:solidFill>
              </a:rPr>
              <a:t> to the </a:t>
            </a:r>
            <a:r>
              <a:rPr lang="en-US" sz="1700" b="1" dirty="0">
                <a:solidFill>
                  <a:srgbClr val="000000"/>
                </a:solidFill>
              </a:rPr>
              <a:t>OSS</a:t>
            </a:r>
            <a:r>
              <a:rPr lang="en-US" sz="1700" dirty="0">
                <a:solidFill>
                  <a:srgbClr val="000000"/>
                </a:solidFill>
              </a:rPr>
              <a:t>.</a:t>
            </a:r>
          </a:p>
          <a:p>
            <a:pPr>
              <a:spcBef>
                <a:spcPts val="600"/>
              </a:spcBef>
              <a:buFont typeface="+mj-lt"/>
              <a:buAutoNum type="arabicPeriod"/>
            </a:pPr>
            <a:r>
              <a:rPr lang="en-US" sz="1700" b="1" dirty="0">
                <a:solidFill>
                  <a:srgbClr val="000000"/>
                </a:solidFill>
              </a:rPr>
              <a:t>Service Order (OSS → NFVO):</a:t>
            </a:r>
            <a:endParaRPr lang="en-US" sz="1700" dirty="0">
              <a:solidFill>
                <a:srgbClr val="000000"/>
              </a:solidFill>
            </a:endParaRPr>
          </a:p>
          <a:p>
            <a:pPr marL="742950" lvl="1" indent="-285750">
              <a:buFont typeface="+mj-lt"/>
              <a:buAutoNum type="arabicPeriod"/>
            </a:pPr>
            <a:r>
              <a:rPr lang="en-US" sz="1700" dirty="0">
                <a:solidFill>
                  <a:srgbClr val="000000"/>
                </a:solidFill>
              </a:rPr>
              <a:t>The </a:t>
            </a:r>
            <a:r>
              <a:rPr lang="en-US" sz="1700" b="1" dirty="0">
                <a:solidFill>
                  <a:srgbClr val="000000"/>
                </a:solidFill>
              </a:rPr>
              <a:t>Operations Support System (OSS)</a:t>
            </a:r>
            <a:r>
              <a:rPr lang="en-US" sz="1700" dirty="0">
                <a:solidFill>
                  <a:srgbClr val="000000"/>
                </a:solidFill>
              </a:rPr>
              <a:t> translates the service order into </a:t>
            </a:r>
            <a:r>
              <a:rPr lang="en-US" sz="1700" b="1" dirty="0">
                <a:solidFill>
                  <a:srgbClr val="000000"/>
                </a:solidFill>
              </a:rPr>
              <a:t>technical service parameters</a:t>
            </a:r>
            <a:r>
              <a:rPr lang="en-US" sz="1700" dirty="0">
                <a:solidFill>
                  <a:srgbClr val="000000"/>
                </a:solidFill>
              </a:rPr>
              <a:t> (e.g., bandwidth, latency, location).</a:t>
            </a:r>
          </a:p>
          <a:p>
            <a:pPr marL="742950" lvl="1" indent="-285750">
              <a:buFont typeface="+mj-lt"/>
              <a:buAutoNum type="arabicPeriod"/>
            </a:pPr>
            <a:r>
              <a:rPr lang="en-US" sz="1700" dirty="0">
                <a:solidFill>
                  <a:srgbClr val="000000"/>
                </a:solidFill>
              </a:rPr>
              <a:t>OSS sends this information to the </a:t>
            </a:r>
            <a:r>
              <a:rPr lang="en-US" sz="1700" b="1" dirty="0">
                <a:solidFill>
                  <a:srgbClr val="000000"/>
                </a:solidFill>
              </a:rPr>
              <a:t>NFV Orchestrator (NFVO)</a:t>
            </a:r>
            <a:r>
              <a:rPr lang="en-US" sz="1700" dirty="0">
                <a:solidFill>
                  <a:srgbClr val="000000"/>
                </a:solidFill>
              </a:rPr>
              <a:t> using the </a:t>
            </a:r>
            <a:r>
              <a:rPr lang="en-US" sz="1700" b="1" dirty="0">
                <a:solidFill>
                  <a:srgbClr val="000000"/>
                </a:solidFill>
              </a:rPr>
              <a:t>northbound interface</a:t>
            </a:r>
            <a:r>
              <a:rPr lang="en-US" sz="1700" dirty="0">
                <a:solidFill>
                  <a:srgbClr val="000000"/>
                </a:solidFill>
              </a:rPr>
              <a:t>.</a:t>
            </a:r>
          </a:p>
          <a:p>
            <a:pPr>
              <a:spcBef>
                <a:spcPts val="600"/>
              </a:spcBef>
              <a:buFont typeface="+mj-lt"/>
              <a:buAutoNum type="arabicPeriod"/>
            </a:pPr>
            <a:r>
              <a:rPr lang="en-US" sz="1700" b="1" dirty="0">
                <a:solidFill>
                  <a:srgbClr val="000000"/>
                </a:solidFill>
              </a:rPr>
              <a:t>Orchestration (NFVO):</a:t>
            </a:r>
            <a:endParaRPr lang="en-US" sz="1700" dirty="0">
              <a:solidFill>
                <a:srgbClr val="000000"/>
              </a:solidFill>
            </a:endParaRPr>
          </a:p>
          <a:p>
            <a:pPr marL="742950" lvl="1" indent="-285750">
              <a:buFont typeface="+mj-lt"/>
              <a:buAutoNum type="arabicPeriod"/>
            </a:pPr>
            <a:r>
              <a:rPr lang="en-US" sz="1700" dirty="0">
                <a:solidFill>
                  <a:srgbClr val="000000"/>
                </a:solidFill>
              </a:rPr>
              <a:t>The </a:t>
            </a:r>
            <a:r>
              <a:rPr lang="en-US" sz="1700" b="1" dirty="0">
                <a:solidFill>
                  <a:srgbClr val="000000"/>
                </a:solidFill>
              </a:rPr>
              <a:t>NFVO</a:t>
            </a:r>
            <a:r>
              <a:rPr lang="en-US" sz="1700" dirty="0">
                <a:solidFill>
                  <a:srgbClr val="000000"/>
                </a:solidFill>
              </a:rPr>
              <a:t> triggers the orchestration process:</a:t>
            </a:r>
          </a:p>
          <a:p>
            <a:pPr marL="1143000" lvl="2" indent="-228600">
              <a:buFont typeface="+mj-lt"/>
              <a:buAutoNum type="arabicPeriod"/>
            </a:pPr>
            <a:r>
              <a:rPr lang="en-US" sz="1700" dirty="0">
                <a:solidFill>
                  <a:srgbClr val="000000"/>
                </a:solidFill>
              </a:rPr>
              <a:t>Selects a </a:t>
            </a:r>
            <a:r>
              <a:rPr lang="en-US" sz="1700" b="1" dirty="0">
                <a:solidFill>
                  <a:srgbClr val="000000"/>
                </a:solidFill>
              </a:rPr>
              <a:t>Network Service Blueprint</a:t>
            </a:r>
            <a:r>
              <a:rPr lang="en-US" sz="1700" dirty="0">
                <a:solidFill>
                  <a:srgbClr val="000000"/>
                </a:solidFill>
              </a:rPr>
              <a:t> from the </a:t>
            </a:r>
            <a:r>
              <a:rPr lang="en-US" sz="1700" b="1" dirty="0">
                <a:solidFill>
                  <a:srgbClr val="000000"/>
                </a:solidFill>
              </a:rPr>
              <a:t>Service Catalog</a:t>
            </a:r>
            <a:r>
              <a:rPr lang="en-US" sz="1700" dirty="0">
                <a:solidFill>
                  <a:srgbClr val="000000"/>
                </a:solidFill>
              </a:rPr>
              <a:t> (e.g., a VPN or 5G slice template).</a:t>
            </a:r>
          </a:p>
          <a:p>
            <a:pPr marL="1143000" lvl="2" indent="-228600">
              <a:buFont typeface="+mj-lt"/>
              <a:buAutoNum type="arabicPeriod"/>
            </a:pPr>
            <a:r>
              <a:rPr lang="en-US" sz="1700" dirty="0">
                <a:solidFill>
                  <a:srgbClr val="000000"/>
                </a:solidFill>
              </a:rPr>
              <a:t>Allocates compute, storage, and network resources from the </a:t>
            </a:r>
            <a:r>
              <a:rPr lang="en-US" sz="1700" b="1" dirty="0">
                <a:solidFill>
                  <a:srgbClr val="000000"/>
                </a:solidFill>
              </a:rPr>
              <a:t>NFV Infrastructure (NFVI)</a:t>
            </a:r>
            <a:r>
              <a:rPr lang="en-US" sz="1700" dirty="0">
                <a:solidFill>
                  <a:srgbClr val="000000"/>
                </a:solidFill>
              </a:rPr>
              <a:t>.</a:t>
            </a:r>
          </a:p>
          <a:p>
            <a:pPr marL="1143000" lvl="2" indent="-228600">
              <a:buFont typeface="+mj-lt"/>
              <a:buAutoNum type="arabicPeriod"/>
            </a:pPr>
            <a:r>
              <a:rPr lang="en-US" sz="1700" dirty="0">
                <a:solidFill>
                  <a:srgbClr val="000000"/>
                </a:solidFill>
              </a:rPr>
              <a:t>Deploys and configures the required </a:t>
            </a:r>
            <a:r>
              <a:rPr lang="en-US" sz="1700" b="1" dirty="0">
                <a:solidFill>
                  <a:srgbClr val="000000"/>
                </a:solidFill>
              </a:rPr>
              <a:t>VNFs</a:t>
            </a:r>
            <a:r>
              <a:rPr lang="en-US" sz="1700" dirty="0">
                <a:solidFill>
                  <a:srgbClr val="000000"/>
                </a:solidFill>
              </a:rPr>
              <a:t> (e.g., virtual routers, firewalls, gateways).</a:t>
            </a:r>
          </a:p>
          <a:p>
            <a:pPr>
              <a:spcBef>
                <a:spcPts val="600"/>
              </a:spcBef>
              <a:buFont typeface="+mj-lt"/>
              <a:buAutoNum type="arabicPeriod"/>
            </a:pPr>
            <a:r>
              <a:rPr lang="en-US" sz="1700" b="1" dirty="0">
                <a:solidFill>
                  <a:srgbClr val="000000"/>
                </a:solidFill>
              </a:rPr>
              <a:t>Status &amp; Feedback:</a:t>
            </a:r>
            <a:endParaRPr lang="en-US" sz="1700" dirty="0">
              <a:solidFill>
                <a:srgbClr val="000000"/>
              </a:solidFill>
            </a:endParaRPr>
          </a:p>
          <a:p>
            <a:pPr marL="742950" lvl="1" indent="-285750">
              <a:buFont typeface="+mj-lt"/>
              <a:buAutoNum type="arabicPeriod"/>
            </a:pPr>
            <a:r>
              <a:rPr lang="en-US" sz="1700" dirty="0">
                <a:solidFill>
                  <a:srgbClr val="000000"/>
                </a:solidFill>
              </a:rPr>
              <a:t>The NFVO sends </a:t>
            </a:r>
            <a:r>
              <a:rPr lang="en-US" sz="1700" b="1" dirty="0">
                <a:solidFill>
                  <a:srgbClr val="000000"/>
                </a:solidFill>
              </a:rPr>
              <a:t>status updates</a:t>
            </a:r>
            <a:r>
              <a:rPr lang="en-US" sz="1700" dirty="0">
                <a:solidFill>
                  <a:srgbClr val="000000"/>
                </a:solidFill>
              </a:rPr>
              <a:t> (success, error, progress) back to the OSS/BSS.</a:t>
            </a:r>
          </a:p>
          <a:p>
            <a:pPr marL="742950" lvl="1" indent="-285750">
              <a:buFont typeface="+mj-lt"/>
              <a:buAutoNum type="arabicPeriod"/>
            </a:pPr>
            <a:r>
              <a:rPr lang="en-US" sz="1700" dirty="0">
                <a:solidFill>
                  <a:srgbClr val="000000"/>
                </a:solidFill>
              </a:rPr>
              <a:t>Once deployment completes, the OSS updates the </a:t>
            </a:r>
            <a:r>
              <a:rPr lang="en-US" sz="1700" b="1" dirty="0">
                <a:solidFill>
                  <a:srgbClr val="000000"/>
                </a:solidFill>
              </a:rPr>
              <a:t>customer account</a:t>
            </a:r>
            <a:r>
              <a:rPr lang="en-US" sz="1700" dirty="0">
                <a:solidFill>
                  <a:srgbClr val="000000"/>
                </a:solidFill>
              </a:rPr>
              <a:t> and activates billing automatically through the </a:t>
            </a:r>
            <a:r>
              <a:rPr lang="en-US" sz="1700" b="1" dirty="0">
                <a:solidFill>
                  <a:srgbClr val="000000"/>
                </a:solidFill>
              </a:rPr>
              <a:t>BSS</a:t>
            </a:r>
            <a:r>
              <a:rPr lang="en-US" sz="1700" dirty="0">
                <a:solidFill>
                  <a:srgbClr val="000000"/>
                </a:solidFill>
              </a:rPr>
              <a:t>.</a:t>
            </a:r>
          </a:p>
          <a:p>
            <a:pPr>
              <a:spcBef>
                <a:spcPts val="600"/>
              </a:spcBef>
            </a:pPr>
            <a:r>
              <a:rPr lang="en-US" sz="1700" b="1" dirty="0">
                <a:solidFill>
                  <a:srgbClr val="000000"/>
                </a:solidFill>
              </a:rPr>
              <a:t>Benefits</a:t>
            </a:r>
          </a:p>
          <a:p>
            <a:pPr algn="l">
              <a:buFont typeface="Arial" panose="020B0604020202020204" pitchFamily="34" charset="0"/>
              <a:buChar char="•"/>
            </a:pPr>
            <a:r>
              <a:rPr lang="en-US" sz="1700" b="1" dirty="0">
                <a:solidFill>
                  <a:srgbClr val="000000"/>
                </a:solidFill>
              </a:rPr>
              <a:t>Automated end-to-end service delivery</a:t>
            </a:r>
            <a:r>
              <a:rPr lang="en-US" sz="1700" dirty="0">
                <a:solidFill>
                  <a:srgbClr val="000000"/>
                </a:solidFill>
              </a:rPr>
              <a:t> — no manual provisioning needed.</a:t>
            </a:r>
          </a:p>
          <a:p>
            <a:pPr algn="l">
              <a:buFont typeface="Arial" panose="020B0604020202020204" pitchFamily="34" charset="0"/>
              <a:buChar char="•"/>
            </a:pPr>
            <a:r>
              <a:rPr lang="en-US" sz="1700" b="1" dirty="0">
                <a:solidFill>
                  <a:srgbClr val="000000"/>
                </a:solidFill>
              </a:rPr>
              <a:t>Seamless integration</a:t>
            </a:r>
            <a:r>
              <a:rPr lang="en-US" sz="1700" dirty="0">
                <a:solidFill>
                  <a:srgbClr val="000000"/>
                </a:solidFill>
              </a:rPr>
              <a:t> between customer-facing systems (BSS) and network control (NFVO).</a:t>
            </a:r>
          </a:p>
          <a:p>
            <a:pPr algn="l">
              <a:buFont typeface="Arial" panose="020B0604020202020204" pitchFamily="34" charset="0"/>
              <a:buChar char="•"/>
            </a:pPr>
            <a:r>
              <a:rPr lang="en-US" sz="1700" b="1" dirty="0">
                <a:solidFill>
                  <a:srgbClr val="000000"/>
                </a:solidFill>
              </a:rPr>
              <a:t>Improved time-to-market</a:t>
            </a:r>
            <a:r>
              <a:rPr lang="en-US" sz="1700" dirty="0">
                <a:solidFill>
                  <a:srgbClr val="000000"/>
                </a:solidFill>
              </a:rPr>
              <a:t> for new telecom services (from weeks to minutes).</a:t>
            </a:r>
          </a:p>
        </p:txBody>
      </p:sp>
      <p:sp>
        <p:nvSpPr>
          <p:cNvPr id="15" name="TextBox 14">
            <a:extLst>
              <a:ext uri="{FF2B5EF4-FFF2-40B4-BE49-F238E27FC236}">
                <a16:creationId xmlns:a16="http://schemas.microsoft.com/office/drawing/2014/main" id="{A2603991-FF54-EFF3-6951-F0C4998675D6}"/>
              </a:ext>
            </a:extLst>
          </p:cNvPr>
          <p:cNvSpPr txBox="1"/>
          <p:nvPr/>
        </p:nvSpPr>
        <p:spPr>
          <a:xfrm>
            <a:off x="1606826" y="21591"/>
            <a:ext cx="6211957" cy="461665"/>
          </a:xfrm>
          <a:prstGeom prst="rect">
            <a:avLst/>
          </a:prstGeom>
          <a:noFill/>
        </p:spPr>
        <p:txBody>
          <a:bodyPr wrap="square">
            <a:spAutoFit/>
          </a:bodyPr>
          <a:lstStyle/>
          <a:p>
            <a:pPr algn="l"/>
            <a:r>
              <a:rPr lang="en-US" sz="2400" b="1" dirty="0">
                <a:solidFill>
                  <a:srgbClr val="0F1115"/>
                </a:solidFill>
                <a:latin typeface="quote-cjk-patch"/>
              </a:rPr>
              <a:t>Interaction with OSS/BSS</a:t>
            </a:r>
            <a:endParaRPr lang="en-US" sz="2400" b="1" dirty="0">
              <a:solidFill>
                <a:srgbClr val="000000"/>
              </a:solidFill>
            </a:endParaRPr>
          </a:p>
        </p:txBody>
      </p:sp>
    </p:spTree>
    <p:extLst>
      <p:ext uri="{BB962C8B-B14F-4D97-AF65-F5344CB8AC3E}">
        <p14:creationId xmlns:p14="http://schemas.microsoft.com/office/powerpoint/2010/main" val="2983482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CD337-DB00-BA00-8039-240585A7D20E}"/>
            </a:ext>
          </a:extLst>
        </p:cNvPr>
        <p:cNvGrpSpPr/>
        <p:nvPr/>
      </p:nvGrpSpPr>
      <p:grpSpPr>
        <a:xfrm>
          <a:off x="0" y="0"/>
          <a:ext cx="0" cy="0"/>
          <a:chOff x="0" y="0"/>
          <a:chExt cx="0" cy="0"/>
        </a:xfrm>
      </p:grpSpPr>
      <p:pic>
        <p:nvPicPr>
          <p:cNvPr id="1026" name="Picture 2" descr="ETSI NFV architectural framework. | Download Scientific Diagram">
            <a:extLst>
              <a:ext uri="{FF2B5EF4-FFF2-40B4-BE49-F238E27FC236}">
                <a16:creationId xmlns:a16="http://schemas.microsoft.com/office/drawing/2014/main" id="{6D7A01F3-0B7F-2170-C05F-9D0A3708DD0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30830" y="643468"/>
            <a:ext cx="7930341"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AE3764-FBB3-0416-8F00-7BD9ACD223EA}"/>
              </a:ext>
            </a:extLst>
          </p:cNvPr>
          <p:cNvSpPr txBox="1"/>
          <p:nvPr/>
        </p:nvSpPr>
        <p:spPr>
          <a:xfrm>
            <a:off x="2900376" y="43283"/>
            <a:ext cx="5726766" cy="556902"/>
          </a:xfrm>
          <a:prstGeom prst="rect">
            <a:avLst/>
          </a:prstGeom>
        </p:spPr>
        <p:txBody>
          <a:bodyPr vert="horz" lIns="91440" tIns="45720" rIns="91440" bIns="45720" rtlCol="0" anchor="ctr">
            <a:normAutofit fontScale="77500" lnSpcReduction="20000"/>
          </a:bodyPr>
          <a:lstStyle>
            <a:lvl1pPr algn="ctr">
              <a:spcBef>
                <a:spcPct val="0"/>
              </a:spcBef>
              <a:buNone/>
              <a:defRPr sz="4000">
                <a:latin typeface="+mj-lt"/>
                <a:ea typeface="+mj-ea"/>
                <a:cs typeface="+mj-cs"/>
              </a:defRPr>
            </a:lvl1pPr>
          </a:lstStyle>
          <a:p>
            <a:r>
              <a:rPr lang="en-US" dirty="0"/>
              <a:t>ETSI NFV Architectural Framework</a:t>
            </a:r>
          </a:p>
        </p:txBody>
      </p:sp>
      <p:sp>
        <p:nvSpPr>
          <p:cNvPr id="6" name="Slide Number Placeholder 5">
            <a:extLst>
              <a:ext uri="{FF2B5EF4-FFF2-40B4-BE49-F238E27FC236}">
                <a16:creationId xmlns:a16="http://schemas.microsoft.com/office/drawing/2014/main" id="{B380DE05-E837-EB52-F3B1-606EF9ED733C}"/>
              </a:ext>
            </a:extLst>
          </p:cNvPr>
          <p:cNvSpPr>
            <a:spLocks noGrp="1"/>
          </p:cNvSpPr>
          <p:nvPr>
            <p:ph type="sldNum" sz="quarter" idx="12"/>
          </p:nvPr>
        </p:nvSpPr>
        <p:spPr/>
        <p:txBody>
          <a:bodyPr/>
          <a:lstStyle/>
          <a:p>
            <a:fld id="{C1FF6DA9-008F-8B48-92A6-B652298478BF}" type="slidenum">
              <a:rPr lang="en-US" smtClean="0"/>
              <a:t>18</a:t>
            </a:fld>
            <a:endParaRPr lang="en-US"/>
          </a:p>
        </p:txBody>
      </p:sp>
      <p:sp>
        <p:nvSpPr>
          <p:cNvPr id="2" name="Oval 1">
            <a:extLst>
              <a:ext uri="{FF2B5EF4-FFF2-40B4-BE49-F238E27FC236}">
                <a16:creationId xmlns:a16="http://schemas.microsoft.com/office/drawing/2014/main" id="{26BD2283-FE5E-32BC-A2AE-19A8A1960204}"/>
              </a:ext>
            </a:extLst>
          </p:cNvPr>
          <p:cNvSpPr/>
          <p:nvPr/>
        </p:nvSpPr>
        <p:spPr>
          <a:xfrm>
            <a:off x="7942729" y="2904564"/>
            <a:ext cx="159571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Tree>
    <p:extLst>
      <p:ext uri="{BB962C8B-B14F-4D97-AF65-F5344CB8AC3E}">
        <p14:creationId xmlns:p14="http://schemas.microsoft.com/office/powerpoint/2010/main" val="1950661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F3385-3A0D-4F9C-8FA1-FE8566E5E52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B26DDBD-7EA2-9E22-FD80-3D5526BD651E}"/>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14CD1AF2-CCBD-1390-1E9A-260326D55D67}"/>
              </a:ext>
            </a:extLst>
          </p:cNvPr>
          <p:cNvSpPr>
            <a:spLocks noGrp="1"/>
          </p:cNvSpPr>
          <p:nvPr>
            <p:ph type="sldNum" sz="quarter" idx="12"/>
          </p:nvPr>
        </p:nvSpPr>
        <p:spPr/>
        <p:txBody>
          <a:bodyPr/>
          <a:lstStyle/>
          <a:p>
            <a:fld id="{B6F15528-21DE-4FAA-801E-634DDDAF4B2B}" type="slidenum">
              <a:rPr lang="en-US" smtClean="0"/>
              <a:t>19</a:t>
            </a:fld>
            <a:endParaRPr lang="en-US" dirty="0"/>
          </a:p>
        </p:txBody>
      </p:sp>
      <p:sp>
        <p:nvSpPr>
          <p:cNvPr id="3" name="object 3">
            <a:extLst>
              <a:ext uri="{FF2B5EF4-FFF2-40B4-BE49-F238E27FC236}">
                <a16:creationId xmlns:a16="http://schemas.microsoft.com/office/drawing/2014/main" id="{1DFCB9B5-C00F-D5D0-E110-013EB07731FA}"/>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spc="-5" dirty="0">
                <a:latin typeface="Times New Roman"/>
                <a:cs typeface="Times New Roman"/>
              </a:rPr>
              <a:t>VNF Manager (VNFM)</a:t>
            </a:r>
            <a:endParaRPr sz="3200" b="1" dirty="0">
              <a:latin typeface="Times New Roman"/>
              <a:cs typeface="Times New Roman"/>
            </a:endParaRPr>
          </a:p>
        </p:txBody>
      </p:sp>
      <p:sp>
        <p:nvSpPr>
          <p:cNvPr id="6" name="TextBox 5">
            <a:extLst>
              <a:ext uri="{FF2B5EF4-FFF2-40B4-BE49-F238E27FC236}">
                <a16:creationId xmlns:a16="http://schemas.microsoft.com/office/drawing/2014/main" id="{417525A3-7DF4-9757-B9F2-0E8F5B44950B}"/>
              </a:ext>
            </a:extLst>
          </p:cNvPr>
          <p:cNvSpPr txBox="1"/>
          <p:nvPr/>
        </p:nvSpPr>
        <p:spPr>
          <a:xfrm>
            <a:off x="1981452" y="1936284"/>
            <a:ext cx="8229348" cy="2985433"/>
          </a:xfrm>
          <a:prstGeom prst="rect">
            <a:avLst/>
          </a:prstGeom>
          <a:noFill/>
        </p:spPr>
        <p:txBody>
          <a:bodyPr wrap="square">
            <a:spAutoFit/>
          </a:bodyPr>
          <a:lstStyle/>
          <a:p>
            <a:pPr algn="just">
              <a:spcBef>
                <a:spcPts val="1200"/>
              </a:spcBef>
              <a:spcAft>
                <a:spcPts val="1200"/>
              </a:spcAft>
            </a:pPr>
            <a:r>
              <a:rPr lang="en-US" sz="2800" dirty="0">
                <a:solidFill>
                  <a:srgbClr val="0F1115"/>
                </a:solidFill>
                <a:latin typeface="quote-cjk-patch"/>
              </a:rPr>
              <a:t>Responsible for the </a:t>
            </a:r>
            <a:r>
              <a:rPr lang="en-US" sz="2800" i="1" dirty="0">
                <a:solidFill>
                  <a:schemeClr val="accent5">
                    <a:lumMod val="75000"/>
                  </a:schemeClr>
                </a:solidFill>
                <a:latin typeface="quote-cjk-patch"/>
              </a:rPr>
              <a:t>lifecycle management of individual instances of Virtualized Network Functions (VNFs).</a:t>
            </a:r>
          </a:p>
          <a:p>
            <a:pPr algn="just">
              <a:spcBef>
                <a:spcPts val="1200"/>
              </a:spcBef>
              <a:spcAft>
                <a:spcPts val="1200"/>
              </a:spcAft>
            </a:pPr>
            <a:r>
              <a:rPr lang="en-US" sz="2800" dirty="0">
                <a:solidFill>
                  <a:srgbClr val="0F1115"/>
                </a:solidFill>
                <a:latin typeface="quote-cjk-patch"/>
              </a:rPr>
              <a:t>In simpler terms, if the NFV Orchestrator (NFVO) is the </a:t>
            </a:r>
            <a:r>
              <a:rPr lang="en-US" sz="2800" b="1" dirty="0">
                <a:solidFill>
                  <a:srgbClr val="0F1115"/>
                </a:solidFill>
                <a:latin typeface="quote-cjk-patch"/>
              </a:rPr>
              <a:t>conductor</a:t>
            </a:r>
            <a:r>
              <a:rPr lang="en-US" sz="2800" dirty="0">
                <a:solidFill>
                  <a:srgbClr val="0F1115"/>
                </a:solidFill>
                <a:latin typeface="quote-cjk-patch"/>
              </a:rPr>
              <a:t> of the entire orchestra (managing the full network service), the VNFM is the </a:t>
            </a:r>
            <a:r>
              <a:rPr lang="en-US" sz="2800" i="1" dirty="0">
                <a:solidFill>
                  <a:schemeClr val="accent5">
                    <a:lumMod val="75000"/>
                  </a:schemeClr>
                </a:solidFill>
                <a:latin typeface="quote-cjk-patch"/>
              </a:rPr>
              <a:t>section leader </a:t>
            </a:r>
            <a:r>
              <a:rPr lang="en-US" sz="2800" dirty="0">
                <a:solidFill>
                  <a:srgbClr val="0F1115"/>
                </a:solidFill>
                <a:latin typeface="quote-cjk-patch"/>
              </a:rPr>
              <a:t>for a specific group of instruments </a:t>
            </a:r>
          </a:p>
        </p:txBody>
      </p:sp>
    </p:spTree>
    <p:extLst>
      <p:ext uri="{BB962C8B-B14F-4D97-AF65-F5344CB8AC3E}">
        <p14:creationId xmlns:p14="http://schemas.microsoft.com/office/powerpoint/2010/main" val="1877247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3F595-B81C-67A6-58D5-6C08526C29B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CE11EE3-DB29-83AD-5E81-EF8123ED2071}"/>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6B1DECC8-A74A-A5DE-058A-F02AE15345FF}"/>
              </a:ext>
            </a:extLst>
          </p:cNvPr>
          <p:cNvSpPr>
            <a:spLocks noGrp="1"/>
          </p:cNvSpPr>
          <p:nvPr>
            <p:ph type="sldNum" sz="quarter" idx="12"/>
          </p:nvPr>
        </p:nvSpPr>
        <p:spPr/>
        <p:txBody>
          <a:bodyPr/>
          <a:lstStyle/>
          <a:p>
            <a:fld id="{B6F15528-21DE-4FAA-801E-634DDDAF4B2B}" type="slidenum">
              <a:rPr lang="en-US" smtClean="0"/>
              <a:t>20</a:t>
            </a:fld>
            <a:endParaRPr lang="en-US" dirty="0"/>
          </a:p>
        </p:txBody>
      </p:sp>
      <p:sp>
        <p:nvSpPr>
          <p:cNvPr id="6" name="TextBox 5">
            <a:extLst>
              <a:ext uri="{FF2B5EF4-FFF2-40B4-BE49-F238E27FC236}">
                <a16:creationId xmlns:a16="http://schemas.microsoft.com/office/drawing/2014/main" id="{960850A5-D3A3-0078-953A-A346AB905FD1}"/>
              </a:ext>
            </a:extLst>
          </p:cNvPr>
          <p:cNvSpPr txBox="1"/>
          <p:nvPr/>
        </p:nvSpPr>
        <p:spPr>
          <a:xfrm>
            <a:off x="1903197" y="1589834"/>
            <a:ext cx="8229348" cy="461665"/>
          </a:xfrm>
          <a:prstGeom prst="rect">
            <a:avLst/>
          </a:prstGeom>
          <a:noFill/>
        </p:spPr>
        <p:txBody>
          <a:bodyPr wrap="square">
            <a:spAutoFit/>
          </a:bodyPr>
          <a:lstStyle/>
          <a:p>
            <a:pPr>
              <a:spcBef>
                <a:spcPts val="2400"/>
              </a:spcBef>
              <a:spcAft>
                <a:spcPts val="1200"/>
              </a:spcAft>
            </a:pPr>
            <a:r>
              <a:rPr lang="en-US" sz="2400" dirty="0">
                <a:solidFill>
                  <a:srgbClr val="0F1115"/>
                </a:solidFill>
                <a:latin typeface="quote-cjk-patch"/>
              </a:rPr>
              <a:t>Key Responsibilities and Functionalities</a:t>
            </a:r>
          </a:p>
        </p:txBody>
      </p:sp>
      <p:sp>
        <p:nvSpPr>
          <p:cNvPr id="7" name="TextBox 6">
            <a:extLst>
              <a:ext uri="{FF2B5EF4-FFF2-40B4-BE49-F238E27FC236}">
                <a16:creationId xmlns:a16="http://schemas.microsoft.com/office/drawing/2014/main" id="{F31B4102-F223-033A-3763-AD005F3936D6}"/>
              </a:ext>
            </a:extLst>
          </p:cNvPr>
          <p:cNvSpPr txBox="1"/>
          <p:nvPr/>
        </p:nvSpPr>
        <p:spPr>
          <a:xfrm>
            <a:off x="1684599" y="2048566"/>
            <a:ext cx="8822803" cy="4878259"/>
          </a:xfrm>
          <a:prstGeom prst="rect">
            <a:avLst/>
          </a:prstGeom>
          <a:noFill/>
        </p:spPr>
        <p:txBody>
          <a:bodyPr wrap="square">
            <a:spAutoFit/>
          </a:bodyPr>
          <a:lstStyle/>
          <a:p>
            <a:pPr algn="just">
              <a:spcBef>
                <a:spcPts val="600"/>
              </a:spcBef>
              <a:spcAft>
                <a:spcPts val="600"/>
              </a:spcAft>
            </a:pPr>
            <a:r>
              <a:rPr lang="en-US" sz="2400" b="1" dirty="0">
                <a:solidFill>
                  <a:srgbClr val="0F1115"/>
                </a:solidFill>
                <a:latin typeface="quote-cjk-patch"/>
              </a:rPr>
              <a:t>1- VNF Instance Lifecycle Management</a:t>
            </a:r>
          </a:p>
          <a:p>
            <a:pPr marL="582613" lvl="1" indent="-285750" algn="just">
              <a:spcBef>
                <a:spcPts val="600"/>
              </a:spcBef>
              <a:spcAft>
                <a:spcPts val="600"/>
              </a:spcAft>
              <a:buFont typeface="Arial" panose="020B0604020202020204" pitchFamily="34" charset="0"/>
              <a:buChar char="•"/>
            </a:pPr>
            <a:r>
              <a:rPr lang="en-US" b="1" dirty="0">
                <a:solidFill>
                  <a:srgbClr val="0F1115"/>
                </a:solidFill>
                <a:latin typeface="quote-cjk-patch"/>
              </a:rPr>
              <a:t>Instantiation: </a:t>
            </a:r>
            <a:r>
              <a:rPr lang="en-US" dirty="0">
                <a:solidFill>
                  <a:srgbClr val="0F1115"/>
                </a:solidFill>
                <a:latin typeface="quote-cjk-patch"/>
              </a:rPr>
              <a:t>receives a request from the NFVO and executes the steps to create and boot a new VNF instance (e.g., a virtual firewall). </a:t>
            </a:r>
          </a:p>
          <a:p>
            <a:pPr marL="296863" lvl="1" algn="just">
              <a:spcBef>
                <a:spcPts val="600"/>
              </a:spcBef>
              <a:spcAft>
                <a:spcPts val="600"/>
              </a:spcAft>
            </a:pPr>
            <a:r>
              <a:rPr lang="en-US" dirty="0">
                <a:solidFill>
                  <a:srgbClr val="0F1115"/>
                </a:solidFill>
                <a:latin typeface="quote-cjk-patch"/>
              </a:rPr>
              <a:t>		</a:t>
            </a:r>
            <a:r>
              <a:rPr lang="en-US" i="1" dirty="0">
                <a:solidFill>
                  <a:schemeClr val="accent5">
                    <a:lumMod val="75000"/>
                  </a:schemeClr>
                </a:solidFill>
                <a:latin typeface="quote-cjk-patch"/>
              </a:rPr>
              <a:t>This often involves interacting with the VIM to allocate resources</a:t>
            </a:r>
            <a:r>
              <a:rPr lang="en-US" dirty="0">
                <a:solidFill>
                  <a:srgbClr val="0F1115"/>
                </a:solidFill>
                <a:latin typeface="quote-cjk-patch"/>
              </a:rPr>
              <a:t>.</a:t>
            </a:r>
          </a:p>
          <a:p>
            <a:pPr marL="582613" lvl="1" indent="-285750" algn="just">
              <a:spcBef>
                <a:spcPts val="600"/>
              </a:spcBef>
              <a:spcAft>
                <a:spcPts val="600"/>
              </a:spcAft>
              <a:buFont typeface="Arial" panose="020B0604020202020204" pitchFamily="34" charset="0"/>
              <a:buChar char="•"/>
            </a:pPr>
            <a:r>
              <a:rPr lang="en-US" b="1" dirty="0">
                <a:solidFill>
                  <a:srgbClr val="0F1115"/>
                </a:solidFill>
                <a:latin typeface="quote-cjk-patch"/>
              </a:rPr>
              <a:t>Scaling:</a:t>
            </a:r>
            <a:r>
              <a:rPr lang="en-US" dirty="0">
                <a:solidFill>
                  <a:srgbClr val="0F1115"/>
                </a:solidFill>
                <a:latin typeface="quote-cjk-patch"/>
              </a:rPr>
              <a:t> performs the scaling actions (scale-in/out, scale-up/down) on a VNF based on triggers from the NFVO or directly from the VNF/EMS. </a:t>
            </a:r>
          </a:p>
          <a:p>
            <a:pPr marL="1074738" lvl="2" indent="-285750" algn="just">
              <a:spcAft>
                <a:spcPts val="600"/>
              </a:spcAft>
              <a:buFont typeface="Courier New" panose="02070309020205020404" pitchFamily="49" charset="0"/>
              <a:buChar char="o"/>
            </a:pPr>
            <a:r>
              <a:rPr lang="en-US" sz="1600" b="1" dirty="0">
                <a:solidFill>
                  <a:srgbClr val="0F1115"/>
                </a:solidFill>
                <a:latin typeface="quote-cjk-patch"/>
              </a:rPr>
              <a:t>For example</a:t>
            </a:r>
            <a:r>
              <a:rPr lang="en-US" sz="1600" dirty="0">
                <a:solidFill>
                  <a:srgbClr val="0F1115"/>
                </a:solidFill>
                <a:latin typeface="quote-cjk-patch"/>
              </a:rPr>
              <a:t>: it can add a new virtual CPU to a VNF (scale-up) or deploy a new instance of the VNF (scale-out)</a:t>
            </a:r>
          </a:p>
          <a:p>
            <a:pPr marL="582613" lvl="1" indent="-285750" algn="just">
              <a:spcBef>
                <a:spcPts val="600"/>
              </a:spcBef>
              <a:spcAft>
                <a:spcPts val="600"/>
              </a:spcAft>
              <a:buFont typeface="Arial" panose="020B0604020202020204" pitchFamily="34" charset="0"/>
              <a:buChar char="•"/>
            </a:pPr>
            <a:r>
              <a:rPr lang="en-US" b="1" dirty="0">
                <a:solidFill>
                  <a:srgbClr val="0F1115"/>
                </a:solidFill>
                <a:latin typeface="quote-cjk-patch"/>
              </a:rPr>
              <a:t>Healing:</a:t>
            </a:r>
            <a:r>
              <a:rPr lang="en-US" dirty="0">
                <a:solidFill>
                  <a:srgbClr val="0F1115"/>
                </a:solidFill>
                <a:latin typeface="quote-cjk-patch"/>
              </a:rPr>
              <a:t> monitors the health of the VNF and can take corrective action if it fails</a:t>
            </a:r>
          </a:p>
          <a:p>
            <a:pPr marL="1074738" lvl="2" indent="-285750" algn="just">
              <a:spcAft>
                <a:spcPts val="600"/>
              </a:spcAft>
              <a:buFont typeface="Courier New" panose="02070309020205020404" pitchFamily="49" charset="0"/>
              <a:buChar char="o"/>
              <a:tabLst>
                <a:tab pos="1104900" algn="l"/>
                <a:tab pos="1150938" algn="l"/>
              </a:tabLst>
            </a:pPr>
            <a:r>
              <a:rPr lang="en-US" dirty="0">
                <a:solidFill>
                  <a:srgbClr val="0F1115"/>
                </a:solidFill>
                <a:latin typeface="quote-cjk-patch"/>
              </a:rPr>
              <a:t>		</a:t>
            </a:r>
            <a:r>
              <a:rPr lang="en-US" sz="1600" b="1" dirty="0">
                <a:solidFill>
                  <a:srgbClr val="0F1115"/>
                </a:solidFill>
                <a:latin typeface="quote-cjk-patch"/>
              </a:rPr>
              <a:t>For example</a:t>
            </a:r>
            <a:r>
              <a:rPr lang="en-US" sz="1600" dirty="0">
                <a:solidFill>
                  <a:srgbClr val="0F1115"/>
                </a:solidFill>
                <a:latin typeface="quote-cjk-patch"/>
              </a:rPr>
              <a:t>: restarting the VNF software or rebuilding the VNF on a new host.</a:t>
            </a:r>
          </a:p>
          <a:p>
            <a:pPr marL="582613" lvl="1" indent="-285750" algn="just">
              <a:spcBef>
                <a:spcPts val="600"/>
              </a:spcBef>
              <a:spcAft>
                <a:spcPts val="600"/>
              </a:spcAft>
              <a:buFont typeface="Arial" panose="020B0604020202020204" pitchFamily="34" charset="0"/>
              <a:buChar char="•"/>
            </a:pPr>
            <a:r>
              <a:rPr lang="en-US" b="1" dirty="0">
                <a:solidFill>
                  <a:srgbClr val="0F1115"/>
                </a:solidFill>
                <a:latin typeface="quote-cjk-patch"/>
              </a:rPr>
              <a:t>Update/Upgrade:</a:t>
            </a:r>
            <a:r>
              <a:rPr lang="en-US" dirty="0">
                <a:solidFill>
                  <a:srgbClr val="0F1115"/>
                </a:solidFill>
                <a:latin typeface="quote-cjk-patch"/>
              </a:rPr>
              <a:t> manages the process of updating or patching the VNF's software.</a:t>
            </a:r>
          </a:p>
          <a:p>
            <a:pPr marL="582613" lvl="1" indent="-285750" algn="just">
              <a:spcBef>
                <a:spcPts val="600"/>
              </a:spcBef>
              <a:spcAft>
                <a:spcPts val="600"/>
              </a:spcAft>
              <a:buFont typeface="Arial" panose="020B0604020202020204" pitchFamily="34" charset="0"/>
              <a:buChar char="•"/>
            </a:pPr>
            <a:r>
              <a:rPr lang="en-US" b="1" dirty="0">
                <a:solidFill>
                  <a:srgbClr val="0F1115"/>
                </a:solidFill>
                <a:latin typeface="quote-cjk-patch"/>
              </a:rPr>
              <a:t>Termination:</a:t>
            </a:r>
            <a:r>
              <a:rPr lang="en-US" dirty="0">
                <a:solidFill>
                  <a:srgbClr val="0F1115"/>
                </a:solidFill>
                <a:latin typeface="quote-cjk-patch"/>
              </a:rPr>
              <a:t> gracefully shuts down and deletes the VNF instance, ensuring all resources are released.</a:t>
            </a:r>
          </a:p>
        </p:txBody>
      </p:sp>
      <p:sp>
        <p:nvSpPr>
          <p:cNvPr id="5" name="object 3">
            <a:extLst>
              <a:ext uri="{FF2B5EF4-FFF2-40B4-BE49-F238E27FC236}">
                <a16:creationId xmlns:a16="http://schemas.microsoft.com/office/drawing/2014/main" id="{DAB5BBB4-2E07-5CB8-1C7C-AFC01035FA02}"/>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spc="-5" dirty="0">
                <a:latin typeface="Times New Roman"/>
                <a:cs typeface="Times New Roman"/>
              </a:rPr>
              <a:t>VNF Manager (VNFM)</a:t>
            </a:r>
            <a:endParaRPr sz="3200" b="1" dirty="0">
              <a:latin typeface="Times New Roman"/>
              <a:cs typeface="Times New Roman"/>
            </a:endParaRPr>
          </a:p>
        </p:txBody>
      </p:sp>
    </p:spTree>
    <p:extLst>
      <p:ext uri="{BB962C8B-B14F-4D97-AF65-F5344CB8AC3E}">
        <p14:creationId xmlns:p14="http://schemas.microsoft.com/office/powerpoint/2010/main" val="1656279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7089F-86B0-B4A2-C54C-6982D91FF4E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471B9E5-1E34-29AD-A0C1-40C31372E246}"/>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37CEC272-1FA3-BAE7-B73E-A2BAFA507E83}"/>
              </a:ext>
            </a:extLst>
          </p:cNvPr>
          <p:cNvSpPr>
            <a:spLocks noGrp="1"/>
          </p:cNvSpPr>
          <p:nvPr>
            <p:ph type="sldNum" sz="quarter" idx="12"/>
          </p:nvPr>
        </p:nvSpPr>
        <p:spPr/>
        <p:txBody>
          <a:bodyPr/>
          <a:lstStyle/>
          <a:p>
            <a:fld id="{B6F15528-21DE-4FAA-801E-634DDDAF4B2B}" type="slidenum">
              <a:rPr lang="en-US" smtClean="0"/>
              <a:t>21</a:t>
            </a:fld>
            <a:endParaRPr lang="en-US" dirty="0"/>
          </a:p>
        </p:txBody>
      </p:sp>
      <p:sp>
        <p:nvSpPr>
          <p:cNvPr id="6" name="TextBox 5">
            <a:extLst>
              <a:ext uri="{FF2B5EF4-FFF2-40B4-BE49-F238E27FC236}">
                <a16:creationId xmlns:a16="http://schemas.microsoft.com/office/drawing/2014/main" id="{D3D69411-98F1-DB0E-936A-A6218090D4AC}"/>
              </a:ext>
            </a:extLst>
          </p:cNvPr>
          <p:cNvSpPr txBox="1"/>
          <p:nvPr/>
        </p:nvSpPr>
        <p:spPr>
          <a:xfrm>
            <a:off x="1903197" y="1589834"/>
            <a:ext cx="8229348" cy="461665"/>
          </a:xfrm>
          <a:prstGeom prst="rect">
            <a:avLst/>
          </a:prstGeom>
          <a:noFill/>
        </p:spPr>
        <p:txBody>
          <a:bodyPr wrap="square">
            <a:spAutoFit/>
          </a:bodyPr>
          <a:lstStyle/>
          <a:p>
            <a:pPr>
              <a:spcBef>
                <a:spcPts val="2400"/>
              </a:spcBef>
              <a:spcAft>
                <a:spcPts val="1200"/>
              </a:spcAft>
            </a:pPr>
            <a:r>
              <a:rPr lang="en-US" sz="2400" dirty="0">
                <a:solidFill>
                  <a:srgbClr val="0F1115"/>
                </a:solidFill>
                <a:latin typeface="quote-cjk-patch"/>
              </a:rPr>
              <a:t>Key Responsibilities and Functionalities</a:t>
            </a:r>
          </a:p>
        </p:txBody>
      </p:sp>
      <p:sp>
        <p:nvSpPr>
          <p:cNvPr id="7" name="TextBox 6">
            <a:extLst>
              <a:ext uri="{FF2B5EF4-FFF2-40B4-BE49-F238E27FC236}">
                <a16:creationId xmlns:a16="http://schemas.microsoft.com/office/drawing/2014/main" id="{D7221EFA-6F6C-B051-688F-5A3E935682EC}"/>
              </a:ext>
            </a:extLst>
          </p:cNvPr>
          <p:cNvSpPr txBox="1"/>
          <p:nvPr/>
        </p:nvSpPr>
        <p:spPr>
          <a:xfrm>
            <a:off x="1845197" y="2126283"/>
            <a:ext cx="8501606" cy="461665"/>
          </a:xfrm>
          <a:prstGeom prst="rect">
            <a:avLst/>
          </a:prstGeom>
          <a:noFill/>
        </p:spPr>
        <p:txBody>
          <a:bodyPr wrap="square">
            <a:spAutoFit/>
          </a:bodyPr>
          <a:lstStyle/>
          <a:p>
            <a:pPr algn="just">
              <a:spcBef>
                <a:spcPts val="600"/>
              </a:spcBef>
            </a:pPr>
            <a:r>
              <a:rPr lang="en-US" sz="2400" b="1" dirty="0">
                <a:solidFill>
                  <a:srgbClr val="0F1115"/>
                </a:solidFill>
                <a:latin typeface="quote-cjk-patch"/>
              </a:rPr>
              <a:t>2- Configuration and Event Reporting</a:t>
            </a:r>
          </a:p>
        </p:txBody>
      </p:sp>
      <p:sp>
        <p:nvSpPr>
          <p:cNvPr id="8" name="TextBox 7">
            <a:extLst>
              <a:ext uri="{FF2B5EF4-FFF2-40B4-BE49-F238E27FC236}">
                <a16:creationId xmlns:a16="http://schemas.microsoft.com/office/drawing/2014/main" id="{8FB52A18-4096-BDD5-7B8C-000CBDFF2B0C}"/>
              </a:ext>
            </a:extLst>
          </p:cNvPr>
          <p:cNvSpPr txBox="1"/>
          <p:nvPr/>
        </p:nvSpPr>
        <p:spPr>
          <a:xfrm>
            <a:off x="1903198" y="4485581"/>
            <a:ext cx="8307603" cy="461665"/>
          </a:xfrm>
          <a:prstGeom prst="rect">
            <a:avLst/>
          </a:prstGeom>
          <a:noFill/>
        </p:spPr>
        <p:txBody>
          <a:bodyPr wrap="square">
            <a:spAutoFit/>
          </a:bodyPr>
          <a:lstStyle/>
          <a:p>
            <a:pPr>
              <a:spcBef>
                <a:spcPts val="1200"/>
              </a:spcBef>
              <a:spcAft>
                <a:spcPts val="600"/>
              </a:spcAft>
            </a:pPr>
            <a:r>
              <a:rPr lang="en-US" sz="2400" b="1" dirty="0">
                <a:solidFill>
                  <a:srgbClr val="0F1115"/>
                </a:solidFill>
                <a:latin typeface="quote-cjk-patch"/>
              </a:rPr>
              <a:t>3- Policy Enforcement for a VNF</a:t>
            </a:r>
          </a:p>
        </p:txBody>
      </p:sp>
      <p:sp>
        <p:nvSpPr>
          <p:cNvPr id="10" name="TextBox 9">
            <a:extLst>
              <a:ext uri="{FF2B5EF4-FFF2-40B4-BE49-F238E27FC236}">
                <a16:creationId xmlns:a16="http://schemas.microsoft.com/office/drawing/2014/main" id="{58333C8A-56BB-981D-D829-3554F75F4591}"/>
              </a:ext>
            </a:extLst>
          </p:cNvPr>
          <p:cNvSpPr txBox="1"/>
          <p:nvPr/>
        </p:nvSpPr>
        <p:spPr>
          <a:xfrm>
            <a:off x="1845197" y="5073161"/>
            <a:ext cx="8501606" cy="1477328"/>
          </a:xfrm>
          <a:prstGeom prst="rect">
            <a:avLst/>
          </a:prstGeom>
          <a:noFill/>
        </p:spPr>
        <p:txBody>
          <a:bodyPr wrap="square">
            <a:spAutoFit/>
          </a:bodyPr>
          <a:lstStyle/>
          <a:p>
            <a:pPr marL="800100" lvl="1" indent="-342900">
              <a:spcBef>
                <a:spcPts val="600"/>
              </a:spcBef>
              <a:spcAft>
                <a:spcPts val="1200"/>
              </a:spcAft>
              <a:buFont typeface="Arial" panose="020B0604020202020204" pitchFamily="34" charset="0"/>
              <a:buChar char="•"/>
            </a:pPr>
            <a:r>
              <a:rPr lang="en-US" sz="2000" dirty="0">
                <a:solidFill>
                  <a:srgbClr val="0F1115"/>
                </a:solidFill>
                <a:latin typeface="quote-cjk-patch"/>
              </a:rPr>
              <a:t>The VNFM enforces lifecycle management policies specific to a VNF. </a:t>
            </a:r>
          </a:p>
          <a:p>
            <a:pPr marL="1257300" lvl="2" indent="-342900">
              <a:spcAft>
                <a:spcPts val="600"/>
              </a:spcAft>
              <a:buFont typeface="Courier New" panose="02070309020205020404" pitchFamily="49" charset="0"/>
              <a:buChar char="o"/>
            </a:pPr>
            <a:r>
              <a:rPr lang="en-US" sz="2000" dirty="0">
                <a:solidFill>
                  <a:srgbClr val="0F1115"/>
                </a:solidFill>
                <a:latin typeface="quote-cjk-patch"/>
              </a:rPr>
              <a:t>For example, if a policy states, "If CPU usage &gt; 80% for 5 minutes, scale out," the VNFM is the component that executes that scaling action.</a:t>
            </a:r>
          </a:p>
        </p:txBody>
      </p:sp>
      <p:sp>
        <p:nvSpPr>
          <p:cNvPr id="9" name="TextBox 8">
            <a:extLst>
              <a:ext uri="{FF2B5EF4-FFF2-40B4-BE49-F238E27FC236}">
                <a16:creationId xmlns:a16="http://schemas.microsoft.com/office/drawing/2014/main" id="{FFCC9852-D6A6-56C8-DB45-7285D056283C}"/>
              </a:ext>
            </a:extLst>
          </p:cNvPr>
          <p:cNvSpPr txBox="1"/>
          <p:nvPr/>
        </p:nvSpPr>
        <p:spPr>
          <a:xfrm>
            <a:off x="1903198" y="2736909"/>
            <a:ext cx="8307603" cy="1541448"/>
          </a:xfrm>
          <a:prstGeom prst="rect">
            <a:avLst/>
          </a:prstGeom>
          <a:noFill/>
        </p:spPr>
        <p:txBody>
          <a:bodyPr wrap="square">
            <a:spAutoFit/>
          </a:bodyPr>
          <a:lstStyle/>
          <a:p>
            <a:pPr marL="742950" lvl="1" indent="-285750">
              <a:spcBef>
                <a:spcPts val="600"/>
              </a:spcBef>
              <a:spcAft>
                <a:spcPts val="1200"/>
              </a:spcAft>
              <a:buFont typeface="Arial" panose="020B0604020202020204" pitchFamily="34" charset="0"/>
              <a:buChar char="•"/>
            </a:pPr>
            <a:r>
              <a:rPr lang="en-US" sz="2000" dirty="0">
                <a:solidFill>
                  <a:srgbClr val="0F1115"/>
                </a:solidFill>
                <a:latin typeface="quote-cjk-patch"/>
              </a:rPr>
              <a:t>Handle the initial configuration of the VNF after it's instantiated.</a:t>
            </a:r>
          </a:p>
          <a:p>
            <a:pPr marL="742950" lvl="1" indent="-285750">
              <a:spcBef>
                <a:spcPts val="450"/>
              </a:spcBef>
              <a:spcAft>
                <a:spcPts val="1200"/>
              </a:spcAft>
              <a:buFont typeface="Arial" panose="020B0604020202020204" pitchFamily="34" charset="0"/>
              <a:buChar char="•"/>
            </a:pPr>
            <a:r>
              <a:rPr lang="en-US" sz="2000" dirty="0">
                <a:solidFill>
                  <a:srgbClr val="0F1115"/>
                </a:solidFill>
                <a:latin typeface="quote-cjk-patch"/>
              </a:rPr>
              <a:t>Collects performance measurements (PM) and fault information from the VNF and its underlying virtual resources, forwarding relevant events and data to the NFVO.</a:t>
            </a:r>
          </a:p>
        </p:txBody>
      </p:sp>
      <p:sp>
        <p:nvSpPr>
          <p:cNvPr id="5" name="object 3">
            <a:extLst>
              <a:ext uri="{FF2B5EF4-FFF2-40B4-BE49-F238E27FC236}">
                <a16:creationId xmlns:a16="http://schemas.microsoft.com/office/drawing/2014/main" id="{75CD4458-3B5C-41DA-59F6-E87B12CD13BA}"/>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spc="-5" dirty="0">
                <a:latin typeface="Times New Roman"/>
                <a:cs typeface="Times New Roman"/>
              </a:rPr>
              <a:t>VNF Manager (VNFM)</a:t>
            </a:r>
            <a:endParaRPr sz="3200" b="1" dirty="0">
              <a:latin typeface="Times New Roman"/>
              <a:cs typeface="Times New Roman"/>
            </a:endParaRPr>
          </a:p>
        </p:txBody>
      </p:sp>
    </p:spTree>
    <p:extLst>
      <p:ext uri="{BB962C8B-B14F-4D97-AF65-F5344CB8AC3E}">
        <p14:creationId xmlns:p14="http://schemas.microsoft.com/office/powerpoint/2010/main" val="666746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0FF5D-8ADF-BC73-4CC3-34A992E0670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81578F4-EBF7-C456-F4E7-09BF4007E870}"/>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C1DF60A4-D6E0-8154-4A55-ED4651FCC540}"/>
              </a:ext>
            </a:extLst>
          </p:cNvPr>
          <p:cNvSpPr>
            <a:spLocks noGrp="1"/>
          </p:cNvSpPr>
          <p:nvPr>
            <p:ph type="sldNum" sz="quarter" idx="12"/>
          </p:nvPr>
        </p:nvSpPr>
        <p:spPr/>
        <p:txBody>
          <a:bodyPr/>
          <a:lstStyle/>
          <a:p>
            <a:fld id="{B6F15528-21DE-4FAA-801E-634DDDAF4B2B}" type="slidenum">
              <a:rPr lang="en-US" smtClean="0"/>
              <a:t>22</a:t>
            </a:fld>
            <a:endParaRPr lang="en-US" dirty="0"/>
          </a:p>
        </p:txBody>
      </p:sp>
      <p:sp>
        <p:nvSpPr>
          <p:cNvPr id="6" name="TextBox 5">
            <a:extLst>
              <a:ext uri="{FF2B5EF4-FFF2-40B4-BE49-F238E27FC236}">
                <a16:creationId xmlns:a16="http://schemas.microsoft.com/office/drawing/2014/main" id="{49CE4F32-1316-FD9E-E76C-77BFF61F25BF}"/>
              </a:ext>
            </a:extLst>
          </p:cNvPr>
          <p:cNvSpPr txBox="1"/>
          <p:nvPr/>
        </p:nvSpPr>
        <p:spPr>
          <a:xfrm>
            <a:off x="1903197" y="1589834"/>
            <a:ext cx="8229348" cy="461665"/>
          </a:xfrm>
          <a:prstGeom prst="rect">
            <a:avLst/>
          </a:prstGeom>
          <a:noFill/>
        </p:spPr>
        <p:txBody>
          <a:bodyPr wrap="square">
            <a:spAutoFit/>
          </a:bodyPr>
          <a:lstStyle/>
          <a:p>
            <a:pPr>
              <a:spcBef>
                <a:spcPts val="2400"/>
              </a:spcBef>
              <a:spcAft>
                <a:spcPts val="1200"/>
              </a:spcAft>
            </a:pPr>
            <a:r>
              <a:rPr lang="en-US" sz="2400" dirty="0">
                <a:solidFill>
                  <a:srgbClr val="0F1115"/>
                </a:solidFill>
                <a:latin typeface="quote-cjk-patch"/>
              </a:rPr>
              <a:t>Key Responsibilities and Functionalities</a:t>
            </a:r>
          </a:p>
        </p:txBody>
      </p:sp>
      <p:sp>
        <p:nvSpPr>
          <p:cNvPr id="7" name="TextBox 6">
            <a:extLst>
              <a:ext uri="{FF2B5EF4-FFF2-40B4-BE49-F238E27FC236}">
                <a16:creationId xmlns:a16="http://schemas.microsoft.com/office/drawing/2014/main" id="{62ECEB54-3F42-EF65-FD51-CE8291C1B8EF}"/>
              </a:ext>
            </a:extLst>
          </p:cNvPr>
          <p:cNvSpPr txBox="1"/>
          <p:nvPr/>
        </p:nvSpPr>
        <p:spPr>
          <a:xfrm>
            <a:off x="1845197" y="2126283"/>
            <a:ext cx="8501606" cy="461665"/>
          </a:xfrm>
          <a:prstGeom prst="rect">
            <a:avLst/>
          </a:prstGeom>
          <a:noFill/>
        </p:spPr>
        <p:txBody>
          <a:bodyPr wrap="square">
            <a:spAutoFit/>
          </a:bodyPr>
          <a:lstStyle/>
          <a:p>
            <a:pPr algn="just">
              <a:spcBef>
                <a:spcPts val="600"/>
              </a:spcBef>
            </a:pPr>
            <a:r>
              <a:rPr lang="en-US" sz="2400" b="1" dirty="0">
                <a:solidFill>
                  <a:srgbClr val="0F1115"/>
                </a:solidFill>
                <a:latin typeface="quote-cjk-patch"/>
              </a:rPr>
              <a:t>4- Interaction with the VNF and its EMS</a:t>
            </a:r>
          </a:p>
        </p:txBody>
      </p:sp>
      <p:sp>
        <p:nvSpPr>
          <p:cNvPr id="9" name="TextBox 8">
            <a:extLst>
              <a:ext uri="{FF2B5EF4-FFF2-40B4-BE49-F238E27FC236}">
                <a16:creationId xmlns:a16="http://schemas.microsoft.com/office/drawing/2014/main" id="{436999C1-ECF9-F7BF-8950-2B474A16E118}"/>
              </a:ext>
            </a:extLst>
          </p:cNvPr>
          <p:cNvSpPr txBox="1"/>
          <p:nvPr/>
        </p:nvSpPr>
        <p:spPr>
          <a:xfrm>
            <a:off x="1903198" y="2736910"/>
            <a:ext cx="8307603" cy="1015663"/>
          </a:xfrm>
          <a:prstGeom prst="rect">
            <a:avLst/>
          </a:prstGeom>
          <a:noFill/>
        </p:spPr>
        <p:txBody>
          <a:bodyPr wrap="square">
            <a:spAutoFit/>
          </a:bodyPr>
          <a:lstStyle/>
          <a:p>
            <a:pPr marL="742950" lvl="1" indent="-285750">
              <a:spcBef>
                <a:spcPts val="600"/>
              </a:spcBef>
              <a:spcAft>
                <a:spcPts val="1200"/>
              </a:spcAft>
              <a:buFont typeface="Arial" panose="020B0604020202020204" pitchFamily="34" charset="0"/>
              <a:buChar char="•"/>
            </a:pPr>
            <a:r>
              <a:rPr lang="en-US" sz="2000" dirty="0">
                <a:solidFill>
                  <a:srgbClr val="0F1115"/>
                </a:solidFill>
                <a:latin typeface="quote-cjk-patch"/>
              </a:rPr>
              <a:t>Communicates with the VNF's built-in management system or its traditional Element Management System (EMS) to perform configuration and receive VNF-specific alarms and metrics</a:t>
            </a:r>
          </a:p>
        </p:txBody>
      </p:sp>
      <p:sp>
        <p:nvSpPr>
          <p:cNvPr id="5" name="object 3">
            <a:extLst>
              <a:ext uri="{FF2B5EF4-FFF2-40B4-BE49-F238E27FC236}">
                <a16:creationId xmlns:a16="http://schemas.microsoft.com/office/drawing/2014/main" id="{19274E11-4724-F2C1-CCFF-8F4D3CDDC10B}"/>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spc="-5" dirty="0">
                <a:latin typeface="Times New Roman"/>
                <a:cs typeface="Times New Roman"/>
              </a:rPr>
              <a:t>VNF Manager (VNFM)</a:t>
            </a:r>
            <a:endParaRPr sz="3200" b="1" dirty="0">
              <a:latin typeface="Times New Roman"/>
              <a:cs typeface="Times New Roman"/>
            </a:endParaRPr>
          </a:p>
        </p:txBody>
      </p:sp>
    </p:spTree>
    <p:extLst>
      <p:ext uri="{BB962C8B-B14F-4D97-AF65-F5344CB8AC3E}">
        <p14:creationId xmlns:p14="http://schemas.microsoft.com/office/powerpoint/2010/main" val="3630288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11A45-7ADE-3A95-B072-745B30D0EE1A}"/>
            </a:ext>
          </a:extLst>
        </p:cNvPr>
        <p:cNvGrpSpPr/>
        <p:nvPr/>
      </p:nvGrpSpPr>
      <p:grpSpPr>
        <a:xfrm>
          <a:off x="0" y="0"/>
          <a:ext cx="0" cy="0"/>
          <a:chOff x="0" y="0"/>
          <a:chExt cx="0" cy="0"/>
        </a:xfrm>
      </p:grpSpPr>
      <p:pic>
        <p:nvPicPr>
          <p:cNvPr id="1026" name="Picture 2" descr="ETSI NFV architectural framework. | Download Scientific Diagram">
            <a:extLst>
              <a:ext uri="{FF2B5EF4-FFF2-40B4-BE49-F238E27FC236}">
                <a16:creationId xmlns:a16="http://schemas.microsoft.com/office/drawing/2014/main" id="{8F165496-B478-B7E9-261C-CF9B1F17056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30830" y="643468"/>
            <a:ext cx="7930341"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E0ABB8E-82B4-01DC-3479-9B8E22A079BF}"/>
              </a:ext>
            </a:extLst>
          </p:cNvPr>
          <p:cNvSpPr txBox="1"/>
          <p:nvPr/>
        </p:nvSpPr>
        <p:spPr>
          <a:xfrm>
            <a:off x="2900376" y="43283"/>
            <a:ext cx="5726766" cy="556902"/>
          </a:xfrm>
          <a:prstGeom prst="rect">
            <a:avLst/>
          </a:prstGeom>
        </p:spPr>
        <p:txBody>
          <a:bodyPr vert="horz" lIns="91440" tIns="45720" rIns="91440" bIns="45720" rtlCol="0" anchor="ctr">
            <a:normAutofit fontScale="77500" lnSpcReduction="20000"/>
          </a:bodyPr>
          <a:lstStyle>
            <a:lvl1pPr algn="ctr">
              <a:spcBef>
                <a:spcPct val="0"/>
              </a:spcBef>
              <a:buNone/>
              <a:defRPr sz="4000">
                <a:latin typeface="+mj-lt"/>
                <a:ea typeface="+mj-ea"/>
                <a:cs typeface="+mj-cs"/>
              </a:defRPr>
            </a:lvl1pPr>
          </a:lstStyle>
          <a:p>
            <a:r>
              <a:rPr lang="en-US" dirty="0"/>
              <a:t>ETSI NFV Architectural Framework</a:t>
            </a:r>
          </a:p>
        </p:txBody>
      </p:sp>
      <p:sp>
        <p:nvSpPr>
          <p:cNvPr id="6" name="Slide Number Placeholder 5">
            <a:extLst>
              <a:ext uri="{FF2B5EF4-FFF2-40B4-BE49-F238E27FC236}">
                <a16:creationId xmlns:a16="http://schemas.microsoft.com/office/drawing/2014/main" id="{9ED41D04-9ED7-A1FE-8F7B-9FFBAE5C0A5A}"/>
              </a:ext>
            </a:extLst>
          </p:cNvPr>
          <p:cNvSpPr>
            <a:spLocks noGrp="1"/>
          </p:cNvSpPr>
          <p:nvPr>
            <p:ph type="sldNum" sz="quarter" idx="12"/>
          </p:nvPr>
        </p:nvSpPr>
        <p:spPr/>
        <p:txBody>
          <a:bodyPr/>
          <a:lstStyle/>
          <a:p>
            <a:fld id="{C1FF6DA9-008F-8B48-92A6-B652298478BF}" type="slidenum">
              <a:rPr lang="en-US" smtClean="0"/>
              <a:t>23</a:t>
            </a:fld>
            <a:endParaRPr lang="en-US"/>
          </a:p>
        </p:txBody>
      </p:sp>
      <p:sp>
        <p:nvSpPr>
          <p:cNvPr id="2" name="Oval 1">
            <a:extLst>
              <a:ext uri="{FF2B5EF4-FFF2-40B4-BE49-F238E27FC236}">
                <a16:creationId xmlns:a16="http://schemas.microsoft.com/office/drawing/2014/main" id="{77421287-4F09-245E-4770-37C3124683E9}"/>
              </a:ext>
            </a:extLst>
          </p:cNvPr>
          <p:cNvSpPr/>
          <p:nvPr/>
        </p:nvSpPr>
        <p:spPr>
          <a:xfrm>
            <a:off x="7942729" y="4464423"/>
            <a:ext cx="159571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Tree>
    <p:extLst>
      <p:ext uri="{BB962C8B-B14F-4D97-AF65-F5344CB8AC3E}">
        <p14:creationId xmlns:p14="http://schemas.microsoft.com/office/powerpoint/2010/main" val="1170467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C7D31-CDB2-EB4C-397A-63AA5982533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D058B93-B552-6949-FCCC-6A73D7A77EB7}"/>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FADCECA9-0FBA-11A2-3B13-0EE3B887B9FF}"/>
              </a:ext>
            </a:extLst>
          </p:cNvPr>
          <p:cNvSpPr>
            <a:spLocks noGrp="1"/>
          </p:cNvSpPr>
          <p:nvPr>
            <p:ph type="sldNum" sz="quarter" idx="12"/>
          </p:nvPr>
        </p:nvSpPr>
        <p:spPr/>
        <p:txBody>
          <a:bodyPr/>
          <a:lstStyle/>
          <a:p>
            <a:fld id="{B6F15528-21DE-4FAA-801E-634DDDAF4B2B}" type="slidenum">
              <a:rPr lang="en-US" smtClean="0"/>
              <a:t>24</a:t>
            </a:fld>
            <a:endParaRPr lang="en-US" dirty="0"/>
          </a:p>
        </p:txBody>
      </p:sp>
      <p:sp>
        <p:nvSpPr>
          <p:cNvPr id="3" name="object 3">
            <a:extLst>
              <a:ext uri="{FF2B5EF4-FFF2-40B4-BE49-F238E27FC236}">
                <a16:creationId xmlns:a16="http://schemas.microsoft.com/office/drawing/2014/main" id="{0CF8B3D6-B228-F63E-E628-19BDB9CB6880}"/>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dirty="0">
                <a:solidFill>
                  <a:srgbClr val="0F1115"/>
                </a:solidFill>
                <a:latin typeface="Times New Roman" panose="02020603050405020304" pitchFamily="18" charset="0"/>
                <a:cs typeface="Times New Roman" panose="02020603050405020304" pitchFamily="18" charset="0"/>
              </a:rPr>
              <a:t>Virtualized Infrastructure Manager </a:t>
            </a:r>
            <a:r>
              <a:rPr lang="en-US" sz="3200" b="1" spc="-5" dirty="0">
                <a:latin typeface="Times New Roman" panose="02020603050405020304" pitchFamily="18" charset="0"/>
                <a:cs typeface="Times New Roman" panose="02020603050405020304" pitchFamily="18" charset="0"/>
              </a:rPr>
              <a:t>(VIM)</a:t>
            </a:r>
            <a:endParaRPr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27585F1-10D2-6526-5098-AD84F16F58F1}"/>
              </a:ext>
            </a:extLst>
          </p:cNvPr>
          <p:cNvSpPr txBox="1"/>
          <p:nvPr/>
        </p:nvSpPr>
        <p:spPr>
          <a:xfrm>
            <a:off x="1981452" y="1936284"/>
            <a:ext cx="8229348" cy="3847207"/>
          </a:xfrm>
          <a:prstGeom prst="rect">
            <a:avLst/>
          </a:prstGeom>
          <a:noFill/>
        </p:spPr>
        <p:txBody>
          <a:bodyPr wrap="square">
            <a:spAutoFit/>
          </a:bodyPr>
          <a:lstStyle/>
          <a:p>
            <a:pPr algn="just">
              <a:spcBef>
                <a:spcPts val="1200"/>
              </a:spcBef>
              <a:spcAft>
                <a:spcPts val="1200"/>
              </a:spcAft>
            </a:pPr>
            <a:r>
              <a:rPr lang="en-US" sz="2800" dirty="0">
                <a:solidFill>
                  <a:srgbClr val="0F1115"/>
                </a:solidFill>
                <a:latin typeface="quote-cjk-patch"/>
              </a:rPr>
              <a:t>Responsible for </a:t>
            </a:r>
            <a:r>
              <a:rPr lang="en-US" sz="2800" i="1" dirty="0">
                <a:solidFill>
                  <a:schemeClr val="accent5">
                    <a:lumMod val="75000"/>
                  </a:schemeClr>
                </a:solidFill>
                <a:latin typeface="quote-cjk-patch"/>
              </a:rPr>
              <a:t>controlling and managing the NFV Infrastructure (NFVI)</a:t>
            </a:r>
            <a:r>
              <a:rPr lang="en-US" sz="2800" dirty="0">
                <a:solidFill>
                  <a:srgbClr val="0F1115"/>
                </a:solidFill>
                <a:latin typeface="quote-cjk-patch"/>
              </a:rPr>
              <a:t>—the compute, storage, and networking resources that form the cloud platform upon which VNFs run.</a:t>
            </a:r>
          </a:p>
          <a:p>
            <a:pPr algn="just">
              <a:spcBef>
                <a:spcPts val="1200"/>
              </a:spcBef>
              <a:spcAft>
                <a:spcPts val="1200"/>
              </a:spcAft>
            </a:pPr>
            <a:r>
              <a:rPr lang="en-US" sz="2800" dirty="0">
                <a:solidFill>
                  <a:srgbClr val="0F1115"/>
                </a:solidFill>
                <a:latin typeface="quote-cjk-patch"/>
              </a:rPr>
              <a:t>So, if the NFVI is the </a:t>
            </a:r>
            <a:r>
              <a:rPr lang="en-US" sz="2800" i="1" dirty="0">
                <a:solidFill>
                  <a:schemeClr val="accent5">
                    <a:lumMod val="75000"/>
                  </a:schemeClr>
                </a:solidFill>
                <a:latin typeface="quote-cjk-patch"/>
              </a:rPr>
              <a:t>physical data center </a:t>
            </a:r>
            <a:r>
              <a:rPr lang="en-US" sz="2800" dirty="0">
                <a:solidFill>
                  <a:srgbClr val="0F1115"/>
                </a:solidFill>
                <a:latin typeface="quote-cjk-patch"/>
              </a:rPr>
              <a:t>(servers, disks, switches) and its virtualization layer, the VIM is the </a:t>
            </a:r>
            <a:r>
              <a:rPr lang="en-US" sz="2800" i="1" dirty="0">
                <a:solidFill>
                  <a:schemeClr val="accent5">
                    <a:lumMod val="75000"/>
                  </a:schemeClr>
                </a:solidFill>
                <a:latin typeface="quote-cjk-patch"/>
              </a:rPr>
              <a:t>operating system and resource manager </a:t>
            </a:r>
            <a:r>
              <a:rPr lang="en-US" sz="2800" dirty="0">
                <a:solidFill>
                  <a:srgbClr val="0F1115"/>
                </a:solidFill>
                <a:latin typeface="quote-cjk-patch"/>
              </a:rPr>
              <a:t>for that data center.</a:t>
            </a:r>
          </a:p>
        </p:txBody>
      </p:sp>
    </p:spTree>
    <p:extLst>
      <p:ext uri="{BB962C8B-B14F-4D97-AF65-F5344CB8AC3E}">
        <p14:creationId xmlns:p14="http://schemas.microsoft.com/office/powerpoint/2010/main" val="881295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CE13C-B980-7C0F-8407-983ACB074E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EE3568-7B42-7F0A-6A45-6D186C65A5D9}"/>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CC59B314-DEE4-5BE2-CDA1-4B724DD97479}"/>
              </a:ext>
            </a:extLst>
          </p:cNvPr>
          <p:cNvSpPr>
            <a:spLocks noGrp="1"/>
          </p:cNvSpPr>
          <p:nvPr>
            <p:ph type="sldNum" sz="quarter" idx="12"/>
          </p:nvPr>
        </p:nvSpPr>
        <p:spPr/>
        <p:txBody>
          <a:bodyPr/>
          <a:lstStyle/>
          <a:p>
            <a:fld id="{B6F15528-21DE-4FAA-801E-634DDDAF4B2B}" type="slidenum">
              <a:rPr lang="en-US" smtClean="0"/>
              <a:t>25</a:t>
            </a:fld>
            <a:endParaRPr lang="en-US" dirty="0"/>
          </a:p>
        </p:txBody>
      </p:sp>
      <p:sp>
        <p:nvSpPr>
          <p:cNvPr id="6" name="TextBox 5">
            <a:extLst>
              <a:ext uri="{FF2B5EF4-FFF2-40B4-BE49-F238E27FC236}">
                <a16:creationId xmlns:a16="http://schemas.microsoft.com/office/drawing/2014/main" id="{0563EC55-9EEB-7092-B4AD-A05C7571F738}"/>
              </a:ext>
            </a:extLst>
          </p:cNvPr>
          <p:cNvSpPr txBox="1"/>
          <p:nvPr/>
        </p:nvSpPr>
        <p:spPr>
          <a:xfrm>
            <a:off x="1903197" y="1589834"/>
            <a:ext cx="8229348" cy="461665"/>
          </a:xfrm>
          <a:prstGeom prst="rect">
            <a:avLst/>
          </a:prstGeom>
          <a:noFill/>
        </p:spPr>
        <p:txBody>
          <a:bodyPr wrap="square">
            <a:spAutoFit/>
          </a:bodyPr>
          <a:lstStyle/>
          <a:p>
            <a:pPr>
              <a:spcBef>
                <a:spcPts val="2400"/>
              </a:spcBef>
              <a:spcAft>
                <a:spcPts val="1200"/>
              </a:spcAft>
            </a:pPr>
            <a:r>
              <a:rPr lang="en-US" sz="2400" dirty="0">
                <a:solidFill>
                  <a:srgbClr val="0F1115"/>
                </a:solidFill>
                <a:latin typeface="quote-cjk-patch"/>
              </a:rPr>
              <a:t>Key Responsibilities and Functionalities</a:t>
            </a:r>
          </a:p>
        </p:txBody>
      </p:sp>
      <p:sp>
        <p:nvSpPr>
          <p:cNvPr id="7" name="TextBox 6">
            <a:extLst>
              <a:ext uri="{FF2B5EF4-FFF2-40B4-BE49-F238E27FC236}">
                <a16:creationId xmlns:a16="http://schemas.microsoft.com/office/drawing/2014/main" id="{D7E78B34-E3CF-BC24-3E74-B631416CC3C1}"/>
              </a:ext>
            </a:extLst>
          </p:cNvPr>
          <p:cNvSpPr txBox="1"/>
          <p:nvPr/>
        </p:nvSpPr>
        <p:spPr>
          <a:xfrm>
            <a:off x="1845197" y="2207308"/>
            <a:ext cx="8501606" cy="461665"/>
          </a:xfrm>
          <a:prstGeom prst="rect">
            <a:avLst/>
          </a:prstGeom>
          <a:noFill/>
        </p:spPr>
        <p:txBody>
          <a:bodyPr wrap="square">
            <a:spAutoFit/>
          </a:bodyPr>
          <a:lstStyle/>
          <a:p>
            <a:pPr algn="just">
              <a:spcBef>
                <a:spcPts val="600"/>
              </a:spcBef>
            </a:pPr>
            <a:r>
              <a:rPr lang="en-US" sz="2400" b="1" dirty="0">
                <a:solidFill>
                  <a:srgbClr val="0F1115"/>
                </a:solidFill>
                <a:latin typeface="quote-cjk-patch"/>
              </a:rPr>
              <a:t>1- Resource Management and Inventory</a:t>
            </a:r>
          </a:p>
        </p:txBody>
      </p:sp>
      <p:sp>
        <p:nvSpPr>
          <p:cNvPr id="9" name="TextBox 8">
            <a:extLst>
              <a:ext uri="{FF2B5EF4-FFF2-40B4-BE49-F238E27FC236}">
                <a16:creationId xmlns:a16="http://schemas.microsoft.com/office/drawing/2014/main" id="{BCFCA2B0-0D1D-69CC-C07E-79B8D8D7426C}"/>
              </a:ext>
            </a:extLst>
          </p:cNvPr>
          <p:cNvSpPr txBox="1"/>
          <p:nvPr/>
        </p:nvSpPr>
        <p:spPr>
          <a:xfrm>
            <a:off x="1903198" y="2842592"/>
            <a:ext cx="8307603" cy="3221395"/>
          </a:xfrm>
          <a:prstGeom prst="rect">
            <a:avLst/>
          </a:prstGeom>
          <a:noFill/>
        </p:spPr>
        <p:txBody>
          <a:bodyPr wrap="square">
            <a:spAutoFit/>
          </a:bodyPr>
          <a:lstStyle/>
          <a:p>
            <a:pPr marL="800100" lvl="1" indent="-342900" algn="just">
              <a:spcBef>
                <a:spcPts val="600"/>
              </a:spcBef>
              <a:spcAft>
                <a:spcPts val="1200"/>
              </a:spcAft>
              <a:buFont typeface="Arial" panose="020B0604020202020204" pitchFamily="34" charset="0"/>
              <a:buChar char="•"/>
            </a:pPr>
            <a:r>
              <a:rPr lang="en-US" sz="2000" b="1" dirty="0">
                <a:solidFill>
                  <a:srgbClr val="0F1115"/>
                </a:solidFill>
                <a:latin typeface="quote-cjk-patch"/>
              </a:rPr>
              <a:t>Discovery and Inventory:</a:t>
            </a:r>
            <a:r>
              <a:rPr lang="en-US" sz="2000" dirty="0">
                <a:solidFill>
                  <a:srgbClr val="0F1115"/>
                </a:solidFill>
                <a:latin typeface="quote-cjk-patch"/>
              </a:rPr>
              <a:t> maintains a real-time inventory of all physical and virtual resources under its control</a:t>
            </a:r>
          </a:p>
          <a:p>
            <a:pPr marL="1257300" lvl="2" indent="-342900" algn="just">
              <a:spcBef>
                <a:spcPts val="600"/>
              </a:spcBef>
              <a:spcAft>
                <a:spcPts val="1200"/>
              </a:spcAft>
              <a:buFont typeface="Courier New" panose="02070309020205020404" pitchFamily="49" charset="0"/>
              <a:buChar char="o"/>
            </a:pPr>
            <a:r>
              <a:rPr lang="en-US" sz="2000" dirty="0">
                <a:solidFill>
                  <a:srgbClr val="0F1115"/>
                </a:solidFill>
                <a:latin typeface="quote-cjk-patch"/>
              </a:rPr>
              <a:t>How many CPU cores, how much RAM, available storage capacity, and network topology.</a:t>
            </a:r>
          </a:p>
          <a:p>
            <a:pPr marL="800100" lvl="1" indent="-342900" algn="just">
              <a:spcBef>
                <a:spcPts val="450"/>
              </a:spcBef>
              <a:spcAft>
                <a:spcPts val="1200"/>
              </a:spcAft>
              <a:buFont typeface="Arial" panose="020B0604020202020204" pitchFamily="34" charset="0"/>
              <a:buChar char="•"/>
            </a:pPr>
            <a:r>
              <a:rPr lang="en-US" sz="2000" b="1" dirty="0">
                <a:solidFill>
                  <a:srgbClr val="0F1115"/>
                </a:solidFill>
                <a:latin typeface="quote-cjk-patch"/>
              </a:rPr>
              <a:t>Allocation and Scheduling:</a:t>
            </a:r>
            <a:r>
              <a:rPr lang="en-US" sz="2000" dirty="0">
                <a:solidFill>
                  <a:srgbClr val="0F1115"/>
                </a:solidFill>
                <a:latin typeface="quote-cjk-patch"/>
              </a:rPr>
              <a:t> responsible for allocating specific compute, storage, and network resources to VNFs upon request from the VNFM or NFVO. </a:t>
            </a:r>
          </a:p>
          <a:p>
            <a:pPr marL="1257300" lvl="2" indent="-342900" algn="just">
              <a:spcBef>
                <a:spcPts val="450"/>
              </a:spcBef>
              <a:spcAft>
                <a:spcPts val="1200"/>
              </a:spcAft>
              <a:buFont typeface="Courier New" panose="02070309020205020404" pitchFamily="49" charset="0"/>
              <a:buChar char="o"/>
            </a:pPr>
            <a:r>
              <a:rPr lang="en-US" sz="2000" dirty="0">
                <a:solidFill>
                  <a:srgbClr val="0F1115"/>
                </a:solidFill>
                <a:latin typeface="quote-cjk-patch"/>
              </a:rPr>
              <a:t>Decides </a:t>
            </a:r>
            <a:r>
              <a:rPr lang="en-US" sz="2000" i="1" dirty="0">
                <a:solidFill>
                  <a:srgbClr val="0F1115"/>
                </a:solidFill>
                <a:latin typeface="quote-cjk-patch"/>
              </a:rPr>
              <a:t>which</a:t>
            </a:r>
            <a:r>
              <a:rPr lang="en-US" sz="2000" dirty="0">
                <a:solidFill>
                  <a:srgbClr val="0F1115"/>
                </a:solidFill>
                <a:latin typeface="quote-cjk-patch"/>
              </a:rPr>
              <a:t> physical server will host a new VNF instance.</a:t>
            </a:r>
          </a:p>
        </p:txBody>
      </p:sp>
      <p:sp>
        <p:nvSpPr>
          <p:cNvPr id="5" name="object 3">
            <a:extLst>
              <a:ext uri="{FF2B5EF4-FFF2-40B4-BE49-F238E27FC236}">
                <a16:creationId xmlns:a16="http://schemas.microsoft.com/office/drawing/2014/main" id="{431A00D8-A415-0CD0-64E4-11474F11AA70}"/>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dirty="0">
                <a:solidFill>
                  <a:srgbClr val="0F1115"/>
                </a:solidFill>
                <a:latin typeface="Times New Roman" panose="02020603050405020304" pitchFamily="18" charset="0"/>
                <a:cs typeface="Times New Roman" panose="02020603050405020304" pitchFamily="18" charset="0"/>
              </a:rPr>
              <a:t>Virtualized Infrastructure Manager </a:t>
            </a:r>
            <a:r>
              <a:rPr lang="en-US" sz="3200" b="1" spc="-5" dirty="0">
                <a:latin typeface="Times New Roman" panose="02020603050405020304" pitchFamily="18" charset="0"/>
                <a:cs typeface="Times New Roman" panose="02020603050405020304" pitchFamily="18" charset="0"/>
              </a:rPr>
              <a:t>(VIM)</a:t>
            </a:r>
            <a:endParaRP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79338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35DEA-FD65-945F-B7E0-1540911717B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FBB1D0-EA54-B52B-0E30-56F6DA89EE3E}"/>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7D542C40-4375-1A90-BFE2-26075C7015D6}"/>
              </a:ext>
            </a:extLst>
          </p:cNvPr>
          <p:cNvSpPr>
            <a:spLocks noGrp="1"/>
          </p:cNvSpPr>
          <p:nvPr>
            <p:ph type="sldNum" sz="quarter" idx="12"/>
          </p:nvPr>
        </p:nvSpPr>
        <p:spPr/>
        <p:txBody>
          <a:bodyPr/>
          <a:lstStyle/>
          <a:p>
            <a:fld id="{B6F15528-21DE-4FAA-801E-634DDDAF4B2B}" type="slidenum">
              <a:rPr lang="en-US" smtClean="0"/>
              <a:t>26</a:t>
            </a:fld>
            <a:endParaRPr lang="en-US" dirty="0"/>
          </a:p>
        </p:txBody>
      </p:sp>
      <p:sp>
        <p:nvSpPr>
          <p:cNvPr id="6" name="TextBox 5">
            <a:extLst>
              <a:ext uri="{FF2B5EF4-FFF2-40B4-BE49-F238E27FC236}">
                <a16:creationId xmlns:a16="http://schemas.microsoft.com/office/drawing/2014/main" id="{B422AD93-7D03-28C0-2BA5-B474802BF6C3}"/>
              </a:ext>
            </a:extLst>
          </p:cNvPr>
          <p:cNvSpPr txBox="1"/>
          <p:nvPr/>
        </p:nvSpPr>
        <p:spPr>
          <a:xfrm>
            <a:off x="1903197" y="1589834"/>
            <a:ext cx="8229348" cy="461665"/>
          </a:xfrm>
          <a:prstGeom prst="rect">
            <a:avLst/>
          </a:prstGeom>
          <a:noFill/>
        </p:spPr>
        <p:txBody>
          <a:bodyPr wrap="square">
            <a:spAutoFit/>
          </a:bodyPr>
          <a:lstStyle/>
          <a:p>
            <a:pPr>
              <a:spcBef>
                <a:spcPts val="2400"/>
              </a:spcBef>
              <a:spcAft>
                <a:spcPts val="1200"/>
              </a:spcAft>
            </a:pPr>
            <a:r>
              <a:rPr lang="en-US" sz="2400" dirty="0">
                <a:solidFill>
                  <a:srgbClr val="0F1115"/>
                </a:solidFill>
                <a:latin typeface="quote-cjk-patch"/>
              </a:rPr>
              <a:t>Key Responsibilities and Functionalities</a:t>
            </a:r>
          </a:p>
        </p:txBody>
      </p:sp>
      <p:sp>
        <p:nvSpPr>
          <p:cNvPr id="7" name="TextBox 6">
            <a:extLst>
              <a:ext uri="{FF2B5EF4-FFF2-40B4-BE49-F238E27FC236}">
                <a16:creationId xmlns:a16="http://schemas.microsoft.com/office/drawing/2014/main" id="{40983605-EDF9-3A1E-BDA6-C56CCFC9B898}"/>
              </a:ext>
            </a:extLst>
          </p:cNvPr>
          <p:cNvSpPr txBox="1"/>
          <p:nvPr/>
        </p:nvSpPr>
        <p:spPr>
          <a:xfrm>
            <a:off x="1845197" y="2207308"/>
            <a:ext cx="8501606" cy="461665"/>
          </a:xfrm>
          <a:prstGeom prst="rect">
            <a:avLst/>
          </a:prstGeom>
          <a:noFill/>
        </p:spPr>
        <p:txBody>
          <a:bodyPr wrap="square">
            <a:spAutoFit/>
          </a:bodyPr>
          <a:lstStyle/>
          <a:p>
            <a:pPr algn="just">
              <a:spcBef>
                <a:spcPts val="600"/>
              </a:spcBef>
            </a:pPr>
            <a:r>
              <a:rPr lang="en-US" sz="2400" b="1" dirty="0">
                <a:solidFill>
                  <a:srgbClr val="0F1115"/>
                </a:solidFill>
                <a:latin typeface="quote-cjk-patch"/>
              </a:rPr>
              <a:t>2- Orchestration of Virtual Resources</a:t>
            </a:r>
          </a:p>
        </p:txBody>
      </p:sp>
      <p:sp>
        <p:nvSpPr>
          <p:cNvPr id="9" name="TextBox 8">
            <a:extLst>
              <a:ext uri="{FF2B5EF4-FFF2-40B4-BE49-F238E27FC236}">
                <a16:creationId xmlns:a16="http://schemas.microsoft.com/office/drawing/2014/main" id="{FFECB027-25CA-5F85-63B6-BCDBBD518EC5}"/>
              </a:ext>
            </a:extLst>
          </p:cNvPr>
          <p:cNvSpPr txBox="1"/>
          <p:nvPr/>
        </p:nvSpPr>
        <p:spPr>
          <a:xfrm>
            <a:off x="1903198" y="2842592"/>
            <a:ext cx="8307603" cy="2323713"/>
          </a:xfrm>
          <a:prstGeom prst="rect">
            <a:avLst/>
          </a:prstGeom>
          <a:noFill/>
        </p:spPr>
        <p:txBody>
          <a:bodyPr wrap="square">
            <a:spAutoFit/>
          </a:bodyPr>
          <a:lstStyle/>
          <a:p>
            <a:pPr marL="446088" lvl="1" indent="-344488" algn="just">
              <a:spcBef>
                <a:spcPts val="600"/>
              </a:spcBef>
              <a:spcAft>
                <a:spcPts val="1200"/>
              </a:spcAft>
              <a:buFont typeface="Arial" panose="020B0604020202020204" pitchFamily="34" charset="0"/>
              <a:buChar char="•"/>
            </a:pPr>
            <a:r>
              <a:rPr lang="en-US" sz="2000" dirty="0">
                <a:solidFill>
                  <a:srgbClr val="0F1115"/>
                </a:solidFill>
                <a:latin typeface="quote-cjk-patch"/>
              </a:rPr>
              <a:t>Doesn't just allocate resources in isolation; it orchestrates them to create complex virtual environments. This includes:</a:t>
            </a:r>
          </a:p>
          <a:p>
            <a:pPr marL="1257300" lvl="2" indent="-342900" algn="just">
              <a:spcBef>
                <a:spcPts val="600"/>
              </a:spcBef>
              <a:spcAft>
                <a:spcPts val="1200"/>
              </a:spcAft>
              <a:buFont typeface="Courier New" panose="02070309020205020404" pitchFamily="49" charset="0"/>
              <a:buChar char="o"/>
            </a:pPr>
            <a:r>
              <a:rPr lang="en-US" sz="2000" dirty="0">
                <a:solidFill>
                  <a:srgbClr val="0F1115"/>
                </a:solidFill>
                <a:latin typeface="quote-cjk-patch"/>
              </a:rPr>
              <a:t>Creating and managing Virtual Machines (VMs) or containers.</a:t>
            </a:r>
          </a:p>
          <a:p>
            <a:pPr marL="1257300" lvl="2" indent="-342900" algn="just">
              <a:spcBef>
                <a:spcPts val="600"/>
              </a:spcBef>
              <a:spcAft>
                <a:spcPts val="1200"/>
              </a:spcAft>
              <a:buFont typeface="Courier New" panose="02070309020205020404" pitchFamily="49" charset="0"/>
              <a:buChar char="o"/>
            </a:pPr>
            <a:r>
              <a:rPr lang="en-US" sz="2000" dirty="0">
                <a:solidFill>
                  <a:srgbClr val="0F1115"/>
                </a:solidFill>
                <a:latin typeface="quote-cjk-patch"/>
              </a:rPr>
              <a:t>Creating and connecting virtual networks (e.g., VLANs, </a:t>
            </a:r>
            <a:r>
              <a:rPr lang="en-US" sz="2000" dirty="0" err="1">
                <a:solidFill>
                  <a:srgbClr val="0F1115"/>
                </a:solidFill>
                <a:latin typeface="quote-cjk-patch"/>
              </a:rPr>
              <a:t>VxLANs</a:t>
            </a:r>
            <a:r>
              <a:rPr lang="en-US" sz="2000" dirty="0">
                <a:solidFill>
                  <a:srgbClr val="0F1115"/>
                </a:solidFill>
                <a:latin typeface="quote-cjk-patch"/>
              </a:rPr>
              <a:t>).</a:t>
            </a:r>
          </a:p>
          <a:p>
            <a:pPr marL="1257300" lvl="2" indent="-342900" algn="just">
              <a:spcBef>
                <a:spcPts val="600"/>
              </a:spcBef>
              <a:spcAft>
                <a:spcPts val="1200"/>
              </a:spcAft>
              <a:buFont typeface="Courier New" panose="02070309020205020404" pitchFamily="49" charset="0"/>
              <a:buChar char="o"/>
            </a:pPr>
            <a:r>
              <a:rPr lang="en-US" sz="2000" dirty="0">
                <a:solidFill>
                  <a:srgbClr val="0F1115"/>
                </a:solidFill>
                <a:latin typeface="quote-cjk-patch"/>
              </a:rPr>
              <a:t>Attaching virtual storage volumes to VMs.</a:t>
            </a:r>
          </a:p>
        </p:txBody>
      </p:sp>
      <p:sp>
        <p:nvSpPr>
          <p:cNvPr id="5" name="object 3">
            <a:extLst>
              <a:ext uri="{FF2B5EF4-FFF2-40B4-BE49-F238E27FC236}">
                <a16:creationId xmlns:a16="http://schemas.microsoft.com/office/drawing/2014/main" id="{535687A6-2EA8-D21C-F6FA-B64A7FAB0D07}"/>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dirty="0">
                <a:solidFill>
                  <a:srgbClr val="0F1115"/>
                </a:solidFill>
                <a:latin typeface="Times New Roman" panose="02020603050405020304" pitchFamily="18" charset="0"/>
                <a:cs typeface="Times New Roman" panose="02020603050405020304" pitchFamily="18" charset="0"/>
              </a:rPr>
              <a:t>Virtualized Infrastructure Manager </a:t>
            </a:r>
            <a:r>
              <a:rPr lang="en-US" sz="3200" b="1" spc="-5" dirty="0">
                <a:latin typeface="Times New Roman" panose="02020603050405020304" pitchFamily="18" charset="0"/>
                <a:cs typeface="Times New Roman" panose="02020603050405020304" pitchFamily="18" charset="0"/>
              </a:rPr>
              <a:t>(VIM)</a:t>
            </a:r>
            <a:endParaRP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1972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CB6D3-33FB-AD6B-98CF-26BDA00AE61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5A85BDF-D880-7AF8-BCE7-AF5830F7A0E3}"/>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AF1B5801-A171-AF33-3DB6-5807B141FC17}"/>
              </a:ext>
            </a:extLst>
          </p:cNvPr>
          <p:cNvSpPr>
            <a:spLocks noGrp="1"/>
          </p:cNvSpPr>
          <p:nvPr>
            <p:ph type="sldNum" sz="quarter" idx="12"/>
          </p:nvPr>
        </p:nvSpPr>
        <p:spPr/>
        <p:txBody>
          <a:bodyPr/>
          <a:lstStyle/>
          <a:p>
            <a:fld id="{B6F15528-21DE-4FAA-801E-634DDDAF4B2B}" type="slidenum">
              <a:rPr lang="en-US" smtClean="0"/>
              <a:t>27</a:t>
            </a:fld>
            <a:endParaRPr lang="en-US" dirty="0"/>
          </a:p>
        </p:txBody>
      </p:sp>
      <p:sp>
        <p:nvSpPr>
          <p:cNvPr id="6" name="TextBox 5">
            <a:extLst>
              <a:ext uri="{FF2B5EF4-FFF2-40B4-BE49-F238E27FC236}">
                <a16:creationId xmlns:a16="http://schemas.microsoft.com/office/drawing/2014/main" id="{158CF678-88AA-D9BC-003B-273182B46447}"/>
              </a:ext>
            </a:extLst>
          </p:cNvPr>
          <p:cNvSpPr txBox="1"/>
          <p:nvPr/>
        </p:nvSpPr>
        <p:spPr>
          <a:xfrm>
            <a:off x="1903197" y="1589834"/>
            <a:ext cx="8229348" cy="461665"/>
          </a:xfrm>
          <a:prstGeom prst="rect">
            <a:avLst/>
          </a:prstGeom>
          <a:noFill/>
        </p:spPr>
        <p:txBody>
          <a:bodyPr wrap="square">
            <a:spAutoFit/>
          </a:bodyPr>
          <a:lstStyle/>
          <a:p>
            <a:pPr>
              <a:spcBef>
                <a:spcPts val="2400"/>
              </a:spcBef>
              <a:spcAft>
                <a:spcPts val="1200"/>
              </a:spcAft>
            </a:pPr>
            <a:r>
              <a:rPr lang="en-US" sz="2400" dirty="0">
                <a:solidFill>
                  <a:srgbClr val="0F1115"/>
                </a:solidFill>
                <a:latin typeface="quote-cjk-patch"/>
              </a:rPr>
              <a:t>Key Responsibilities and Functionalities</a:t>
            </a:r>
          </a:p>
        </p:txBody>
      </p:sp>
      <p:sp>
        <p:nvSpPr>
          <p:cNvPr id="7" name="TextBox 6">
            <a:extLst>
              <a:ext uri="{FF2B5EF4-FFF2-40B4-BE49-F238E27FC236}">
                <a16:creationId xmlns:a16="http://schemas.microsoft.com/office/drawing/2014/main" id="{53D19BED-6862-0BFB-D504-0DE84405339F}"/>
              </a:ext>
            </a:extLst>
          </p:cNvPr>
          <p:cNvSpPr txBox="1"/>
          <p:nvPr/>
        </p:nvSpPr>
        <p:spPr>
          <a:xfrm>
            <a:off x="1845197" y="2207308"/>
            <a:ext cx="8501606" cy="461665"/>
          </a:xfrm>
          <a:prstGeom prst="rect">
            <a:avLst/>
          </a:prstGeom>
          <a:noFill/>
        </p:spPr>
        <p:txBody>
          <a:bodyPr wrap="square">
            <a:spAutoFit/>
          </a:bodyPr>
          <a:lstStyle/>
          <a:p>
            <a:pPr algn="just">
              <a:spcBef>
                <a:spcPts val="600"/>
              </a:spcBef>
            </a:pPr>
            <a:r>
              <a:rPr lang="en-US" sz="2400" b="1" dirty="0">
                <a:solidFill>
                  <a:srgbClr val="0F1115"/>
                </a:solidFill>
                <a:latin typeface="quote-cjk-patch"/>
              </a:rPr>
              <a:t>3- Infrastructure Performance and Fault Management</a:t>
            </a:r>
          </a:p>
        </p:txBody>
      </p:sp>
      <p:sp>
        <p:nvSpPr>
          <p:cNvPr id="9" name="TextBox 8">
            <a:extLst>
              <a:ext uri="{FF2B5EF4-FFF2-40B4-BE49-F238E27FC236}">
                <a16:creationId xmlns:a16="http://schemas.microsoft.com/office/drawing/2014/main" id="{7CCAB27F-4829-3E39-90B3-25C18248FD5D}"/>
              </a:ext>
            </a:extLst>
          </p:cNvPr>
          <p:cNvSpPr txBox="1"/>
          <p:nvPr/>
        </p:nvSpPr>
        <p:spPr>
          <a:xfrm>
            <a:off x="1903197" y="2842592"/>
            <a:ext cx="8443606" cy="2375009"/>
          </a:xfrm>
          <a:prstGeom prst="rect">
            <a:avLst/>
          </a:prstGeom>
          <a:noFill/>
        </p:spPr>
        <p:txBody>
          <a:bodyPr wrap="square">
            <a:spAutoFit/>
          </a:bodyPr>
          <a:lstStyle/>
          <a:p>
            <a:pPr marL="342900" indent="-342900">
              <a:spcBef>
                <a:spcPts val="600"/>
              </a:spcBef>
              <a:spcAft>
                <a:spcPts val="1200"/>
              </a:spcAft>
              <a:buFont typeface="Arial" panose="020B0604020202020204" pitchFamily="34" charset="0"/>
              <a:buChar char="•"/>
            </a:pPr>
            <a:r>
              <a:rPr lang="en-US" sz="2400" dirty="0">
                <a:solidFill>
                  <a:srgbClr val="0F1115"/>
                </a:solidFill>
                <a:latin typeface="quote-cjk-patch"/>
              </a:rPr>
              <a:t>Continuously monitors the health and performance of the NFVI.</a:t>
            </a:r>
          </a:p>
          <a:p>
            <a:pPr marL="342900" indent="-342900">
              <a:spcBef>
                <a:spcPts val="450"/>
              </a:spcBef>
              <a:spcAft>
                <a:spcPts val="1200"/>
              </a:spcAft>
              <a:buFont typeface="Arial" panose="020B0604020202020204" pitchFamily="34" charset="0"/>
              <a:buChar char="•"/>
            </a:pPr>
            <a:r>
              <a:rPr lang="en-US" sz="2400" dirty="0">
                <a:solidFill>
                  <a:srgbClr val="0F1115"/>
                </a:solidFill>
                <a:latin typeface="quote-cjk-patch"/>
              </a:rPr>
              <a:t>Collects metrics like physical server CPU utilization, hypervisor performance, network port statistics, and storage I/O.</a:t>
            </a:r>
          </a:p>
          <a:p>
            <a:pPr marL="342900" indent="-342900">
              <a:spcBef>
                <a:spcPts val="450"/>
              </a:spcBef>
              <a:spcAft>
                <a:spcPts val="1200"/>
              </a:spcAft>
              <a:buFont typeface="Arial" panose="020B0604020202020204" pitchFamily="34" charset="0"/>
              <a:buChar char="•"/>
            </a:pPr>
            <a:r>
              <a:rPr lang="en-US" sz="2400" dirty="0">
                <a:solidFill>
                  <a:srgbClr val="0F1115"/>
                </a:solidFill>
                <a:latin typeface="quote-cjk-patch"/>
              </a:rPr>
              <a:t>Detects hardware and hypervisor failures (e.g., a server power supply failure, a disk array error) and generates alerts.</a:t>
            </a:r>
          </a:p>
        </p:txBody>
      </p:sp>
      <p:sp>
        <p:nvSpPr>
          <p:cNvPr id="5" name="object 3">
            <a:extLst>
              <a:ext uri="{FF2B5EF4-FFF2-40B4-BE49-F238E27FC236}">
                <a16:creationId xmlns:a16="http://schemas.microsoft.com/office/drawing/2014/main" id="{8EC4FC79-BB4B-21D2-25DA-0D42F63EE19C}"/>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dirty="0">
                <a:solidFill>
                  <a:srgbClr val="0F1115"/>
                </a:solidFill>
                <a:latin typeface="Times New Roman" panose="02020603050405020304" pitchFamily="18" charset="0"/>
                <a:cs typeface="Times New Roman" panose="02020603050405020304" pitchFamily="18" charset="0"/>
              </a:rPr>
              <a:t>Virtualized Infrastructure Manager </a:t>
            </a:r>
            <a:r>
              <a:rPr lang="en-US" sz="3200" b="1" spc="-5" dirty="0">
                <a:latin typeface="Times New Roman" panose="02020603050405020304" pitchFamily="18" charset="0"/>
                <a:cs typeface="Times New Roman" panose="02020603050405020304" pitchFamily="18" charset="0"/>
              </a:rPr>
              <a:t>(VIM)</a:t>
            </a:r>
            <a:endParaRP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6832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9CC30-4BB7-F186-FFA1-FEE171A9480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A673242-E750-9986-176F-F7FF1C68B9B4}"/>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9DCDA955-0ABB-D8C7-691D-C8B41E428B94}"/>
              </a:ext>
            </a:extLst>
          </p:cNvPr>
          <p:cNvSpPr>
            <a:spLocks noGrp="1"/>
          </p:cNvSpPr>
          <p:nvPr>
            <p:ph type="sldNum" sz="quarter" idx="12"/>
          </p:nvPr>
        </p:nvSpPr>
        <p:spPr/>
        <p:txBody>
          <a:bodyPr/>
          <a:lstStyle/>
          <a:p>
            <a:fld id="{B6F15528-21DE-4FAA-801E-634DDDAF4B2B}" type="slidenum">
              <a:rPr lang="en-US" smtClean="0"/>
              <a:t>28</a:t>
            </a:fld>
            <a:endParaRPr lang="en-US" dirty="0"/>
          </a:p>
        </p:txBody>
      </p:sp>
      <p:sp>
        <p:nvSpPr>
          <p:cNvPr id="6" name="TextBox 5">
            <a:extLst>
              <a:ext uri="{FF2B5EF4-FFF2-40B4-BE49-F238E27FC236}">
                <a16:creationId xmlns:a16="http://schemas.microsoft.com/office/drawing/2014/main" id="{400201B0-9F74-0E3C-BBF1-7C90BEFDDD59}"/>
              </a:ext>
            </a:extLst>
          </p:cNvPr>
          <p:cNvSpPr txBox="1"/>
          <p:nvPr/>
        </p:nvSpPr>
        <p:spPr>
          <a:xfrm>
            <a:off x="1903197" y="1589834"/>
            <a:ext cx="8229348" cy="461665"/>
          </a:xfrm>
          <a:prstGeom prst="rect">
            <a:avLst/>
          </a:prstGeom>
          <a:noFill/>
        </p:spPr>
        <p:txBody>
          <a:bodyPr wrap="square">
            <a:spAutoFit/>
          </a:bodyPr>
          <a:lstStyle/>
          <a:p>
            <a:pPr>
              <a:spcBef>
                <a:spcPts val="2400"/>
              </a:spcBef>
              <a:spcAft>
                <a:spcPts val="1200"/>
              </a:spcAft>
            </a:pPr>
            <a:r>
              <a:rPr lang="en-US" sz="2400" dirty="0">
                <a:solidFill>
                  <a:srgbClr val="0F1115"/>
                </a:solidFill>
                <a:latin typeface="quote-cjk-patch"/>
              </a:rPr>
              <a:t>Key Responsibilities and Functionalities</a:t>
            </a:r>
          </a:p>
        </p:txBody>
      </p:sp>
      <p:sp>
        <p:nvSpPr>
          <p:cNvPr id="7" name="TextBox 6">
            <a:extLst>
              <a:ext uri="{FF2B5EF4-FFF2-40B4-BE49-F238E27FC236}">
                <a16:creationId xmlns:a16="http://schemas.microsoft.com/office/drawing/2014/main" id="{A4E046F5-1906-2E78-892B-8C0A63549890}"/>
              </a:ext>
            </a:extLst>
          </p:cNvPr>
          <p:cNvSpPr txBox="1"/>
          <p:nvPr/>
        </p:nvSpPr>
        <p:spPr>
          <a:xfrm>
            <a:off x="1845197" y="2207308"/>
            <a:ext cx="8501606" cy="461665"/>
          </a:xfrm>
          <a:prstGeom prst="rect">
            <a:avLst/>
          </a:prstGeom>
          <a:noFill/>
        </p:spPr>
        <p:txBody>
          <a:bodyPr wrap="square">
            <a:spAutoFit/>
          </a:bodyPr>
          <a:lstStyle/>
          <a:p>
            <a:pPr algn="just">
              <a:spcBef>
                <a:spcPts val="600"/>
              </a:spcBef>
            </a:pPr>
            <a:r>
              <a:rPr lang="en-US" sz="2400" b="1" dirty="0">
                <a:solidFill>
                  <a:srgbClr val="0F1115"/>
                </a:solidFill>
                <a:latin typeface="quote-cjk-patch"/>
              </a:rPr>
              <a:t>4- Image Management</a:t>
            </a:r>
          </a:p>
        </p:txBody>
      </p:sp>
      <p:sp>
        <p:nvSpPr>
          <p:cNvPr id="9" name="TextBox 8">
            <a:extLst>
              <a:ext uri="{FF2B5EF4-FFF2-40B4-BE49-F238E27FC236}">
                <a16:creationId xmlns:a16="http://schemas.microsoft.com/office/drawing/2014/main" id="{8E1D9588-A284-1792-AF25-17D600C488EE}"/>
              </a:ext>
            </a:extLst>
          </p:cNvPr>
          <p:cNvSpPr txBox="1"/>
          <p:nvPr/>
        </p:nvSpPr>
        <p:spPr>
          <a:xfrm>
            <a:off x="1903197" y="2715272"/>
            <a:ext cx="8443606" cy="1015663"/>
          </a:xfrm>
          <a:prstGeom prst="rect">
            <a:avLst/>
          </a:prstGeom>
          <a:noFill/>
        </p:spPr>
        <p:txBody>
          <a:bodyPr wrap="square">
            <a:spAutoFit/>
          </a:bodyPr>
          <a:lstStyle/>
          <a:p>
            <a:pPr marL="342900" indent="-342900" algn="just">
              <a:spcBef>
                <a:spcPts val="600"/>
              </a:spcBef>
              <a:spcAft>
                <a:spcPts val="1200"/>
              </a:spcAft>
              <a:buFont typeface="Arial" panose="020B0604020202020204" pitchFamily="34" charset="0"/>
              <a:buChar char="•"/>
            </a:pPr>
            <a:r>
              <a:rPr lang="en-US" sz="2000" dirty="0">
                <a:solidFill>
                  <a:srgbClr val="0F1115"/>
                </a:solidFill>
                <a:latin typeface="quote-cjk-patch"/>
              </a:rPr>
              <a:t>Stores and manages the software images (e.g., QCOW2, VMDK files) that are used to boot VNFs. When a VNF needs to be instantiated, the VIM retrieves the correct image and uses it to create the VM.</a:t>
            </a:r>
          </a:p>
        </p:txBody>
      </p:sp>
      <p:sp>
        <p:nvSpPr>
          <p:cNvPr id="5" name="object 3">
            <a:extLst>
              <a:ext uri="{FF2B5EF4-FFF2-40B4-BE49-F238E27FC236}">
                <a16:creationId xmlns:a16="http://schemas.microsoft.com/office/drawing/2014/main" id="{EBDC369C-03CB-461F-605B-DA9B47B78D04}"/>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dirty="0">
                <a:solidFill>
                  <a:srgbClr val="0F1115"/>
                </a:solidFill>
                <a:latin typeface="Times New Roman" panose="02020603050405020304" pitchFamily="18" charset="0"/>
                <a:cs typeface="Times New Roman" panose="02020603050405020304" pitchFamily="18" charset="0"/>
              </a:rPr>
              <a:t>Virtualized Infrastructure Manager </a:t>
            </a:r>
            <a:r>
              <a:rPr lang="en-US" sz="3200" b="1" spc="-5" dirty="0">
                <a:latin typeface="Times New Roman" panose="02020603050405020304" pitchFamily="18" charset="0"/>
                <a:cs typeface="Times New Roman" panose="02020603050405020304" pitchFamily="18" charset="0"/>
              </a:rPr>
              <a:t>(VIM)</a:t>
            </a:r>
            <a:endParaRPr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BEF8210-7507-1600-F1CD-CD7E8FE8259A}"/>
              </a:ext>
            </a:extLst>
          </p:cNvPr>
          <p:cNvSpPr txBox="1"/>
          <p:nvPr/>
        </p:nvSpPr>
        <p:spPr>
          <a:xfrm>
            <a:off x="1903197" y="4030288"/>
            <a:ext cx="8501606" cy="461665"/>
          </a:xfrm>
          <a:prstGeom prst="rect">
            <a:avLst/>
          </a:prstGeom>
          <a:noFill/>
        </p:spPr>
        <p:txBody>
          <a:bodyPr wrap="square">
            <a:spAutoFit/>
          </a:bodyPr>
          <a:lstStyle/>
          <a:p>
            <a:pPr algn="just">
              <a:spcBef>
                <a:spcPts val="600"/>
              </a:spcBef>
            </a:pPr>
            <a:r>
              <a:rPr lang="en-US" sz="2400" b="1" dirty="0">
                <a:solidFill>
                  <a:srgbClr val="0F1115"/>
                </a:solidFill>
                <a:latin typeface="quote-cjk-patch"/>
              </a:rPr>
              <a:t>5- Implementation of Network Policies</a:t>
            </a:r>
          </a:p>
        </p:txBody>
      </p:sp>
      <p:sp>
        <p:nvSpPr>
          <p:cNvPr id="10" name="TextBox 9">
            <a:extLst>
              <a:ext uri="{FF2B5EF4-FFF2-40B4-BE49-F238E27FC236}">
                <a16:creationId xmlns:a16="http://schemas.microsoft.com/office/drawing/2014/main" id="{5402140E-201B-67EA-C63F-149CFDBE71CC}"/>
              </a:ext>
            </a:extLst>
          </p:cNvPr>
          <p:cNvSpPr txBox="1"/>
          <p:nvPr/>
        </p:nvSpPr>
        <p:spPr>
          <a:xfrm>
            <a:off x="1903197" y="4639321"/>
            <a:ext cx="8443606" cy="1631216"/>
          </a:xfrm>
          <a:prstGeom prst="rect">
            <a:avLst/>
          </a:prstGeom>
          <a:noFill/>
        </p:spPr>
        <p:txBody>
          <a:bodyPr wrap="square">
            <a:spAutoFit/>
          </a:bodyPr>
          <a:lstStyle/>
          <a:p>
            <a:pPr marL="342900" indent="-342900" algn="just">
              <a:spcBef>
                <a:spcPts val="600"/>
              </a:spcBef>
              <a:spcAft>
                <a:spcPts val="1200"/>
              </a:spcAft>
              <a:buFont typeface="Arial" panose="020B0604020202020204" pitchFamily="34" charset="0"/>
              <a:buChar char="•"/>
            </a:pPr>
            <a:r>
              <a:rPr lang="en-US" sz="2000" dirty="0">
                <a:solidFill>
                  <a:srgbClr val="0F1115"/>
                </a:solidFill>
                <a:latin typeface="quote-cjk-patch"/>
              </a:rPr>
              <a:t>The VIM enforces low-level network connectivity and security policies defined by higher-level orchestrators. For example, it configures the virtual switches to ensure that the "WAN" port of a virtual firewall is connected to the external network and the "LAN" port is connected to the internal service network.</a:t>
            </a:r>
          </a:p>
        </p:txBody>
      </p:sp>
    </p:spTree>
    <p:extLst>
      <p:ext uri="{BB962C8B-B14F-4D97-AF65-F5344CB8AC3E}">
        <p14:creationId xmlns:p14="http://schemas.microsoft.com/office/powerpoint/2010/main" val="2017942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E8F9E-8E0B-9129-29E2-8136294DCA9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2246B32-6F30-5568-6FA1-0B2D4D9FE05E}"/>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641CE849-3E75-C617-3A69-BDB0208E078D}"/>
              </a:ext>
            </a:extLst>
          </p:cNvPr>
          <p:cNvSpPr>
            <a:spLocks noGrp="1"/>
          </p:cNvSpPr>
          <p:nvPr>
            <p:ph type="sldNum" sz="quarter" idx="12"/>
          </p:nvPr>
        </p:nvSpPr>
        <p:spPr/>
        <p:txBody>
          <a:bodyPr/>
          <a:lstStyle/>
          <a:p>
            <a:fld id="{B6F15528-21DE-4FAA-801E-634DDDAF4B2B}" type="slidenum">
              <a:rPr lang="en-US" smtClean="0"/>
              <a:t>29</a:t>
            </a:fld>
            <a:endParaRPr lang="en-US" dirty="0"/>
          </a:p>
        </p:txBody>
      </p:sp>
      <p:sp>
        <p:nvSpPr>
          <p:cNvPr id="5" name="object 3">
            <a:extLst>
              <a:ext uri="{FF2B5EF4-FFF2-40B4-BE49-F238E27FC236}">
                <a16:creationId xmlns:a16="http://schemas.microsoft.com/office/drawing/2014/main" id="{E1999F49-FB35-4D5A-B5CC-4269452E1C05}"/>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dirty="0">
                <a:solidFill>
                  <a:srgbClr val="0F1115"/>
                </a:solidFill>
                <a:latin typeface="Times New Roman" panose="02020603050405020304" pitchFamily="18" charset="0"/>
                <a:cs typeface="Times New Roman" panose="02020603050405020304" pitchFamily="18" charset="0"/>
              </a:rPr>
              <a:t>Virtualized Infrastructure Manager </a:t>
            </a:r>
            <a:r>
              <a:rPr lang="en-US" sz="3200" b="1" spc="-5" dirty="0">
                <a:latin typeface="Times New Roman" panose="02020603050405020304" pitchFamily="18" charset="0"/>
                <a:cs typeface="Times New Roman" panose="02020603050405020304" pitchFamily="18" charset="0"/>
              </a:rPr>
              <a:t>(VIM)</a:t>
            </a:r>
            <a:endParaRPr sz="32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3A69FBF-504E-9CFE-5CB0-6F29733F62D5}"/>
              </a:ext>
            </a:extLst>
          </p:cNvPr>
          <p:cNvSpPr txBox="1"/>
          <p:nvPr/>
        </p:nvSpPr>
        <p:spPr>
          <a:xfrm>
            <a:off x="1981452" y="2005968"/>
            <a:ext cx="8365352" cy="3639458"/>
          </a:xfrm>
          <a:prstGeom prst="rect">
            <a:avLst/>
          </a:prstGeom>
          <a:noFill/>
        </p:spPr>
        <p:txBody>
          <a:bodyPr wrap="square">
            <a:spAutoFit/>
          </a:bodyPr>
          <a:lstStyle/>
          <a:p>
            <a:pPr>
              <a:spcBef>
                <a:spcPts val="1200"/>
              </a:spcBef>
              <a:spcAft>
                <a:spcPts val="1200"/>
              </a:spcAft>
            </a:pPr>
            <a:r>
              <a:rPr lang="en-US" sz="2400" dirty="0">
                <a:solidFill>
                  <a:srgbClr val="0F1115"/>
                </a:solidFill>
                <a:latin typeface="Times New Roman" panose="02020603050405020304" pitchFamily="18" charset="0"/>
                <a:cs typeface="Times New Roman" panose="02020603050405020304" pitchFamily="18" charset="0"/>
              </a:rPr>
              <a:t>VIMs are essentially cloud management platforms. The most common examples are:</a:t>
            </a:r>
          </a:p>
          <a:p>
            <a:pPr marL="342900" indent="-342900">
              <a:spcBef>
                <a:spcPts val="1200"/>
              </a:spcBef>
              <a:spcAft>
                <a:spcPts val="1200"/>
              </a:spcAft>
              <a:buFont typeface="Arial" panose="020B0604020202020204" pitchFamily="34" charset="0"/>
              <a:buChar char="•"/>
            </a:pPr>
            <a:r>
              <a:rPr lang="en-US" sz="2400" b="1" dirty="0">
                <a:solidFill>
                  <a:srgbClr val="0F1115"/>
                </a:solidFill>
                <a:latin typeface="Times New Roman" panose="02020603050405020304" pitchFamily="18" charset="0"/>
                <a:cs typeface="Times New Roman" panose="02020603050405020304" pitchFamily="18" charset="0"/>
              </a:rPr>
              <a:t>OpenStack</a:t>
            </a:r>
            <a:r>
              <a:rPr lang="en-US" sz="2400" dirty="0">
                <a:solidFill>
                  <a:srgbClr val="0F1115"/>
                </a:solidFill>
                <a:latin typeface="Times New Roman" panose="02020603050405020304" pitchFamily="18" charset="0"/>
                <a:cs typeface="Times New Roman" panose="02020603050405020304" pitchFamily="18" charset="0"/>
              </a:rPr>
              <a:t> (and its components like Nova, Neutron, Cinder)</a:t>
            </a:r>
          </a:p>
          <a:p>
            <a:pPr marL="342900" indent="-342900">
              <a:spcBef>
                <a:spcPts val="450"/>
              </a:spcBef>
              <a:spcAft>
                <a:spcPts val="1200"/>
              </a:spcAft>
              <a:buFont typeface="Arial" panose="020B0604020202020204" pitchFamily="34" charset="0"/>
              <a:buChar char="•"/>
            </a:pPr>
            <a:r>
              <a:rPr lang="en-US" sz="2400" b="1" dirty="0">
                <a:solidFill>
                  <a:srgbClr val="0F1115"/>
                </a:solidFill>
                <a:latin typeface="Times New Roman" panose="02020603050405020304" pitchFamily="18" charset="0"/>
                <a:cs typeface="Times New Roman" panose="02020603050405020304" pitchFamily="18" charset="0"/>
              </a:rPr>
              <a:t>VMware </a:t>
            </a:r>
            <a:r>
              <a:rPr lang="en-US" sz="2400" b="1" dirty="0" err="1">
                <a:solidFill>
                  <a:srgbClr val="0F1115"/>
                </a:solidFill>
                <a:latin typeface="Times New Roman" panose="02020603050405020304" pitchFamily="18" charset="0"/>
                <a:cs typeface="Times New Roman" panose="02020603050405020304" pitchFamily="18" charset="0"/>
              </a:rPr>
              <a:t>vCloud</a:t>
            </a:r>
            <a:r>
              <a:rPr lang="en-US" sz="2400" b="1" dirty="0">
                <a:solidFill>
                  <a:srgbClr val="0F1115"/>
                </a:solidFill>
                <a:latin typeface="Times New Roman" panose="02020603050405020304" pitchFamily="18" charset="0"/>
                <a:cs typeface="Times New Roman" panose="02020603050405020304" pitchFamily="18" charset="0"/>
              </a:rPr>
              <a:t> Director</a:t>
            </a:r>
            <a:r>
              <a:rPr lang="en-US" sz="2400" dirty="0">
                <a:solidFill>
                  <a:srgbClr val="0F1115"/>
                </a:solidFill>
                <a:latin typeface="Times New Roman" panose="02020603050405020304" pitchFamily="18" charset="0"/>
                <a:cs typeface="Times New Roman" panose="02020603050405020304" pitchFamily="18" charset="0"/>
              </a:rPr>
              <a:t> or the </a:t>
            </a:r>
            <a:r>
              <a:rPr lang="en-US" sz="2400" b="1" dirty="0">
                <a:solidFill>
                  <a:srgbClr val="0F1115"/>
                </a:solidFill>
                <a:latin typeface="Times New Roman" panose="02020603050405020304" pitchFamily="18" charset="0"/>
                <a:cs typeface="Times New Roman" panose="02020603050405020304" pitchFamily="18" charset="0"/>
              </a:rPr>
              <a:t>vCenter Server</a:t>
            </a:r>
            <a:r>
              <a:rPr lang="en-US" sz="2400" dirty="0">
                <a:solidFill>
                  <a:srgbClr val="0F1115"/>
                </a:solidFill>
                <a:latin typeface="Times New Roman" panose="02020603050405020304" pitchFamily="18" charset="0"/>
                <a:cs typeface="Times New Roman" panose="02020603050405020304" pitchFamily="18" charset="0"/>
              </a:rPr>
              <a:t> suite</a:t>
            </a:r>
          </a:p>
          <a:p>
            <a:pPr marL="342900" indent="-342900">
              <a:spcBef>
                <a:spcPts val="450"/>
              </a:spcBef>
              <a:spcAft>
                <a:spcPts val="1200"/>
              </a:spcAft>
              <a:buFont typeface="Arial" panose="020B0604020202020204" pitchFamily="34" charset="0"/>
              <a:buChar char="•"/>
            </a:pPr>
            <a:r>
              <a:rPr lang="en-US" sz="2400" b="1" dirty="0">
                <a:solidFill>
                  <a:srgbClr val="0F1115"/>
                </a:solidFill>
                <a:latin typeface="Times New Roman" panose="02020603050405020304" pitchFamily="18" charset="0"/>
                <a:cs typeface="Times New Roman" panose="02020603050405020304" pitchFamily="18" charset="0"/>
              </a:rPr>
              <a:t>Kubernetes</a:t>
            </a:r>
            <a:r>
              <a:rPr lang="en-US" sz="2400" dirty="0">
                <a:solidFill>
                  <a:srgbClr val="0F1115"/>
                </a:solidFill>
                <a:latin typeface="Times New Roman" panose="02020603050405020304" pitchFamily="18" charset="0"/>
                <a:cs typeface="Times New Roman" panose="02020603050405020304" pitchFamily="18" charset="0"/>
              </a:rPr>
              <a:t> (when managing container-based VNFs)</a:t>
            </a:r>
          </a:p>
          <a:p>
            <a:pPr marL="342900" indent="-342900">
              <a:spcBef>
                <a:spcPts val="450"/>
              </a:spcBef>
              <a:spcAft>
                <a:spcPts val="1200"/>
              </a:spcAft>
              <a:buFont typeface="Arial" panose="020B0604020202020204" pitchFamily="34" charset="0"/>
              <a:buChar char="•"/>
            </a:pPr>
            <a:r>
              <a:rPr lang="en-US" sz="2400" b="1" dirty="0">
                <a:solidFill>
                  <a:srgbClr val="0F1115"/>
                </a:solidFill>
                <a:latin typeface="Times New Roman" panose="02020603050405020304" pitchFamily="18" charset="0"/>
                <a:cs typeface="Times New Roman" panose="02020603050405020304" pitchFamily="18" charset="0"/>
              </a:rPr>
              <a:t>Public Cloud APIs</a:t>
            </a:r>
            <a:r>
              <a:rPr lang="en-US" sz="2400" dirty="0">
                <a:solidFill>
                  <a:srgbClr val="0F1115"/>
                </a:solidFill>
                <a:latin typeface="Times New Roman" panose="02020603050405020304" pitchFamily="18" charset="0"/>
                <a:cs typeface="Times New Roman" panose="02020603050405020304" pitchFamily="18" charset="0"/>
              </a:rPr>
              <a:t> (e.g., from AWS, Microsoft Azure, Google Cloud)</a:t>
            </a:r>
          </a:p>
        </p:txBody>
      </p:sp>
    </p:spTree>
    <p:extLst>
      <p:ext uri="{BB962C8B-B14F-4D97-AF65-F5344CB8AC3E}">
        <p14:creationId xmlns:p14="http://schemas.microsoft.com/office/powerpoint/2010/main" val="2863449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F3E72-AA2A-FDEF-D25F-FA6DED566C19}"/>
            </a:ext>
          </a:extLst>
        </p:cNvPr>
        <p:cNvGrpSpPr/>
        <p:nvPr/>
      </p:nvGrpSpPr>
      <p:grpSpPr>
        <a:xfrm>
          <a:off x="0" y="0"/>
          <a:ext cx="0" cy="0"/>
          <a:chOff x="0" y="0"/>
          <a:chExt cx="0" cy="0"/>
        </a:xfrm>
      </p:grpSpPr>
      <p:pic>
        <p:nvPicPr>
          <p:cNvPr id="1026" name="Picture 2" descr="ETSI NFV architectural framework. | Download Scientific Diagram">
            <a:extLst>
              <a:ext uri="{FF2B5EF4-FFF2-40B4-BE49-F238E27FC236}">
                <a16:creationId xmlns:a16="http://schemas.microsoft.com/office/drawing/2014/main" id="{6C7E5080-0E5F-80FB-2B64-4B43636BB4A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30830" y="643468"/>
            <a:ext cx="7930341"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085B722-E7A1-EE89-7166-00C9F656865C}"/>
              </a:ext>
            </a:extLst>
          </p:cNvPr>
          <p:cNvSpPr txBox="1"/>
          <p:nvPr/>
        </p:nvSpPr>
        <p:spPr>
          <a:xfrm>
            <a:off x="2900376" y="43283"/>
            <a:ext cx="5726766" cy="556902"/>
          </a:xfrm>
          <a:prstGeom prst="rect">
            <a:avLst/>
          </a:prstGeom>
        </p:spPr>
        <p:txBody>
          <a:bodyPr vert="horz" lIns="91440" tIns="45720" rIns="91440" bIns="45720" rtlCol="0" anchor="ctr">
            <a:normAutofit fontScale="77500" lnSpcReduction="20000"/>
          </a:bodyPr>
          <a:lstStyle>
            <a:lvl1pPr algn="ctr">
              <a:spcBef>
                <a:spcPct val="0"/>
              </a:spcBef>
              <a:buNone/>
              <a:defRPr sz="4000">
                <a:latin typeface="+mj-lt"/>
                <a:ea typeface="+mj-ea"/>
                <a:cs typeface="+mj-cs"/>
              </a:defRPr>
            </a:lvl1pPr>
          </a:lstStyle>
          <a:p>
            <a:r>
              <a:rPr lang="en-US" dirty="0"/>
              <a:t>ETSI NFV Architectural Framework</a:t>
            </a:r>
          </a:p>
        </p:txBody>
      </p:sp>
      <p:sp>
        <p:nvSpPr>
          <p:cNvPr id="6" name="Slide Number Placeholder 5">
            <a:extLst>
              <a:ext uri="{FF2B5EF4-FFF2-40B4-BE49-F238E27FC236}">
                <a16:creationId xmlns:a16="http://schemas.microsoft.com/office/drawing/2014/main" id="{E443C78E-3266-1D7C-3771-800088CF1D84}"/>
              </a:ext>
            </a:extLst>
          </p:cNvPr>
          <p:cNvSpPr>
            <a:spLocks noGrp="1"/>
          </p:cNvSpPr>
          <p:nvPr>
            <p:ph type="sldNum" sz="quarter" idx="12"/>
          </p:nvPr>
        </p:nvSpPr>
        <p:spPr/>
        <p:txBody>
          <a:bodyPr/>
          <a:lstStyle/>
          <a:p>
            <a:fld id="{C1FF6DA9-008F-8B48-92A6-B652298478BF}" type="slidenum">
              <a:rPr lang="en-US" smtClean="0"/>
              <a:t>30</a:t>
            </a:fld>
            <a:endParaRPr lang="en-US"/>
          </a:p>
        </p:txBody>
      </p:sp>
      <p:sp>
        <p:nvSpPr>
          <p:cNvPr id="2" name="Oval 1">
            <a:extLst>
              <a:ext uri="{FF2B5EF4-FFF2-40B4-BE49-F238E27FC236}">
                <a16:creationId xmlns:a16="http://schemas.microsoft.com/office/drawing/2014/main" id="{F4692C75-60AD-BD5D-5450-580DE7103CE2}"/>
              </a:ext>
            </a:extLst>
          </p:cNvPr>
          <p:cNvSpPr/>
          <p:nvPr/>
        </p:nvSpPr>
        <p:spPr>
          <a:xfrm>
            <a:off x="3980329" y="4482353"/>
            <a:ext cx="159571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Tree>
    <p:extLst>
      <p:ext uri="{BB962C8B-B14F-4D97-AF65-F5344CB8AC3E}">
        <p14:creationId xmlns:p14="http://schemas.microsoft.com/office/powerpoint/2010/main" val="397785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41A0C-BD97-2B35-E245-5A74811F741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41052E6-1CB9-9B4D-5C83-8228135C9A6F}"/>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A8B79257-6A47-9A0C-4B3F-4E86E3EDBDCF}"/>
              </a:ext>
            </a:extLst>
          </p:cNvPr>
          <p:cNvSpPr>
            <a:spLocks noGrp="1"/>
          </p:cNvSpPr>
          <p:nvPr>
            <p:ph type="sldNum" sz="quarter" idx="12"/>
          </p:nvPr>
        </p:nvSpPr>
        <p:spPr/>
        <p:txBody>
          <a:bodyPr/>
          <a:lstStyle/>
          <a:p>
            <a:fld id="{B6F15528-21DE-4FAA-801E-634DDDAF4B2B}" type="slidenum">
              <a:rPr lang="en-US" smtClean="0"/>
              <a:t>31</a:t>
            </a:fld>
            <a:endParaRPr lang="en-US" dirty="0"/>
          </a:p>
        </p:txBody>
      </p:sp>
      <p:sp>
        <p:nvSpPr>
          <p:cNvPr id="3" name="object 3">
            <a:extLst>
              <a:ext uri="{FF2B5EF4-FFF2-40B4-BE49-F238E27FC236}">
                <a16:creationId xmlns:a16="http://schemas.microsoft.com/office/drawing/2014/main" id="{21467E7A-3738-D13A-12B9-B2804DFF8E60}"/>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spc="-5" dirty="0">
                <a:latin typeface="Times New Roman"/>
                <a:cs typeface="Times New Roman"/>
              </a:rPr>
              <a:t>NFV Infrastructure (NFVI)</a:t>
            </a:r>
            <a:endParaRPr sz="3200" b="1" dirty="0">
              <a:latin typeface="Times New Roman"/>
              <a:cs typeface="Times New Roman"/>
            </a:endParaRPr>
          </a:p>
        </p:txBody>
      </p:sp>
      <p:sp>
        <p:nvSpPr>
          <p:cNvPr id="6" name="TextBox 5">
            <a:extLst>
              <a:ext uri="{FF2B5EF4-FFF2-40B4-BE49-F238E27FC236}">
                <a16:creationId xmlns:a16="http://schemas.microsoft.com/office/drawing/2014/main" id="{3BEB9ED6-1F2C-C66F-C7E9-A997EBD57FCD}"/>
              </a:ext>
            </a:extLst>
          </p:cNvPr>
          <p:cNvSpPr txBox="1"/>
          <p:nvPr/>
        </p:nvSpPr>
        <p:spPr>
          <a:xfrm>
            <a:off x="1981452" y="1811850"/>
            <a:ext cx="8229348" cy="4585871"/>
          </a:xfrm>
          <a:prstGeom prst="rect">
            <a:avLst/>
          </a:prstGeom>
          <a:noFill/>
        </p:spPr>
        <p:txBody>
          <a:bodyPr wrap="square">
            <a:spAutoFit/>
          </a:bodyPr>
          <a:lstStyle/>
          <a:p>
            <a:pPr marL="457200" indent="-457200">
              <a:spcBef>
                <a:spcPts val="1200"/>
              </a:spcBef>
              <a:spcAft>
                <a:spcPts val="1200"/>
              </a:spcAft>
              <a:buFont typeface="Arial" panose="020B0604020202020204" pitchFamily="34" charset="0"/>
              <a:buChar char="•"/>
            </a:pPr>
            <a:r>
              <a:rPr lang="en-US" sz="2800" dirty="0">
                <a:solidFill>
                  <a:srgbClr val="0F1115"/>
                </a:solidFill>
                <a:latin typeface="quote-cjk-patch"/>
              </a:rPr>
              <a:t>Foundational layer of hardware and software resources that provides the </a:t>
            </a:r>
            <a:r>
              <a:rPr lang="en-US" sz="2800" i="1" dirty="0">
                <a:solidFill>
                  <a:schemeClr val="accent5">
                    <a:lumMod val="75000"/>
                  </a:schemeClr>
                </a:solidFill>
                <a:latin typeface="quote-cjk-patch"/>
              </a:rPr>
              <a:t>virtualized environment upon which Virtualized Network Functions (VNFs) are deployed and run.</a:t>
            </a:r>
            <a:r>
              <a:rPr lang="en-US" sz="2800" dirty="0">
                <a:solidFill>
                  <a:srgbClr val="0F1115"/>
                </a:solidFill>
                <a:latin typeface="quote-cjk-patch"/>
              </a:rPr>
              <a:t> </a:t>
            </a:r>
          </a:p>
          <a:p>
            <a:pPr marL="457200" indent="-457200">
              <a:spcBef>
                <a:spcPts val="1200"/>
              </a:spcBef>
              <a:spcAft>
                <a:spcPts val="1200"/>
              </a:spcAft>
              <a:buFont typeface="Arial" panose="020B0604020202020204" pitchFamily="34" charset="0"/>
              <a:buChar char="•"/>
            </a:pPr>
            <a:r>
              <a:rPr lang="en-US" sz="2800" dirty="0">
                <a:solidFill>
                  <a:srgbClr val="0F1115"/>
                </a:solidFill>
                <a:latin typeface="quote-cjk-patch"/>
              </a:rPr>
              <a:t>It is the "cloud" in the telecom network, abstracting physical resources to create a </a:t>
            </a:r>
            <a:r>
              <a:rPr lang="en-US" sz="2800" i="1" dirty="0">
                <a:solidFill>
                  <a:schemeClr val="accent1">
                    <a:lumMod val="75000"/>
                  </a:schemeClr>
                </a:solidFill>
                <a:latin typeface="quote-cjk-patch"/>
              </a:rPr>
              <a:t>flexible</a:t>
            </a:r>
            <a:r>
              <a:rPr lang="en-US" sz="2800" dirty="0">
                <a:solidFill>
                  <a:srgbClr val="0F1115"/>
                </a:solidFill>
                <a:latin typeface="quote-cjk-patch"/>
              </a:rPr>
              <a:t>, </a:t>
            </a:r>
            <a:r>
              <a:rPr lang="en-US" sz="2800" i="1" dirty="0">
                <a:solidFill>
                  <a:schemeClr val="accent1">
                    <a:lumMod val="75000"/>
                  </a:schemeClr>
                </a:solidFill>
                <a:latin typeface="quote-cjk-patch"/>
              </a:rPr>
              <a:t>on-demand pool of compute</a:t>
            </a:r>
            <a:r>
              <a:rPr lang="en-US" sz="2800" dirty="0">
                <a:solidFill>
                  <a:srgbClr val="0F1115"/>
                </a:solidFill>
                <a:latin typeface="quote-cjk-patch"/>
              </a:rPr>
              <a:t>, </a:t>
            </a:r>
            <a:r>
              <a:rPr lang="en-US" sz="2800" i="1" dirty="0">
                <a:solidFill>
                  <a:schemeClr val="accent1">
                    <a:lumMod val="75000"/>
                  </a:schemeClr>
                </a:solidFill>
                <a:latin typeface="quote-cjk-patch"/>
              </a:rPr>
              <a:t>storage</a:t>
            </a:r>
            <a:r>
              <a:rPr lang="en-US" sz="2800" dirty="0">
                <a:solidFill>
                  <a:srgbClr val="0F1115"/>
                </a:solidFill>
                <a:latin typeface="quote-cjk-patch"/>
              </a:rPr>
              <a:t>, and </a:t>
            </a:r>
            <a:r>
              <a:rPr lang="en-US" sz="2800" i="1" dirty="0">
                <a:solidFill>
                  <a:schemeClr val="accent1">
                    <a:lumMod val="75000"/>
                  </a:schemeClr>
                </a:solidFill>
                <a:latin typeface="quote-cjk-patch"/>
              </a:rPr>
              <a:t>networking</a:t>
            </a:r>
            <a:r>
              <a:rPr lang="en-US" sz="2800" dirty="0">
                <a:solidFill>
                  <a:srgbClr val="0F1115"/>
                </a:solidFill>
                <a:latin typeface="quote-cjk-patch"/>
              </a:rPr>
              <a:t>.</a:t>
            </a:r>
          </a:p>
          <a:p>
            <a:pPr marL="457200" indent="-457200">
              <a:spcBef>
                <a:spcPts val="1200"/>
              </a:spcBef>
              <a:spcAft>
                <a:spcPts val="1200"/>
              </a:spcAft>
              <a:buFont typeface="Arial" panose="020B0604020202020204" pitchFamily="34" charset="0"/>
              <a:buChar char="•"/>
            </a:pPr>
            <a:r>
              <a:rPr lang="en-US" sz="2800" dirty="0">
                <a:solidFill>
                  <a:srgbClr val="0F1115"/>
                </a:solidFill>
                <a:latin typeface="quote-cjk-patch"/>
              </a:rPr>
              <a:t>So, if VNFs are the </a:t>
            </a:r>
            <a:r>
              <a:rPr lang="en-US" sz="2800" b="1" dirty="0">
                <a:solidFill>
                  <a:srgbClr val="0F1115"/>
                </a:solidFill>
                <a:latin typeface="quote-cjk-patch"/>
              </a:rPr>
              <a:t>apps</a:t>
            </a:r>
            <a:r>
              <a:rPr lang="en-US" sz="2800" dirty="0">
                <a:solidFill>
                  <a:srgbClr val="0F1115"/>
                </a:solidFill>
                <a:latin typeface="quote-cjk-patch"/>
              </a:rPr>
              <a:t> on your smartphone, the NFVI is the </a:t>
            </a:r>
            <a:r>
              <a:rPr lang="en-US" sz="2800" b="1" dirty="0">
                <a:solidFill>
                  <a:srgbClr val="0F1115"/>
                </a:solidFill>
                <a:latin typeface="quote-cjk-patch"/>
              </a:rPr>
              <a:t>smartphone itself</a:t>
            </a:r>
            <a:endParaRPr lang="en-US" sz="2800" dirty="0">
              <a:solidFill>
                <a:srgbClr val="0F1115"/>
              </a:solidFill>
              <a:latin typeface="quote-cjk-patch"/>
            </a:endParaRPr>
          </a:p>
        </p:txBody>
      </p:sp>
    </p:spTree>
    <p:extLst>
      <p:ext uri="{BB962C8B-B14F-4D97-AF65-F5344CB8AC3E}">
        <p14:creationId xmlns:p14="http://schemas.microsoft.com/office/powerpoint/2010/main" val="2950170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59D08-EAD4-621B-CAD6-3E5B2BFB8B0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9D098E0-60F0-00DD-9F5F-E47B65F2416C}"/>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56EA86C7-D658-C9DB-898B-4578A2CD0E65}"/>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t>32</a:t>
            </a:fld>
            <a:endParaRPr lang="en-US" dirty="0">
              <a:latin typeface="Times New Roman" panose="02020603050405020304" pitchFamily="18" charset="0"/>
              <a:cs typeface="Times New Roman" panose="02020603050405020304" pitchFamily="18" charset="0"/>
            </a:endParaRPr>
          </a:p>
        </p:txBody>
      </p:sp>
      <p:sp>
        <p:nvSpPr>
          <p:cNvPr id="3" name="object 3">
            <a:extLst>
              <a:ext uri="{FF2B5EF4-FFF2-40B4-BE49-F238E27FC236}">
                <a16:creationId xmlns:a16="http://schemas.microsoft.com/office/drawing/2014/main" id="{66CF3B82-14E6-FD3A-A5F4-B2D605075AEB}"/>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spc="-5" dirty="0">
                <a:latin typeface="Times New Roman" panose="02020603050405020304" pitchFamily="18" charset="0"/>
                <a:cs typeface="Times New Roman" panose="02020603050405020304" pitchFamily="18" charset="0"/>
              </a:rPr>
              <a:t>NFV Infrastructure (NFVI)</a:t>
            </a:r>
            <a:endParaRPr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A08FBB2-A53D-E596-9D57-0A0197F6EDBE}"/>
              </a:ext>
            </a:extLst>
          </p:cNvPr>
          <p:cNvSpPr txBox="1"/>
          <p:nvPr/>
        </p:nvSpPr>
        <p:spPr>
          <a:xfrm>
            <a:off x="1981452" y="1673468"/>
            <a:ext cx="8229348" cy="461665"/>
          </a:xfrm>
          <a:prstGeom prst="rect">
            <a:avLst/>
          </a:prstGeom>
          <a:noFill/>
        </p:spPr>
        <p:txBody>
          <a:bodyPr wrap="square">
            <a:spAutoFit/>
          </a:bodyPr>
          <a:lstStyle/>
          <a:p>
            <a:r>
              <a:rPr lang="en-US" sz="2400" dirty="0">
                <a:solidFill>
                  <a:srgbClr val="0F1115"/>
                </a:solidFill>
                <a:latin typeface="Times New Roman" panose="02020603050405020304" pitchFamily="18" charset="0"/>
                <a:cs typeface="Times New Roman" panose="02020603050405020304" pitchFamily="18" charset="0"/>
              </a:rPr>
              <a:t>NFVI is composed of two essential layers that work together:</a:t>
            </a:r>
            <a:endParaRPr lang="en-LB"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A214E5C-BBBB-93EF-EC64-EB14E86BC42D}"/>
              </a:ext>
            </a:extLst>
          </p:cNvPr>
          <p:cNvSpPr txBox="1"/>
          <p:nvPr/>
        </p:nvSpPr>
        <p:spPr>
          <a:xfrm>
            <a:off x="1981452" y="2145655"/>
            <a:ext cx="4572000" cy="400110"/>
          </a:xfrm>
          <a:prstGeom prst="rect">
            <a:avLst/>
          </a:prstGeom>
          <a:noFill/>
        </p:spPr>
        <p:txBody>
          <a:bodyPr wrap="square">
            <a:spAutoFit/>
          </a:bodyPr>
          <a:lstStyle/>
          <a:p>
            <a:pPr>
              <a:spcBef>
                <a:spcPts val="1200"/>
              </a:spcBef>
              <a:spcAft>
                <a:spcPts val="1200"/>
              </a:spcAft>
            </a:pPr>
            <a:r>
              <a:rPr lang="en-US" sz="2000" b="1" dirty="0">
                <a:solidFill>
                  <a:srgbClr val="0F1115"/>
                </a:solidFill>
                <a:latin typeface="Times New Roman" panose="02020603050405020304" pitchFamily="18" charset="0"/>
                <a:cs typeface="Times New Roman" panose="02020603050405020304" pitchFamily="18" charset="0"/>
              </a:rPr>
              <a:t>1. Physical Layer (Physical Resources)</a:t>
            </a:r>
          </a:p>
        </p:txBody>
      </p:sp>
      <p:sp>
        <p:nvSpPr>
          <p:cNvPr id="11" name="TextBox 10">
            <a:extLst>
              <a:ext uri="{FF2B5EF4-FFF2-40B4-BE49-F238E27FC236}">
                <a16:creationId xmlns:a16="http://schemas.microsoft.com/office/drawing/2014/main" id="{DF08672A-8509-70DE-059B-ACE0D5B2BEE0}"/>
              </a:ext>
            </a:extLst>
          </p:cNvPr>
          <p:cNvSpPr txBox="1"/>
          <p:nvPr/>
        </p:nvSpPr>
        <p:spPr>
          <a:xfrm>
            <a:off x="2299504" y="2578347"/>
            <a:ext cx="7911296" cy="2062103"/>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b="1" dirty="0">
                <a:solidFill>
                  <a:srgbClr val="0F1115"/>
                </a:solidFill>
                <a:latin typeface="Times New Roman" panose="02020603050405020304" pitchFamily="18" charset="0"/>
                <a:cs typeface="Times New Roman" panose="02020603050405020304" pitchFamily="18" charset="0"/>
              </a:rPr>
              <a:t>Compute Hardware:</a:t>
            </a:r>
            <a:r>
              <a:rPr lang="en-US" dirty="0">
                <a:solidFill>
                  <a:srgbClr val="0F1115"/>
                </a:solidFill>
                <a:latin typeface="Times New Roman" panose="02020603050405020304" pitchFamily="18" charset="0"/>
                <a:cs typeface="Times New Roman" panose="02020603050405020304" pitchFamily="18" charset="0"/>
              </a:rPr>
              <a:t> High-volume servers (often using Commercial Off-The-Shelf - COTS - hardware) that provide the processing power (CPUs).</a:t>
            </a:r>
          </a:p>
          <a:p>
            <a:pPr marL="285750" indent="-285750" algn="just">
              <a:spcBef>
                <a:spcPts val="600"/>
              </a:spcBef>
              <a:spcAft>
                <a:spcPts val="600"/>
              </a:spcAft>
              <a:buFont typeface="Arial" panose="020B0604020202020204" pitchFamily="34" charset="0"/>
              <a:buChar char="•"/>
            </a:pPr>
            <a:r>
              <a:rPr lang="en-US" b="1" dirty="0">
                <a:solidFill>
                  <a:srgbClr val="0F1115"/>
                </a:solidFill>
                <a:latin typeface="Times New Roman" panose="02020603050405020304" pitchFamily="18" charset="0"/>
                <a:cs typeface="Times New Roman" panose="02020603050405020304" pitchFamily="18" charset="0"/>
              </a:rPr>
              <a:t>Storage Hardware:</a:t>
            </a:r>
            <a:r>
              <a:rPr lang="en-US" dirty="0">
                <a:solidFill>
                  <a:srgbClr val="0F1115"/>
                </a:solidFill>
                <a:latin typeface="Times New Roman" panose="02020603050405020304" pitchFamily="18" charset="0"/>
                <a:cs typeface="Times New Roman" panose="02020603050405020304" pitchFamily="18" charset="0"/>
              </a:rPr>
              <a:t> Hard disk drives (HDDs), solid-state drives (SSDs), and storage area networks (SANs) that provide capacity for VNF images and data.</a:t>
            </a:r>
          </a:p>
          <a:p>
            <a:pPr marL="285750" indent="-285750" algn="just">
              <a:spcBef>
                <a:spcPts val="600"/>
              </a:spcBef>
              <a:spcAft>
                <a:spcPts val="600"/>
              </a:spcAft>
              <a:buFont typeface="Arial" panose="020B0604020202020204" pitchFamily="34" charset="0"/>
              <a:buChar char="•"/>
            </a:pPr>
            <a:r>
              <a:rPr lang="en-US" b="1" dirty="0">
                <a:solidFill>
                  <a:srgbClr val="0F1115"/>
                </a:solidFill>
                <a:latin typeface="Times New Roman" panose="02020603050405020304" pitchFamily="18" charset="0"/>
                <a:cs typeface="Times New Roman" panose="02020603050405020304" pitchFamily="18" charset="0"/>
              </a:rPr>
              <a:t>Networking Hardware:</a:t>
            </a:r>
            <a:r>
              <a:rPr lang="en-US" dirty="0">
                <a:solidFill>
                  <a:srgbClr val="0F1115"/>
                </a:solidFill>
                <a:latin typeface="Times New Roman" panose="02020603050405020304" pitchFamily="18" charset="0"/>
                <a:cs typeface="Times New Roman" panose="02020603050405020304" pitchFamily="18" charset="0"/>
              </a:rPr>
              <a:t> Physical switches, routers, and network interface cards (NICs) that interconnect the servers and provide links to the external network.</a:t>
            </a:r>
          </a:p>
        </p:txBody>
      </p:sp>
      <p:sp>
        <p:nvSpPr>
          <p:cNvPr id="13" name="TextBox 12">
            <a:extLst>
              <a:ext uri="{FF2B5EF4-FFF2-40B4-BE49-F238E27FC236}">
                <a16:creationId xmlns:a16="http://schemas.microsoft.com/office/drawing/2014/main" id="{0AFDF161-6084-B1C1-3B4F-DE827D6A7BDC}"/>
              </a:ext>
            </a:extLst>
          </p:cNvPr>
          <p:cNvSpPr txBox="1"/>
          <p:nvPr/>
        </p:nvSpPr>
        <p:spPr>
          <a:xfrm>
            <a:off x="1981452" y="4776050"/>
            <a:ext cx="8229348" cy="400110"/>
          </a:xfrm>
          <a:prstGeom prst="rect">
            <a:avLst/>
          </a:prstGeom>
          <a:noFill/>
        </p:spPr>
        <p:txBody>
          <a:bodyPr wrap="square">
            <a:spAutoFit/>
          </a:bodyPr>
          <a:lstStyle/>
          <a:p>
            <a:pPr>
              <a:spcBef>
                <a:spcPts val="1200"/>
              </a:spcBef>
              <a:spcAft>
                <a:spcPts val="1200"/>
              </a:spcAft>
            </a:pPr>
            <a:r>
              <a:rPr lang="en-US" sz="2000" b="1" dirty="0">
                <a:solidFill>
                  <a:srgbClr val="0F1115"/>
                </a:solidFill>
                <a:latin typeface="Times New Roman" panose="02020603050405020304" pitchFamily="18" charset="0"/>
                <a:cs typeface="Times New Roman" panose="02020603050405020304" pitchFamily="18" charset="0"/>
              </a:rPr>
              <a:t>2. Virtualization Layer (Virtualization Software)</a:t>
            </a:r>
          </a:p>
        </p:txBody>
      </p:sp>
      <p:sp>
        <p:nvSpPr>
          <p:cNvPr id="15" name="TextBox 14">
            <a:extLst>
              <a:ext uri="{FF2B5EF4-FFF2-40B4-BE49-F238E27FC236}">
                <a16:creationId xmlns:a16="http://schemas.microsoft.com/office/drawing/2014/main" id="{828EEF0A-71C3-788A-F928-82F8B6140D3F}"/>
              </a:ext>
            </a:extLst>
          </p:cNvPr>
          <p:cNvSpPr txBox="1"/>
          <p:nvPr/>
        </p:nvSpPr>
        <p:spPr>
          <a:xfrm>
            <a:off x="2299504" y="5230149"/>
            <a:ext cx="7911042" cy="1354217"/>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b="1" dirty="0">
                <a:solidFill>
                  <a:srgbClr val="0F1115"/>
                </a:solidFill>
                <a:latin typeface="Times New Roman" panose="02020603050405020304" pitchFamily="18" charset="0"/>
                <a:cs typeface="Times New Roman" panose="02020603050405020304" pitchFamily="18" charset="0"/>
              </a:rPr>
              <a:t>Hypervisor</a:t>
            </a:r>
            <a:r>
              <a:rPr lang="en-US" dirty="0">
                <a:solidFill>
                  <a:srgbClr val="0F1115"/>
                </a:solidFill>
                <a:latin typeface="Times New Roman" panose="02020603050405020304" pitchFamily="18" charset="0"/>
                <a:cs typeface="Times New Roman" panose="02020603050405020304" pitchFamily="18" charset="0"/>
              </a:rPr>
              <a:t> or Virtual Machine Monitor (VMM), such as: KVM, VMware </a:t>
            </a:r>
            <a:r>
              <a:rPr lang="en-US" dirty="0" err="1">
                <a:solidFill>
                  <a:srgbClr val="0F1115"/>
                </a:solidFill>
                <a:latin typeface="Times New Roman" panose="02020603050405020304" pitchFamily="18" charset="0"/>
                <a:cs typeface="Times New Roman" panose="02020603050405020304" pitchFamily="18" charset="0"/>
              </a:rPr>
              <a:t>ESXi</a:t>
            </a:r>
            <a:r>
              <a:rPr lang="en-US" dirty="0">
                <a:solidFill>
                  <a:srgbClr val="0F1115"/>
                </a:solidFill>
                <a:latin typeface="Times New Roman" panose="02020603050405020304" pitchFamily="18" charset="0"/>
                <a:cs typeface="Times New Roman" panose="02020603050405020304" pitchFamily="18" charset="0"/>
              </a:rPr>
              <a:t>, runs on the physical servers and is responsible for creating and running the Virtual Machines (VMs) or containers that host the VNFs. </a:t>
            </a:r>
          </a:p>
          <a:p>
            <a:pPr marL="285750" indent="-285750" algn="just">
              <a:spcBef>
                <a:spcPts val="600"/>
              </a:spcBef>
              <a:spcAft>
                <a:spcPts val="600"/>
              </a:spcAft>
              <a:buFont typeface="Arial" panose="020B0604020202020204" pitchFamily="34" charset="0"/>
              <a:buChar char="•"/>
            </a:pPr>
            <a:r>
              <a:rPr lang="en-US" dirty="0">
                <a:solidFill>
                  <a:srgbClr val="0F1115"/>
                </a:solidFill>
                <a:latin typeface="Times New Roman" panose="02020603050405020304" pitchFamily="18" charset="0"/>
                <a:cs typeface="Times New Roman" panose="02020603050405020304" pitchFamily="18" charset="0"/>
              </a:rPr>
              <a:t>It allocates physical resources (CPU, RAM) to these VMs.</a:t>
            </a:r>
          </a:p>
        </p:txBody>
      </p:sp>
    </p:spTree>
    <p:extLst>
      <p:ext uri="{BB962C8B-B14F-4D97-AF65-F5344CB8AC3E}">
        <p14:creationId xmlns:p14="http://schemas.microsoft.com/office/powerpoint/2010/main" val="18427203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67464-C87C-4BCB-7FFF-8EB3BB1F271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C90D18-D7E8-672C-98C8-84A19D4C3F50}"/>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72C4703E-4AEB-912D-51F6-BD12913CEF20}"/>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t>33</a:t>
            </a:fld>
            <a:endParaRPr lang="en-US" dirty="0">
              <a:latin typeface="Times New Roman" panose="02020603050405020304" pitchFamily="18" charset="0"/>
              <a:cs typeface="Times New Roman" panose="02020603050405020304" pitchFamily="18" charset="0"/>
            </a:endParaRPr>
          </a:p>
        </p:txBody>
      </p:sp>
      <p:sp>
        <p:nvSpPr>
          <p:cNvPr id="3" name="object 3">
            <a:extLst>
              <a:ext uri="{FF2B5EF4-FFF2-40B4-BE49-F238E27FC236}">
                <a16:creationId xmlns:a16="http://schemas.microsoft.com/office/drawing/2014/main" id="{61A87AE4-818D-75D8-C9D8-86DD54B08100}"/>
              </a:ext>
            </a:extLst>
          </p:cNvPr>
          <p:cNvSpPr txBox="1"/>
          <p:nvPr/>
        </p:nvSpPr>
        <p:spPr>
          <a:xfrm>
            <a:off x="1688939" y="901385"/>
            <a:ext cx="8657864" cy="505267"/>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lang="en-US" sz="3200" b="1" spc="-5" dirty="0">
                <a:latin typeface="Times New Roman" panose="02020603050405020304" pitchFamily="18" charset="0"/>
                <a:cs typeface="Times New Roman" panose="02020603050405020304" pitchFamily="18" charset="0"/>
              </a:rPr>
              <a:t>NFV Infrastructure (NFVI)</a:t>
            </a:r>
            <a:endParaRPr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0B41B6D-E007-D040-EE10-EFC6B421F538}"/>
              </a:ext>
            </a:extLst>
          </p:cNvPr>
          <p:cNvSpPr txBox="1"/>
          <p:nvPr/>
        </p:nvSpPr>
        <p:spPr>
          <a:xfrm>
            <a:off x="1981452" y="1756596"/>
            <a:ext cx="8229348" cy="461665"/>
          </a:xfrm>
          <a:prstGeom prst="rect">
            <a:avLst/>
          </a:prstGeom>
          <a:noFill/>
        </p:spPr>
        <p:txBody>
          <a:bodyPr wrap="square">
            <a:spAutoFit/>
          </a:bodyPr>
          <a:lstStyle/>
          <a:p>
            <a:pPr>
              <a:spcBef>
                <a:spcPts val="2400"/>
              </a:spcBef>
              <a:spcAft>
                <a:spcPts val="1200"/>
              </a:spcAft>
            </a:pPr>
            <a:r>
              <a:rPr lang="en-US" sz="2400" dirty="0">
                <a:solidFill>
                  <a:srgbClr val="0F1115"/>
                </a:solidFill>
                <a:latin typeface="quote-cjk-patch"/>
              </a:rPr>
              <a:t>Key Responsibilities and Characteristics</a:t>
            </a:r>
          </a:p>
        </p:txBody>
      </p:sp>
      <p:sp>
        <p:nvSpPr>
          <p:cNvPr id="11" name="TextBox 10">
            <a:extLst>
              <a:ext uri="{FF2B5EF4-FFF2-40B4-BE49-F238E27FC236}">
                <a16:creationId xmlns:a16="http://schemas.microsoft.com/office/drawing/2014/main" id="{9CDDB307-81FF-D948-A5C7-4B17AAF54C43}"/>
              </a:ext>
            </a:extLst>
          </p:cNvPr>
          <p:cNvSpPr txBox="1"/>
          <p:nvPr/>
        </p:nvSpPr>
        <p:spPr>
          <a:xfrm>
            <a:off x="1981452" y="2401949"/>
            <a:ext cx="7911296" cy="3516347"/>
          </a:xfrm>
          <a:prstGeom prst="rect">
            <a:avLst/>
          </a:prstGeom>
          <a:noFill/>
        </p:spPr>
        <p:txBody>
          <a:bodyPr wrap="square">
            <a:spAutoFit/>
          </a:bodyPr>
          <a:lstStyle/>
          <a:p>
            <a:pPr marL="285750" indent="-285750" algn="just">
              <a:spcBef>
                <a:spcPts val="1200"/>
              </a:spcBef>
              <a:spcAft>
                <a:spcPts val="1200"/>
              </a:spcAft>
              <a:buFont typeface="Arial" panose="020B0604020202020204" pitchFamily="34" charset="0"/>
              <a:buChar char="•"/>
            </a:pPr>
            <a:r>
              <a:rPr lang="en-US" b="1" dirty="0">
                <a:solidFill>
                  <a:srgbClr val="0F1115"/>
                </a:solidFill>
                <a:latin typeface="quote-cjk-patch"/>
              </a:rPr>
              <a:t>Resource Pooling:</a:t>
            </a:r>
            <a:r>
              <a:rPr lang="en-US" dirty="0">
                <a:solidFill>
                  <a:srgbClr val="0F1115"/>
                </a:solidFill>
                <a:latin typeface="quote-cjk-patch"/>
              </a:rPr>
              <a:t> Aggregates all physical resources into a shared pool that can be dynamically allocated to any VNF as needed.</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Abstraction:</a:t>
            </a:r>
            <a:r>
              <a:rPr lang="en-US" dirty="0">
                <a:solidFill>
                  <a:srgbClr val="0F1115"/>
                </a:solidFill>
                <a:latin typeface="quote-cjk-patch"/>
              </a:rPr>
              <a:t> Hides the complexity and specifics of the underlying hardware from the VNFs. A VNF doesn't need to know what brand of server it's running on; it just sees the virtual resources (vCPU, </a:t>
            </a:r>
            <a:r>
              <a:rPr lang="en-US" dirty="0" err="1">
                <a:solidFill>
                  <a:srgbClr val="0F1115"/>
                </a:solidFill>
                <a:latin typeface="quote-cjk-patch"/>
              </a:rPr>
              <a:t>vRAM</a:t>
            </a:r>
            <a:r>
              <a:rPr lang="en-US" dirty="0">
                <a:solidFill>
                  <a:srgbClr val="0F1115"/>
                </a:solidFill>
                <a:latin typeface="quote-cjk-patch"/>
              </a:rPr>
              <a:t>, </a:t>
            </a:r>
            <a:r>
              <a:rPr lang="en-US" dirty="0" err="1">
                <a:solidFill>
                  <a:srgbClr val="0F1115"/>
                </a:solidFill>
                <a:latin typeface="quote-cjk-patch"/>
              </a:rPr>
              <a:t>vNIC</a:t>
            </a:r>
            <a:r>
              <a:rPr lang="en-US" dirty="0">
                <a:solidFill>
                  <a:srgbClr val="0F1115"/>
                </a:solidFill>
                <a:latin typeface="quote-cjk-patch"/>
              </a:rPr>
              <a:t>) it has been assigned.</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Elasticity:</a:t>
            </a:r>
            <a:r>
              <a:rPr lang="en-US" dirty="0">
                <a:solidFill>
                  <a:srgbClr val="0F1115"/>
                </a:solidFill>
                <a:latin typeface="quote-cjk-patch"/>
              </a:rPr>
              <a:t> The infrastructure can scale resources up and down on demand, allowing VNFs to be scaled seamlessly to handle changing traffic loads.</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Isolation:</a:t>
            </a:r>
            <a:r>
              <a:rPr lang="en-US" dirty="0">
                <a:solidFill>
                  <a:srgbClr val="0F1115"/>
                </a:solidFill>
                <a:latin typeface="quote-cjk-patch"/>
              </a:rPr>
              <a:t> Ensures that multiple VNFs from different vendors or services can run securely side-by-side on the same physical hardware without interfering with each other.</a:t>
            </a:r>
          </a:p>
        </p:txBody>
      </p:sp>
    </p:spTree>
    <p:extLst>
      <p:ext uri="{BB962C8B-B14F-4D97-AF65-F5344CB8AC3E}">
        <p14:creationId xmlns:p14="http://schemas.microsoft.com/office/powerpoint/2010/main" val="2298150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3598-7741-F06C-2798-10A01F3947CF}"/>
            </a:ext>
          </a:extLst>
        </p:cNvPr>
        <p:cNvGrpSpPr/>
        <p:nvPr/>
      </p:nvGrpSpPr>
      <p:grpSpPr>
        <a:xfrm>
          <a:off x="0" y="0"/>
          <a:ext cx="0" cy="0"/>
          <a:chOff x="0" y="0"/>
          <a:chExt cx="0" cy="0"/>
        </a:xfrm>
      </p:grpSpPr>
      <p:pic>
        <p:nvPicPr>
          <p:cNvPr id="1026" name="Picture 2" descr="ETSI NFV architectural framework. | Download Scientific Diagram">
            <a:extLst>
              <a:ext uri="{FF2B5EF4-FFF2-40B4-BE49-F238E27FC236}">
                <a16:creationId xmlns:a16="http://schemas.microsoft.com/office/drawing/2014/main" id="{429FC342-99B7-49E8-DEED-0811662A65A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30830" y="643468"/>
            <a:ext cx="7930341"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9291B2E-2A7D-59FB-8822-D230AA0D6EA4}"/>
              </a:ext>
            </a:extLst>
          </p:cNvPr>
          <p:cNvSpPr txBox="1"/>
          <p:nvPr/>
        </p:nvSpPr>
        <p:spPr>
          <a:xfrm>
            <a:off x="2900376" y="43283"/>
            <a:ext cx="5726766" cy="556902"/>
          </a:xfrm>
          <a:prstGeom prst="rect">
            <a:avLst/>
          </a:prstGeom>
        </p:spPr>
        <p:txBody>
          <a:bodyPr vert="horz" lIns="91440" tIns="45720" rIns="91440" bIns="45720" rtlCol="0" anchor="ctr">
            <a:normAutofit fontScale="77500" lnSpcReduction="20000"/>
          </a:bodyPr>
          <a:lstStyle>
            <a:lvl1pPr algn="ctr">
              <a:spcBef>
                <a:spcPct val="0"/>
              </a:spcBef>
              <a:buNone/>
              <a:defRPr sz="4000">
                <a:latin typeface="+mj-lt"/>
                <a:ea typeface="+mj-ea"/>
                <a:cs typeface="+mj-cs"/>
              </a:defRPr>
            </a:lvl1pPr>
          </a:lstStyle>
          <a:p>
            <a:r>
              <a:rPr lang="en-US" dirty="0"/>
              <a:t>ETSI NFV Architectural Framework</a:t>
            </a:r>
          </a:p>
        </p:txBody>
      </p:sp>
      <p:sp>
        <p:nvSpPr>
          <p:cNvPr id="6" name="Slide Number Placeholder 5">
            <a:extLst>
              <a:ext uri="{FF2B5EF4-FFF2-40B4-BE49-F238E27FC236}">
                <a16:creationId xmlns:a16="http://schemas.microsoft.com/office/drawing/2014/main" id="{AC182B84-4322-0000-C4F8-240BC24B073C}"/>
              </a:ext>
            </a:extLst>
          </p:cNvPr>
          <p:cNvSpPr>
            <a:spLocks noGrp="1"/>
          </p:cNvSpPr>
          <p:nvPr>
            <p:ph type="sldNum" sz="quarter" idx="12"/>
          </p:nvPr>
        </p:nvSpPr>
        <p:spPr/>
        <p:txBody>
          <a:bodyPr/>
          <a:lstStyle/>
          <a:p>
            <a:fld id="{C1FF6DA9-008F-8B48-92A6-B652298478BF}" type="slidenum">
              <a:rPr lang="en-US" smtClean="0"/>
              <a:t>34</a:t>
            </a:fld>
            <a:endParaRPr lang="en-US"/>
          </a:p>
        </p:txBody>
      </p:sp>
      <p:sp>
        <p:nvSpPr>
          <p:cNvPr id="2" name="Oval 1">
            <a:extLst>
              <a:ext uri="{FF2B5EF4-FFF2-40B4-BE49-F238E27FC236}">
                <a16:creationId xmlns:a16="http://schemas.microsoft.com/office/drawing/2014/main" id="{4130BFAB-33BB-74BF-418C-EBB1517414A3}"/>
              </a:ext>
            </a:extLst>
          </p:cNvPr>
          <p:cNvSpPr/>
          <p:nvPr/>
        </p:nvSpPr>
        <p:spPr>
          <a:xfrm>
            <a:off x="3962399" y="1183341"/>
            <a:ext cx="159571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Tree>
    <p:extLst>
      <p:ext uri="{BB962C8B-B14F-4D97-AF65-F5344CB8AC3E}">
        <p14:creationId xmlns:p14="http://schemas.microsoft.com/office/powerpoint/2010/main" val="2839559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4E29A-E362-9B32-0E10-E9ABA5347679}"/>
              </a:ext>
            </a:extLst>
          </p:cNvPr>
          <p:cNvSpPr>
            <a:spLocks noGrp="1"/>
          </p:cNvSpPr>
          <p:nvPr>
            <p:ph type="title"/>
          </p:nvPr>
        </p:nvSpPr>
        <p:spPr>
          <a:xfrm>
            <a:off x="2209800" y="2521578"/>
            <a:ext cx="7772400" cy="1814844"/>
          </a:xfrm>
        </p:spPr>
        <p:txBody>
          <a:bodyPr>
            <a:normAutofit fontScale="90000"/>
          </a:bodyPr>
          <a:lstStyle/>
          <a:p>
            <a:pPr algn="ctr"/>
            <a:r>
              <a:rPr lang="en-LB" sz="6600" dirty="0"/>
              <a:t>OSS</a:t>
            </a:r>
            <a:br>
              <a:rPr lang="en-LB" sz="6600" dirty="0"/>
            </a:br>
            <a:r>
              <a:rPr lang="en-US" sz="4400" b="0" dirty="0"/>
              <a:t>Operational Support System</a:t>
            </a:r>
            <a:endParaRPr lang="en-LB" sz="6600" b="0" dirty="0"/>
          </a:p>
        </p:txBody>
      </p:sp>
      <p:sp>
        <p:nvSpPr>
          <p:cNvPr id="6" name="Slide Number Placeholder 5">
            <a:extLst>
              <a:ext uri="{FF2B5EF4-FFF2-40B4-BE49-F238E27FC236}">
                <a16:creationId xmlns:a16="http://schemas.microsoft.com/office/drawing/2014/main" id="{8D36D758-6B59-9398-D6D3-F85E868CF49D}"/>
              </a:ext>
            </a:extLst>
          </p:cNvPr>
          <p:cNvSpPr>
            <a:spLocks noGrp="1"/>
          </p:cNvSpPr>
          <p:nvPr>
            <p:ph type="sldNum" sz="quarter" idx="12"/>
          </p:nvPr>
        </p:nvSpPr>
        <p:spPr/>
        <p:txBody>
          <a:bodyPr/>
          <a:lstStyle/>
          <a:p>
            <a:fld id="{C1FF6DA9-008F-8B48-92A6-B652298478BF}" type="slidenum">
              <a:rPr lang="en-US" smtClean="0"/>
              <a:t>35</a:t>
            </a:fld>
            <a:endParaRPr lang="en-US"/>
          </a:p>
        </p:txBody>
      </p:sp>
    </p:spTree>
    <p:extLst>
      <p:ext uri="{BB962C8B-B14F-4D97-AF65-F5344CB8AC3E}">
        <p14:creationId xmlns:p14="http://schemas.microsoft.com/office/powerpoint/2010/main" val="6590167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09C5A3-3DA7-81E2-F438-C728F618F023}"/>
              </a:ext>
            </a:extLst>
          </p:cNvPr>
          <p:cNvSpPr>
            <a:spLocks noGrp="1"/>
          </p:cNvSpPr>
          <p:nvPr>
            <p:ph idx="1"/>
          </p:nvPr>
        </p:nvSpPr>
        <p:spPr>
          <a:xfrm>
            <a:off x="1524000" y="795647"/>
            <a:ext cx="9144000" cy="5973288"/>
          </a:xfrm>
        </p:spPr>
        <p:txBody>
          <a:bodyPr>
            <a:normAutofit fontScale="85000" lnSpcReduction="10000"/>
          </a:bodyPr>
          <a:lstStyle/>
          <a:p>
            <a:pPr>
              <a:lnSpc>
                <a:spcPct val="120000"/>
              </a:lnSpc>
              <a:spcBef>
                <a:spcPts val="600"/>
              </a:spcBef>
              <a:spcAft>
                <a:spcPts val="600"/>
              </a:spcAft>
            </a:pPr>
            <a:r>
              <a:rPr lang="en-US" sz="2400" b="1" dirty="0"/>
              <a:t>OSS</a:t>
            </a:r>
          </a:p>
          <a:p>
            <a:pPr lvl="1" algn="just">
              <a:lnSpc>
                <a:spcPct val="120000"/>
              </a:lnSpc>
              <a:spcBef>
                <a:spcPts val="600"/>
              </a:spcBef>
              <a:spcAft>
                <a:spcPts val="600"/>
              </a:spcAft>
            </a:pPr>
            <a:r>
              <a:rPr lang="en-US" sz="2200" dirty="0"/>
              <a:t>The "brain" that tells the equipment what to do and ensures everything is running smoothly (manage, monitor, analyze, and control the network operations).</a:t>
            </a:r>
          </a:p>
          <a:p>
            <a:pPr>
              <a:lnSpc>
                <a:spcPct val="120000"/>
              </a:lnSpc>
              <a:spcBef>
                <a:spcPts val="600"/>
              </a:spcBef>
              <a:spcAft>
                <a:spcPts val="600"/>
              </a:spcAft>
            </a:pPr>
            <a:r>
              <a:rPr lang="en-US" sz="2400" b="1" dirty="0"/>
              <a:t>Key functions</a:t>
            </a:r>
          </a:p>
          <a:p>
            <a:pPr lvl="1" algn="just">
              <a:lnSpc>
                <a:spcPct val="120000"/>
              </a:lnSpc>
              <a:spcBef>
                <a:spcPts val="600"/>
              </a:spcBef>
              <a:spcAft>
                <a:spcPts val="600"/>
              </a:spcAft>
            </a:pPr>
            <a:r>
              <a:rPr lang="en-US" sz="2200" b="1" dirty="0"/>
              <a:t>Network Inventory: </a:t>
            </a:r>
            <a:r>
              <a:rPr lang="en-US" sz="2200" dirty="0"/>
              <a:t>Keeping a detailed record of every piece of physical and logical network equipment.</a:t>
            </a:r>
          </a:p>
          <a:p>
            <a:pPr lvl="1" algn="just">
              <a:lnSpc>
                <a:spcPct val="120000"/>
              </a:lnSpc>
              <a:spcBef>
                <a:spcPts val="600"/>
              </a:spcBef>
              <a:spcAft>
                <a:spcPts val="600"/>
              </a:spcAft>
            </a:pPr>
            <a:r>
              <a:rPr lang="en-US" sz="2200" b="1" dirty="0"/>
              <a:t>Fault Management: </a:t>
            </a:r>
            <a:r>
              <a:rPr lang="en-US" sz="2200" dirty="0"/>
              <a:t>Continuously monitoring the network for failures (e.g., a fiber cut, a router crash, a failing circuit).</a:t>
            </a:r>
          </a:p>
          <a:p>
            <a:pPr lvl="1" algn="just">
              <a:lnSpc>
                <a:spcPct val="120000"/>
              </a:lnSpc>
              <a:spcBef>
                <a:spcPts val="600"/>
              </a:spcBef>
              <a:spcAft>
                <a:spcPts val="600"/>
              </a:spcAft>
            </a:pPr>
            <a:r>
              <a:rPr lang="en-US" sz="2200" b="1" dirty="0"/>
              <a:t>Configuration Management: </a:t>
            </a:r>
            <a:r>
              <a:rPr lang="en-US" sz="2200" dirty="0"/>
              <a:t>Remotely configuring network devices (e.g., setting up a new customer's internet connection, updating software on a cell tower).</a:t>
            </a:r>
          </a:p>
          <a:p>
            <a:pPr lvl="1" algn="just">
              <a:lnSpc>
                <a:spcPct val="120000"/>
              </a:lnSpc>
              <a:spcBef>
                <a:spcPts val="600"/>
              </a:spcBef>
              <a:spcAft>
                <a:spcPts val="600"/>
              </a:spcAft>
            </a:pPr>
            <a:r>
              <a:rPr lang="en-US" sz="2200" b="1" dirty="0"/>
              <a:t>Performance Management: </a:t>
            </a:r>
            <a:r>
              <a:rPr lang="en-US" sz="2200" dirty="0"/>
              <a:t>Collecting and analyzing performance data (e.g., bandwidth utilization, latency, packet loss, signal strength).</a:t>
            </a:r>
          </a:p>
          <a:p>
            <a:pPr lvl="1" algn="just">
              <a:lnSpc>
                <a:spcPct val="120000"/>
              </a:lnSpc>
              <a:spcBef>
                <a:spcPts val="600"/>
              </a:spcBef>
              <a:spcAft>
                <a:spcPts val="600"/>
              </a:spcAft>
            </a:pPr>
            <a:r>
              <a:rPr lang="en-US" sz="2200" b="1" dirty="0"/>
              <a:t>Service Provisioning &amp; Activation: </a:t>
            </a:r>
            <a:r>
              <a:rPr lang="en-US" sz="2200" dirty="0"/>
              <a:t>The process of automatically setting up and activating a new service for a customer (e.g., activating a new fiber line or a 5G mobile plan).</a:t>
            </a:r>
          </a:p>
        </p:txBody>
      </p:sp>
      <p:sp>
        <p:nvSpPr>
          <p:cNvPr id="7" name="Slide Number Placeholder 6">
            <a:extLst>
              <a:ext uri="{FF2B5EF4-FFF2-40B4-BE49-F238E27FC236}">
                <a16:creationId xmlns:a16="http://schemas.microsoft.com/office/drawing/2014/main" id="{4DE293A5-1E27-F7EB-327B-FB6312BDF7F2}"/>
              </a:ext>
            </a:extLst>
          </p:cNvPr>
          <p:cNvSpPr>
            <a:spLocks noGrp="1"/>
          </p:cNvSpPr>
          <p:nvPr>
            <p:ph type="sldNum" sz="quarter" idx="12"/>
          </p:nvPr>
        </p:nvSpPr>
        <p:spPr/>
        <p:txBody>
          <a:bodyPr/>
          <a:lstStyle/>
          <a:p>
            <a:fld id="{C1FF6DA9-008F-8B48-92A6-B652298478BF}" type="slidenum">
              <a:rPr lang="en-US" smtClean="0"/>
              <a:t>36</a:t>
            </a:fld>
            <a:endParaRPr lang="en-US"/>
          </a:p>
        </p:txBody>
      </p:sp>
      <p:sp>
        <p:nvSpPr>
          <p:cNvPr id="4" name="TextBox 3">
            <a:extLst>
              <a:ext uri="{FF2B5EF4-FFF2-40B4-BE49-F238E27FC236}">
                <a16:creationId xmlns:a16="http://schemas.microsoft.com/office/drawing/2014/main" id="{087E285E-ED08-AAC3-8922-DC7F13189609}"/>
              </a:ext>
            </a:extLst>
          </p:cNvPr>
          <p:cNvSpPr txBox="1"/>
          <p:nvPr/>
        </p:nvSpPr>
        <p:spPr>
          <a:xfrm>
            <a:off x="1981200" y="174935"/>
            <a:ext cx="8229600" cy="620712"/>
          </a:xfrm>
          <a:prstGeom prst="rect">
            <a:avLst/>
          </a:prstGeom>
        </p:spPr>
        <p:txBody>
          <a:bodyPr vert="horz" lIns="91440" tIns="45720" rIns="91440" bIns="45720" rtlCol="0" anchor="ctr">
            <a:normAutofit lnSpcReduction="10000"/>
          </a:bodyPr>
          <a:lstStyle>
            <a:lvl1pPr algn="ctr">
              <a:spcBef>
                <a:spcPct val="0"/>
              </a:spcBef>
              <a:buNone/>
              <a:defRPr sz="4000">
                <a:latin typeface="+mj-lt"/>
                <a:ea typeface="+mj-ea"/>
                <a:cs typeface="+mj-cs"/>
              </a:defRPr>
            </a:lvl1pPr>
          </a:lstStyle>
          <a:p>
            <a:r>
              <a:rPr lang="en-US" sz="3600" dirty="0"/>
              <a:t>ETSI NFV Architectural Framework</a:t>
            </a:r>
          </a:p>
        </p:txBody>
      </p:sp>
    </p:spTree>
    <p:extLst>
      <p:ext uri="{BB962C8B-B14F-4D97-AF65-F5344CB8AC3E}">
        <p14:creationId xmlns:p14="http://schemas.microsoft.com/office/powerpoint/2010/main" val="42845317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5CC20-30C4-66A5-7E50-D1626D8906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163B41-876C-F86D-CEDD-0EA1EF144CE1}"/>
              </a:ext>
            </a:extLst>
          </p:cNvPr>
          <p:cNvSpPr>
            <a:spLocks noGrp="1"/>
          </p:cNvSpPr>
          <p:nvPr>
            <p:ph idx="1"/>
          </p:nvPr>
        </p:nvSpPr>
        <p:spPr>
          <a:xfrm>
            <a:off x="1524000" y="1090670"/>
            <a:ext cx="9144000" cy="5678265"/>
          </a:xfrm>
        </p:spPr>
        <p:txBody>
          <a:bodyPr>
            <a:normAutofit/>
          </a:bodyPr>
          <a:lstStyle/>
          <a:p>
            <a:pPr>
              <a:lnSpc>
                <a:spcPct val="120000"/>
              </a:lnSpc>
            </a:pPr>
            <a:r>
              <a:rPr lang="en-US" sz="2400" b="1" dirty="0"/>
              <a:t>OSS Example </a:t>
            </a:r>
            <a:r>
              <a:rPr lang="en-US" sz="2000" b="1" dirty="0"/>
              <a:t>(</a:t>
            </a:r>
            <a:r>
              <a:rPr lang="en-US" sz="2000" b="1" dirty="0">
                <a:solidFill>
                  <a:srgbClr val="0F1115"/>
                </a:solidFill>
                <a:latin typeface="quote-cjk-patch"/>
              </a:rPr>
              <a:t>Activating a New Home Fiber Internet Customer</a:t>
            </a:r>
            <a:r>
              <a:rPr lang="en-US" sz="2000" b="1" dirty="0"/>
              <a:t>)</a:t>
            </a:r>
          </a:p>
          <a:p>
            <a:pPr marL="180000" indent="0" algn="just">
              <a:lnSpc>
                <a:spcPct val="140000"/>
              </a:lnSpc>
              <a:buNone/>
            </a:pPr>
            <a:r>
              <a:rPr lang="en-US" sz="2200" dirty="0">
                <a:solidFill>
                  <a:srgbClr val="0F1115"/>
                </a:solidFill>
                <a:latin typeface="quote-cjk-patch"/>
              </a:rPr>
              <a:t>Alex," who orders a 1 Gbps fiber internet package from "Telecom Giant Inc." The OSS platforms work behind the scenes to make this happen</a:t>
            </a:r>
          </a:p>
          <a:p>
            <a:pPr lvl="1">
              <a:spcBef>
                <a:spcPts val="1200"/>
              </a:spcBef>
              <a:spcAft>
                <a:spcPts val="600"/>
              </a:spcAft>
            </a:pPr>
            <a:r>
              <a:rPr lang="en-US" sz="2000" b="1" dirty="0"/>
              <a:t>Step 1:</a:t>
            </a:r>
            <a:r>
              <a:rPr lang="en-US" sz="2000" dirty="0"/>
              <a:t> Order Receipt and Service Design</a:t>
            </a:r>
          </a:p>
          <a:p>
            <a:pPr lvl="1">
              <a:spcBef>
                <a:spcPts val="1200"/>
              </a:spcBef>
              <a:spcAft>
                <a:spcPts val="600"/>
              </a:spcAft>
            </a:pPr>
            <a:r>
              <a:rPr lang="en-US" sz="2000" b="1" dirty="0"/>
              <a:t>Step 2:</a:t>
            </a:r>
            <a:r>
              <a:rPr lang="en-US" sz="2000" dirty="0"/>
              <a:t> Network Inventory Check (</a:t>
            </a:r>
            <a:r>
              <a:rPr lang="en-US" sz="2000" dirty="0">
                <a:solidFill>
                  <a:schemeClr val="accent5">
                    <a:lumMod val="75000"/>
                  </a:schemeClr>
                </a:solidFill>
              </a:rPr>
              <a:t>OSS Function</a:t>
            </a:r>
            <a:r>
              <a:rPr lang="en-US" sz="2000" dirty="0"/>
              <a:t>)</a:t>
            </a:r>
          </a:p>
          <a:p>
            <a:pPr lvl="1">
              <a:spcBef>
                <a:spcPts val="1200"/>
              </a:spcBef>
              <a:spcAft>
                <a:spcPts val="600"/>
              </a:spcAft>
            </a:pPr>
            <a:r>
              <a:rPr lang="en-US" sz="2000" b="1" dirty="0"/>
              <a:t>Step 3:</a:t>
            </a:r>
            <a:r>
              <a:rPr lang="en-US" sz="2000" dirty="0"/>
              <a:t> Service Provisioning &amp; Activation (</a:t>
            </a:r>
            <a:r>
              <a:rPr lang="en-US" sz="2000" dirty="0">
                <a:solidFill>
                  <a:schemeClr val="accent5">
                    <a:lumMod val="75000"/>
                  </a:schemeClr>
                </a:solidFill>
              </a:rPr>
              <a:t>OSS Function</a:t>
            </a:r>
            <a:r>
              <a:rPr lang="en-US" sz="2000" dirty="0"/>
              <a:t>)</a:t>
            </a:r>
          </a:p>
          <a:p>
            <a:pPr lvl="1">
              <a:spcBef>
                <a:spcPts val="1200"/>
              </a:spcBef>
              <a:spcAft>
                <a:spcPts val="600"/>
              </a:spcAft>
            </a:pPr>
            <a:r>
              <a:rPr lang="en-US" sz="2000" b="1" dirty="0"/>
              <a:t>Step 4:</a:t>
            </a:r>
            <a:r>
              <a:rPr lang="en-US" sz="2000" dirty="0"/>
              <a:t> Work Order Dispatch</a:t>
            </a:r>
          </a:p>
          <a:p>
            <a:pPr lvl="1">
              <a:spcBef>
                <a:spcPts val="1200"/>
              </a:spcBef>
              <a:spcAft>
                <a:spcPts val="600"/>
              </a:spcAft>
            </a:pPr>
            <a:r>
              <a:rPr lang="en-US" sz="2000" b="1" dirty="0"/>
              <a:t>Step 5:</a:t>
            </a:r>
            <a:r>
              <a:rPr lang="en-US" sz="2000" dirty="0"/>
              <a:t> Installation and Activation</a:t>
            </a:r>
          </a:p>
          <a:p>
            <a:pPr lvl="1">
              <a:spcBef>
                <a:spcPts val="1200"/>
              </a:spcBef>
              <a:spcAft>
                <a:spcPts val="600"/>
              </a:spcAft>
            </a:pPr>
            <a:r>
              <a:rPr lang="en-US" sz="2000" b="1" dirty="0"/>
              <a:t>Step 6:</a:t>
            </a:r>
            <a:r>
              <a:rPr lang="en-US" sz="2000" dirty="0"/>
              <a:t> Ongoing Monitoring &amp; Assurance (</a:t>
            </a:r>
            <a:r>
              <a:rPr lang="en-US" sz="2000" dirty="0">
                <a:solidFill>
                  <a:schemeClr val="accent5">
                    <a:lumMod val="75000"/>
                  </a:schemeClr>
                </a:solidFill>
              </a:rPr>
              <a:t>OSS Function</a:t>
            </a:r>
            <a:r>
              <a:rPr lang="en-US" sz="2000" dirty="0"/>
              <a:t>)</a:t>
            </a:r>
          </a:p>
          <a:p>
            <a:pPr>
              <a:lnSpc>
                <a:spcPct val="120000"/>
              </a:lnSpc>
            </a:pPr>
            <a:endParaRPr lang="en-US" sz="2400" b="1" dirty="0"/>
          </a:p>
        </p:txBody>
      </p:sp>
      <p:sp>
        <p:nvSpPr>
          <p:cNvPr id="2" name="Slide Number Placeholder 1">
            <a:extLst>
              <a:ext uri="{FF2B5EF4-FFF2-40B4-BE49-F238E27FC236}">
                <a16:creationId xmlns:a16="http://schemas.microsoft.com/office/drawing/2014/main" id="{1635055B-15DD-CA7F-E7B8-099FA5693F83}"/>
              </a:ext>
            </a:extLst>
          </p:cNvPr>
          <p:cNvSpPr>
            <a:spLocks noGrp="1"/>
          </p:cNvSpPr>
          <p:nvPr>
            <p:ph type="sldNum" sz="quarter" idx="12"/>
          </p:nvPr>
        </p:nvSpPr>
        <p:spPr/>
        <p:txBody>
          <a:bodyPr/>
          <a:lstStyle/>
          <a:p>
            <a:fld id="{C1FF6DA9-008F-8B48-92A6-B652298478BF}" type="slidenum">
              <a:rPr lang="en-US" smtClean="0"/>
              <a:t>37</a:t>
            </a:fld>
            <a:endParaRPr lang="en-US"/>
          </a:p>
        </p:txBody>
      </p:sp>
      <p:sp>
        <p:nvSpPr>
          <p:cNvPr id="4" name="TextBox 3">
            <a:extLst>
              <a:ext uri="{FF2B5EF4-FFF2-40B4-BE49-F238E27FC236}">
                <a16:creationId xmlns:a16="http://schemas.microsoft.com/office/drawing/2014/main" id="{25F412F1-C051-0A93-3A0F-4EFBB82F84AD}"/>
              </a:ext>
            </a:extLst>
          </p:cNvPr>
          <p:cNvSpPr txBox="1"/>
          <p:nvPr/>
        </p:nvSpPr>
        <p:spPr>
          <a:xfrm>
            <a:off x="1981200" y="174935"/>
            <a:ext cx="8229600" cy="915734"/>
          </a:xfrm>
          <a:prstGeom prst="rect">
            <a:avLst/>
          </a:prstGeom>
        </p:spPr>
        <p:txBody>
          <a:bodyPr vert="horz" lIns="91440" tIns="45720" rIns="91440" bIns="45720" rtlCol="0" anchor="ctr">
            <a:normAutofit/>
          </a:bodyPr>
          <a:lstStyle>
            <a:lvl1pPr algn="ctr">
              <a:spcBef>
                <a:spcPct val="0"/>
              </a:spcBef>
              <a:buNone/>
              <a:defRPr sz="4000">
                <a:latin typeface="+mj-lt"/>
                <a:ea typeface="+mj-ea"/>
                <a:cs typeface="+mj-cs"/>
              </a:defRPr>
            </a:lvl1pPr>
          </a:lstStyle>
          <a:p>
            <a:r>
              <a:rPr lang="en-US" dirty="0"/>
              <a:t>ETSI NFV Architectural Framework</a:t>
            </a:r>
          </a:p>
        </p:txBody>
      </p:sp>
    </p:spTree>
    <p:extLst>
      <p:ext uri="{BB962C8B-B14F-4D97-AF65-F5344CB8AC3E}">
        <p14:creationId xmlns:p14="http://schemas.microsoft.com/office/powerpoint/2010/main" val="144134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linds(horizontal)">
                                      <p:cBhvr>
                                        <p:cTn id="10" dur="500"/>
                                        <p:tgtEl>
                                          <p:spTgt spid="3">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linds(horizontal)">
                                      <p:cBhvr>
                                        <p:cTn id="13" dur="500"/>
                                        <p:tgtEl>
                                          <p:spTgt spid="3">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linds(horizontal)">
                                      <p:cBhvr>
                                        <p:cTn id="16" dur="500"/>
                                        <p:tgtEl>
                                          <p:spTgt spid="3">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blinds(horizontal)">
                                      <p:cBhvr>
                                        <p:cTn id="19" dur="500"/>
                                        <p:tgtEl>
                                          <p:spTgt spid="3">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linds(horizontal)">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875B-3AEC-FE54-882D-4795791E98BB}"/>
            </a:ext>
          </a:extLst>
        </p:cNvPr>
        <p:cNvGrpSpPr/>
        <p:nvPr/>
      </p:nvGrpSpPr>
      <p:grpSpPr>
        <a:xfrm>
          <a:off x="0" y="0"/>
          <a:ext cx="0" cy="0"/>
          <a:chOff x="0" y="0"/>
          <a:chExt cx="0" cy="0"/>
        </a:xfrm>
      </p:grpSpPr>
      <p:pic>
        <p:nvPicPr>
          <p:cNvPr id="1026" name="Picture 2" descr="ETSI NFV architectural framework. | Download Scientific Diagram">
            <a:extLst>
              <a:ext uri="{FF2B5EF4-FFF2-40B4-BE49-F238E27FC236}">
                <a16:creationId xmlns:a16="http://schemas.microsoft.com/office/drawing/2014/main" id="{533B9B7E-49E8-F67D-CE1D-2F1A55227B2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30830" y="643468"/>
            <a:ext cx="7930341"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D40DBDE-851D-35BB-66D8-E9EAD81A0DC0}"/>
              </a:ext>
            </a:extLst>
          </p:cNvPr>
          <p:cNvSpPr txBox="1"/>
          <p:nvPr/>
        </p:nvSpPr>
        <p:spPr>
          <a:xfrm>
            <a:off x="2900376" y="43283"/>
            <a:ext cx="5726766" cy="556902"/>
          </a:xfrm>
          <a:prstGeom prst="rect">
            <a:avLst/>
          </a:prstGeom>
        </p:spPr>
        <p:txBody>
          <a:bodyPr vert="horz" lIns="91440" tIns="45720" rIns="91440" bIns="45720" rtlCol="0" anchor="ctr">
            <a:normAutofit fontScale="77500" lnSpcReduction="20000"/>
          </a:bodyPr>
          <a:lstStyle>
            <a:lvl1pPr algn="ctr">
              <a:spcBef>
                <a:spcPct val="0"/>
              </a:spcBef>
              <a:buNone/>
              <a:defRPr sz="4000">
                <a:latin typeface="+mj-lt"/>
                <a:ea typeface="+mj-ea"/>
                <a:cs typeface="+mj-cs"/>
              </a:defRPr>
            </a:lvl1pPr>
          </a:lstStyle>
          <a:p>
            <a:r>
              <a:rPr lang="en-US" dirty="0"/>
              <a:t>ETSI NFV Architectural Framework</a:t>
            </a:r>
          </a:p>
        </p:txBody>
      </p:sp>
      <p:sp>
        <p:nvSpPr>
          <p:cNvPr id="6" name="Slide Number Placeholder 5">
            <a:extLst>
              <a:ext uri="{FF2B5EF4-FFF2-40B4-BE49-F238E27FC236}">
                <a16:creationId xmlns:a16="http://schemas.microsoft.com/office/drawing/2014/main" id="{4DEA0112-E142-4ECA-784F-04FDFB9216CD}"/>
              </a:ext>
            </a:extLst>
          </p:cNvPr>
          <p:cNvSpPr>
            <a:spLocks noGrp="1"/>
          </p:cNvSpPr>
          <p:nvPr>
            <p:ph type="sldNum" sz="quarter" idx="12"/>
          </p:nvPr>
        </p:nvSpPr>
        <p:spPr/>
        <p:txBody>
          <a:bodyPr/>
          <a:lstStyle/>
          <a:p>
            <a:fld id="{C1FF6DA9-008F-8B48-92A6-B652298478BF}" type="slidenum">
              <a:rPr lang="en-US" smtClean="0"/>
              <a:t>38</a:t>
            </a:fld>
            <a:endParaRPr lang="en-US"/>
          </a:p>
        </p:txBody>
      </p:sp>
      <p:sp>
        <p:nvSpPr>
          <p:cNvPr id="2" name="Oval 1">
            <a:extLst>
              <a:ext uri="{FF2B5EF4-FFF2-40B4-BE49-F238E27FC236}">
                <a16:creationId xmlns:a16="http://schemas.microsoft.com/office/drawing/2014/main" id="{F05C7F20-5C14-2219-3C28-5B825A09FD8B}"/>
              </a:ext>
            </a:extLst>
          </p:cNvPr>
          <p:cNvSpPr/>
          <p:nvPr/>
        </p:nvSpPr>
        <p:spPr>
          <a:xfrm>
            <a:off x="3926541" y="1183341"/>
            <a:ext cx="159571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Tree>
    <p:extLst>
      <p:ext uri="{BB962C8B-B14F-4D97-AF65-F5344CB8AC3E}">
        <p14:creationId xmlns:p14="http://schemas.microsoft.com/office/powerpoint/2010/main" val="21014906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416E1-6E2F-25F7-E3BA-5F393B99F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170DB-9BC9-E547-A3FD-4423DA900829}"/>
              </a:ext>
            </a:extLst>
          </p:cNvPr>
          <p:cNvSpPr>
            <a:spLocks noGrp="1"/>
          </p:cNvSpPr>
          <p:nvPr>
            <p:ph type="title"/>
          </p:nvPr>
        </p:nvSpPr>
        <p:spPr>
          <a:xfrm>
            <a:off x="2209800" y="2521578"/>
            <a:ext cx="7772400" cy="1814844"/>
          </a:xfrm>
        </p:spPr>
        <p:txBody>
          <a:bodyPr>
            <a:normAutofit/>
          </a:bodyPr>
          <a:lstStyle/>
          <a:p>
            <a:pPr algn="ctr"/>
            <a:r>
              <a:rPr lang="en-LB" sz="6600" dirty="0"/>
              <a:t>BSS</a:t>
            </a:r>
            <a:br>
              <a:rPr lang="en-LB" sz="6600" dirty="0"/>
            </a:br>
            <a:r>
              <a:rPr lang="en-US" sz="4400" b="0" dirty="0"/>
              <a:t>Business Support System</a:t>
            </a:r>
            <a:endParaRPr lang="en-LB" sz="6600" b="0" dirty="0"/>
          </a:p>
        </p:txBody>
      </p:sp>
      <p:sp>
        <p:nvSpPr>
          <p:cNvPr id="3" name="Slide Number Placeholder 2">
            <a:extLst>
              <a:ext uri="{FF2B5EF4-FFF2-40B4-BE49-F238E27FC236}">
                <a16:creationId xmlns:a16="http://schemas.microsoft.com/office/drawing/2014/main" id="{0466C7A5-2D45-9846-B09E-641581E48BF4}"/>
              </a:ext>
            </a:extLst>
          </p:cNvPr>
          <p:cNvSpPr>
            <a:spLocks noGrp="1"/>
          </p:cNvSpPr>
          <p:nvPr>
            <p:ph type="sldNum" sz="quarter" idx="12"/>
          </p:nvPr>
        </p:nvSpPr>
        <p:spPr/>
        <p:txBody>
          <a:bodyPr/>
          <a:lstStyle/>
          <a:p>
            <a:fld id="{C1FF6DA9-008F-8B48-92A6-B652298478BF}" type="slidenum">
              <a:rPr lang="en-US" smtClean="0"/>
              <a:t>39</a:t>
            </a:fld>
            <a:endParaRPr lang="en-US"/>
          </a:p>
        </p:txBody>
      </p:sp>
    </p:spTree>
    <p:extLst>
      <p:ext uri="{BB962C8B-B14F-4D97-AF65-F5344CB8AC3E}">
        <p14:creationId xmlns:p14="http://schemas.microsoft.com/office/powerpoint/2010/main" val="21084023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A8381-F55A-9C00-21E5-7D72C47E61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91D2A7-AF09-8BAF-1737-09C37A2B88DD}"/>
              </a:ext>
            </a:extLst>
          </p:cNvPr>
          <p:cNvSpPr>
            <a:spLocks noGrp="1"/>
          </p:cNvSpPr>
          <p:nvPr>
            <p:ph idx="1"/>
          </p:nvPr>
        </p:nvSpPr>
        <p:spPr>
          <a:xfrm>
            <a:off x="1524000" y="1000462"/>
            <a:ext cx="9144000" cy="5857538"/>
          </a:xfrm>
        </p:spPr>
        <p:txBody>
          <a:bodyPr>
            <a:normAutofit fontScale="92500"/>
          </a:bodyPr>
          <a:lstStyle/>
          <a:p>
            <a:pPr>
              <a:lnSpc>
                <a:spcPct val="110000"/>
              </a:lnSpc>
              <a:spcBef>
                <a:spcPts val="600"/>
              </a:spcBef>
              <a:spcAft>
                <a:spcPts val="600"/>
              </a:spcAft>
            </a:pPr>
            <a:r>
              <a:rPr lang="en-US" sz="2600" b="1" dirty="0"/>
              <a:t>BSS</a:t>
            </a:r>
          </a:p>
          <a:p>
            <a:pPr lvl="1">
              <a:lnSpc>
                <a:spcPct val="110000"/>
              </a:lnSpc>
              <a:spcBef>
                <a:spcPts val="600"/>
              </a:spcBef>
              <a:spcAft>
                <a:spcPts val="600"/>
              </a:spcAft>
            </a:pPr>
            <a:r>
              <a:rPr lang="en-US" sz="2000" dirty="0">
                <a:latin typeface="+mn-lt"/>
                <a:cs typeface="+mn-cs"/>
              </a:rPr>
              <a:t>Describe the business and/or customer-facing functionality. </a:t>
            </a:r>
          </a:p>
          <a:p>
            <a:pPr>
              <a:lnSpc>
                <a:spcPct val="110000"/>
              </a:lnSpc>
              <a:spcBef>
                <a:spcPts val="600"/>
              </a:spcBef>
              <a:spcAft>
                <a:spcPts val="600"/>
              </a:spcAft>
            </a:pPr>
            <a:r>
              <a:rPr lang="en-US" sz="2600" b="1" dirty="0"/>
              <a:t>Key functions</a:t>
            </a:r>
          </a:p>
          <a:p>
            <a:pPr lvl="1">
              <a:lnSpc>
                <a:spcPct val="110000"/>
              </a:lnSpc>
              <a:spcBef>
                <a:spcPts val="600"/>
              </a:spcBef>
              <a:spcAft>
                <a:spcPts val="600"/>
              </a:spcAft>
            </a:pPr>
            <a:r>
              <a:rPr lang="en-US" sz="2200" b="1" dirty="0"/>
              <a:t>Customer Relationship Management (CRM): </a:t>
            </a:r>
            <a:r>
              <a:rPr lang="en-US" sz="2200" dirty="0"/>
              <a:t>The single view of the customer, managing all interactions, sales history, and contact information.</a:t>
            </a:r>
          </a:p>
          <a:p>
            <a:pPr lvl="1">
              <a:lnSpc>
                <a:spcPct val="110000"/>
              </a:lnSpc>
              <a:spcBef>
                <a:spcPts val="600"/>
              </a:spcBef>
              <a:spcAft>
                <a:spcPts val="600"/>
              </a:spcAft>
            </a:pPr>
            <a:r>
              <a:rPr lang="en-US" sz="2200" b="1" dirty="0"/>
              <a:t>Order Management: </a:t>
            </a:r>
            <a:r>
              <a:rPr lang="en-US" sz="2200" dirty="0"/>
              <a:t>Capturing and managing the customer's order for a new service, upgrade, or change.</a:t>
            </a:r>
          </a:p>
          <a:p>
            <a:pPr lvl="1">
              <a:lnSpc>
                <a:spcPct val="110000"/>
              </a:lnSpc>
              <a:spcBef>
                <a:spcPts val="600"/>
              </a:spcBef>
              <a:spcAft>
                <a:spcPts val="600"/>
              </a:spcAft>
            </a:pPr>
            <a:r>
              <a:rPr lang="en-US" sz="2200" b="1" dirty="0"/>
              <a:t>Billing and Revenue Management</a:t>
            </a:r>
            <a:r>
              <a:rPr lang="en-US" sz="2200" dirty="0"/>
              <a:t>: Generating invoices, processing payments, applying discounts...</a:t>
            </a:r>
          </a:p>
          <a:p>
            <a:pPr lvl="1">
              <a:lnSpc>
                <a:spcPct val="110000"/>
              </a:lnSpc>
              <a:spcBef>
                <a:spcPts val="600"/>
              </a:spcBef>
              <a:spcAft>
                <a:spcPts val="600"/>
              </a:spcAft>
            </a:pPr>
            <a:r>
              <a:rPr lang="en-US" sz="2200" b="1" dirty="0"/>
              <a:t>Product Catalog: </a:t>
            </a:r>
            <a:r>
              <a:rPr lang="en-US" sz="2200" dirty="0"/>
              <a:t>Defining the sellable products and services (e.g., "1 Gbps Internet," "Unlimited Mobile Plan," "Streaming TV Bundle") and their rules.</a:t>
            </a:r>
          </a:p>
          <a:p>
            <a:pPr lvl="1">
              <a:lnSpc>
                <a:spcPct val="110000"/>
              </a:lnSpc>
              <a:spcBef>
                <a:spcPts val="600"/>
              </a:spcBef>
              <a:spcAft>
                <a:spcPts val="600"/>
              </a:spcAft>
            </a:pPr>
            <a:r>
              <a:rPr lang="en-US" sz="2200" b="1" dirty="0"/>
              <a:t>Fulfillment Orchestration: </a:t>
            </a:r>
            <a:r>
              <a:rPr lang="en-US" sz="2200" dirty="0"/>
              <a:t>Taking the customer's order and triggering the correct processes in the OSS to have the service delivered.</a:t>
            </a:r>
          </a:p>
        </p:txBody>
      </p:sp>
      <p:sp>
        <p:nvSpPr>
          <p:cNvPr id="2" name="Slide Number Placeholder 1">
            <a:extLst>
              <a:ext uri="{FF2B5EF4-FFF2-40B4-BE49-F238E27FC236}">
                <a16:creationId xmlns:a16="http://schemas.microsoft.com/office/drawing/2014/main" id="{D7E8BF5A-5ADD-1AEB-DC25-DEA57B05550B}"/>
              </a:ext>
            </a:extLst>
          </p:cNvPr>
          <p:cNvSpPr>
            <a:spLocks noGrp="1"/>
          </p:cNvSpPr>
          <p:nvPr>
            <p:ph type="sldNum" sz="quarter" idx="12"/>
          </p:nvPr>
        </p:nvSpPr>
        <p:spPr/>
        <p:txBody>
          <a:bodyPr/>
          <a:lstStyle/>
          <a:p>
            <a:fld id="{C1FF6DA9-008F-8B48-92A6-B652298478BF}" type="slidenum">
              <a:rPr lang="en-US" smtClean="0"/>
              <a:t>40</a:t>
            </a:fld>
            <a:endParaRPr lang="en-US"/>
          </a:p>
        </p:txBody>
      </p:sp>
      <p:sp>
        <p:nvSpPr>
          <p:cNvPr id="4" name="TextBox 3">
            <a:extLst>
              <a:ext uri="{FF2B5EF4-FFF2-40B4-BE49-F238E27FC236}">
                <a16:creationId xmlns:a16="http://schemas.microsoft.com/office/drawing/2014/main" id="{5F808D13-5865-02E0-FE43-00160868B897}"/>
              </a:ext>
            </a:extLst>
          </p:cNvPr>
          <p:cNvSpPr txBox="1"/>
          <p:nvPr/>
        </p:nvSpPr>
        <p:spPr>
          <a:xfrm>
            <a:off x="1981200" y="174935"/>
            <a:ext cx="8229600" cy="825526"/>
          </a:xfrm>
          <a:prstGeom prst="rect">
            <a:avLst/>
          </a:prstGeom>
        </p:spPr>
        <p:txBody>
          <a:bodyPr vert="horz" lIns="91440" tIns="45720" rIns="91440" bIns="45720" rtlCol="0" anchor="ctr">
            <a:normAutofit/>
          </a:bodyPr>
          <a:lstStyle>
            <a:lvl1pPr algn="ctr">
              <a:spcBef>
                <a:spcPct val="0"/>
              </a:spcBef>
              <a:buNone/>
              <a:defRPr sz="4000">
                <a:latin typeface="+mj-lt"/>
                <a:ea typeface="+mj-ea"/>
                <a:cs typeface="+mj-cs"/>
              </a:defRPr>
            </a:lvl1pPr>
          </a:lstStyle>
          <a:p>
            <a:r>
              <a:rPr lang="en-US" dirty="0"/>
              <a:t>ETSI NFV Architectural Framework</a:t>
            </a:r>
          </a:p>
        </p:txBody>
      </p:sp>
    </p:spTree>
    <p:extLst>
      <p:ext uri="{BB962C8B-B14F-4D97-AF65-F5344CB8AC3E}">
        <p14:creationId xmlns:p14="http://schemas.microsoft.com/office/powerpoint/2010/main" val="11289903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EE9B7-7C74-CBE3-295A-00DD9D53D0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7DC200-6573-7780-13E7-11D1B0CFFE08}"/>
              </a:ext>
            </a:extLst>
          </p:cNvPr>
          <p:cNvSpPr>
            <a:spLocks noGrp="1"/>
          </p:cNvSpPr>
          <p:nvPr>
            <p:ph idx="1"/>
          </p:nvPr>
        </p:nvSpPr>
        <p:spPr>
          <a:xfrm>
            <a:off x="1524000" y="1058337"/>
            <a:ext cx="9144000" cy="5481361"/>
          </a:xfrm>
        </p:spPr>
        <p:txBody>
          <a:bodyPr>
            <a:normAutofit/>
          </a:bodyPr>
          <a:lstStyle/>
          <a:p>
            <a:pPr>
              <a:lnSpc>
                <a:spcPct val="120000"/>
              </a:lnSpc>
              <a:spcBef>
                <a:spcPts val="0"/>
              </a:spcBef>
            </a:pPr>
            <a:r>
              <a:rPr lang="en-US" sz="2600" b="1" dirty="0"/>
              <a:t>BSS example </a:t>
            </a:r>
            <a:r>
              <a:rPr lang="en-US" sz="2200" b="1" dirty="0"/>
              <a:t>(</a:t>
            </a:r>
            <a:r>
              <a:rPr lang="en-US" sz="2200" b="1" dirty="0">
                <a:solidFill>
                  <a:srgbClr val="0F1115"/>
                </a:solidFill>
                <a:latin typeface="quote-cjk-patch"/>
              </a:rPr>
              <a:t>The Same Home Fiber Internet Customer</a:t>
            </a:r>
            <a:r>
              <a:rPr lang="en-US" sz="2200" b="1" dirty="0"/>
              <a:t>)</a:t>
            </a:r>
          </a:p>
          <a:p>
            <a:pPr marL="180000" indent="0" algn="just">
              <a:lnSpc>
                <a:spcPct val="140000"/>
              </a:lnSpc>
              <a:buNone/>
            </a:pPr>
            <a:r>
              <a:rPr lang="en-US" sz="2200" dirty="0">
                <a:solidFill>
                  <a:srgbClr val="0F1115"/>
                </a:solidFill>
                <a:latin typeface="quote-cjk-patch"/>
              </a:rPr>
              <a:t>Let's revisit our customer, "Alex," ordering from "Telecom Giant Inc." We'll now see the crucial role the BSS plays in his journey.</a:t>
            </a:r>
          </a:p>
          <a:p>
            <a:pPr lvl="1">
              <a:lnSpc>
                <a:spcPct val="120000"/>
              </a:lnSpc>
              <a:spcBef>
                <a:spcPts val="1200"/>
              </a:spcBef>
              <a:spcAft>
                <a:spcPts val="600"/>
              </a:spcAft>
            </a:pPr>
            <a:r>
              <a:rPr lang="en-US" sz="2200" b="1" dirty="0"/>
              <a:t>Step 1: </a:t>
            </a:r>
            <a:r>
              <a:rPr lang="en-US" sz="2200" dirty="0"/>
              <a:t>Product Discovery &amp; Shopping Cart (</a:t>
            </a:r>
            <a:r>
              <a:rPr lang="en-US" sz="2200" dirty="0">
                <a:solidFill>
                  <a:schemeClr val="accent5">
                    <a:lumMod val="75000"/>
                  </a:schemeClr>
                </a:solidFill>
              </a:rPr>
              <a:t>BSS Function</a:t>
            </a:r>
            <a:r>
              <a:rPr lang="en-US" sz="2200" dirty="0"/>
              <a:t>)</a:t>
            </a:r>
          </a:p>
          <a:p>
            <a:pPr lvl="1">
              <a:lnSpc>
                <a:spcPct val="120000"/>
              </a:lnSpc>
              <a:spcBef>
                <a:spcPts val="1200"/>
              </a:spcBef>
              <a:spcAft>
                <a:spcPts val="600"/>
              </a:spcAft>
            </a:pPr>
            <a:r>
              <a:rPr lang="en-US" sz="2200" b="1" dirty="0"/>
              <a:t>Step 2: </a:t>
            </a:r>
            <a:r>
              <a:rPr lang="en-US" sz="2200" dirty="0"/>
              <a:t>Customer Creation &amp; Credit Check (</a:t>
            </a:r>
            <a:r>
              <a:rPr lang="en-US" sz="2200" dirty="0">
                <a:solidFill>
                  <a:schemeClr val="accent5">
                    <a:lumMod val="75000"/>
                  </a:schemeClr>
                </a:solidFill>
              </a:rPr>
              <a:t>BSS Function</a:t>
            </a:r>
            <a:r>
              <a:rPr lang="en-US" sz="2200" dirty="0"/>
              <a:t>)</a:t>
            </a:r>
          </a:p>
          <a:p>
            <a:pPr lvl="1">
              <a:lnSpc>
                <a:spcPct val="120000"/>
              </a:lnSpc>
              <a:spcBef>
                <a:spcPts val="1200"/>
              </a:spcBef>
              <a:spcAft>
                <a:spcPts val="600"/>
              </a:spcAft>
            </a:pPr>
            <a:r>
              <a:rPr lang="en-US" sz="2200" b="1" dirty="0"/>
              <a:t>Step 3: </a:t>
            </a:r>
            <a:r>
              <a:rPr lang="en-US" sz="2200" dirty="0"/>
              <a:t>Order Submission &amp; Orchestration (</a:t>
            </a:r>
            <a:r>
              <a:rPr lang="en-US" sz="2200" dirty="0">
                <a:solidFill>
                  <a:schemeClr val="accent5">
                    <a:lumMod val="75000"/>
                  </a:schemeClr>
                </a:solidFill>
              </a:rPr>
              <a:t>BSS &amp; OSS Handshake</a:t>
            </a:r>
            <a:r>
              <a:rPr lang="en-US" sz="2200" dirty="0"/>
              <a:t>)</a:t>
            </a:r>
          </a:p>
          <a:p>
            <a:pPr lvl="1">
              <a:lnSpc>
                <a:spcPct val="120000"/>
              </a:lnSpc>
              <a:spcBef>
                <a:spcPts val="1200"/>
              </a:spcBef>
              <a:spcAft>
                <a:spcPts val="600"/>
              </a:spcAft>
            </a:pPr>
            <a:r>
              <a:rPr lang="en-US" sz="2200" b="1" dirty="0"/>
              <a:t>Step 4: </a:t>
            </a:r>
            <a:r>
              <a:rPr lang="en-US" sz="2200" dirty="0"/>
              <a:t>Billing Cycle Activation (</a:t>
            </a:r>
            <a:r>
              <a:rPr lang="en-US" sz="2200" dirty="0">
                <a:solidFill>
                  <a:schemeClr val="accent5">
                    <a:lumMod val="75000"/>
                  </a:schemeClr>
                </a:solidFill>
              </a:rPr>
              <a:t>BSS Function</a:t>
            </a:r>
            <a:r>
              <a:rPr lang="en-US" sz="2200" dirty="0"/>
              <a:t>)</a:t>
            </a:r>
          </a:p>
          <a:p>
            <a:pPr lvl="1">
              <a:lnSpc>
                <a:spcPct val="120000"/>
              </a:lnSpc>
              <a:spcBef>
                <a:spcPts val="1200"/>
              </a:spcBef>
              <a:spcAft>
                <a:spcPts val="600"/>
              </a:spcAft>
            </a:pPr>
            <a:r>
              <a:rPr lang="en-US" sz="2200" b="1" dirty="0"/>
              <a:t>Step 5: </a:t>
            </a:r>
            <a:r>
              <a:rPr lang="en-US" sz="2200" dirty="0"/>
              <a:t>Invoicing and Payment (</a:t>
            </a:r>
            <a:r>
              <a:rPr lang="en-US" sz="2200" dirty="0">
                <a:solidFill>
                  <a:schemeClr val="accent5">
                    <a:lumMod val="75000"/>
                  </a:schemeClr>
                </a:solidFill>
              </a:rPr>
              <a:t>BSS Function</a:t>
            </a:r>
            <a:r>
              <a:rPr lang="en-US" sz="2200" dirty="0"/>
              <a:t>)</a:t>
            </a:r>
          </a:p>
          <a:p>
            <a:pPr lvl="1">
              <a:lnSpc>
                <a:spcPct val="120000"/>
              </a:lnSpc>
              <a:spcBef>
                <a:spcPts val="1200"/>
              </a:spcBef>
              <a:spcAft>
                <a:spcPts val="600"/>
              </a:spcAft>
            </a:pPr>
            <a:r>
              <a:rPr lang="en-US" sz="2200" b="1" dirty="0"/>
              <a:t>Step 6: </a:t>
            </a:r>
            <a:r>
              <a:rPr lang="en-US" sz="2200" dirty="0"/>
              <a:t>Ongoing Customer Support &amp; Retention (</a:t>
            </a:r>
            <a:r>
              <a:rPr lang="en-US" sz="2200" dirty="0">
                <a:solidFill>
                  <a:schemeClr val="accent5">
                    <a:lumMod val="75000"/>
                  </a:schemeClr>
                </a:solidFill>
              </a:rPr>
              <a:t>BSS Function</a:t>
            </a:r>
            <a:r>
              <a:rPr lang="en-US" sz="2200" dirty="0"/>
              <a:t>)</a:t>
            </a:r>
          </a:p>
        </p:txBody>
      </p:sp>
      <p:sp>
        <p:nvSpPr>
          <p:cNvPr id="2" name="Slide Number Placeholder 1">
            <a:extLst>
              <a:ext uri="{FF2B5EF4-FFF2-40B4-BE49-F238E27FC236}">
                <a16:creationId xmlns:a16="http://schemas.microsoft.com/office/drawing/2014/main" id="{97466218-E72F-5C28-9AEB-48ECB599D1D4}"/>
              </a:ext>
            </a:extLst>
          </p:cNvPr>
          <p:cNvSpPr>
            <a:spLocks noGrp="1"/>
          </p:cNvSpPr>
          <p:nvPr>
            <p:ph type="sldNum" sz="quarter" idx="12"/>
          </p:nvPr>
        </p:nvSpPr>
        <p:spPr/>
        <p:txBody>
          <a:bodyPr/>
          <a:lstStyle/>
          <a:p>
            <a:fld id="{C1FF6DA9-008F-8B48-92A6-B652298478BF}" type="slidenum">
              <a:rPr lang="en-US" smtClean="0"/>
              <a:t>41</a:t>
            </a:fld>
            <a:endParaRPr lang="en-US"/>
          </a:p>
        </p:txBody>
      </p:sp>
      <p:sp>
        <p:nvSpPr>
          <p:cNvPr id="4" name="TextBox 3">
            <a:extLst>
              <a:ext uri="{FF2B5EF4-FFF2-40B4-BE49-F238E27FC236}">
                <a16:creationId xmlns:a16="http://schemas.microsoft.com/office/drawing/2014/main" id="{759FC013-C251-F3CD-22B6-EE5A4209EFAF}"/>
              </a:ext>
            </a:extLst>
          </p:cNvPr>
          <p:cNvSpPr txBox="1"/>
          <p:nvPr/>
        </p:nvSpPr>
        <p:spPr>
          <a:xfrm>
            <a:off x="1981200" y="186352"/>
            <a:ext cx="8229600" cy="825526"/>
          </a:xfrm>
          <a:prstGeom prst="rect">
            <a:avLst/>
          </a:prstGeom>
        </p:spPr>
        <p:txBody>
          <a:bodyPr vert="horz" lIns="91440" tIns="45720" rIns="91440" bIns="45720" rtlCol="0" anchor="ctr">
            <a:normAutofit/>
          </a:bodyPr>
          <a:lstStyle>
            <a:lvl1pPr algn="ctr">
              <a:spcBef>
                <a:spcPct val="0"/>
              </a:spcBef>
              <a:buNone/>
              <a:defRPr sz="4000">
                <a:latin typeface="+mj-lt"/>
                <a:ea typeface="+mj-ea"/>
                <a:cs typeface="+mj-cs"/>
              </a:defRPr>
            </a:lvl1pPr>
          </a:lstStyle>
          <a:p>
            <a:r>
              <a:rPr lang="en-US" dirty="0"/>
              <a:t>ETSI NFV Architectural Framework</a:t>
            </a:r>
          </a:p>
        </p:txBody>
      </p:sp>
    </p:spTree>
    <p:extLst>
      <p:ext uri="{BB962C8B-B14F-4D97-AF65-F5344CB8AC3E}">
        <p14:creationId xmlns:p14="http://schemas.microsoft.com/office/powerpoint/2010/main" val="148040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heckerboard(across)">
                                      <p:cBhvr>
                                        <p:cTn id="7" dur="500"/>
                                        <p:tgtEl>
                                          <p:spTgt spid="3">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checkerboard(across)">
                                      <p:cBhvr>
                                        <p:cTn id="10" dur="500"/>
                                        <p:tgtEl>
                                          <p:spTgt spid="3">
                                            <p:txEl>
                                              <p:pRg st="3" end="3"/>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checkerboard(across)">
                                      <p:cBhvr>
                                        <p:cTn id="13" dur="500"/>
                                        <p:tgtEl>
                                          <p:spTgt spid="3">
                                            <p:txEl>
                                              <p:pRg st="4" end="4"/>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checkerboard(across)">
                                      <p:cBhvr>
                                        <p:cTn id="16" dur="500"/>
                                        <p:tgtEl>
                                          <p:spTgt spid="3">
                                            <p:txEl>
                                              <p:pRg st="5" end="5"/>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checkerboard(across)">
                                      <p:cBhvr>
                                        <p:cTn id="19" dur="500"/>
                                        <p:tgtEl>
                                          <p:spTgt spid="3">
                                            <p:txEl>
                                              <p:pRg st="6" end="6"/>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checkerboard(across)">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A2BE4-6B30-CD30-3CE7-4CF8D748E52D}"/>
            </a:ext>
          </a:extLst>
        </p:cNvPr>
        <p:cNvGrpSpPr/>
        <p:nvPr/>
      </p:nvGrpSpPr>
      <p:grpSpPr>
        <a:xfrm>
          <a:off x="0" y="0"/>
          <a:ext cx="0" cy="0"/>
          <a:chOff x="0" y="0"/>
          <a:chExt cx="0" cy="0"/>
        </a:xfrm>
      </p:grpSpPr>
      <p:pic>
        <p:nvPicPr>
          <p:cNvPr id="1026" name="Picture 2" descr="ETSI NFV architectural framework. | Download Scientific Diagram">
            <a:extLst>
              <a:ext uri="{FF2B5EF4-FFF2-40B4-BE49-F238E27FC236}">
                <a16:creationId xmlns:a16="http://schemas.microsoft.com/office/drawing/2014/main" id="{BFE88069-E38E-1B3C-9EEE-2EDF85B7A19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30830" y="643468"/>
            <a:ext cx="7930341"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9BB5961-8241-EF82-C75D-86F5ABA0749D}"/>
              </a:ext>
            </a:extLst>
          </p:cNvPr>
          <p:cNvSpPr txBox="1"/>
          <p:nvPr/>
        </p:nvSpPr>
        <p:spPr>
          <a:xfrm>
            <a:off x="2900376" y="43283"/>
            <a:ext cx="5726766" cy="556902"/>
          </a:xfrm>
          <a:prstGeom prst="rect">
            <a:avLst/>
          </a:prstGeom>
        </p:spPr>
        <p:txBody>
          <a:bodyPr vert="horz" lIns="91440" tIns="45720" rIns="91440" bIns="45720" rtlCol="0" anchor="ctr">
            <a:normAutofit fontScale="77500" lnSpcReduction="20000"/>
          </a:bodyPr>
          <a:lstStyle>
            <a:lvl1pPr algn="ctr">
              <a:spcBef>
                <a:spcPct val="0"/>
              </a:spcBef>
              <a:buNone/>
              <a:defRPr sz="4000">
                <a:latin typeface="+mj-lt"/>
                <a:ea typeface="+mj-ea"/>
                <a:cs typeface="+mj-cs"/>
              </a:defRPr>
            </a:lvl1pPr>
          </a:lstStyle>
          <a:p>
            <a:r>
              <a:rPr lang="en-US" dirty="0"/>
              <a:t>ETSI NFV Architectural Framework</a:t>
            </a:r>
          </a:p>
        </p:txBody>
      </p:sp>
      <p:sp>
        <p:nvSpPr>
          <p:cNvPr id="6" name="Slide Number Placeholder 5">
            <a:extLst>
              <a:ext uri="{FF2B5EF4-FFF2-40B4-BE49-F238E27FC236}">
                <a16:creationId xmlns:a16="http://schemas.microsoft.com/office/drawing/2014/main" id="{37A996CE-644E-87C2-AD21-21092A90D11C}"/>
              </a:ext>
            </a:extLst>
          </p:cNvPr>
          <p:cNvSpPr>
            <a:spLocks noGrp="1"/>
          </p:cNvSpPr>
          <p:nvPr>
            <p:ph type="sldNum" sz="quarter" idx="12"/>
          </p:nvPr>
        </p:nvSpPr>
        <p:spPr/>
        <p:txBody>
          <a:bodyPr/>
          <a:lstStyle/>
          <a:p>
            <a:fld id="{C1FF6DA9-008F-8B48-92A6-B652298478BF}" type="slidenum">
              <a:rPr lang="en-US" smtClean="0"/>
              <a:t>42</a:t>
            </a:fld>
            <a:endParaRPr lang="en-US"/>
          </a:p>
        </p:txBody>
      </p:sp>
      <p:sp>
        <p:nvSpPr>
          <p:cNvPr id="2" name="Oval 1">
            <a:extLst>
              <a:ext uri="{FF2B5EF4-FFF2-40B4-BE49-F238E27FC236}">
                <a16:creationId xmlns:a16="http://schemas.microsoft.com/office/drawing/2014/main" id="{E2730D21-0A20-C3E1-2196-06282D7415EC}"/>
              </a:ext>
            </a:extLst>
          </p:cNvPr>
          <p:cNvSpPr/>
          <p:nvPr/>
        </p:nvSpPr>
        <p:spPr>
          <a:xfrm>
            <a:off x="2635623" y="2384611"/>
            <a:ext cx="4267200"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Tree>
    <p:extLst>
      <p:ext uri="{BB962C8B-B14F-4D97-AF65-F5344CB8AC3E}">
        <p14:creationId xmlns:p14="http://schemas.microsoft.com/office/powerpoint/2010/main" val="29187032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B5B5C-C82E-FD2A-E98A-170A255F0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B3A75-D396-A165-4887-466EFD103655}"/>
              </a:ext>
            </a:extLst>
          </p:cNvPr>
          <p:cNvSpPr>
            <a:spLocks noGrp="1"/>
          </p:cNvSpPr>
          <p:nvPr>
            <p:ph type="title"/>
          </p:nvPr>
        </p:nvSpPr>
        <p:spPr>
          <a:xfrm>
            <a:off x="2209800" y="2521578"/>
            <a:ext cx="7772400" cy="1814844"/>
          </a:xfrm>
        </p:spPr>
        <p:txBody>
          <a:bodyPr>
            <a:normAutofit fontScale="90000"/>
          </a:bodyPr>
          <a:lstStyle/>
          <a:p>
            <a:pPr algn="ctr"/>
            <a:r>
              <a:rPr lang="en-LB" sz="6600" dirty="0"/>
              <a:t>EMS</a:t>
            </a:r>
            <a:br>
              <a:rPr lang="en-LB" sz="6600" dirty="0"/>
            </a:br>
            <a:r>
              <a:rPr lang="en-US" sz="4400" b="0" dirty="0"/>
              <a:t>Element Management System</a:t>
            </a:r>
            <a:endParaRPr lang="en-LB" sz="4900" b="0" dirty="0"/>
          </a:p>
        </p:txBody>
      </p:sp>
      <p:sp>
        <p:nvSpPr>
          <p:cNvPr id="3" name="Slide Number Placeholder 2">
            <a:extLst>
              <a:ext uri="{FF2B5EF4-FFF2-40B4-BE49-F238E27FC236}">
                <a16:creationId xmlns:a16="http://schemas.microsoft.com/office/drawing/2014/main" id="{785D0753-382D-F6D6-2279-71804078F066}"/>
              </a:ext>
            </a:extLst>
          </p:cNvPr>
          <p:cNvSpPr>
            <a:spLocks noGrp="1"/>
          </p:cNvSpPr>
          <p:nvPr>
            <p:ph type="sldNum" sz="quarter" idx="12"/>
          </p:nvPr>
        </p:nvSpPr>
        <p:spPr/>
        <p:txBody>
          <a:bodyPr/>
          <a:lstStyle/>
          <a:p>
            <a:fld id="{C1FF6DA9-008F-8B48-92A6-B652298478BF}" type="slidenum">
              <a:rPr lang="en-US" smtClean="0"/>
              <a:t>43</a:t>
            </a:fld>
            <a:endParaRPr lang="en-US"/>
          </a:p>
        </p:txBody>
      </p:sp>
    </p:spTree>
    <p:extLst>
      <p:ext uri="{BB962C8B-B14F-4D97-AF65-F5344CB8AC3E}">
        <p14:creationId xmlns:p14="http://schemas.microsoft.com/office/powerpoint/2010/main" val="42023277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205FA-2BAE-16BC-3BC8-6EE9125F6AB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D7B735-A8AD-3847-28FC-F2D86C75FD78}"/>
              </a:ext>
            </a:extLst>
          </p:cNvPr>
          <p:cNvSpPr>
            <a:spLocks noGrp="1"/>
          </p:cNvSpPr>
          <p:nvPr>
            <p:ph idx="1"/>
          </p:nvPr>
        </p:nvSpPr>
        <p:spPr>
          <a:xfrm>
            <a:off x="1524000" y="950496"/>
            <a:ext cx="9144000" cy="5907505"/>
          </a:xfrm>
        </p:spPr>
        <p:txBody>
          <a:bodyPr>
            <a:normAutofit fontScale="25000" lnSpcReduction="20000"/>
          </a:bodyPr>
          <a:lstStyle/>
          <a:p>
            <a:pPr>
              <a:lnSpc>
                <a:spcPct val="120000"/>
              </a:lnSpc>
              <a:spcBef>
                <a:spcPts val="600"/>
              </a:spcBef>
              <a:spcAft>
                <a:spcPts val="600"/>
              </a:spcAft>
            </a:pPr>
            <a:r>
              <a:rPr lang="en-US" sz="7400" b="1" dirty="0"/>
              <a:t>EMS</a:t>
            </a:r>
          </a:p>
          <a:p>
            <a:pPr lvl="1">
              <a:lnSpc>
                <a:spcPct val="120000"/>
              </a:lnSpc>
              <a:spcBef>
                <a:spcPts val="600"/>
              </a:spcBef>
              <a:spcAft>
                <a:spcPts val="600"/>
              </a:spcAft>
            </a:pPr>
            <a:r>
              <a:rPr lang="en-US" sz="6200" dirty="0"/>
              <a:t>Manages specific types of one or more network elements within a telecommunication management network (TMN). </a:t>
            </a:r>
          </a:p>
          <a:p>
            <a:pPr lvl="1">
              <a:lnSpc>
                <a:spcPct val="120000"/>
              </a:lnSpc>
              <a:spcBef>
                <a:spcPts val="600"/>
              </a:spcBef>
              <a:spcAft>
                <a:spcPts val="600"/>
              </a:spcAft>
            </a:pPr>
            <a:r>
              <a:rPr lang="en-US" sz="6200" dirty="0"/>
              <a:t>Manage functions and capabilities. </a:t>
            </a:r>
          </a:p>
          <a:p>
            <a:pPr lvl="1">
              <a:lnSpc>
                <a:spcPct val="120000"/>
              </a:lnSpc>
              <a:spcBef>
                <a:spcPts val="600"/>
              </a:spcBef>
              <a:spcAft>
                <a:spcPts val="600"/>
              </a:spcAft>
            </a:pPr>
            <a:r>
              <a:rPr lang="en-US" sz="6200" dirty="0"/>
              <a:t>Communicates upward to higher-level systems of network management (NMS), in order to manage the traffic between itself and other network elements.</a:t>
            </a:r>
          </a:p>
          <a:p>
            <a:pPr>
              <a:lnSpc>
                <a:spcPct val="120000"/>
              </a:lnSpc>
              <a:spcBef>
                <a:spcPts val="600"/>
              </a:spcBef>
              <a:spcAft>
                <a:spcPts val="600"/>
              </a:spcAft>
            </a:pPr>
            <a:r>
              <a:rPr lang="en-US" sz="7400" b="1" dirty="0"/>
              <a:t>Key functions</a:t>
            </a:r>
          </a:p>
          <a:p>
            <a:pPr lvl="1" algn="just">
              <a:lnSpc>
                <a:spcPct val="120000"/>
              </a:lnSpc>
              <a:spcBef>
                <a:spcPts val="600"/>
              </a:spcBef>
              <a:spcAft>
                <a:spcPts val="600"/>
              </a:spcAft>
            </a:pPr>
            <a:r>
              <a:rPr lang="en-US" sz="6200" b="1" dirty="0"/>
              <a:t>Device-Level Fault Management: </a:t>
            </a:r>
            <a:r>
              <a:rPr lang="en-US" sz="6200" dirty="0"/>
              <a:t>Receiving real-time alarms and events from a specific device (e.g., "Port 5 Failure," "CPU Overload," "Transmitter Laser Fault").</a:t>
            </a:r>
          </a:p>
          <a:p>
            <a:pPr lvl="1" algn="just">
              <a:lnSpc>
                <a:spcPct val="120000"/>
              </a:lnSpc>
              <a:spcBef>
                <a:spcPts val="600"/>
              </a:spcBef>
              <a:spcAft>
                <a:spcPts val="600"/>
              </a:spcAft>
            </a:pPr>
            <a:r>
              <a:rPr lang="en-US" sz="6200" b="1" dirty="0"/>
              <a:t>Device Configuration</a:t>
            </a:r>
            <a:r>
              <a:rPr lang="en-US" sz="6200" dirty="0"/>
              <a:t>: Directly configuring settings on the device (e.g., setting up VLANs, adjusting radio power, provisioning a port speed).</a:t>
            </a:r>
          </a:p>
          <a:p>
            <a:pPr lvl="1" algn="just">
              <a:lnSpc>
                <a:spcPct val="120000"/>
              </a:lnSpc>
              <a:spcBef>
                <a:spcPts val="600"/>
              </a:spcBef>
              <a:spcAft>
                <a:spcPts val="600"/>
              </a:spcAft>
            </a:pPr>
            <a:r>
              <a:rPr lang="en-US" sz="6200" b="1" dirty="0"/>
              <a:t>Performance Monitoring</a:t>
            </a:r>
            <a:r>
              <a:rPr lang="en-US" sz="6200" dirty="0"/>
              <a:t>: Collecting detailed performance metrics from the device (e.g., bytes in/out on an interface, optical power levels, error counts, memory utilization).</a:t>
            </a:r>
          </a:p>
          <a:p>
            <a:pPr lvl="1" algn="just">
              <a:lnSpc>
                <a:spcPct val="120000"/>
              </a:lnSpc>
              <a:spcBef>
                <a:spcPts val="600"/>
              </a:spcBef>
              <a:spcAft>
                <a:spcPts val="600"/>
              </a:spcAft>
            </a:pPr>
            <a:r>
              <a:rPr lang="en-US" sz="6200" b="1" dirty="0"/>
              <a:t>Software/Firmware Management</a:t>
            </a:r>
            <a:r>
              <a:rPr lang="en-US" sz="6200" dirty="0"/>
              <a:t>: Pushing software updates and patches to the devices it manages.</a:t>
            </a:r>
          </a:p>
          <a:p>
            <a:pPr lvl="1" algn="just">
              <a:lnSpc>
                <a:spcPct val="120000"/>
              </a:lnSpc>
              <a:spcBef>
                <a:spcPts val="600"/>
              </a:spcBef>
              <a:spcAft>
                <a:spcPts val="600"/>
              </a:spcAft>
            </a:pPr>
            <a:r>
              <a:rPr lang="en-US" sz="6200" b="1" dirty="0"/>
              <a:t>Log Management</a:t>
            </a:r>
            <a:r>
              <a:rPr lang="en-US" sz="6200" dirty="0"/>
              <a:t>: Collecting and storing logs from the device for audit and debugging purposes.</a:t>
            </a:r>
          </a:p>
        </p:txBody>
      </p:sp>
      <p:sp>
        <p:nvSpPr>
          <p:cNvPr id="2" name="Slide Number Placeholder 1">
            <a:extLst>
              <a:ext uri="{FF2B5EF4-FFF2-40B4-BE49-F238E27FC236}">
                <a16:creationId xmlns:a16="http://schemas.microsoft.com/office/drawing/2014/main" id="{77D9016C-27F6-4627-2465-C978FD0A3332}"/>
              </a:ext>
            </a:extLst>
          </p:cNvPr>
          <p:cNvSpPr>
            <a:spLocks noGrp="1"/>
          </p:cNvSpPr>
          <p:nvPr>
            <p:ph type="sldNum" sz="quarter" idx="12"/>
          </p:nvPr>
        </p:nvSpPr>
        <p:spPr/>
        <p:txBody>
          <a:bodyPr/>
          <a:lstStyle/>
          <a:p>
            <a:fld id="{C1FF6DA9-008F-8B48-92A6-B652298478BF}" type="slidenum">
              <a:rPr lang="en-US" smtClean="0"/>
              <a:t>44</a:t>
            </a:fld>
            <a:endParaRPr lang="en-US"/>
          </a:p>
        </p:txBody>
      </p:sp>
      <p:sp>
        <p:nvSpPr>
          <p:cNvPr id="4" name="TextBox 3">
            <a:extLst>
              <a:ext uri="{FF2B5EF4-FFF2-40B4-BE49-F238E27FC236}">
                <a16:creationId xmlns:a16="http://schemas.microsoft.com/office/drawing/2014/main" id="{CA6BA4F8-700F-1D6E-33CF-4525082B6E5E}"/>
              </a:ext>
            </a:extLst>
          </p:cNvPr>
          <p:cNvSpPr txBox="1"/>
          <p:nvPr/>
        </p:nvSpPr>
        <p:spPr>
          <a:xfrm>
            <a:off x="1981200" y="174935"/>
            <a:ext cx="8229600" cy="619149"/>
          </a:xfrm>
          <a:prstGeom prst="rect">
            <a:avLst/>
          </a:prstGeom>
        </p:spPr>
        <p:txBody>
          <a:bodyPr vert="horz" lIns="91440" tIns="45720" rIns="91440" bIns="45720" rtlCol="0" anchor="ctr">
            <a:normAutofit fontScale="92500" lnSpcReduction="10000"/>
          </a:bodyPr>
          <a:lstStyle>
            <a:lvl1pPr algn="ctr">
              <a:spcBef>
                <a:spcPct val="0"/>
              </a:spcBef>
              <a:buNone/>
              <a:defRPr sz="4000">
                <a:latin typeface="+mj-lt"/>
                <a:ea typeface="+mj-ea"/>
                <a:cs typeface="+mj-cs"/>
              </a:defRPr>
            </a:lvl1pPr>
          </a:lstStyle>
          <a:p>
            <a:r>
              <a:rPr lang="en-US" dirty="0"/>
              <a:t>ETSI NFV Architectural Framework</a:t>
            </a:r>
          </a:p>
        </p:txBody>
      </p:sp>
    </p:spTree>
    <p:extLst>
      <p:ext uri="{BB962C8B-B14F-4D97-AF65-F5344CB8AC3E}">
        <p14:creationId xmlns:p14="http://schemas.microsoft.com/office/powerpoint/2010/main" val="27565479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BD4D2-7AF6-B0CB-3070-6C2D7D17DE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AD8DE6-39C9-F2F1-00F8-D3DBE6C47483}"/>
              </a:ext>
            </a:extLst>
          </p:cNvPr>
          <p:cNvSpPr>
            <a:spLocks noGrp="1"/>
          </p:cNvSpPr>
          <p:nvPr>
            <p:ph idx="1"/>
          </p:nvPr>
        </p:nvSpPr>
        <p:spPr>
          <a:xfrm>
            <a:off x="1524000" y="1000463"/>
            <a:ext cx="9144000" cy="5682603"/>
          </a:xfrm>
        </p:spPr>
        <p:txBody>
          <a:bodyPr>
            <a:normAutofit/>
          </a:bodyPr>
          <a:lstStyle/>
          <a:p>
            <a:pPr>
              <a:lnSpc>
                <a:spcPct val="120000"/>
              </a:lnSpc>
              <a:spcBef>
                <a:spcPts val="0"/>
              </a:spcBef>
            </a:pPr>
            <a:r>
              <a:rPr lang="en-US" sz="2600" b="1" dirty="0"/>
              <a:t>EMS example </a:t>
            </a:r>
            <a:r>
              <a:rPr lang="en-US" sz="2400" b="1" dirty="0"/>
              <a:t>(</a:t>
            </a:r>
            <a:r>
              <a:rPr lang="en-US" sz="2400" b="1" dirty="0">
                <a:solidFill>
                  <a:srgbClr val="0F1115"/>
                </a:solidFill>
                <a:latin typeface="quote-cjk-patch"/>
              </a:rPr>
              <a:t>Troubleshooting a Network Slowdown in a Specific Area)</a:t>
            </a:r>
            <a:endParaRPr lang="en-US" sz="2400" b="1" dirty="0"/>
          </a:p>
          <a:p>
            <a:pPr marL="180000" indent="0" algn="just">
              <a:buNone/>
            </a:pPr>
            <a:r>
              <a:rPr lang="en-US" sz="2000" dirty="0">
                <a:solidFill>
                  <a:srgbClr val="0F1115"/>
                </a:solidFill>
                <a:latin typeface="quote-cjk-patch"/>
              </a:rPr>
              <a:t>Let's return to "Telecom Giant Inc." The NOC (Network Operations Center) gets several calls from businesses in a downtown office building complaining that their internet is slow</a:t>
            </a:r>
            <a:r>
              <a:rPr lang="en-US" sz="2000" dirty="0"/>
              <a:t>.</a:t>
            </a:r>
          </a:p>
          <a:p>
            <a:pPr lvl="1">
              <a:spcBef>
                <a:spcPts val="600"/>
              </a:spcBef>
            </a:pPr>
            <a:r>
              <a:rPr lang="en-US" sz="2000" b="1" dirty="0">
                <a:solidFill>
                  <a:srgbClr val="0F1115"/>
                </a:solidFill>
                <a:latin typeface="quote-cjk-patch"/>
              </a:rPr>
              <a:t>Step 1: </a:t>
            </a:r>
            <a:r>
              <a:rPr lang="en-US" sz="2000" dirty="0">
                <a:solidFill>
                  <a:srgbClr val="0F1115"/>
                </a:solidFill>
                <a:latin typeface="quote-cjk-patch"/>
              </a:rPr>
              <a:t>The OSS Raises the Alert</a:t>
            </a:r>
          </a:p>
          <a:p>
            <a:pPr lvl="1">
              <a:spcBef>
                <a:spcPts val="600"/>
              </a:spcBef>
            </a:pPr>
            <a:r>
              <a:rPr lang="en-US" sz="2000" b="1" dirty="0">
                <a:solidFill>
                  <a:srgbClr val="0F1115"/>
                </a:solidFill>
                <a:latin typeface="quote-cjk-patch"/>
              </a:rPr>
              <a:t>Step 2: </a:t>
            </a:r>
            <a:r>
              <a:rPr lang="en-US" sz="2000" dirty="0">
                <a:solidFill>
                  <a:srgbClr val="0F1115"/>
                </a:solidFill>
                <a:latin typeface="quote-cjk-patch"/>
              </a:rPr>
              <a:t>Drilling Down with the EMS</a:t>
            </a:r>
          </a:p>
          <a:p>
            <a:pPr lvl="1">
              <a:spcBef>
                <a:spcPts val="600"/>
              </a:spcBef>
            </a:pPr>
            <a:r>
              <a:rPr lang="en-US" sz="2000" b="1" dirty="0">
                <a:solidFill>
                  <a:srgbClr val="0F1115"/>
                </a:solidFill>
                <a:latin typeface="quote-cjk-patch"/>
              </a:rPr>
              <a:t>Step 3: </a:t>
            </a:r>
            <a:r>
              <a:rPr lang="en-US" sz="2000" dirty="0">
                <a:solidFill>
                  <a:srgbClr val="0F1115"/>
                </a:solidFill>
                <a:latin typeface="quote-cjk-patch"/>
              </a:rPr>
              <a:t>Identifying the Root Cause (</a:t>
            </a:r>
            <a:r>
              <a:rPr lang="en-US" sz="2000" dirty="0">
                <a:solidFill>
                  <a:schemeClr val="accent5">
                    <a:lumMod val="75000"/>
                  </a:schemeClr>
                </a:solidFill>
                <a:latin typeface="quote-cjk-patch"/>
              </a:rPr>
              <a:t>EMS Function</a:t>
            </a:r>
            <a:r>
              <a:rPr lang="en-US" sz="2000" dirty="0">
                <a:solidFill>
                  <a:srgbClr val="0F1115"/>
                </a:solidFill>
                <a:latin typeface="quote-cjk-patch"/>
              </a:rPr>
              <a:t>)</a:t>
            </a:r>
          </a:p>
          <a:p>
            <a:pPr lvl="2">
              <a:spcBef>
                <a:spcPts val="600"/>
              </a:spcBef>
            </a:pPr>
            <a:r>
              <a:rPr lang="en-US" sz="2000" dirty="0">
                <a:solidFill>
                  <a:srgbClr val="0F1115"/>
                </a:solidFill>
                <a:latin typeface="quote-cjk-patch"/>
              </a:rPr>
              <a:t>Performance Data, Fault Data, and Configuration Data</a:t>
            </a:r>
          </a:p>
          <a:p>
            <a:pPr lvl="1">
              <a:spcBef>
                <a:spcPts val="600"/>
              </a:spcBef>
              <a:spcAft>
                <a:spcPts val="600"/>
              </a:spcAft>
            </a:pPr>
            <a:r>
              <a:rPr lang="en-US" sz="2000" b="1" dirty="0">
                <a:solidFill>
                  <a:srgbClr val="0F1115"/>
                </a:solidFill>
                <a:latin typeface="quote-cjk-patch"/>
              </a:rPr>
              <a:t>Step 4: </a:t>
            </a:r>
            <a:r>
              <a:rPr lang="en-US" sz="2000" dirty="0">
                <a:solidFill>
                  <a:srgbClr val="0F1115"/>
                </a:solidFill>
                <a:latin typeface="quote-cjk-patch"/>
              </a:rPr>
              <a:t>Taking Action via the EMS</a:t>
            </a:r>
          </a:p>
          <a:p>
            <a:pPr lvl="2">
              <a:spcBef>
                <a:spcPts val="600"/>
              </a:spcBef>
              <a:spcAft>
                <a:spcPts val="600"/>
              </a:spcAft>
            </a:pPr>
            <a:r>
              <a:rPr lang="en-US" sz="2000" dirty="0">
                <a:solidFill>
                  <a:srgbClr val="0F1115"/>
                </a:solidFill>
                <a:latin typeface="quote-cjk-patch"/>
              </a:rPr>
              <a:t>Apply temporary Quality of Service (QoS) policy</a:t>
            </a:r>
          </a:p>
          <a:p>
            <a:pPr lvl="1">
              <a:spcBef>
                <a:spcPts val="600"/>
              </a:spcBef>
              <a:spcAft>
                <a:spcPts val="600"/>
              </a:spcAft>
            </a:pPr>
            <a:r>
              <a:rPr lang="en-US" sz="2000" b="1" dirty="0">
                <a:solidFill>
                  <a:srgbClr val="0F1115"/>
                </a:solidFill>
                <a:latin typeface="quote-cjk-patch"/>
              </a:rPr>
              <a:t>Step 5: </a:t>
            </a:r>
            <a:r>
              <a:rPr lang="en-US" sz="2000" dirty="0">
                <a:solidFill>
                  <a:srgbClr val="0F1115"/>
                </a:solidFill>
                <a:latin typeface="quote-cjk-patch"/>
              </a:rPr>
              <a:t>Proactive Maintenance with the EMS</a:t>
            </a:r>
          </a:p>
          <a:p>
            <a:pPr lvl="2">
              <a:spcBef>
                <a:spcPts val="600"/>
              </a:spcBef>
              <a:spcAft>
                <a:spcPts val="600"/>
              </a:spcAft>
            </a:pPr>
            <a:r>
              <a:rPr lang="en-US" sz="2000" dirty="0">
                <a:solidFill>
                  <a:srgbClr val="0F1115"/>
                </a:solidFill>
                <a:latin typeface="quote-cjk-patch"/>
              </a:rPr>
              <a:t>Inventory, Software Upgrade, and Configuration Backup.</a:t>
            </a:r>
          </a:p>
        </p:txBody>
      </p:sp>
      <p:sp>
        <p:nvSpPr>
          <p:cNvPr id="2" name="Slide Number Placeholder 1">
            <a:extLst>
              <a:ext uri="{FF2B5EF4-FFF2-40B4-BE49-F238E27FC236}">
                <a16:creationId xmlns:a16="http://schemas.microsoft.com/office/drawing/2014/main" id="{8500D6AE-5750-658B-D41C-35F3B13AF36F}"/>
              </a:ext>
            </a:extLst>
          </p:cNvPr>
          <p:cNvSpPr>
            <a:spLocks noGrp="1"/>
          </p:cNvSpPr>
          <p:nvPr>
            <p:ph type="sldNum" sz="quarter" idx="12"/>
          </p:nvPr>
        </p:nvSpPr>
        <p:spPr/>
        <p:txBody>
          <a:bodyPr/>
          <a:lstStyle/>
          <a:p>
            <a:fld id="{C1FF6DA9-008F-8B48-92A6-B652298478BF}" type="slidenum">
              <a:rPr lang="en-US" smtClean="0"/>
              <a:t>45</a:t>
            </a:fld>
            <a:endParaRPr lang="en-US"/>
          </a:p>
        </p:txBody>
      </p:sp>
      <p:sp>
        <p:nvSpPr>
          <p:cNvPr id="4" name="TextBox 3">
            <a:extLst>
              <a:ext uri="{FF2B5EF4-FFF2-40B4-BE49-F238E27FC236}">
                <a16:creationId xmlns:a16="http://schemas.microsoft.com/office/drawing/2014/main" id="{AC42C912-D6D0-715F-962A-D2CAB182B61F}"/>
              </a:ext>
            </a:extLst>
          </p:cNvPr>
          <p:cNvSpPr txBox="1"/>
          <p:nvPr/>
        </p:nvSpPr>
        <p:spPr>
          <a:xfrm>
            <a:off x="1981200" y="174935"/>
            <a:ext cx="8229600" cy="825526"/>
          </a:xfrm>
          <a:prstGeom prst="rect">
            <a:avLst/>
          </a:prstGeom>
        </p:spPr>
        <p:txBody>
          <a:bodyPr vert="horz" lIns="91440" tIns="45720" rIns="91440" bIns="45720" rtlCol="0" anchor="ctr">
            <a:normAutofit/>
          </a:bodyPr>
          <a:lstStyle>
            <a:lvl1pPr algn="ctr">
              <a:spcBef>
                <a:spcPct val="0"/>
              </a:spcBef>
              <a:buNone/>
              <a:defRPr sz="4000">
                <a:latin typeface="+mj-lt"/>
                <a:ea typeface="+mj-ea"/>
                <a:cs typeface="+mj-cs"/>
              </a:defRPr>
            </a:lvl1pPr>
          </a:lstStyle>
          <a:p>
            <a:r>
              <a:rPr lang="en-US" dirty="0"/>
              <a:t>ETSI NFV Architectural Framework</a:t>
            </a:r>
          </a:p>
        </p:txBody>
      </p:sp>
    </p:spTree>
    <p:extLst>
      <p:ext uri="{BB962C8B-B14F-4D97-AF65-F5344CB8AC3E}">
        <p14:creationId xmlns:p14="http://schemas.microsoft.com/office/powerpoint/2010/main" val="2992215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heckerboard(across)">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checkerboard(across)">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heckerboard(across)">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checkerboard(across)">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checkerboard(across)">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checkerboard(across)">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checkerboard(across)">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checkerboard(across)">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8E451-404F-39DE-7B06-B652E918F2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752A8-BC40-1B46-D611-87167443EBF7}"/>
              </a:ext>
            </a:extLst>
          </p:cNvPr>
          <p:cNvSpPr>
            <a:spLocks noGrp="1"/>
          </p:cNvSpPr>
          <p:nvPr>
            <p:ph idx="1"/>
          </p:nvPr>
        </p:nvSpPr>
        <p:spPr>
          <a:xfrm>
            <a:off x="1981200" y="1807030"/>
            <a:ext cx="8229600" cy="4876035"/>
          </a:xfrm>
        </p:spPr>
        <p:txBody>
          <a:bodyPr>
            <a:normAutofit/>
          </a:bodyPr>
          <a:lstStyle/>
          <a:p>
            <a:pPr marL="0" indent="0" algn="just">
              <a:spcBef>
                <a:spcPts val="1200"/>
              </a:spcBef>
              <a:spcAft>
                <a:spcPts val="600"/>
              </a:spcAft>
              <a:buNone/>
            </a:pPr>
            <a:r>
              <a:rPr lang="en-US" b="0" i="0" u="none" strike="noStrike" dirty="0">
                <a:solidFill>
                  <a:srgbClr val="0F1115"/>
                </a:solidFill>
                <a:effectLst/>
                <a:latin typeface="quote-cjk-patch"/>
              </a:rPr>
              <a:t>Think of it in terms of hierarchy:</a:t>
            </a:r>
          </a:p>
          <a:p>
            <a:pPr algn="just">
              <a:spcBef>
                <a:spcPts val="1200"/>
              </a:spcBef>
              <a:spcAft>
                <a:spcPts val="600"/>
              </a:spcAft>
              <a:buFont typeface="Arial" panose="020B0604020202020204" pitchFamily="34" charset="0"/>
              <a:buChar char="•"/>
            </a:pPr>
            <a:r>
              <a:rPr lang="en-US" sz="2800" b="1" dirty="0">
                <a:solidFill>
                  <a:srgbClr val="0F1115"/>
                </a:solidFill>
                <a:latin typeface="quote-cjk-patch"/>
              </a:rPr>
              <a:t>BSS</a:t>
            </a:r>
            <a:r>
              <a:rPr lang="en-US" sz="2800" dirty="0">
                <a:solidFill>
                  <a:srgbClr val="0F1115"/>
                </a:solidFill>
                <a:latin typeface="quote-cjk-patch"/>
              </a:rPr>
              <a:t> manages the </a:t>
            </a:r>
            <a:r>
              <a:rPr lang="en-US" sz="2800" i="1" dirty="0">
                <a:solidFill>
                  <a:srgbClr val="0F1115"/>
                </a:solidFill>
                <a:latin typeface="quote-cjk-patch"/>
              </a:rPr>
              <a:t>customer and the business</a:t>
            </a:r>
            <a:r>
              <a:rPr lang="en-US" sz="2800" dirty="0">
                <a:solidFill>
                  <a:srgbClr val="0F1115"/>
                </a:solidFill>
                <a:latin typeface="quote-cjk-patch"/>
              </a:rPr>
              <a:t>.</a:t>
            </a:r>
          </a:p>
          <a:p>
            <a:pPr algn="just">
              <a:spcBef>
                <a:spcPts val="1200"/>
              </a:spcBef>
              <a:spcAft>
                <a:spcPts val="600"/>
              </a:spcAft>
              <a:buFont typeface="Arial" panose="020B0604020202020204" pitchFamily="34" charset="0"/>
              <a:buChar char="•"/>
            </a:pPr>
            <a:r>
              <a:rPr lang="en-US" sz="2800" b="1" dirty="0">
                <a:solidFill>
                  <a:srgbClr val="0F1115"/>
                </a:solidFill>
                <a:latin typeface="quote-cjk-patch"/>
              </a:rPr>
              <a:t>OSS</a:t>
            </a:r>
            <a:r>
              <a:rPr lang="en-US" sz="2800" dirty="0">
                <a:solidFill>
                  <a:srgbClr val="0F1115"/>
                </a:solidFill>
                <a:latin typeface="quote-cjk-patch"/>
              </a:rPr>
              <a:t> manages the </a:t>
            </a:r>
            <a:r>
              <a:rPr lang="en-US" sz="2800" i="1" dirty="0">
                <a:solidFill>
                  <a:srgbClr val="0F1115"/>
                </a:solidFill>
                <a:latin typeface="quote-cjk-patch"/>
              </a:rPr>
              <a:t>end-to-end services and network-wide operations</a:t>
            </a:r>
            <a:r>
              <a:rPr lang="en-US" sz="2800" dirty="0">
                <a:solidFill>
                  <a:srgbClr val="0F1115"/>
                </a:solidFill>
                <a:latin typeface="quote-cjk-patch"/>
              </a:rPr>
              <a:t>.</a:t>
            </a:r>
          </a:p>
          <a:p>
            <a:pPr algn="just">
              <a:spcBef>
                <a:spcPts val="1200"/>
              </a:spcBef>
              <a:spcAft>
                <a:spcPts val="600"/>
              </a:spcAft>
              <a:buFont typeface="Arial" panose="020B0604020202020204" pitchFamily="34" charset="0"/>
              <a:buChar char="•"/>
            </a:pPr>
            <a:r>
              <a:rPr lang="en-US" sz="2800" b="1" dirty="0">
                <a:solidFill>
                  <a:srgbClr val="0F1115"/>
                </a:solidFill>
                <a:latin typeface="quote-cjk-patch"/>
              </a:rPr>
              <a:t>EMS</a:t>
            </a:r>
            <a:r>
              <a:rPr lang="en-US" sz="2800" dirty="0">
                <a:solidFill>
                  <a:srgbClr val="0F1115"/>
                </a:solidFill>
                <a:latin typeface="quote-cjk-patch"/>
              </a:rPr>
              <a:t> manages </a:t>
            </a:r>
            <a:r>
              <a:rPr lang="en-US" sz="2800" i="1" dirty="0">
                <a:solidFill>
                  <a:srgbClr val="0F1115"/>
                </a:solidFill>
                <a:latin typeface="quote-cjk-patch"/>
              </a:rPr>
              <a:t>individual devices or a group of similar devices</a:t>
            </a:r>
            <a:r>
              <a:rPr lang="en-US" sz="2800" dirty="0">
                <a:solidFill>
                  <a:srgbClr val="0F1115"/>
                </a:solidFill>
                <a:latin typeface="quote-cjk-patch"/>
              </a:rPr>
              <a:t>.</a:t>
            </a:r>
          </a:p>
        </p:txBody>
      </p:sp>
      <p:sp>
        <p:nvSpPr>
          <p:cNvPr id="2" name="Slide Number Placeholder 1">
            <a:extLst>
              <a:ext uri="{FF2B5EF4-FFF2-40B4-BE49-F238E27FC236}">
                <a16:creationId xmlns:a16="http://schemas.microsoft.com/office/drawing/2014/main" id="{787B3344-CEA0-679C-8D48-7CF998723A46}"/>
              </a:ext>
            </a:extLst>
          </p:cNvPr>
          <p:cNvSpPr>
            <a:spLocks noGrp="1"/>
          </p:cNvSpPr>
          <p:nvPr>
            <p:ph type="sldNum" sz="quarter" idx="12"/>
          </p:nvPr>
        </p:nvSpPr>
        <p:spPr/>
        <p:txBody>
          <a:bodyPr/>
          <a:lstStyle/>
          <a:p>
            <a:fld id="{C1FF6DA9-008F-8B48-92A6-B652298478BF}" type="slidenum">
              <a:rPr lang="en-US" smtClean="0"/>
              <a:t>46</a:t>
            </a:fld>
            <a:endParaRPr lang="en-US"/>
          </a:p>
        </p:txBody>
      </p:sp>
      <p:sp>
        <p:nvSpPr>
          <p:cNvPr id="4" name="TextBox 3">
            <a:extLst>
              <a:ext uri="{FF2B5EF4-FFF2-40B4-BE49-F238E27FC236}">
                <a16:creationId xmlns:a16="http://schemas.microsoft.com/office/drawing/2014/main" id="{3D0BF686-B21B-0623-9F40-85B2BF35082B}"/>
              </a:ext>
            </a:extLst>
          </p:cNvPr>
          <p:cNvSpPr txBox="1"/>
          <p:nvPr/>
        </p:nvSpPr>
        <p:spPr>
          <a:xfrm>
            <a:off x="1981200" y="174935"/>
            <a:ext cx="8229600" cy="825526"/>
          </a:xfrm>
          <a:prstGeom prst="rect">
            <a:avLst/>
          </a:prstGeom>
        </p:spPr>
        <p:txBody>
          <a:bodyPr vert="horz" lIns="91440" tIns="45720" rIns="91440" bIns="45720" rtlCol="0" anchor="ctr">
            <a:normAutofit/>
          </a:bodyPr>
          <a:lstStyle>
            <a:lvl1pPr algn="ctr">
              <a:spcBef>
                <a:spcPct val="0"/>
              </a:spcBef>
              <a:buNone/>
              <a:defRPr sz="4000">
                <a:latin typeface="+mj-lt"/>
                <a:ea typeface="+mj-ea"/>
                <a:cs typeface="+mj-cs"/>
              </a:defRPr>
            </a:lvl1pPr>
          </a:lstStyle>
          <a:p>
            <a:r>
              <a:rPr lang="en-US" dirty="0"/>
              <a:t>ETSI NFV Architectural Framework</a:t>
            </a:r>
          </a:p>
        </p:txBody>
      </p:sp>
    </p:spTree>
    <p:extLst>
      <p:ext uri="{BB962C8B-B14F-4D97-AF65-F5344CB8AC3E}">
        <p14:creationId xmlns:p14="http://schemas.microsoft.com/office/powerpoint/2010/main" val="351071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45696-3A39-3320-2390-1E9A813AFE8F}"/>
            </a:ext>
          </a:extLst>
        </p:cNvPr>
        <p:cNvGrpSpPr/>
        <p:nvPr/>
      </p:nvGrpSpPr>
      <p:grpSpPr>
        <a:xfrm>
          <a:off x="0" y="0"/>
          <a:ext cx="0" cy="0"/>
          <a:chOff x="0" y="0"/>
          <a:chExt cx="0" cy="0"/>
        </a:xfrm>
      </p:grpSpPr>
      <p:pic>
        <p:nvPicPr>
          <p:cNvPr id="1026" name="Picture 2" descr="ETSI NFV architectural framework. | Download Scientific Diagram">
            <a:extLst>
              <a:ext uri="{FF2B5EF4-FFF2-40B4-BE49-F238E27FC236}">
                <a16:creationId xmlns:a16="http://schemas.microsoft.com/office/drawing/2014/main" id="{0C99C3D7-5D02-9D64-4206-55567E2359C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30830" y="643468"/>
            <a:ext cx="7930341"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FE9E806-A2F8-3E10-935E-29A0D7940C8B}"/>
              </a:ext>
            </a:extLst>
          </p:cNvPr>
          <p:cNvSpPr txBox="1"/>
          <p:nvPr/>
        </p:nvSpPr>
        <p:spPr>
          <a:xfrm>
            <a:off x="1609460" y="43283"/>
            <a:ext cx="6467741" cy="1140058"/>
          </a:xfrm>
          <a:prstGeom prst="rect">
            <a:avLst/>
          </a:prstGeom>
        </p:spPr>
        <p:txBody>
          <a:bodyPr vert="horz" lIns="91440" tIns="45720" rIns="91440" bIns="45720" rtlCol="0" anchor="ctr">
            <a:normAutofit/>
          </a:bodyPr>
          <a:lstStyle>
            <a:lvl1pPr algn="ctr">
              <a:spcBef>
                <a:spcPct val="0"/>
              </a:spcBef>
              <a:buNone/>
              <a:defRPr sz="4000">
                <a:latin typeface="+mj-lt"/>
                <a:ea typeface="+mj-ea"/>
                <a:cs typeface="+mj-cs"/>
              </a:defRPr>
            </a:lvl1pPr>
          </a:lstStyle>
          <a:p>
            <a:pPr algn="l"/>
            <a:r>
              <a:rPr lang="en-US" sz="2400" b="1" dirty="0">
                <a:solidFill>
                  <a:srgbClr val="0F1115"/>
                </a:solidFill>
              </a:rPr>
              <a:t>Standardized interfaces between the functional blocks in the ETSI NFV framework</a:t>
            </a:r>
            <a:endParaRPr lang="en-US" sz="2400" b="1" dirty="0"/>
          </a:p>
        </p:txBody>
      </p:sp>
      <p:sp>
        <p:nvSpPr>
          <p:cNvPr id="6" name="Slide Number Placeholder 5">
            <a:extLst>
              <a:ext uri="{FF2B5EF4-FFF2-40B4-BE49-F238E27FC236}">
                <a16:creationId xmlns:a16="http://schemas.microsoft.com/office/drawing/2014/main" id="{C3ACFFEC-2A18-7BF7-4504-5BC653367827}"/>
              </a:ext>
            </a:extLst>
          </p:cNvPr>
          <p:cNvSpPr>
            <a:spLocks noGrp="1"/>
          </p:cNvSpPr>
          <p:nvPr>
            <p:ph type="sldNum" sz="quarter" idx="12"/>
          </p:nvPr>
        </p:nvSpPr>
        <p:spPr/>
        <p:txBody>
          <a:bodyPr/>
          <a:lstStyle/>
          <a:p>
            <a:fld id="{C1FF6DA9-008F-8B48-92A6-B652298478BF}" type="slidenum">
              <a:rPr lang="en-US" smtClean="0"/>
              <a:t>47</a:t>
            </a:fld>
            <a:endParaRPr lang="en-US"/>
          </a:p>
        </p:txBody>
      </p:sp>
      <p:sp>
        <p:nvSpPr>
          <p:cNvPr id="2" name="Oval 1">
            <a:extLst>
              <a:ext uri="{FF2B5EF4-FFF2-40B4-BE49-F238E27FC236}">
                <a16:creationId xmlns:a16="http://schemas.microsoft.com/office/drawing/2014/main" id="{0D7D694B-9033-8252-1FDA-27C947A9A063}"/>
              </a:ext>
            </a:extLst>
          </p:cNvPr>
          <p:cNvSpPr/>
          <p:nvPr/>
        </p:nvSpPr>
        <p:spPr>
          <a:xfrm>
            <a:off x="6861097" y="1021976"/>
            <a:ext cx="95025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
        <p:nvSpPr>
          <p:cNvPr id="3" name="Oval 2">
            <a:extLst>
              <a:ext uri="{FF2B5EF4-FFF2-40B4-BE49-F238E27FC236}">
                <a16:creationId xmlns:a16="http://schemas.microsoft.com/office/drawing/2014/main" id="{7B342E2F-523E-3D34-4041-7BE0D9E7E75E}"/>
              </a:ext>
            </a:extLst>
          </p:cNvPr>
          <p:cNvSpPr/>
          <p:nvPr/>
        </p:nvSpPr>
        <p:spPr>
          <a:xfrm>
            <a:off x="6900053" y="2703854"/>
            <a:ext cx="95025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
        <p:nvSpPr>
          <p:cNvPr id="4" name="Oval 3">
            <a:extLst>
              <a:ext uri="{FF2B5EF4-FFF2-40B4-BE49-F238E27FC236}">
                <a16:creationId xmlns:a16="http://schemas.microsoft.com/office/drawing/2014/main" id="{9C6A64A8-DC48-249E-FB16-1FED2C4A2AEA}"/>
              </a:ext>
            </a:extLst>
          </p:cNvPr>
          <p:cNvSpPr/>
          <p:nvPr/>
        </p:nvSpPr>
        <p:spPr>
          <a:xfrm>
            <a:off x="6861097" y="4385732"/>
            <a:ext cx="95025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
        <p:nvSpPr>
          <p:cNvPr id="7" name="Oval 6">
            <a:extLst>
              <a:ext uri="{FF2B5EF4-FFF2-40B4-BE49-F238E27FC236}">
                <a16:creationId xmlns:a16="http://schemas.microsoft.com/office/drawing/2014/main" id="{6FC85BF6-EBFA-F410-AD3A-B1606BAB68BA}"/>
              </a:ext>
            </a:extLst>
          </p:cNvPr>
          <p:cNvSpPr/>
          <p:nvPr/>
        </p:nvSpPr>
        <p:spPr>
          <a:xfrm>
            <a:off x="7811355" y="1962748"/>
            <a:ext cx="95025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
        <p:nvSpPr>
          <p:cNvPr id="8" name="Oval 7">
            <a:extLst>
              <a:ext uri="{FF2B5EF4-FFF2-40B4-BE49-F238E27FC236}">
                <a16:creationId xmlns:a16="http://schemas.microsoft.com/office/drawing/2014/main" id="{7C35E28D-2609-EFC1-559E-ABBBFA52EF55}"/>
              </a:ext>
            </a:extLst>
          </p:cNvPr>
          <p:cNvSpPr/>
          <p:nvPr/>
        </p:nvSpPr>
        <p:spPr>
          <a:xfrm>
            <a:off x="7791877" y="3523653"/>
            <a:ext cx="95025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
        <p:nvSpPr>
          <p:cNvPr id="9" name="Oval 8">
            <a:extLst>
              <a:ext uri="{FF2B5EF4-FFF2-40B4-BE49-F238E27FC236}">
                <a16:creationId xmlns:a16="http://schemas.microsoft.com/office/drawing/2014/main" id="{DF414E36-31F8-4961-B5A1-07F1998D6356}"/>
              </a:ext>
            </a:extLst>
          </p:cNvPr>
          <p:cNvSpPr/>
          <p:nvPr/>
        </p:nvSpPr>
        <p:spPr>
          <a:xfrm>
            <a:off x="9081695" y="3536628"/>
            <a:ext cx="950258" cy="91440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B"/>
          </a:p>
        </p:txBody>
      </p:sp>
    </p:spTree>
    <p:extLst>
      <p:ext uri="{BB962C8B-B14F-4D97-AF65-F5344CB8AC3E}">
        <p14:creationId xmlns:p14="http://schemas.microsoft.com/office/powerpoint/2010/main" val="163450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1A17B-D32A-02DB-6A71-0A9A2BC7B1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F08A8D5-6D67-5A14-1A8B-0892D755FDE9}"/>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B6AF9FE7-249C-EA62-7251-1D20C650F4E6}"/>
              </a:ext>
            </a:extLst>
          </p:cNvPr>
          <p:cNvSpPr>
            <a:spLocks noGrp="1"/>
          </p:cNvSpPr>
          <p:nvPr>
            <p:ph type="sldNum" sz="quarter" idx="12"/>
          </p:nvPr>
        </p:nvSpPr>
        <p:spPr/>
        <p:txBody>
          <a:bodyPr/>
          <a:lstStyle/>
          <a:p>
            <a:fld id="{B6F15528-21DE-4FAA-801E-634DDDAF4B2B}" type="slidenum">
              <a:rPr lang="en-US" smtClean="0"/>
              <a:t>48</a:t>
            </a:fld>
            <a:endParaRPr lang="en-US" dirty="0"/>
          </a:p>
        </p:txBody>
      </p:sp>
      <p:sp>
        <p:nvSpPr>
          <p:cNvPr id="3" name="object 3">
            <a:extLst>
              <a:ext uri="{FF2B5EF4-FFF2-40B4-BE49-F238E27FC236}">
                <a16:creationId xmlns:a16="http://schemas.microsoft.com/office/drawing/2014/main" id="{F4BC32D1-0A6A-FB29-EAFF-A48042EBA396}"/>
              </a:ext>
            </a:extLst>
          </p:cNvPr>
          <p:cNvSpPr txBox="1"/>
          <p:nvPr/>
        </p:nvSpPr>
        <p:spPr>
          <a:xfrm>
            <a:off x="1688939" y="901384"/>
            <a:ext cx="8657864" cy="412934"/>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sz="2600" spc="-5" dirty="0">
                <a:latin typeface="Times New Roman"/>
                <a:cs typeface="Times New Roman"/>
              </a:rPr>
              <a:t>Orchestrator </a:t>
            </a:r>
            <a:r>
              <a:rPr sz="2600" dirty="0">
                <a:latin typeface="Times New Roman"/>
                <a:cs typeface="Times New Roman"/>
              </a:rPr>
              <a:t>– </a:t>
            </a:r>
            <a:r>
              <a:rPr sz="2600" spc="-5" dirty="0">
                <a:latin typeface="Times New Roman"/>
                <a:cs typeface="Times New Roman"/>
              </a:rPr>
              <a:t>VNF Manager (</a:t>
            </a:r>
            <a:r>
              <a:rPr sz="2600" b="1" spc="-5" dirty="0">
                <a:latin typeface="Times New Roman"/>
                <a:cs typeface="Times New Roman"/>
              </a:rPr>
              <a:t>Or-</a:t>
            </a:r>
            <a:r>
              <a:rPr sz="2600" b="1" spc="-5" dirty="0" err="1">
                <a:latin typeface="Times New Roman"/>
                <a:cs typeface="Times New Roman"/>
              </a:rPr>
              <a:t>Vnfm</a:t>
            </a:r>
            <a:r>
              <a:rPr lang="en-US" sz="2600" spc="-5" dirty="0">
                <a:latin typeface="Times New Roman"/>
                <a:cs typeface="Times New Roman"/>
              </a:rPr>
              <a:t>)</a:t>
            </a:r>
            <a:endParaRPr sz="2600" dirty="0">
              <a:latin typeface="Times New Roman"/>
              <a:cs typeface="Times New Roman"/>
            </a:endParaRPr>
          </a:p>
        </p:txBody>
      </p:sp>
      <p:sp>
        <p:nvSpPr>
          <p:cNvPr id="6" name="TextBox 5">
            <a:extLst>
              <a:ext uri="{FF2B5EF4-FFF2-40B4-BE49-F238E27FC236}">
                <a16:creationId xmlns:a16="http://schemas.microsoft.com/office/drawing/2014/main" id="{15B007DB-A4E5-BEB8-336A-2D0A3A2DA8C5}"/>
              </a:ext>
            </a:extLst>
          </p:cNvPr>
          <p:cNvSpPr txBox="1"/>
          <p:nvPr/>
        </p:nvSpPr>
        <p:spPr>
          <a:xfrm>
            <a:off x="1688940" y="1493341"/>
            <a:ext cx="8793865" cy="4862870"/>
          </a:xfrm>
          <a:prstGeom prst="rect">
            <a:avLst/>
          </a:prstGeom>
          <a:noFill/>
        </p:spPr>
        <p:txBody>
          <a:bodyPr wrap="square">
            <a:spAutoFit/>
          </a:bodyPr>
          <a:lstStyle/>
          <a:p>
            <a:pPr>
              <a:spcBef>
                <a:spcPts val="600"/>
              </a:spcBef>
              <a:spcAft>
                <a:spcPts val="600"/>
              </a:spcAft>
            </a:pPr>
            <a:r>
              <a:rPr lang="en-US" sz="2400" b="1" dirty="0">
                <a:solidFill>
                  <a:srgbClr val="0F1115"/>
                </a:solidFill>
                <a:latin typeface="quote-cjk-patch"/>
              </a:rPr>
              <a:t>Main Functionalities:</a:t>
            </a:r>
            <a:endParaRPr lang="en-US" sz="2400" dirty="0">
              <a:solidFill>
                <a:srgbClr val="0F1115"/>
              </a:solidFill>
              <a:latin typeface="quote-cjk-patch"/>
            </a:endParaRPr>
          </a:p>
          <a:p>
            <a:pPr marL="342900" indent="-342900">
              <a:spcBef>
                <a:spcPts val="600"/>
              </a:spcBef>
              <a:spcAft>
                <a:spcPts val="600"/>
              </a:spcAft>
              <a:buFont typeface="Arial" panose="020B0604020202020204" pitchFamily="34" charset="0"/>
              <a:buChar char="•"/>
            </a:pPr>
            <a:r>
              <a:rPr lang="en-US" sz="2200" b="1" dirty="0">
                <a:solidFill>
                  <a:srgbClr val="0F1115"/>
                </a:solidFill>
                <a:latin typeface="quote-cjk-patch"/>
              </a:rPr>
              <a:t>VNF Instantiation Request:</a:t>
            </a:r>
            <a:r>
              <a:rPr lang="en-US" sz="2200" dirty="0">
                <a:solidFill>
                  <a:srgbClr val="0F1115"/>
                </a:solidFill>
                <a:latin typeface="quote-cjk-patch"/>
              </a:rPr>
              <a:t> The NFVO instructs the VNFM to instantiate (create) a new VNF instance.</a:t>
            </a:r>
          </a:p>
          <a:p>
            <a:pPr marL="342900" indent="-342900">
              <a:spcBef>
                <a:spcPts val="600"/>
              </a:spcBef>
              <a:spcAft>
                <a:spcPts val="600"/>
              </a:spcAft>
              <a:buFont typeface="Arial" panose="020B0604020202020204" pitchFamily="34" charset="0"/>
              <a:buChar char="•"/>
            </a:pPr>
            <a:r>
              <a:rPr lang="en-US" sz="2200" b="1" dirty="0">
                <a:solidFill>
                  <a:srgbClr val="0F1115"/>
                </a:solidFill>
                <a:latin typeface="quote-cjk-patch"/>
              </a:rPr>
              <a:t>VNF Lifecycle Management Commands:</a:t>
            </a:r>
            <a:r>
              <a:rPr lang="en-US" sz="2200" dirty="0">
                <a:solidFill>
                  <a:srgbClr val="0F1115"/>
                </a:solidFill>
                <a:latin typeface="quote-cjk-patch"/>
              </a:rPr>
              <a:t> The NFVO can request the VNFM to perform actions like </a:t>
            </a:r>
            <a:r>
              <a:rPr lang="en-US" sz="2200" b="1" dirty="0">
                <a:solidFill>
                  <a:srgbClr val="0F1115"/>
                </a:solidFill>
                <a:latin typeface="quote-cjk-patch"/>
              </a:rPr>
              <a:t>scale</a:t>
            </a:r>
            <a:r>
              <a:rPr lang="en-US" sz="2200" dirty="0">
                <a:solidFill>
                  <a:srgbClr val="0F1115"/>
                </a:solidFill>
                <a:latin typeface="quote-cjk-patch"/>
              </a:rPr>
              <a:t> (in/out, up/down), </a:t>
            </a:r>
            <a:r>
              <a:rPr lang="en-US" sz="2200" b="1" dirty="0">
                <a:solidFill>
                  <a:srgbClr val="0F1115"/>
                </a:solidFill>
                <a:latin typeface="quote-cjk-patch"/>
              </a:rPr>
              <a:t>heal</a:t>
            </a:r>
            <a:r>
              <a:rPr lang="en-US" sz="2200" dirty="0">
                <a:solidFill>
                  <a:srgbClr val="0F1115"/>
                </a:solidFill>
                <a:latin typeface="quote-cjk-patch"/>
              </a:rPr>
              <a:t> (e.g., restart a failed VNF component), </a:t>
            </a:r>
            <a:r>
              <a:rPr lang="en-US" sz="2200" b="1" dirty="0">
                <a:solidFill>
                  <a:srgbClr val="0F1115"/>
                </a:solidFill>
                <a:latin typeface="quote-cjk-patch"/>
              </a:rPr>
              <a:t>update/upgrade</a:t>
            </a:r>
            <a:r>
              <a:rPr lang="en-US" sz="2200" dirty="0">
                <a:solidFill>
                  <a:srgbClr val="0F1115"/>
                </a:solidFill>
                <a:latin typeface="quote-cjk-patch"/>
              </a:rPr>
              <a:t>, or </a:t>
            </a:r>
            <a:r>
              <a:rPr lang="en-US" sz="2200" b="1" dirty="0">
                <a:solidFill>
                  <a:srgbClr val="0F1115"/>
                </a:solidFill>
                <a:latin typeface="quote-cjk-patch"/>
              </a:rPr>
              <a:t>terminate</a:t>
            </a:r>
            <a:r>
              <a:rPr lang="en-US" sz="2200" dirty="0">
                <a:solidFill>
                  <a:srgbClr val="0F1115"/>
                </a:solidFill>
                <a:latin typeface="quote-cjk-patch"/>
              </a:rPr>
              <a:t> a VNF.</a:t>
            </a:r>
          </a:p>
          <a:p>
            <a:pPr marL="342900" indent="-342900">
              <a:spcBef>
                <a:spcPts val="600"/>
              </a:spcBef>
              <a:spcAft>
                <a:spcPts val="600"/>
              </a:spcAft>
              <a:buFont typeface="Arial" panose="020B0604020202020204" pitchFamily="34" charset="0"/>
              <a:buChar char="•"/>
            </a:pPr>
            <a:r>
              <a:rPr lang="en-US" sz="2200" b="1" dirty="0">
                <a:solidFill>
                  <a:srgbClr val="0F1115"/>
                </a:solidFill>
                <a:latin typeface="quote-cjk-patch"/>
              </a:rPr>
              <a:t>VNF Lifecycle Change Notification:</a:t>
            </a:r>
            <a:r>
              <a:rPr lang="en-US" sz="2200" dirty="0">
                <a:solidFill>
                  <a:srgbClr val="0F1115"/>
                </a:solidFill>
                <a:latin typeface="quote-cjk-patch"/>
              </a:rPr>
              <a:t> The VNFM informs the NFVO about changes in the VNF's state (e.g., "VNF instantiation is complete," "Scaling operation failed," "VNF is now terminated").</a:t>
            </a:r>
          </a:p>
          <a:p>
            <a:pPr marL="342900" indent="-342900">
              <a:spcBef>
                <a:spcPts val="600"/>
              </a:spcBef>
              <a:spcAft>
                <a:spcPts val="600"/>
              </a:spcAft>
              <a:buFont typeface="Arial" panose="020B0604020202020204" pitchFamily="34" charset="0"/>
              <a:buChar char="•"/>
            </a:pPr>
            <a:r>
              <a:rPr lang="en-US" sz="2200" b="1" dirty="0">
                <a:solidFill>
                  <a:srgbClr val="0F1115"/>
                </a:solidFill>
                <a:latin typeface="quote-cjk-patch"/>
              </a:rPr>
              <a:t>Policy Enforcement:</a:t>
            </a:r>
            <a:r>
              <a:rPr lang="en-US" sz="2200" dirty="0">
                <a:solidFill>
                  <a:srgbClr val="0F1115"/>
                </a:solidFill>
                <a:latin typeface="quote-cjk-patch"/>
              </a:rPr>
              <a:t> The NFVO can provide the VNFM with policies related to </a:t>
            </a:r>
            <a:r>
              <a:rPr lang="en-US" sz="2400" dirty="0">
                <a:solidFill>
                  <a:srgbClr val="0F1115"/>
                </a:solidFill>
                <a:latin typeface="quote-cjk-patch"/>
              </a:rPr>
              <a:t>the VNF's lifecycle (e.g., "Scale out when CPU usage &gt; 80%").</a:t>
            </a:r>
          </a:p>
        </p:txBody>
      </p:sp>
    </p:spTree>
    <p:extLst>
      <p:ext uri="{BB962C8B-B14F-4D97-AF65-F5344CB8AC3E}">
        <p14:creationId xmlns:p14="http://schemas.microsoft.com/office/powerpoint/2010/main" val="1042242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BC5DD-7CD0-C5DA-E18D-6BD29A2ED5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E2E3E1-CCCC-63BF-4BF1-1B262BA0F782}"/>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40E3F7F6-4954-DF6B-9026-4B7F8BF8F4A3}"/>
              </a:ext>
            </a:extLst>
          </p:cNvPr>
          <p:cNvSpPr>
            <a:spLocks noGrp="1"/>
          </p:cNvSpPr>
          <p:nvPr>
            <p:ph type="sldNum" sz="quarter" idx="12"/>
          </p:nvPr>
        </p:nvSpPr>
        <p:spPr/>
        <p:txBody>
          <a:bodyPr/>
          <a:lstStyle/>
          <a:p>
            <a:fld id="{B6F15528-21DE-4FAA-801E-634DDDAF4B2B}" type="slidenum">
              <a:rPr lang="en-US" smtClean="0"/>
              <a:t>49</a:t>
            </a:fld>
            <a:endParaRPr lang="en-US"/>
          </a:p>
        </p:txBody>
      </p:sp>
      <p:sp>
        <p:nvSpPr>
          <p:cNvPr id="3" name="object 3">
            <a:extLst>
              <a:ext uri="{FF2B5EF4-FFF2-40B4-BE49-F238E27FC236}">
                <a16:creationId xmlns:a16="http://schemas.microsoft.com/office/drawing/2014/main" id="{BDCCFC85-FC1E-570D-78D6-038549FDEFDA}"/>
              </a:ext>
            </a:extLst>
          </p:cNvPr>
          <p:cNvSpPr txBox="1"/>
          <p:nvPr/>
        </p:nvSpPr>
        <p:spPr>
          <a:xfrm>
            <a:off x="1766942" y="845522"/>
            <a:ext cx="8657864" cy="412934"/>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sz="2600" spc="-5" dirty="0">
                <a:latin typeface="Times New Roman"/>
                <a:cs typeface="Times New Roman"/>
              </a:rPr>
              <a:t>Virtualized Infrastructure Manager </a:t>
            </a:r>
            <a:r>
              <a:rPr sz="2600" dirty="0">
                <a:latin typeface="Times New Roman"/>
                <a:cs typeface="Times New Roman"/>
              </a:rPr>
              <a:t>– </a:t>
            </a:r>
            <a:r>
              <a:rPr sz="2600" spc="-5" dirty="0">
                <a:latin typeface="Times New Roman"/>
                <a:cs typeface="Times New Roman"/>
              </a:rPr>
              <a:t>VNF Manager</a:t>
            </a:r>
            <a:r>
              <a:rPr sz="2600" spc="-20" dirty="0">
                <a:latin typeface="Times New Roman"/>
                <a:cs typeface="Times New Roman"/>
              </a:rPr>
              <a:t> </a:t>
            </a:r>
            <a:r>
              <a:rPr sz="2600" spc="-5" dirty="0">
                <a:latin typeface="Times New Roman"/>
                <a:cs typeface="Times New Roman"/>
              </a:rPr>
              <a:t>(</a:t>
            </a:r>
            <a:r>
              <a:rPr sz="2600" b="1" spc="-5" dirty="0">
                <a:latin typeface="Times New Roman"/>
                <a:cs typeface="Times New Roman"/>
              </a:rPr>
              <a:t>Vi-</a:t>
            </a:r>
            <a:r>
              <a:rPr sz="2600" b="1" spc="-5" dirty="0" err="1">
                <a:latin typeface="Times New Roman"/>
                <a:cs typeface="Times New Roman"/>
              </a:rPr>
              <a:t>Vnfm</a:t>
            </a:r>
            <a:r>
              <a:rPr lang="en-US" sz="2600" spc="-5" dirty="0">
                <a:latin typeface="Times New Roman"/>
                <a:cs typeface="Times New Roman"/>
              </a:rPr>
              <a:t>)</a:t>
            </a:r>
            <a:endParaRPr sz="2600" dirty="0">
              <a:latin typeface="Times New Roman"/>
              <a:cs typeface="Times New Roman"/>
            </a:endParaRPr>
          </a:p>
        </p:txBody>
      </p:sp>
      <p:sp>
        <p:nvSpPr>
          <p:cNvPr id="6" name="TextBox 5">
            <a:extLst>
              <a:ext uri="{FF2B5EF4-FFF2-40B4-BE49-F238E27FC236}">
                <a16:creationId xmlns:a16="http://schemas.microsoft.com/office/drawing/2014/main" id="{DBB7E13A-F90F-11E8-C9E9-9E059AF8631A}"/>
              </a:ext>
            </a:extLst>
          </p:cNvPr>
          <p:cNvSpPr txBox="1"/>
          <p:nvPr/>
        </p:nvSpPr>
        <p:spPr>
          <a:xfrm>
            <a:off x="1766942" y="1652967"/>
            <a:ext cx="8657864" cy="4308872"/>
          </a:xfrm>
          <a:prstGeom prst="rect">
            <a:avLst/>
          </a:prstGeom>
          <a:noFill/>
        </p:spPr>
        <p:txBody>
          <a:bodyPr wrap="square">
            <a:spAutoFit/>
          </a:bodyPr>
          <a:lstStyle/>
          <a:p>
            <a:pPr algn="just">
              <a:spcBef>
                <a:spcPts val="600"/>
              </a:spcBef>
              <a:spcAft>
                <a:spcPts val="600"/>
              </a:spcAft>
            </a:pPr>
            <a:r>
              <a:rPr lang="en-US" sz="2400" b="1" dirty="0">
                <a:solidFill>
                  <a:srgbClr val="0F1115"/>
                </a:solidFill>
                <a:latin typeface="quote-cjk-patch"/>
              </a:rPr>
              <a:t>Main Functionalities:</a:t>
            </a:r>
          </a:p>
          <a:p>
            <a:pPr marL="342900" indent="-342900" algn="just">
              <a:spcBef>
                <a:spcPts val="600"/>
              </a:spcBef>
              <a:spcAft>
                <a:spcPts val="600"/>
              </a:spcAft>
              <a:buFont typeface="Arial" panose="020B0604020202020204" pitchFamily="34" charset="0"/>
              <a:buChar char="•"/>
            </a:pPr>
            <a:r>
              <a:rPr lang="en-US" sz="2200" b="1" dirty="0">
                <a:solidFill>
                  <a:srgbClr val="0F1115"/>
                </a:solidFill>
                <a:latin typeface="quote-cjk-patch"/>
              </a:rPr>
              <a:t>Resource Allocation for VNF Lifecycle</a:t>
            </a:r>
            <a:r>
              <a:rPr lang="en-US" sz="2200" dirty="0">
                <a:solidFill>
                  <a:srgbClr val="0F1115"/>
                </a:solidFill>
                <a:latin typeface="quote-cjk-patch"/>
              </a:rPr>
              <a:t>: When the VNFM needs to instantiate or scale a VNF, it uses this interface to ask the VIM to allocate the actual compute, storage, and network resources.</a:t>
            </a:r>
          </a:p>
          <a:p>
            <a:pPr marL="342900" indent="-342900" algn="just">
              <a:spcBef>
                <a:spcPts val="600"/>
              </a:spcBef>
              <a:spcAft>
                <a:spcPts val="600"/>
              </a:spcAft>
              <a:buFont typeface="Arial" panose="020B0604020202020204" pitchFamily="34" charset="0"/>
              <a:buChar char="•"/>
            </a:pPr>
            <a:r>
              <a:rPr lang="en-US" sz="2200" b="1" dirty="0">
                <a:solidFill>
                  <a:srgbClr val="0F1115"/>
                </a:solidFill>
                <a:latin typeface="quote-cjk-patch"/>
              </a:rPr>
              <a:t>Performance &amp; Fault Information</a:t>
            </a:r>
            <a:r>
              <a:rPr lang="en-US" sz="2200" dirty="0">
                <a:solidFill>
                  <a:srgbClr val="0F1115"/>
                </a:solidFill>
                <a:latin typeface="quote-cjk-patch"/>
              </a:rPr>
              <a:t>: The VNFM can query the VIM for performance data (e.g., CPU utilization of the VM hosting the VNF) and fault information (e.g., "The underlying VM has crashed") to make healing and scaling decisions.</a:t>
            </a:r>
          </a:p>
          <a:p>
            <a:pPr marL="342900" indent="-342900" algn="just">
              <a:spcBef>
                <a:spcPts val="600"/>
              </a:spcBef>
              <a:spcAft>
                <a:spcPts val="600"/>
              </a:spcAft>
              <a:buFont typeface="Arial" panose="020B0604020202020204" pitchFamily="34" charset="0"/>
              <a:buChar char="•"/>
            </a:pPr>
            <a:r>
              <a:rPr lang="en-US" sz="2200" b="1" dirty="0">
                <a:solidFill>
                  <a:srgbClr val="0F1115"/>
                </a:solidFill>
                <a:latin typeface="quote-cjk-patch"/>
              </a:rPr>
              <a:t>Virtualized Resource Change Notification</a:t>
            </a:r>
            <a:r>
              <a:rPr lang="en-US" sz="2200" dirty="0">
                <a:solidFill>
                  <a:srgbClr val="0F1115"/>
                </a:solidFill>
                <a:latin typeface="quote-cjk-patch"/>
              </a:rPr>
              <a:t>: The VIM can notify the VNFM about events related to the resources a VNF is using (e.g., a hypervisor evacuation).</a:t>
            </a:r>
          </a:p>
        </p:txBody>
      </p:sp>
    </p:spTree>
    <p:extLst>
      <p:ext uri="{BB962C8B-B14F-4D97-AF65-F5344CB8AC3E}">
        <p14:creationId xmlns:p14="http://schemas.microsoft.com/office/powerpoint/2010/main" val="23558843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A5A63-5EF5-94A3-0FBD-B9E38AD8CA4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7528248-6AB1-B2CC-31A2-A8F9FF55DD7D}"/>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553DF012-17AA-BA26-16C1-B9B83256B532}"/>
              </a:ext>
            </a:extLst>
          </p:cNvPr>
          <p:cNvSpPr>
            <a:spLocks noGrp="1"/>
          </p:cNvSpPr>
          <p:nvPr>
            <p:ph type="sldNum" sz="quarter" idx="12"/>
          </p:nvPr>
        </p:nvSpPr>
        <p:spPr/>
        <p:txBody>
          <a:bodyPr/>
          <a:lstStyle/>
          <a:p>
            <a:fld id="{B6F15528-21DE-4FAA-801E-634DDDAF4B2B}" type="slidenum">
              <a:rPr lang="en-US" smtClean="0"/>
              <a:t>50</a:t>
            </a:fld>
            <a:endParaRPr lang="en-US"/>
          </a:p>
        </p:txBody>
      </p:sp>
      <p:sp>
        <p:nvSpPr>
          <p:cNvPr id="3" name="object 3">
            <a:extLst>
              <a:ext uri="{FF2B5EF4-FFF2-40B4-BE49-F238E27FC236}">
                <a16:creationId xmlns:a16="http://schemas.microsoft.com/office/drawing/2014/main" id="{3459F5A2-80DE-ADF0-12E5-F49E77152490}"/>
              </a:ext>
            </a:extLst>
          </p:cNvPr>
          <p:cNvSpPr txBox="1"/>
          <p:nvPr/>
        </p:nvSpPr>
        <p:spPr>
          <a:xfrm>
            <a:off x="1767068" y="845522"/>
            <a:ext cx="8657864" cy="412934"/>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sz="2600" spc="-5" dirty="0">
                <a:latin typeface="Times New Roman"/>
                <a:cs typeface="Times New Roman"/>
              </a:rPr>
              <a:t>Orchestrator </a:t>
            </a:r>
            <a:r>
              <a:rPr sz="2600" dirty="0">
                <a:latin typeface="Times New Roman"/>
                <a:cs typeface="Times New Roman"/>
              </a:rPr>
              <a:t>– Virtualized </a:t>
            </a:r>
            <a:r>
              <a:rPr sz="2600" spc="-5" dirty="0">
                <a:latin typeface="Times New Roman"/>
                <a:cs typeface="Times New Roman"/>
              </a:rPr>
              <a:t>Infrastructure Manager</a:t>
            </a:r>
            <a:r>
              <a:rPr sz="2600" spc="-35" dirty="0">
                <a:latin typeface="Times New Roman"/>
                <a:cs typeface="Times New Roman"/>
              </a:rPr>
              <a:t> </a:t>
            </a:r>
            <a:r>
              <a:rPr sz="2600" spc="-5" dirty="0">
                <a:latin typeface="Times New Roman"/>
                <a:cs typeface="Times New Roman"/>
              </a:rPr>
              <a:t>(</a:t>
            </a:r>
            <a:r>
              <a:rPr sz="2600" b="1" spc="-5" dirty="0">
                <a:latin typeface="Times New Roman"/>
                <a:cs typeface="Times New Roman"/>
              </a:rPr>
              <a:t>Or-Vi</a:t>
            </a:r>
            <a:r>
              <a:rPr lang="en-US" sz="2600" spc="-5" dirty="0">
                <a:latin typeface="Times New Roman"/>
                <a:cs typeface="Times New Roman"/>
              </a:rPr>
              <a:t>)</a:t>
            </a:r>
            <a:endParaRPr sz="2600" dirty="0">
              <a:latin typeface="Times New Roman"/>
              <a:cs typeface="Times New Roman"/>
            </a:endParaRPr>
          </a:p>
        </p:txBody>
      </p:sp>
      <p:sp>
        <p:nvSpPr>
          <p:cNvPr id="6" name="TextBox 5">
            <a:extLst>
              <a:ext uri="{FF2B5EF4-FFF2-40B4-BE49-F238E27FC236}">
                <a16:creationId xmlns:a16="http://schemas.microsoft.com/office/drawing/2014/main" id="{4E1A0D3E-4688-6E3E-7182-D91E9B9338EC}"/>
              </a:ext>
            </a:extLst>
          </p:cNvPr>
          <p:cNvSpPr txBox="1"/>
          <p:nvPr/>
        </p:nvSpPr>
        <p:spPr>
          <a:xfrm>
            <a:off x="1767070" y="1634356"/>
            <a:ext cx="8657863" cy="4378122"/>
          </a:xfrm>
          <a:prstGeom prst="rect">
            <a:avLst/>
          </a:prstGeom>
          <a:noFill/>
        </p:spPr>
        <p:txBody>
          <a:bodyPr wrap="square">
            <a:spAutoFit/>
          </a:bodyPr>
          <a:lstStyle/>
          <a:p>
            <a:pPr algn="just">
              <a:spcBef>
                <a:spcPts val="1200"/>
              </a:spcBef>
              <a:spcAft>
                <a:spcPts val="1200"/>
              </a:spcAft>
            </a:pPr>
            <a:r>
              <a:rPr lang="en-US" b="1" dirty="0">
                <a:solidFill>
                  <a:srgbClr val="0F1115"/>
                </a:solidFill>
                <a:latin typeface="quote-cjk-patch"/>
              </a:rPr>
              <a:t>Main Functionalities:</a:t>
            </a:r>
            <a:endParaRPr lang="en-US" dirty="0">
              <a:solidFill>
                <a:srgbClr val="0F1115"/>
              </a:solidFill>
              <a:latin typeface="quote-cjk-patch"/>
            </a:endParaRPr>
          </a:p>
          <a:p>
            <a:pPr marL="285750" indent="-285750" algn="just">
              <a:spcBef>
                <a:spcPts val="1200"/>
              </a:spcBef>
              <a:spcAft>
                <a:spcPts val="1200"/>
              </a:spcAft>
              <a:buFont typeface="Arial" panose="020B0604020202020204" pitchFamily="34" charset="0"/>
              <a:buChar char="•"/>
            </a:pPr>
            <a:r>
              <a:rPr lang="en-US" b="1" dirty="0">
                <a:solidFill>
                  <a:srgbClr val="0F1115"/>
                </a:solidFill>
                <a:latin typeface="quote-cjk-patch"/>
              </a:rPr>
              <a:t>Resource Reservation &amp; Allocation:</a:t>
            </a:r>
            <a:r>
              <a:rPr lang="en-US" dirty="0">
                <a:solidFill>
                  <a:srgbClr val="0F1115"/>
                </a:solidFill>
                <a:latin typeface="quote-cjk-patch"/>
              </a:rPr>
              <a:t> The NFVO uses this interface to reserve and allocate blocks of resources from the VIM to fulfill Network Services.</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Global Resource Inventory:</a:t>
            </a:r>
            <a:r>
              <a:rPr lang="en-US" dirty="0">
                <a:solidFill>
                  <a:srgbClr val="0F1115"/>
                </a:solidFill>
                <a:latin typeface="quote-cjk-patch"/>
              </a:rPr>
              <a:t> The NFVO queries the VIM to discover the available capacity and inventory of the entire NFVI (e.g., how many total CPU cores are free, what networks are available). This is essential for placement decisions.</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Infrastructure Performance and Fault Management:</a:t>
            </a:r>
            <a:r>
              <a:rPr lang="en-US" dirty="0">
                <a:solidFill>
                  <a:srgbClr val="0F1115"/>
                </a:solidFill>
                <a:latin typeface="quote-cjk-patch"/>
              </a:rPr>
              <a:t> The NFVO receives aggregated performance and fault information about the NFVI from the VIM (e.g., "Datacenter 'A' is over-utilized," "Physical server 'X' has failed").</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Root Cause Analysis:</a:t>
            </a:r>
            <a:r>
              <a:rPr lang="en-US" dirty="0">
                <a:solidFill>
                  <a:srgbClr val="0F1115"/>
                </a:solidFill>
                <a:latin typeface="quote-cjk-patch"/>
              </a:rPr>
              <a:t> By correlating VIM-level faults with service-level issues, the NFVO can determine if a service failure is due to a VNF software bug or an underlying hardware failure.</a:t>
            </a:r>
          </a:p>
        </p:txBody>
      </p:sp>
    </p:spTree>
    <p:extLst>
      <p:ext uri="{BB962C8B-B14F-4D97-AF65-F5344CB8AC3E}">
        <p14:creationId xmlns:p14="http://schemas.microsoft.com/office/powerpoint/2010/main" val="3513919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F1E08-5642-F70E-9DA7-C145388E4AD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63E7C49-D1EA-8360-DFAD-0DA22136F788}"/>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E7AB28C3-705A-D9F7-1FF6-FDE5F9F3A4EE}"/>
              </a:ext>
            </a:extLst>
          </p:cNvPr>
          <p:cNvSpPr>
            <a:spLocks noGrp="1"/>
          </p:cNvSpPr>
          <p:nvPr>
            <p:ph type="sldNum" sz="quarter" idx="12"/>
          </p:nvPr>
        </p:nvSpPr>
        <p:spPr/>
        <p:txBody>
          <a:bodyPr/>
          <a:lstStyle/>
          <a:p>
            <a:fld id="{B6F15528-21DE-4FAA-801E-634DDDAF4B2B}" type="slidenum">
              <a:rPr lang="en-US" smtClean="0"/>
              <a:t>51</a:t>
            </a:fld>
            <a:endParaRPr lang="en-US"/>
          </a:p>
        </p:txBody>
      </p:sp>
      <p:sp>
        <p:nvSpPr>
          <p:cNvPr id="3" name="object 3">
            <a:extLst>
              <a:ext uri="{FF2B5EF4-FFF2-40B4-BE49-F238E27FC236}">
                <a16:creationId xmlns:a16="http://schemas.microsoft.com/office/drawing/2014/main" id="{A6CAF264-13B0-618C-BBC8-563350127272}"/>
              </a:ext>
            </a:extLst>
          </p:cNvPr>
          <p:cNvSpPr txBox="1"/>
          <p:nvPr/>
        </p:nvSpPr>
        <p:spPr>
          <a:xfrm>
            <a:off x="1767068" y="845522"/>
            <a:ext cx="8657864" cy="412934"/>
          </a:xfrm>
          <a:prstGeom prst="rect">
            <a:avLst/>
          </a:prstGeom>
        </p:spPr>
        <p:txBody>
          <a:bodyPr vert="horz" wrap="square" lIns="0" tIns="12700" rIns="0" bIns="0" rtlCol="0">
            <a:spAutoFit/>
          </a:bodyPr>
          <a:lstStyle/>
          <a:p>
            <a:pPr marL="12700" algn="ctr">
              <a:spcBef>
                <a:spcPts val="1200"/>
              </a:spcBef>
              <a:spcAft>
                <a:spcPts val="600"/>
              </a:spcAft>
              <a:buClr>
                <a:schemeClr val="tx1"/>
              </a:buClr>
              <a:buSzPct val="100000"/>
              <a:tabLst>
                <a:tab pos="469265" algn="l"/>
                <a:tab pos="469900" algn="l"/>
              </a:tabLst>
            </a:pPr>
            <a:r>
              <a:rPr sz="2600" spc="-5" dirty="0">
                <a:latin typeface="Times New Roman"/>
                <a:cs typeface="Times New Roman"/>
              </a:rPr>
              <a:t>NFVI-Virtualized Infrastructure Manager</a:t>
            </a:r>
            <a:r>
              <a:rPr sz="2600" spc="-15" dirty="0">
                <a:latin typeface="Times New Roman"/>
                <a:cs typeface="Times New Roman"/>
              </a:rPr>
              <a:t> </a:t>
            </a:r>
            <a:r>
              <a:rPr sz="2600" dirty="0">
                <a:latin typeface="Times New Roman"/>
                <a:cs typeface="Times New Roman"/>
              </a:rPr>
              <a:t>(</a:t>
            </a:r>
            <a:r>
              <a:rPr sz="2600" b="1" dirty="0" err="1">
                <a:latin typeface="Times New Roman"/>
                <a:cs typeface="Times New Roman"/>
              </a:rPr>
              <a:t>Nf</a:t>
            </a:r>
            <a:r>
              <a:rPr sz="2600" b="1" dirty="0">
                <a:latin typeface="Times New Roman"/>
                <a:cs typeface="Times New Roman"/>
              </a:rPr>
              <a:t>-Vi</a:t>
            </a:r>
            <a:r>
              <a:rPr lang="en-US" sz="2600" dirty="0">
                <a:latin typeface="Times New Roman"/>
                <a:cs typeface="Times New Roman"/>
              </a:rPr>
              <a:t>)</a:t>
            </a:r>
            <a:endParaRPr sz="2600" dirty="0">
              <a:latin typeface="Times New Roman"/>
              <a:cs typeface="Times New Roman"/>
            </a:endParaRPr>
          </a:p>
        </p:txBody>
      </p:sp>
      <p:sp>
        <p:nvSpPr>
          <p:cNvPr id="6" name="TextBox 5">
            <a:extLst>
              <a:ext uri="{FF2B5EF4-FFF2-40B4-BE49-F238E27FC236}">
                <a16:creationId xmlns:a16="http://schemas.microsoft.com/office/drawing/2014/main" id="{AB03D3D5-245E-8B5F-1FEC-512981295101}"/>
              </a:ext>
            </a:extLst>
          </p:cNvPr>
          <p:cNvSpPr txBox="1"/>
          <p:nvPr/>
        </p:nvSpPr>
        <p:spPr>
          <a:xfrm>
            <a:off x="1937921" y="1886833"/>
            <a:ext cx="8316158" cy="3329116"/>
          </a:xfrm>
          <a:prstGeom prst="rect">
            <a:avLst/>
          </a:prstGeom>
          <a:noFill/>
        </p:spPr>
        <p:txBody>
          <a:bodyPr wrap="square">
            <a:spAutoFit/>
          </a:bodyPr>
          <a:lstStyle/>
          <a:p>
            <a:pPr algn="just">
              <a:spcBef>
                <a:spcPts val="1200"/>
              </a:spcBef>
              <a:spcAft>
                <a:spcPts val="1200"/>
              </a:spcAft>
            </a:pPr>
            <a:r>
              <a:rPr lang="en-US" b="1" dirty="0">
                <a:solidFill>
                  <a:srgbClr val="0F1115"/>
                </a:solidFill>
                <a:latin typeface="quote-cjk-patch"/>
              </a:rPr>
              <a:t>Main Functionalities:</a:t>
            </a:r>
            <a:endParaRPr lang="en-US" dirty="0">
              <a:solidFill>
                <a:srgbClr val="0F1115"/>
              </a:solidFill>
              <a:latin typeface="quote-cjk-patch"/>
            </a:endParaRPr>
          </a:p>
          <a:p>
            <a:pPr marL="285750" indent="-285750" algn="just">
              <a:spcBef>
                <a:spcPts val="1200"/>
              </a:spcBef>
              <a:spcAft>
                <a:spcPts val="1200"/>
              </a:spcAft>
              <a:buFont typeface="Arial" panose="020B0604020202020204" pitchFamily="34" charset="0"/>
              <a:buChar char="•"/>
            </a:pPr>
            <a:r>
              <a:rPr lang="en-US" b="1" dirty="0">
                <a:solidFill>
                  <a:srgbClr val="0F1115"/>
                </a:solidFill>
                <a:latin typeface="quote-cjk-patch"/>
              </a:rPr>
              <a:t>Hardware Resource Abstraction:</a:t>
            </a:r>
            <a:r>
              <a:rPr lang="en-US" dirty="0">
                <a:solidFill>
                  <a:srgbClr val="0F1115"/>
                </a:solidFill>
                <a:latin typeface="quote-cjk-patch"/>
              </a:rPr>
              <a:t> The VIM uses this interface to communicate with the hypervisors (e.g., KVM, VMware) and physical hardware to actually create, delete, and manage virtual machines (VMs) and containers.</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Physical Resource Inventory:</a:t>
            </a:r>
            <a:r>
              <a:rPr lang="en-US" dirty="0">
                <a:solidFill>
                  <a:srgbClr val="0F1115"/>
                </a:solidFill>
                <a:latin typeface="quote-cjk-patch"/>
              </a:rPr>
              <a:t> The VIM discovers the physical compute, storage, and networking hardware via this interface.</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Hardware-Level Fault and Performance Management:</a:t>
            </a:r>
            <a:r>
              <a:rPr lang="en-US" dirty="0">
                <a:solidFill>
                  <a:srgbClr val="0F1115"/>
                </a:solidFill>
                <a:latin typeface="quote-cjk-patch"/>
              </a:rPr>
              <a:t> The hypervisors and hardware drivers send real-time performance metrics (CPU, memory, I/O) and fault alerts (hard disk failure, network link down) up to the VIM through this interface.</a:t>
            </a:r>
          </a:p>
        </p:txBody>
      </p:sp>
    </p:spTree>
    <p:extLst>
      <p:ext uri="{BB962C8B-B14F-4D97-AF65-F5344CB8AC3E}">
        <p14:creationId xmlns:p14="http://schemas.microsoft.com/office/powerpoint/2010/main" val="14098958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4756B-4760-4AA9-AEE1-E3BCDB03EB1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5218519-722F-422F-5679-3E8D4AA0783F}"/>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FE5675AE-B64D-24E6-DE67-67BF0B5A4E42}"/>
              </a:ext>
            </a:extLst>
          </p:cNvPr>
          <p:cNvSpPr>
            <a:spLocks noGrp="1"/>
          </p:cNvSpPr>
          <p:nvPr>
            <p:ph type="sldNum" sz="quarter" idx="12"/>
          </p:nvPr>
        </p:nvSpPr>
        <p:spPr/>
        <p:txBody>
          <a:bodyPr/>
          <a:lstStyle/>
          <a:p>
            <a:fld id="{B6F15528-21DE-4FAA-801E-634DDDAF4B2B}" type="slidenum">
              <a:rPr lang="en-US" smtClean="0"/>
              <a:t>52</a:t>
            </a:fld>
            <a:endParaRPr lang="en-US"/>
          </a:p>
        </p:txBody>
      </p:sp>
      <p:sp>
        <p:nvSpPr>
          <p:cNvPr id="3" name="object 3">
            <a:extLst>
              <a:ext uri="{FF2B5EF4-FFF2-40B4-BE49-F238E27FC236}">
                <a16:creationId xmlns:a16="http://schemas.microsoft.com/office/drawing/2014/main" id="{381F138F-28CF-F9DC-6776-0D19579D74F1}"/>
              </a:ext>
            </a:extLst>
          </p:cNvPr>
          <p:cNvSpPr txBox="1"/>
          <p:nvPr/>
        </p:nvSpPr>
        <p:spPr>
          <a:xfrm>
            <a:off x="1767068" y="845523"/>
            <a:ext cx="8657864" cy="813043"/>
          </a:xfrm>
          <a:prstGeom prst="rect">
            <a:avLst/>
          </a:prstGeom>
        </p:spPr>
        <p:txBody>
          <a:bodyPr vert="horz" wrap="square" lIns="0" tIns="12700" rIns="0" bIns="0" rtlCol="0">
            <a:spAutoFit/>
          </a:bodyPr>
          <a:lstStyle/>
          <a:p>
            <a:pPr marL="12700" marR="401320" algn="ctr">
              <a:spcBef>
                <a:spcPts val="1200"/>
              </a:spcBef>
              <a:spcAft>
                <a:spcPts val="600"/>
              </a:spcAft>
              <a:buClr>
                <a:schemeClr val="tx1"/>
              </a:buClr>
              <a:buSzPct val="100000"/>
              <a:tabLst>
                <a:tab pos="469265" algn="l"/>
                <a:tab pos="469900" algn="l"/>
              </a:tabLst>
            </a:pPr>
            <a:r>
              <a:rPr sz="2600" spc="-5" dirty="0">
                <a:latin typeface="Times New Roman"/>
                <a:cs typeface="Times New Roman"/>
              </a:rPr>
              <a:t>Operation Support System (OSS)/Business Support Systems  (BSS) </a:t>
            </a:r>
            <a:r>
              <a:rPr sz="2600" dirty="0">
                <a:latin typeface="Times New Roman"/>
                <a:cs typeface="Times New Roman"/>
              </a:rPr>
              <a:t>– NFV </a:t>
            </a:r>
            <a:r>
              <a:rPr sz="2600" spc="-5" dirty="0">
                <a:latin typeface="Times New Roman"/>
                <a:cs typeface="Times New Roman"/>
              </a:rPr>
              <a:t>Management </a:t>
            </a:r>
            <a:r>
              <a:rPr sz="2600" dirty="0">
                <a:latin typeface="Times New Roman"/>
                <a:cs typeface="Times New Roman"/>
              </a:rPr>
              <a:t>and </a:t>
            </a:r>
            <a:r>
              <a:rPr sz="2600" spc="-5" dirty="0">
                <a:latin typeface="Times New Roman"/>
                <a:cs typeface="Times New Roman"/>
              </a:rPr>
              <a:t>Orchestration</a:t>
            </a:r>
            <a:r>
              <a:rPr sz="2600" spc="-55" dirty="0">
                <a:latin typeface="Times New Roman"/>
                <a:cs typeface="Times New Roman"/>
              </a:rPr>
              <a:t> </a:t>
            </a:r>
            <a:r>
              <a:rPr sz="2600" dirty="0">
                <a:latin typeface="Times New Roman"/>
                <a:cs typeface="Times New Roman"/>
              </a:rPr>
              <a:t>(</a:t>
            </a:r>
            <a:r>
              <a:rPr sz="2600" b="1" dirty="0" err="1">
                <a:latin typeface="Times New Roman"/>
                <a:cs typeface="Times New Roman"/>
              </a:rPr>
              <a:t>Os</a:t>
            </a:r>
            <a:r>
              <a:rPr sz="2600" b="1" dirty="0">
                <a:latin typeface="Times New Roman"/>
                <a:cs typeface="Times New Roman"/>
              </a:rPr>
              <a:t>-Ma</a:t>
            </a:r>
            <a:r>
              <a:rPr lang="en-US" sz="2600" dirty="0">
                <a:latin typeface="Times New Roman"/>
                <a:cs typeface="Times New Roman"/>
              </a:rPr>
              <a:t>)</a:t>
            </a:r>
            <a:endParaRPr sz="2600" dirty="0">
              <a:latin typeface="Times New Roman"/>
              <a:cs typeface="Times New Roman"/>
            </a:endParaRPr>
          </a:p>
        </p:txBody>
      </p:sp>
      <p:sp>
        <p:nvSpPr>
          <p:cNvPr id="6" name="TextBox 5">
            <a:extLst>
              <a:ext uri="{FF2B5EF4-FFF2-40B4-BE49-F238E27FC236}">
                <a16:creationId xmlns:a16="http://schemas.microsoft.com/office/drawing/2014/main" id="{6569DB37-D280-2F6D-6C07-3056F0107581}"/>
              </a:ext>
            </a:extLst>
          </p:cNvPr>
          <p:cNvSpPr txBox="1"/>
          <p:nvPr/>
        </p:nvSpPr>
        <p:spPr>
          <a:xfrm>
            <a:off x="1894390" y="1956897"/>
            <a:ext cx="8316410" cy="4101123"/>
          </a:xfrm>
          <a:prstGeom prst="rect">
            <a:avLst/>
          </a:prstGeom>
          <a:noFill/>
        </p:spPr>
        <p:txBody>
          <a:bodyPr wrap="square">
            <a:spAutoFit/>
          </a:bodyPr>
          <a:lstStyle/>
          <a:p>
            <a:pPr algn="just">
              <a:spcBef>
                <a:spcPts val="1200"/>
              </a:spcBef>
              <a:spcAft>
                <a:spcPts val="1200"/>
              </a:spcAft>
            </a:pPr>
            <a:r>
              <a:rPr lang="en-US" b="1" dirty="0">
                <a:solidFill>
                  <a:srgbClr val="0F1115"/>
                </a:solidFill>
                <a:latin typeface="quote-cjk-patch"/>
              </a:rPr>
              <a:t>Main Functionalities:</a:t>
            </a:r>
            <a:endParaRPr lang="en-US" dirty="0">
              <a:solidFill>
                <a:srgbClr val="0F1115"/>
              </a:solidFill>
              <a:latin typeface="quote-cjk-patch"/>
            </a:endParaRPr>
          </a:p>
          <a:p>
            <a:pPr marL="285750" indent="-285750" algn="just">
              <a:spcBef>
                <a:spcPts val="1200"/>
              </a:spcBef>
              <a:spcAft>
                <a:spcPts val="1200"/>
              </a:spcAft>
              <a:buFont typeface="Arial" panose="020B0604020202020204" pitchFamily="34" charset="0"/>
              <a:buChar char="•"/>
            </a:pPr>
            <a:r>
              <a:rPr lang="en-US" b="1" dirty="0">
                <a:solidFill>
                  <a:srgbClr val="0F1115"/>
                </a:solidFill>
                <a:latin typeface="quote-cjk-patch"/>
              </a:rPr>
              <a:t>Network Service Lifecycle Management:</a:t>
            </a:r>
            <a:r>
              <a:rPr lang="en-US" dirty="0">
                <a:solidFill>
                  <a:srgbClr val="0F1115"/>
                </a:solidFill>
                <a:latin typeface="quote-cjk-patch"/>
              </a:rPr>
              <a:t> The OSS uses this interface to request the NFVO to instantiate, scale, update, or terminate a complete Network Service (a chain of VNFs).</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Policy Exchange:</a:t>
            </a:r>
            <a:r>
              <a:rPr lang="en-US" dirty="0">
                <a:solidFill>
                  <a:srgbClr val="0F1115"/>
                </a:solidFill>
                <a:latin typeface="quote-cjk-patch"/>
              </a:rPr>
              <a:t> The OSS/BSS provides the NFVO with high-level business and service policies (e.g., service level agreements - SLAs).</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Service-Related Information Reporting:</a:t>
            </a:r>
            <a:r>
              <a:rPr lang="en-US" dirty="0">
                <a:solidFill>
                  <a:srgbClr val="0F1115"/>
                </a:solidFill>
                <a:latin typeface="quote-cjk-patch"/>
              </a:rPr>
              <a:t> The NFVO provides the OSS/BSS with data about the Network Service, including its current state, performance data for SLA reporting, and fault information for ticketing.</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Billing Data:</a:t>
            </a:r>
            <a:r>
              <a:rPr lang="en-US" dirty="0">
                <a:solidFill>
                  <a:srgbClr val="0F1115"/>
                </a:solidFill>
                <a:latin typeface="quote-cjk-patch"/>
              </a:rPr>
              <a:t> Usage records for VNFs and Network Services can be sent to the BSS for billing purposes.</a:t>
            </a:r>
          </a:p>
        </p:txBody>
      </p:sp>
    </p:spTree>
    <p:extLst>
      <p:ext uri="{BB962C8B-B14F-4D97-AF65-F5344CB8AC3E}">
        <p14:creationId xmlns:p14="http://schemas.microsoft.com/office/powerpoint/2010/main" val="7283079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3F31A-9D97-8C34-14A8-2C837EF2781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F515FE1-3F22-2525-0944-572B1774FDA8}"/>
              </a:ext>
            </a:extLst>
          </p:cNvPr>
          <p:cNvSpPr txBox="1">
            <a:spLocks noGrp="1"/>
          </p:cNvSpPr>
          <p:nvPr>
            <p:ph type="title"/>
          </p:nvPr>
        </p:nvSpPr>
        <p:spPr>
          <a:xfrm>
            <a:off x="1981452" y="217146"/>
            <a:ext cx="8229348" cy="628377"/>
          </a:xfrm>
          <a:prstGeom prst="rect">
            <a:avLst/>
          </a:prstGeom>
        </p:spPr>
        <p:txBody>
          <a:bodyPr vert="horz" wrap="square" lIns="0" tIns="12700" rIns="0" bIns="0" rtlCol="0" anchor="ctr">
            <a:spAutoFit/>
          </a:bodyPr>
          <a:lstStyle/>
          <a:p>
            <a:pPr marL="12700">
              <a:spcBef>
                <a:spcPts val="100"/>
              </a:spcBef>
            </a:pPr>
            <a:r>
              <a:rPr sz="4000" spc="-5" dirty="0"/>
              <a:t>NFV Reference</a:t>
            </a:r>
            <a:r>
              <a:rPr sz="4000" spc="-80" dirty="0"/>
              <a:t> </a:t>
            </a:r>
            <a:r>
              <a:rPr sz="4000" dirty="0"/>
              <a:t>Points</a:t>
            </a:r>
          </a:p>
        </p:txBody>
      </p:sp>
      <p:sp>
        <p:nvSpPr>
          <p:cNvPr id="4" name="Slide Number Placeholder 3">
            <a:extLst>
              <a:ext uri="{FF2B5EF4-FFF2-40B4-BE49-F238E27FC236}">
                <a16:creationId xmlns:a16="http://schemas.microsoft.com/office/drawing/2014/main" id="{728D131E-1E91-1CC9-F7FD-3E0A8EDAC8A2}"/>
              </a:ext>
            </a:extLst>
          </p:cNvPr>
          <p:cNvSpPr>
            <a:spLocks noGrp="1"/>
          </p:cNvSpPr>
          <p:nvPr>
            <p:ph type="sldNum" sz="quarter" idx="12"/>
          </p:nvPr>
        </p:nvSpPr>
        <p:spPr/>
        <p:txBody>
          <a:bodyPr/>
          <a:lstStyle/>
          <a:p>
            <a:fld id="{B6F15528-21DE-4FAA-801E-634DDDAF4B2B}" type="slidenum">
              <a:rPr lang="en-US" smtClean="0"/>
              <a:t>53</a:t>
            </a:fld>
            <a:endParaRPr lang="en-US"/>
          </a:p>
        </p:txBody>
      </p:sp>
      <p:sp>
        <p:nvSpPr>
          <p:cNvPr id="3" name="object 3">
            <a:extLst>
              <a:ext uri="{FF2B5EF4-FFF2-40B4-BE49-F238E27FC236}">
                <a16:creationId xmlns:a16="http://schemas.microsoft.com/office/drawing/2014/main" id="{06924051-7752-A324-69AC-BD568CA48650}"/>
              </a:ext>
            </a:extLst>
          </p:cNvPr>
          <p:cNvSpPr txBox="1"/>
          <p:nvPr/>
        </p:nvSpPr>
        <p:spPr>
          <a:xfrm>
            <a:off x="1767068" y="845523"/>
            <a:ext cx="8657864" cy="813043"/>
          </a:xfrm>
          <a:prstGeom prst="rect">
            <a:avLst/>
          </a:prstGeom>
        </p:spPr>
        <p:txBody>
          <a:bodyPr vert="horz" wrap="square" lIns="0" tIns="12700" rIns="0" bIns="0" rtlCol="0">
            <a:spAutoFit/>
          </a:bodyPr>
          <a:lstStyle/>
          <a:p>
            <a:pPr marL="12700" marR="365760" algn="ctr">
              <a:spcBef>
                <a:spcPts val="1200"/>
              </a:spcBef>
              <a:spcAft>
                <a:spcPts val="600"/>
              </a:spcAft>
              <a:buClr>
                <a:schemeClr val="tx1"/>
              </a:buClr>
              <a:buSzPct val="100000"/>
              <a:tabLst>
                <a:tab pos="469265" algn="l"/>
                <a:tab pos="469900" algn="l"/>
              </a:tabLst>
            </a:pPr>
            <a:r>
              <a:rPr sz="2600" spc="-5" dirty="0">
                <a:latin typeface="Times New Roman"/>
                <a:cs typeface="Times New Roman"/>
              </a:rPr>
              <a:t>VNF/ </a:t>
            </a:r>
            <a:r>
              <a:rPr sz="2600" dirty="0">
                <a:latin typeface="Times New Roman"/>
                <a:cs typeface="Times New Roman"/>
              </a:rPr>
              <a:t>Element </a:t>
            </a:r>
            <a:r>
              <a:rPr sz="2600" spc="-5" dirty="0">
                <a:latin typeface="Times New Roman"/>
                <a:cs typeface="Times New Roman"/>
              </a:rPr>
              <a:t>Management System (EMS) </a:t>
            </a:r>
            <a:r>
              <a:rPr sz="2600" dirty="0">
                <a:latin typeface="Times New Roman"/>
                <a:cs typeface="Times New Roman"/>
              </a:rPr>
              <a:t>– </a:t>
            </a:r>
            <a:r>
              <a:rPr sz="2600" spc="-5" dirty="0">
                <a:latin typeface="Times New Roman"/>
                <a:cs typeface="Times New Roman"/>
              </a:rPr>
              <a:t>VNF Manager  </a:t>
            </a:r>
            <a:r>
              <a:rPr sz="2600" dirty="0">
                <a:latin typeface="Times New Roman"/>
                <a:cs typeface="Times New Roman"/>
              </a:rPr>
              <a:t>(</a:t>
            </a:r>
            <a:r>
              <a:rPr sz="2600" b="1" dirty="0">
                <a:latin typeface="Times New Roman"/>
                <a:cs typeface="Times New Roman"/>
              </a:rPr>
              <a:t>Ve-</a:t>
            </a:r>
            <a:r>
              <a:rPr sz="2600" b="1" dirty="0" err="1">
                <a:latin typeface="Times New Roman"/>
                <a:cs typeface="Times New Roman"/>
              </a:rPr>
              <a:t>Vnfm</a:t>
            </a:r>
            <a:r>
              <a:rPr lang="en-US" sz="2600" dirty="0">
                <a:latin typeface="Times New Roman"/>
                <a:cs typeface="Times New Roman"/>
              </a:rPr>
              <a:t>)</a:t>
            </a:r>
            <a:endParaRPr sz="2600" dirty="0">
              <a:latin typeface="Times New Roman"/>
              <a:cs typeface="Times New Roman"/>
            </a:endParaRPr>
          </a:p>
        </p:txBody>
      </p:sp>
      <p:sp>
        <p:nvSpPr>
          <p:cNvPr id="6" name="TextBox 5">
            <a:extLst>
              <a:ext uri="{FF2B5EF4-FFF2-40B4-BE49-F238E27FC236}">
                <a16:creationId xmlns:a16="http://schemas.microsoft.com/office/drawing/2014/main" id="{0FEB8660-63A7-34D9-89E5-A666E2438ECF}"/>
              </a:ext>
            </a:extLst>
          </p:cNvPr>
          <p:cNvSpPr txBox="1"/>
          <p:nvPr/>
        </p:nvSpPr>
        <p:spPr>
          <a:xfrm>
            <a:off x="1926347" y="1911356"/>
            <a:ext cx="8339307" cy="4101123"/>
          </a:xfrm>
          <a:prstGeom prst="rect">
            <a:avLst/>
          </a:prstGeom>
          <a:noFill/>
        </p:spPr>
        <p:txBody>
          <a:bodyPr wrap="square">
            <a:spAutoFit/>
          </a:bodyPr>
          <a:lstStyle/>
          <a:p>
            <a:pPr algn="just">
              <a:spcBef>
                <a:spcPts val="1200"/>
              </a:spcBef>
              <a:spcAft>
                <a:spcPts val="1200"/>
              </a:spcAft>
            </a:pPr>
            <a:r>
              <a:rPr lang="en-US" b="1" dirty="0">
                <a:solidFill>
                  <a:srgbClr val="0F1115"/>
                </a:solidFill>
                <a:latin typeface="quote-cjk-patch"/>
              </a:rPr>
              <a:t>Main Functionalities:</a:t>
            </a:r>
            <a:endParaRPr lang="en-US" dirty="0">
              <a:solidFill>
                <a:srgbClr val="0F1115"/>
              </a:solidFill>
              <a:latin typeface="quote-cjk-patch"/>
            </a:endParaRPr>
          </a:p>
          <a:p>
            <a:pPr marL="285750" indent="-285750" algn="just">
              <a:spcBef>
                <a:spcPts val="1200"/>
              </a:spcBef>
              <a:spcAft>
                <a:spcPts val="1200"/>
              </a:spcAft>
              <a:buFont typeface="Arial" panose="020B0604020202020204" pitchFamily="34" charset="0"/>
              <a:buChar char="•"/>
            </a:pPr>
            <a:r>
              <a:rPr lang="en-US" b="1" dirty="0">
                <a:solidFill>
                  <a:srgbClr val="0F1115"/>
                </a:solidFill>
                <a:latin typeface="quote-cjk-patch"/>
              </a:rPr>
              <a:t>VNF Configuration:</a:t>
            </a:r>
            <a:r>
              <a:rPr lang="en-US" dirty="0">
                <a:solidFill>
                  <a:srgbClr val="0F1115"/>
                </a:solidFill>
                <a:latin typeface="quote-cjk-patch"/>
              </a:rPr>
              <a:t> The VNFM can trigger initial configuration on the VNF after instantiation via the EMS.</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Software Image Management:</a:t>
            </a:r>
            <a:r>
              <a:rPr lang="en-US" dirty="0">
                <a:solidFill>
                  <a:srgbClr val="0F1115"/>
                </a:solidFill>
                <a:latin typeface="quote-cjk-patch"/>
              </a:rPr>
              <a:t> The VNFM can instruct the EMS to update the VNF's software.</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VNF-Specific Fault and Performance Management:</a:t>
            </a:r>
            <a:r>
              <a:rPr lang="en-US" dirty="0">
                <a:solidFill>
                  <a:srgbClr val="0F1115"/>
                </a:solidFill>
                <a:latin typeface="quote-cjk-patch"/>
              </a:rPr>
              <a:t> The EMS reports VNF-specific alarms (e.g., "Firewall policy table is full," "Session limit reached") and performance metrics (e.g., "Packets inspected per second") to the VNFM. The VNFM can then decide to trigger a healing or scaling action.</a:t>
            </a:r>
          </a:p>
          <a:p>
            <a:pPr marL="285750" indent="-285750" algn="just">
              <a:spcBef>
                <a:spcPts val="450"/>
              </a:spcBef>
              <a:spcAft>
                <a:spcPts val="1200"/>
              </a:spcAft>
              <a:buFont typeface="Arial" panose="020B0604020202020204" pitchFamily="34" charset="0"/>
              <a:buChar char="•"/>
            </a:pPr>
            <a:r>
              <a:rPr lang="en-US" b="1" dirty="0">
                <a:solidFill>
                  <a:srgbClr val="0F1115"/>
                </a:solidFill>
                <a:latin typeface="quote-cjk-patch"/>
              </a:rPr>
              <a:t>Lifecycle Coordination:</a:t>
            </a:r>
            <a:r>
              <a:rPr lang="en-US" dirty="0">
                <a:solidFill>
                  <a:srgbClr val="0F1115"/>
                </a:solidFill>
                <a:latin typeface="quote-cjk-patch"/>
              </a:rPr>
              <a:t> The VNFM informs the EMS of impending lifecycle operations (e.g., "I am about to scale this VNF, prepare yourself").</a:t>
            </a:r>
          </a:p>
        </p:txBody>
      </p:sp>
    </p:spTree>
    <p:extLst>
      <p:ext uri="{BB962C8B-B14F-4D97-AF65-F5344CB8AC3E}">
        <p14:creationId xmlns:p14="http://schemas.microsoft.com/office/powerpoint/2010/main" val="576988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C188C-4E31-C446-4B40-EA06A2A96F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29B9BA-AAD4-11DC-E2FD-2D9C9F66FA96}"/>
              </a:ext>
            </a:extLst>
          </p:cNvPr>
          <p:cNvSpPr txBox="1"/>
          <p:nvPr/>
        </p:nvSpPr>
        <p:spPr>
          <a:xfrm>
            <a:off x="1669474" y="174935"/>
            <a:ext cx="8541327" cy="573210"/>
          </a:xfrm>
          <a:prstGeom prst="rect">
            <a:avLst/>
          </a:prstGeom>
        </p:spPr>
        <p:txBody>
          <a:bodyPr vert="horz" lIns="91440" tIns="45720" rIns="91440" bIns="45720" rtlCol="0" anchor="ctr">
            <a:normAutofit lnSpcReduction="10000"/>
          </a:bodyPr>
          <a:lstStyle>
            <a:lvl1pPr algn="ctr">
              <a:spcBef>
                <a:spcPct val="0"/>
              </a:spcBef>
              <a:buNone/>
              <a:defRPr sz="4000">
                <a:latin typeface="+mj-lt"/>
                <a:ea typeface="+mj-ea"/>
                <a:cs typeface="+mj-cs"/>
              </a:defRPr>
            </a:lvl1pPr>
          </a:lstStyle>
          <a:p>
            <a:pPr algn="l">
              <a:spcBef>
                <a:spcPts val="600"/>
              </a:spcBef>
            </a:pPr>
            <a:r>
              <a:rPr lang="en-US" sz="3200" b="1" dirty="0">
                <a:solidFill>
                  <a:srgbClr val="0F1115"/>
                </a:solidFill>
                <a:latin typeface="quote-cjk-patch"/>
              </a:rPr>
              <a:t>A Simple Analogy: The Power Grid</a:t>
            </a:r>
          </a:p>
        </p:txBody>
      </p:sp>
      <p:sp>
        <p:nvSpPr>
          <p:cNvPr id="7" name="TextBox 6">
            <a:extLst>
              <a:ext uri="{FF2B5EF4-FFF2-40B4-BE49-F238E27FC236}">
                <a16:creationId xmlns:a16="http://schemas.microsoft.com/office/drawing/2014/main" id="{C69C53C1-E72C-65D2-FB8B-E403B8750B2B}"/>
              </a:ext>
            </a:extLst>
          </p:cNvPr>
          <p:cNvSpPr txBox="1"/>
          <p:nvPr/>
        </p:nvSpPr>
        <p:spPr>
          <a:xfrm>
            <a:off x="1669473" y="807660"/>
            <a:ext cx="8853054" cy="6001643"/>
          </a:xfrm>
          <a:prstGeom prst="rect">
            <a:avLst/>
          </a:prstGeom>
          <a:noFill/>
        </p:spPr>
        <p:txBody>
          <a:bodyPr wrap="square">
            <a:spAutoFit/>
          </a:bodyPr>
          <a:lstStyle/>
          <a:p>
            <a:pPr>
              <a:spcBef>
                <a:spcPts val="1200"/>
              </a:spcBef>
              <a:spcAft>
                <a:spcPts val="600"/>
              </a:spcAft>
            </a:pPr>
            <a:r>
              <a:rPr lang="en-US" sz="2200" dirty="0">
                <a:solidFill>
                  <a:srgbClr val="0F1115"/>
                </a:solidFill>
                <a:latin typeface="quote-cjk-patch"/>
              </a:rPr>
              <a:t>Let's use a powerful analogy to tie all the NFV components together. Imagine providing electricity to a city.</a:t>
            </a:r>
          </a:p>
          <a:p>
            <a:pPr marL="285750" indent="-285750">
              <a:spcBef>
                <a:spcPts val="1200"/>
              </a:spcBef>
              <a:spcAft>
                <a:spcPts val="600"/>
              </a:spcAft>
              <a:buFont typeface="Arial" panose="020B0604020202020204" pitchFamily="34" charset="0"/>
              <a:buChar char="•"/>
            </a:pPr>
            <a:r>
              <a:rPr lang="en-US" sz="2200" b="1" dirty="0">
                <a:solidFill>
                  <a:srgbClr val="0F1115"/>
                </a:solidFill>
                <a:latin typeface="quote-cjk-patch"/>
              </a:rPr>
              <a:t>The NFVI is the entire Power Grid Infrastructure.</a:t>
            </a:r>
            <a:endParaRPr lang="en-US" sz="2200" dirty="0">
              <a:solidFill>
                <a:srgbClr val="0F1115"/>
              </a:solidFill>
              <a:latin typeface="quote-cjk-patch"/>
            </a:endParaRPr>
          </a:p>
          <a:p>
            <a:pPr marL="501650" lvl="1" indent="-285750">
              <a:spcBef>
                <a:spcPts val="1200"/>
              </a:spcBef>
              <a:spcAft>
                <a:spcPts val="600"/>
              </a:spcAft>
              <a:buFont typeface="Courier New" panose="02070309020205020404" pitchFamily="49" charset="0"/>
              <a:buChar char="o"/>
            </a:pPr>
            <a:r>
              <a:rPr lang="en-US" sz="2000" dirty="0">
                <a:solidFill>
                  <a:srgbClr val="0F1115"/>
                </a:solidFill>
                <a:latin typeface="quote-cjk-patch"/>
              </a:rPr>
              <a:t>The </a:t>
            </a:r>
            <a:r>
              <a:rPr lang="en-US" sz="2000" b="1" dirty="0">
                <a:solidFill>
                  <a:srgbClr val="0F1115"/>
                </a:solidFill>
                <a:latin typeface="quote-cjk-patch"/>
              </a:rPr>
              <a:t>Physical Layer</a:t>
            </a:r>
            <a:r>
              <a:rPr lang="en-US" sz="2000" dirty="0">
                <a:solidFill>
                  <a:srgbClr val="0F1115"/>
                </a:solidFill>
                <a:latin typeface="quote-cjk-patch"/>
              </a:rPr>
              <a:t> is the power plants, coal/gas, high-voltage transmission lines, and electrical substations.</a:t>
            </a:r>
          </a:p>
          <a:p>
            <a:pPr marL="501650" lvl="1" indent="-285750">
              <a:spcBef>
                <a:spcPts val="1200"/>
              </a:spcBef>
              <a:spcAft>
                <a:spcPts val="600"/>
              </a:spcAft>
              <a:buFont typeface="Courier New" panose="02070309020205020404" pitchFamily="49" charset="0"/>
              <a:buChar char="o"/>
            </a:pPr>
            <a:r>
              <a:rPr lang="en-US" sz="2000" dirty="0">
                <a:solidFill>
                  <a:srgbClr val="0F1115"/>
                </a:solidFill>
                <a:latin typeface="quote-cjk-patch"/>
              </a:rPr>
              <a:t>The </a:t>
            </a:r>
            <a:r>
              <a:rPr lang="en-US" sz="2000" b="1" dirty="0">
                <a:solidFill>
                  <a:srgbClr val="0F1115"/>
                </a:solidFill>
                <a:latin typeface="quote-cjk-patch"/>
              </a:rPr>
              <a:t>Virtualization Layer</a:t>
            </a:r>
            <a:r>
              <a:rPr lang="en-US" sz="2000" dirty="0">
                <a:solidFill>
                  <a:srgbClr val="0F1115"/>
                </a:solidFill>
                <a:latin typeface="quote-cjk-patch"/>
              </a:rPr>
              <a:t> is the technology that converts various energy sources (coal, gas, solar) into a standardized form (AC electricity) and manages its flow.</a:t>
            </a:r>
          </a:p>
          <a:p>
            <a:pPr marL="285750" indent="-285750">
              <a:spcBef>
                <a:spcPts val="1200"/>
              </a:spcBef>
              <a:spcAft>
                <a:spcPts val="600"/>
              </a:spcAft>
              <a:buFont typeface="Arial" panose="020B0604020202020204" pitchFamily="34" charset="0"/>
              <a:buChar char="•"/>
            </a:pPr>
            <a:r>
              <a:rPr lang="en-US" sz="2200" b="1" dirty="0">
                <a:solidFill>
                  <a:srgbClr val="0F1115"/>
                </a:solidFill>
                <a:latin typeface="quote-cjk-patch"/>
              </a:rPr>
              <a:t>The VNFs are the Electrical Appliances</a:t>
            </a:r>
            <a:r>
              <a:rPr lang="en-US" sz="2200" dirty="0">
                <a:solidFill>
                  <a:srgbClr val="0F1115"/>
                </a:solidFill>
                <a:latin typeface="quote-cjk-patch"/>
              </a:rPr>
              <a:t> in homes and businesses (e.g., a refrigerator, an air conditioner, a factory machine). Each appliance provides a specific function.</a:t>
            </a:r>
          </a:p>
          <a:p>
            <a:pPr marL="285750" indent="-285750">
              <a:spcBef>
                <a:spcPts val="1200"/>
              </a:spcBef>
              <a:spcAft>
                <a:spcPts val="600"/>
              </a:spcAft>
              <a:buFont typeface="Arial" panose="020B0604020202020204" pitchFamily="34" charset="0"/>
              <a:buChar char="•"/>
            </a:pPr>
            <a:r>
              <a:rPr lang="en-US" sz="2200" b="1" dirty="0">
                <a:solidFill>
                  <a:srgbClr val="0F1115"/>
                </a:solidFill>
                <a:latin typeface="quote-cjk-patch"/>
              </a:rPr>
              <a:t>The VIM is the Local Power Station Manager &amp; Grid Operator.</a:t>
            </a:r>
            <a:endParaRPr lang="en-US" sz="2200" dirty="0">
              <a:solidFill>
                <a:srgbClr val="0F1115"/>
              </a:solidFill>
              <a:latin typeface="quote-cjk-patch"/>
            </a:endParaRPr>
          </a:p>
          <a:p>
            <a:pPr marL="495300" lvl="1" indent="-279400">
              <a:spcBef>
                <a:spcPts val="1200"/>
              </a:spcBef>
              <a:spcAft>
                <a:spcPts val="600"/>
              </a:spcAft>
              <a:buFont typeface="Courier New" panose="02070309020205020404" pitchFamily="49" charset="0"/>
              <a:buChar char="o"/>
            </a:pPr>
            <a:r>
              <a:rPr lang="en-US" sz="2000" dirty="0">
                <a:solidFill>
                  <a:srgbClr val="0F1115"/>
                </a:solidFill>
                <a:latin typeface="quote-cjk-patch"/>
              </a:rPr>
              <a:t>They control the flow of electricity from the power plants to the neighborhoods. They can switch power sources and reroute energy to where it's needed most.</a:t>
            </a:r>
          </a:p>
        </p:txBody>
      </p:sp>
      <p:sp>
        <p:nvSpPr>
          <p:cNvPr id="8" name="Slide Number Placeholder 7">
            <a:extLst>
              <a:ext uri="{FF2B5EF4-FFF2-40B4-BE49-F238E27FC236}">
                <a16:creationId xmlns:a16="http://schemas.microsoft.com/office/drawing/2014/main" id="{C9391E3F-CCEC-9540-261A-7D8296553D70}"/>
              </a:ext>
            </a:extLst>
          </p:cNvPr>
          <p:cNvSpPr>
            <a:spLocks noGrp="1"/>
          </p:cNvSpPr>
          <p:nvPr>
            <p:ph type="sldNum" sz="quarter" idx="12"/>
          </p:nvPr>
        </p:nvSpPr>
        <p:spPr/>
        <p:txBody>
          <a:bodyPr/>
          <a:lstStyle/>
          <a:p>
            <a:fld id="{C1FF6DA9-008F-8B48-92A6-B652298478BF}" type="slidenum">
              <a:rPr lang="en-US" smtClean="0"/>
              <a:t>54</a:t>
            </a:fld>
            <a:endParaRPr lang="en-US"/>
          </a:p>
        </p:txBody>
      </p:sp>
    </p:spTree>
    <p:extLst>
      <p:ext uri="{BB962C8B-B14F-4D97-AF65-F5344CB8AC3E}">
        <p14:creationId xmlns:p14="http://schemas.microsoft.com/office/powerpoint/2010/main" val="12456834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C37C0-2451-1FA5-841D-BB825AF571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4F27F7-B741-A300-D051-F7E767AF2BB6}"/>
              </a:ext>
            </a:extLst>
          </p:cNvPr>
          <p:cNvSpPr txBox="1"/>
          <p:nvPr/>
        </p:nvSpPr>
        <p:spPr>
          <a:xfrm>
            <a:off x="1669474" y="174935"/>
            <a:ext cx="8541327" cy="573210"/>
          </a:xfrm>
          <a:prstGeom prst="rect">
            <a:avLst/>
          </a:prstGeom>
        </p:spPr>
        <p:txBody>
          <a:bodyPr vert="horz" lIns="91440" tIns="45720" rIns="91440" bIns="45720" rtlCol="0" anchor="ctr">
            <a:normAutofit lnSpcReduction="10000"/>
          </a:bodyPr>
          <a:lstStyle>
            <a:lvl1pPr algn="ctr">
              <a:spcBef>
                <a:spcPct val="0"/>
              </a:spcBef>
              <a:buNone/>
              <a:defRPr sz="4000">
                <a:latin typeface="+mj-lt"/>
                <a:ea typeface="+mj-ea"/>
                <a:cs typeface="+mj-cs"/>
              </a:defRPr>
            </a:lvl1pPr>
          </a:lstStyle>
          <a:p>
            <a:pPr algn="l">
              <a:spcBef>
                <a:spcPts val="600"/>
              </a:spcBef>
            </a:pPr>
            <a:r>
              <a:rPr lang="en-US" sz="3200" b="1" dirty="0">
                <a:solidFill>
                  <a:srgbClr val="0F1115"/>
                </a:solidFill>
                <a:latin typeface="quote-cjk-patch"/>
              </a:rPr>
              <a:t>A Simple Analogy: The Power Grid (</a:t>
            </a:r>
            <a:r>
              <a:rPr lang="en-US" sz="3200" b="1" dirty="0" err="1">
                <a:solidFill>
                  <a:srgbClr val="0F1115"/>
                </a:solidFill>
                <a:latin typeface="quote-cjk-patch"/>
              </a:rPr>
              <a:t>cont</a:t>
            </a:r>
            <a:r>
              <a:rPr lang="en-US" sz="3200" b="1" dirty="0">
                <a:solidFill>
                  <a:srgbClr val="0F1115"/>
                </a:solidFill>
                <a:latin typeface="quote-cjk-patch"/>
              </a:rPr>
              <a:t>)</a:t>
            </a:r>
          </a:p>
        </p:txBody>
      </p:sp>
      <p:sp>
        <p:nvSpPr>
          <p:cNvPr id="7" name="TextBox 6">
            <a:extLst>
              <a:ext uri="{FF2B5EF4-FFF2-40B4-BE49-F238E27FC236}">
                <a16:creationId xmlns:a16="http://schemas.microsoft.com/office/drawing/2014/main" id="{F5B75ECD-6314-46A0-2BB3-8593331973B0}"/>
              </a:ext>
            </a:extLst>
          </p:cNvPr>
          <p:cNvSpPr txBox="1"/>
          <p:nvPr/>
        </p:nvSpPr>
        <p:spPr>
          <a:xfrm>
            <a:off x="1669473" y="1275250"/>
            <a:ext cx="8853054" cy="3308598"/>
          </a:xfrm>
          <a:prstGeom prst="rect">
            <a:avLst/>
          </a:prstGeom>
          <a:noFill/>
        </p:spPr>
        <p:txBody>
          <a:bodyPr wrap="square">
            <a:spAutoFit/>
          </a:bodyPr>
          <a:lstStyle>
            <a:defPPr>
              <a:defRPr lang="en-US"/>
            </a:defPPr>
            <a:lvl1pPr>
              <a:spcBef>
                <a:spcPts val="1200"/>
              </a:spcBef>
              <a:spcAft>
                <a:spcPts val="600"/>
              </a:spcAft>
              <a:defRPr sz="2200" b="0" i="0" u="none" strike="noStrike">
                <a:solidFill>
                  <a:srgbClr val="0F1115"/>
                </a:solidFill>
                <a:effectLst/>
                <a:latin typeface="quote-cjk-patch"/>
              </a:defRPr>
            </a:lvl1pPr>
            <a:lvl2pPr marL="501650" lvl="1" indent="-285750">
              <a:spcBef>
                <a:spcPts val="1200"/>
              </a:spcBef>
              <a:spcAft>
                <a:spcPts val="600"/>
              </a:spcAft>
              <a:buFont typeface="Courier New" panose="02070309020205020404" pitchFamily="49" charset="0"/>
              <a:buChar char="o"/>
              <a:defRPr sz="2000" b="0" i="0" u="none" strike="noStrike">
                <a:solidFill>
                  <a:srgbClr val="0F1115"/>
                </a:solidFill>
                <a:effectLst/>
                <a:latin typeface="quote-cjk-patch"/>
              </a:defRPr>
            </a:lvl2pPr>
          </a:lstStyle>
          <a:p>
            <a:pPr marL="342900" indent="-342900">
              <a:buFont typeface="Arial" panose="020B0604020202020204" pitchFamily="34" charset="0"/>
              <a:buChar char="•"/>
            </a:pPr>
            <a:r>
              <a:rPr lang="en-US" b="1" dirty="0"/>
              <a:t>The VNFM is the Appliance Specialist/Technician.</a:t>
            </a:r>
          </a:p>
          <a:p>
            <a:pPr lvl="1"/>
            <a:r>
              <a:rPr lang="en-US" dirty="0"/>
              <a:t>If your air conditioner (Firewall VNF) breaks, the technician (VNFM) is called to fix or replace it. If you need more cooling, they install a bigger unit (scale up).</a:t>
            </a:r>
          </a:p>
          <a:p>
            <a:pPr marL="342900" indent="-342900">
              <a:buFont typeface="Arial" panose="020B0604020202020204" pitchFamily="34" charset="0"/>
              <a:buChar char="•"/>
            </a:pPr>
            <a:r>
              <a:rPr lang="en-US" b="1" dirty="0"/>
              <a:t>The NFV Orchestrator is the City Planning Department.</a:t>
            </a:r>
          </a:p>
          <a:p>
            <a:pPr lvl="1"/>
            <a:r>
              <a:rPr lang="en-US" dirty="0"/>
              <a:t>They don't manage individual appliances or power lines. They approve the construction of a new housing development (new Network Service) and ensure that the power grid, water, and roads are coordinated to support it. They work with the Grid Operator (VIM) to ensure capacity is available.</a:t>
            </a:r>
          </a:p>
        </p:txBody>
      </p:sp>
      <p:sp>
        <p:nvSpPr>
          <p:cNvPr id="2" name="Slide Number Placeholder 1">
            <a:extLst>
              <a:ext uri="{FF2B5EF4-FFF2-40B4-BE49-F238E27FC236}">
                <a16:creationId xmlns:a16="http://schemas.microsoft.com/office/drawing/2014/main" id="{A7FAEE71-C01A-6BE0-2F97-CB40AFF77962}"/>
              </a:ext>
            </a:extLst>
          </p:cNvPr>
          <p:cNvSpPr>
            <a:spLocks noGrp="1"/>
          </p:cNvSpPr>
          <p:nvPr>
            <p:ph type="sldNum" sz="quarter" idx="12"/>
          </p:nvPr>
        </p:nvSpPr>
        <p:spPr/>
        <p:txBody>
          <a:bodyPr/>
          <a:lstStyle/>
          <a:p>
            <a:fld id="{C1FF6DA9-008F-8B48-92A6-B652298478BF}" type="slidenum">
              <a:rPr lang="en-US" smtClean="0"/>
              <a:t>55</a:t>
            </a:fld>
            <a:endParaRPr lang="en-US"/>
          </a:p>
        </p:txBody>
      </p:sp>
    </p:spTree>
    <p:extLst>
      <p:ext uri="{BB962C8B-B14F-4D97-AF65-F5344CB8AC3E}">
        <p14:creationId xmlns:p14="http://schemas.microsoft.com/office/powerpoint/2010/main" val="20740467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ADB7C-D259-4025-5FAC-0BF6AF93FAA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3318F3-EC1B-7373-CBE2-AC20C2CEC8B5}"/>
              </a:ext>
            </a:extLst>
          </p:cNvPr>
          <p:cNvSpPr txBox="1"/>
          <p:nvPr/>
        </p:nvSpPr>
        <p:spPr>
          <a:xfrm>
            <a:off x="1669474" y="174935"/>
            <a:ext cx="8541327" cy="573210"/>
          </a:xfrm>
          <a:prstGeom prst="rect">
            <a:avLst/>
          </a:prstGeom>
        </p:spPr>
        <p:txBody>
          <a:bodyPr vert="horz" lIns="91440" tIns="45720" rIns="91440" bIns="45720" rtlCol="0" anchor="ctr">
            <a:normAutofit fontScale="92500" lnSpcReduction="20000"/>
          </a:bodyPr>
          <a:lstStyle>
            <a:lvl1pPr algn="ctr">
              <a:spcBef>
                <a:spcPct val="0"/>
              </a:spcBef>
              <a:buNone/>
              <a:defRPr sz="4000">
                <a:latin typeface="+mj-lt"/>
                <a:ea typeface="+mj-ea"/>
                <a:cs typeface="+mj-cs"/>
              </a:defRPr>
            </a:lvl1pPr>
          </a:lstStyle>
          <a:p>
            <a:pPr>
              <a:spcBef>
                <a:spcPts val="600"/>
              </a:spcBef>
            </a:pPr>
            <a:r>
              <a:rPr lang="en-US" spc="-5" dirty="0">
                <a:latin typeface="Times New Roman" panose="02020603050405020304" pitchFamily="18" charset="0"/>
                <a:cs typeface="Times New Roman" panose="02020603050405020304" pitchFamily="18" charset="0"/>
              </a:rPr>
              <a:t>Summary</a:t>
            </a:r>
            <a:r>
              <a:rPr lang="en-US" sz="3200" b="1" dirty="0">
                <a:solidFill>
                  <a:srgbClr val="0F1115"/>
                </a:solidFill>
                <a:latin typeface="quote-cjk-patch"/>
              </a:rPr>
              <a:t> </a:t>
            </a:r>
          </a:p>
        </p:txBody>
      </p:sp>
      <p:sp>
        <p:nvSpPr>
          <p:cNvPr id="2" name="Slide Number Placeholder 1">
            <a:extLst>
              <a:ext uri="{FF2B5EF4-FFF2-40B4-BE49-F238E27FC236}">
                <a16:creationId xmlns:a16="http://schemas.microsoft.com/office/drawing/2014/main" id="{71E6134F-C999-4E88-C9A1-F788189FF0C6}"/>
              </a:ext>
            </a:extLst>
          </p:cNvPr>
          <p:cNvSpPr>
            <a:spLocks noGrp="1"/>
          </p:cNvSpPr>
          <p:nvPr>
            <p:ph type="sldNum" sz="quarter" idx="12"/>
          </p:nvPr>
        </p:nvSpPr>
        <p:spPr/>
        <p:txBody>
          <a:bodyPr/>
          <a:lstStyle/>
          <a:p>
            <a:fld id="{C1FF6DA9-008F-8B48-92A6-B652298478BF}" type="slidenum">
              <a:rPr lang="en-US" smtClean="0"/>
              <a:t>56</a:t>
            </a:fld>
            <a:endParaRPr lang="en-US"/>
          </a:p>
        </p:txBody>
      </p:sp>
      <p:graphicFrame>
        <p:nvGraphicFramePr>
          <p:cNvPr id="12" name="Table 11">
            <a:extLst>
              <a:ext uri="{FF2B5EF4-FFF2-40B4-BE49-F238E27FC236}">
                <a16:creationId xmlns:a16="http://schemas.microsoft.com/office/drawing/2014/main" id="{CAD0A445-4FBA-9ACF-4282-00ED8AEEB8FD}"/>
              </a:ext>
            </a:extLst>
          </p:cNvPr>
          <p:cNvGraphicFramePr>
            <a:graphicFrameLocks noGrp="1"/>
          </p:cNvGraphicFramePr>
          <p:nvPr>
            <p:extLst>
              <p:ext uri="{D42A27DB-BD31-4B8C-83A1-F6EECF244321}">
                <p14:modId xmlns:p14="http://schemas.microsoft.com/office/powerpoint/2010/main" val="1393346857"/>
              </p:ext>
            </p:extLst>
          </p:nvPr>
        </p:nvGraphicFramePr>
        <p:xfrm>
          <a:off x="822960" y="877330"/>
          <a:ext cx="10424159" cy="5843722"/>
        </p:xfrm>
        <a:graphic>
          <a:graphicData uri="http://schemas.openxmlformats.org/drawingml/2006/table">
            <a:tbl>
              <a:tblPr/>
              <a:tblGrid>
                <a:gridCol w="2684357">
                  <a:extLst>
                    <a:ext uri="{9D8B030D-6E8A-4147-A177-3AD203B41FA5}">
                      <a16:colId xmlns:a16="http://schemas.microsoft.com/office/drawing/2014/main" val="3732853131"/>
                    </a:ext>
                  </a:extLst>
                </a:gridCol>
                <a:gridCol w="4265082">
                  <a:extLst>
                    <a:ext uri="{9D8B030D-6E8A-4147-A177-3AD203B41FA5}">
                      <a16:colId xmlns:a16="http://schemas.microsoft.com/office/drawing/2014/main" val="3808641304"/>
                    </a:ext>
                  </a:extLst>
                </a:gridCol>
                <a:gridCol w="3474720">
                  <a:extLst>
                    <a:ext uri="{9D8B030D-6E8A-4147-A177-3AD203B41FA5}">
                      <a16:colId xmlns:a16="http://schemas.microsoft.com/office/drawing/2014/main" val="3060628469"/>
                    </a:ext>
                  </a:extLst>
                </a:gridCol>
              </a:tblGrid>
              <a:tr h="630194">
                <a:tc>
                  <a:txBody>
                    <a:bodyPr/>
                    <a:lstStyle/>
                    <a:p>
                      <a:pPr algn="ctr"/>
                      <a:r>
                        <a:rPr lang="en-US" sz="2000" b="1" dirty="0">
                          <a:latin typeface="Times New Roman" panose="02020603050405020304" pitchFamily="18" charset="0"/>
                          <a:cs typeface="Times New Roman" panose="02020603050405020304" pitchFamily="18" charset="0"/>
                        </a:rPr>
                        <a:t>Module</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1" dirty="0">
                          <a:latin typeface="Times New Roman" panose="02020603050405020304" pitchFamily="18" charset="0"/>
                          <a:cs typeface="Times New Roman" panose="02020603050405020304" pitchFamily="18" charset="0"/>
                        </a:rPr>
                        <a:t>Real-World Function</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1" dirty="0">
                          <a:latin typeface="Times New Roman" panose="02020603050405020304" pitchFamily="18" charset="0"/>
                          <a:cs typeface="Times New Roman" panose="02020603050405020304" pitchFamily="18" charset="0"/>
                        </a:rPr>
                        <a:t>Example in the Scenario</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4746880"/>
                  </a:ext>
                </a:extLst>
              </a:tr>
              <a:tr h="737560">
                <a:tc>
                  <a:txBody>
                    <a:bodyPr/>
                    <a:lstStyle/>
                    <a:p>
                      <a:r>
                        <a:rPr lang="en-US" sz="1800" b="1" dirty="0">
                          <a:latin typeface="Times New Roman" panose="02020603050405020304" pitchFamily="18" charset="0"/>
                          <a:cs typeface="Times New Roman" panose="02020603050405020304" pitchFamily="18" charset="0"/>
                        </a:rPr>
                        <a:t>OSS/BSS</a:t>
                      </a:r>
                      <a:endParaRPr lang="en-US" sz="1800" dirty="0">
                        <a:latin typeface="Times New Roman" panose="02020603050405020304" pitchFamily="18" charset="0"/>
                        <a:cs typeface="Times New Roman" panose="02020603050405020304" pitchFamily="18" charset="0"/>
                      </a:endParaRP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Handles customer orders, billing, and policy</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Customer requests VPN via portal</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6066978"/>
                  </a:ext>
                </a:extLst>
              </a:tr>
              <a:tr h="893532">
                <a:tc>
                  <a:txBody>
                    <a:bodyPr/>
                    <a:lstStyle/>
                    <a:p>
                      <a:r>
                        <a:rPr lang="en-US" sz="1800" b="1" dirty="0">
                          <a:latin typeface="Times New Roman" panose="02020603050405020304" pitchFamily="18" charset="0"/>
                          <a:cs typeface="Times New Roman" panose="02020603050405020304" pitchFamily="18" charset="0"/>
                        </a:rPr>
                        <a:t>NFV Orchestrator (NFVO)</a:t>
                      </a:r>
                      <a:endParaRPr lang="en-US" sz="1800" dirty="0">
                        <a:latin typeface="Times New Roman" panose="02020603050405020304" pitchFamily="18" charset="0"/>
                        <a:cs typeface="Times New Roman" panose="02020603050405020304" pitchFamily="18" charset="0"/>
                      </a:endParaRP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Plans and coordinates the full network service</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Selects and deploys “Enterprise VPN” blueprint</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481921"/>
                  </a:ext>
                </a:extLst>
              </a:tr>
              <a:tr h="1053658">
                <a:tc>
                  <a:txBody>
                    <a:bodyPr/>
                    <a:lstStyle/>
                    <a:p>
                      <a:r>
                        <a:rPr lang="en-US" sz="1800" b="1">
                          <a:latin typeface="Times New Roman" panose="02020603050405020304" pitchFamily="18" charset="0"/>
                          <a:cs typeface="Times New Roman" panose="02020603050405020304" pitchFamily="18" charset="0"/>
                        </a:rPr>
                        <a:t>VNF Manager (VNFM)</a:t>
                      </a:r>
                      <a:endParaRPr lang="en-US" sz="1800">
                        <a:latin typeface="Times New Roman" panose="02020603050405020304" pitchFamily="18" charset="0"/>
                        <a:cs typeface="Times New Roman" panose="02020603050405020304" pitchFamily="18" charset="0"/>
                      </a:endParaRP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Manages the lifecycle of VNFs</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Instantiates and configures vRouter, vFirewall, vLoadBalancer</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8783224"/>
                  </a:ext>
                </a:extLst>
              </a:tr>
              <a:tr h="1053658">
                <a:tc>
                  <a:txBody>
                    <a:bodyPr/>
                    <a:lstStyle/>
                    <a:p>
                      <a:r>
                        <a:rPr lang="en-US" sz="1800" b="1">
                          <a:latin typeface="Times New Roman" panose="02020603050405020304" pitchFamily="18" charset="0"/>
                          <a:cs typeface="Times New Roman" panose="02020603050405020304" pitchFamily="18" charset="0"/>
                        </a:rPr>
                        <a:t>VIM</a:t>
                      </a:r>
                      <a:endParaRPr lang="en-US" sz="1800">
                        <a:latin typeface="Times New Roman" panose="02020603050405020304" pitchFamily="18" charset="0"/>
                        <a:cs typeface="Times New Roman" panose="02020603050405020304" pitchFamily="18" charset="0"/>
                      </a:endParaRP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Allocates compute, storage, and network resources</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Deploys VMs and sets up virtual networks</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3542285"/>
                  </a:ext>
                </a:extLst>
              </a:tr>
              <a:tr h="737560">
                <a:tc>
                  <a:txBody>
                    <a:bodyPr/>
                    <a:lstStyle/>
                    <a:p>
                      <a:r>
                        <a:rPr lang="en-US" sz="1800" b="1">
                          <a:latin typeface="Times New Roman" panose="02020603050405020304" pitchFamily="18" charset="0"/>
                          <a:cs typeface="Times New Roman" panose="02020603050405020304" pitchFamily="18" charset="0"/>
                        </a:rPr>
                        <a:t>NFVI</a:t>
                      </a:r>
                      <a:endParaRPr lang="en-US" sz="1800">
                        <a:latin typeface="Times New Roman" panose="02020603050405020304" pitchFamily="18" charset="0"/>
                        <a:cs typeface="Times New Roman" panose="02020603050405020304" pitchFamily="18" charset="0"/>
                      </a:endParaRP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Executes VNFs on physical infrastructure</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Hosts all VNFs in data centers</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2286250"/>
                  </a:ext>
                </a:extLst>
              </a:tr>
              <a:tr h="737560">
                <a:tc>
                  <a:txBody>
                    <a:bodyPr/>
                    <a:lstStyle/>
                    <a:p>
                      <a:r>
                        <a:rPr lang="en-US" sz="1800" b="1" dirty="0">
                          <a:latin typeface="Times New Roman" panose="02020603050405020304" pitchFamily="18" charset="0"/>
                          <a:cs typeface="Times New Roman" panose="02020603050405020304" pitchFamily="18" charset="0"/>
                        </a:rPr>
                        <a:t>EMS</a:t>
                      </a:r>
                      <a:endParaRPr lang="en-US" sz="1800" dirty="0">
                        <a:latin typeface="Times New Roman" panose="02020603050405020304" pitchFamily="18" charset="0"/>
                        <a:cs typeface="Times New Roman" panose="02020603050405020304" pitchFamily="18" charset="0"/>
                      </a:endParaRP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Manages individual VNFs</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Configures rules, monitors performance, sends alarms</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7186840"/>
                  </a:ext>
                </a:extLst>
              </a:tr>
            </a:tbl>
          </a:graphicData>
        </a:graphic>
      </p:graphicFrame>
    </p:spTree>
    <p:extLst>
      <p:ext uri="{BB962C8B-B14F-4D97-AF65-F5344CB8AC3E}">
        <p14:creationId xmlns:p14="http://schemas.microsoft.com/office/powerpoint/2010/main" val="8876944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12192000" cy="727444"/>
          </a:xfrm>
        </p:spPr>
        <p:txBody>
          <a:bodyPr>
            <a:normAutofit fontScale="90000"/>
          </a:bodyPr>
          <a:lstStyle/>
          <a:p>
            <a:r>
              <a:rPr lang="en-US" b="0" i="0" u="none" strike="noStrike" dirty="0">
                <a:solidFill>
                  <a:srgbClr val="000000"/>
                </a:solidFill>
                <a:effectLst/>
                <a:latin typeface="-webkit-standard"/>
              </a:rPr>
              <a:t>OSS/BSS — Customer Request and Business Orchestration</a:t>
            </a:r>
            <a:endParaRPr dirty="0"/>
          </a:p>
        </p:txBody>
      </p:sp>
      <p:sp>
        <p:nvSpPr>
          <p:cNvPr id="3" name="Content Placeholder 2"/>
          <p:cNvSpPr>
            <a:spLocks noGrp="1"/>
          </p:cNvSpPr>
          <p:nvPr>
            <p:ph idx="1"/>
          </p:nvPr>
        </p:nvSpPr>
        <p:spPr>
          <a:xfrm>
            <a:off x="482948" y="1301141"/>
            <a:ext cx="11291518" cy="4756150"/>
          </a:xfrm>
        </p:spPr>
        <p:txBody>
          <a:bodyPr>
            <a:normAutofit/>
          </a:bodyPr>
          <a:lstStyle/>
          <a:p>
            <a:pPr>
              <a:spcBef>
                <a:spcPts val="1200"/>
              </a:spcBef>
              <a:spcAft>
                <a:spcPts val="1200"/>
              </a:spcAft>
            </a:pPr>
            <a:r>
              <a:rPr lang="en-US" sz="3600" b="1" i="0" u="none" strike="noStrike" dirty="0">
                <a:solidFill>
                  <a:srgbClr val="000000"/>
                </a:solidFill>
                <a:effectLst/>
              </a:rPr>
              <a:t>Technologies Used:</a:t>
            </a:r>
            <a:endParaRPr lang="en-US" sz="3600" b="0" i="0" u="none" strike="noStrike" dirty="0">
              <a:solidFill>
                <a:srgbClr val="000000"/>
              </a:solidFill>
              <a:effectLst/>
            </a:endParaRPr>
          </a:p>
          <a:p>
            <a:pPr lvl="1">
              <a:spcBef>
                <a:spcPts val="1200"/>
              </a:spcBef>
              <a:spcAft>
                <a:spcPts val="1200"/>
              </a:spcAft>
              <a:buFont typeface="Arial" panose="020B0604020202020204" pitchFamily="34" charset="0"/>
              <a:buChar char="•"/>
            </a:pPr>
            <a:r>
              <a:rPr lang="en-US" sz="3200" b="1" i="0" u="none" strike="noStrike" dirty="0">
                <a:solidFill>
                  <a:srgbClr val="000000"/>
                </a:solidFill>
                <a:effectLst/>
              </a:rPr>
              <a:t>BSS:</a:t>
            </a:r>
            <a:r>
              <a:rPr lang="en-US" sz="3200" b="0" i="0" u="none" strike="noStrike" dirty="0">
                <a:solidFill>
                  <a:srgbClr val="000000"/>
                </a:solidFill>
                <a:effectLst/>
              </a:rPr>
              <a:t> Salesforce CRM, Amdocs, or </a:t>
            </a:r>
            <a:r>
              <a:rPr lang="en-US" sz="3200" b="0" i="0" u="none" strike="noStrike" dirty="0" err="1">
                <a:solidFill>
                  <a:srgbClr val="000000"/>
                </a:solidFill>
                <a:effectLst/>
              </a:rPr>
              <a:t>NetCracker</a:t>
            </a:r>
            <a:endParaRPr lang="en-US" sz="3200" b="0" i="0" u="none" strike="noStrike" dirty="0">
              <a:solidFill>
                <a:srgbClr val="000000"/>
              </a:solidFill>
              <a:effectLst/>
            </a:endParaRPr>
          </a:p>
          <a:p>
            <a:pPr lvl="1">
              <a:spcBef>
                <a:spcPts val="1200"/>
              </a:spcBef>
              <a:spcAft>
                <a:spcPts val="1200"/>
              </a:spcAft>
              <a:buFont typeface="Arial" panose="020B0604020202020204" pitchFamily="34" charset="0"/>
              <a:buChar char="•"/>
            </a:pPr>
            <a:r>
              <a:rPr lang="en-US" sz="3200" b="1" i="0" u="none" strike="noStrike" dirty="0">
                <a:solidFill>
                  <a:srgbClr val="000000"/>
                </a:solidFill>
                <a:effectLst/>
              </a:rPr>
              <a:t>OSS:</a:t>
            </a:r>
            <a:r>
              <a:rPr lang="en-US" sz="3200" b="0" i="0" u="none" strike="noStrike" dirty="0">
                <a:solidFill>
                  <a:srgbClr val="000000"/>
                </a:solidFill>
                <a:effectLst/>
              </a:rPr>
              <a:t> ServiceNow OSS, NetAct</a:t>
            </a:r>
          </a:p>
          <a:p>
            <a:pPr lvl="1">
              <a:spcBef>
                <a:spcPts val="1200"/>
              </a:spcBef>
              <a:spcAft>
                <a:spcPts val="1200"/>
              </a:spcAft>
              <a:buFont typeface="Arial" panose="020B0604020202020204" pitchFamily="34" charset="0"/>
              <a:buChar char="•"/>
            </a:pPr>
            <a:r>
              <a:rPr lang="en-US" sz="3200" b="1" i="0" u="none" strike="noStrike" dirty="0">
                <a:solidFill>
                  <a:srgbClr val="000000"/>
                </a:solidFill>
                <a:effectLst/>
              </a:rPr>
              <a:t>Interface:</a:t>
            </a:r>
            <a:r>
              <a:rPr lang="en-US" sz="3200" b="0" i="0" u="none" strike="noStrike" dirty="0">
                <a:solidFill>
                  <a:srgbClr val="000000"/>
                </a:solidFill>
                <a:effectLst/>
              </a:rPr>
              <a:t> </a:t>
            </a:r>
            <a:r>
              <a:rPr lang="en-US" sz="3200" b="0" i="1" u="none" strike="noStrike" dirty="0" err="1">
                <a:solidFill>
                  <a:srgbClr val="000000"/>
                </a:solidFill>
                <a:effectLst/>
              </a:rPr>
              <a:t>Os</a:t>
            </a:r>
            <a:r>
              <a:rPr lang="en-US" sz="3200" b="0" i="1" u="none" strike="noStrike" dirty="0">
                <a:solidFill>
                  <a:srgbClr val="000000"/>
                </a:solidFill>
                <a:effectLst/>
              </a:rPr>
              <a:t>-Ma</a:t>
            </a:r>
            <a:r>
              <a:rPr lang="en-US" sz="3200" b="0" i="0" u="none" strike="noStrike" dirty="0">
                <a:solidFill>
                  <a:srgbClr val="000000"/>
                </a:solidFill>
                <a:effectLst/>
              </a:rPr>
              <a:t> (REST API / SOAP over HTTPS)</a:t>
            </a:r>
          </a:p>
          <a:p>
            <a:pPr lvl="1">
              <a:spcBef>
                <a:spcPts val="1200"/>
              </a:spcBef>
              <a:spcAft>
                <a:spcPts val="1200"/>
              </a:spcAft>
              <a:buFont typeface="Arial" panose="020B0604020202020204" pitchFamily="34" charset="0"/>
              <a:buChar char="•"/>
            </a:pPr>
            <a:r>
              <a:rPr lang="en-US" sz="3200" b="1" i="0" u="none" strike="noStrike" dirty="0">
                <a:solidFill>
                  <a:srgbClr val="000000"/>
                </a:solidFill>
                <a:effectLst/>
              </a:rPr>
              <a:t>Data formats:</a:t>
            </a:r>
            <a:r>
              <a:rPr lang="en-US" sz="3200" b="0" i="0" u="none" strike="noStrike" dirty="0">
                <a:solidFill>
                  <a:srgbClr val="000000"/>
                </a:solidFill>
                <a:effectLst/>
              </a:rPr>
              <a:t> TMF Open APIs (TMF640 – Service Ordering, TMF641 – Service Inventory)</a:t>
            </a:r>
          </a:p>
        </p:txBody>
      </p:sp>
      <p:sp>
        <p:nvSpPr>
          <p:cNvPr id="4" name="Slide Number Placeholder 3">
            <a:extLst>
              <a:ext uri="{FF2B5EF4-FFF2-40B4-BE49-F238E27FC236}">
                <a16:creationId xmlns:a16="http://schemas.microsoft.com/office/drawing/2014/main" id="{64B52120-3EF2-DF01-4EFC-3B8014CB8EB1}"/>
              </a:ext>
            </a:extLst>
          </p:cNvPr>
          <p:cNvSpPr>
            <a:spLocks noGrp="1"/>
          </p:cNvSpPr>
          <p:nvPr>
            <p:ph type="sldNum" sz="quarter" idx="12"/>
          </p:nvPr>
        </p:nvSpPr>
        <p:spPr/>
        <p:txBody>
          <a:bodyPr/>
          <a:lstStyle/>
          <a:p>
            <a:fld id="{C1FF6DA9-008F-8B48-92A6-B652298478BF}"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53125-00CD-FE0D-9A21-BD25E9447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36B05-DC55-AF2E-1133-9DE996455777}"/>
              </a:ext>
            </a:extLst>
          </p:cNvPr>
          <p:cNvSpPr>
            <a:spLocks noGrp="1"/>
          </p:cNvSpPr>
          <p:nvPr>
            <p:ph type="title"/>
          </p:nvPr>
        </p:nvSpPr>
        <p:spPr>
          <a:xfrm>
            <a:off x="0" y="94525"/>
            <a:ext cx="12192000" cy="893282"/>
          </a:xfrm>
        </p:spPr>
        <p:txBody>
          <a:bodyPr>
            <a:normAutofit fontScale="90000"/>
          </a:bodyPr>
          <a:lstStyle/>
          <a:p>
            <a:r>
              <a:rPr lang="en-US" b="0" i="0" u="none" strike="noStrike" dirty="0">
                <a:solidFill>
                  <a:srgbClr val="000000"/>
                </a:solidFill>
                <a:effectLst/>
                <a:latin typeface="-webkit-standard"/>
              </a:rPr>
              <a:t>OSS/BSS — Customer Request and Business Orchestration</a:t>
            </a:r>
            <a:endParaRPr dirty="0"/>
          </a:p>
        </p:txBody>
      </p:sp>
      <p:sp>
        <p:nvSpPr>
          <p:cNvPr id="3" name="Content Placeholder 2">
            <a:extLst>
              <a:ext uri="{FF2B5EF4-FFF2-40B4-BE49-F238E27FC236}">
                <a16:creationId xmlns:a16="http://schemas.microsoft.com/office/drawing/2014/main" id="{2047C104-22AD-5474-4CC0-D423896288D2}"/>
              </a:ext>
            </a:extLst>
          </p:cNvPr>
          <p:cNvSpPr>
            <a:spLocks noGrp="1"/>
          </p:cNvSpPr>
          <p:nvPr>
            <p:ph idx="1"/>
          </p:nvPr>
        </p:nvSpPr>
        <p:spPr>
          <a:xfrm>
            <a:off x="290945" y="951074"/>
            <a:ext cx="8229600" cy="531591"/>
          </a:xfrm>
        </p:spPr>
        <p:txBody>
          <a:bodyPr>
            <a:normAutofit/>
          </a:bodyPr>
          <a:lstStyle/>
          <a:p>
            <a:pPr marL="311150" lvl="1" indent="-287338">
              <a:spcBef>
                <a:spcPts val="1200"/>
              </a:spcBef>
              <a:spcAft>
                <a:spcPts val="600"/>
              </a:spcAft>
              <a:buFont typeface="Arial" panose="020B0604020202020204" pitchFamily="34" charset="0"/>
              <a:buChar char="•"/>
            </a:pPr>
            <a:r>
              <a:rPr lang="en-US" b="1" i="0" u="none" strike="noStrike" dirty="0">
                <a:solidFill>
                  <a:srgbClr val="000000"/>
                </a:solidFill>
                <a:effectLst/>
              </a:rPr>
              <a:t>Interface:</a:t>
            </a:r>
            <a:r>
              <a:rPr lang="en-US" b="0" i="0" u="none" strike="noStrike" dirty="0">
                <a:solidFill>
                  <a:srgbClr val="000000"/>
                </a:solidFill>
                <a:effectLst/>
              </a:rPr>
              <a:t> </a:t>
            </a:r>
            <a:r>
              <a:rPr lang="en-US" b="0" i="1" u="none" strike="noStrike" dirty="0" err="1">
                <a:solidFill>
                  <a:srgbClr val="000000"/>
                </a:solidFill>
                <a:effectLst/>
              </a:rPr>
              <a:t>Os</a:t>
            </a:r>
            <a:r>
              <a:rPr lang="en-US" b="0" i="1" u="none" strike="noStrike" dirty="0">
                <a:solidFill>
                  <a:srgbClr val="000000"/>
                </a:solidFill>
                <a:effectLst/>
              </a:rPr>
              <a:t>-Ma</a:t>
            </a:r>
            <a:r>
              <a:rPr lang="en-US" b="0" i="0" u="none" strike="noStrike" dirty="0">
                <a:solidFill>
                  <a:srgbClr val="000000"/>
                </a:solidFill>
                <a:effectLst/>
              </a:rPr>
              <a:t> (REST API / SOAP over HTTPS)</a:t>
            </a:r>
          </a:p>
        </p:txBody>
      </p:sp>
      <p:sp>
        <p:nvSpPr>
          <p:cNvPr id="4" name="Slide Number Placeholder 3">
            <a:extLst>
              <a:ext uri="{FF2B5EF4-FFF2-40B4-BE49-F238E27FC236}">
                <a16:creationId xmlns:a16="http://schemas.microsoft.com/office/drawing/2014/main" id="{5173EE8D-F711-32AD-382C-A394C28007EA}"/>
              </a:ext>
            </a:extLst>
          </p:cNvPr>
          <p:cNvSpPr>
            <a:spLocks noGrp="1"/>
          </p:cNvSpPr>
          <p:nvPr>
            <p:ph type="sldNum" sz="quarter" idx="12"/>
          </p:nvPr>
        </p:nvSpPr>
        <p:spPr/>
        <p:txBody>
          <a:bodyPr/>
          <a:lstStyle/>
          <a:p>
            <a:fld id="{C1FF6DA9-008F-8B48-92A6-B652298478BF}" type="slidenum">
              <a:rPr lang="en-US" smtClean="0"/>
              <a:t>58</a:t>
            </a:fld>
            <a:endParaRPr lang="en-US"/>
          </a:p>
        </p:txBody>
      </p:sp>
      <p:sp>
        <p:nvSpPr>
          <p:cNvPr id="6" name="TextBox 5">
            <a:extLst>
              <a:ext uri="{FF2B5EF4-FFF2-40B4-BE49-F238E27FC236}">
                <a16:creationId xmlns:a16="http://schemas.microsoft.com/office/drawing/2014/main" id="{B83B97B8-9A00-061E-D3B1-0C5972CADBC7}"/>
              </a:ext>
            </a:extLst>
          </p:cNvPr>
          <p:cNvSpPr txBox="1"/>
          <p:nvPr/>
        </p:nvSpPr>
        <p:spPr>
          <a:xfrm>
            <a:off x="290945" y="1640849"/>
            <a:ext cx="8229599" cy="1708160"/>
          </a:xfrm>
          <a:prstGeom prst="rect">
            <a:avLst/>
          </a:prstGeom>
          <a:noFill/>
        </p:spPr>
        <p:txBody>
          <a:bodyPr wrap="square">
            <a:spAutoFit/>
          </a:bodyPr>
          <a:lstStyle/>
          <a:p>
            <a:pPr marL="311150" lvl="1" indent="-287338">
              <a:spcBef>
                <a:spcPts val="1200"/>
              </a:spcBef>
              <a:spcAft>
                <a:spcPts val="600"/>
              </a:spcAft>
              <a:buFont typeface="Arial" panose="020B0604020202020204" pitchFamily="34" charset="0"/>
              <a:buChar char="•"/>
            </a:pPr>
            <a:r>
              <a:rPr lang="en-US" sz="2800" dirty="0">
                <a:solidFill>
                  <a:srgbClr val="000000"/>
                </a:solidFill>
                <a:latin typeface="Times New Roman" panose="02020603050405020304" pitchFamily="18" charset="0"/>
                <a:cs typeface="Times New Roman" panose="02020603050405020304" pitchFamily="18" charset="0"/>
              </a:rPr>
              <a:t>REST is a style of building web services that uses:</a:t>
            </a:r>
          </a:p>
          <a:p>
            <a:pPr marL="800100" lvl="1" indent="-342900">
              <a:buFont typeface="Arial" panose="020B0604020202020204" pitchFamily="34" charset="0"/>
              <a:buChar char="•"/>
            </a:pPr>
            <a:r>
              <a:rPr lang="en-US" sz="2400" b="1" dirty="0">
                <a:solidFill>
                  <a:srgbClr val="000000"/>
                </a:solidFill>
              </a:rPr>
              <a:t>HTTP methods</a:t>
            </a:r>
            <a:r>
              <a:rPr lang="en-US" sz="2400" dirty="0">
                <a:solidFill>
                  <a:srgbClr val="000000"/>
                </a:solidFill>
              </a:rPr>
              <a:t> (GET, POST, PUT, DELETE)</a:t>
            </a:r>
          </a:p>
          <a:p>
            <a:pPr marL="800100" lvl="1" indent="-342900">
              <a:buFont typeface="Arial" panose="020B0604020202020204" pitchFamily="34" charset="0"/>
              <a:buChar char="•"/>
            </a:pPr>
            <a:r>
              <a:rPr lang="en-US" sz="2400" b="1" dirty="0">
                <a:solidFill>
                  <a:srgbClr val="000000"/>
                </a:solidFill>
              </a:rPr>
              <a:t>URLs</a:t>
            </a:r>
            <a:endParaRPr lang="en-US" sz="2400" dirty="0">
              <a:solidFill>
                <a:srgbClr val="000000"/>
              </a:solidFill>
            </a:endParaRPr>
          </a:p>
          <a:p>
            <a:pPr marL="800100" lvl="1" indent="-342900">
              <a:buFont typeface="Arial" panose="020B0604020202020204" pitchFamily="34" charset="0"/>
              <a:buChar char="•"/>
            </a:pPr>
            <a:r>
              <a:rPr lang="en-US" sz="2400" b="1" dirty="0">
                <a:solidFill>
                  <a:srgbClr val="000000"/>
                </a:solidFill>
              </a:rPr>
              <a:t>JSON format</a:t>
            </a:r>
            <a:r>
              <a:rPr lang="en-US" sz="2400" dirty="0">
                <a:solidFill>
                  <a:srgbClr val="000000"/>
                </a:solidFill>
              </a:rPr>
              <a:t> (sometimes XML)</a:t>
            </a:r>
          </a:p>
        </p:txBody>
      </p:sp>
      <p:sp>
        <p:nvSpPr>
          <p:cNvPr id="8" name="TextBox 7">
            <a:extLst>
              <a:ext uri="{FF2B5EF4-FFF2-40B4-BE49-F238E27FC236}">
                <a16:creationId xmlns:a16="http://schemas.microsoft.com/office/drawing/2014/main" id="{63A7C64A-2F91-9F05-7D47-4286A69AE95E}"/>
              </a:ext>
            </a:extLst>
          </p:cNvPr>
          <p:cNvSpPr txBox="1"/>
          <p:nvPr/>
        </p:nvSpPr>
        <p:spPr>
          <a:xfrm>
            <a:off x="4205899" y="4173349"/>
            <a:ext cx="5129408" cy="461665"/>
          </a:xfrm>
          <a:prstGeom prst="rect">
            <a:avLst/>
          </a:prstGeom>
          <a:noFill/>
          <a:ln>
            <a:solidFill>
              <a:schemeClr val="tx1"/>
            </a:solidFill>
          </a:ln>
        </p:spPr>
        <p:txBody>
          <a:bodyPr wrap="square">
            <a:spAutoFit/>
          </a:bodyPr>
          <a:lstStyle/>
          <a:p>
            <a:r>
              <a:rPr lang="en-LB" sz="2400" b="1" dirty="0"/>
              <a:t>GET</a:t>
            </a:r>
            <a:r>
              <a:rPr lang="en-LB" sz="2400" dirty="0"/>
              <a:t> https://school-api.com/students/5</a:t>
            </a:r>
          </a:p>
        </p:txBody>
      </p:sp>
      <p:sp>
        <p:nvSpPr>
          <p:cNvPr id="9" name="TextBox 8">
            <a:extLst>
              <a:ext uri="{FF2B5EF4-FFF2-40B4-BE49-F238E27FC236}">
                <a16:creationId xmlns:a16="http://schemas.microsoft.com/office/drawing/2014/main" id="{CEC7FCAB-122F-C0AA-39F0-3F70E93E648B}"/>
              </a:ext>
            </a:extLst>
          </p:cNvPr>
          <p:cNvSpPr txBox="1"/>
          <p:nvPr/>
        </p:nvSpPr>
        <p:spPr>
          <a:xfrm>
            <a:off x="711138" y="4173350"/>
            <a:ext cx="3256768" cy="461665"/>
          </a:xfrm>
          <a:prstGeom prst="rect">
            <a:avLst/>
          </a:prstGeom>
          <a:noFill/>
        </p:spPr>
        <p:txBody>
          <a:bodyPr wrap="square" rtlCol="0">
            <a:spAutoFit/>
          </a:bodyPr>
          <a:lstStyle/>
          <a:p>
            <a:r>
              <a:rPr lang="en-LB" sz="2400" dirty="0"/>
              <a:t>* Get student with ID 5:</a:t>
            </a:r>
          </a:p>
        </p:txBody>
      </p:sp>
      <p:sp>
        <p:nvSpPr>
          <p:cNvPr id="10" name="TextBox 9">
            <a:extLst>
              <a:ext uri="{FF2B5EF4-FFF2-40B4-BE49-F238E27FC236}">
                <a16:creationId xmlns:a16="http://schemas.microsoft.com/office/drawing/2014/main" id="{65E78451-2153-BE53-5818-E67D678555A5}"/>
              </a:ext>
            </a:extLst>
          </p:cNvPr>
          <p:cNvSpPr txBox="1"/>
          <p:nvPr/>
        </p:nvSpPr>
        <p:spPr>
          <a:xfrm>
            <a:off x="290945" y="3646749"/>
            <a:ext cx="3100192" cy="461665"/>
          </a:xfrm>
          <a:prstGeom prst="rect">
            <a:avLst/>
          </a:prstGeom>
          <a:noFill/>
        </p:spPr>
        <p:txBody>
          <a:bodyPr wrap="square" rtlCol="0">
            <a:spAutoFit/>
          </a:bodyPr>
          <a:lstStyle/>
          <a:p>
            <a:r>
              <a:rPr lang="en-LB" sz="2400" b="1" dirty="0"/>
              <a:t>REST Example:</a:t>
            </a:r>
          </a:p>
        </p:txBody>
      </p:sp>
      <p:sp>
        <p:nvSpPr>
          <p:cNvPr id="12" name="TextBox 11">
            <a:extLst>
              <a:ext uri="{FF2B5EF4-FFF2-40B4-BE49-F238E27FC236}">
                <a16:creationId xmlns:a16="http://schemas.microsoft.com/office/drawing/2014/main" id="{8DF7F040-3BCC-4090-6382-CBECAE93C71C}"/>
              </a:ext>
            </a:extLst>
          </p:cNvPr>
          <p:cNvSpPr txBox="1"/>
          <p:nvPr/>
        </p:nvSpPr>
        <p:spPr>
          <a:xfrm>
            <a:off x="711138" y="4949297"/>
            <a:ext cx="3256768" cy="461665"/>
          </a:xfrm>
          <a:prstGeom prst="rect">
            <a:avLst/>
          </a:prstGeom>
          <a:noFill/>
        </p:spPr>
        <p:txBody>
          <a:bodyPr wrap="square">
            <a:spAutoFit/>
          </a:bodyPr>
          <a:lstStyle/>
          <a:p>
            <a:r>
              <a:rPr lang="en-US" sz="2400" dirty="0"/>
              <a:t>* Response (JSON):</a:t>
            </a:r>
            <a:endParaRPr lang="en-LB" sz="2400" dirty="0"/>
          </a:p>
        </p:txBody>
      </p:sp>
      <p:sp>
        <p:nvSpPr>
          <p:cNvPr id="14" name="TextBox 13">
            <a:extLst>
              <a:ext uri="{FF2B5EF4-FFF2-40B4-BE49-F238E27FC236}">
                <a16:creationId xmlns:a16="http://schemas.microsoft.com/office/drawing/2014/main" id="{ADF889DB-F3D2-EC75-CF0A-AF9374618122}"/>
              </a:ext>
            </a:extLst>
          </p:cNvPr>
          <p:cNvSpPr txBox="1"/>
          <p:nvPr/>
        </p:nvSpPr>
        <p:spPr>
          <a:xfrm>
            <a:off x="4205898" y="4943123"/>
            <a:ext cx="5129407" cy="1631216"/>
          </a:xfrm>
          <a:prstGeom prst="rect">
            <a:avLst/>
          </a:prstGeom>
          <a:noFill/>
          <a:ln>
            <a:solidFill>
              <a:schemeClr val="tx1"/>
            </a:solidFill>
          </a:ln>
        </p:spPr>
        <p:txBody>
          <a:bodyPr wrap="square">
            <a:spAutoFit/>
          </a:bodyPr>
          <a:lstStyle/>
          <a:p>
            <a:r>
              <a:rPr lang="en-LB" sz="2000" dirty="0"/>
              <a:t>{</a:t>
            </a:r>
          </a:p>
          <a:p>
            <a:r>
              <a:rPr lang="en-LB" sz="2000" dirty="0"/>
              <a:t>  "id": 5,</a:t>
            </a:r>
          </a:p>
          <a:p>
            <a:r>
              <a:rPr lang="en-LB" sz="2000" dirty="0"/>
              <a:t>  "name": "Sara",</a:t>
            </a:r>
          </a:p>
          <a:p>
            <a:r>
              <a:rPr lang="en-LB" sz="2000" dirty="0"/>
              <a:t>  "grade": 8</a:t>
            </a:r>
          </a:p>
          <a:p>
            <a:r>
              <a:rPr lang="en-LB" sz="2000" dirty="0"/>
              <a:t>}</a:t>
            </a:r>
          </a:p>
        </p:txBody>
      </p:sp>
    </p:spTree>
    <p:extLst>
      <p:ext uri="{BB962C8B-B14F-4D97-AF65-F5344CB8AC3E}">
        <p14:creationId xmlns:p14="http://schemas.microsoft.com/office/powerpoint/2010/main" val="34695588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02469-6DA7-FA92-EBB4-E261E31B6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195BA-06B3-8DE0-6FB2-B0D3D9FEB52D}"/>
              </a:ext>
            </a:extLst>
          </p:cNvPr>
          <p:cNvSpPr>
            <a:spLocks noGrp="1"/>
          </p:cNvSpPr>
          <p:nvPr>
            <p:ph type="title"/>
          </p:nvPr>
        </p:nvSpPr>
        <p:spPr>
          <a:xfrm>
            <a:off x="0" y="149378"/>
            <a:ext cx="12192000" cy="824701"/>
          </a:xfrm>
        </p:spPr>
        <p:txBody>
          <a:bodyPr>
            <a:normAutofit fontScale="90000"/>
          </a:bodyPr>
          <a:lstStyle/>
          <a:p>
            <a:r>
              <a:rPr lang="en-US" b="0" i="0" u="none" strike="noStrike" dirty="0">
                <a:solidFill>
                  <a:srgbClr val="000000"/>
                </a:solidFill>
                <a:effectLst/>
                <a:latin typeface="-webkit-standard"/>
              </a:rPr>
              <a:t>OSS/BSS — Customer Request and Business Orchestration</a:t>
            </a:r>
            <a:endParaRPr dirty="0"/>
          </a:p>
        </p:txBody>
      </p:sp>
      <p:sp>
        <p:nvSpPr>
          <p:cNvPr id="3" name="Content Placeholder 2">
            <a:extLst>
              <a:ext uri="{FF2B5EF4-FFF2-40B4-BE49-F238E27FC236}">
                <a16:creationId xmlns:a16="http://schemas.microsoft.com/office/drawing/2014/main" id="{42C620A8-1A0F-482E-BF9C-1460BC50028E}"/>
              </a:ext>
            </a:extLst>
          </p:cNvPr>
          <p:cNvSpPr>
            <a:spLocks noGrp="1"/>
          </p:cNvSpPr>
          <p:nvPr>
            <p:ph idx="1"/>
          </p:nvPr>
        </p:nvSpPr>
        <p:spPr>
          <a:xfrm>
            <a:off x="446762" y="1007339"/>
            <a:ext cx="8229600" cy="531591"/>
          </a:xfrm>
        </p:spPr>
        <p:txBody>
          <a:bodyPr>
            <a:normAutofit/>
          </a:bodyPr>
          <a:lstStyle/>
          <a:p>
            <a:pPr marL="311150" lvl="1" indent="-287338">
              <a:spcBef>
                <a:spcPts val="1200"/>
              </a:spcBef>
              <a:spcAft>
                <a:spcPts val="600"/>
              </a:spcAft>
              <a:buFont typeface="Arial" panose="020B0604020202020204" pitchFamily="34" charset="0"/>
              <a:buChar char="•"/>
            </a:pPr>
            <a:r>
              <a:rPr lang="en-US" sz="2400" b="1" dirty="0">
                <a:solidFill>
                  <a:srgbClr val="000000"/>
                </a:solidFill>
              </a:rPr>
              <a:t>Interface:</a:t>
            </a:r>
            <a:r>
              <a:rPr lang="en-US" sz="2400" dirty="0">
                <a:solidFill>
                  <a:srgbClr val="000000"/>
                </a:solidFill>
              </a:rPr>
              <a:t> </a:t>
            </a:r>
            <a:r>
              <a:rPr lang="en-US" sz="2400" i="1" dirty="0" err="1">
                <a:solidFill>
                  <a:srgbClr val="000000"/>
                </a:solidFill>
              </a:rPr>
              <a:t>Os</a:t>
            </a:r>
            <a:r>
              <a:rPr lang="en-US" sz="2400" i="1" dirty="0">
                <a:solidFill>
                  <a:srgbClr val="000000"/>
                </a:solidFill>
              </a:rPr>
              <a:t>-Ma</a:t>
            </a:r>
            <a:r>
              <a:rPr lang="en-US" sz="2400" dirty="0">
                <a:solidFill>
                  <a:srgbClr val="000000"/>
                </a:solidFill>
              </a:rPr>
              <a:t> (REST API / SOAP over HTTPS)</a:t>
            </a:r>
          </a:p>
        </p:txBody>
      </p:sp>
      <p:sp>
        <p:nvSpPr>
          <p:cNvPr id="4" name="Slide Number Placeholder 3">
            <a:extLst>
              <a:ext uri="{FF2B5EF4-FFF2-40B4-BE49-F238E27FC236}">
                <a16:creationId xmlns:a16="http://schemas.microsoft.com/office/drawing/2014/main" id="{4AAC3AC1-8B40-86AF-0A4B-35620AF6EFEA}"/>
              </a:ext>
            </a:extLst>
          </p:cNvPr>
          <p:cNvSpPr>
            <a:spLocks noGrp="1"/>
          </p:cNvSpPr>
          <p:nvPr>
            <p:ph type="sldNum" sz="quarter" idx="12"/>
          </p:nvPr>
        </p:nvSpPr>
        <p:spPr/>
        <p:txBody>
          <a:bodyPr/>
          <a:lstStyle/>
          <a:p>
            <a:fld id="{C1FF6DA9-008F-8B48-92A6-B652298478BF}" type="slidenum">
              <a:rPr lang="en-US" smtClean="0"/>
              <a:t>59</a:t>
            </a:fld>
            <a:endParaRPr lang="en-US"/>
          </a:p>
        </p:txBody>
      </p:sp>
      <p:sp>
        <p:nvSpPr>
          <p:cNvPr id="6" name="TextBox 5">
            <a:extLst>
              <a:ext uri="{FF2B5EF4-FFF2-40B4-BE49-F238E27FC236}">
                <a16:creationId xmlns:a16="http://schemas.microsoft.com/office/drawing/2014/main" id="{740B45CB-EA6F-58A9-6FF5-DFF1B3A4E3E5}"/>
              </a:ext>
            </a:extLst>
          </p:cNvPr>
          <p:cNvSpPr txBox="1"/>
          <p:nvPr/>
        </p:nvSpPr>
        <p:spPr>
          <a:xfrm>
            <a:off x="446762" y="1538930"/>
            <a:ext cx="9956104" cy="1308050"/>
          </a:xfrm>
          <a:prstGeom prst="rect">
            <a:avLst/>
          </a:prstGeom>
          <a:noFill/>
        </p:spPr>
        <p:txBody>
          <a:bodyPr wrap="square">
            <a:spAutoFit/>
          </a:bodyPr>
          <a:lstStyle/>
          <a:p>
            <a:pPr marL="311150" lvl="1" indent="-287338">
              <a:spcBef>
                <a:spcPts val="1200"/>
              </a:spcBef>
              <a:spcAft>
                <a:spcPts val="600"/>
              </a:spcAft>
              <a:buFont typeface="Arial" panose="020B0604020202020204" pitchFamily="34" charset="0"/>
              <a:buChar char="•"/>
            </a:pPr>
            <a:r>
              <a:rPr lang="en-US" sz="2400" dirty="0">
                <a:solidFill>
                  <a:srgbClr val="000000"/>
                </a:solidFill>
                <a:latin typeface="-webkit-standard"/>
              </a:rPr>
              <a:t>SOAP is a </a:t>
            </a:r>
            <a:r>
              <a:rPr lang="en-US" sz="2400" b="1" dirty="0">
                <a:solidFill>
                  <a:srgbClr val="000000"/>
                </a:solidFill>
              </a:rPr>
              <a:t>strict, formal</a:t>
            </a:r>
            <a:r>
              <a:rPr lang="en-US" sz="2400" dirty="0">
                <a:solidFill>
                  <a:srgbClr val="000000"/>
                </a:solidFill>
                <a:latin typeface="-webkit-standard"/>
              </a:rPr>
              <a:t> protocol for exchanging messages using XML.</a:t>
            </a:r>
          </a:p>
          <a:p>
            <a:pPr marL="768350" lvl="2" indent="-287338">
              <a:spcBef>
                <a:spcPts val="600"/>
              </a:spcBef>
              <a:buFont typeface="Arial" panose="020B0604020202020204" pitchFamily="34" charset="0"/>
              <a:buChar char="•"/>
            </a:pPr>
            <a:r>
              <a:rPr lang="en-US" sz="2000" dirty="0">
                <a:solidFill>
                  <a:srgbClr val="000000"/>
                </a:solidFill>
                <a:latin typeface="-webkit-standard"/>
                <a:cs typeface="Times New Roman" panose="02020603050405020304" pitchFamily="18" charset="0"/>
              </a:rPr>
              <a:t>More Secure than REST</a:t>
            </a:r>
          </a:p>
          <a:p>
            <a:pPr marL="768350" lvl="2" indent="-287338">
              <a:spcBef>
                <a:spcPts val="600"/>
              </a:spcBef>
              <a:buFont typeface="Arial" panose="020B0604020202020204" pitchFamily="34" charset="0"/>
              <a:buChar char="•"/>
            </a:pPr>
            <a:r>
              <a:rPr lang="en-US" sz="2000" dirty="0">
                <a:solidFill>
                  <a:srgbClr val="000000"/>
                </a:solidFill>
                <a:latin typeface="-webkit-standard"/>
                <a:cs typeface="Times New Roman" panose="02020603050405020304" pitchFamily="18" charset="0"/>
              </a:rPr>
              <a:t>Slower and Heavier</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E2E9FB5-CA70-F077-CCA4-33597033555C}"/>
              </a:ext>
            </a:extLst>
          </p:cNvPr>
          <p:cNvSpPr txBox="1"/>
          <p:nvPr/>
        </p:nvSpPr>
        <p:spPr>
          <a:xfrm>
            <a:off x="3465536" y="3394819"/>
            <a:ext cx="8146092" cy="707886"/>
          </a:xfrm>
          <a:prstGeom prst="rect">
            <a:avLst/>
          </a:prstGeom>
          <a:noFill/>
          <a:ln>
            <a:solidFill>
              <a:schemeClr val="tx1"/>
            </a:solidFill>
          </a:ln>
        </p:spPr>
        <p:txBody>
          <a:bodyPr wrap="square">
            <a:spAutoFit/>
          </a:bodyPr>
          <a:lstStyle/>
          <a:p>
            <a:r>
              <a:rPr lang="en-US" sz="2000" b="1" dirty="0"/>
              <a:t>POST</a:t>
            </a:r>
            <a:r>
              <a:rPr lang="en-US" sz="2000" dirty="0"/>
              <a:t> https://school-</a:t>
            </a:r>
            <a:r>
              <a:rPr lang="en-US" sz="2000" dirty="0" err="1"/>
              <a:t>api.com</a:t>
            </a:r>
            <a:r>
              <a:rPr lang="en-US" sz="2000" dirty="0"/>
              <a:t>/</a:t>
            </a:r>
            <a:r>
              <a:rPr lang="en-US" sz="2000" dirty="0" err="1"/>
              <a:t>studentService</a:t>
            </a:r>
            <a:endParaRPr lang="en-US" sz="2000" dirty="0"/>
          </a:p>
          <a:p>
            <a:r>
              <a:rPr lang="en-US" sz="2000" dirty="0"/>
              <a:t>Content-Type: text/xml</a:t>
            </a:r>
          </a:p>
        </p:txBody>
      </p:sp>
      <p:sp>
        <p:nvSpPr>
          <p:cNvPr id="9" name="TextBox 8">
            <a:extLst>
              <a:ext uri="{FF2B5EF4-FFF2-40B4-BE49-F238E27FC236}">
                <a16:creationId xmlns:a16="http://schemas.microsoft.com/office/drawing/2014/main" id="{31AC47C0-FD67-6B28-CFF1-0EA808ADB56D}"/>
              </a:ext>
            </a:extLst>
          </p:cNvPr>
          <p:cNvSpPr txBox="1"/>
          <p:nvPr/>
        </p:nvSpPr>
        <p:spPr>
          <a:xfrm>
            <a:off x="753650" y="3472038"/>
            <a:ext cx="2680569" cy="400110"/>
          </a:xfrm>
          <a:prstGeom prst="rect">
            <a:avLst/>
          </a:prstGeom>
          <a:noFill/>
        </p:spPr>
        <p:txBody>
          <a:bodyPr wrap="square" rtlCol="0">
            <a:spAutoFit/>
          </a:bodyPr>
          <a:lstStyle/>
          <a:p>
            <a:r>
              <a:rPr lang="en-LB" sz="2000" dirty="0"/>
              <a:t>* Get student info:</a:t>
            </a:r>
          </a:p>
        </p:txBody>
      </p:sp>
      <p:sp>
        <p:nvSpPr>
          <p:cNvPr id="10" name="TextBox 9">
            <a:extLst>
              <a:ext uri="{FF2B5EF4-FFF2-40B4-BE49-F238E27FC236}">
                <a16:creationId xmlns:a16="http://schemas.microsoft.com/office/drawing/2014/main" id="{B7E93486-56DC-64B0-B02E-0DA9D0098A32}"/>
              </a:ext>
            </a:extLst>
          </p:cNvPr>
          <p:cNvSpPr txBox="1"/>
          <p:nvPr/>
        </p:nvSpPr>
        <p:spPr>
          <a:xfrm>
            <a:off x="546970" y="2883804"/>
            <a:ext cx="4200394" cy="461665"/>
          </a:xfrm>
          <a:prstGeom prst="rect">
            <a:avLst/>
          </a:prstGeom>
          <a:noFill/>
        </p:spPr>
        <p:txBody>
          <a:bodyPr wrap="square" rtlCol="0">
            <a:spAutoFit/>
          </a:bodyPr>
          <a:lstStyle/>
          <a:p>
            <a:r>
              <a:rPr lang="en-LB" sz="2400" b="1" dirty="0"/>
              <a:t>SOAP Request Example: </a:t>
            </a:r>
          </a:p>
        </p:txBody>
      </p:sp>
      <p:sp>
        <p:nvSpPr>
          <p:cNvPr id="7" name="TextBox 6">
            <a:extLst>
              <a:ext uri="{FF2B5EF4-FFF2-40B4-BE49-F238E27FC236}">
                <a16:creationId xmlns:a16="http://schemas.microsoft.com/office/drawing/2014/main" id="{932628D4-0991-5C9E-E804-C8D7ED6DB270}"/>
              </a:ext>
            </a:extLst>
          </p:cNvPr>
          <p:cNvSpPr txBox="1"/>
          <p:nvPr/>
        </p:nvSpPr>
        <p:spPr>
          <a:xfrm>
            <a:off x="3465536" y="4240491"/>
            <a:ext cx="8146092" cy="2585323"/>
          </a:xfrm>
          <a:prstGeom prst="rect">
            <a:avLst/>
          </a:prstGeom>
          <a:noFill/>
          <a:ln>
            <a:solidFill>
              <a:schemeClr val="tx1"/>
            </a:solidFill>
          </a:ln>
        </p:spPr>
        <p:txBody>
          <a:bodyPr wrap="square">
            <a:spAutoFit/>
          </a:bodyPr>
          <a:lstStyle/>
          <a:p>
            <a:r>
              <a:rPr lang="en-LB" dirty="0"/>
              <a:t>&lt;soapenv:Envelope xmlns:soapenv="http://schemas.xmlsoap.org/soap/envelope/"</a:t>
            </a:r>
          </a:p>
          <a:p>
            <a:r>
              <a:rPr lang="en-LB" dirty="0"/>
              <a:t>                  xmlns:stu="http://school.com/student"&gt;</a:t>
            </a:r>
          </a:p>
          <a:p>
            <a:r>
              <a:rPr lang="en-LB" dirty="0"/>
              <a:t>   &lt;soapenv:Header/&gt;</a:t>
            </a:r>
          </a:p>
          <a:p>
            <a:r>
              <a:rPr lang="en-LB" dirty="0"/>
              <a:t>   &lt;soapenv:Body&gt;</a:t>
            </a:r>
          </a:p>
          <a:p>
            <a:r>
              <a:rPr lang="en-LB" dirty="0"/>
              <a:t>      &lt;stu:getStudent&gt;</a:t>
            </a:r>
          </a:p>
          <a:p>
            <a:r>
              <a:rPr lang="en-LB" dirty="0"/>
              <a:t>         &lt;stu:id&gt;5&lt;/stu:id&gt;</a:t>
            </a:r>
          </a:p>
          <a:p>
            <a:r>
              <a:rPr lang="en-LB" dirty="0"/>
              <a:t>      &lt;/stu:getStudent&gt;</a:t>
            </a:r>
          </a:p>
          <a:p>
            <a:r>
              <a:rPr lang="en-LB" dirty="0"/>
              <a:t>   &lt;/soapenv:Body&gt;</a:t>
            </a:r>
          </a:p>
          <a:p>
            <a:r>
              <a:rPr lang="en-LB" dirty="0"/>
              <a:t>&lt;/soapenv:Envelope&gt;</a:t>
            </a:r>
          </a:p>
        </p:txBody>
      </p:sp>
      <p:sp>
        <p:nvSpPr>
          <p:cNvPr id="13" name="TextBox 12">
            <a:extLst>
              <a:ext uri="{FF2B5EF4-FFF2-40B4-BE49-F238E27FC236}">
                <a16:creationId xmlns:a16="http://schemas.microsoft.com/office/drawing/2014/main" id="{C1D4D4BA-2FAA-BD80-FDCF-876854F34FAA}"/>
              </a:ext>
            </a:extLst>
          </p:cNvPr>
          <p:cNvSpPr txBox="1"/>
          <p:nvPr/>
        </p:nvSpPr>
        <p:spPr>
          <a:xfrm>
            <a:off x="753650" y="4240491"/>
            <a:ext cx="2989545" cy="400110"/>
          </a:xfrm>
          <a:prstGeom prst="rect">
            <a:avLst/>
          </a:prstGeom>
          <a:noFill/>
        </p:spPr>
        <p:txBody>
          <a:bodyPr wrap="square" rtlCol="0">
            <a:spAutoFit/>
          </a:bodyPr>
          <a:lstStyle>
            <a:defPPr>
              <a:defRPr lang="en-US"/>
            </a:defPPr>
            <a:lvl1pPr>
              <a:defRPr sz="2400"/>
            </a:lvl1pPr>
          </a:lstStyle>
          <a:p>
            <a:r>
              <a:rPr lang="en-US" sz="2000" dirty="0"/>
              <a:t>* Body (XML):</a:t>
            </a:r>
            <a:endParaRPr lang="en-LB" sz="2000" dirty="0"/>
          </a:p>
        </p:txBody>
      </p:sp>
    </p:spTree>
    <p:extLst>
      <p:ext uri="{BB962C8B-B14F-4D97-AF65-F5344CB8AC3E}">
        <p14:creationId xmlns:p14="http://schemas.microsoft.com/office/powerpoint/2010/main" val="23703073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69A0A-E4D7-BF3B-44C2-8545E7871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61843-7D9B-72CD-977E-D186E0190B89}"/>
              </a:ext>
            </a:extLst>
          </p:cNvPr>
          <p:cNvSpPr>
            <a:spLocks noGrp="1"/>
          </p:cNvSpPr>
          <p:nvPr>
            <p:ph type="title"/>
          </p:nvPr>
        </p:nvSpPr>
        <p:spPr>
          <a:xfrm>
            <a:off x="0" y="149378"/>
            <a:ext cx="12192000" cy="824701"/>
          </a:xfrm>
        </p:spPr>
        <p:txBody>
          <a:bodyPr>
            <a:normAutofit fontScale="90000"/>
          </a:bodyPr>
          <a:lstStyle/>
          <a:p>
            <a:r>
              <a:rPr lang="en-US" b="0" i="0" u="none" strike="noStrike" dirty="0">
                <a:solidFill>
                  <a:srgbClr val="000000"/>
                </a:solidFill>
                <a:effectLst/>
                <a:latin typeface="-webkit-standard"/>
              </a:rPr>
              <a:t>OSS/BSS — Customer Request and Business Orchestration</a:t>
            </a:r>
            <a:endParaRPr dirty="0"/>
          </a:p>
        </p:txBody>
      </p:sp>
      <p:sp>
        <p:nvSpPr>
          <p:cNvPr id="3" name="Content Placeholder 2">
            <a:extLst>
              <a:ext uri="{FF2B5EF4-FFF2-40B4-BE49-F238E27FC236}">
                <a16:creationId xmlns:a16="http://schemas.microsoft.com/office/drawing/2014/main" id="{4A6482CD-F9BF-5F12-B90D-F2ACE82286F9}"/>
              </a:ext>
            </a:extLst>
          </p:cNvPr>
          <p:cNvSpPr>
            <a:spLocks noGrp="1"/>
          </p:cNvSpPr>
          <p:nvPr>
            <p:ph idx="1"/>
          </p:nvPr>
        </p:nvSpPr>
        <p:spPr>
          <a:xfrm>
            <a:off x="546970" y="1007339"/>
            <a:ext cx="8229600" cy="531591"/>
          </a:xfrm>
        </p:spPr>
        <p:txBody>
          <a:bodyPr>
            <a:normAutofit/>
          </a:bodyPr>
          <a:lstStyle/>
          <a:p>
            <a:pPr marL="311150" lvl="1" indent="-287338">
              <a:spcBef>
                <a:spcPts val="1200"/>
              </a:spcBef>
              <a:spcAft>
                <a:spcPts val="600"/>
              </a:spcAft>
              <a:buFont typeface="Arial" panose="020B0604020202020204" pitchFamily="34" charset="0"/>
              <a:buChar char="•"/>
            </a:pPr>
            <a:r>
              <a:rPr lang="en-US" sz="2400" b="1" dirty="0">
                <a:solidFill>
                  <a:srgbClr val="000000"/>
                </a:solidFill>
              </a:rPr>
              <a:t>Interface:</a:t>
            </a:r>
            <a:r>
              <a:rPr lang="en-US" sz="2400" dirty="0">
                <a:solidFill>
                  <a:srgbClr val="000000"/>
                </a:solidFill>
              </a:rPr>
              <a:t> </a:t>
            </a:r>
            <a:r>
              <a:rPr lang="en-US" sz="2400" i="1" dirty="0" err="1">
                <a:solidFill>
                  <a:srgbClr val="000000"/>
                </a:solidFill>
              </a:rPr>
              <a:t>Os</a:t>
            </a:r>
            <a:r>
              <a:rPr lang="en-US" sz="2400" i="1" dirty="0">
                <a:solidFill>
                  <a:srgbClr val="000000"/>
                </a:solidFill>
              </a:rPr>
              <a:t>-Ma</a:t>
            </a:r>
            <a:r>
              <a:rPr lang="en-US" sz="2400" dirty="0">
                <a:solidFill>
                  <a:srgbClr val="000000"/>
                </a:solidFill>
              </a:rPr>
              <a:t> (REST API / SOAP over HTTPS)</a:t>
            </a:r>
          </a:p>
        </p:txBody>
      </p:sp>
      <p:sp>
        <p:nvSpPr>
          <p:cNvPr id="4" name="Slide Number Placeholder 3">
            <a:extLst>
              <a:ext uri="{FF2B5EF4-FFF2-40B4-BE49-F238E27FC236}">
                <a16:creationId xmlns:a16="http://schemas.microsoft.com/office/drawing/2014/main" id="{4385B4E4-91B2-6CE2-6DEB-0A66BE954CD6}"/>
              </a:ext>
            </a:extLst>
          </p:cNvPr>
          <p:cNvSpPr>
            <a:spLocks noGrp="1"/>
          </p:cNvSpPr>
          <p:nvPr>
            <p:ph type="sldNum" sz="quarter" idx="12"/>
          </p:nvPr>
        </p:nvSpPr>
        <p:spPr/>
        <p:txBody>
          <a:bodyPr/>
          <a:lstStyle/>
          <a:p>
            <a:fld id="{C1FF6DA9-008F-8B48-92A6-B652298478BF}" type="slidenum">
              <a:rPr lang="en-US" smtClean="0"/>
              <a:t>60</a:t>
            </a:fld>
            <a:endParaRPr lang="en-US"/>
          </a:p>
        </p:txBody>
      </p:sp>
      <p:sp>
        <p:nvSpPr>
          <p:cNvPr id="10" name="TextBox 9">
            <a:extLst>
              <a:ext uri="{FF2B5EF4-FFF2-40B4-BE49-F238E27FC236}">
                <a16:creationId xmlns:a16="http://schemas.microsoft.com/office/drawing/2014/main" id="{7E481A49-8961-D99A-0BE9-0C32D543F361}"/>
              </a:ext>
            </a:extLst>
          </p:cNvPr>
          <p:cNvSpPr txBox="1"/>
          <p:nvPr/>
        </p:nvSpPr>
        <p:spPr>
          <a:xfrm>
            <a:off x="546970" y="1709800"/>
            <a:ext cx="4200394" cy="461665"/>
          </a:xfrm>
          <a:prstGeom prst="rect">
            <a:avLst/>
          </a:prstGeom>
          <a:noFill/>
        </p:spPr>
        <p:txBody>
          <a:bodyPr wrap="square" rtlCol="0">
            <a:spAutoFit/>
          </a:bodyPr>
          <a:lstStyle/>
          <a:p>
            <a:r>
              <a:rPr lang="en-LB" sz="2400" b="1" dirty="0"/>
              <a:t>SOAP Response Example: </a:t>
            </a:r>
          </a:p>
        </p:txBody>
      </p:sp>
      <p:sp>
        <p:nvSpPr>
          <p:cNvPr id="12" name="TextBox 11">
            <a:extLst>
              <a:ext uri="{FF2B5EF4-FFF2-40B4-BE49-F238E27FC236}">
                <a16:creationId xmlns:a16="http://schemas.microsoft.com/office/drawing/2014/main" id="{6693784C-94FA-68AC-57FB-94C94EDA2B0F}"/>
              </a:ext>
            </a:extLst>
          </p:cNvPr>
          <p:cNvSpPr txBox="1"/>
          <p:nvPr/>
        </p:nvSpPr>
        <p:spPr>
          <a:xfrm>
            <a:off x="973899" y="2285878"/>
            <a:ext cx="10244202" cy="3785652"/>
          </a:xfrm>
          <a:prstGeom prst="rect">
            <a:avLst/>
          </a:prstGeom>
          <a:noFill/>
        </p:spPr>
        <p:txBody>
          <a:bodyPr wrap="square">
            <a:spAutoFit/>
          </a:bodyPr>
          <a:lstStyle/>
          <a:p>
            <a:r>
              <a:rPr lang="en-LB" sz="2400" dirty="0"/>
              <a:t>&lt;soapenv:Envelope xmlns:soapenv="http://schemas.xmlsoap.org/soap/envelope/"&gt;</a:t>
            </a:r>
          </a:p>
          <a:p>
            <a:r>
              <a:rPr lang="en-LB" sz="2400" dirty="0"/>
              <a:t>   &lt;soapenv:Body&gt;</a:t>
            </a:r>
          </a:p>
          <a:p>
            <a:r>
              <a:rPr lang="en-LB" sz="2400" dirty="0"/>
              <a:t>      &lt;getStudentResponse&gt;</a:t>
            </a:r>
          </a:p>
          <a:p>
            <a:r>
              <a:rPr lang="en-LB" sz="2400" dirty="0"/>
              <a:t>         &lt;id&gt;5&lt;/id&gt;</a:t>
            </a:r>
          </a:p>
          <a:p>
            <a:r>
              <a:rPr lang="en-LB" sz="2400" dirty="0"/>
              <a:t>         &lt;name&gt;Sara&lt;/name&gt;</a:t>
            </a:r>
          </a:p>
          <a:p>
            <a:r>
              <a:rPr lang="en-LB" sz="2400" dirty="0"/>
              <a:t>         &lt;grade&gt;8&lt;/grade&gt;</a:t>
            </a:r>
          </a:p>
          <a:p>
            <a:r>
              <a:rPr lang="en-LB" sz="2400" dirty="0"/>
              <a:t>      &lt;/getStudentResponse&gt;</a:t>
            </a:r>
          </a:p>
          <a:p>
            <a:r>
              <a:rPr lang="en-LB" sz="2400" dirty="0"/>
              <a:t>   &lt;/soapenv:Body&gt;</a:t>
            </a:r>
          </a:p>
          <a:p>
            <a:r>
              <a:rPr lang="en-LB" sz="2400" dirty="0"/>
              <a:t>&lt;/soapenv:Envelope&gt;</a:t>
            </a:r>
          </a:p>
        </p:txBody>
      </p:sp>
    </p:spTree>
    <p:extLst>
      <p:ext uri="{BB962C8B-B14F-4D97-AF65-F5344CB8AC3E}">
        <p14:creationId xmlns:p14="http://schemas.microsoft.com/office/powerpoint/2010/main" val="29623341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D9A48-7F77-0689-5686-FAD19B8689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5EC26E-CBF6-B66D-4404-5986396F2830}"/>
              </a:ext>
            </a:extLst>
          </p:cNvPr>
          <p:cNvSpPr>
            <a:spLocks noGrp="1"/>
          </p:cNvSpPr>
          <p:nvPr>
            <p:ph type="title"/>
          </p:nvPr>
        </p:nvSpPr>
        <p:spPr>
          <a:xfrm>
            <a:off x="0" y="161904"/>
            <a:ext cx="12192000" cy="765022"/>
          </a:xfrm>
        </p:spPr>
        <p:txBody>
          <a:bodyPr>
            <a:normAutofit fontScale="90000"/>
          </a:bodyPr>
          <a:lstStyle/>
          <a:p>
            <a:r>
              <a:rPr lang="en-US" b="0" i="0" u="none" strike="noStrike" dirty="0">
                <a:solidFill>
                  <a:srgbClr val="000000"/>
                </a:solidFill>
                <a:effectLst/>
                <a:latin typeface="-webkit-standard"/>
              </a:rPr>
              <a:t>OSS/BSS — Customer Request and Business Orchestration</a:t>
            </a:r>
            <a:endParaRPr dirty="0"/>
          </a:p>
        </p:txBody>
      </p:sp>
      <p:sp>
        <p:nvSpPr>
          <p:cNvPr id="3" name="Content Placeholder 2">
            <a:extLst>
              <a:ext uri="{FF2B5EF4-FFF2-40B4-BE49-F238E27FC236}">
                <a16:creationId xmlns:a16="http://schemas.microsoft.com/office/drawing/2014/main" id="{DD27B0B9-8894-87DA-7D2B-6264CB681C94}"/>
              </a:ext>
            </a:extLst>
          </p:cNvPr>
          <p:cNvSpPr>
            <a:spLocks noGrp="1"/>
          </p:cNvSpPr>
          <p:nvPr>
            <p:ph idx="1"/>
          </p:nvPr>
        </p:nvSpPr>
        <p:spPr>
          <a:xfrm>
            <a:off x="402920" y="1002082"/>
            <a:ext cx="11346493" cy="5769170"/>
          </a:xfrm>
        </p:spPr>
        <p:txBody>
          <a:bodyPr>
            <a:normAutofit lnSpcReduction="10000"/>
          </a:bodyPr>
          <a:lstStyle/>
          <a:p>
            <a:pPr marL="360363" lvl="1">
              <a:spcBef>
                <a:spcPts val="600"/>
              </a:spcBef>
              <a:spcAft>
                <a:spcPts val="600"/>
              </a:spcAft>
              <a:buFont typeface="Arial" panose="020B0604020202020204" pitchFamily="34" charset="0"/>
              <a:buChar char="•"/>
            </a:pPr>
            <a:r>
              <a:rPr lang="en-US" b="1" i="0" u="none" strike="noStrike" dirty="0">
                <a:solidFill>
                  <a:srgbClr val="000000"/>
                </a:solidFill>
                <a:effectLst/>
              </a:rPr>
              <a:t>Data formats:</a:t>
            </a:r>
            <a:r>
              <a:rPr lang="en-US" b="0" i="0" u="none" strike="noStrike" dirty="0">
                <a:solidFill>
                  <a:srgbClr val="000000"/>
                </a:solidFill>
                <a:effectLst/>
              </a:rPr>
              <a:t> TMF Open APIs</a:t>
            </a:r>
          </a:p>
          <a:p>
            <a:pPr marL="760413" lvl="2">
              <a:spcBef>
                <a:spcPts val="600"/>
              </a:spcBef>
              <a:spcAft>
                <a:spcPts val="600"/>
              </a:spcAft>
              <a:buFont typeface="Arial" panose="020B0604020202020204" pitchFamily="34" charset="0"/>
              <a:buChar char="•"/>
            </a:pPr>
            <a:r>
              <a:rPr lang="en-US" b="1" dirty="0">
                <a:solidFill>
                  <a:srgbClr val="000000"/>
                </a:solidFill>
              </a:rPr>
              <a:t>TMF640 – Service Ordering</a:t>
            </a:r>
            <a:r>
              <a:rPr lang="en-US" dirty="0">
                <a:solidFill>
                  <a:srgbClr val="000000"/>
                </a:solidFill>
              </a:rPr>
              <a:t>: used when a customer or another system wants to place, update, or track a service order.</a:t>
            </a:r>
          </a:p>
          <a:p>
            <a:pPr lvl="2"/>
            <a:r>
              <a:rPr lang="en-US" sz="2000" dirty="0"/>
              <a:t>Submit service orders</a:t>
            </a:r>
          </a:p>
          <a:p>
            <a:pPr lvl="2"/>
            <a:r>
              <a:rPr lang="en-US" sz="2000" dirty="0"/>
              <a:t>Modify or cancel orders</a:t>
            </a:r>
          </a:p>
          <a:p>
            <a:pPr lvl="2"/>
            <a:r>
              <a:rPr lang="en-US" sz="2000" dirty="0"/>
              <a:t>Check order status</a:t>
            </a:r>
          </a:p>
          <a:p>
            <a:pPr lvl="2"/>
            <a:r>
              <a:rPr lang="en-US" sz="2000" dirty="0"/>
              <a:t>Attach service characteristics</a:t>
            </a:r>
          </a:p>
          <a:p>
            <a:pPr lvl="2"/>
            <a:r>
              <a:rPr lang="en-US" sz="2000" dirty="0"/>
              <a:t>Include related customer and service information</a:t>
            </a:r>
          </a:p>
          <a:p>
            <a:pPr marL="760413" lvl="2">
              <a:spcBef>
                <a:spcPts val="600"/>
              </a:spcBef>
              <a:spcAft>
                <a:spcPts val="600"/>
              </a:spcAft>
              <a:buFont typeface="Arial" panose="020B0604020202020204" pitchFamily="34" charset="0"/>
              <a:buChar char="•"/>
            </a:pPr>
            <a:r>
              <a:rPr lang="en-US" b="1" dirty="0">
                <a:solidFill>
                  <a:srgbClr val="000000"/>
                </a:solidFill>
              </a:rPr>
              <a:t>TMF641 – Service Inventory</a:t>
            </a:r>
            <a:r>
              <a:rPr lang="en-US" dirty="0">
                <a:solidFill>
                  <a:srgbClr val="000000"/>
                </a:solidFill>
              </a:rPr>
              <a:t>: returns the list of active, planned, or terminated service instances owned by the customer.</a:t>
            </a:r>
          </a:p>
          <a:p>
            <a:pPr lvl="2"/>
            <a:r>
              <a:rPr lang="en-US" sz="2100" dirty="0"/>
              <a:t>Query service inventory</a:t>
            </a:r>
          </a:p>
          <a:p>
            <a:pPr lvl="2"/>
            <a:r>
              <a:rPr lang="en-US" sz="2100" dirty="0"/>
              <a:t>Get detailed service instance information</a:t>
            </a:r>
          </a:p>
          <a:p>
            <a:pPr lvl="2"/>
            <a:r>
              <a:rPr lang="en-US" sz="2100" dirty="0"/>
              <a:t>Get service hierarchy (parent/child services)</a:t>
            </a:r>
          </a:p>
          <a:p>
            <a:pPr lvl="2"/>
            <a:r>
              <a:rPr lang="en-US" sz="2100" dirty="0"/>
              <a:t>Track service activation state</a:t>
            </a:r>
          </a:p>
          <a:p>
            <a:pPr lvl="2"/>
            <a:r>
              <a:rPr lang="en-US" sz="2100" dirty="0"/>
              <a:t>View service characteristics</a:t>
            </a:r>
          </a:p>
          <a:p>
            <a:pPr marL="1217613" lvl="3">
              <a:spcBef>
                <a:spcPts val="600"/>
              </a:spcBef>
              <a:spcAft>
                <a:spcPts val="600"/>
              </a:spcAft>
              <a:buFont typeface="Arial" panose="020B0604020202020204" pitchFamily="34" charset="0"/>
              <a:buChar char="•"/>
            </a:pPr>
            <a:endParaRPr lang="en-US" dirty="0">
              <a:solidFill>
                <a:srgbClr val="000000"/>
              </a:solidFill>
            </a:endParaRPr>
          </a:p>
        </p:txBody>
      </p:sp>
      <p:sp>
        <p:nvSpPr>
          <p:cNvPr id="4" name="Slide Number Placeholder 3">
            <a:extLst>
              <a:ext uri="{FF2B5EF4-FFF2-40B4-BE49-F238E27FC236}">
                <a16:creationId xmlns:a16="http://schemas.microsoft.com/office/drawing/2014/main" id="{3CCD8097-2A72-CBAE-74E0-D2AF935B8BA6}"/>
              </a:ext>
            </a:extLst>
          </p:cNvPr>
          <p:cNvSpPr>
            <a:spLocks noGrp="1"/>
          </p:cNvSpPr>
          <p:nvPr>
            <p:ph type="sldNum" sz="quarter" idx="12"/>
          </p:nvPr>
        </p:nvSpPr>
        <p:spPr/>
        <p:txBody>
          <a:bodyPr/>
          <a:lstStyle/>
          <a:p>
            <a:fld id="{C1FF6DA9-008F-8B48-92A6-B652298478BF}" type="slidenum">
              <a:rPr lang="en-US" smtClean="0"/>
              <a:t>61</a:t>
            </a:fld>
            <a:endParaRPr lang="en-US"/>
          </a:p>
        </p:txBody>
      </p:sp>
    </p:spTree>
    <p:extLst>
      <p:ext uri="{BB962C8B-B14F-4D97-AF65-F5344CB8AC3E}">
        <p14:creationId xmlns:p14="http://schemas.microsoft.com/office/powerpoint/2010/main" val="14803494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4BF0A-A7AD-948B-5D56-CC8E5F7A86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C749B-A491-431F-EC8F-C99CB301CE7F}"/>
              </a:ext>
            </a:extLst>
          </p:cNvPr>
          <p:cNvSpPr>
            <a:spLocks noGrp="1"/>
          </p:cNvSpPr>
          <p:nvPr>
            <p:ph type="title"/>
          </p:nvPr>
        </p:nvSpPr>
        <p:spPr>
          <a:xfrm>
            <a:off x="0" y="161904"/>
            <a:ext cx="12192000" cy="765022"/>
          </a:xfrm>
        </p:spPr>
        <p:txBody>
          <a:bodyPr>
            <a:normAutofit fontScale="90000"/>
          </a:bodyPr>
          <a:lstStyle/>
          <a:p>
            <a:r>
              <a:rPr lang="en-US" b="0" i="0" u="none" strike="noStrike" dirty="0">
                <a:solidFill>
                  <a:srgbClr val="000000"/>
                </a:solidFill>
                <a:effectLst/>
                <a:latin typeface="-webkit-standard"/>
              </a:rPr>
              <a:t>OSS/BSS — Customer Request and Business Orchestration</a:t>
            </a:r>
            <a:endParaRPr dirty="0"/>
          </a:p>
        </p:txBody>
      </p:sp>
      <p:sp>
        <p:nvSpPr>
          <p:cNvPr id="3" name="Content Placeholder 2">
            <a:extLst>
              <a:ext uri="{FF2B5EF4-FFF2-40B4-BE49-F238E27FC236}">
                <a16:creationId xmlns:a16="http://schemas.microsoft.com/office/drawing/2014/main" id="{09D79A12-3A71-F9D2-A89B-6A08D8E8F5AE}"/>
              </a:ext>
            </a:extLst>
          </p:cNvPr>
          <p:cNvSpPr>
            <a:spLocks noGrp="1"/>
          </p:cNvSpPr>
          <p:nvPr>
            <p:ph idx="1"/>
          </p:nvPr>
        </p:nvSpPr>
        <p:spPr>
          <a:xfrm>
            <a:off x="402920" y="1002082"/>
            <a:ext cx="11346493" cy="563671"/>
          </a:xfrm>
        </p:spPr>
        <p:txBody>
          <a:bodyPr>
            <a:normAutofit/>
          </a:bodyPr>
          <a:lstStyle/>
          <a:p>
            <a:pPr marL="360363" lvl="1">
              <a:spcBef>
                <a:spcPts val="600"/>
              </a:spcBef>
              <a:spcAft>
                <a:spcPts val="600"/>
              </a:spcAft>
              <a:buFont typeface="Arial" panose="020B0604020202020204" pitchFamily="34" charset="0"/>
              <a:buChar char="•"/>
            </a:pPr>
            <a:r>
              <a:rPr lang="en-US" b="1" i="0" u="none" strike="noStrike" dirty="0">
                <a:solidFill>
                  <a:srgbClr val="000000"/>
                </a:solidFill>
                <a:effectLst/>
              </a:rPr>
              <a:t>Data formats:</a:t>
            </a:r>
            <a:r>
              <a:rPr lang="en-US" b="0" i="0" u="none" strike="noStrike" dirty="0">
                <a:solidFill>
                  <a:srgbClr val="000000"/>
                </a:solidFill>
                <a:effectLst/>
              </a:rPr>
              <a:t> TMF Open APIs</a:t>
            </a:r>
          </a:p>
        </p:txBody>
      </p:sp>
      <p:sp>
        <p:nvSpPr>
          <p:cNvPr id="4" name="Slide Number Placeholder 3">
            <a:extLst>
              <a:ext uri="{FF2B5EF4-FFF2-40B4-BE49-F238E27FC236}">
                <a16:creationId xmlns:a16="http://schemas.microsoft.com/office/drawing/2014/main" id="{EA2F432E-23B4-DCF6-F18A-2C035F1B957C}"/>
              </a:ext>
            </a:extLst>
          </p:cNvPr>
          <p:cNvSpPr>
            <a:spLocks noGrp="1"/>
          </p:cNvSpPr>
          <p:nvPr>
            <p:ph type="sldNum" sz="quarter" idx="12"/>
          </p:nvPr>
        </p:nvSpPr>
        <p:spPr/>
        <p:txBody>
          <a:bodyPr/>
          <a:lstStyle/>
          <a:p>
            <a:fld id="{C1FF6DA9-008F-8B48-92A6-B652298478BF}" type="slidenum">
              <a:rPr lang="en-US" smtClean="0"/>
              <a:t>62</a:t>
            </a:fld>
            <a:endParaRPr lang="en-US"/>
          </a:p>
        </p:txBody>
      </p:sp>
      <p:sp>
        <p:nvSpPr>
          <p:cNvPr id="6" name="TextBox 5">
            <a:extLst>
              <a:ext uri="{FF2B5EF4-FFF2-40B4-BE49-F238E27FC236}">
                <a16:creationId xmlns:a16="http://schemas.microsoft.com/office/drawing/2014/main" id="{28BEC654-2520-D2A7-56B0-2729288A2604}"/>
              </a:ext>
            </a:extLst>
          </p:cNvPr>
          <p:cNvSpPr txBox="1"/>
          <p:nvPr/>
        </p:nvSpPr>
        <p:spPr>
          <a:xfrm>
            <a:off x="402920" y="1716065"/>
            <a:ext cx="4678475" cy="461665"/>
          </a:xfrm>
          <a:prstGeom prst="rect">
            <a:avLst/>
          </a:prstGeom>
          <a:noFill/>
        </p:spPr>
        <p:txBody>
          <a:bodyPr wrap="square">
            <a:spAutoFit/>
          </a:bodyPr>
          <a:lstStyle/>
          <a:p>
            <a:r>
              <a:rPr lang="en-US" sz="2400" b="0" i="0" u="none" strike="noStrike" dirty="0">
                <a:solidFill>
                  <a:srgbClr val="000000"/>
                </a:solidFill>
                <a:effectLst/>
                <a:latin typeface="Times New Roman" panose="02020603050405020304" pitchFamily="18" charset="0"/>
                <a:cs typeface="Times New Roman" panose="02020603050405020304" pitchFamily="18" charset="0"/>
              </a:rPr>
              <a:t>Creating a Service Order (TMF640)</a:t>
            </a:r>
            <a:endParaRPr lang="en-LB"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E8EC8DF-EE71-B51D-315F-9F68B63AC2C0}"/>
              </a:ext>
            </a:extLst>
          </p:cNvPr>
          <p:cNvSpPr txBox="1"/>
          <p:nvPr/>
        </p:nvSpPr>
        <p:spPr>
          <a:xfrm>
            <a:off x="402920" y="2328042"/>
            <a:ext cx="3138291" cy="461665"/>
          </a:xfrm>
          <a:prstGeom prst="rect">
            <a:avLst/>
          </a:prstGeom>
          <a:noFill/>
        </p:spPr>
        <p:txBody>
          <a:bodyPr wrap="square">
            <a:spAutoFit/>
          </a:bodyPr>
          <a:lstStyle/>
          <a:p>
            <a:pPr algn="l">
              <a:spcBef>
                <a:spcPts val="600"/>
              </a:spcBef>
              <a:spcAft>
                <a:spcPts val="600"/>
              </a:spcAft>
            </a:pPr>
            <a:r>
              <a:rPr lang="en-US" sz="2400" b="1" i="0" u="none" strike="noStrike" dirty="0">
                <a:solidFill>
                  <a:srgbClr val="000000"/>
                </a:solidFill>
                <a:effectLst/>
                <a:latin typeface="Times New Roman" panose="02020603050405020304" pitchFamily="18" charset="0"/>
                <a:cs typeface="Times New Roman" panose="02020603050405020304" pitchFamily="18" charset="0"/>
              </a:rPr>
              <a:t>POST /</a:t>
            </a:r>
            <a:r>
              <a:rPr lang="en-US" sz="2400" b="1" i="0" u="none" strike="noStrike" dirty="0" err="1">
                <a:solidFill>
                  <a:srgbClr val="000000"/>
                </a:solidFill>
                <a:effectLst/>
                <a:latin typeface="Times New Roman" panose="02020603050405020304" pitchFamily="18" charset="0"/>
                <a:cs typeface="Times New Roman" panose="02020603050405020304" pitchFamily="18" charset="0"/>
              </a:rPr>
              <a:t>serviceOrder</a:t>
            </a:r>
            <a:endParaRPr lang="en-US" sz="2400" b="1" i="0" u="none" strike="noStrike" dirty="0">
              <a:solidFill>
                <a:srgbClr val="000000"/>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4F82F00-70C2-CA5F-364E-471F83C73774}"/>
              </a:ext>
            </a:extLst>
          </p:cNvPr>
          <p:cNvSpPr txBox="1"/>
          <p:nvPr/>
        </p:nvSpPr>
        <p:spPr>
          <a:xfrm>
            <a:off x="6096000" y="1113889"/>
            <a:ext cx="5851745" cy="5632311"/>
          </a:xfrm>
          <a:prstGeom prst="rect">
            <a:avLst/>
          </a:prstGeom>
          <a:noFill/>
          <a:ln>
            <a:solidFill>
              <a:schemeClr val="tx1"/>
            </a:solidFill>
          </a:ln>
        </p:spPr>
        <p:txBody>
          <a:bodyPr wrap="square">
            <a:spAutoFit/>
          </a:bodyPr>
          <a:lstStyle/>
          <a:p>
            <a:r>
              <a:rPr lang="en-LB" dirty="0"/>
              <a:t>{ "externalId": "SO-2025-001",</a:t>
            </a:r>
          </a:p>
          <a:p>
            <a:r>
              <a:rPr lang="en-LB" dirty="0"/>
              <a:t>  "description": "Fiber broadband installation",</a:t>
            </a:r>
          </a:p>
          <a:p>
            <a:r>
              <a:rPr lang="en-LB" dirty="0"/>
              <a:t>  "requestedStartDate": "2025-11-15T10:00:00Z",</a:t>
            </a:r>
          </a:p>
          <a:p>
            <a:r>
              <a:rPr lang="en-LB" dirty="0"/>
              <a:t>  "orderItem": [</a:t>
            </a:r>
          </a:p>
          <a:p>
            <a:r>
              <a:rPr lang="en-LB" dirty="0"/>
              <a:t>    {</a:t>
            </a:r>
          </a:p>
          <a:p>
            <a:r>
              <a:rPr lang="en-LB" dirty="0"/>
              <a:t>      "id": "1",</a:t>
            </a:r>
          </a:p>
          <a:p>
            <a:r>
              <a:rPr lang="en-LB" dirty="0"/>
              <a:t>      "action": "add",</a:t>
            </a:r>
          </a:p>
          <a:p>
            <a:r>
              <a:rPr lang="en-LB" dirty="0"/>
              <a:t>      "service": {</a:t>
            </a:r>
          </a:p>
          <a:p>
            <a:r>
              <a:rPr lang="en-LB" dirty="0"/>
              <a:t>        "name": "Fiber 100Mbps",</a:t>
            </a:r>
          </a:p>
          <a:p>
            <a:r>
              <a:rPr lang="en-LB" dirty="0"/>
              <a:t>        "serviceSpecification": {</a:t>
            </a:r>
          </a:p>
          <a:p>
            <a:r>
              <a:rPr lang="en-LB" dirty="0"/>
              <a:t>          "id": "fiber_spec_100",</a:t>
            </a:r>
          </a:p>
          <a:p>
            <a:r>
              <a:rPr lang="en-LB" dirty="0"/>
              <a:t>          "href": "/serviceSpecification/fiber_spec_100"},</a:t>
            </a:r>
          </a:p>
          <a:p>
            <a:r>
              <a:rPr lang="en-LB" dirty="0"/>
              <a:t>        "serviceCharacteristic": [</a:t>
            </a:r>
          </a:p>
          <a:p>
            <a:r>
              <a:rPr lang="en-LB" dirty="0"/>
              <a:t>          {</a:t>
            </a:r>
          </a:p>
          <a:p>
            <a:r>
              <a:rPr lang="en-LB" dirty="0"/>
              <a:t>            "name": "Speed",</a:t>
            </a:r>
          </a:p>
          <a:p>
            <a:r>
              <a:rPr lang="en-LB" dirty="0"/>
              <a:t>            "value": "100Mbps"},</a:t>
            </a:r>
          </a:p>
          <a:p>
            <a:r>
              <a:rPr lang="en-LB" dirty="0"/>
              <a:t>          {</a:t>
            </a:r>
          </a:p>
          <a:p>
            <a:r>
              <a:rPr lang="en-LB" dirty="0"/>
              <a:t>            "name": "InstallationType",</a:t>
            </a:r>
          </a:p>
          <a:p>
            <a:r>
              <a:rPr lang="en-LB" dirty="0"/>
              <a:t>            "value": "HomeVisit"</a:t>
            </a:r>
          </a:p>
          <a:p>
            <a:r>
              <a:rPr lang="en-LB" dirty="0"/>
              <a:t>          }]}}]}</a:t>
            </a:r>
          </a:p>
        </p:txBody>
      </p:sp>
      <p:sp>
        <p:nvSpPr>
          <p:cNvPr id="7" name="TextBox 6">
            <a:extLst>
              <a:ext uri="{FF2B5EF4-FFF2-40B4-BE49-F238E27FC236}">
                <a16:creationId xmlns:a16="http://schemas.microsoft.com/office/drawing/2014/main" id="{B4F87857-D716-CF04-1B1E-D92758539EFF}"/>
              </a:ext>
            </a:extLst>
          </p:cNvPr>
          <p:cNvSpPr txBox="1"/>
          <p:nvPr/>
        </p:nvSpPr>
        <p:spPr>
          <a:xfrm>
            <a:off x="10160000" y="5662705"/>
            <a:ext cx="1844457" cy="400110"/>
          </a:xfrm>
          <a:prstGeom prst="rect">
            <a:avLst/>
          </a:prstGeom>
          <a:noFill/>
        </p:spPr>
        <p:txBody>
          <a:bodyPr wrap="square">
            <a:spAutoFit/>
          </a:bodyPr>
          <a:lstStyle/>
          <a:p>
            <a:pPr algn="ctr">
              <a:spcBef>
                <a:spcPts val="600"/>
              </a:spcBef>
              <a:spcAft>
                <a:spcPts val="600"/>
              </a:spcAft>
            </a:pPr>
            <a:r>
              <a:rPr lang="en-US" sz="2000" b="1" i="0" u="none" strike="noStrike" dirty="0">
                <a:solidFill>
                  <a:srgbClr val="FF0000"/>
                </a:solidFill>
                <a:effectLst/>
                <a:latin typeface="Times New Roman" panose="02020603050405020304" pitchFamily="18" charset="0"/>
                <a:cs typeface="Times New Roman" panose="02020603050405020304" pitchFamily="18" charset="0"/>
              </a:rPr>
              <a:t>Request body</a:t>
            </a:r>
            <a:endParaRPr lang="en-US" sz="2000" b="0" i="0" u="none" strike="noStrike" dirty="0">
              <a:solidFill>
                <a:srgbClr val="FF0000"/>
              </a:solidFill>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C968FCC-1D3A-7400-E7FB-B2F4CE4F761D}"/>
              </a:ext>
            </a:extLst>
          </p:cNvPr>
          <p:cNvSpPr txBox="1"/>
          <p:nvPr/>
        </p:nvSpPr>
        <p:spPr>
          <a:xfrm>
            <a:off x="1310797" y="3134731"/>
            <a:ext cx="3770598" cy="2862322"/>
          </a:xfrm>
          <a:prstGeom prst="rect">
            <a:avLst/>
          </a:prstGeom>
          <a:noFill/>
          <a:ln>
            <a:solidFill>
              <a:schemeClr val="tx1"/>
            </a:solidFill>
          </a:ln>
        </p:spPr>
        <p:txBody>
          <a:bodyPr wrap="square">
            <a:spAutoFit/>
          </a:bodyPr>
          <a:lstStyle/>
          <a:p>
            <a:r>
              <a:rPr lang="en-LB" dirty="0"/>
              <a:t>{</a:t>
            </a:r>
          </a:p>
          <a:p>
            <a:r>
              <a:rPr lang="en-LB" dirty="0"/>
              <a:t>  "id": "7890",</a:t>
            </a:r>
          </a:p>
          <a:p>
            <a:r>
              <a:rPr lang="en-LB" dirty="0"/>
              <a:t>  "state": "acknowledged",</a:t>
            </a:r>
          </a:p>
          <a:p>
            <a:r>
              <a:rPr lang="en-LB" dirty="0"/>
              <a:t>  "orderItem": [</a:t>
            </a:r>
          </a:p>
          <a:p>
            <a:r>
              <a:rPr lang="en-LB" dirty="0"/>
              <a:t>    {</a:t>
            </a:r>
          </a:p>
          <a:p>
            <a:r>
              <a:rPr lang="en-LB" dirty="0"/>
              <a:t>      "id": "1",</a:t>
            </a:r>
          </a:p>
          <a:p>
            <a:r>
              <a:rPr lang="en-LB" dirty="0"/>
              <a:t>      "state": "acknowledged"</a:t>
            </a:r>
          </a:p>
          <a:p>
            <a:r>
              <a:rPr lang="en-LB" dirty="0"/>
              <a:t>    }</a:t>
            </a:r>
          </a:p>
          <a:p>
            <a:r>
              <a:rPr lang="en-LB" dirty="0"/>
              <a:t>  ]</a:t>
            </a:r>
          </a:p>
          <a:p>
            <a:r>
              <a:rPr lang="en-LB" dirty="0"/>
              <a:t>}</a:t>
            </a:r>
          </a:p>
        </p:txBody>
      </p:sp>
      <p:sp>
        <p:nvSpPr>
          <p:cNvPr id="13" name="TextBox 12">
            <a:extLst>
              <a:ext uri="{FF2B5EF4-FFF2-40B4-BE49-F238E27FC236}">
                <a16:creationId xmlns:a16="http://schemas.microsoft.com/office/drawing/2014/main" id="{4A4BA52D-D99D-019E-369B-4E13D019C6EE}"/>
              </a:ext>
            </a:extLst>
          </p:cNvPr>
          <p:cNvSpPr txBox="1"/>
          <p:nvPr/>
        </p:nvSpPr>
        <p:spPr>
          <a:xfrm>
            <a:off x="3168915" y="5462650"/>
            <a:ext cx="1844457" cy="400110"/>
          </a:xfrm>
          <a:prstGeom prst="rect">
            <a:avLst/>
          </a:prstGeom>
          <a:noFill/>
        </p:spPr>
        <p:txBody>
          <a:bodyPr wrap="square">
            <a:spAutoFit/>
          </a:bodyPr>
          <a:lstStyle/>
          <a:p>
            <a:pPr algn="ctr">
              <a:spcBef>
                <a:spcPts val="600"/>
              </a:spcBef>
              <a:spcAft>
                <a:spcPts val="600"/>
              </a:spcAft>
            </a:pPr>
            <a:r>
              <a:rPr lang="en-US" sz="2000" b="1" i="0" u="none" strike="noStrike" dirty="0">
                <a:solidFill>
                  <a:srgbClr val="FF0000"/>
                </a:solidFill>
                <a:effectLst/>
                <a:latin typeface="Times New Roman" panose="02020603050405020304" pitchFamily="18" charset="0"/>
                <a:cs typeface="Times New Roman" panose="02020603050405020304" pitchFamily="18" charset="0"/>
              </a:rPr>
              <a:t>Response body</a:t>
            </a:r>
            <a:endParaRPr lang="en-US" sz="2000" b="0" i="0" u="none" strike="noStrike"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95176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5EF50-67F6-C1AA-EBC1-88812D87F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EA95B-7492-5EFB-FB58-80AE4D304BEC}"/>
              </a:ext>
            </a:extLst>
          </p:cNvPr>
          <p:cNvSpPr>
            <a:spLocks noGrp="1"/>
          </p:cNvSpPr>
          <p:nvPr>
            <p:ph type="title"/>
          </p:nvPr>
        </p:nvSpPr>
        <p:spPr>
          <a:xfrm>
            <a:off x="0" y="161904"/>
            <a:ext cx="12192000" cy="765022"/>
          </a:xfrm>
        </p:spPr>
        <p:txBody>
          <a:bodyPr>
            <a:normAutofit fontScale="90000"/>
          </a:bodyPr>
          <a:lstStyle/>
          <a:p>
            <a:r>
              <a:rPr lang="en-US" b="0" i="0" u="none" strike="noStrike" dirty="0">
                <a:solidFill>
                  <a:srgbClr val="000000"/>
                </a:solidFill>
                <a:effectLst/>
                <a:latin typeface="-webkit-standard"/>
              </a:rPr>
              <a:t>OSS/BSS — Customer Request and Business Orchestration</a:t>
            </a:r>
            <a:endParaRPr dirty="0"/>
          </a:p>
        </p:txBody>
      </p:sp>
      <p:sp>
        <p:nvSpPr>
          <p:cNvPr id="3" name="Content Placeholder 2">
            <a:extLst>
              <a:ext uri="{FF2B5EF4-FFF2-40B4-BE49-F238E27FC236}">
                <a16:creationId xmlns:a16="http://schemas.microsoft.com/office/drawing/2014/main" id="{7AB607EC-0BED-E202-6EAE-6C8A4E9D48EB}"/>
              </a:ext>
            </a:extLst>
          </p:cNvPr>
          <p:cNvSpPr>
            <a:spLocks noGrp="1"/>
          </p:cNvSpPr>
          <p:nvPr>
            <p:ph idx="1"/>
          </p:nvPr>
        </p:nvSpPr>
        <p:spPr>
          <a:xfrm>
            <a:off x="402920" y="1002082"/>
            <a:ext cx="11346493" cy="563671"/>
          </a:xfrm>
        </p:spPr>
        <p:txBody>
          <a:bodyPr>
            <a:normAutofit/>
          </a:bodyPr>
          <a:lstStyle/>
          <a:p>
            <a:pPr marL="360363" lvl="1">
              <a:spcBef>
                <a:spcPts val="600"/>
              </a:spcBef>
              <a:spcAft>
                <a:spcPts val="600"/>
              </a:spcAft>
              <a:buFont typeface="Arial" panose="020B0604020202020204" pitchFamily="34" charset="0"/>
              <a:buChar char="•"/>
            </a:pPr>
            <a:r>
              <a:rPr lang="en-US" b="1" i="0" u="none" strike="noStrike" dirty="0">
                <a:solidFill>
                  <a:srgbClr val="000000"/>
                </a:solidFill>
                <a:effectLst/>
              </a:rPr>
              <a:t>Data formats:</a:t>
            </a:r>
            <a:r>
              <a:rPr lang="en-US" b="0" i="0" u="none" strike="noStrike" dirty="0">
                <a:solidFill>
                  <a:srgbClr val="000000"/>
                </a:solidFill>
                <a:effectLst/>
              </a:rPr>
              <a:t> TMF Open APIs</a:t>
            </a:r>
          </a:p>
        </p:txBody>
      </p:sp>
      <p:sp>
        <p:nvSpPr>
          <p:cNvPr id="4" name="Slide Number Placeholder 3">
            <a:extLst>
              <a:ext uri="{FF2B5EF4-FFF2-40B4-BE49-F238E27FC236}">
                <a16:creationId xmlns:a16="http://schemas.microsoft.com/office/drawing/2014/main" id="{589F2BE5-0B6F-8A27-60DB-9320CE28E5AE}"/>
              </a:ext>
            </a:extLst>
          </p:cNvPr>
          <p:cNvSpPr>
            <a:spLocks noGrp="1"/>
          </p:cNvSpPr>
          <p:nvPr>
            <p:ph type="sldNum" sz="quarter" idx="12"/>
          </p:nvPr>
        </p:nvSpPr>
        <p:spPr/>
        <p:txBody>
          <a:bodyPr/>
          <a:lstStyle/>
          <a:p>
            <a:fld id="{C1FF6DA9-008F-8B48-92A6-B652298478BF}" type="slidenum">
              <a:rPr lang="en-US" smtClean="0"/>
              <a:t>63</a:t>
            </a:fld>
            <a:endParaRPr lang="en-US"/>
          </a:p>
        </p:txBody>
      </p:sp>
      <p:sp>
        <p:nvSpPr>
          <p:cNvPr id="6" name="TextBox 5">
            <a:extLst>
              <a:ext uri="{FF2B5EF4-FFF2-40B4-BE49-F238E27FC236}">
                <a16:creationId xmlns:a16="http://schemas.microsoft.com/office/drawing/2014/main" id="{7E705C0C-0D6F-7DA7-3B97-E95D0AC707AB}"/>
              </a:ext>
            </a:extLst>
          </p:cNvPr>
          <p:cNvSpPr txBox="1"/>
          <p:nvPr/>
        </p:nvSpPr>
        <p:spPr>
          <a:xfrm>
            <a:off x="402920" y="1716065"/>
            <a:ext cx="4678475" cy="461665"/>
          </a:xfrm>
          <a:prstGeom prst="rect">
            <a:avLst/>
          </a:prstGeom>
          <a:noFill/>
        </p:spPr>
        <p:txBody>
          <a:bodyPr wrap="square">
            <a:spAutoFit/>
          </a:bodyPr>
          <a:lstStyle>
            <a:defPPr>
              <a:defRPr lang="en-US"/>
            </a:defPPr>
            <a:lvl1pPr>
              <a:defRPr sz="2400" b="0" i="0" u="none" strike="noStrike">
                <a:solidFill>
                  <a:srgbClr val="000000"/>
                </a:solidFill>
                <a:effectLst/>
                <a:latin typeface="Times New Roman" panose="02020603050405020304" pitchFamily="18" charset="0"/>
                <a:cs typeface="Times New Roman" panose="02020603050405020304" pitchFamily="18" charset="0"/>
              </a:defRPr>
            </a:lvl1pPr>
          </a:lstStyle>
          <a:p>
            <a:r>
              <a:rPr lang="en-US" dirty="0"/>
              <a:t>Query Service Inventory (TMF641)</a:t>
            </a:r>
            <a:endParaRPr lang="en-LB" dirty="0"/>
          </a:p>
        </p:txBody>
      </p:sp>
      <p:sp>
        <p:nvSpPr>
          <p:cNvPr id="9" name="TextBox 8">
            <a:extLst>
              <a:ext uri="{FF2B5EF4-FFF2-40B4-BE49-F238E27FC236}">
                <a16:creationId xmlns:a16="http://schemas.microsoft.com/office/drawing/2014/main" id="{02405642-4556-8144-66F1-C525DD33E985}"/>
              </a:ext>
            </a:extLst>
          </p:cNvPr>
          <p:cNvSpPr txBox="1"/>
          <p:nvPr/>
        </p:nvSpPr>
        <p:spPr>
          <a:xfrm>
            <a:off x="626301" y="2461083"/>
            <a:ext cx="4678475" cy="461665"/>
          </a:xfrm>
          <a:prstGeom prst="rect">
            <a:avLst/>
          </a:prstGeom>
          <a:noFill/>
        </p:spPr>
        <p:txBody>
          <a:bodyPr wrap="square">
            <a:spAutoFit/>
          </a:bodyPr>
          <a:lstStyle/>
          <a:p>
            <a:pPr>
              <a:spcBef>
                <a:spcPts val="600"/>
              </a:spcBef>
              <a:spcAft>
                <a:spcPts val="600"/>
              </a:spcAft>
            </a:pPr>
            <a:r>
              <a:rPr lang="en-US" sz="2400" b="1" dirty="0">
                <a:solidFill>
                  <a:srgbClr val="000000"/>
                </a:solidFill>
                <a:latin typeface="Times New Roman" panose="02020603050405020304" pitchFamily="18" charset="0"/>
                <a:cs typeface="Times New Roman" panose="02020603050405020304" pitchFamily="18" charset="0"/>
              </a:rPr>
              <a:t>GET /</a:t>
            </a:r>
            <a:r>
              <a:rPr lang="en-US" sz="2400" b="1" dirty="0" err="1">
                <a:solidFill>
                  <a:srgbClr val="000000"/>
                </a:solidFill>
                <a:latin typeface="Times New Roman" panose="02020603050405020304" pitchFamily="18" charset="0"/>
                <a:cs typeface="Times New Roman" panose="02020603050405020304" pitchFamily="18" charset="0"/>
              </a:rPr>
              <a:t>service?serviceState</a:t>
            </a:r>
            <a:r>
              <a:rPr lang="en-US" sz="2400" b="1" dirty="0">
                <a:solidFill>
                  <a:srgbClr val="000000"/>
                </a:solidFill>
                <a:latin typeface="Times New Roman" panose="02020603050405020304" pitchFamily="18" charset="0"/>
                <a:cs typeface="Times New Roman" panose="02020603050405020304" pitchFamily="18" charset="0"/>
              </a:rPr>
              <a:t>=active</a:t>
            </a:r>
          </a:p>
        </p:txBody>
      </p:sp>
      <p:sp>
        <p:nvSpPr>
          <p:cNvPr id="13" name="TextBox 12">
            <a:extLst>
              <a:ext uri="{FF2B5EF4-FFF2-40B4-BE49-F238E27FC236}">
                <a16:creationId xmlns:a16="http://schemas.microsoft.com/office/drawing/2014/main" id="{306BE672-1423-4665-982B-7255A0ED22AB}"/>
              </a:ext>
            </a:extLst>
          </p:cNvPr>
          <p:cNvSpPr txBox="1"/>
          <p:nvPr/>
        </p:nvSpPr>
        <p:spPr>
          <a:xfrm>
            <a:off x="6263014" y="887322"/>
            <a:ext cx="4008329" cy="5909310"/>
          </a:xfrm>
          <a:prstGeom prst="rect">
            <a:avLst/>
          </a:prstGeom>
          <a:noFill/>
          <a:ln>
            <a:solidFill>
              <a:schemeClr val="tx1"/>
            </a:solidFill>
          </a:ln>
        </p:spPr>
        <p:txBody>
          <a:bodyPr wrap="square">
            <a:spAutoFit/>
          </a:bodyPr>
          <a:lstStyle/>
          <a:p>
            <a:r>
              <a:rPr lang="en-LB" dirty="0"/>
              <a:t>[{</a:t>
            </a:r>
          </a:p>
          <a:p>
            <a:r>
              <a:rPr lang="en-LB" dirty="0"/>
              <a:t>    "id": "service_001",</a:t>
            </a:r>
          </a:p>
          <a:p>
            <a:r>
              <a:rPr lang="en-LB" dirty="0"/>
              <a:t>    "name": "Fiber 100Mbps",</a:t>
            </a:r>
          </a:p>
          <a:p>
            <a:r>
              <a:rPr lang="en-LB" dirty="0"/>
              <a:t>    "serviceState": "active",</a:t>
            </a:r>
          </a:p>
          <a:p>
            <a:r>
              <a:rPr lang="en-LB" dirty="0"/>
              <a:t>    "serviceSpecification": {</a:t>
            </a:r>
          </a:p>
          <a:p>
            <a:r>
              <a:rPr lang="en-LB" dirty="0"/>
              <a:t>      "id": "fiber_spec_100” },</a:t>
            </a:r>
          </a:p>
          <a:p>
            <a:r>
              <a:rPr lang="en-LB" dirty="0"/>
              <a:t>    "serviceCharacteristic": [</a:t>
            </a:r>
          </a:p>
          <a:p>
            <a:r>
              <a:rPr lang="en-LB" dirty="0"/>
              <a:t>      {</a:t>
            </a:r>
          </a:p>
          <a:p>
            <a:r>
              <a:rPr lang="en-LB" dirty="0"/>
              <a:t>        "name": "Speed",</a:t>
            </a:r>
          </a:p>
          <a:p>
            <a:r>
              <a:rPr lang="en-LB" dirty="0"/>
              <a:t>        "value": "100Mbps” },</a:t>
            </a:r>
          </a:p>
          <a:p>
            <a:r>
              <a:rPr lang="en-LB" dirty="0"/>
              <a:t>      {</a:t>
            </a:r>
          </a:p>
          <a:p>
            <a:r>
              <a:rPr lang="en-LB" dirty="0"/>
              <a:t>        "name": "RouterIncluded",</a:t>
            </a:r>
          </a:p>
          <a:p>
            <a:r>
              <a:rPr lang="en-LB" dirty="0"/>
              <a:t>        "value": "YES"}]},</a:t>
            </a:r>
          </a:p>
          <a:p>
            <a:r>
              <a:rPr lang="en-LB" dirty="0"/>
              <a:t>  {</a:t>
            </a:r>
          </a:p>
          <a:p>
            <a:r>
              <a:rPr lang="en-LB" dirty="0"/>
              <a:t>    "id": "service_002",</a:t>
            </a:r>
          </a:p>
          <a:p>
            <a:r>
              <a:rPr lang="en-LB" dirty="0"/>
              <a:t>    "name": "Mobile Voice",</a:t>
            </a:r>
          </a:p>
          <a:p>
            <a:r>
              <a:rPr lang="en-LB" dirty="0"/>
              <a:t>    "serviceState": "active",</a:t>
            </a:r>
          </a:p>
          <a:p>
            <a:r>
              <a:rPr lang="en-LB" dirty="0"/>
              <a:t>    "serviceCharacteristic": [</a:t>
            </a:r>
          </a:p>
          <a:p>
            <a:r>
              <a:rPr lang="en-LB" dirty="0"/>
              <a:t>      {</a:t>
            </a:r>
          </a:p>
          <a:p>
            <a:r>
              <a:rPr lang="en-LB" dirty="0"/>
              <a:t>        "name": "Minutes",</a:t>
            </a:r>
          </a:p>
          <a:p>
            <a:r>
              <a:rPr lang="en-LB" dirty="0"/>
              <a:t>        "value": "300"}]}]</a:t>
            </a:r>
          </a:p>
        </p:txBody>
      </p:sp>
    </p:spTree>
    <p:extLst>
      <p:ext uri="{BB962C8B-B14F-4D97-AF65-F5344CB8AC3E}">
        <p14:creationId xmlns:p14="http://schemas.microsoft.com/office/powerpoint/2010/main" val="4301209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F078C-9960-24F0-3768-6D0AC1A4AD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449034-72FB-6A27-DC01-7B26585E3E12}"/>
              </a:ext>
            </a:extLst>
          </p:cNvPr>
          <p:cNvSpPr>
            <a:spLocks noGrp="1"/>
          </p:cNvSpPr>
          <p:nvPr>
            <p:ph type="title"/>
          </p:nvPr>
        </p:nvSpPr>
        <p:spPr>
          <a:xfrm>
            <a:off x="0" y="161904"/>
            <a:ext cx="12192000" cy="765022"/>
          </a:xfrm>
        </p:spPr>
        <p:txBody>
          <a:bodyPr>
            <a:normAutofit fontScale="90000"/>
          </a:bodyPr>
          <a:lstStyle/>
          <a:p>
            <a:r>
              <a:rPr lang="en-US" b="0" i="0" u="none" strike="noStrike" dirty="0">
                <a:solidFill>
                  <a:srgbClr val="000000"/>
                </a:solidFill>
                <a:effectLst/>
                <a:latin typeface="-webkit-standard"/>
              </a:rPr>
              <a:t>OSS/BSS — Customer Request and Business Orchestration</a:t>
            </a:r>
            <a:endParaRPr dirty="0"/>
          </a:p>
        </p:txBody>
      </p:sp>
      <p:sp>
        <p:nvSpPr>
          <p:cNvPr id="4" name="Slide Number Placeholder 3">
            <a:extLst>
              <a:ext uri="{FF2B5EF4-FFF2-40B4-BE49-F238E27FC236}">
                <a16:creationId xmlns:a16="http://schemas.microsoft.com/office/drawing/2014/main" id="{E663F2E8-BA40-A014-CE81-6C88D72BF540}"/>
              </a:ext>
            </a:extLst>
          </p:cNvPr>
          <p:cNvSpPr>
            <a:spLocks noGrp="1"/>
          </p:cNvSpPr>
          <p:nvPr>
            <p:ph type="sldNum" sz="quarter" idx="12"/>
          </p:nvPr>
        </p:nvSpPr>
        <p:spPr/>
        <p:txBody>
          <a:bodyPr/>
          <a:lstStyle/>
          <a:p>
            <a:fld id="{C1FF6DA9-008F-8B48-92A6-B652298478BF}" type="slidenum">
              <a:rPr lang="en-US" smtClean="0"/>
              <a:t>64</a:t>
            </a:fld>
            <a:endParaRPr lang="en-US"/>
          </a:p>
        </p:txBody>
      </p:sp>
      <p:sp>
        <p:nvSpPr>
          <p:cNvPr id="7" name="Content Placeholder 6">
            <a:extLst>
              <a:ext uri="{FF2B5EF4-FFF2-40B4-BE49-F238E27FC236}">
                <a16:creationId xmlns:a16="http://schemas.microsoft.com/office/drawing/2014/main" id="{06EC75B2-93DD-4DB5-2DB8-168506811BD9}"/>
              </a:ext>
            </a:extLst>
          </p:cNvPr>
          <p:cNvSpPr>
            <a:spLocks noGrp="1"/>
          </p:cNvSpPr>
          <p:nvPr>
            <p:ph idx="1"/>
          </p:nvPr>
        </p:nvSpPr>
        <p:spPr>
          <a:xfrm>
            <a:off x="396658" y="926926"/>
            <a:ext cx="10972800" cy="616906"/>
          </a:xfrm>
        </p:spPr>
        <p:txBody>
          <a:bodyPr/>
          <a:lstStyle/>
          <a:p>
            <a:r>
              <a:rPr lang="en-US" b="0" i="0" u="none" strike="noStrike" dirty="0">
                <a:solidFill>
                  <a:srgbClr val="000000"/>
                </a:solidFill>
                <a:effectLst/>
                <a:latin typeface="-webkit-standard"/>
              </a:rPr>
              <a:t>Technical Steps:</a:t>
            </a:r>
            <a:endParaRPr lang="en-LB" dirty="0"/>
          </a:p>
        </p:txBody>
      </p:sp>
      <p:sp>
        <p:nvSpPr>
          <p:cNvPr id="10" name="TextBox 9">
            <a:extLst>
              <a:ext uri="{FF2B5EF4-FFF2-40B4-BE49-F238E27FC236}">
                <a16:creationId xmlns:a16="http://schemas.microsoft.com/office/drawing/2014/main" id="{0AD7448E-ABDD-9C25-3C7D-094F04DFFCBF}"/>
              </a:ext>
            </a:extLst>
          </p:cNvPr>
          <p:cNvSpPr txBox="1"/>
          <p:nvPr/>
        </p:nvSpPr>
        <p:spPr>
          <a:xfrm>
            <a:off x="396658" y="1543832"/>
            <a:ext cx="11398684" cy="400110"/>
          </a:xfrm>
          <a:prstGeom prst="rect">
            <a:avLst/>
          </a:prstGeom>
          <a:noFill/>
        </p:spPr>
        <p:txBody>
          <a:bodyPr wrap="square">
            <a:spAutoFit/>
          </a:bodyPr>
          <a:lstStyle/>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1- Customer order created in </a:t>
            </a:r>
            <a:r>
              <a:rPr lang="en-US" sz="2000" b="1" i="0" u="none" strike="noStrike" dirty="0">
                <a:solidFill>
                  <a:srgbClr val="000000"/>
                </a:solidFill>
                <a:effectLst/>
                <a:latin typeface="Times New Roman" panose="02020603050405020304" pitchFamily="18" charset="0"/>
                <a:cs typeface="Times New Roman" panose="02020603050405020304" pitchFamily="18" charset="0"/>
              </a:rPr>
              <a:t>BSS (Order Management System)</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 generates an XML/JSON order message:</a:t>
            </a:r>
            <a:endParaRPr lang="en-LB"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947B633-FA1F-5A9E-2FE7-922F1A750C4F}"/>
              </a:ext>
            </a:extLst>
          </p:cNvPr>
          <p:cNvSpPr txBox="1"/>
          <p:nvPr/>
        </p:nvSpPr>
        <p:spPr>
          <a:xfrm>
            <a:off x="2742157" y="1995710"/>
            <a:ext cx="6281802" cy="1754326"/>
          </a:xfrm>
          <a:prstGeom prst="rect">
            <a:avLst/>
          </a:prstGeom>
          <a:noFill/>
          <a:ln>
            <a:solidFill>
              <a:schemeClr val="tx1"/>
            </a:solidFill>
          </a:ln>
        </p:spPr>
        <p:txBody>
          <a:bodyPr wrap="square">
            <a:spAutoFit/>
          </a:bodyPr>
          <a:lstStyle/>
          <a:p>
            <a:r>
              <a:rPr lang="en-LB" dirty="0"/>
              <a:t>{</a:t>
            </a:r>
          </a:p>
          <a:p>
            <a:r>
              <a:rPr lang="en-LB" dirty="0"/>
              <a:t>  "serviceType": "5G_Enterprise_VPN",</a:t>
            </a:r>
          </a:p>
          <a:p>
            <a:r>
              <a:rPr lang="en-LB" dirty="0"/>
              <a:t>  "bandwidth": "10Gbps",</a:t>
            </a:r>
          </a:p>
          <a:p>
            <a:r>
              <a:rPr lang="en-LB" dirty="0"/>
              <a:t>  "QoS": "Gold",</a:t>
            </a:r>
          </a:p>
          <a:p>
            <a:r>
              <a:rPr lang="en-LB" dirty="0"/>
              <a:t>  "locations": ["Paris", "London", "Berlin"]</a:t>
            </a:r>
          </a:p>
          <a:p>
            <a:r>
              <a:rPr lang="en-LB" dirty="0"/>
              <a:t>}</a:t>
            </a:r>
          </a:p>
        </p:txBody>
      </p:sp>
      <p:sp>
        <p:nvSpPr>
          <p:cNvPr id="16" name="TextBox 15">
            <a:extLst>
              <a:ext uri="{FF2B5EF4-FFF2-40B4-BE49-F238E27FC236}">
                <a16:creationId xmlns:a16="http://schemas.microsoft.com/office/drawing/2014/main" id="{23E2A8C3-703B-4C4D-028A-06A96665AFF3}"/>
              </a:ext>
            </a:extLst>
          </p:cNvPr>
          <p:cNvSpPr txBox="1"/>
          <p:nvPr/>
        </p:nvSpPr>
        <p:spPr>
          <a:xfrm>
            <a:off x="396658" y="3881140"/>
            <a:ext cx="11398684" cy="800219"/>
          </a:xfrm>
          <a:prstGeom prst="rect">
            <a:avLst/>
          </a:prstGeom>
          <a:noFill/>
        </p:spPr>
        <p:txBody>
          <a:bodyPr wrap="square">
            <a:spAutoFit/>
          </a:bodyPr>
          <a:lstStyle/>
          <a:p>
            <a:pPr>
              <a:spcBef>
                <a:spcPts val="600"/>
              </a:spcBef>
              <a:spcAft>
                <a:spcPts val="600"/>
              </a:spcAft>
            </a:pPr>
            <a:r>
              <a:rPr lang="en-US" dirty="0"/>
              <a:t>2 - BSS → OSS via TMF640 API: triggers “Order Fulfillment.”</a:t>
            </a:r>
          </a:p>
          <a:p>
            <a:pPr>
              <a:spcBef>
                <a:spcPts val="600"/>
              </a:spcBef>
              <a:spcAft>
                <a:spcPts val="600"/>
              </a:spcAft>
            </a:pPr>
            <a:r>
              <a:rPr lang="en-US" dirty="0"/>
              <a:t>3 - OSS translates service request into a Network Service Descriptor (NSD) request to the NFV Orchestrator.</a:t>
            </a:r>
          </a:p>
        </p:txBody>
      </p:sp>
      <p:sp>
        <p:nvSpPr>
          <p:cNvPr id="18" name="TextBox 17">
            <a:extLst>
              <a:ext uri="{FF2B5EF4-FFF2-40B4-BE49-F238E27FC236}">
                <a16:creationId xmlns:a16="http://schemas.microsoft.com/office/drawing/2014/main" id="{42E0BB96-8E31-8F1E-CA7C-CF0754E4E93B}"/>
              </a:ext>
            </a:extLst>
          </p:cNvPr>
          <p:cNvSpPr txBox="1"/>
          <p:nvPr/>
        </p:nvSpPr>
        <p:spPr>
          <a:xfrm>
            <a:off x="384132" y="4689713"/>
            <a:ext cx="11398684" cy="369332"/>
          </a:xfrm>
          <a:prstGeom prst="rect">
            <a:avLst/>
          </a:prstGeom>
          <a:noFill/>
        </p:spPr>
        <p:txBody>
          <a:bodyPr wrap="square">
            <a:spAutoFit/>
          </a:bodyPr>
          <a:lstStyle/>
          <a:p>
            <a:r>
              <a:rPr lang="en-US" b="0" i="0" u="none" strike="noStrike" dirty="0">
                <a:solidFill>
                  <a:srgbClr val="000000"/>
                </a:solidFill>
                <a:effectLst/>
                <a:latin typeface="-webkit-standard"/>
              </a:rPr>
              <a:t>4 - Sends this request to NFVO using the </a:t>
            </a:r>
            <a:r>
              <a:rPr lang="en-US" b="1" i="0" u="none" strike="noStrike" dirty="0" err="1">
                <a:solidFill>
                  <a:srgbClr val="000000"/>
                </a:solidFill>
                <a:effectLst/>
              </a:rPr>
              <a:t>Os</a:t>
            </a:r>
            <a:r>
              <a:rPr lang="en-US" b="1" i="0" u="none" strike="noStrike" dirty="0">
                <a:solidFill>
                  <a:srgbClr val="000000"/>
                </a:solidFill>
                <a:effectLst/>
              </a:rPr>
              <a:t>-Ma</a:t>
            </a:r>
            <a:r>
              <a:rPr lang="en-US" b="0" i="0" u="none" strike="noStrike" dirty="0">
                <a:solidFill>
                  <a:srgbClr val="000000"/>
                </a:solidFill>
                <a:effectLst/>
                <a:latin typeface="-webkit-standard"/>
              </a:rPr>
              <a:t> interface:</a:t>
            </a:r>
            <a:endParaRPr lang="en-LB" dirty="0"/>
          </a:p>
        </p:txBody>
      </p:sp>
      <p:sp>
        <p:nvSpPr>
          <p:cNvPr id="20" name="TextBox 19">
            <a:extLst>
              <a:ext uri="{FF2B5EF4-FFF2-40B4-BE49-F238E27FC236}">
                <a16:creationId xmlns:a16="http://schemas.microsoft.com/office/drawing/2014/main" id="{9352072B-0FBB-313B-9F35-19E4AC9C9BEB}"/>
              </a:ext>
            </a:extLst>
          </p:cNvPr>
          <p:cNvSpPr txBox="1"/>
          <p:nvPr/>
        </p:nvSpPr>
        <p:spPr>
          <a:xfrm>
            <a:off x="2742157" y="5294093"/>
            <a:ext cx="6281802" cy="800219"/>
          </a:xfrm>
          <a:prstGeom prst="rect">
            <a:avLst/>
          </a:prstGeom>
          <a:noFill/>
          <a:ln>
            <a:solidFill>
              <a:schemeClr val="tx1"/>
            </a:solidFill>
          </a:ln>
        </p:spPr>
        <p:txBody>
          <a:bodyPr wrap="square">
            <a:spAutoFit/>
          </a:bodyPr>
          <a:lstStyle/>
          <a:p>
            <a:pPr>
              <a:spcBef>
                <a:spcPts val="600"/>
              </a:spcBef>
              <a:spcAft>
                <a:spcPts val="600"/>
              </a:spcAft>
            </a:pPr>
            <a:r>
              <a:rPr lang="en-LB" dirty="0"/>
              <a:t>POST /nfvo/ns-instances</a:t>
            </a:r>
          </a:p>
          <a:p>
            <a:pPr>
              <a:spcBef>
                <a:spcPts val="600"/>
              </a:spcBef>
              <a:spcAft>
                <a:spcPts val="600"/>
              </a:spcAft>
            </a:pPr>
            <a:r>
              <a:rPr lang="en-LB" dirty="0"/>
              <a:t>Content-Type: application/json</a:t>
            </a:r>
          </a:p>
        </p:txBody>
      </p:sp>
      <p:sp>
        <p:nvSpPr>
          <p:cNvPr id="23" name="TextBox 22">
            <a:extLst>
              <a:ext uri="{FF2B5EF4-FFF2-40B4-BE49-F238E27FC236}">
                <a16:creationId xmlns:a16="http://schemas.microsoft.com/office/drawing/2014/main" id="{52647D1B-CC35-FA9A-9CD8-C6321472F790}"/>
              </a:ext>
            </a:extLst>
          </p:cNvPr>
          <p:cNvSpPr txBox="1"/>
          <p:nvPr/>
        </p:nvSpPr>
        <p:spPr>
          <a:xfrm>
            <a:off x="384132" y="6333755"/>
            <a:ext cx="11398684" cy="369332"/>
          </a:xfrm>
          <a:prstGeom prst="rect">
            <a:avLst/>
          </a:prstGeom>
          <a:noFill/>
        </p:spPr>
        <p:txBody>
          <a:bodyPr wrap="square">
            <a:spAutoFit/>
          </a:bodyPr>
          <a:lstStyle/>
          <a:p>
            <a:r>
              <a:rPr lang="en-US" b="1" i="0" u="none" strike="noStrike" dirty="0">
                <a:solidFill>
                  <a:srgbClr val="000000"/>
                </a:solidFill>
                <a:effectLst/>
              </a:rPr>
              <a:t>Output:</a:t>
            </a:r>
            <a:r>
              <a:rPr lang="en-US" b="0" i="0" u="none" strike="noStrike" dirty="0">
                <a:solidFill>
                  <a:srgbClr val="000000"/>
                </a:solidFill>
                <a:effectLst/>
                <a:latin typeface="-webkit-standard"/>
              </a:rPr>
              <a:t> The NFVO now receives a structured service request ready for orchestration.</a:t>
            </a:r>
            <a:endParaRPr lang="en-LB" dirty="0"/>
          </a:p>
        </p:txBody>
      </p:sp>
    </p:spTree>
    <p:extLst>
      <p:ext uri="{BB962C8B-B14F-4D97-AF65-F5344CB8AC3E}">
        <p14:creationId xmlns:p14="http://schemas.microsoft.com/office/powerpoint/2010/main" val="30950957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1A912-B84A-B5A0-CBC6-F8C396AB78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CA747A-6F8B-D452-D14D-8E0A89D31245}"/>
              </a:ext>
            </a:extLst>
          </p:cNvPr>
          <p:cNvSpPr>
            <a:spLocks noGrp="1"/>
          </p:cNvSpPr>
          <p:nvPr>
            <p:ph type="title"/>
          </p:nvPr>
        </p:nvSpPr>
        <p:spPr>
          <a:xfrm>
            <a:off x="0" y="161904"/>
            <a:ext cx="12192000" cy="601784"/>
          </a:xfrm>
        </p:spPr>
        <p:txBody>
          <a:bodyPr>
            <a:noAutofit/>
          </a:bodyPr>
          <a:lstStyle/>
          <a:p>
            <a:r>
              <a:rPr lang="en-US" sz="3400" b="0" i="0" u="none" strike="noStrike" dirty="0">
                <a:solidFill>
                  <a:srgbClr val="000000"/>
                </a:solidFill>
                <a:effectLst/>
                <a:latin typeface="-webkit-standard"/>
              </a:rPr>
              <a:t>NFV Orchestrator (NFVO) — Service Orchestration and Automation</a:t>
            </a:r>
            <a:endParaRPr sz="3400" dirty="0"/>
          </a:p>
        </p:txBody>
      </p:sp>
      <p:sp>
        <p:nvSpPr>
          <p:cNvPr id="4" name="Slide Number Placeholder 3">
            <a:extLst>
              <a:ext uri="{FF2B5EF4-FFF2-40B4-BE49-F238E27FC236}">
                <a16:creationId xmlns:a16="http://schemas.microsoft.com/office/drawing/2014/main" id="{1F2F7ACF-302C-4FC9-06ED-C087C0AB99D5}"/>
              </a:ext>
            </a:extLst>
          </p:cNvPr>
          <p:cNvSpPr>
            <a:spLocks noGrp="1"/>
          </p:cNvSpPr>
          <p:nvPr>
            <p:ph type="sldNum" sz="quarter" idx="12"/>
          </p:nvPr>
        </p:nvSpPr>
        <p:spPr/>
        <p:txBody>
          <a:bodyPr/>
          <a:lstStyle/>
          <a:p>
            <a:fld id="{C1FF6DA9-008F-8B48-92A6-B652298478BF}" type="slidenum">
              <a:rPr lang="en-US" smtClean="0"/>
              <a:t>65</a:t>
            </a:fld>
            <a:endParaRPr lang="en-US"/>
          </a:p>
        </p:txBody>
      </p:sp>
      <p:sp>
        <p:nvSpPr>
          <p:cNvPr id="7" name="Content Placeholder 6">
            <a:extLst>
              <a:ext uri="{FF2B5EF4-FFF2-40B4-BE49-F238E27FC236}">
                <a16:creationId xmlns:a16="http://schemas.microsoft.com/office/drawing/2014/main" id="{0B18A1F7-74D0-6211-5B0F-67D264A3ADC6}"/>
              </a:ext>
            </a:extLst>
          </p:cNvPr>
          <p:cNvSpPr>
            <a:spLocks noGrp="1"/>
          </p:cNvSpPr>
          <p:nvPr>
            <p:ph idx="1"/>
          </p:nvPr>
        </p:nvSpPr>
        <p:spPr>
          <a:xfrm>
            <a:off x="258872" y="1778696"/>
            <a:ext cx="10972800" cy="616906"/>
          </a:xfrm>
        </p:spPr>
        <p:txBody>
          <a:bodyPr>
            <a:normAutofit/>
          </a:bodyPr>
          <a:lstStyle/>
          <a:p>
            <a:r>
              <a:rPr lang="en-US" sz="2400" b="0" i="0" u="none" strike="noStrike" dirty="0">
                <a:solidFill>
                  <a:srgbClr val="000000"/>
                </a:solidFill>
                <a:effectLst/>
              </a:rPr>
              <a:t>Technical </a:t>
            </a:r>
            <a:r>
              <a:rPr lang="en-US" sz="2400" dirty="0">
                <a:solidFill>
                  <a:srgbClr val="000000"/>
                </a:solidFill>
              </a:rPr>
              <a:t>Used</a:t>
            </a:r>
            <a:r>
              <a:rPr lang="en-US" sz="2400" b="0" i="0" u="none" strike="noStrike" dirty="0">
                <a:solidFill>
                  <a:srgbClr val="000000"/>
                </a:solidFill>
                <a:effectLst/>
              </a:rPr>
              <a:t>:</a:t>
            </a:r>
            <a:endParaRPr lang="en-LB" sz="2400" dirty="0"/>
          </a:p>
        </p:txBody>
      </p:sp>
      <p:sp>
        <p:nvSpPr>
          <p:cNvPr id="10" name="TextBox 9">
            <a:extLst>
              <a:ext uri="{FF2B5EF4-FFF2-40B4-BE49-F238E27FC236}">
                <a16:creationId xmlns:a16="http://schemas.microsoft.com/office/drawing/2014/main" id="{0B17BF48-4E78-B07A-FBE2-D75BB330F4FF}"/>
              </a:ext>
            </a:extLst>
          </p:cNvPr>
          <p:cNvSpPr txBox="1"/>
          <p:nvPr/>
        </p:nvSpPr>
        <p:spPr>
          <a:xfrm>
            <a:off x="563670" y="2253362"/>
            <a:ext cx="11231671" cy="1169551"/>
          </a:xfrm>
          <a:prstGeom prst="rect">
            <a:avLst/>
          </a:prstGeom>
          <a:noFill/>
        </p:spPr>
        <p:txBody>
          <a:bodyPr wrap="square">
            <a:spAutoFit/>
          </a:bodyPr>
          <a:lstStyle/>
          <a:p>
            <a:pPr marL="342900" indent="-342900">
              <a:spcBef>
                <a:spcPts val="600"/>
              </a:spcBef>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Platform:</a:t>
            </a:r>
            <a:r>
              <a:rPr lang="en-US" sz="2000" dirty="0">
                <a:latin typeface="Times New Roman" panose="02020603050405020304" pitchFamily="18" charset="0"/>
                <a:cs typeface="Times New Roman" panose="02020603050405020304" pitchFamily="18" charset="0"/>
              </a:rPr>
              <a:t> OSM (Open Source MANO) or ONAP (Open Network Automation Platform)</a:t>
            </a:r>
          </a:p>
          <a:p>
            <a:pPr marL="342900" indent="-342900">
              <a:spcBef>
                <a:spcPts val="600"/>
              </a:spcBef>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Interfaces:</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Or-</a:t>
            </a:r>
            <a:r>
              <a:rPr lang="en-US" sz="2000" i="1" dirty="0" err="1">
                <a:latin typeface="Times New Roman" panose="02020603050405020304" pitchFamily="18" charset="0"/>
                <a:cs typeface="Times New Roman" panose="02020603050405020304" pitchFamily="18" charset="0"/>
              </a:rPr>
              <a:t>Vnfm</a:t>
            </a:r>
            <a:r>
              <a:rPr lang="en-US" sz="2000" dirty="0">
                <a:latin typeface="Times New Roman" panose="02020603050405020304" pitchFamily="18" charset="0"/>
                <a:cs typeface="Times New Roman" panose="02020603050405020304" pitchFamily="18" charset="0"/>
              </a:rPr>
              <a:t> (to VNFM), </a:t>
            </a:r>
            <a:r>
              <a:rPr lang="en-US" sz="2000" i="1" dirty="0">
                <a:latin typeface="Times New Roman" panose="02020603050405020304" pitchFamily="18" charset="0"/>
                <a:cs typeface="Times New Roman" panose="02020603050405020304" pitchFamily="18" charset="0"/>
              </a:rPr>
              <a:t>Or-Vi</a:t>
            </a:r>
            <a:r>
              <a:rPr lang="en-US" sz="2000" dirty="0">
                <a:latin typeface="Times New Roman" panose="02020603050405020304" pitchFamily="18" charset="0"/>
                <a:cs typeface="Times New Roman" panose="02020603050405020304" pitchFamily="18" charset="0"/>
              </a:rPr>
              <a:t> (to VIM)</a:t>
            </a:r>
          </a:p>
          <a:p>
            <a:pPr marL="342900" indent="-342900">
              <a:spcBef>
                <a:spcPts val="600"/>
              </a:spcBef>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Blueprints:</a:t>
            </a:r>
            <a:r>
              <a:rPr lang="en-US" sz="2000" dirty="0">
                <a:latin typeface="Times New Roman" panose="02020603050405020304" pitchFamily="18" charset="0"/>
                <a:cs typeface="Times New Roman" panose="02020603050405020304" pitchFamily="18" charset="0"/>
              </a:rPr>
              <a:t> Network Service Descriptors (YAML-based NSDs)</a:t>
            </a:r>
          </a:p>
        </p:txBody>
      </p:sp>
      <p:sp>
        <p:nvSpPr>
          <p:cNvPr id="5" name="Content Placeholder 6">
            <a:extLst>
              <a:ext uri="{FF2B5EF4-FFF2-40B4-BE49-F238E27FC236}">
                <a16:creationId xmlns:a16="http://schemas.microsoft.com/office/drawing/2014/main" id="{FDA4E0E1-83F8-0D11-15CB-2B2A81504D95}"/>
              </a:ext>
            </a:extLst>
          </p:cNvPr>
          <p:cNvSpPr txBox="1">
            <a:spLocks/>
          </p:cNvSpPr>
          <p:nvPr/>
        </p:nvSpPr>
        <p:spPr>
          <a:xfrm>
            <a:off x="258872" y="3585490"/>
            <a:ext cx="10972800" cy="6169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solidFill>
                  <a:srgbClr val="000000"/>
                </a:solidFill>
              </a:rPr>
              <a:t>Technical Steps:</a:t>
            </a:r>
            <a:endParaRPr lang="en-LB" sz="2400" dirty="0"/>
          </a:p>
        </p:txBody>
      </p:sp>
      <p:sp>
        <p:nvSpPr>
          <p:cNvPr id="8" name="TextBox 7">
            <a:extLst>
              <a:ext uri="{FF2B5EF4-FFF2-40B4-BE49-F238E27FC236}">
                <a16:creationId xmlns:a16="http://schemas.microsoft.com/office/drawing/2014/main" id="{DD08F2CF-7458-E637-6A75-8AA9AFA7DB2F}"/>
              </a:ext>
            </a:extLst>
          </p:cNvPr>
          <p:cNvSpPr txBox="1"/>
          <p:nvPr/>
        </p:nvSpPr>
        <p:spPr>
          <a:xfrm>
            <a:off x="563670" y="4017469"/>
            <a:ext cx="6106438" cy="369332"/>
          </a:xfrm>
          <a:prstGeom prst="rect">
            <a:avLst/>
          </a:prstGeom>
          <a:noFill/>
        </p:spPr>
        <p:txBody>
          <a:bodyPr wrap="square">
            <a:spAutoFit/>
          </a:bodyPr>
          <a:lstStyle/>
          <a:p>
            <a:r>
              <a:rPr lang="en-US" b="0" i="0" u="none" strike="noStrike" dirty="0">
                <a:solidFill>
                  <a:srgbClr val="000000"/>
                </a:solidFill>
                <a:effectLst/>
                <a:latin typeface="Times New Roman" panose="02020603050405020304" pitchFamily="18" charset="0"/>
                <a:cs typeface="Times New Roman" panose="02020603050405020304" pitchFamily="18" charset="0"/>
              </a:rPr>
              <a:t>1- The NFVO reads the </a:t>
            </a:r>
            <a:r>
              <a:rPr lang="en-US" b="1" i="0" u="none" strike="noStrike" dirty="0">
                <a:solidFill>
                  <a:srgbClr val="000000"/>
                </a:solidFill>
                <a:effectLst/>
                <a:latin typeface="Times New Roman" panose="02020603050405020304" pitchFamily="18" charset="0"/>
                <a:cs typeface="Times New Roman" panose="02020603050405020304" pitchFamily="18" charset="0"/>
              </a:rPr>
              <a:t>NSD</a:t>
            </a:r>
            <a:r>
              <a:rPr lang="en-US" b="0" i="0" u="none" strike="noStrike" dirty="0">
                <a:solidFill>
                  <a:srgbClr val="000000"/>
                </a:solidFill>
                <a:effectLst/>
                <a:latin typeface="Times New Roman" panose="02020603050405020304" pitchFamily="18" charset="0"/>
                <a:cs typeface="Times New Roman" panose="02020603050405020304" pitchFamily="18" charset="0"/>
              </a:rPr>
              <a:t> named </a:t>
            </a:r>
            <a:r>
              <a:rPr lang="en-US" dirty="0" err="1">
                <a:latin typeface="Times New Roman" panose="02020603050405020304" pitchFamily="18" charset="0"/>
                <a:cs typeface="Times New Roman" panose="02020603050405020304" pitchFamily="18" charset="0"/>
              </a:rPr>
              <a:t>enterprise_vpn.yaml</a:t>
            </a:r>
            <a:r>
              <a:rPr lang="en-US" b="0" i="0" u="none" strike="noStrike" dirty="0">
                <a:solidFill>
                  <a:srgbClr val="000000"/>
                </a:solidFill>
                <a:effectLst/>
                <a:latin typeface="Times New Roman" panose="02020603050405020304" pitchFamily="18" charset="0"/>
                <a:cs typeface="Times New Roman" panose="02020603050405020304" pitchFamily="18" charset="0"/>
              </a:rPr>
              <a:t>:</a:t>
            </a:r>
            <a:endParaRPr lang="en-LB"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EE36AC5-D58D-F1AC-07F2-C4FDC8F84DE1}"/>
              </a:ext>
            </a:extLst>
          </p:cNvPr>
          <p:cNvSpPr txBox="1"/>
          <p:nvPr/>
        </p:nvSpPr>
        <p:spPr>
          <a:xfrm>
            <a:off x="1868090" y="4508890"/>
            <a:ext cx="6107906" cy="1754326"/>
          </a:xfrm>
          <a:prstGeom prst="rect">
            <a:avLst/>
          </a:prstGeom>
          <a:noFill/>
          <a:ln>
            <a:solidFill>
              <a:schemeClr val="tx1"/>
            </a:solidFill>
          </a:ln>
        </p:spPr>
        <p:txBody>
          <a:bodyPr wrap="square">
            <a:spAutoFit/>
          </a:bodyPr>
          <a:lstStyle/>
          <a:p>
            <a:r>
              <a:rPr lang="en-LB" dirty="0">
                <a:latin typeface="Times New Roman" panose="02020603050405020304" pitchFamily="18" charset="0"/>
                <a:cs typeface="Times New Roman" panose="02020603050405020304" pitchFamily="18" charset="0"/>
              </a:rPr>
              <a:t>nsd:</a:t>
            </a:r>
          </a:p>
          <a:p>
            <a:r>
              <a:rPr lang="en-LB" dirty="0">
                <a:latin typeface="Times New Roman" panose="02020603050405020304" pitchFamily="18" charset="0"/>
                <a:cs typeface="Times New Roman" panose="02020603050405020304" pitchFamily="18" charset="0"/>
              </a:rPr>
              <a:t>  name: Enterprise_VPN_Service</a:t>
            </a:r>
          </a:p>
          <a:p>
            <a:r>
              <a:rPr lang="en-LB" dirty="0">
                <a:latin typeface="Times New Roman" panose="02020603050405020304" pitchFamily="18" charset="0"/>
                <a:cs typeface="Times New Roman" panose="02020603050405020304" pitchFamily="18" charset="0"/>
              </a:rPr>
              <a:t>  constituent-vnfd:</a:t>
            </a:r>
          </a:p>
          <a:p>
            <a:r>
              <a:rPr lang="en-LB" dirty="0">
                <a:latin typeface="Times New Roman" panose="02020603050405020304" pitchFamily="18" charset="0"/>
                <a:cs typeface="Times New Roman" panose="02020603050405020304" pitchFamily="18" charset="0"/>
              </a:rPr>
              <a:t>    - vnfd-id: vRouter</a:t>
            </a:r>
          </a:p>
          <a:p>
            <a:r>
              <a:rPr lang="en-LB" dirty="0">
                <a:latin typeface="Times New Roman" panose="02020603050405020304" pitchFamily="18" charset="0"/>
                <a:cs typeface="Times New Roman" panose="02020603050405020304" pitchFamily="18" charset="0"/>
              </a:rPr>
              <a:t>    - vnfd-id: vFirewall</a:t>
            </a:r>
          </a:p>
          <a:p>
            <a:r>
              <a:rPr lang="en-LB" dirty="0">
                <a:latin typeface="Times New Roman" panose="02020603050405020304" pitchFamily="18" charset="0"/>
                <a:cs typeface="Times New Roman" panose="02020603050405020304" pitchFamily="18" charset="0"/>
              </a:rPr>
              <a:t>    - vnfd-id: vLoadBalancer</a:t>
            </a:r>
          </a:p>
        </p:txBody>
      </p:sp>
      <p:sp>
        <p:nvSpPr>
          <p:cNvPr id="13" name="TextBox 12">
            <a:extLst>
              <a:ext uri="{FF2B5EF4-FFF2-40B4-BE49-F238E27FC236}">
                <a16:creationId xmlns:a16="http://schemas.microsoft.com/office/drawing/2014/main" id="{5DD2821F-9919-E043-0AB8-20D09DF0AE94}"/>
              </a:ext>
            </a:extLst>
          </p:cNvPr>
          <p:cNvSpPr txBox="1"/>
          <p:nvPr/>
        </p:nvSpPr>
        <p:spPr>
          <a:xfrm>
            <a:off x="563670" y="6331955"/>
            <a:ext cx="9908089" cy="369332"/>
          </a:xfrm>
          <a:prstGeom prst="rect">
            <a:avLst/>
          </a:prstGeom>
          <a:noFill/>
        </p:spPr>
        <p:txBody>
          <a:bodyPr wrap="square">
            <a:spAutoFit/>
          </a:bodyPr>
          <a:lstStyle/>
          <a:p>
            <a:r>
              <a:rPr lang="en-US" b="0" i="0" u="none" strike="noStrike" dirty="0">
                <a:solidFill>
                  <a:srgbClr val="000000"/>
                </a:solidFill>
                <a:effectLst/>
                <a:latin typeface="Times New Roman" panose="02020603050405020304" pitchFamily="18" charset="0"/>
                <a:cs typeface="Times New Roman" panose="02020603050405020304" pitchFamily="18" charset="0"/>
              </a:rPr>
              <a:t>2- Checks available resources via </a:t>
            </a:r>
            <a:r>
              <a:rPr lang="en-US" b="1" i="0" u="none" strike="noStrike" dirty="0">
                <a:solidFill>
                  <a:srgbClr val="000000"/>
                </a:solidFill>
                <a:effectLst/>
                <a:latin typeface="Times New Roman" panose="02020603050405020304" pitchFamily="18" charset="0"/>
                <a:cs typeface="Times New Roman" panose="02020603050405020304" pitchFamily="18" charset="0"/>
              </a:rPr>
              <a:t>Or–Vi</a:t>
            </a:r>
            <a:r>
              <a:rPr lang="en-US" b="0" i="0" u="none" strike="noStrike" dirty="0">
                <a:solidFill>
                  <a:srgbClr val="000000"/>
                </a:solidFill>
                <a:effectLst/>
                <a:latin typeface="Times New Roman" panose="02020603050405020304" pitchFamily="18" charset="0"/>
                <a:cs typeface="Times New Roman" panose="02020603050405020304" pitchFamily="18" charset="0"/>
              </a:rPr>
              <a:t> API to the </a:t>
            </a:r>
            <a:r>
              <a:rPr lang="en-US" b="1" i="0" u="none" strike="noStrike" dirty="0">
                <a:solidFill>
                  <a:srgbClr val="000000"/>
                </a:solidFill>
                <a:effectLst/>
                <a:latin typeface="Times New Roman" panose="02020603050405020304" pitchFamily="18" charset="0"/>
                <a:cs typeface="Times New Roman" panose="02020603050405020304" pitchFamily="18" charset="0"/>
              </a:rPr>
              <a:t>VIM</a:t>
            </a:r>
            <a:r>
              <a:rPr lang="en-US" b="0" i="0" u="none" strike="noStrike" dirty="0">
                <a:solidFill>
                  <a:srgbClr val="000000"/>
                </a:solidFill>
                <a:effectLst/>
                <a:latin typeface="Times New Roman" panose="02020603050405020304" pitchFamily="18" charset="0"/>
                <a:cs typeface="Times New Roman" panose="02020603050405020304" pitchFamily="18" charset="0"/>
              </a:rPr>
              <a:t> (e.g., OpenStack Keystone/Nova).</a:t>
            </a:r>
            <a:endParaRPr lang="en-LB"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7843F78B-60C8-B12E-ECFE-F50F33FB47BF}"/>
              </a:ext>
            </a:extLst>
          </p:cNvPr>
          <p:cNvSpPr txBox="1"/>
          <p:nvPr/>
        </p:nvSpPr>
        <p:spPr>
          <a:xfrm>
            <a:off x="452120" y="803212"/>
            <a:ext cx="11481008" cy="830997"/>
          </a:xfrm>
          <a:prstGeom prst="rect">
            <a:avLst/>
          </a:prstGeom>
          <a:noFill/>
        </p:spPr>
        <p:txBody>
          <a:bodyPr wrap="square">
            <a:spAutoFit/>
          </a:bodyPr>
          <a:lstStyle/>
          <a:p>
            <a:pPr algn="l"/>
            <a:r>
              <a:rPr lang="en-US" sz="2400" b="0" i="1" u="none" strike="noStrike" dirty="0">
                <a:solidFill>
                  <a:srgbClr val="000000"/>
                </a:solidFill>
                <a:effectLst/>
                <a:latin typeface="Times New Roman" panose="02020603050405020304" pitchFamily="18" charset="0"/>
                <a:cs typeface="Times New Roman" panose="02020603050405020304" pitchFamily="18" charset="0"/>
              </a:rPr>
              <a:t>The </a:t>
            </a:r>
            <a:r>
              <a:rPr lang="en-US" sz="2400" b="1" i="1" u="none" strike="noStrike" dirty="0">
                <a:solidFill>
                  <a:srgbClr val="000000"/>
                </a:solidFill>
                <a:effectLst/>
                <a:latin typeface="Times New Roman" panose="02020603050405020304" pitchFamily="18" charset="0"/>
                <a:cs typeface="Times New Roman" panose="02020603050405020304" pitchFamily="18" charset="0"/>
              </a:rPr>
              <a:t>NFVO</a:t>
            </a:r>
            <a:r>
              <a:rPr lang="en-US" sz="2400" b="0" i="1" u="none" strike="noStrike" dirty="0">
                <a:solidFill>
                  <a:srgbClr val="000000"/>
                </a:solidFill>
                <a:effectLst/>
                <a:latin typeface="Times New Roman" panose="02020603050405020304" pitchFamily="18" charset="0"/>
                <a:cs typeface="Times New Roman" panose="02020603050405020304" pitchFamily="18" charset="0"/>
              </a:rPr>
              <a:t> receives the VPN request and automatically orchestrates the deployment of all required Virtual Network Functions (VNFs).</a:t>
            </a:r>
          </a:p>
        </p:txBody>
      </p:sp>
    </p:spTree>
    <p:extLst>
      <p:ext uri="{BB962C8B-B14F-4D97-AF65-F5344CB8AC3E}">
        <p14:creationId xmlns:p14="http://schemas.microsoft.com/office/powerpoint/2010/main" val="16358621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55F6A-1CD3-E994-A8BA-67FD7F4CC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4D4A3-1525-0074-FEDD-923F96272A6D}"/>
              </a:ext>
            </a:extLst>
          </p:cNvPr>
          <p:cNvSpPr>
            <a:spLocks noGrp="1"/>
          </p:cNvSpPr>
          <p:nvPr>
            <p:ph type="title"/>
          </p:nvPr>
        </p:nvSpPr>
        <p:spPr>
          <a:xfrm>
            <a:off x="0" y="161904"/>
            <a:ext cx="12192000" cy="601784"/>
          </a:xfrm>
        </p:spPr>
        <p:txBody>
          <a:bodyPr>
            <a:noAutofit/>
          </a:bodyPr>
          <a:lstStyle/>
          <a:p>
            <a:r>
              <a:rPr lang="en-US" sz="3400" b="0" i="0" u="none" strike="noStrike" dirty="0">
                <a:solidFill>
                  <a:srgbClr val="000000"/>
                </a:solidFill>
                <a:effectLst/>
                <a:latin typeface="-webkit-standard"/>
              </a:rPr>
              <a:t>NFV Orchestrator (NFVO) — Service Orchestration and Automation</a:t>
            </a:r>
            <a:endParaRPr sz="3400" dirty="0"/>
          </a:p>
        </p:txBody>
      </p:sp>
      <p:sp>
        <p:nvSpPr>
          <p:cNvPr id="4" name="Slide Number Placeholder 3">
            <a:extLst>
              <a:ext uri="{FF2B5EF4-FFF2-40B4-BE49-F238E27FC236}">
                <a16:creationId xmlns:a16="http://schemas.microsoft.com/office/drawing/2014/main" id="{96296493-AF3E-786C-5695-273E62645BC8}"/>
              </a:ext>
            </a:extLst>
          </p:cNvPr>
          <p:cNvSpPr>
            <a:spLocks noGrp="1"/>
          </p:cNvSpPr>
          <p:nvPr>
            <p:ph type="sldNum" sz="quarter" idx="12"/>
          </p:nvPr>
        </p:nvSpPr>
        <p:spPr/>
        <p:txBody>
          <a:bodyPr/>
          <a:lstStyle/>
          <a:p>
            <a:fld id="{C1FF6DA9-008F-8B48-92A6-B652298478BF}" type="slidenum">
              <a:rPr lang="en-US" smtClean="0"/>
              <a:t>66</a:t>
            </a:fld>
            <a:endParaRPr lang="en-US"/>
          </a:p>
        </p:txBody>
      </p:sp>
      <p:sp>
        <p:nvSpPr>
          <p:cNvPr id="5" name="Content Placeholder 6">
            <a:extLst>
              <a:ext uri="{FF2B5EF4-FFF2-40B4-BE49-F238E27FC236}">
                <a16:creationId xmlns:a16="http://schemas.microsoft.com/office/drawing/2014/main" id="{774B8413-BF16-821E-CD0A-F3C6A149BA02}"/>
              </a:ext>
            </a:extLst>
          </p:cNvPr>
          <p:cNvSpPr txBox="1">
            <a:spLocks/>
          </p:cNvSpPr>
          <p:nvPr/>
        </p:nvSpPr>
        <p:spPr>
          <a:xfrm>
            <a:off x="258872" y="872770"/>
            <a:ext cx="10972800" cy="6169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solidFill>
                  <a:srgbClr val="000000"/>
                </a:solidFill>
              </a:rPr>
              <a:t>Technical Steps:</a:t>
            </a:r>
            <a:endParaRPr lang="en-LB" sz="2400" dirty="0"/>
          </a:p>
        </p:txBody>
      </p:sp>
      <p:sp>
        <p:nvSpPr>
          <p:cNvPr id="8" name="TextBox 7">
            <a:extLst>
              <a:ext uri="{FF2B5EF4-FFF2-40B4-BE49-F238E27FC236}">
                <a16:creationId xmlns:a16="http://schemas.microsoft.com/office/drawing/2014/main" id="{C82252B8-E630-05FF-64E0-C0955C6C053F}"/>
              </a:ext>
            </a:extLst>
          </p:cNvPr>
          <p:cNvSpPr txBox="1"/>
          <p:nvPr/>
        </p:nvSpPr>
        <p:spPr>
          <a:xfrm>
            <a:off x="563670" y="1457149"/>
            <a:ext cx="6106438" cy="369332"/>
          </a:xfrm>
          <a:prstGeom prst="rect">
            <a:avLst/>
          </a:prstGeom>
          <a:noFill/>
        </p:spPr>
        <p:txBody>
          <a:bodyPr wrap="square">
            <a:spAutoFit/>
          </a:bodyPr>
          <a:lstStyle/>
          <a:p>
            <a:r>
              <a:rPr lang="en-US" dirty="0">
                <a:solidFill>
                  <a:srgbClr val="000000"/>
                </a:solidFill>
                <a:latin typeface="Times New Roman" panose="02020603050405020304" pitchFamily="18" charset="0"/>
                <a:cs typeface="Times New Roman" panose="02020603050405020304" pitchFamily="18" charset="0"/>
              </a:rPr>
              <a:t>3</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i="0" u="none" strike="noStrike" dirty="0">
                <a:solidFill>
                  <a:srgbClr val="000000"/>
                </a:solidFill>
                <a:effectLst/>
                <a:latin typeface="Times New Roman" panose="02020603050405020304" pitchFamily="18" charset="0"/>
                <a:cs typeface="Times New Roman" panose="02020603050405020304" pitchFamily="18" charset="0"/>
              </a:rPr>
              <a:t>Sends VNF instantiation requests to VNFM via Or–</a:t>
            </a:r>
            <a:r>
              <a:rPr lang="en-US" i="0" u="none" strike="noStrike" dirty="0" err="1">
                <a:solidFill>
                  <a:srgbClr val="000000"/>
                </a:solidFill>
                <a:effectLst/>
                <a:latin typeface="Times New Roman" panose="02020603050405020304" pitchFamily="18" charset="0"/>
                <a:cs typeface="Times New Roman" panose="02020603050405020304" pitchFamily="18" charset="0"/>
              </a:rPr>
              <a:t>Vnfm</a:t>
            </a:r>
            <a:r>
              <a:rPr lang="en-US" i="0" u="none" strike="noStrike" dirty="0">
                <a:solidFill>
                  <a:srgbClr val="000000"/>
                </a:solidFill>
                <a:effectLst/>
                <a:latin typeface="Times New Roman" panose="02020603050405020304" pitchFamily="18" charset="0"/>
                <a:cs typeface="Times New Roman" panose="02020603050405020304" pitchFamily="18" charset="0"/>
              </a:rPr>
              <a:t>:</a:t>
            </a:r>
            <a:endParaRPr lang="en-LB"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196C2BD-5C33-52FD-1771-0C235F835721}"/>
              </a:ext>
            </a:extLst>
          </p:cNvPr>
          <p:cNvSpPr txBox="1"/>
          <p:nvPr/>
        </p:nvSpPr>
        <p:spPr>
          <a:xfrm>
            <a:off x="1868090" y="1999370"/>
            <a:ext cx="6107906" cy="1754326"/>
          </a:xfrm>
          <a:prstGeom prst="rect">
            <a:avLst/>
          </a:prstGeom>
          <a:noFill/>
          <a:ln>
            <a:solidFill>
              <a:schemeClr val="tx1"/>
            </a:solidFill>
          </a:ln>
        </p:spPr>
        <p:txBody>
          <a:bodyPr wrap="square">
            <a:spAutoFit/>
          </a:bodyPr>
          <a:lstStyle/>
          <a:p>
            <a:r>
              <a:rPr lang="en-US" dirty="0"/>
              <a:t>POST /</a:t>
            </a:r>
            <a:r>
              <a:rPr lang="en-US" dirty="0" err="1"/>
              <a:t>vnfm</a:t>
            </a:r>
            <a:r>
              <a:rPr lang="en-US" dirty="0"/>
              <a:t>/</a:t>
            </a:r>
            <a:r>
              <a:rPr lang="en-US" dirty="0" err="1"/>
              <a:t>vnfs</a:t>
            </a:r>
            <a:endParaRPr lang="en-US" dirty="0"/>
          </a:p>
          <a:p>
            <a:r>
              <a:rPr lang="en-US" dirty="0"/>
              <a:t>{</a:t>
            </a:r>
          </a:p>
          <a:p>
            <a:r>
              <a:rPr lang="en-US" dirty="0"/>
              <a:t>  "</a:t>
            </a:r>
            <a:r>
              <a:rPr lang="en-US" dirty="0" err="1"/>
              <a:t>vnfd_id</a:t>
            </a:r>
            <a:r>
              <a:rPr lang="en-US" dirty="0"/>
              <a:t>": "</a:t>
            </a:r>
            <a:r>
              <a:rPr lang="en-US" dirty="0" err="1"/>
              <a:t>vFirewall</a:t>
            </a:r>
            <a:r>
              <a:rPr lang="en-US" dirty="0"/>
              <a:t>",</a:t>
            </a:r>
          </a:p>
          <a:p>
            <a:r>
              <a:rPr lang="en-US" dirty="0"/>
              <a:t>  "flavor": "medium",</a:t>
            </a:r>
          </a:p>
          <a:p>
            <a:r>
              <a:rPr lang="en-US" dirty="0"/>
              <a:t>  "location": "London"</a:t>
            </a:r>
          </a:p>
          <a:p>
            <a:r>
              <a:rPr lang="en-US" dirty="0"/>
              <a:t>}</a:t>
            </a:r>
          </a:p>
        </p:txBody>
      </p:sp>
      <p:sp>
        <p:nvSpPr>
          <p:cNvPr id="13" name="TextBox 12">
            <a:extLst>
              <a:ext uri="{FF2B5EF4-FFF2-40B4-BE49-F238E27FC236}">
                <a16:creationId xmlns:a16="http://schemas.microsoft.com/office/drawing/2014/main" id="{6FC592F7-C24D-E6B1-3499-E342D4679D49}"/>
              </a:ext>
            </a:extLst>
          </p:cNvPr>
          <p:cNvSpPr txBox="1"/>
          <p:nvPr/>
        </p:nvSpPr>
        <p:spPr>
          <a:xfrm>
            <a:off x="563670" y="4076435"/>
            <a:ext cx="11536890" cy="369332"/>
          </a:xfrm>
          <a:prstGeom prst="rect">
            <a:avLst/>
          </a:prstGeom>
          <a:noFill/>
        </p:spPr>
        <p:txBody>
          <a:bodyPr wrap="square">
            <a:spAutoFit/>
          </a:bodyPr>
          <a:lstStyle/>
          <a:p>
            <a:r>
              <a:rPr lang="en-US" dirty="0">
                <a:solidFill>
                  <a:srgbClr val="000000"/>
                </a:solidFill>
                <a:latin typeface="Times New Roman" panose="02020603050405020304" pitchFamily="18" charset="0"/>
                <a:cs typeface="Times New Roman" panose="02020603050405020304" pitchFamily="18" charset="0"/>
              </a:rPr>
              <a:t>4</a:t>
            </a:r>
            <a:r>
              <a:rPr lang="en-US" b="0" i="0" u="none" strike="noStrike" dirty="0">
                <a:solidFill>
                  <a:srgbClr val="000000"/>
                </a:solidFill>
                <a:effectLst/>
                <a:latin typeface="Times New Roman" panose="02020603050405020304" pitchFamily="18" charset="0"/>
                <a:cs typeface="Times New Roman" panose="02020603050405020304" pitchFamily="18" charset="0"/>
              </a:rPr>
              <a:t>- NFVO coordinates all VNFs, chaining them (Service Function Chaining) through SDN controllers (e.g.,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OpenDaylight</a:t>
            </a:r>
            <a:r>
              <a:rPr lang="en-US" b="0" i="0" u="none" strike="noStrike" dirty="0">
                <a:solidFill>
                  <a:srgbClr val="000000"/>
                </a:solidFill>
                <a:effectLst/>
                <a:latin typeface="Times New Roman" panose="02020603050405020304" pitchFamily="18" charset="0"/>
                <a:cs typeface="Times New Roman" panose="02020603050405020304" pitchFamily="18" charset="0"/>
              </a:rPr>
              <a:t>).</a:t>
            </a:r>
            <a:endParaRPr lang="en-LB"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F94C8BF-FD86-9A10-B0EF-0859A1DFA7D7}"/>
              </a:ext>
            </a:extLst>
          </p:cNvPr>
          <p:cNvSpPr txBox="1"/>
          <p:nvPr/>
        </p:nvSpPr>
        <p:spPr>
          <a:xfrm>
            <a:off x="563948" y="4747573"/>
            <a:ext cx="10561252" cy="830997"/>
          </a:xfrm>
          <a:prstGeom prst="rect">
            <a:avLst/>
          </a:prstGeom>
          <a:noFill/>
        </p:spPr>
        <p:txBody>
          <a:bodyPr wrap="square">
            <a:spAutoFit/>
          </a:bodyPr>
          <a:lstStyle/>
          <a:p>
            <a:r>
              <a:rPr lang="en-US" sz="2400" b="1" i="0" u="none" strike="noStrike" dirty="0">
                <a:solidFill>
                  <a:srgbClr val="000000"/>
                </a:solidFill>
                <a:effectLst/>
                <a:latin typeface="Times New Roman" panose="02020603050405020304" pitchFamily="18" charset="0"/>
                <a:cs typeface="Times New Roman" panose="02020603050405020304" pitchFamily="18" charset="0"/>
              </a:rPr>
              <a:t>Output:</a:t>
            </a:r>
            <a:r>
              <a:rPr lang="en-US" sz="2400" b="0" i="0" u="none" strike="noStrike" dirty="0">
                <a:solidFill>
                  <a:srgbClr val="000000"/>
                </a:solidFill>
                <a:effectLst/>
                <a:latin typeface="Times New Roman" panose="02020603050405020304" pitchFamily="18" charset="0"/>
                <a:cs typeface="Times New Roman" panose="02020603050405020304" pitchFamily="18" charset="0"/>
              </a:rPr>
              <a:t> A network service graph is instantiated — VPN tunnel + virtual firewall + load balancer.</a:t>
            </a:r>
            <a:endParaRPr lang="en-L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78544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B038B-773C-708F-8315-E721F05F5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324451-0CA0-C868-D312-68E8CFD9A6C8}"/>
              </a:ext>
            </a:extLst>
          </p:cNvPr>
          <p:cNvSpPr>
            <a:spLocks noGrp="1"/>
          </p:cNvSpPr>
          <p:nvPr>
            <p:ph type="title"/>
          </p:nvPr>
        </p:nvSpPr>
        <p:spPr>
          <a:xfrm>
            <a:off x="0" y="161904"/>
            <a:ext cx="12192000" cy="601784"/>
          </a:xfrm>
        </p:spPr>
        <p:txBody>
          <a:bodyPr>
            <a:noAutofit/>
          </a:bodyPr>
          <a:lstStyle/>
          <a:p>
            <a:r>
              <a:rPr lang="en-US" sz="3400" b="0" i="0" u="none" strike="noStrike" dirty="0">
                <a:solidFill>
                  <a:srgbClr val="000000"/>
                </a:solidFill>
                <a:effectLst/>
                <a:latin typeface="-webkit-standard"/>
              </a:rPr>
              <a:t>NFV Manager (</a:t>
            </a:r>
            <a:r>
              <a:rPr lang="en-US" sz="3400" dirty="0">
                <a:solidFill>
                  <a:srgbClr val="000000"/>
                </a:solidFill>
                <a:latin typeface="-webkit-standard"/>
              </a:rPr>
              <a:t>NFVM) — Lifecycle and Policy Control</a:t>
            </a:r>
            <a:endParaRPr sz="3400" dirty="0">
              <a:solidFill>
                <a:srgbClr val="000000"/>
              </a:solidFill>
              <a:latin typeface="-webkit-standard"/>
            </a:endParaRPr>
          </a:p>
        </p:txBody>
      </p:sp>
      <p:sp>
        <p:nvSpPr>
          <p:cNvPr id="4" name="Slide Number Placeholder 3">
            <a:extLst>
              <a:ext uri="{FF2B5EF4-FFF2-40B4-BE49-F238E27FC236}">
                <a16:creationId xmlns:a16="http://schemas.microsoft.com/office/drawing/2014/main" id="{44FBA3A6-879E-C212-28F2-982A1BAE610F}"/>
              </a:ext>
            </a:extLst>
          </p:cNvPr>
          <p:cNvSpPr>
            <a:spLocks noGrp="1"/>
          </p:cNvSpPr>
          <p:nvPr>
            <p:ph type="sldNum" sz="quarter" idx="12"/>
          </p:nvPr>
        </p:nvSpPr>
        <p:spPr/>
        <p:txBody>
          <a:bodyPr/>
          <a:lstStyle/>
          <a:p>
            <a:fld id="{C1FF6DA9-008F-8B48-92A6-B652298478BF}" type="slidenum">
              <a:rPr lang="en-US" smtClean="0"/>
              <a:t>67</a:t>
            </a:fld>
            <a:endParaRPr lang="en-US"/>
          </a:p>
        </p:txBody>
      </p:sp>
      <p:sp>
        <p:nvSpPr>
          <p:cNvPr id="7" name="Content Placeholder 6">
            <a:extLst>
              <a:ext uri="{FF2B5EF4-FFF2-40B4-BE49-F238E27FC236}">
                <a16:creationId xmlns:a16="http://schemas.microsoft.com/office/drawing/2014/main" id="{18B5D73C-0FA9-D611-ED7E-E1DD7B748ADE}"/>
              </a:ext>
            </a:extLst>
          </p:cNvPr>
          <p:cNvSpPr>
            <a:spLocks noGrp="1"/>
          </p:cNvSpPr>
          <p:nvPr>
            <p:ph idx="1"/>
          </p:nvPr>
        </p:nvSpPr>
        <p:spPr>
          <a:xfrm>
            <a:off x="258872" y="1738056"/>
            <a:ext cx="10972800" cy="616906"/>
          </a:xfrm>
        </p:spPr>
        <p:txBody>
          <a:bodyPr>
            <a:normAutofit/>
          </a:bodyPr>
          <a:lstStyle/>
          <a:p>
            <a:r>
              <a:rPr lang="en-US" sz="2400" b="0" i="0" u="none" strike="noStrike" dirty="0">
                <a:solidFill>
                  <a:srgbClr val="000000"/>
                </a:solidFill>
                <a:effectLst/>
              </a:rPr>
              <a:t>Technical </a:t>
            </a:r>
            <a:r>
              <a:rPr lang="en-US" sz="2400" dirty="0">
                <a:solidFill>
                  <a:srgbClr val="000000"/>
                </a:solidFill>
              </a:rPr>
              <a:t>Used</a:t>
            </a:r>
            <a:r>
              <a:rPr lang="en-US" sz="2400" b="0" i="0" u="none" strike="noStrike" dirty="0">
                <a:solidFill>
                  <a:srgbClr val="000000"/>
                </a:solidFill>
                <a:effectLst/>
              </a:rPr>
              <a:t>:</a:t>
            </a:r>
            <a:endParaRPr lang="en-LB" sz="2400" dirty="0"/>
          </a:p>
        </p:txBody>
      </p:sp>
      <p:sp>
        <p:nvSpPr>
          <p:cNvPr id="10" name="TextBox 9">
            <a:extLst>
              <a:ext uri="{FF2B5EF4-FFF2-40B4-BE49-F238E27FC236}">
                <a16:creationId xmlns:a16="http://schemas.microsoft.com/office/drawing/2014/main" id="{82230F18-7664-844B-C5A2-C41A77CC4E79}"/>
              </a:ext>
            </a:extLst>
          </p:cNvPr>
          <p:cNvSpPr txBox="1"/>
          <p:nvPr/>
        </p:nvSpPr>
        <p:spPr>
          <a:xfrm>
            <a:off x="563670" y="2202562"/>
            <a:ext cx="11231671" cy="1169551"/>
          </a:xfrm>
          <a:prstGeom prst="rect">
            <a:avLst/>
          </a:prstGeom>
          <a:noFill/>
        </p:spPr>
        <p:txBody>
          <a:bodyPr wrap="square">
            <a:spAutoFit/>
          </a:bodyPr>
          <a:lstStyle/>
          <a:p>
            <a:pPr marL="342900" indent="-342900">
              <a:spcBef>
                <a:spcPts val="600"/>
              </a:spcBef>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VNFM Platform:</a:t>
            </a:r>
            <a:r>
              <a:rPr lang="en-US" sz="2000" dirty="0">
                <a:latin typeface="Times New Roman" panose="02020603050405020304" pitchFamily="18" charset="0"/>
                <a:cs typeface="Times New Roman" panose="02020603050405020304" pitchFamily="18" charset="0"/>
              </a:rPr>
              <a:t> Nokia </a:t>
            </a:r>
            <a:r>
              <a:rPr lang="en-US" sz="2000" dirty="0" err="1">
                <a:latin typeface="Times New Roman" panose="02020603050405020304" pitchFamily="18" charset="0"/>
                <a:cs typeface="Times New Roman" panose="02020603050405020304" pitchFamily="18" charset="0"/>
              </a:rPr>
              <a:t>CloudBand</a:t>
            </a:r>
            <a:r>
              <a:rPr lang="en-US" sz="2000" dirty="0">
                <a:latin typeface="Times New Roman" panose="02020603050405020304" pitchFamily="18" charset="0"/>
                <a:cs typeface="Times New Roman" panose="02020603050405020304" pitchFamily="18" charset="0"/>
              </a:rPr>
              <a:t>, Huawei </a:t>
            </a:r>
            <a:r>
              <a:rPr lang="en-US" sz="2000" dirty="0" err="1">
                <a:latin typeface="Times New Roman" panose="02020603050405020304" pitchFamily="18" charset="0"/>
                <a:cs typeface="Times New Roman" panose="02020603050405020304" pitchFamily="18" charset="0"/>
              </a:rPr>
              <a:t>CloudMSE</a:t>
            </a:r>
            <a:r>
              <a:rPr lang="en-US" sz="2000" dirty="0">
                <a:latin typeface="Times New Roman" panose="02020603050405020304" pitchFamily="18" charset="0"/>
                <a:cs typeface="Times New Roman" panose="02020603050405020304" pitchFamily="18" charset="0"/>
              </a:rPr>
              <a:t>, or OSM VNFM</a:t>
            </a:r>
          </a:p>
          <a:p>
            <a:pPr marL="342900" indent="-342900">
              <a:spcBef>
                <a:spcPts val="600"/>
              </a:spcBef>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Interface:</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Ve–</a:t>
            </a:r>
            <a:r>
              <a:rPr lang="en-US" sz="2000" i="1" dirty="0" err="1">
                <a:latin typeface="Times New Roman" panose="02020603050405020304" pitchFamily="18" charset="0"/>
                <a:cs typeface="Times New Roman" panose="02020603050405020304" pitchFamily="18" charset="0"/>
              </a:rPr>
              <a:t>Vnfm</a:t>
            </a:r>
            <a:r>
              <a:rPr lang="en-US" sz="2000" dirty="0">
                <a:latin typeface="Times New Roman" panose="02020603050405020304" pitchFamily="18" charset="0"/>
                <a:cs typeface="Times New Roman" panose="02020603050405020304" pitchFamily="18" charset="0"/>
              </a:rPr>
              <a:t> (to EMS), </a:t>
            </a:r>
            <a:r>
              <a:rPr lang="en-US" sz="2000" i="1" dirty="0">
                <a:latin typeface="Times New Roman" panose="02020603050405020304" pitchFamily="18" charset="0"/>
                <a:cs typeface="Times New Roman" panose="02020603050405020304" pitchFamily="18" charset="0"/>
              </a:rPr>
              <a:t>Vi–</a:t>
            </a:r>
            <a:r>
              <a:rPr lang="en-US" sz="2000" i="1" dirty="0" err="1">
                <a:latin typeface="Times New Roman" panose="02020603050405020304" pitchFamily="18" charset="0"/>
                <a:cs typeface="Times New Roman" panose="02020603050405020304" pitchFamily="18" charset="0"/>
              </a:rPr>
              <a:t>Vnfm</a:t>
            </a:r>
            <a:r>
              <a:rPr lang="en-US" sz="2000" dirty="0">
                <a:latin typeface="Times New Roman" panose="02020603050405020304" pitchFamily="18" charset="0"/>
                <a:cs typeface="Times New Roman" panose="02020603050405020304" pitchFamily="18" charset="0"/>
              </a:rPr>
              <a:t> (to VIM)</a:t>
            </a:r>
          </a:p>
          <a:p>
            <a:pPr marL="342900" indent="-342900">
              <a:spcBef>
                <a:spcPts val="600"/>
              </a:spcBef>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Protocols:</a:t>
            </a:r>
            <a:r>
              <a:rPr lang="en-US" sz="2000" dirty="0">
                <a:latin typeface="Times New Roman" panose="02020603050405020304" pitchFamily="18" charset="0"/>
                <a:cs typeface="Times New Roman" panose="02020603050405020304" pitchFamily="18" charset="0"/>
              </a:rPr>
              <a:t> NETCONF/YANG, RESTCONF, Ansible automation scripts</a:t>
            </a:r>
          </a:p>
        </p:txBody>
      </p:sp>
      <p:sp>
        <p:nvSpPr>
          <p:cNvPr id="5" name="Content Placeholder 6">
            <a:extLst>
              <a:ext uri="{FF2B5EF4-FFF2-40B4-BE49-F238E27FC236}">
                <a16:creationId xmlns:a16="http://schemas.microsoft.com/office/drawing/2014/main" id="{997CFE98-F0A3-12BD-90DE-CF8B0E591411}"/>
              </a:ext>
            </a:extLst>
          </p:cNvPr>
          <p:cNvSpPr txBox="1">
            <a:spLocks/>
          </p:cNvSpPr>
          <p:nvPr/>
        </p:nvSpPr>
        <p:spPr>
          <a:xfrm>
            <a:off x="258872" y="3473730"/>
            <a:ext cx="10972800" cy="6169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solidFill>
                  <a:srgbClr val="000000"/>
                </a:solidFill>
              </a:rPr>
              <a:t>Technical Steps:</a:t>
            </a:r>
            <a:endParaRPr lang="en-LB" sz="2400" dirty="0"/>
          </a:p>
        </p:txBody>
      </p:sp>
      <p:sp>
        <p:nvSpPr>
          <p:cNvPr id="8" name="TextBox 7">
            <a:extLst>
              <a:ext uri="{FF2B5EF4-FFF2-40B4-BE49-F238E27FC236}">
                <a16:creationId xmlns:a16="http://schemas.microsoft.com/office/drawing/2014/main" id="{F26078C8-13C0-0E1E-1EFB-F24FFB3BD992}"/>
              </a:ext>
            </a:extLst>
          </p:cNvPr>
          <p:cNvSpPr txBox="1"/>
          <p:nvPr/>
        </p:nvSpPr>
        <p:spPr>
          <a:xfrm>
            <a:off x="563670" y="3854909"/>
            <a:ext cx="6106438" cy="369332"/>
          </a:xfrm>
          <a:prstGeom prst="rect">
            <a:avLst/>
          </a:prstGeom>
          <a:noFill/>
        </p:spPr>
        <p:txBody>
          <a:bodyPr wrap="square">
            <a:spAutoFit/>
          </a:bodyPr>
          <a:lstStyle/>
          <a:p>
            <a:r>
              <a:rPr lang="en-US" b="0" i="0" u="none" strike="noStrike" dirty="0">
                <a:solidFill>
                  <a:srgbClr val="000000"/>
                </a:solidFill>
                <a:effectLst/>
                <a:latin typeface="Times New Roman" panose="02020603050405020304" pitchFamily="18" charset="0"/>
                <a:cs typeface="Times New Roman" panose="02020603050405020304" pitchFamily="18" charset="0"/>
              </a:rPr>
              <a:t>1- VNFM receives </a:t>
            </a:r>
            <a:r>
              <a:rPr lang="en-US" dirty="0" err="1">
                <a:latin typeface="Times New Roman" panose="02020603050405020304" pitchFamily="18" charset="0"/>
                <a:cs typeface="Times New Roman" panose="02020603050405020304" pitchFamily="18" charset="0"/>
              </a:rPr>
              <a:t>instantiateVNFRequest</a:t>
            </a:r>
            <a:r>
              <a:rPr lang="en-US" b="0" i="0" u="none" strike="noStrike" dirty="0">
                <a:solidFill>
                  <a:srgbClr val="000000"/>
                </a:solidFill>
                <a:effectLst/>
                <a:latin typeface="Times New Roman" panose="02020603050405020304" pitchFamily="18" charset="0"/>
                <a:cs typeface="Times New Roman" panose="02020603050405020304" pitchFamily="18" charset="0"/>
              </a:rPr>
              <a:t> from NFVO.</a:t>
            </a:r>
            <a:endParaRPr lang="en-LB"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0E97BC9-0975-BAB5-B16B-47F495612421}"/>
              </a:ext>
            </a:extLst>
          </p:cNvPr>
          <p:cNvSpPr txBox="1"/>
          <p:nvPr/>
        </p:nvSpPr>
        <p:spPr>
          <a:xfrm>
            <a:off x="1868090" y="4854330"/>
            <a:ext cx="6107906" cy="1200329"/>
          </a:xfrm>
          <a:prstGeom prst="rect">
            <a:avLst/>
          </a:prstGeom>
          <a:noFill/>
          <a:ln>
            <a:solidFill>
              <a:schemeClr val="tx1"/>
            </a:solidFill>
          </a:ln>
        </p:spPr>
        <p:txBody>
          <a:bodyPr wrap="square">
            <a:spAutoFit/>
          </a:bodyPr>
          <a:lstStyle/>
          <a:p>
            <a:r>
              <a:rPr lang="en-US" dirty="0">
                <a:latin typeface="Times New Roman" panose="02020603050405020304" pitchFamily="18" charset="0"/>
                <a:cs typeface="Times New Roman" panose="02020603050405020304" pitchFamily="18" charset="0"/>
              </a:rPr>
              <a:t>POST /vims/resources</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"vCPU": 8, "</a:t>
            </a:r>
            <a:r>
              <a:rPr lang="en-US" dirty="0" err="1">
                <a:latin typeface="Times New Roman" panose="02020603050405020304" pitchFamily="18" charset="0"/>
                <a:cs typeface="Times New Roman" panose="02020603050405020304" pitchFamily="18" charset="0"/>
              </a:rPr>
              <a:t>vRAM</a:t>
            </a:r>
            <a:r>
              <a:rPr lang="en-US" dirty="0">
                <a:latin typeface="Times New Roman" panose="02020603050405020304" pitchFamily="18" charset="0"/>
                <a:cs typeface="Times New Roman" panose="02020603050405020304" pitchFamily="18" charset="0"/>
              </a:rPr>
              <a:t>": "16GB", "Storage": "200GB"</a:t>
            </a:r>
          </a:p>
          <a:p>
            <a:r>
              <a:rPr lang="en-US" dirty="0">
                <a:latin typeface="Times New Roman" panose="02020603050405020304" pitchFamily="18" charset="0"/>
                <a:cs typeface="Times New Roman" panose="02020603050405020304" pitchFamily="18" charset="0"/>
              </a:rPr>
              <a:t>}</a:t>
            </a:r>
          </a:p>
        </p:txBody>
      </p:sp>
      <p:sp>
        <p:nvSpPr>
          <p:cNvPr id="13" name="TextBox 12">
            <a:extLst>
              <a:ext uri="{FF2B5EF4-FFF2-40B4-BE49-F238E27FC236}">
                <a16:creationId xmlns:a16="http://schemas.microsoft.com/office/drawing/2014/main" id="{2C798F05-A9F6-E0DC-B560-B62B9DECA6C5}"/>
              </a:ext>
            </a:extLst>
          </p:cNvPr>
          <p:cNvSpPr txBox="1"/>
          <p:nvPr/>
        </p:nvSpPr>
        <p:spPr>
          <a:xfrm>
            <a:off x="563670" y="6159998"/>
            <a:ext cx="9908089" cy="369332"/>
          </a:xfrm>
          <a:prstGeom prst="rect">
            <a:avLst/>
          </a:prstGeom>
          <a:noFill/>
        </p:spPr>
        <p:txBody>
          <a:bodyPr wrap="square">
            <a:spAutoFit/>
          </a:bodyPr>
          <a:lstStyle/>
          <a:p>
            <a:r>
              <a:rPr lang="en-US" dirty="0">
                <a:solidFill>
                  <a:srgbClr val="000000"/>
                </a:solidFill>
                <a:latin typeface="Times New Roman" panose="02020603050405020304" pitchFamily="18" charset="0"/>
                <a:cs typeface="Times New Roman" panose="02020603050405020304" pitchFamily="18" charset="0"/>
              </a:rPr>
              <a:t>3</a:t>
            </a:r>
            <a:r>
              <a:rPr lang="en-US" b="0" i="0" u="none" strike="noStrike" dirty="0">
                <a:solidFill>
                  <a:srgbClr val="000000"/>
                </a:solidFill>
                <a:effectLst/>
                <a:latin typeface="Times New Roman" panose="02020603050405020304" pitchFamily="18" charset="0"/>
                <a:cs typeface="Times New Roman" panose="02020603050405020304" pitchFamily="18" charset="0"/>
              </a:rPr>
              <a:t>- Once VM is up, VNFM boots the </a:t>
            </a:r>
            <a:r>
              <a:rPr lang="en-US" b="1" i="0" u="none" strike="noStrike" dirty="0">
                <a:solidFill>
                  <a:srgbClr val="000000"/>
                </a:solidFill>
                <a:effectLst/>
                <a:latin typeface="Times New Roman" panose="02020603050405020304" pitchFamily="18" charset="0"/>
                <a:cs typeface="Times New Roman" panose="02020603050405020304" pitchFamily="18" charset="0"/>
              </a:rPr>
              <a:t>VNF image</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vFirewall.qcow2</a:t>
            </a:r>
            <a:r>
              <a:rPr lang="en-US" b="0" i="0" u="none" strike="noStrike" dirty="0">
                <a:solidFill>
                  <a:srgbClr val="000000"/>
                </a:solidFill>
                <a:effectLst/>
                <a:latin typeface="Times New Roman" panose="02020603050405020304" pitchFamily="18" charset="0"/>
                <a:cs typeface="Times New Roman" panose="02020603050405020304" pitchFamily="18" charset="0"/>
              </a:rPr>
              <a:t>).</a:t>
            </a:r>
            <a:endParaRPr lang="en-LB"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276115C-D1E7-E75A-EFED-1F662A931BEA}"/>
              </a:ext>
            </a:extLst>
          </p:cNvPr>
          <p:cNvSpPr txBox="1"/>
          <p:nvPr/>
        </p:nvSpPr>
        <p:spPr>
          <a:xfrm>
            <a:off x="843280" y="818136"/>
            <a:ext cx="10647262" cy="830997"/>
          </a:xfrm>
          <a:prstGeom prst="rect">
            <a:avLst/>
          </a:prstGeom>
          <a:noFill/>
        </p:spPr>
        <p:txBody>
          <a:bodyPr wrap="square">
            <a:spAutoFit/>
          </a:bodyPr>
          <a:lstStyle>
            <a:defPPr>
              <a:defRPr lang="en-US"/>
            </a:defPPr>
            <a:lvl1pPr>
              <a:defRPr sz="2400" b="0" i="1" u="none" strike="noStrike">
                <a:solidFill>
                  <a:srgbClr val="000000"/>
                </a:solidFill>
                <a:effectLst/>
                <a:latin typeface="Times New Roman" panose="02020603050405020304" pitchFamily="18" charset="0"/>
                <a:cs typeface="Times New Roman" panose="02020603050405020304" pitchFamily="18" charset="0"/>
              </a:defRPr>
            </a:lvl1pPr>
          </a:lstStyle>
          <a:p>
            <a:r>
              <a:rPr lang="en-US" dirty="0"/>
              <a:t>The </a:t>
            </a:r>
            <a:r>
              <a:rPr lang="en-US" b="1" dirty="0"/>
              <a:t>VNFM</a:t>
            </a:r>
            <a:r>
              <a:rPr lang="en-US" dirty="0"/>
              <a:t> manages the lifecycle of the deployed VNFs — creating, configuring, monitoring, and scaling them.</a:t>
            </a:r>
          </a:p>
        </p:txBody>
      </p:sp>
      <p:sp>
        <p:nvSpPr>
          <p:cNvPr id="12" name="TextBox 11">
            <a:extLst>
              <a:ext uri="{FF2B5EF4-FFF2-40B4-BE49-F238E27FC236}">
                <a16:creationId xmlns:a16="http://schemas.microsoft.com/office/drawing/2014/main" id="{A2B3D86B-82F6-5F3C-94C5-261FC523EA03}"/>
              </a:ext>
            </a:extLst>
          </p:cNvPr>
          <p:cNvSpPr txBox="1"/>
          <p:nvPr/>
        </p:nvSpPr>
        <p:spPr>
          <a:xfrm>
            <a:off x="563670" y="4320304"/>
            <a:ext cx="8438090" cy="369332"/>
          </a:xfrm>
          <a:prstGeom prst="rect">
            <a:avLst/>
          </a:prstGeom>
          <a:noFill/>
        </p:spPr>
        <p:txBody>
          <a:bodyPr wrap="square">
            <a:spAutoFit/>
          </a:bodyPr>
          <a:lstStyle/>
          <a:p>
            <a:r>
              <a:rPr lang="en-US" b="0" i="0" u="none" strike="noStrike" dirty="0">
                <a:solidFill>
                  <a:srgbClr val="000000"/>
                </a:solidFill>
                <a:effectLst/>
                <a:latin typeface="Times New Roman" panose="02020603050405020304" pitchFamily="18" charset="0"/>
                <a:cs typeface="Times New Roman" panose="02020603050405020304" pitchFamily="18" charset="0"/>
              </a:rPr>
              <a:t>2- Requests VM allocation from </a:t>
            </a:r>
            <a:r>
              <a:rPr lang="en-US" b="1" i="0" u="none" strike="noStrike" dirty="0">
                <a:solidFill>
                  <a:srgbClr val="000000"/>
                </a:solidFill>
                <a:effectLst/>
                <a:latin typeface="Times New Roman" panose="02020603050405020304" pitchFamily="18" charset="0"/>
                <a:cs typeface="Times New Roman" panose="02020603050405020304" pitchFamily="18" charset="0"/>
              </a:rPr>
              <a:t>VIM</a:t>
            </a:r>
            <a:r>
              <a:rPr lang="en-US" b="0" i="0" u="none" strike="noStrike" dirty="0">
                <a:solidFill>
                  <a:srgbClr val="000000"/>
                </a:solidFill>
                <a:effectLst/>
                <a:latin typeface="Times New Roman" panose="02020603050405020304" pitchFamily="18" charset="0"/>
                <a:cs typeface="Times New Roman" panose="02020603050405020304" pitchFamily="18" charset="0"/>
              </a:rPr>
              <a:t>:</a:t>
            </a:r>
            <a:endParaRPr lang="en-L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46969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81C71-1C43-B01B-31EA-E0A657B51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C6E36-8B59-B698-70C4-CE2305B0D73C}"/>
              </a:ext>
            </a:extLst>
          </p:cNvPr>
          <p:cNvSpPr>
            <a:spLocks noGrp="1"/>
          </p:cNvSpPr>
          <p:nvPr>
            <p:ph type="title"/>
          </p:nvPr>
        </p:nvSpPr>
        <p:spPr>
          <a:xfrm>
            <a:off x="0" y="161904"/>
            <a:ext cx="12192000" cy="601784"/>
          </a:xfrm>
        </p:spPr>
        <p:txBody>
          <a:bodyPr>
            <a:noAutofit/>
          </a:bodyPr>
          <a:lstStyle/>
          <a:p>
            <a:r>
              <a:rPr lang="en-US" sz="3400" b="0" i="0" u="none" strike="noStrike" dirty="0">
                <a:solidFill>
                  <a:srgbClr val="000000"/>
                </a:solidFill>
                <a:effectLst/>
                <a:latin typeface="-webkit-standard"/>
              </a:rPr>
              <a:t>NFV Manager (</a:t>
            </a:r>
            <a:r>
              <a:rPr lang="en-US" sz="3400" dirty="0">
                <a:solidFill>
                  <a:srgbClr val="000000"/>
                </a:solidFill>
                <a:latin typeface="-webkit-standard"/>
              </a:rPr>
              <a:t>NFVM) — Lifecycle and Policy Control</a:t>
            </a:r>
            <a:endParaRPr sz="3400" dirty="0"/>
          </a:p>
        </p:txBody>
      </p:sp>
      <p:sp>
        <p:nvSpPr>
          <p:cNvPr id="4" name="Slide Number Placeholder 3">
            <a:extLst>
              <a:ext uri="{FF2B5EF4-FFF2-40B4-BE49-F238E27FC236}">
                <a16:creationId xmlns:a16="http://schemas.microsoft.com/office/drawing/2014/main" id="{090E7F5C-D23F-272F-CC6F-7C700AC3A2F9}"/>
              </a:ext>
            </a:extLst>
          </p:cNvPr>
          <p:cNvSpPr>
            <a:spLocks noGrp="1"/>
          </p:cNvSpPr>
          <p:nvPr>
            <p:ph type="sldNum" sz="quarter" idx="12"/>
          </p:nvPr>
        </p:nvSpPr>
        <p:spPr/>
        <p:txBody>
          <a:bodyPr/>
          <a:lstStyle/>
          <a:p>
            <a:fld id="{C1FF6DA9-008F-8B48-92A6-B652298478BF}" type="slidenum">
              <a:rPr lang="en-US" smtClean="0"/>
              <a:t>68</a:t>
            </a:fld>
            <a:endParaRPr lang="en-US"/>
          </a:p>
        </p:txBody>
      </p:sp>
      <p:sp>
        <p:nvSpPr>
          <p:cNvPr id="5" name="Content Placeholder 6">
            <a:extLst>
              <a:ext uri="{FF2B5EF4-FFF2-40B4-BE49-F238E27FC236}">
                <a16:creationId xmlns:a16="http://schemas.microsoft.com/office/drawing/2014/main" id="{EC553F5A-7691-E226-DC2C-B3E4E270A56E}"/>
              </a:ext>
            </a:extLst>
          </p:cNvPr>
          <p:cNvSpPr txBox="1">
            <a:spLocks/>
          </p:cNvSpPr>
          <p:nvPr/>
        </p:nvSpPr>
        <p:spPr>
          <a:xfrm>
            <a:off x="258872" y="872770"/>
            <a:ext cx="10972800" cy="6169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dirty="0">
                <a:solidFill>
                  <a:srgbClr val="000000"/>
                </a:solidFill>
              </a:rPr>
              <a:t>Technical Steps:</a:t>
            </a:r>
            <a:endParaRPr lang="en-LB" sz="2800" dirty="0"/>
          </a:p>
        </p:txBody>
      </p:sp>
      <p:sp>
        <p:nvSpPr>
          <p:cNvPr id="8" name="TextBox 7">
            <a:extLst>
              <a:ext uri="{FF2B5EF4-FFF2-40B4-BE49-F238E27FC236}">
                <a16:creationId xmlns:a16="http://schemas.microsoft.com/office/drawing/2014/main" id="{2C1307DA-FBC8-4315-00DB-6D34564A8733}"/>
              </a:ext>
            </a:extLst>
          </p:cNvPr>
          <p:cNvSpPr txBox="1"/>
          <p:nvPr/>
        </p:nvSpPr>
        <p:spPr>
          <a:xfrm>
            <a:off x="563670" y="1457149"/>
            <a:ext cx="6106438" cy="369332"/>
          </a:xfrm>
          <a:prstGeom prst="rect">
            <a:avLst/>
          </a:prstGeom>
          <a:noFill/>
        </p:spPr>
        <p:txBody>
          <a:bodyPr wrap="square">
            <a:spAutoFit/>
          </a:bodyPr>
          <a:lstStyle/>
          <a:p>
            <a:r>
              <a:rPr lang="en-US" b="0" i="0" u="none" strike="noStrike" dirty="0">
                <a:solidFill>
                  <a:srgbClr val="000000"/>
                </a:solidFill>
                <a:effectLst/>
                <a:latin typeface="Times New Roman" panose="02020603050405020304" pitchFamily="18" charset="0"/>
                <a:cs typeface="Times New Roman" panose="02020603050405020304" pitchFamily="18" charset="0"/>
              </a:rPr>
              <a:t>4- Connects to the </a:t>
            </a:r>
            <a:r>
              <a:rPr lang="en-US" b="1" i="0" u="none" strike="noStrike" dirty="0">
                <a:solidFill>
                  <a:srgbClr val="000000"/>
                </a:solidFill>
                <a:effectLst/>
                <a:latin typeface="Times New Roman" panose="02020603050405020304" pitchFamily="18" charset="0"/>
                <a:cs typeface="Times New Roman" panose="02020603050405020304" pitchFamily="18" charset="0"/>
              </a:rPr>
              <a:t>VNF’s EMS</a:t>
            </a:r>
            <a:r>
              <a:rPr lang="en-US" b="0" i="0" u="none" strike="noStrike" dirty="0">
                <a:solidFill>
                  <a:srgbClr val="000000"/>
                </a:solidFill>
                <a:effectLst/>
                <a:latin typeface="Times New Roman" panose="02020603050405020304" pitchFamily="18" charset="0"/>
                <a:cs typeface="Times New Roman" panose="02020603050405020304" pitchFamily="18" charset="0"/>
              </a:rPr>
              <a:t> via </a:t>
            </a:r>
            <a:r>
              <a:rPr lang="en-US" b="1" i="0" u="none" strike="noStrike" dirty="0">
                <a:solidFill>
                  <a:srgbClr val="000000"/>
                </a:solidFill>
                <a:effectLst/>
                <a:latin typeface="Times New Roman" panose="02020603050405020304" pitchFamily="18" charset="0"/>
                <a:cs typeface="Times New Roman" panose="02020603050405020304" pitchFamily="18" charset="0"/>
              </a:rPr>
              <a:t>NETCONF</a:t>
            </a:r>
            <a:r>
              <a:rPr lang="en-US" b="0" i="0" u="none" strike="noStrike" dirty="0">
                <a:solidFill>
                  <a:srgbClr val="000000"/>
                </a:solidFill>
                <a:effectLst/>
                <a:latin typeface="Times New Roman" panose="02020603050405020304" pitchFamily="18" charset="0"/>
                <a:cs typeface="Times New Roman" panose="02020603050405020304" pitchFamily="18" charset="0"/>
              </a:rPr>
              <a:t>:</a:t>
            </a:r>
            <a:endParaRPr lang="en-LB"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4514D54-A3F8-69F4-6DDA-771EFF5DD4E3}"/>
              </a:ext>
            </a:extLst>
          </p:cNvPr>
          <p:cNvSpPr txBox="1"/>
          <p:nvPr/>
        </p:nvSpPr>
        <p:spPr>
          <a:xfrm>
            <a:off x="1868090" y="1999370"/>
            <a:ext cx="7194630" cy="1477328"/>
          </a:xfrm>
          <a:prstGeom prst="rect">
            <a:avLst/>
          </a:prstGeom>
          <a:noFill/>
          <a:ln>
            <a:solidFill>
              <a:schemeClr val="tx1"/>
            </a:solidFill>
          </a:ln>
        </p:spPr>
        <p:txBody>
          <a:bodyPr wrap="square">
            <a:spAutoFit/>
          </a:bodyPr>
          <a:lstStyle/>
          <a:p>
            <a:r>
              <a:rPr lang="en-US" dirty="0"/>
              <a:t>&lt;edit-config&gt;</a:t>
            </a:r>
          </a:p>
          <a:p>
            <a:r>
              <a:rPr lang="en-US" dirty="0"/>
              <a:t>  &lt;firewall-policy&gt;</a:t>
            </a:r>
          </a:p>
          <a:p>
            <a:r>
              <a:rPr lang="en-US" dirty="0"/>
              <a:t>    &lt;rule id="1" action="allow" </a:t>
            </a:r>
            <a:r>
              <a:rPr lang="en-US" dirty="0" err="1"/>
              <a:t>src</a:t>
            </a:r>
            <a:r>
              <a:rPr lang="en-US" dirty="0"/>
              <a:t>="10.0.0.0/8" </a:t>
            </a:r>
            <a:r>
              <a:rPr lang="en-US" dirty="0" err="1"/>
              <a:t>dst</a:t>
            </a:r>
            <a:r>
              <a:rPr lang="en-US" dirty="0"/>
              <a:t>="172.16.0.0/12"/&gt;</a:t>
            </a:r>
          </a:p>
          <a:p>
            <a:r>
              <a:rPr lang="en-US" dirty="0"/>
              <a:t>  &lt;/firewall-policy&gt;</a:t>
            </a:r>
          </a:p>
          <a:p>
            <a:r>
              <a:rPr lang="en-US" dirty="0"/>
              <a:t>&lt;/edit-config&gt;</a:t>
            </a:r>
          </a:p>
        </p:txBody>
      </p:sp>
      <p:sp>
        <p:nvSpPr>
          <p:cNvPr id="13" name="TextBox 12">
            <a:extLst>
              <a:ext uri="{FF2B5EF4-FFF2-40B4-BE49-F238E27FC236}">
                <a16:creationId xmlns:a16="http://schemas.microsoft.com/office/drawing/2014/main" id="{645313FC-3F49-1EE5-445E-B486E16CA584}"/>
              </a:ext>
            </a:extLst>
          </p:cNvPr>
          <p:cNvSpPr txBox="1"/>
          <p:nvPr/>
        </p:nvSpPr>
        <p:spPr>
          <a:xfrm>
            <a:off x="563670" y="3842755"/>
            <a:ext cx="9769050" cy="800219"/>
          </a:xfrm>
          <a:prstGeom prst="rect">
            <a:avLst/>
          </a:prstGeom>
          <a:noFill/>
        </p:spPr>
        <p:txBody>
          <a:bodyPr wrap="square">
            <a:spAutoFit/>
          </a:bodyPr>
          <a:lstStyle/>
          <a:p>
            <a:pPr>
              <a:spcBef>
                <a:spcPts val="600"/>
              </a:spcBef>
              <a:spcAft>
                <a:spcPts val="600"/>
              </a:spcAft>
            </a:pPr>
            <a:r>
              <a:rPr lang="en-US" b="0" i="0" u="none" strike="noStrike" dirty="0">
                <a:solidFill>
                  <a:srgbClr val="000000"/>
                </a:solidFill>
                <a:effectLst/>
                <a:latin typeface="Times New Roman" panose="02020603050405020304" pitchFamily="18" charset="0"/>
                <a:cs typeface="Times New Roman" panose="02020603050405020304" pitchFamily="18" charset="0"/>
              </a:rPr>
              <a:t>5- </a:t>
            </a:r>
            <a:r>
              <a:rPr lang="en-US" dirty="0">
                <a:latin typeface="Times New Roman" panose="02020603050405020304" pitchFamily="18" charset="0"/>
                <a:cs typeface="Times New Roman" panose="02020603050405020304" pitchFamily="18" charset="0"/>
              </a:rPr>
              <a:t>Enforces policies (from NFVO): e.g., </a:t>
            </a:r>
            <a:r>
              <a:rPr lang="en-US" i="1" dirty="0">
                <a:latin typeface="Times New Roman" panose="02020603050405020304" pitchFamily="18" charset="0"/>
                <a:cs typeface="Times New Roman" panose="02020603050405020304" pitchFamily="18" charset="0"/>
              </a:rPr>
              <a:t>“Scale out when CPU &gt; 80%”</a:t>
            </a:r>
            <a:r>
              <a:rPr lang="en-US" dirty="0">
                <a:latin typeface="Times New Roman" panose="02020603050405020304" pitchFamily="18" charset="0"/>
                <a:cs typeface="Times New Roman" panose="02020603050405020304" pitchFamily="18" charset="0"/>
              </a:rPr>
              <a:t>.</a:t>
            </a:r>
          </a:p>
          <a:p>
            <a:pPr>
              <a:spcBef>
                <a:spcPts val="600"/>
              </a:spcBef>
              <a:spcAft>
                <a:spcPts val="600"/>
              </a:spcAft>
            </a:pPr>
            <a:r>
              <a:rPr lang="en-US" dirty="0">
                <a:latin typeface="Times New Roman" panose="02020603050405020304" pitchFamily="18" charset="0"/>
                <a:cs typeface="Times New Roman" panose="02020603050405020304" pitchFamily="18" charset="0"/>
              </a:rPr>
              <a:t>6- Monitors alarms from the EMS (</a:t>
            </a:r>
            <a:r>
              <a:rPr lang="en-US" dirty="0" err="1">
                <a:latin typeface="Times New Roman" panose="02020603050405020304" pitchFamily="18" charset="0"/>
                <a:cs typeface="Times New Roman" panose="02020603050405020304" pitchFamily="18" charset="0"/>
              </a:rPr>
              <a:t>cpuUsage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linkFailure</a:t>
            </a:r>
            <a:r>
              <a:rPr lang="en-US" dirty="0">
                <a:latin typeface="Times New Roman" panose="02020603050405020304" pitchFamily="18" charset="0"/>
                <a:cs typeface="Times New Roman" panose="02020603050405020304" pitchFamily="18" charset="0"/>
              </a:rPr>
              <a:t>) and sends status updates back to NFVO.</a:t>
            </a:r>
          </a:p>
        </p:txBody>
      </p:sp>
      <p:sp>
        <p:nvSpPr>
          <p:cNvPr id="12" name="TextBox 11">
            <a:extLst>
              <a:ext uri="{FF2B5EF4-FFF2-40B4-BE49-F238E27FC236}">
                <a16:creationId xmlns:a16="http://schemas.microsoft.com/office/drawing/2014/main" id="{C0D0A97D-065F-7784-2D1A-858E0E004B63}"/>
              </a:ext>
            </a:extLst>
          </p:cNvPr>
          <p:cNvSpPr txBox="1"/>
          <p:nvPr/>
        </p:nvSpPr>
        <p:spPr>
          <a:xfrm>
            <a:off x="563948" y="5164133"/>
            <a:ext cx="10561252" cy="400110"/>
          </a:xfrm>
          <a:prstGeom prst="rect">
            <a:avLst/>
          </a:prstGeom>
          <a:noFill/>
        </p:spPr>
        <p:txBody>
          <a:bodyPr wrap="square">
            <a:spAutoFit/>
          </a:bodyPr>
          <a:lstStyle/>
          <a:p>
            <a:r>
              <a:rPr lang="en-US" sz="2000" b="1" i="0" u="none" strike="noStrike" dirty="0">
                <a:solidFill>
                  <a:srgbClr val="000000"/>
                </a:solidFill>
                <a:effectLst/>
                <a:latin typeface="Times New Roman" panose="02020603050405020304" pitchFamily="18" charset="0"/>
                <a:cs typeface="Times New Roman" panose="02020603050405020304" pitchFamily="18" charset="0"/>
              </a:rPr>
              <a:t>Output:</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All VNFs are deployed, configured, and monitored automatically.</a:t>
            </a:r>
            <a:endParaRPr lang="en-L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48967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1D4C7-4821-58DB-4C5E-9D01E033D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ED74B-E65D-5CDB-C094-0F8E184472BC}"/>
              </a:ext>
            </a:extLst>
          </p:cNvPr>
          <p:cNvSpPr>
            <a:spLocks noGrp="1"/>
          </p:cNvSpPr>
          <p:nvPr>
            <p:ph type="title"/>
          </p:nvPr>
        </p:nvSpPr>
        <p:spPr>
          <a:xfrm>
            <a:off x="0" y="161904"/>
            <a:ext cx="12192000" cy="601784"/>
          </a:xfrm>
        </p:spPr>
        <p:txBody>
          <a:bodyPr vert="horz" lIns="91440" tIns="45720" rIns="91440" bIns="45720" rtlCol="0" anchor="ctr">
            <a:noAutofit/>
          </a:bodyPr>
          <a:lstStyle/>
          <a:p>
            <a:r>
              <a:rPr lang="en-US" sz="3400" dirty="0">
                <a:solidFill>
                  <a:srgbClr val="000000"/>
                </a:solidFill>
                <a:latin typeface="-webkit-standard"/>
              </a:rPr>
              <a:t>Virtualized Infrastructure Manager (VIM) — Resource Management</a:t>
            </a:r>
            <a:endParaRPr sz="3400" dirty="0">
              <a:solidFill>
                <a:srgbClr val="000000"/>
              </a:solidFill>
              <a:latin typeface="-webkit-standard"/>
            </a:endParaRPr>
          </a:p>
        </p:txBody>
      </p:sp>
      <p:sp>
        <p:nvSpPr>
          <p:cNvPr id="4" name="Slide Number Placeholder 3">
            <a:extLst>
              <a:ext uri="{FF2B5EF4-FFF2-40B4-BE49-F238E27FC236}">
                <a16:creationId xmlns:a16="http://schemas.microsoft.com/office/drawing/2014/main" id="{DEDC8C53-93AF-1AF5-C733-312DC12037FE}"/>
              </a:ext>
            </a:extLst>
          </p:cNvPr>
          <p:cNvSpPr>
            <a:spLocks noGrp="1"/>
          </p:cNvSpPr>
          <p:nvPr>
            <p:ph type="sldNum" sz="quarter" idx="12"/>
          </p:nvPr>
        </p:nvSpPr>
        <p:spPr/>
        <p:txBody>
          <a:bodyPr/>
          <a:lstStyle/>
          <a:p>
            <a:fld id="{C1FF6DA9-008F-8B48-92A6-B652298478BF}" type="slidenum">
              <a:rPr lang="en-US" smtClean="0"/>
              <a:t>69</a:t>
            </a:fld>
            <a:endParaRPr lang="en-US"/>
          </a:p>
        </p:txBody>
      </p:sp>
      <p:sp>
        <p:nvSpPr>
          <p:cNvPr id="5" name="Content Placeholder 6">
            <a:extLst>
              <a:ext uri="{FF2B5EF4-FFF2-40B4-BE49-F238E27FC236}">
                <a16:creationId xmlns:a16="http://schemas.microsoft.com/office/drawing/2014/main" id="{79390C20-444E-F3A1-462F-2C615E6188EE}"/>
              </a:ext>
            </a:extLst>
          </p:cNvPr>
          <p:cNvSpPr txBox="1">
            <a:spLocks/>
          </p:cNvSpPr>
          <p:nvPr/>
        </p:nvSpPr>
        <p:spPr>
          <a:xfrm>
            <a:off x="258872" y="3473730"/>
            <a:ext cx="10972800" cy="6169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solidFill>
                  <a:srgbClr val="000000"/>
                </a:solidFill>
              </a:rPr>
              <a:t>Technical Steps:</a:t>
            </a:r>
            <a:endParaRPr lang="en-LB" sz="2400" dirty="0"/>
          </a:p>
        </p:txBody>
      </p:sp>
      <p:sp>
        <p:nvSpPr>
          <p:cNvPr id="8" name="TextBox 7">
            <a:extLst>
              <a:ext uri="{FF2B5EF4-FFF2-40B4-BE49-F238E27FC236}">
                <a16:creationId xmlns:a16="http://schemas.microsoft.com/office/drawing/2014/main" id="{6FF5DD8B-F4C3-ED73-613C-D6A487B06286}"/>
              </a:ext>
            </a:extLst>
          </p:cNvPr>
          <p:cNvSpPr txBox="1"/>
          <p:nvPr/>
        </p:nvSpPr>
        <p:spPr>
          <a:xfrm>
            <a:off x="543488" y="3905970"/>
            <a:ext cx="6106438" cy="369332"/>
          </a:xfrm>
          <a:prstGeom prst="rect">
            <a:avLst/>
          </a:prstGeom>
          <a:noFill/>
        </p:spPr>
        <p:txBody>
          <a:bodyPr wrap="square">
            <a:spAutoFit/>
          </a:bodyPr>
          <a:lstStyle/>
          <a:p>
            <a:r>
              <a:rPr lang="en-US" b="0" i="0" u="none" strike="noStrike" dirty="0">
                <a:solidFill>
                  <a:srgbClr val="000000"/>
                </a:solidFill>
                <a:effectLst/>
                <a:latin typeface="Times New Roman" panose="02020603050405020304" pitchFamily="18" charset="0"/>
                <a:cs typeface="Times New Roman" panose="02020603050405020304" pitchFamily="18" charset="0"/>
              </a:rPr>
              <a:t>1- NFVO sends resource request to VIM:</a:t>
            </a:r>
            <a:endParaRPr lang="en-LB"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C041016-0071-29A7-7825-ADA5FF299B24}"/>
              </a:ext>
            </a:extLst>
          </p:cNvPr>
          <p:cNvSpPr txBox="1"/>
          <p:nvPr/>
        </p:nvSpPr>
        <p:spPr>
          <a:xfrm>
            <a:off x="543488" y="972223"/>
            <a:ext cx="11038912" cy="830997"/>
          </a:xfrm>
          <a:prstGeom prst="rect">
            <a:avLst/>
          </a:prstGeom>
          <a:noFill/>
        </p:spPr>
        <p:txBody>
          <a:bodyPr wrap="square">
            <a:spAutoFit/>
          </a:bodyPr>
          <a:lstStyle>
            <a:defPPr>
              <a:defRPr lang="en-US"/>
            </a:defPPr>
            <a:lvl1pPr>
              <a:defRPr sz="2400" b="0" i="1" u="none" strike="noStrike">
                <a:solidFill>
                  <a:srgbClr val="000000"/>
                </a:solidFill>
                <a:effectLst/>
                <a:latin typeface="Times New Roman" panose="02020603050405020304" pitchFamily="18" charset="0"/>
                <a:cs typeface="Times New Roman" panose="02020603050405020304" pitchFamily="18" charset="0"/>
              </a:defRPr>
            </a:lvl1pPr>
          </a:lstStyle>
          <a:p>
            <a:r>
              <a:rPr lang="en-US" dirty="0"/>
              <a:t>The </a:t>
            </a:r>
            <a:r>
              <a:rPr lang="en-US" b="1" dirty="0"/>
              <a:t>VIM</a:t>
            </a:r>
            <a:r>
              <a:rPr lang="en-US" dirty="0"/>
              <a:t> (OpenStack) provisions and manages compute, storage, and network resources across data centers.</a:t>
            </a:r>
            <a:endParaRPr lang="en-LB" dirty="0"/>
          </a:p>
        </p:txBody>
      </p:sp>
      <p:sp>
        <p:nvSpPr>
          <p:cNvPr id="7" name="Content Placeholder 6">
            <a:extLst>
              <a:ext uri="{FF2B5EF4-FFF2-40B4-BE49-F238E27FC236}">
                <a16:creationId xmlns:a16="http://schemas.microsoft.com/office/drawing/2014/main" id="{973C09B9-60E3-7F43-A754-E9A475BB544F}"/>
              </a:ext>
            </a:extLst>
          </p:cNvPr>
          <p:cNvSpPr txBox="1">
            <a:spLocks/>
          </p:cNvSpPr>
          <p:nvPr/>
        </p:nvSpPr>
        <p:spPr>
          <a:xfrm>
            <a:off x="258872" y="1891536"/>
            <a:ext cx="10972800" cy="6169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solidFill>
                  <a:srgbClr val="000000"/>
                </a:solidFill>
              </a:rPr>
              <a:t>Technologies Used:</a:t>
            </a:r>
            <a:endParaRPr lang="en-LB" sz="2400" dirty="0"/>
          </a:p>
        </p:txBody>
      </p:sp>
      <p:sp>
        <p:nvSpPr>
          <p:cNvPr id="9" name="TextBox 8">
            <a:extLst>
              <a:ext uri="{FF2B5EF4-FFF2-40B4-BE49-F238E27FC236}">
                <a16:creationId xmlns:a16="http://schemas.microsoft.com/office/drawing/2014/main" id="{66F99E66-C95E-ABE6-4808-8144C834FAD1}"/>
              </a:ext>
            </a:extLst>
          </p:cNvPr>
          <p:cNvSpPr txBox="1"/>
          <p:nvPr/>
        </p:nvSpPr>
        <p:spPr>
          <a:xfrm>
            <a:off x="563670" y="2325459"/>
            <a:ext cx="11231671" cy="1015663"/>
          </a:xfrm>
          <a:prstGeom prst="rect">
            <a:avLst/>
          </a:prstGeom>
          <a:noFill/>
        </p:spPr>
        <p:txBody>
          <a:bodyPr wrap="square">
            <a:spAutoFit/>
          </a:bodyPr>
          <a:lstStyle/>
          <a:p>
            <a:pPr marL="342900" indent="-342900" algn="l">
              <a:buFont typeface="Courier New" panose="02070309020205020404" pitchFamily="49" charset="0"/>
              <a:buChar char="o"/>
            </a:pPr>
            <a:r>
              <a:rPr lang="en-US" sz="2000" b="1" i="0" u="none" strike="noStrike" dirty="0">
                <a:solidFill>
                  <a:srgbClr val="000000"/>
                </a:solidFill>
                <a:effectLst/>
                <a:latin typeface="Times New Roman" panose="02020603050405020304" pitchFamily="18" charset="0"/>
                <a:cs typeface="Times New Roman" panose="02020603050405020304" pitchFamily="18" charset="0"/>
              </a:rPr>
              <a:t>Platform:</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OpenStack (Nova, Neutron, Cinder, Glance)</a:t>
            </a:r>
          </a:p>
          <a:p>
            <a:pPr marL="342900" indent="-342900" algn="l">
              <a:buFont typeface="Courier New" panose="02070309020205020404" pitchFamily="49" charset="0"/>
              <a:buChar char="o"/>
            </a:pPr>
            <a:r>
              <a:rPr lang="en-US" sz="2000" b="1" i="0" u="none" strike="noStrike" dirty="0">
                <a:solidFill>
                  <a:srgbClr val="000000"/>
                </a:solidFill>
                <a:effectLst/>
                <a:latin typeface="Times New Roman" panose="02020603050405020304" pitchFamily="18" charset="0"/>
                <a:cs typeface="Times New Roman" panose="02020603050405020304" pitchFamily="18" charset="0"/>
              </a:rPr>
              <a:t>Interfaces:</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2000" b="0" i="1" u="none" strike="noStrike" dirty="0" err="1">
                <a:solidFill>
                  <a:srgbClr val="000000"/>
                </a:solidFill>
                <a:effectLst/>
                <a:latin typeface="Times New Roman" panose="02020603050405020304" pitchFamily="18" charset="0"/>
                <a:cs typeface="Times New Roman" panose="02020603050405020304" pitchFamily="18" charset="0"/>
              </a:rPr>
              <a:t>Nf</a:t>
            </a:r>
            <a:r>
              <a:rPr lang="en-US" sz="2000" b="0" i="1" u="none" strike="noStrike" dirty="0">
                <a:solidFill>
                  <a:srgbClr val="000000"/>
                </a:solidFill>
                <a:effectLst/>
                <a:latin typeface="Times New Roman" panose="02020603050405020304" pitchFamily="18" charset="0"/>
                <a:cs typeface="Times New Roman" panose="02020603050405020304" pitchFamily="18" charset="0"/>
              </a:rPr>
              <a:t>–Vi</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(to NFVI), </a:t>
            </a:r>
            <a:r>
              <a:rPr lang="en-US" sz="2000" b="0" i="1" u="none" strike="noStrike" dirty="0">
                <a:solidFill>
                  <a:srgbClr val="000000"/>
                </a:solidFill>
                <a:effectLst/>
                <a:latin typeface="Times New Roman" panose="02020603050405020304" pitchFamily="18" charset="0"/>
                <a:cs typeface="Times New Roman" panose="02020603050405020304" pitchFamily="18" charset="0"/>
              </a:rPr>
              <a:t>Or–Vi</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(to NFVO), </a:t>
            </a:r>
            <a:r>
              <a:rPr lang="en-US" sz="2000" b="0" i="1" u="none" strike="noStrike" dirty="0">
                <a:solidFill>
                  <a:srgbClr val="000000"/>
                </a:solidFill>
                <a:effectLst/>
                <a:latin typeface="Times New Roman" panose="02020603050405020304" pitchFamily="18" charset="0"/>
                <a:cs typeface="Times New Roman" panose="02020603050405020304" pitchFamily="18" charset="0"/>
              </a:rPr>
              <a:t>Vi–</a:t>
            </a:r>
            <a:r>
              <a:rPr lang="en-US" sz="2000" b="0" i="1" u="none" strike="noStrike" dirty="0" err="1">
                <a:solidFill>
                  <a:srgbClr val="000000"/>
                </a:solidFill>
                <a:effectLst/>
                <a:latin typeface="Times New Roman" panose="02020603050405020304" pitchFamily="18" charset="0"/>
                <a:cs typeface="Times New Roman" panose="02020603050405020304" pitchFamily="18" charset="0"/>
              </a:rPr>
              <a:t>Vnfm</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(to VNFM)</a:t>
            </a:r>
          </a:p>
          <a:p>
            <a:pPr marL="342900" indent="-342900" algn="l">
              <a:buFont typeface="Courier New" panose="02070309020205020404" pitchFamily="49" charset="0"/>
              <a:buChar char="o"/>
            </a:pPr>
            <a:r>
              <a:rPr lang="en-US" sz="2000" b="1" i="0" u="none" strike="noStrike" dirty="0">
                <a:solidFill>
                  <a:srgbClr val="000000"/>
                </a:solidFill>
                <a:effectLst/>
                <a:latin typeface="Times New Roman" panose="02020603050405020304" pitchFamily="18" charset="0"/>
                <a:cs typeface="Times New Roman" panose="02020603050405020304" pitchFamily="18" charset="0"/>
              </a:rPr>
              <a:t>Protocols:</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OpenStack APIs (REST), </a:t>
            </a:r>
            <a:r>
              <a:rPr lang="en-US" sz="2000" b="0" i="0" u="none" strike="noStrike" dirty="0" err="1">
                <a:solidFill>
                  <a:srgbClr val="000000"/>
                </a:solidFill>
                <a:effectLst/>
                <a:latin typeface="Times New Roman" panose="02020603050405020304" pitchFamily="18" charset="0"/>
                <a:cs typeface="Times New Roman" panose="02020603050405020304" pitchFamily="18" charset="0"/>
              </a:rPr>
              <a:t>gRPC</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for telemetry</a:t>
            </a:r>
          </a:p>
        </p:txBody>
      </p:sp>
      <p:sp>
        <p:nvSpPr>
          <p:cNvPr id="14" name="TextBox 13">
            <a:extLst>
              <a:ext uri="{FF2B5EF4-FFF2-40B4-BE49-F238E27FC236}">
                <a16:creationId xmlns:a16="http://schemas.microsoft.com/office/drawing/2014/main" id="{56F11E1B-AC9A-F318-3BCC-47440EBD8504}"/>
              </a:ext>
            </a:extLst>
          </p:cNvPr>
          <p:cNvSpPr txBox="1"/>
          <p:nvPr/>
        </p:nvSpPr>
        <p:spPr>
          <a:xfrm>
            <a:off x="1112520" y="4325026"/>
            <a:ext cx="6146800" cy="2031325"/>
          </a:xfrm>
          <a:prstGeom prst="rect">
            <a:avLst/>
          </a:prstGeom>
          <a:noFill/>
          <a:ln>
            <a:solidFill>
              <a:schemeClr val="tx1"/>
            </a:solidFill>
          </a:ln>
        </p:spPr>
        <p:txBody>
          <a:bodyPr wrap="square">
            <a:spAutoFit/>
          </a:bodyPr>
          <a:lstStyle/>
          <a:p>
            <a:r>
              <a:rPr lang="en-LB" dirty="0"/>
              <a:t>POST /v2.1/servers</a:t>
            </a:r>
          </a:p>
          <a:p>
            <a:r>
              <a:rPr lang="en-LB" dirty="0"/>
              <a:t>{</a:t>
            </a:r>
          </a:p>
          <a:p>
            <a:r>
              <a:rPr lang="en-LB" dirty="0"/>
              <a:t>  "name": "vFirewall-01",</a:t>
            </a:r>
          </a:p>
          <a:p>
            <a:r>
              <a:rPr lang="en-LB" dirty="0"/>
              <a:t>  "imageRef": "vFirewall.qcow2",</a:t>
            </a:r>
          </a:p>
          <a:p>
            <a:r>
              <a:rPr lang="en-LB" dirty="0"/>
              <a:t>  "flavorRef": "m1.medium",</a:t>
            </a:r>
          </a:p>
          <a:p>
            <a:r>
              <a:rPr lang="en-LB" dirty="0"/>
              <a:t>  "networks": [{"uuid": "vpn-net"}]</a:t>
            </a:r>
          </a:p>
          <a:p>
            <a:r>
              <a:rPr lang="en-LB" dirty="0"/>
              <a:t>}</a:t>
            </a:r>
          </a:p>
        </p:txBody>
      </p:sp>
    </p:spTree>
    <p:extLst>
      <p:ext uri="{BB962C8B-B14F-4D97-AF65-F5344CB8AC3E}">
        <p14:creationId xmlns:p14="http://schemas.microsoft.com/office/powerpoint/2010/main" val="139886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572D5-1E83-ECBD-F960-E4BB540DA17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31BE43-7D37-6F18-E1C7-D894CC484694}"/>
              </a:ext>
            </a:extLst>
          </p:cNvPr>
          <p:cNvSpPr>
            <a:spLocks noGrp="1"/>
          </p:cNvSpPr>
          <p:nvPr>
            <p:ph type="sldNum" sz="quarter" idx="12"/>
          </p:nvPr>
        </p:nvSpPr>
        <p:spPr/>
        <p:txBody>
          <a:bodyPr/>
          <a:lstStyle/>
          <a:p>
            <a:fld id="{C1FF6DA9-008F-8B48-92A6-B652298478BF}" type="slidenum">
              <a:rPr lang="en-US" smtClean="0"/>
              <a:t>70</a:t>
            </a:fld>
            <a:endParaRPr lang="en-US"/>
          </a:p>
        </p:txBody>
      </p:sp>
      <p:sp>
        <p:nvSpPr>
          <p:cNvPr id="5" name="Content Placeholder 6">
            <a:extLst>
              <a:ext uri="{FF2B5EF4-FFF2-40B4-BE49-F238E27FC236}">
                <a16:creationId xmlns:a16="http://schemas.microsoft.com/office/drawing/2014/main" id="{C618BE38-DE9A-50E7-835B-9A658E565531}"/>
              </a:ext>
            </a:extLst>
          </p:cNvPr>
          <p:cNvSpPr txBox="1">
            <a:spLocks/>
          </p:cNvSpPr>
          <p:nvPr/>
        </p:nvSpPr>
        <p:spPr>
          <a:xfrm>
            <a:off x="258872" y="1103881"/>
            <a:ext cx="10972800" cy="6169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dirty="0">
                <a:solidFill>
                  <a:srgbClr val="000000"/>
                </a:solidFill>
              </a:rPr>
              <a:t>Technical Steps:</a:t>
            </a:r>
            <a:endParaRPr lang="en-LB" sz="2800" dirty="0"/>
          </a:p>
        </p:txBody>
      </p:sp>
      <p:sp>
        <p:nvSpPr>
          <p:cNvPr id="13" name="TextBox 12">
            <a:extLst>
              <a:ext uri="{FF2B5EF4-FFF2-40B4-BE49-F238E27FC236}">
                <a16:creationId xmlns:a16="http://schemas.microsoft.com/office/drawing/2014/main" id="{F1F574D4-8E94-A071-1401-F72358150B89}"/>
              </a:ext>
            </a:extLst>
          </p:cNvPr>
          <p:cNvSpPr txBox="1"/>
          <p:nvPr/>
        </p:nvSpPr>
        <p:spPr>
          <a:xfrm>
            <a:off x="583990" y="1812568"/>
            <a:ext cx="9769050" cy="1785104"/>
          </a:xfrm>
          <a:prstGeom prst="rect">
            <a:avLst/>
          </a:prstGeom>
          <a:noFill/>
        </p:spPr>
        <p:txBody>
          <a:bodyPr wrap="square">
            <a:spAutoFit/>
          </a:bodyPr>
          <a:lstStyle/>
          <a:p>
            <a:pPr algn="l">
              <a:spcBef>
                <a:spcPts val="600"/>
              </a:spcBef>
              <a:spcAft>
                <a:spcPts val="60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2- VIM allocates the virtual machine using </a:t>
            </a:r>
            <a:r>
              <a:rPr lang="en-US" sz="2000" b="1" i="0" u="none" strike="noStrike" dirty="0">
                <a:solidFill>
                  <a:srgbClr val="000000"/>
                </a:solidFill>
                <a:effectLst/>
                <a:latin typeface="Times New Roman" panose="02020603050405020304" pitchFamily="18" charset="0"/>
                <a:cs typeface="Times New Roman" panose="02020603050405020304" pitchFamily="18" charset="0"/>
              </a:rPr>
              <a:t>Nova</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a:t>
            </a:r>
          </a:p>
          <a:p>
            <a:pPr algn="l">
              <a:spcBef>
                <a:spcPts val="600"/>
              </a:spcBef>
              <a:spcAft>
                <a:spcPts val="60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3- Configures virtual networks with </a:t>
            </a:r>
            <a:r>
              <a:rPr lang="en-US" sz="2000" b="1" i="0" u="none" strike="noStrike" dirty="0">
                <a:solidFill>
                  <a:srgbClr val="000000"/>
                </a:solidFill>
                <a:effectLst/>
                <a:latin typeface="Times New Roman" panose="02020603050405020304" pitchFamily="18" charset="0"/>
                <a:cs typeface="Times New Roman" panose="02020603050405020304" pitchFamily="18" charset="0"/>
              </a:rPr>
              <a:t>Neutron</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(creates VLANs/</a:t>
            </a:r>
            <a:r>
              <a:rPr lang="en-US" sz="2000" b="0" i="0" u="none" strike="noStrike" dirty="0" err="1">
                <a:solidFill>
                  <a:srgbClr val="000000"/>
                </a:solidFill>
                <a:effectLst/>
                <a:latin typeface="Times New Roman" panose="02020603050405020304" pitchFamily="18" charset="0"/>
                <a:cs typeface="Times New Roman" panose="02020603050405020304" pitchFamily="18" charset="0"/>
              </a:rPr>
              <a:t>VxLANs</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a:t>
            </a:r>
          </a:p>
          <a:p>
            <a:pPr algn="l">
              <a:spcBef>
                <a:spcPts val="600"/>
              </a:spcBef>
              <a:spcAft>
                <a:spcPts val="60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4- Attaches storage via </a:t>
            </a:r>
            <a:r>
              <a:rPr lang="en-US" sz="2000" b="1" i="0" u="none" strike="noStrike" dirty="0">
                <a:solidFill>
                  <a:srgbClr val="000000"/>
                </a:solidFill>
                <a:effectLst/>
                <a:latin typeface="Times New Roman" panose="02020603050405020304" pitchFamily="18" charset="0"/>
                <a:cs typeface="Times New Roman" panose="02020603050405020304" pitchFamily="18" charset="0"/>
              </a:rPr>
              <a:t>Cinder</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and retrieves image via </a:t>
            </a:r>
            <a:r>
              <a:rPr lang="en-US" sz="2000" b="1" i="0" u="none" strike="noStrike" dirty="0">
                <a:solidFill>
                  <a:srgbClr val="000000"/>
                </a:solidFill>
                <a:effectLst/>
                <a:latin typeface="Times New Roman" panose="02020603050405020304" pitchFamily="18" charset="0"/>
                <a:cs typeface="Times New Roman" panose="02020603050405020304" pitchFamily="18" charset="0"/>
              </a:rPr>
              <a:t>Glance</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a:t>
            </a:r>
          </a:p>
          <a:p>
            <a:pPr algn="l">
              <a:spcBef>
                <a:spcPts val="600"/>
              </a:spcBef>
              <a:spcAft>
                <a:spcPts val="60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5- Monitors VM health using </a:t>
            </a:r>
            <a:r>
              <a:rPr lang="en-US" sz="2000" b="1" i="0" u="none" strike="noStrike" dirty="0">
                <a:solidFill>
                  <a:srgbClr val="000000"/>
                </a:solidFill>
                <a:effectLst/>
                <a:latin typeface="Times New Roman" panose="02020603050405020304" pitchFamily="18" charset="0"/>
                <a:cs typeface="Times New Roman" panose="02020603050405020304" pitchFamily="18" charset="0"/>
              </a:rPr>
              <a:t>Ceilometer</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or </a:t>
            </a:r>
            <a:r>
              <a:rPr lang="en-US" sz="2000" b="1" i="0" u="none" strike="noStrike" dirty="0" err="1">
                <a:solidFill>
                  <a:srgbClr val="000000"/>
                </a:solidFill>
                <a:effectLst/>
                <a:latin typeface="Times New Roman" panose="02020603050405020304" pitchFamily="18" charset="0"/>
                <a:cs typeface="Times New Roman" panose="02020603050405020304" pitchFamily="18" charset="0"/>
              </a:rPr>
              <a:t>Monasca</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telemetry.</a:t>
            </a:r>
          </a:p>
        </p:txBody>
      </p:sp>
      <p:sp>
        <p:nvSpPr>
          <p:cNvPr id="12" name="TextBox 11">
            <a:extLst>
              <a:ext uri="{FF2B5EF4-FFF2-40B4-BE49-F238E27FC236}">
                <a16:creationId xmlns:a16="http://schemas.microsoft.com/office/drawing/2014/main" id="{A4A9811C-DCA1-C420-9AEF-726ACD20FF34}"/>
              </a:ext>
            </a:extLst>
          </p:cNvPr>
          <p:cNvSpPr txBox="1"/>
          <p:nvPr/>
        </p:nvSpPr>
        <p:spPr>
          <a:xfrm>
            <a:off x="574108" y="3903420"/>
            <a:ext cx="10561252" cy="400110"/>
          </a:xfrm>
          <a:prstGeom prst="rect">
            <a:avLst/>
          </a:prstGeom>
          <a:noFill/>
        </p:spPr>
        <p:txBody>
          <a:bodyPr wrap="square">
            <a:spAutoFit/>
          </a:bodyPr>
          <a:lstStyle/>
          <a:p>
            <a:r>
              <a:rPr lang="en-US" sz="2000" b="1" i="0" u="none" strike="noStrike" dirty="0">
                <a:solidFill>
                  <a:srgbClr val="000000"/>
                </a:solidFill>
                <a:effectLst/>
                <a:latin typeface="Times New Roman" panose="02020603050405020304" pitchFamily="18" charset="0"/>
                <a:cs typeface="Times New Roman" panose="02020603050405020304" pitchFamily="18" charset="0"/>
              </a:rPr>
              <a:t>Output:</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All VNFs are running on provisioned infrastructure with full network connectivity.</a:t>
            </a:r>
            <a:endParaRPr lang="en-LB" sz="20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3DA2A59B-B823-FE75-1F7A-3AC8E217F994}"/>
              </a:ext>
            </a:extLst>
          </p:cNvPr>
          <p:cNvSpPr>
            <a:spLocks noGrp="1"/>
          </p:cNvSpPr>
          <p:nvPr>
            <p:ph type="title"/>
          </p:nvPr>
        </p:nvSpPr>
        <p:spPr>
          <a:xfrm>
            <a:off x="0" y="161904"/>
            <a:ext cx="12192000" cy="601784"/>
          </a:xfrm>
        </p:spPr>
        <p:txBody>
          <a:bodyPr vert="horz" lIns="91440" tIns="45720" rIns="91440" bIns="45720" rtlCol="0" anchor="ctr">
            <a:noAutofit/>
          </a:bodyPr>
          <a:lstStyle/>
          <a:p>
            <a:r>
              <a:rPr lang="en-US" sz="3400" dirty="0">
                <a:solidFill>
                  <a:srgbClr val="000000"/>
                </a:solidFill>
                <a:latin typeface="-webkit-standard"/>
              </a:rPr>
              <a:t>Virtualized Infrastructure Manager (VIM) — Resource Management</a:t>
            </a:r>
            <a:endParaRPr sz="3400" dirty="0">
              <a:solidFill>
                <a:srgbClr val="000000"/>
              </a:solidFill>
              <a:latin typeface="-webkit-standard"/>
            </a:endParaRPr>
          </a:p>
        </p:txBody>
      </p:sp>
    </p:spTree>
    <p:extLst>
      <p:ext uri="{BB962C8B-B14F-4D97-AF65-F5344CB8AC3E}">
        <p14:creationId xmlns:p14="http://schemas.microsoft.com/office/powerpoint/2010/main" val="8048871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CB482-E868-6BF6-B1EB-F5896DA73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080FF-365D-1370-F0A9-204352DDFB2F}"/>
              </a:ext>
            </a:extLst>
          </p:cNvPr>
          <p:cNvSpPr>
            <a:spLocks noGrp="1"/>
          </p:cNvSpPr>
          <p:nvPr>
            <p:ph type="title"/>
          </p:nvPr>
        </p:nvSpPr>
        <p:spPr>
          <a:xfrm>
            <a:off x="0" y="161904"/>
            <a:ext cx="12192000" cy="601784"/>
          </a:xfrm>
        </p:spPr>
        <p:txBody>
          <a:bodyPr vert="horz" lIns="91440" tIns="45720" rIns="91440" bIns="45720" rtlCol="0" anchor="ctr">
            <a:noAutofit/>
          </a:bodyPr>
          <a:lstStyle/>
          <a:p>
            <a:r>
              <a:rPr lang="en-US" sz="3400" dirty="0">
                <a:solidFill>
                  <a:srgbClr val="000000"/>
                </a:solidFill>
                <a:latin typeface="-webkit-standard"/>
              </a:rPr>
              <a:t>NFV Infrastructure (NFVI) — Execution Environment</a:t>
            </a:r>
            <a:endParaRPr sz="3400" dirty="0">
              <a:solidFill>
                <a:srgbClr val="000000"/>
              </a:solidFill>
              <a:latin typeface="-webkit-standard"/>
            </a:endParaRPr>
          </a:p>
        </p:txBody>
      </p:sp>
      <p:sp>
        <p:nvSpPr>
          <p:cNvPr id="4" name="Slide Number Placeholder 3">
            <a:extLst>
              <a:ext uri="{FF2B5EF4-FFF2-40B4-BE49-F238E27FC236}">
                <a16:creationId xmlns:a16="http://schemas.microsoft.com/office/drawing/2014/main" id="{2A631A1D-E75A-A0A0-8876-85BAA5F67DDD}"/>
              </a:ext>
            </a:extLst>
          </p:cNvPr>
          <p:cNvSpPr>
            <a:spLocks noGrp="1"/>
          </p:cNvSpPr>
          <p:nvPr>
            <p:ph type="sldNum" sz="quarter" idx="12"/>
          </p:nvPr>
        </p:nvSpPr>
        <p:spPr/>
        <p:txBody>
          <a:bodyPr/>
          <a:lstStyle/>
          <a:p>
            <a:fld id="{C1FF6DA9-008F-8B48-92A6-B652298478BF}" type="slidenum">
              <a:rPr lang="en-US" smtClean="0"/>
              <a:t>71</a:t>
            </a:fld>
            <a:endParaRPr lang="en-US"/>
          </a:p>
        </p:txBody>
      </p:sp>
      <p:sp>
        <p:nvSpPr>
          <p:cNvPr id="5" name="Content Placeholder 6">
            <a:extLst>
              <a:ext uri="{FF2B5EF4-FFF2-40B4-BE49-F238E27FC236}">
                <a16:creationId xmlns:a16="http://schemas.microsoft.com/office/drawing/2014/main" id="{3CB7BDF0-E937-88EE-7553-D0841E147326}"/>
              </a:ext>
            </a:extLst>
          </p:cNvPr>
          <p:cNvSpPr txBox="1">
            <a:spLocks/>
          </p:cNvSpPr>
          <p:nvPr/>
        </p:nvSpPr>
        <p:spPr>
          <a:xfrm>
            <a:off x="258872" y="3473730"/>
            <a:ext cx="10972800" cy="6169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solidFill>
                  <a:srgbClr val="000000"/>
                </a:solidFill>
              </a:rPr>
              <a:t>Technical Steps:</a:t>
            </a:r>
            <a:endParaRPr lang="en-LB" sz="2400" dirty="0"/>
          </a:p>
        </p:txBody>
      </p:sp>
      <p:sp>
        <p:nvSpPr>
          <p:cNvPr id="6" name="TextBox 5">
            <a:extLst>
              <a:ext uri="{FF2B5EF4-FFF2-40B4-BE49-F238E27FC236}">
                <a16:creationId xmlns:a16="http://schemas.microsoft.com/office/drawing/2014/main" id="{1C3ACD99-99B3-A881-BC78-6D5543F5D732}"/>
              </a:ext>
            </a:extLst>
          </p:cNvPr>
          <p:cNvSpPr txBox="1"/>
          <p:nvPr/>
        </p:nvSpPr>
        <p:spPr>
          <a:xfrm>
            <a:off x="1245721" y="940211"/>
            <a:ext cx="10046677" cy="461665"/>
          </a:xfrm>
          <a:prstGeom prst="rect">
            <a:avLst/>
          </a:prstGeom>
          <a:noFill/>
        </p:spPr>
        <p:txBody>
          <a:bodyPr wrap="square">
            <a:spAutoFit/>
          </a:bodyPr>
          <a:lstStyle>
            <a:defPPr>
              <a:defRPr lang="en-US"/>
            </a:defPPr>
            <a:lvl1pPr>
              <a:defRPr sz="2400" b="0" i="1" u="none" strike="noStrike">
                <a:solidFill>
                  <a:srgbClr val="000000"/>
                </a:solidFill>
                <a:effectLst/>
                <a:latin typeface="Times New Roman" panose="02020603050405020304" pitchFamily="18" charset="0"/>
                <a:cs typeface="Times New Roman" panose="02020603050405020304" pitchFamily="18" charset="0"/>
              </a:defRPr>
            </a:lvl1pPr>
          </a:lstStyle>
          <a:p>
            <a:pPr algn="ctr"/>
            <a:r>
              <a:rPr lang="en-US" dirty="0"/>
              <a:t>The </a:t>
            </a:r>
            <a:r>
              <a:rPr lang="en-US" b="1" dirty="0"/>
              <a:t>NFVI</a:t>
            </a:r>
            <a:r>
              <a:rPr lang="en-US" dirty="0"/>
              <a:t> provides the virtualized physical environment for all VNFs.</a:t>
            </a:r>
            <a:endParaRPr lang="en-LB" dirty="0"/>
          </a:p>
        </p:txBody>
      </p:sp>
      <p:sp>
        <p:nvSpPr>
          <p:cNvPr id="7" name="Content Placeholder 6">
            <a:extLst>
              <a:ext uri="{FF2B5EF4-FFF2-40B4-BE49-F238E27FC236}">
                <a16:creationId xmlns:a16="http://schemas.microsoft.com/office/drawing/2014/main" id="{B0CA32CC-D75C-4B0A-D5B7-C16EBB80DA53}"/>
              </a:ext>
            </a:extLst>
          </p:cNvPr>
          <p:cNvSpPr txBox="1">
            <a:spLocks/>
          </p:cNvSpPr>
          <p:nvPr/>
        </p:nvSpPr>
        <p:spPr>
          <a:xfrm>
            <a:off x="258872" y="1539845"/>
            <a:ext cx="10972800" cy="6169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solidFill>
                  <a:srgbClr val="000000"/>
                </a:solidFill>
              </a:rPr>
              <a:t>Technologies Used:</a:t>
            </a:r>
            <a:endParaRPr lang="en-LB" sz="2400" dirty="0"/>
          </a:p>
        </p:txBody>
      </p:sp>
      <p:sp>
        <p:nvSpPr>
          <p:cNvPr id="9" name="TextBox 8">
            <a:extLst>
              <a:ext uri="{FF2B5EF4-FFF2-40B4-BE49-F238E27FC236}">
                <a16:creationId xmlns:a16="http://schemas.microsoft.com/office/drawing/2014/main" id="{0E241735-32E1-B081-0736-2380BF82105B}"/>
              </a:ext>
            </a:extLst>
          </p:cNvPr>
          <p:cNvSpPr txBox="1"/>
          <p:nvPr/>
        </p:nvSpPr>
        <p:spPr>
          <a:xfrm>
            <a:off x="563670" y="1973768"/>
            <a:ext cx="11231671" cy="1323439"/>
          </a:xfrm>
          <a:prstGeom prst="rect">
            <a:avLst/>
          </a:prstGeom>
          <a:noFill/>
        </p:spPr>
        <p:txBody>
          <a:bodyPr wrap="square">
            <a:spAutoFit/>
          </a:bodyPr>
          <a:lstStyle/>
          <a:p>
            <a:pPr marL="800100" lvl="1"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Compute:</a:t>
            </a:r>
            <a:r>
              <a:rPr lang="en-US" sz="2000" dirty="0">
                <a:latin typeface="Times New Roman" panose="02020603050405020304" pitchFamily="18" charset="0"/>
                <a:cs typeface="Times New Roman" panose="02020603050405020304" pitchFamily="18" charset="0"/>
              </a:rPr>
              <a:t> Dell EMC PowerEdge servers with Intel Xeon CPUs</a:t>
            </a:r>
          </a:p>
          <a:p>
            <a:pPr marL="800100" lvl="1"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Storage:</a:t>
            </a:r>
            <a:r>
              <a:rPr lang="en-US" sz="2000" dirty="0">
                <a:latin typeface="Times New Roman" panose="02020603050405020304" pitchFamily="18" charset="0"/>
                <a:cs typeface="Times New Roman" panose="02020603050405020304" pitchFamily="18" charset="0"/>
              </a:rPr>
              <a:t> SAN/NAS</a:t>
            </a:r>
          </a:p>
          <a:p>
            <a:pPr marL="800100" lvl="1"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Network:</a:t>
            </a:r>
            <a:r>
              <a:rPr lang="en-US" sz="2000" dirty="0">
                <a:latin typeface="Times New Roman" panose="02020603050405020304" pitchFamily="18" charset="0"/>
                <a:cs typeface="Times New Roman" panose="02020603050405020304" pitchFamily="18" charset="0"/>
              </a:rPr>
              <a:t> Cisco Nexus switches, Mellanox NICs</a:t>
            </a:r>
          </a:p>
          <a:p>
            <a:pPr marL="800100" lvl="1"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Virtualization Layer:</a:t>
            </a:r>
            <a:r>
              <a:rPr lang="en-US" sz="2000" dirty="0">
                <a:latin typeface="Times New Roman" panose="02020603050405020304" pitchFamily="18" charset="0"/>
                <a:cs typeface="Times New Roman" panose="02020603050405020304" pitchFamily="18" charset="0"/>
              </a:rPr>
              <a:t> KVM hypervisor with SR-IOV and DPDK for high packet throughput</a:t>
            </a:r>
          </a:p>
        </p:txBody>
      </p:sp>
      <p:sp>
        <p:nvSpPr>
          <p:cNvPr id="10" name="TextBox 9">
            <a:extLst>
              <a:ext uri="{FF2B5EF4-FFF2-40B4-BE49-F238E27FC236}">
                <a16:creationId xmlns:a16="http://schemas.microsoft.com/office/drawing/2014/main" id="{5E6E5299-F46C-12BC-024E-59E58790AEAC}"/>
              </a:ext>
            </a:extLst>
          </p:cNvPr>
          <p:cNvSpPr txBox="1"/>
          <p:nvPr/>
        </p:nvSpPr>
        <p:spPr>
          <a:xfrm>
            <a:off x="543488" y="3893461"/>
            <a:ext cx="11451144" cy="2126864"/>
          </a:xfrm>
          <a:prstGeom prst="rect">
            <a:avLst/>
          </a:prstGeom>
          <a:noFill/>
        </p:spPr>
        <p:txBody>
          <a:bodyPr wrap="square">
            <a:spAutoFit/>
          </a:bodyPr>
          <a:lstStyle/>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Physical servers host multiple KVM instances — one per VNF.</a:t>
            </a: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DPDK accelerates packet forwarding for VNFs like </a:t>
            </a:r>
            <a:r>
              <a:rPr lang="en-US" dirty="0" err="1">
                <a:latin typeface="Times New Roman" panose="02020603050405020304" pitchFamily="18" charset="0"/>
                <a:cs typeface="Times New Roman" panose="02020603050405020304" pitchFamily="18" charset="0"/>
              </a:rPr>
              <a:t>vFirewall</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vRouter</a:t>
            </a:r>
            <a:r>
              <a:rPr lang="en-US" dirty="0">
                <a:latin typeface="Times New Roman" panose="02020603050405020304" pitchFamily="18" charset="0"/>
                <a:cs typeface="Times New Roman" panose="02020603050405020304" pitchFamily="18" charset="0"/>
              </a:rPr>
              <a:t>.</a:t>
            </a: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SR-IOV enables direct NIC access, reducing latency.</a:t>
            </a: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Each VNF runs in isolation with dedicated vCPUs and </a:t>
            </a:r>
            <a:r>
              <a:rPr lang="en-US" dirty="0" err="1">
                <a:latin typeface="Times New Roman" panose="02020603050405020304" pitchFamily="18" charset="0"/>
                <a:cs typeface="Times New Roman" panose="02020603050405020304" pitchFamily="18" charset="0"/>
              </a:rPr>
              <a:t>vNICs</a:t>
            </a:r>
            <a:r>
              <a:rPr lang="en-US" dirty="0">
                <a:latin typeface="Times New Roman" panose="02020603050405020304" pitchFamily="18" charset="0"/>
                <a:cs typeface="Times New Roman" panose="02020603050405020304" pitchFamily="18" charset="0"/>
              </a:rPr>
              <a:t>.</a:t>
            </a: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Hardware metrics (CPU, RAM, I/O) are collected via Prometheus exporters and sent to VIM for resource management.</a:t>
            </a:r>
          </a:p>
        </p:txBody>
      </p:sp>
      <p:sp>
        <p:nvSpPr>
          <p:cNvPr id="12" name="TextBox 11">
            <a:extLst>
              <a:ext uri="{FF2B5EF4-FFF2-40B4-BE49-F238E27FC236}">
                <a16:creationId xmlns:a16="http://schemas.microsoft.com/office/drawing/2014/main" id="{4F96EE8F-E98C-0FFB-05C7-734107706083}"/>
              </a:ext>
            </a:extLst>
          </p:cNvPr>
          <p:cNvSpPr txBox="1"/>
          <p:nvPr/>
        </p:nvSpPr>
        <p:spPr>
          <a:xfrm>
            <a:off x="609600" y="6207044"/>
            <a:ext cx="8757138" cy="369332"/>
          </a:xfrm>
          <a:prstGeom prst="rect">
            <a:avLst/>
          </a:prstGeom>
          <a:noFill/>
        </p:spPr>
        <p:txBody>
          <a:bodyPr wrap="square">
            <a:spAutoFit/>
          </a:bodyPr>
          <a:lstStyle/>
          <a:p>
            <a:r>
              <a:rPr lang="en-US" b="1" i="0" u="none" strike="noStrike" dirty="0">
                <a:solidFill>
                  <a:srgbClr val="000000"/>
                </a:solidFill>
                <a:effectLst/>
                <a:latin typeface="Times New Roman" panose="02020603050405020304" pitchFamily="18" charset="0"/>
                <a:cs typeface="Times New Roman" panose="02020603050405020304" pitchFamily="18" charset="0"/>
              </a:rPr>
              <a:t>Output:</a:t>
            </a:r>
            <a:r>
              <a:rPr lang="en-US" b="0" i="0" u="none" strike="noStrike" dirty="0">
                <a:solidFill>
                  <a:srgbClr val="000000"/>
                </a:solidFill>
                <a:effectLst/>
                <a:latin typeface="Times New Roman" panose="02020603050405020304" pitchFamily="18" charset="0"/>
                <a:cs typeface="Times New Roman" panose="02020603050405020304" pitchFamily="18" charset="0"/>
              </a:rPr>
              <a:t> VNFs execute efficiently with carrier-grade performance and isolation.</a:t>
            </a:r>
            <a:endParaRPr lang="en-L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04470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8D53F-FC36-12EB-DB9F-F100B30BA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D9609-B2AF-A792-9DC7-45AE41AFE0D5}"/>
              </a:ext>
            </a:extLst>
          </p:cNvPr>
          <p:cNvSpPr>
            <a:spLocks noGrp="1"/>
          </p:cNvSpPr>
          <p:nvPr>
            <p:ph type="title"/>
          </p:nvPr>
        </p:nvSpPr>
        <p:spPr>
          <a:xfrm>
            <a:off x="0" y="161904"/>
            <a:ext cx="12192000" cy="601784"/>
          </a:xfrm>
        </p:spPr>
        <p:txBody>
          <a:bodyPr vert="horz" lIns="91440" tIns="45720" rIns="91440" bIns="45720" rtlCol="0" anchor="ctr">
            <a:noAutofit/>
          </a:bodyPr>
          <a:lstStyle/>
          <a:p>
            <a:r>
              <a:rPr lang="en-US" sz="3400" dirty="0">
                <a:solidFill>
                  <a:srgbClr val="000000"/>
                </a:solidFill>
                <a:latin typeface="-webkit-standard"/>
              </a:rPr>
              <a:t>Element Management System (EMS) — Device-Level Management</a:t>
            </a:r>
            <a:endParaRPr sz="3400" dirty="0">
              <a:solidFill>
                <a:srgbClr val="000000"/>
              </a:solidFill>
              <a:latin typeface="-webkit-standard"/>
            </a:endParaRPr>
          </a:p>
        </p:txBody>
      </p:sp>
      <p:sp>
        <p:nvSpPr>
          <p:cNvPr id="4" name="Slide Number Placeholder 3">
            <a:extLst>
              <a:ext uri="{FF2B5EF4-FFF2-40B4-BE49-F238E27FC236}">
                <a16:creationId xmlns:a16="http://schemas.microsoft.com/office/drawing/2014/main" id="{B448E210-3F10-653D-364F-DBA4120672F2}"/>
              </a:ext>
            </a:extLst>
          </p:cNvPr>
          <p:cNvSpPr>
            <a:spLocks noGrp="1"/>
          </p:cNvSpPr>
          <p:nvPr>
            <p:ph type="sldNum" sz="quarter" idx="12"/>
          </p:nvPr>
        </p:nvSpPr>
        <p:spPr/>
        <p:txBody>
          <a:bodyPr/>
          <a:lstStyle/>
          <a:p>
            <a:fld id="{C1FF6DA9-008F-8B48-92A6-B652298478BF}" type="slidenum">
              <a:rPr lang="en-US" smtClean="0"/>
              <a:t>72</a:t>
            </a:fld>
            <a:endParaRPr lang="en-US"/>
          </a:p>
        </p:txBody>
      </p:sp>
      <p:sp>
        <p:nvSpPr>
          <p:cNvPr id="5" name="Content Placeholder 6">
            <a:extLst>
              <a:ext uri="{FF2B5EF4-FFF2-40B4-BE49-F238E27FC236}">
                <a16:creationId xmlns:a16="http://schemas.microsoft.com/office/drawing/2014/main" id="{2C85377D-D383-E965-5055-82E01853E271}"/>
              </a:ext>
            </a:extLst>
          </p:cNvPr>
          <p:cNvSpPr txBox="1">
            <a:spLocks/>
          </p:cNvSpPr>
          <p:nvPr/>
        </p:nvSpPr>
        <p:spPr>
          <a:xfrm>
            <a:off x="258872" y="3438561"/>
            <a:ext cx="10972800" cy="50930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solidFill>
                  <a:srgbClr val="000000"/>
                </a:solidFill>
              </a:rPr>
              <a:t>Technical Steps:</a:t>
            </a:r>
            <a:endParaRPr lang="en-LB" sz="2400" dirty="0"/>
          </a:p>
        </p:txBody>
      </p:sp>
      <p:sp>
        <p:nvSpPr>
          <p:cNvPr id="6" name="TextBox 5">
            <a:extLst>
              <a:ext uri="{FF2B5EF4-FFF2-40B4-BE49-F238E27FC236}">
                <a16:creationId xmlns:a16="http://schemas.microsoft.com/office/drawing/2014/main" id="{4F76EBBE-5B9A-BB16-4DD1-928F123916CF}"/>
              </a:ext>
            </a:extLst>
          </p:cNvPr>
          <p:cNvSpPr txBox="1"/>
          <p:nvPr/>
        </p:nvSpPr>
        <p:spPr>
          <a:xfrm>
            <a:off x="432789" y="913608"/>
            <a:ext cx="11231671" cy="461665"/>
          </a:xfrm>
          <a:prstGeom prst="rect">
            <a:avLst/>
          </a:prstGeom>
          <a:noFill/>
        </p:spPr>
        <p:txBody>
          <a:bodyPr wrap="square">
            <a:spAutoFit/>
          </a:bodyPr>
          <a:lstStyle>
            <a:defPPr>
              <a:defRPr lang="en-US"/>
            </a:defPPr>
            <a:lvl1pPr>
              <a:defRPr sz="2400" b="0" i="1" u="none" strike="noStrike">
                <a:solidFill>
                  <a:srgbClr val="000000"/>
                </a:solidFill>
                <a:effectLst/>
                <a:latin typeface="Times New Roman" panose="02020603050405020304" pitchFamily="18" charset="0"/>
                <a:cs typeface="Times New Roman" panose="02020603050405020304" pitchFamily="18" charset="0"/>
              </a:defRPr>
            </a:lvl1pPr>
          </a:lstStyle>
          <a:p>
            <a:r>
              <a:rPr lang="en-US" dirty="0"/>
              <a:t>Each </a:t>
            </a:r>
            <a:r>
              <a:rPr lang="en-US" b="1" dirty="0"/>
              <a:t>VNF</a:t>
            </a:r>
            <a:r>
              <a:rPr lang="en-US" dirty="0"/>
              <a:t> (router, firewall, load balancer) has an EMS that manages its local operations.</a:t>
            </a:r>
            <a:endParaRPr lang="en-LB" dirty="0"/>
          </a:p>
        </p:txBody>
      </p:sp>
      <p:sp>
        <p:nvSpPr>
          <p:cNvPr id="7" name="Content Placeholder 6">
            <a:extLst>
              <a:ext uri="{FF2B5EF4-FFF2-40B4-BE49-F238E27FC236}">
                <a16:creationId xmlns:a16="http://schemas.microsoft.com/office/drawing/2014/main" id="{6705D7C1-E896-C9D3-4B6B-5F11B9D08547}"/>
              </a:ext>
            </a:extLst>
          </p:cNvPr>
          <p:cNvSpPr txBox="1">
            <a:spLocks/>
          </p:cNvSpPr>
          <p:nvPr/>
        </p:nvSpPr>
        <p:spPr>
          <a:xfrm>
            <a:off x="258872" y="1539845"/>
            <a:ext cx="10972800" cy="6169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solidFill>
                  <a:srgbClr val="000000"/>
                </a:solidFill>
              </a:rPr>
              <a:t>Technologies Used:</a:t>
            </a:r>
            <a:endParaRPr lang="en-LB" sz="2400" dirty="0"/>
          </a:p>
        </p:txBody>
      </p:sp>
      <p:sp>
        <p:nvSpPr>
          <p:cNvPr id="9" name="TextBox 8">
            <a:extLst>
              <a:ext uri="{FF2B5EF4-FFF2-40B4-BE49-F238E27FC236}">
                <a16:creationId xmlns:a16="http://schemas.microsoft.com/office/drawing/2014/main" id="{A2CEEFB1-D74B-8200-E1B3-16CCD03AC10F}"/>
              </a:ext>
            </a:extLst>
          </p:cNvPr>
          <p:cNvSpPr txBox="1"/>
          <p:nvPr/>
        </p:nvSpPr>
        <p:spPr>
          <a:xfrm>
            <a:off x="738554" y="1973768"/>
            <a:ext cx="11056787" cy="1323439"/>
          </a:xfrm>
          <a:prstGeom prst="rect">
            <a:avLst/>
          </a:prstGeom>
          <a:noFill/>
        </p:spPr>
        <p:txBody>
          <a:bodyPr wrap="square">
            <a:spAutoFit/>
          </a:bodyPr>
          <a:lstStyle/>
          <a:p>
            <a:pPr marL="342900"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EMS Software: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FortiManager</a:t>
            </a:r>
            <a:r>
              <a:rPr lang="en-US" sz="2000" dirty="0">
                <a:latin typeface="Times New Roman" panose="02020603050405020304" pitchFamily="18" charset="0"/>
                <a:cs typeface="Times New Roman" panose="02020603050405020304" pitchFamily="18" charset="0"/>
              </a:rPr>
              <a:t> (for </a:t>
            </a:r>
            <a:r>
              <a:rPr lang="en-US" sz="2000" dirty="0" err="1">
                <a:latin typeface="Times New Roman" panose="02020603050405020304" pitchFamily="18" charset="0"/>
                <a:cs typeface="Times New Roman" panose="02020603050405020304" pitchFamily="18" charset="0"/>
              </a:rPr>
              <a:t>vFirewall</a:t>
            </a:r>
            <a:r>
              <a:rPr lang="en-US" sz="2000" dirty="0">
                <a:latin typeface="Times New Roman" panose="02020603050405020304" pitchFamily="18" charset="0"/>
                <a:cs typeface="Times New Roman" panose="02020603050405020304" pitchFamily="18" charset="0"/>
              </a:rPr>
              <a:t>), Cisco Prime (for </a:t>
            </a:r>
            <a:r>
              <a:rPr lang="en-US" sz="2000" dirty="0" err="1">
                <a:latin typeface="Times New Roman" panose="02020603050405020304" pitchFamily="18" charset="0"/>
                <a:cs typeface="Times New Roman" panose="02020603050405020304" pitchFamily="18" charset="0"/>
              </a:rPr>
              <a:t>vRouter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HAProxy</a:t>
            </a:r>
            <a:r>
              <a:rPr lang="en-US" sz="2000" dirty="0">
                <a:latin typeface="Times New Roman" panose="02020603050405020304" pitchFamily="18" charset="0"/>
                <a:cs typeface="Times New Roman" panose="02020603050405020304" pitchFamily="18" charset="0"/>
              </a:rPr>
              <a:t> Manager (for </a:t>
            </a:r>
            <a:r>
              <a:rPr lang="en-US" sz="2000" dirty="0" err="1">
                <a:latin typeface="Times New Roman" panose="02020603050405020304" pitchFamily="18" charset="0"/>
                <a:cs typeface="Times New Roman" panose="02020603050405020304" pitchFamily="18" charset="0"/>
              </a:rPr>
              <a:t>vLoadBalancer</a:t>
            </a:r>
            <a:r>
              <a:rPr lang="en-US" sz="2000" dirty="0">
                <a:latin typeface="Times New Roman" panose="02020603050405020304" pitchFamily="18" charset="0"/>
                <a:cs typeface="Times New Roman" panose="02020603050405020304" pitchFamily="18" charset="0"/>
              </a:rPr>
              <a:t>)</a:t>
            </a:r>
          </a:p>
          <a:p>
            <a:pPr marL="342900"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Protocol:</a:t>
            </a:r>
            <a:r>
              <a:rPr lang="en-US" sz="2000" dirty="0">
                <a:latin typeface="Times New Roman" panose="02020603050405020304" pitchFamily="18" charset="0"/>
                <a:cs typeface="Times New Roman" panose="02020603050405020304" pitchFamily="18" charset="0"/>
              </a:rPr>
              <a:t> SNMP, NETCONF, Syslog</a:t>
            </a:r>
          </a:p>
          <a:p>
            <a:pPr marL="342900"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Interface:</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Ve–</a:t>
            </a:r>
            <a:r>
              <a:rPr lang="en-US" sz="2000" i="1" dirty="0" err="1">
                <a:latin typeface="Times New Roman" panose="02020603050405020304" pitchFamily="18" charset="0"/>
                <a:cs typeface="Times New Roman" panose="02020603050405020304" pitchFamily="18" charset="0"/>
              </a:rPr>
              <a:t>Vnfm</a:t>
            </a:r>
            <a:endParaRPr lang="en-US"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8694C07-ADE5-D2FA-594D-B9FFB7EE195F}"/>
              </a:ext>
            </a:extLst>
          </p:cNvPr>
          <p:cNvSpPr txBox="1"/>
          <p:nvPr/>
        </p:nvSpPr>
        <p:spPr>
          <a:xfrm>
            <a:off x="543488" y="3893461"/>
            <a:ext cx="8194112" cy="2031325"/>
          </a:xfrm>
          <a:prstGeom prst="rect">
            <a:avLst/>
          </a:prstGeom>
          <a:noFill/>
        </p:spPr>
        <p:txBody>
          <a:bodyPr wrap="square">
            <a:spAutoFit/>
          </a:bodyPr>
          <a:lstStyle/>
          <a:p>
            <a:pPr marL="342900" indent="-342900">
              <a:buFont typeface="+mj-lt"/>
              <a:buAutoNum type="arabicPeriod"/>
            </a:pPr>
            <a:r>
              <a:rPr lang="en-US" dirty="0">
                <a:latin typeface="Times New Roman" panose="02020603050405020304" pitchFamily="18" charset="0"/>
                <a:cs typeface="Times New Roman" panose="02020603050405020304" pitchFamily="18" charset="0"/>
              </a:rPr>
              <a:t>EMS collects telemetry data:</a:t>
            </a:r>
          </a:p>
          <a:p>
            <a:pPr marL="800100" lvl="1"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CPU/memory usage</a:t>
            </a:r>
          </a:p>
          <a:p>
            <a:pPr marL="800100" lvl="1"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Interface traffic (</a:t>
            </a:r>
            <a:r>
              <a:rPr lang="en-US" dirty="0" err="1">
                <a:latin typeface="Times New Roman" panose="02020603050405020304" pitchFamily="18" charset="0"/>
                <a:cs typeface="Times New Roman" panose="02020603050405020304" pitchFamily="18" charset="0"/>
              </a:rPr>
              <a:t>ifInOctets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ifOutOctets</a:t>
            </a:r>
            <a:r>
              <a:rPr lang="en-US" dirty="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Error counters</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Sends alarms (e.g., link failure) to VNFM via Syslog or SNMP traps.</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Receives configuration commands from VNFM (e.g., adjust firewall ACLs).</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Performs firmware upgrades on VNFs when instructed:</a:t>
            </a:r>
          </a:p>
        </p:txBody>
      </p:sp>
      <p:sp>
        <p:nvSpPr>
          <p:cNvPr id="8" name="TextBox 7">
            <a:extLst>
              <a:ext uri="{FF2B5EF4-FFF2-40B4-BE49-F238E27FC236}">
                <a16:creationId xmlns:a16="http://schemas.microsoft.com/office/drawing/2014/main" id="{1BAE5B7B-420C-84F6-14D9-9A0E229003AC}"/>
              </a:ext>
            </a:extLst>
          </p:cNvPr>
          <p:cNvSpPr txBox="1"/>
          <p:nvPr/>
        </p:nvSpPr>
        <p:spPr>
          <a:xfrm>
            <a:off x="8266882" y="5123493"/>
            <a:ext cx="3599630" cy="1200329"/>
          </a:xfrm>
          <a:prstGeom prst="rect">
            <a:avLst/>
          </a:prstGeom>
          <a:noFill/>
          <a:ln>
            <a:solidFill>
              <a:schemeClr val="tx1"/>
            </a:solidFill>
          </a:ln>
        </p:spPr>
        <p:txBody>
          <a:bodyPr wrap="square">
            <a:spAutoFit/>
          </a:bodyPr>
          <a:lstStyle/>
          <a:p>
            <a:r>
              <a:rPr lang="en-LB" dirty="0"/>
              <a:t>PUT /firmware/update</a:t>
            </a:r>
          </a:p>
          <a:p>
            <a:r>
              <a:rPr lang="en-LB" dirty="0"/>
              <a:t>{</a:t>
            </a:r>
          </a:p>
          <a:p>
            <a:r>
              <a:rPr lang="en-LB" dirty="0"/>
              <a:t>  "image": "vFirewall_v2.3.1.img"</a:t>
            </a:r>
          </a:p>
          <a:p>
            <a:r>
              <a:rPr lang="en-LB" dirty="0"/>
              <a:t>}</a:t>
            </a:r>
          </a:p>
        </p:txBody>
      </p:sp>
      <p:sp>
        <p:nvSpPr>
          <p:cNvPr id="13" name="TextBox 12">
            <a:extLst>
              <a:ext uri="{FF2B5EF4-FFF2-40B4-BE49-F238E27FC236}">
                <a16:creationId xmlns:a16="http://schemas.microsoft.com/office/drawing/2014/main" id="{DA077A22-1AB3-9794-5F39-037FD1F46A9C}"/>
              </a:ext>
            </a:extLst>
          </p:cNvPr>
          <p:cNvSpPr txBox="1"/>
          <p:nvPr/>
        </p:nvSpPr>
        <p:spPr>
          <a:xfrm>
            <a:off x="432789" y="6337983"/>
            <a:ext cx="9789734" cy="369332"/>
          </a:xfrm>
          <a:prstGeom prst="rect">
            <a:avLst/>
          </a:prstGeom>
          <a:noFill/>
        </p:spPr>
        <p:txBody>
          <a:bodyPr wrap="square">
            <a:spAutoFit/>
          </a:bodyPr>
          <a:lstStyle/>
          <a:p>
            <a:r>
              <a:rPr lang="en-US" b="1" i="0" u="none" strike="noStrike" dirty="0">
                <a:solidFill>
                  <a:srgbClr val="000000"/>
                </a:solidFill>
                <a:effectLst/>
                <a:latin typeface="Times New Roman" panose="02020603050405020304" pitchFamily="18" charset="0"/>
                <a:cs typeface="Times New Roman" panose="02020603050405020304" pitchFamily="18" charset="0"/>
              </a:rPr>
              <a:t>Output:</a:t>
            </a:r>
            <a:r>
              <a:rPr lang="en-US" b="0" i="0" u="none" strike="noStrike" dirty="0">
                <a:solidFill>
                  <a:srgbClr val="000000"/>
                </a:solidFill>
                <a:effectLst/>
                <a:latin typeface="Times New Roman" panose="02020603050405020304" pitchFamily="18" charset="0"/>
                <a:cs typeface="Times New Roman" panose="02020603050405020304" pitchFamily="18" charset="0"/>
              </a:rPr>
              <a:t> EMS ensures each virtual function runs optimally and reports real-time status for automation.</a:t>
            </a:r>
            <a:endParaRPr lang="en-L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298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1047</TotalTime>
  <Words>11612</Words>
  <Application>Microsoft Macintosh PowerPoint</Application>
  <PresentationFormat>Widescreen</PresentationFormat>
  <Paragraphs>999</Paragraphs>
  <Slides>72</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-webkit-standard</vt:lpstr>
      <vt:lpstr>Aptos</vt:lpstr>
      <vt:lpstr>Arial</vt:lpstr>
      <vt:lpstr>Calibri</vt:lpstr>
      <vt:lpstr>Courier New</vt:lpstr>
      <vt:lpstr>quote-cjk-patch</vt:lpstr>
      <vt:lpstr>Times New Roman</vt:lpstr>
      <vt:lpstr>Office Theme</vt:lpstr>
      <vt:lpstr>Chapter 3  Network Function Virtualization (NFV)</vt:lpstr>
      <vt:lpstr>Evolution from Hardware-Based to Virtualized Network Functions</vt:lpstr>
      <vt:lpstr>Evolution from Hardware-Based to Virtualized Network Functions</vt:lpstr>
      <vt:lpstr>Implementing new idea</vt:lpstr>
      <vt:lpstr>Motivation and Advantages of NFV</vt:lpstr>
      <vt:lpstr>Problem Statement</vt:lpstr>
      <vt:lpstr>NFV Use Cases: 5G, Cloud Services, IoT, and Enterprise Networks</vt:lpstr>
      <vt:lpstr>NFV Architecture and Standards</vt:lpstr>
      <vt:lpstr>PowerPoint Presentation</vt:lpstr>
      <vt:lpstr>NFV MANAGEMENT AND ORCHESTRATION</vt:lpstr>
      <vt:lpstr>PowerPoint Presentation</vt:lpstr>
      <vt:lpstr>NFV Reference Points</vt:lpstr>
      <vt:lpstr>NFV Reference Points</vt:lpstr>
      <vt:lpstr>NFV Reference Points</vt:lpstr>
      <vt:lpstr>NFV Reference Points</vt:lpstr>
      <vt:lpstr>PowerPoint Presentation</vt:lpstr>
      <vt:lpstr>PowerPoint Presentation</vt:lpstr>
      <vt:lpstr>PowerPoint Presentation</vt:lpstr>
      <vt:lpstr>NFV Reference Points</vt:lpstr>
      <vt:lpstr>NFV Reference Points</vt:lpstr>
      <vt:lpstr>NFV Reference Points</vt:lpstr>
      <vt:lpstr>NFV Reference Points</vt:lpstr>
      <vt:lpstr>PowerPoint Presentation</vt:lpstr>
      <vt:lpstr>NFV Reference Points</vt:lpstr>
      <vt:lpstr>NFV Reference Points</vt:lpstr>
      <vt:lpstr>NFV Reference Points</vt:lpstr>
      <vt:lpstr>NFV Reference Points</vt:lpstr>
      <vt:lpstr>NFV Reference Points</vt:lpstr>
      <vt:lpstr>NFV Reference Points</vt:lpstr>
      <vt:lpstr>PowerPoint Presentation</vt:lpstr>
      <vt:lpstr>NFV Reference Points</vt:lpstr>
      <vt:lpstr>NFV Reference Points</vt:lpstr>
      <vt:lpstr>NFV Reference Points</vt:lpstr>
      <vt:lpstr>PowerPoint Presentation</vt:lpstr>
      <vt:lpstr>OSS Operational Support System</vt:lpstr>
      <vt:lpstr>PowerPoint Presentation</vt:lpstr>
      <vt:lpstr>PowerPoint Presentation</vt:lpstr>
      <vt:lpstr>PowerPoint Presentation</vt:lpstr>
      <vt:lpstr>BSS Business Support System</vt:lpstr>
      <vt:lpstr>PowerPoint Presentation</vt:lpstr>
      <vt:lpstr>PowerPoint Presentation</vt:lpstr>
      <vt:lpstr>PowerPoint Presentation</vt:lpstr>
      <vt:lpstr>EMS Element Management System</vt:lpstr>
      <vt:lpstr>PowerPoint Presentation</vt:lpstr>
      <vt:lpstr>PowerPoint Presentation</vt:lpstr>
      <vt:lpstr>PowerPoint Presentation</vt:lpstr>
      <vt:lpstr>PowerPoint Presentation</vt:lpstr>
      <vt:lpstr>NFV Reference Points</vt:lpstr>
      <vt:lpstr>NFV Reference Points</vt:lpstr>
      <vt:lpstr>NFV Reference Points</vt:lpstr>
      <vt:lpstr>NFV Reference Points</vt:lpstr>
      <vt:lpstr>NFV Reference Points</vt:lpstr>
      <vt:lpstr>NFV Reference Points</vt:lpstr>
      <vt:lpstr>PowerPoint Presentation</vt:lpstr>
      <vt:lpstr>PowerPoint Presentation</vt:lpstr>
      <vt:lpstr>PowerPoint Presentation</vt:lpstr>
      <vt:lpstr>OSS/BSS — Customer Request and Business Orchestration</vt:lpstr>
      <vt:lpstr>OSS/BSS — Customer Request and Business Orchestration</vt:lpstr>
      <vt:lpstr>OSS/BSS — Customer Request and Business Orchestration</vt:lpstr>
      <vt:lpstr>OSS/BSS — Customer Request and Business Orchestration</vt:lpstr>
      <vt:lpstr>OSS/BSS — Customer Request and Business Orchestration</vt:lpstr>
      <vt:lpstr>OSS/BSS — Customer Request and Business Orchestration</vt:lpstr>
      <vt:lpstr>OSS/BSS — Customer Request and Business Orchestration</vt:lpstr>
      <vt:lpstr>OSS/BSS — Customer Request and Business Orchestration</vt:lpstr>
      <vt:lpstr>NFV Orchestrator (NFVO) — Service Orchestration and Automation</vt:lpstr>
      <vt:lpstr>NFV Orchestrator (NFVO) — Service Orchestration and Automation</vt:lpstr>
      <vt:lpstr>NFV Manager (NFVM) — Lifecycle and Policy Control</vt:lpstr>
      <vt:lpstr>NFV Manager (NFVM) — Lifecycle and Policy Control</vt:lpstr>
      <vt:lpstr>Virtualized Infrastructure Manager (VIM) — Resource Management</vt:lpstr>
      <vt:lpstr>Virtualized Infrastructure Manager (VIM) — Resource Management</vt:lpstr>
      <vt:lpstr>NFV Infrastructure (NFVI) — Execution Environment</vt:lpstr>
      <vt:lpstr>Element Management System (EMS) — Device-Level Management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Rami Tawil</cp:lastModifiedBy>
  <cp:revision>76</cp:revision>
  <dcterms:created xsi:type="dcterms:W3CDTF">2013-01-27T09:14:16Z</dcterms:created>
  <dcterms:modified xsi:type="dcterms:W3CDTF">2025-11-13T19:33:27Z</dcterms:modified>
  <cp:category/>
</cp:coreProperties>
</file>