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L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9"/>
  </p:normalViewPr>
  <p:slideViewPr>
    <p:cSldViewPr snapToGrid="0">
      <p:cViewPr varScale="1">
        <p:scale>
          <a:sx n="106" d="100"/>
          <a:sy n="106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1CBE-E438-8FC0-4E2E-C28506B3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B5A88-8B9B-0F57-83AA-419215965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C78E4-812E-7DE2-C3B4-84A9A13B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D9EB-F851-F0C2-07B6-9309A111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28657-03FC-C68B-81D3-A75CE0E1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188095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0863-0024-4B2A-6767-CB443F7F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94064-8B9F-3B1C-098D-02A5CA80C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6C43A-3721-AB9E-3855-C4403785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32F0E-E1C6-E785-D3B8-C628BCBF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3D63-36F8-A1DB-B488-357D63E2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372404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4A5B-8311-A08B-BAF7-9EFA2A49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992ED-7CED-E376-4CF6-EB53C1FB2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FB4E-1E79-3D34-1FD0-3DF94E6C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DEDCD-CEEE-CAC5-617B-DA5A4F49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8531F-FADD-70B0-2EE1-9DB51347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151311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C191-A4B8-75CD-1CAB-AC76B4BD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0F23-A9E6-0DF2-D172-563BC0F44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FC384-84CF-94FC-6D48-FBC09B0BE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D0EFE-B466-45F0-3280-55DB9F80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BDC0-AC2A-CC59-EFFE-B258FACC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70FFB-648B-4280-FD7D-4C36A78F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416026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7E1C-053B-952D-0BFF-3172A2A5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D3A47-4DA1-240C-FC22-4B25F4DAE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D2529-5C3A-52B6-E099-AC4E1B3A0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AD930-400A-0BD2-39DA-601B341D8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30036-49A7-765D-ED48-B247A2C97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A2B47E-AAB6-493D-EEAA-4ED0B5FC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A227F-CDA5-09A5-A30B-41ADD730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780FB-B7A4-709C-6F43-4BF249A0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296555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551A-1865-4218-6950-33FD7A96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FBB5C-A292-967B-C0AC-0AE0945E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328A7-5010-B0BA-6401-34F9B46A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72149-F54C-C3A1-CAA6-B7B0201E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367264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A257F-7F2C-FC03-BEC7-7F44E9C1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DE9A1-F159-8563-6D8B-F03102BF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7D6FD-228E-65B6-339D-5ED071D4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42456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0B1B-D93B-2EE4-0A05-0B36463A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190FE-9841-3F2E-ECDC-6D64A02B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AD354-0AD0-EA71-A6A9-7EFBFDB0F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6EFBD-B7E3-906E-92B2-438383DA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40AE3-A30A-E278-7CA7-F02280E8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85576-9C89-E223-FF86-E702B5DA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36918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4F59-9AF7-183B-0DE1-CAC12297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76BB5-1645-D5F3-EBC0-00DF60DAB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393D0-1654-BDCE-6BC9-BB74CF09E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4CDAA-07FA-5B18-D665-9E74D3C0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03B5E-F510-84E3-0C01-CD22CF5D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43B02-21A1-DA80-23DF-4CE65DDA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258890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AF56-2191-2A48-C4D7-150EBFF9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B5EE4-E267-8A02-3589-ACCCE3A34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271CE-2848-F143-BD0F-8CB533F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518FD-E0CB-0B77-6F04-36AD455E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4FFFD-1864-C637-99E6-1FED47C4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211919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58B2A-1AC5-3535-52E4-58E097C59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31C28-DAB0-3DD7-020F-B781AA915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D87C6-E6A4-5C1E-E0EC-7C48493D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E618A-22AF-2AAA-2879-15D122924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AAED5-56F4-53C8-867C-EE45E439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137035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E8BC0-4A8C-6DD3-F098-8468AD7F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F0E0F-383E-0F6C-EB60-E3BAEDB0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671B5-6AB0-C568-96B0-A8617CE98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434B0-325A-6147-BDAA-D0B263CE09F1}" type="datetimeFigureOut">
              <a:rPr lang="en-LB" smtClean="0"/>
              <a:t>22/12/2025</a:t>
            </a:fld>
            <a:endParaRPr lang="en-L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9F7C1-C976-40C4-367D-3F1AE82E0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75E7-D930-3B40-A136-A353097D2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6A734-C6F1-EB41-95DC-C1B31248CF89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208016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/Users/celinehammoud/Library/Group%20Containers/UBF8T346G9.ms/WebArchiveCopyPasteTempFiles/com.microsoft.Word/http11-2-3-comparison-88d3a12d6cc3f5422c3700a7f2f8c76b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-up of hopscotch on a sidewalk">
            <a:extLst>
              <a:ext uri="{FF2B5EF4-FFF2-40B4-BE49-F238E27FC236}">
                <a16:creationId xmlns:a16="http://schemas.microsoft.com/office/drawing/2014/main" id="{6F0C5BC0-C1FA-AB3F-574A-D9EEBFB2A9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096" b="863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CB76C-906E-B2E8-EED8-3F11EAB4C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LB">
                <a:solidFill>
                  <a:srgbClr val="FFFFFF"/>
                </a:solidFill>
              </a:rPr>
              <a:t>HTTP/3 and QUIC</a:t>
            </a:r>
          </a:p>
        </p:txBody>
      </p:sp>
    </p:spTree>
    <p:extLst>
      <p:ext uri="{BB962C8B-B14F-4D97-AF65-F5344CB8AC3E}">
        <p14:creationId xmlns:p14="http://schemas.microsoft.com/office/powerpoint/2010/main" val="2098558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58D2-2D69-2F33-239B-EB66387B9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4" y="539827"/>
            <a:ext cx="11575055" cy="63181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HTTP/3?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QUIC?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Does HTTP/3 Work?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HTTP/3 vs HTTP/2 vs HTTP/1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 of HTTP/3 and QUIC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HTTP/3 and QUIC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HTTP/3 Available Now?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5B94FF-34BE-A862-0A4B-856B547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4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6E241-C96F-B330-78D9-65DC9DE0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A14A4-EA35-2F5F-3DE7-4BF5C0074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7113"/>
            <a:ext cx="12192000" cy="61308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 is the latest version of the HTTP (Hypertext Transfer Protocol), </a:t>
            </a:r>
            <a:r>
              <a:rPr lang="en-L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in June 2022.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HTTP/2 introduces features like 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compression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push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was still limited by the underlying TCP.</a:t>
            </a:r>
          </a:p>
          <a:p>
            <a:pPr algn="just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addresses the limitation of using TCP, by using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promises faster, more reliable connections, particularly over networks with variable performance, such as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networks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Engineering Task Force (IETF) enhances web performance and security (RFC 9114).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126460-AC7B-DEB6-1490-E56363889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HTTP/3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37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89BD-6F38-B0B6-87FA-1B7E7E97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BCE05-31D6-CC0D-9803-7E950FFC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7961"/>
            <a:ext cx="12192000" cy="6230039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10000"/>
              </a:lnSpc>
              <a:spcBef>
                <a:spcPts val="1500"/>
              </a:spcBef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Stands for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UDP Internet Connections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1500"/>
              </a:spcBef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protocol developed by Google. </a:t>
            </a:r>
          </a:p>
          <a:p>
            <a:pPr algn="l">
              <a:lnSpc>
                <a:spcPct val="110000"/>
              </a:lnSpc>
              <a:spcBef>
                <a:spcPts val="150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nitially developed to address TCP’s shortcomings, especially in speed and performance (</a:t>
            </a:r>
            <a:r>
              <a:rPr lang="en-US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start, multiple round trips, series of handshakes and setup processes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 is a connectionless protocol that aims to establish connections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latency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utilizing UDP.</a:t>
            </a:r>
          </a:p>
          <a:p>
            <a:pPr algn="l">
              <a:lnSpc>
                <a:spcPct val="110000"/>
              </a:lnSpc>
              <a:spcBef>
                <a:spcPts val="1500"/>
              </a:spcBef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started working on the QUIC protocol around 2012</a:t>
            </a:r>
          </a:p>
          <a:p>
            <a:pPr algn="l">
              <a:lnSpc>
                <a:spcPct val="110000"/>
              </a:lnSpc>
              <a:spcBef>
                <a:spcPts val="1500"/>
              </a:spcBef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then adopted by the IETF as the basis for HTTP/3.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 TLS for end-to-end encryption, simplifying the protocol stack and enhancing security. 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congestion control algorithms and mechanisms for handling packet loss without causing significant delays.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E3D43-65E5-6F47-F70F-8BDA8CAC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QUIC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35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0717-4E2F-FA23-2713-B680F29F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E459-38AF-935A-1B6F-268E02DB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History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4F14DE-E779-A694-8AC6-DFA0FAA9C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139619"/>
              </p:ext>
            </p:extLst>
          </p:nvPr>
        </p:nvGraphicFramePr>
        <p:xfrm>
          <a:off x="0" y="539827"/>
          <a:ext cx="12192000" cy="631817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69484">
                  <a:extLst>
                    <a:ext uri="{9D8B030D-6E8A-4147-A177-3AD203B41FA5}">
                      <a16:colId xmlns:a16="http://schemas.microsoft.com/office/drawing/2014/main" val="1370650290"/>
                    </a:ext>
                  </a:extLst>
                </a:gridCol>
                <a:gridCol w="1145755">
                  <a:extLst>
                    <a:ext uri="{9D8B030D-6E8A-4147-A177-3AD203B41FA5}">
                      <a16:colId xmlns:a16="http://schemas.microsoft.com/office/drawing/2014/main" val="851434910"/>
                    </a:ext>
                  </a:extLst>
                </a:gridCol>
                <a:gridCol w="2478795">
                  <a:extLst>
                    <a:ext uri="{9D8B030D-6E8A-4147-A177-3AD203B41FA5}">
                      <a16:colId xmlns:a16="http://schemas.microsoft.com/office/drawing/2014/main" val="3587862232"/>
                    </a:ext>
                  </a:extLst>
                </a:gridCol>
                <a:gridCol w="2346593">
                  <a:extLst>
                    <a:ext uri="{9D8B030D-6E8A-4147-A177-3AD203B41FA5}">
                      <a16:colId xmlns:a16="http://schemas.microsoft.com/office/drawing/2014/main" val="1061430420"/>
                    </a:ext>
                  </a:extLst>
                </a:gridCol>
                <a:gridCol w="5251373">
                  <a:extLst>
                    <a:ext uri="{9D8B030D-6E8A-4147-A177-3AD203B41FA5}">
                      <a16:colId xmlns:a16="http://schemas.microsoft.com/office/drawing/2014/main" val="623516062"/>
                    </a:ext>
                  </a:extLst>
                </a:gridCol>
              </a:tblGrid>
              <a:tr h="595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800" b="1" kern="0" dirty="0">
                          <a:effectLst/>
                        </a:rPr>
                        <a:t>version</a:t>
                      </a:r>
                      <a:endParaRPr lang="en-LB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800" b="1" kern="0" dirty="0">
                          <a:effectLst/>
                        </a:rPr>
                        <a:t>Date</a:t>
                      </a:r>
                      <a:endParaRPr lang="en-LB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800" b="1" kern="0" dirty="0">
                          <a:effectLst/>
                        </a:rPr>
                        <a:t>Specification</a:t>
                      </a:r>
                      <a:endParaRPr lang="en-LB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800" b="1" kern="0" dirty="0">
                          <a:effectLst/>
                        </a:rPr>
                        <a:t>Status</a:t>
                      </a:r>
                      <a:endParaRPr lang="en-LB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800" b="1" kern="0" dirty="0">
                          <a:effectLst/>
                        </a:rPr>
                        <a:t>Key features</a:t>
                      </a:r>
                      <a:endParaRPr lang="en-LB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extLst>
                  <a:ext uri="{0D108BD9-81ED-4DB2-BD59-A6C34878D82A}">
                    <a16:rowId xmlns:a16="http://schemas.microsoft.com/office/drawing/2014/main" val="3912445911"/>
                  </a:ext>
                </a:extLst>
              </a:tr>
              <a:tr h="1089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HTTP/3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2022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RFC 9114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Standard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makes HTTP compatible with QUIC, moves from TCP to UDP transport</a:t>
                      </a:r>
                    </a:p>
                  </a:txBody>
                  <a:tcPr marL="7520" marR="7520" marT="7520" marB="7520" anchor="ctr"/>
                </a:tc>
                <a:extLst>
                  <a:ext uri="{0D108BD9-81ED-4DB2-BD59-A6C34878D82A}">
                    <a16:rowId xmlns:a16="http://schemas.microsoft.com/office/drawing/2014/main" val="3104117273"/>
                  </a:ext>
                </a:extLst>
              </a:tr>
              <a:tr h="12029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HTTP/2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2015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RFC 9113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Standard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introduces a new binary framing layer that's not compatible with HTTP/1.1 and request and response multiplexing, stream prioritization, automatic header compression(HPACK), connection reset, server push</a:t>
                      </a:r>
                    </a:p>
                  </a:txBody>
                  <a:tcPr marL="7520" marR="7520" marT="7520" marB="7520" anchor="ctr"/>
                </a:tc>
                <a:extLst>
                  <a:ext uri="{0D108BD9-81ED-4DB2-BD59-A6C34878D82A}">
                    <a16:rowId xmlns:a16="http://schemas.microsoft.com/office/drawing/2014/main" val="983311470"/>
                  </a:ext>
                </a:extLst>
              </a:tr>
              <a:tr h="12508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HTTP/1.1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1997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RFC 9112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Internet Standard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to HTTP/1; introduces the Host header, the 100 Continue status, persistent connections, and new HTTP methods (PUT, PATCH, DELETE, CONNECT, TRACE, OPTIONS)</a:t>
                      </a:r>
                    </a:p>
                  </a:txBody>
                  <a:tcPr marL="7520" marR="7520" marT="7520" marB="7520" anchor="ctr"/>
                </a:tc>
                <a:extLst>
                  <a:ext uri="{0D108BD9-81ED-4DB2-BD59-A6C34878D82A}">
                    <a16:rowId xmlns:a16="http://schemas.microsoft.com/office/drawing/2014/main" val="1341490062"/>
                  </a:ext>
                </a:extLst>
              </a:tr>
              <a:tr h="1089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HTTP/1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1996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RFC 1945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historical (not in use)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introduced HTTP status codes, Content-Type, the POST and HEAD methods, and request headers</a:t>
                      </a:r>
                    </a:p>
                  </a:txBody>
                  <a:tcPr marL="7520" marR="7520" marT="7520" marB="7520" anchor="ctr"/>
                </a:tc>
                <a:extLst>
                  <a:ext uri="{0D108BD9-81ED-4DB2-BD59-A6C34878D82A}">
                    <a16:rowId xmlns:a16="http://schemas.microsoft.com/office/drawing/2014/main" val="626750047"/>
                  </a:ext>
                </a:extLst>
              </a:tr>
              <a:tr h="1089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HTTP/0.9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effectLst/>
                        </a:rPr>
                        <a:t>1991</a:t>
                      </a:r>
                      <a:endParaRPr lang="en-LB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 no RFC number; see the original doc created by Tim Berners-Lee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historical (not in use)</a:t>
                      </a:r>
                    </a:p>
                  </a:txBody>
                  <a:tcPr marL="7520" marR="7520" marT="7520" marB="75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LB" sz="140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raw data transfer introduced the TCP/IP model and GET requests (also called the 'one-line protocol')</a:t>
                      </a:r>
                    </a:p>
                  </a:txBody>
                  <a:tcPr marL="7520" marR="7520" marT="7520" marB="7520" anchor="ctr"/>
                </a:tc>
                <a:extLst>
                  <a:ext uri="{0D108BD9-81ED-4DB2-BD59-A6C34878D82A}">
                    <a16:rowId xmlns:a16="http://schemas.microsoft.com/office/drawing/2014/main" val="415762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30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995F3-FE8D-E1EC-6670-9E0CB5FB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0C2B7D-6D75-2416-FFB0-9E7787C9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– Protocol Stack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6">
            <a:extLst>
              <a:ext uri="{FF2B5EF4-FFF2-40B4-BE49-F238E27FC236}">
                <a16:creationId xmlns:a16="http://schemas.microsoft.com/office/drawing/2014/main" id="{AD979EBB-9D51-FB5B-36AF-DD15164BB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875" y="907488"/>
            <a:ext cx="10062249" cy="504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280A9E-471D-9463-A154-F47530A3764F}"/>
              </a:ext>
            </a:extLst>
          </p:cNvPr>
          <p:cNvSpPr txBox="1"/>
          <p:nvPr/>
        </p:nvSpPr>
        <p:spPr>
          <a:xfrm>
            <a:off x="1064875" y="6106152"/>
            <a:ext cx="4035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B" sz="1800" i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Robin Marx: H3 Protocol Stack; GitHub</a:t>
            </a:r>
            <a:r>
              <a:rPr lang="en-LB" dirty="0">
                <a:effectLst/>
              </a:rPr>
              <a:t> 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357060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64E7-44BC-342B-AD6A-11ECE729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60063BC-D1E4-96A4-FE44-D8FF0430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– How it Works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4AF95-013F-F856-E731-EA6B5469E6F8}"/>
              </a:ext>
            </a:extLst>
          </p:cNvPr>
          <p:cNvSpPr txBox="1"/>
          <p:nvPr/>
        </p:nvSpPr>
        <p:spPr>
          <a:xfrm>
            <a:off x="0" y="799813"/>
            <a:ext cx="1219199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Connection Establishment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When a client wants to communicate with a server, a handshake is initiated using the QUIC transport protocol. This handshake is designed to establish a connection faster than traditional methods.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Connection IDs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During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handshake, the client and server exchange connection IDs. These IDs help maintain the connection state and ensure continuity even 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IP addresses change.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TCP Connection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Unlike HTTP/2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head-of-line blocking), HTTP/3 processes each stream independently using the QUIC transport protocol. This allows each data stream to be processed separately without waiting for others =&gt; enhancing efficiency.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Requests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After establishing the connection, the client can send various requests simultaneously over the same single TCP connection. Each request is multiplexed, transmitting in parallel, reducing latency and improving load times.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Connection Migration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If the client changes networks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switching from Wi-Fi to mobile data), connection migration ensures the connection persists without interruption (due to connection IDs, which help maintain the session even when IP addresses change).</a:t>
            </a:r>
          </a:p>
        </p:txBody>
      </p:sp>
    </p:spTree>
    <p:extLst>
      <p:ext uri="{BB962C8B-B14F-4D97-AF65-F5344CB8AC3E}">
        <p14:creationId xmlns:p14="http://schemas.microsoft.com/office/powerpoint/2010/main" val="1025948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83E88-F489-4986-5BF2-D5D982A4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7C84307-FC80-91A9-773A-EC4959CE0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&amp; QUIC– Benefits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FDF84-837B-7DF3-8C9C-48D5E1DC6730}"/>
              </a:ext>
            </a:extLst>
          </p:cNvPr>
          <p:cNvSpPr txBox="1"/>
          <p:nvPr/>
        </p:nvSpPr>
        <p:spPr>
          <a:xfrm>
            <a:off x="0" y="539827"/>
            <a:ext cx="12191999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and QUIC encryption provides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page load times due to reduced handshake latency &amp; multiplexed streams. 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features like built-in encryption provide robust protection against common threats. 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improved connection reliability and efficient resource utilization ensure optimal performance even in challenging network conditions.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Page Load Time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QUIC’s faster connection establishment =&gt; bypass the conventional TCP handshake process =&gt; reducing initial load times. 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QUIC’s connection establishment occurs within a 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round-trip time (RTT)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drastically lowering latency.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 uses UDP =&gt; allows more efficient error correction and packet retransmission strategies. 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Lost packets are retransmitted without disrupting the order of other packets, further reducing latency.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combined with HTTP/3’s optimized header compression and prioritization, this significantly enhances page load performance, making web applications more responsive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159213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9FF6-49E0-06A2-BBB1-C8F20C73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07B5C7A-D7F6-D679-ECCA-0DE6FAE2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HTTP/3 &amp; QUIC– 0 RTT</a:t>
            </a:r>
            <a:endParaRPr lang="en-LB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52663-5982-98DB-0CB6-87F830A8EB8B}"/>
              </a:ext>
            </a:extLst>
          </p:cNvPr>
          <p:cNvSpPr txBox="1"/>
          <p:nvPr/>
        </p:nvSpPr>
        <p:spPr>
          <a:xfrm>
            <a:off x="0" y="539827"/>
            <a:ext cx="12191999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connection (1 RTT)</a:t>
            </a:r>
          </a:p>
          <a:p>
            <a:pPr marL="1112838" indent="-430213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and server perform a full handshake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2838" indent="-430213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sends session ticket, transport parameters</a:t>
            </a:r>
          </a:p>
          <a:p>
            <a:pPr marL="1112838" indent="-430213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stores them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Reconnection (0 RTT)</a:t>
            </a:r>
          </a:p>
          <a:p>
            <a:pPr marL="1112838" indent="-430213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sends initial ticket, encrypted early data</a:t>
            </a:r>
          </a:p>
          <a:p>
            <a:pPr marL="1112838" indent="-430213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decrypts using saved session info</a:t>
            </a:r>
          </a:p>
          <a:p>
            <a:pPr marL="1112838" indent="-430213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connection continues</a:t>
            </a:r>
          </a:p>
        </p:txBody>
      </p:sp>
    </p:spTree>
    <p:extLst>
      <p:ext uri="{BB962C8B-B14F-4D97-AF65-F5344CB8AC3E}">
        <p14:creationId xmlns:p14="http://schemas.microsoft.com/office/powerpoint/2010/main" val="177002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2032-67FC-0327-5C2B-C6EFA840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F93458C-AAA3-5D1F-60B0-DB1FFDD7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021C3-F430-A012-AF6A-39BC350F8FF0}"/>
              </a:ext>
            </a:extLst>
          </p:cNvPr>
          <p:cNvSpPr txBox="1"/>
          <p:nvPr/>
        </p:nvSpPr>
        <p:spPr>
          <a:xfrm>
            <a:off x="0" y="768431"/>
            <a:ext cx="121919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Nunito" pitchFamily="2" charset="77"/>
              </a:rPr>
              <a:t>Transport layer security in QUIC is seamless and robust. It employs forward secrecy to ensure that past session data remains secure even if long-term keys are compromised.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itchFamily="2" charset="77"/>
              </a:rPr>
              <a:t>The encryption algorithms used are state-of-the-art, providing strong cryptographic assurances continually updated to counter emerging threats.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itchFamily="2" charset="77"/>
              </a:rPr>
              <a:t>QUIC uses authenticated encryption that ensures the confidentiality and integrity of data.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itchFamily="2" charset="77"/>
              </a:rPr>
              <a:t>HTTP/3 prioritizes security, making it resilient to various attacks, such as man-in-the-middle and replay attacks.</a:t>
            </a:r>
          </a:p>
        </p:txBody>
      </p:sp>
    </p:spTree>
    <p:extLst>
      <p:ext uri="{BB962C8B-B14F-4D97-AF65-F5344CB8AC3E}">
        <p14:creationId xmlns:p14="http://schemas.microsoft.com/office/powerpoint/2010/main" val="369639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B167-0994-D2EE-893D-F5B871BE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540C52D-A280-7C7B-8AAC-1E61534A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Connection Reliability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D941-0012-D6BB-7633-E660F77FA4BF}"/>
              </a:ext>
            </a:extLst>
          </p:cNvPr>
          <p:cNvSpPr txBox="1"/>
          <p:nvPr/>
        </p:nvSpPr>
        <p:spPr>
          <a:xfrm>
            <a:off x="0" y="696240"/>
            <a:ext cx="1219199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Nunito" pitchFamily="2" charset="77"/>
              </a:rPr>
              <a:t>HTTP/3 and QUIC significantly enhance connection reliability by minimizing latency and optimizing packet delivery.</a:t>
            </a:r>
          </a:p>
          <a:p>
            <a:pPr marL="342900" indent="-342900" algn="just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Nunito" pitchFamily="2" charset="77"/>
              </a:rPr>
              <a:t>Connection migration: switching between networks (Wi-Fi </a:t>
            </a:r>
            <a:r>
              <a:rPr lang="en-US" sz="3200" dirty="0">
                <a:solidFill>
                  <a:srgbClr val="000000"/>
                </a:solidFill>
                <a:latin typeface="Nunito" pitchFamily="2" charset="77"/>
              </a:rPr>
              <a:t>-&gt;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Nunito" pitchFamily="2" charset="77"/>
              </a:rPr>
              <a:t>cellular), QUIC maintains active connections without requiring a complete handshake renegotiation.</a:t>
            </a:r>
          </a:p>
          <a:p>
            <a:pPr marL="342900" indent="-342900" algn="just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Nunito" pitchFamily="2" charset="77"/>
              </a:rPr>
              <a:t>QUIC also employs 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Nunito" pitchFamily="2" charset="77"/>
              </a:rPr>
              <a:t>forward error correction (FEC)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Nunito" pitchFamily="2" charset="77"/>
              </a:rPr>
              <a:t> techniques to enhance reliability. FEC allows the receiver to reconstruct lost packets without retransmissions, thus maintaining a smooth data stream.</a:t>
            </a:r>
          </a:p>
        </p:txBody>
      </p:sp>
    </p:spTree>
    <p:extLst>
      <p:ext uri="{BB962C8B-B14F-4D97-AF65-F5344CB8AC3E}">
        <p14:creationId xmlns:p14="http://schemas.microsoft.com/office/powerpoint/2010/main" val="972384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5EE5A-F974-907E-62B1-6EED230D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6D883FF-94EB-6B9A-5FF8-683A44F9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Utilization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F0542-B065-5FB8-6862-97934FA91D82}"/>
              </a:ext>
            </a:extLst>
          </p:cNvPr>
          <p:cNvSpPr txBox="1"/>
          <p:nvPr/>
        </p:nvSpPr>
        <p:spPr>
          <a:xfrm>
            <a:off x="0" y="599987"/>
            <a:ext cx="12191999" cy="622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HTTP/3 and QUIC optimize resource utilization by minimizing redundant data transmissions and enhancing congestion control mechanisms. </a:t>
            </a:r>
          </a:p>
          <a:p>
            <a:pPr marL="342900" indent="-342900" algn="just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These protocols employ multiplexing to handle multiple requests simultaneously over a single connection, avoiding the head-of-line blocking that plagued HTTP/2.</a:t>
            </a:r>
          </a:p>
          <a:p>
            <a:pPr marL="342900" indent="-342900" algn="just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QUIC’s advanced congestion control algorithms dynamically adjust data flow based on real-time network conditions, ensuring optimal throughput without overwhelming the network. </a:t>
            </a:r>
          </a:p>
          <a:p>
            <a:pPr marL="342900" indent="-342900" algn="just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This intelligent management of data packets enhances reliability and speed, particularly in fluctuating network environments.</a:t>
            </a:r>
          </a:p>
          <a:p>
            <a:pPr marL="342900" indent="-342900" algn="just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HTTP/3 uses the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Nunito" pitchFamily="2" charset="77"/>
              </a:rPr>
              <a:t>QPACK compression algorithm</a:t>
            </a:r>
            <a:r>
              <a:rPr lang="en-US" sz="2400" dirty="0">
                <a:solidFill>
                  <a:srgbClr val="000000"/>
                </a:solidFill>
                <a:latin typeface="Nunito" pitchFamily="2" charset="77"/>
              </a:rPr>
              <a:t> =&gt;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significantly reducing the overhead associated with HTTP headers. </a:t>
            </a:r>
          </a:p>
          <a:p>
            <a:pPr marL="585788" algn="just">
              <a:spcBef>
                <a:spcPts val="1500"/>
              </a:spcBef>
            </a:pPr>
            <a:r>
              <a:rPr lang="en-US" sz="2400" dirty="0">
                <a:solidFill>
                  <a:srgbClr val="000000"/>
                </a:solidFill>
                <a:latin typeface="Nunito" pitchFamily="2" charset="77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Nunito" pitchFamily="2" charset="77"/>
              </a:rPr>
              <a:t>ompressing headers more efficiently =&gt; minimizes the amount of data transmitted, conserving bandwidth and decreasing the time required to establish connections.</a:t>
            </a:r>
          </a:p>
        </p:txBody>
      </p:sp>
    </p:spTree>
    <p:extLst>
      <p:ext uri="{BB962C8B-B14F-4D97-AF65-F5344CB8AC3E}">
        <p14:creationId xmlns:p14="http://schemas.microsoft.com/office/powerpoint/2010/main" val="31120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82AE-6D23-253D-25A9-3497BDA4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0F29C78-FA92-FC53-BDE2-71F9EB1B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HTTP/3 </a:t>
            </a:r>
            <a:r>
              <a:rPr lang="en-US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QUIC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34AC1-2EBF-9784-2366-FA6BED00E0F2}"/>
              </a:ext>
            </a:extLst>
          </p:cNvPr>
          <p:cNvSpPr txBox="1"/>
          <p:nvPr/>
        </p:nvSpPr>
        <p:spPr>
          <a:xfrm>
            <a:off x="0" y="684967"/>
            <a:ext cx="121919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1200"/>
              </a:spcBef>
            </a:pPr>
            <a:r>
              <a:rPr lang="en-US" sz="2400" b="1" i="0" dirty="0">
                <a:solidFill>
                  <a:srgbClr val="000000"/>
                </a:solidFill>
                <a:effectLst/>
                <a:latin typeface="Nunito" pitchFamily="2" charset="77"/>
              </a:rPr>
              <a:t>Compatibility With Existing Systems</a:t>
            </a:r>
          </a:p>
          <a:p>
            <a:pPr marL="342900" indent="-342900" algn="l" rtl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Nunito" pitchFamily="2" charset="77"/>
              </a:rPr>
              <a:t>QUIC’s integration into existing network infrastructures may be tricky due to its reliance on UDP rather than the more traditionally used TCP</a:t>
            </a:r>
            <a:endParaRPr lang="en-US" sz="2400" b="1" i="0" dirty="0">
              <a:solidFill>
                <a:srgbClr val="000000"/>
              </a:solidFill>
              <a:effectLst/>
              <a:latin typeface="Nunito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84B75-B523-929D-57D7-FECA06E10D7C}"/>
              </a:ext>
            </a:extLst>
          </p:cNvPr>
          <p:cNvSpPr txBox="1"/>
          <p:nvPr/>
        </p:nvSpPr>
        <p:spPr>
          <a:xfrm>
            <a:off x="-1" y="2208973"/>
            <a:ext cx="121919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LB"/>
            </a:defPPr>
            <a:lvl1pPr>
              <a:spcBef>
                <a:spcPts val="3000"/>
              </a:spcBef>
              <a:defRPr sz="2400" b="1" i="0">
                <a:solidFill>
                  <a:srgbClr val="000000"/>
                </a:solidFill>
                <a:effectLst/>
                <a:latin typeface="Nunito" pitchFamily="2" charset="77"/>
              </a:defRPr>
            </a:lvl1pPr>
          </a:lstStyle>
          <a:p>
            <a:r>
              <a:rPr lang="en-US" dirty="0"/>
              <a:t>Network Congestion Impact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Nunito" pitchFamily="2" charset="77"/>
              </a:rPr>
              <a:t>QUIC’s rapid retransmission strategies aim to minimize latency, yet these same strategies can lead to increased network congestion (e.g. retransmission).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Nunito" pitchFamily="2" charset="77"/>
              </a:rPr>
              <a:t>Eliminating the head-of-line blocking at the transport layer, but its congestion control mechanisms may still introduce inefficiencies (e.g. out of order)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31130-85C3-881D-7BB4-DFFF67873A98}"/>
              </a:ext>
            </a:extLst>
          </p:cNvPr>
          <p:cNvSpPr txBox="1"/>
          <p:nvPr/>
        </p:nvSpPr>
        <p:spPr>
          <a:xfrm>
            <a:off x="0" y="4625531"/>
            <a:ext cx="121920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LB"/>
            </a:defPPr>
            <a:lvl1pPr>
              <a:spcBef>
                <a:spcPts val="3000"/>
              </a:spcBef>
              <a:defRPr sz="2400" b="1" i="0">
                <a:solidFill>
                  <a:srgbClr val="000000"/>
                </a:solidFill>
                <a:effectLst/>
                <a:latin typeface="Nunito" pitchFamily="2" charset="77"/>
              </a:defRPr>
            </a:lvl1pPr>
          </a:lstStyle>
          <a:p>
            <a:r>
              <a:rPr lang="en-US" dirty="0"/>
              <a:t>Performance Under Load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Nunito" pitchFamily="2" charset="77"/>
              </a:rPr>
              <a:t>Can exhibit bottlenecks when establishing numerous simultaneous connections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Nunito" pitchFamily="2" charset="77"/>
              </a:rPr>
              <a:t>Latency reduction, but it also introduces potential packet loss issues, which can degrade performance under network congestion.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88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3922-F495-3435-7208-6CB07598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0A65511-3EAD-FC28-1CCA-2418776D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827"/>
          </a:xfr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HTTP/3 Available </a:t>
            </a:r>
            <a:r>
              <a:rPr lang="en-US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Now?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1A8F5-1C8F-4EB1-0593-9BB200EB06E4}"/>
              </a:ext>
            </a:extLst>
          </p:cNvPr>
          <p:cNvSpPr txBox="1"/>
          <p:nvPr/>
        </p:nvSpPr>
        <p:spPr>
          <a:xfrm>
            <a:off x="0" y="539827"/>
            <a:ext cx="1219199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</a:pPr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77"/>
              </a:rPr>
              <a:t>Web Servers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NGINX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Apache (via mod_http3)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77"/>
              </a:rPr>
              <a:t>LiteSpeed</a:t>
            </a:r>
            <a:endParaRPr lang="en-US" sz="20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Caddy</a:t>
            </a:r>
          </a:p>
          <a:p>
            <a:pPr algn="l">
              <a:spcBef>
                <a:spcPts val="1800"/>
              </a:spcBef>
            </a:pPr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77"/>
              </a:rPr>
              <a:t>Content Delivery Networks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Cloudflare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Akamai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Fastly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Amazon CloudFront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Google Cloud CDN</a:t>
            </a:r>
          </a:p>
          <a:p>
            <a:pPr lvl="1">
              <a:spcBef>
                <a:spcPts val="1500"/>
              </a:spcBef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77"/>
              </a:rPr>
              <a:t>Microsoft Azure CDN</a:t>
            </a:r>
          </a:p>
        </p:txBody>
      </p:sp>
    </p:spTree>
    <p:extLst>
      <p:ext uri="{BB962C8B-B14F-4D97-AF65-F5344CB8AC3E}">
        <p14:creationId xmlns:p14="http://schemas.microsoft.com/office/powerpoint/2010/main" val="140790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1310</Words>
  <Application>Microsoft Macintosh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Nunito</vt:lpstr>
      <vt:lpstr>Segoe UI</vt:lpstr>
      <vt:lpstr>Times New Roman</vt:lpstr>
      <vt:lpstr>Office Theme</vt:lpstr>
      <vt:lpstr>HTTP/3 and QUIC</vt:lpstr>
      <vt:lpstr>Table of Content</vt:lpstr>
      <vt:lpstr>What is HTTP/3</vt:lpstr>
      <vt:lpstr>What is QUIC</vt:lpstr>
      <vt:lpstr>HTTP/3 History</vt:lpstr>
      <vt:lpstr>HTTP/3 – Protocol Stack</vt:lpstr>
      <vt:lpstr>HTTP/3 – How it Works</vt:lpstr>
      <vt:lpstr>HTTP/3 &amp; QUIC– Benefits</vt:lpstr>
      <vt:lpstr>HTTP/3 &amp; QUIC– 0 RTT</vt:lpstr>
      <vt:lpstr>Enhanced Security Features</vt:lpstr>
      <vt:lpstr>Improved Connection Reliability</vt:lpstr>
      <vt:lpstr>Efficient Resource Utilization</vt:lpstr>
      <vt:lpstr>Limitations of HTTP/3 and QUIC</vt:lpstr>
      <vt:lpstr>Is HTTP/3 Available Now?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 Tawil</dc:creator>
  <cp:lastModifiedBy>Rami Tawil</cp:lastModifiedBy>
  <cp:revision>32</cp:revision>
  <dcterms:created xsi:type="dcterms:W3CDTF">2025-12-22T03:34:48Z</dcterms:created>
  <dcterms:modified xsi:type="dcterms:W3CDTF">2025-12-22T09:34:25Z</dcterms:modified>
</cp:coreProperties>
</file>