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0"/>
  </p:notesMasterIdLst>
  <p:sldIdLst>
    <p:sldId id="876" r:id="rId2"/>
    <p:sldId id="1054" r:id="rId3"/>
    <p:sldId id="1056" r:id="rId4"/>
    <p:sldId id="1152" r:id="rId5"/>
    <p:sldId id="1153" r:id="rId6"/>
    <p:sldId id="1154" r:id="rId7"/>
    <p:sldId id="1063" r:id="rId8"/>
    <p:sldId id="1119" r:id="rId9"/>
    <p:sldId id="266" r:id="rId10"/>
    <p:sldId id="1155" r:id="rId11"/>
    <p:sldId id="1156" r:id="rId12"/>
    <p:sldId id="1157" r:id="rId13"/>
    <p:sldId id="1158" r:id="rId14"/>
    <p:sldId id="1159" r:id="rId15"/>
    <p:sldId id="1160" r:id="rId16"/>
    <p:sldId id="1161" r:id="rId17"/>
    <p:sldId id="1163" r:id="rId18"/>
    <p:sldId id="1164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6" autoAdjust="0"/>
    <p:restoredTop sz="93409" autoAdjust="0"/>
  </p:normalViewPr>
  <p:slideViewPr>
    <p:cSldViewPr snapToGrid="0" showGuides="1">
      <p:cViewPr varScale="1">
        <p:scale>
          <a:sx n="108" d="100"/>
          <a:sy n="108" d="100"/>
        </p:scale>
        <p:origin x="192" y="2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10/3/25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12.1 – IPv4 Issues</a:t>
            </a:r>
          </a:p>
          <a:p>
            <a:r>
              <a:rPr lang="en-US" dirty="0"/>
              <a:t>12.1.1 – Need for IPv6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12-IPv6 Addressing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 IPv4 Address Representation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12.2 – IPv6 Address Representation</a:t>
            </a:r>
          </a:p>
          <a:p>
            <a:r>
              <a:rPr lang="en-US" dirty="0"/>
              <a:t>12.2.1 – IPv6 Addressing Formats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59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12.2 – IPv6 Address Representation</a:t>
            </a:r>
          </a:p>
          <a:p>
            <a:r>
              <a:rPr lang="en-US" dirty="0"/>
              <a:t>12.2.2 – Omit Leading Zero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984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12.2 – IPv6 Address Representation</a:t>
            </a:r>
          </a:p>
          <a:p>
            <a:r>
              <a:rPr lang="en-US" dirty="0"/>
              <a:t>12.2.2 – Rule 2 – Double Colon</a:t>
            </a:r>
          </a:p>
          <a:p>
            <a:r>
              <a:rPr lang="en-US" dirty="0"/>
              <a:t>12.2.4 – Activity – IPv6 Address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646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12-IPv6 Addressing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12.2 IPv4 Address Types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12.3 – IPv6 Address Types</a:t>
            </a:r>
          </a:p>
          <a:p>
            <a:r>
              <a:rPr lang="en-US" dirty="0"/>
              <a:t>12.3.1 – Unicast, Multicast, Anycast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8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– IPv6 Addressing</a:t>
            </a:r>
          </a:p>
          <a:p>
            <a:r>
              <a:rPr lang="en-US" dirty="0"/>
              <a:t>12.3 – IPv6 Address Types</a:t>
            </a:r>
          </a:p>
          <a:p>
            <a:r>
              <a:rPr lang="en-US" dirty="0"/>
              <a:t>12.3.2 – IPv6 Prefix Length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0026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48E3-A53F-F54E-A238-3D856A3B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3BD0B-3265-2E6D-B33C-3AA079465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DEEC16-602A-3925-25CD-D935B661E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5AB67-2CBE-E35D-AF01-5FD4B529D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188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72F79-15B0-D4B1-C912-BE654C2D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84F02-A1F4-DF2D-0BBE-3856A6564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DB06-A9AA-5952-47B2-DA2673682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8BB10-E396-7AF1-3F7D-A6354901F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67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8048-EC32-4B2E-8F3F-EB733AF9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771AC-AF46-F186-6E10-7961979AB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00AA9-C58F-20F5-7583-212DEC348D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C69FF-76DF-0F17-9D10-E3079D34A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593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6F41-BCC5-0860-8231-B8CFE85B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0DF36E-9363-9F80-BB4E-AB2C552C3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D0105-D7D1-8399-F3C0-47AF1F941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6F93-704E-7F51-01DA-916EC8250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999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F1432-235D-7D01-D7EC-53A3FD91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2649B-E035-B69B-CD0C-C1A6CA938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D00C1-0B75-7CE7-E5A9-2968F7621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97664-CF0E-5C1E-349D-967E3C52D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906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87C8F-4184-6B98-5552-B17D2FFC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D82EA-AC79-547C-254E-603F1C837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A0A0-2793-7089-6AC4-483335D46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DBEC7-3C0D-C7BE-0437-11B4E161E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835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5A26E-B40B-0AF2-4CA4-BFCCE19C4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23D16A-DFA9-2622-7CAE-FE5F68661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B2F79-2EA8-AA3A-6EB6-54F27BE10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Dual Stack</a:t>
            </a:r>
            <a:r>
              <a:rPr lang="en-US" dirty="0"/>
              <a:t> = Devices run IPv4 + IPv6 together.</a:t>
            </a:r>
          </a:p>
          <a:p>
            <a:r>
              <a:rPr lang="en-US" b="1" dirty="0"/>
              <a:t>Tunnelling</a:t>
            </a:r>
            <a:r>
              <a:rPr lang="en-US" dirty="0"/>
              <a:t> = IPv6 is "hidden" inside IPv4 packets to cross IPv4-only networks.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0B4CE-8FD6-4694-4EB6-80BDBB290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4658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51C6-8261-EA52-4196-FA6B66198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97542-D1B3-85FE-BC4F-52FFD2CB8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0BCA3-51EB-22C0-1189-E41FCAB72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70AEA-07D3-1B36-EB78-962164F8A4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45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rgbClr val="000000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rgbClr val="000000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000000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rgbClr val="000000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rgbClr val="000000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000000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rgbClr val="000000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rgbClr val="000000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rgbClr val="000000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000000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rgbClr val="000000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rgbClr val="000000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rgbClr val="000000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noFill/>
                </a:ln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DCD531-C63E-4061-73B1-528CDAEE58D7}"/>
              </a:ext>
            </a:extLst>
          </p:cNvPr>
          <p:cNvSpPr/>
          <p:nvPr userDrawn="1"/>
        </p:nvSpPr>
        <p:spPr>
          <a:xfrm>
            <a:off x="575610" y="2537196"/>
            <a:ext cx="698624" cy="69862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rgbClr val="000000"/>
              </a:solidFill>
              <a:cs typeface="Arial"/>
            </a:endParaRP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367915A-0832-FE83-5F9D-4AD83F936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5610" y="2539818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noFill/>
                </a:ln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2BAAFB-85B8-6296-A35F-57CB9F82D496}"/>
              </a:ext>
            </a:extLst>
          </p:cNvPr>
          <p:cNvSpPr/>
          <p:nvPr userDrawn="1"/>
        </p:nvSpPr>
        <p:spPr>
          <a:xfrm>
            <a:off x="575610" y="3647849"/>
            <a:ext cx="698624" cy="69862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rgbClr val="000000"/>
              </a:solidFill>
              <a:cs typeface="Arial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31FC95E-9386-4AB2-0D46-189302F148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5610" y="3653092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noFill/>
                </a:ln>
                <a:solidFill>
                  <a:srgbClr val="000000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31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rgbClr val="000000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sz="4800" dirty="0"/>
              <a:t>IPv6 Addressing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72" y="125506"/>
            <a:ext cx="8326546" cy="606331"/>
          </a:xfrm>
        </p:spPr>
        <p:txBody>
          <a:bodyPr/>
          <a:lstStyle/>
          <a:p>
            <a:r>
              <a:rPr lang="en-US" sz="4000" dirty="0"/>
              <a:t>Need for IPv6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324" y="855419"/>
            <a:ext cx="5059023" cy="3779334"/>
          </a:xfrm>
        </p:spPr>
        <p:txBody>
          <a:bodyPr/>
          <a:lstStyle/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IPv4 is running out of addresses. IPv6 is the successor to IPv4. IPv6 has a much larger 128-bit address space.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The development of IPv6 also included fixes for IPv4 limitations and other enhancements.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With an increasing internet population, a limited IPv4 address space, issues with NAT and the IoT, the time has come to begin the transition to IPv6.</a:t>
            </a:r>
          </a:p>
          <a:p>
            <a:pPr marL="342900" indent="-342900" algn="l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1C0E8-9A48-4776-9AE6-431C4EF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994" y="1539887"/>
            <a:ext cx="3478852" cy="206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/>
              <a:t>IPv6 Address Representation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70" y="0"/>
            <a:ext cx="7913517" cy="731837"/>
          </a:xfrm>
        </p:spPr>
        <p:txBody>
          <a:bodyPr/>
          <a:lstStyle/>
          <a:p>
            <a:r>
              <a:rPr lang="en-US" sz="4000" dirty="0"/>
              <a:t>IPv6 Addressing Formats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0" y="900243"/>
            <a:ext cx="7913516" cy="400318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 addresses are 128 bits in length and written in hexadecimal.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 addresses are not case-sensitive and can be written in either lowercase or uppercase.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preferred format for writing an IPv6 address is x:x:x:x:x:x:x:x, with each “x” consisting of four hexadecimal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IPv6 addresses in the preferred format:</a:t>
            </a:r>
          </a:p>
          <a:p>
            <a:pPr marL="647956" lvl="5" indent="0">
              <a:buNone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2001:0db8:0000:1111:0000:0000:0000:0200 </a:t>
            </a:r>
          </a:p>
          <a:p>
            <a:pPr marL="647956" lvl="5" indent="0">
              <a:buNone/>
            </a:pP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2001:0db8:0000:00a3:abcd:0000:0000:1234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65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70" y="0"/>
            <a:ext cx="7913517" cy="731837"/>
          </a:xfrm>
        </p:spPr>
        <p:txBody>
          <a:bodyPr/>
          <a:lstStyle/>
          <a:p>
            <a:r>
              <a:rPr lang="en-US" sz="4000" dirty="0"/>
              <a:t>Rule 1 – Omit Leading Zero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624" y="697339"/>
            <a:ext cx="8480611" cy="2879579"/>
          </a:xfrm>
        </p:spPr>
        <p:txBody>
          <a:bodyPr/>
          <a:lstStyle/>
          <a:p>
            <a:pPr marL="0" indent="0" algn="l"/>
            <a:r>
              <a:rPr lang="en-US" sz="1600" dirty="0"/>
              <a:t>The first rule to help reduce the notation of IPv6 addresses is to omit any leading 0s (zeros).</a:t>
            </a:r>
          </a:p>
          <a:p>
            <a:pPr marL="73085" lvl="1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Examples:</a:t>
            </a:r>
          </a:p>
          <a:p>
            <a:pPr marL="719138" indent="-284163" algn="l">
              <a:buFont typeface="Arial" panose="020B0604020202020204" pitchFamily="34" charset="0"/>
              <a:buChar char="•"/>
            </a:pPr>
            <a:r>
              <a:rPr lang="en-US" sz="1600" dirty="0"/>
              <a:t>01ab can be represented as 1ab</a:t>
            </a:r>
          </a:p>
          <a:p>
            <a:pPr marL="719138" indent="-284163" algn="l">
              <a:buFont typeface="Arial" panose="020B0604020202020204" pitchFamily="34" charset="0"/>
              <a:buChar char="•"/>
            </a:pPr>
            <a:r>
              <a:rPr lang="en-US" sz="1600" dirty="0"/>
              <a:t>09f0 can be represented as 9f0</a:t>
            </a:r>
          </a:p>
          <a:p>
            <a:pPr marL="719138" indent="-284163" algn="l">
              <a:buFont typeface="Arial" panose="020B0604020202020204" pitchFamily="34" charset="0"/>
              <a:buChar char="•"/>
            </a:pPr>
            <a:r>
              <a:rPr lang="en-US" sz="1600" dirty="0"/>
              <a:t>0a00 can be represented as a00</a:t>
            </a:r>
          </a:p>
          <a:p>
            <a:pPr marL="719138" indent="-284163" algn="l">
              <a:buFont typeface="Arial" panose="020B0604020202020204" pitchFamily="34" charset="0"/>
              <a:buChar char="•"/>
            </a:pPr>
            <a:r>
              <a:rPr lang="en-US" sz="1600" dirty="0"/>
              <a:t>00ab can be represented as ab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 algn="l"/>
            <a:r>
              <a:rPr lang="en-US" sz="1600" b="1" dirty="0"/>
              <a:t>Note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/>
              <a:t>This rule only applies to leading 0s, NOT to trailing 0s, otherwise the address would be ambiguous. </a:t>
            </a: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949297"/>
              </p:ext>
            </p:extLst>
          </p:nvPr>
        </p:nvGraphicFramePr>
        <p:xfrm>
          <a:off x="1263451" y="3303746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2001 : </a:t>
                      </a:r>
                      <a:r>
                        <a:rPr lang="en-US" sz="1100" b="1" dirty="0"/>
                        <a:t>0</a:t>
                      </a:r>
                      <a:r>
                        <a:rPr lang="en-US" sz="1100" dirty="0"/>
                        <a:t>db8 : </a:t>
                      </a:r>
                      <a:r>
                        <a:rPr lang="en-US" sz="1100" b="1" dirty="0"/>
                        <a:t>000</a:t>
                      </a:r>
                      <a:r>
                        <a:rPr lang="en-US" sz="1100" dirty="0"/>
                        <a:t>0 : 1111 : </a:t>
                      </a:r>
                      <a:r>
                        <a:rPr lang="en-US" sz="1100" b="1" dirty="0"/>
                        <a:t>000</a:t>
                      </a:r>
                      <a:r>
                        <a:rPr lang="en-US" sz="1100" dirty="0"/>
                        <a:t>0 : </a:t>
                      </a:r>
                      <a:r>
                        <a:rPr lang="en-US" sz="1100" b="1" dirty="0"/>
                        <a:t>000</a:t>
                      </a:r>
                      <a:r>
                        <a:rPr lang="en-US" sz="1100" dirty="0"/>
                        <a:t>0 : </a:t>
                      </a:r>
                      <a:r>
                        <a:rPr lang="en-US" sz="1100" b="1" dirty="0"/>
                        <a:t>000</a:t>
                      </a:r>
                      <a:r>
                        <a:rPr lang="en-US" sz="1100" dirty="0"/>
                        <a:t>0 : </a:t>
                      </a:r>
                      <a:r>
                        <a:rPr lang="en-US" sz="1100" b="1" dirty="0"/>
                        <a:t>0</a:t>
                      </a:r>
                      <a:r>
                        <a:rPr lang="en-US" sz="1100" dirty="0"/>
                        <a:t>200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 leading zeros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2001 : db8 : 0 : 1111 : 0 : 0 : 0 : 200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63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70" y="0"/>
            <a:ext cx="7913517" cy="731837"/>
          </a:xfrm>
        </p:spPr>
        <p:txBody>
          <a:bodyPr/>
          <a:lstStyle/>
          <a:p>
            <a:r>
              <a:rPr lang="en-US" sz="4000" dirty="0"/>
              <a:t>Rule 2 – Double Colon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2855969"/>
          </a:xfrm>
        </p:spPr>
        <p:txBody>
          <a:bodyPr/>
          <a:lstStyle/>
          <a:p>
            <a:pPr marL="0" indent="0" algn="l"/>
            <a:r>
              <a:rPr lang="en-US" dirty="0"/>
              <a:t>A double colon (::) can replace any single, contiguous string of one or more 16-bit hextets consisting of all zeros. </a:t>
            </a:r>
          </a:p>
          <a:p>
            <a:pPr marL="0" indent="0" algn="l"/>
            <a:r>
              <a:rPr lang="en-US" sz="1800" b="1" dirty="0"/>
              <a:t>Example: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2001:db8:cafe:1:0:0:0:1 (leading 0s omitted) could be represented as 2001:db8:cafe:1::1</a:t>
            </a:r>
          </a:p>
          <a:p>
            <a:pPr marL="0" indent="0" algn="l"/>
            <a:endParaRPr lang="en-US" sz="1800" dirty="0"/>
          </a:p>
          <a:p>
            <a:pPr marL="0" indent="0" algn="l"/>
            <a:r>
              <a:rPr lang="en-US" sz="1800" b="1" dirty="0"/>
              <a:t>Note</a:t>
            </a:r>
            <a:r>
              <a:rPr lang="en-US" sz="1800" dirty="0"/>
              <a:t>: </a:t>
            </a:r>
            <a:r>
              <a:rPr lang="en-US" sz="1600" dirty="0"/>
              <a:t>The double colon (::) can only be used once within an address, otherwise there would be more than one possible resulting address.</a:t>
            </a:r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8D418206-3EDF-4754-9AFB-FFEB638592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6948008"/>
              </p:ext>
            </p:extLst>
          </p:nvPr>
        </p:nvGraphicFramePr>
        <p:xfrm>
          <a:off x="1263451" y="3899461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653970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Format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Preferred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2001 : </a:t>
                      </a:r>
                      <a:r>
                        <a:rPr lang="en-US" sz="1100" b="1" dirty="0"/>
                        <a:t>0</a:t>
                      </a:r>
                      <a:r>
                        <a:rPr lang="en-US" sz="1100" dirty="0"/>
                        <a:t>db8 : </a:t>
                      </a:r>
                      <a:r>
                        <a:rPr lang="en-US" sz="1100" b="1" dirty="0"/>
                        <a:t>000</a:t>
                      </a:r>
                      <a:r>
                        <a:rPr lang="en-US" sz="1100" dirty="0"/>
                        <a:t>0 : 1111 : </a:t>
                      </a:r>
                      <a:r>
                        <a:rPr lang="en-US" sz="1100" b="1" dirty="0"/>
                        <a:t>0000</a:t>
                      </a:r>
                      <a:r>
                        <a:rPr lang="en-US" sz="1100" dirty="0"/>
                        <a:t> : </a:t>
                      </a:r>
                      <a:r>
                        <a:rPr lang="en-US" sz="1100" b="1" dirty="0"/>
                        <a:t>0000</a:t>
                      </a:r>
                      <a:r>
                        <a:rPr lang="en-US" sz="1100" dirty="0"/>
                        <a:t> : </a:t>
                      </a:r>
                      <a:r>
                        <a:rPr lang="en-US" sz="1100" b="1" dirty="0"/>
                        <a:t>0000</a:t>
                      </a:r>
                      <a:r>
                        <a:rPr lang="en-US" sz="1100" dirty="0"/>
                        <a:t> : </a:t>
                      </a:r>
                      <a:r>
                        <a:rPr lang="en-US" sz="1100" b="1" dirty="0"/>
                        <a:t>0</a:t>
                      </a:r>
                      <a:r>
                        <a:rPr lang="en-US" sz="1100" dirty="0"/>
                        <a:t>200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2001:db8:0:1111::200</a:t>
                      </a:r>
                      <a:endParaRPr lang="en-US"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5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/>
              <a:t>IPv6 Address Types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161365"/>
            <a:ext cx="7913688" cy="633226"/>
          </a:xfrm>
        </p:spPr>
        <p:txBody>
          <a:bodyPr/>
          <a:lstStyle/>
          <a:p>
            <a:r>
              <a:rPr lang="en-US" sz="4000" dirty="0"/>
              <a:t>Unicast, Multicast, Anycast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581774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/>
              <a:t>There are three broad categories of IPv6 addresses: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Unicast</a:t>
            </a:r>
            <a:r>
              <a:rPr lang="en-US" sz="1800" dirty="0"/>
              <a:t> – Unicast uniquely identifies an interface on an IPv6-enabled device.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Multicast</a:t>
            </a:r>
            <a:r>
              <a:rPr lang="en-US" sz="1800" dirty="0"/>
              <a:t> – Multicast is used to send a single IPv6 packet to multiple destinations.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1" dirty="0"/>
              <a:t>Anycast</a:t>
            </a:r>
            <a:r>
              <a:rPr lang="en-US" sz="1800" dirty="0"/>
              <a:t> – This is any IPv6 unicast address that can be assigned to multiple devices. A packet sent to an anycast address is routed to the nearest device having that address.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0" indent="0" algn="l"/>
            <a:r>
              <a:rPr lang="en-US" sz="1800" b="1" dirty="0"/>
              <a:t>Note</a:t>
            </a:r>
            <a:r>
              <a:rPr lang="en-US" sz="1800" dirty="0"/>
              <a:t>: Unlike IPv4, IPv6 does not have a broadcast address. However, there is an IPv6 all-nodes multicast address that essentially gives the same result.</a:t>
            </a:r>
          </a:p>
        </p:txBody>
      </p:sp>
    </p:spTree>
    <p:extLst>
      <p:ext uri="{BB962C8B-B14F-4D97-AF65-F5344CB8AC3E}">
        <p14:creationId xmlns:p14="http://schemas.microsoft.com/office/powerpoint/2010/main" val="156796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0E12C72D-854A-4225-9348-67BCCC889C6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352550" y="273844"/>
            <a:ext cx="6391275" cy="4119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IPv6 Address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84A8A9-1F10-41FD-A9E6-FB46577A2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140693"/>
              </p:ext>
            </p:extLst>
          </p:nvPr>
        </p:nvGraphicFramePr>
        <p:xfrm>
          <a:off x="833718" y="781050"/>
          <a:ext cx="7628964" cy="4194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71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Address Type</a:t>
                      </a: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Topology</a:t>
                      </a:r>
                    </a:p>
                  </a:txBody>
                  <a:tcPr marL="68580" marR="68580" marT="34288" marB="3428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549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effectLst/>
                        </a:rPr>
                        <a:t>Unicast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None/>
                        <a:defRPr/>
                      </a:pP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GB" sz="11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to One</a:t>
                      </a: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address destined for a single interface.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packet sent to a unicast address is delivered to the interface identified by that address.</a:t>
                      </a: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5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/>
                        <a:t>Multicast</a:t>
                      </a:r>
                      <a:endParaRPr lang="en-US" sz="1400" dirty="0"/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pPr marL="177800" marR="0" indent="-177800" algn="l" defTabSz="814388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GB" sz="11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to Many</a:t>
                      </a: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address for a set of interfaces (typically belonging to different nodes).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packet sent to a multicast address will be delivered to all interfaces identified by that address.</a:t>
                      </a: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2549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400" dirty="0"/>
                        <a:t>Anycast</a:t>
                      </a:r>
                      <a:endParaRPr lang="en-US" sz="1400" dirty="0"/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pPr marL="177800" marR="0" indent="-177800" algn="l" defTabSz="814388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GB" sz="1100" b="1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 to Nearest</a:t>
                      </a:r>
                      <a:r>
                        <a:rPr lang="en-GB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 </a:t>
                      </a: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(Allocated from Unicast)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address for a set of interfaces.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most cases these interfaces belong to different nodes. </a:t>
                      </a:r>
                    </a:p>
                    <a:p>
                      <a:pPr marL="177800" indent="-177800" algn="l" defTabSz="814388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buFontTx/>
                        <a:buChar char="•"/>
                        <a:defRPr/>
                      </a:pP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packet sent to an anycast address is delivered to the closest interface</a:t>
                      </a:r>
                      <a:r>
                        <a:rPr lang="en-US" sz="11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as determined by the IGP.</a:t>
                      </a:r>
                      <a:endParaRPr lang="en-US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88" marB="34288"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88" marB="3428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37" name="Group 4">
            <a:extLst>
              <a:ext uri="{FF2B5EF4-FFF2-40B4-BE49-F238E27FC236}">
                <a16:creationId xmlns:a16="http://schemas.microsoft.com/office/drawing/2014/main" id="{5D9C357D-EACC-4758-A496-7FB73EFAED92}"/>
              </a:ext>
            </a:extLst>
          </p:cNvPr>
          <p:cNvGrpSpPr>
            <a:grpSpLocks/>
          </p:cNvGrpSpPr>
          <p:nvPr/>
        </p:nvGrpSpPr>
        <p:grpSpPr bwMode="auto">
          <a:xfrm>
            <a:off x="6973843" y="1574006"/>
            <a:ext cx="1047750" cy="315516"/>
            <a:chOff x="3728" y="1026"/>
            <a:chExt cx="1028" cy="321"/>
          </a:xfrm>
        </p:grpSpPr>
        <p:sp>
          <p:nvSpPr>
            <p:cNvPr id="13356" name="Line 5">
              <a:extLst>
                <a:ext uri="{FF2B5EF4-FFF2-40B4-BE49-F238E27FC236}">
                  <a16:creationId xmlns:a16="http://schemas.microsoft.com/office/drawing/2014/main" id="{8BE084BB-922F-44A2-A2D4-094D0F4F5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1" y="1162"/>
              <a:ext cx="4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7" name="computr2">
              <a:extLst>
                <a:ext uri="{FF2B5EF4-FFF2-40B4-BE49-F238E27FC236}">
                  <a16:creationId xmlns:a16="http://schemas.microsoft.com/office/drawing/2014/main" id="{549D6928-202A-433F-8909-1751860D05C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728" y="1026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computr2">
              <a:extLst>
                <a:ext uri="{FF2B5EF4-FFF2-40B4-BE49-F238E27FC236}">
                  <a16:creationId xmlns:a16="http://schemas.microsoft.com/office/drawing/2014/main" id="{256A6410-5471-4816-808B-8683AD8557E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438" y="1026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8" name="Group 8">
            <a:extLst>
              <a:ext uri="{FF2B5EF4-FFF2-40B4-BE49-F238E27FC236}">
                <a16:creationId xmlns:a16="http://schemas.microsoft.com/office/drawing/2014/main" id="{9D75DAA0-DD54-4A88-951F-D1334A3875A2}"/>
              </a:ext>
            </a:extLst>
          </p:cNvPr>
          <p:cNvGrpSpPr>
            <a:grpSpLocks/>
          </p:cNvGrpSpPr>
          <p:nvPr/>
        </p:nvGrpSpPr>
        <p:grpSpPr bwMode="auto">
          <a:xfrm>
            <a:off x="6861924" y="3857206"/>
            <a:ext cx="1190625" cy="971550"/>
            <a:chOff x="3750" y="1616"/>
            <a:chExt cx="1359" cy="990"/>
          </a:xfrm>
        </p:grpSpPr>
        <p:sp>
          <p:nvSpPr>
            <p:cNvPr id="13348" name="Line 9">
              <a:extLst>
                <a:ext uri="{FF2B5EF4-FFF2-40B4-BE49-F238E27FC236}">
                  <a16:creationId xmlns:a16="http://schemas.microsoft.com/office/drawing/2014/main" id="{7E9807C7-1996-4FA6-B1DA-148AB72BD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2115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9" name="Line 10">
              <a:extLst>
                <a:ext uri="{FF2B5EF4-FFF2-40B4-BE49-F238E27FC236}">
                  <a16:creationId xmlns:a16="http://schemas.microsoft.com/office/drawing/2014/main" id="{924B24B2-AB32-497A-9A42-118EB1B80E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706"/>
              <a:ext cx="544" cy="4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0" name="Line 11">
              <a:extLst>
                <a:ext uri="{FF2B5EF4-FFF2-40B4-BE49-F238E27FC236}">
                  <a16:creationId xmlns:a16="http://schemas.microsoft.com/office/drawing/2014/main" id="{19419A2E-FEA4-40EC-AFA2-3AEF9044E1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647623" flipV="1">
              <a:off x="4420" y="2033"/>
              <a:ext cx="272" cy="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1" name="Line 12">
              <a:extLst>
                <a:ext uri="{FF2B5EF4-FFF2-40B4-BE49-F238E27FC236}">
                  <a16:creationId xmlns:a16="http://schemas.microsoft.com/office/drawing/2014/main" id="{4823B766-A38B-4043-A1B5-18D5C22B9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2115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52" name="computr2">
              <a:extLst>
                <a:ext uri="{FF2B5EF4-FFF2-40B4-BE49-F238E27FC236}">
                  <a16:creationId xmlns:a16="http://schemas.microsoft.com/office/drawing/2014/main" id="{259CF94E-2324-4DDA-B5CA-4977452C8BF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750" y="1979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computr2">
              <a:extLst>
                <a:ext uri="{FF2B5EF4-FFF2-40B4-BE49-F238E27FC236}">
                  <a16:creationId xmlns:a16="http://schemas.microsoft.com/office/drawing/2014/main" id="{87C1166B-0C3D-4B8F-B23A-22FACAC4865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91" y="1616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computr2">
              <a:extLst>
                <a:ext uri="{FF2B5EF4-FFF2-40B4-BE49-F238E27FC236}">
                  <a16:creationId xmlns:a16="http://schemas.microsoft.com/office/drawing/2014/main" id="{6CDABC41-76F3-4142-9C53-46E693FA513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497" y="1949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computr2">
              <a:extLst>
                <a:ext uri="{FF2B5EF4-FFF2-40B4-BE49-F238E27FC236}">
                  <a16:creationId xmlns:a16="http://schemas.microsoft.com/office/drawing/2014/main" id="{2B99EE0C-83A1-4421-9472-733F61F6E50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784" y="2285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9" name="Group 17">
            <a:extLst>
              <a:ext uri="{FF2B5EF4-FFF2-40B4-BE49-F238E27FC236}">
                <a16:creationId xmlns:a16="http://schemas.microsoft.com/office/drawing/2014/main" id="{A5E99639-CDB1-4375-960A-36B10C4761E1}"/>
              </a:ext>
            </a:extLst>
          </p:cNvPr>
          <p:cNvGrpSpPr>
            <a:grpSpLocks/>
          </p:cNvGrpSpPr>
          <p:nvPr/>
        </p:nvGrpSpPr>
        <p:grpSpPr bwMode="auto">
          <a:xfrm>
            <a:off x="7019086" y="2664620"/>
            <a:ext cx="985838" cy="847725"/>
            <a:chOff x="3779" y="2956"/>
            <a:chExt cx="1060" cy="990"/>
          </a:xfrm>
        </p:grpSpPr>
        <p:sp>
          <p:nvSpPr>
            <p:cNvPr id="13340" name="Line 18">
              <a:extLst>
                <a:ext uri="{FF2B5EF4-FFF2-40B4-BE49-F238E27FC236}">
                  <a16:creationId xmlns:a16="http://schemas.microsoft.com/office/drawing/2014/main" id="{65D2CF27-B3E4-47A1-A2DE-6D90ED058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476"/>
              <a:ext cx="2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1" name="Line 19">
              <a:extLst>
                <a:ext uri="{FF2B5EF4-FFF2-40B4-BE49-F238E27FC236}">
                  <a16:creationId xmlns:a16="http://schemas.microsoft.com/office/drawing/2014/main" id="{215B2115-A956-4711-87AF-705B6A880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3204"/>
              <a:ext cx="227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2" name="Line 20">
              <a:extLst>
                <a:ext uri="{FF2B5EF4-FFF2-40B4-BE49-F238E27FC236}">
                  <a16:creationId xmlns:a16="http://schemas.microsoft.com/office/drawing/2014/main" id="{80481CF1-9C21-4F14-93D6-DE4DCBA10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3476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3" name="Line 21">
              <a:extLst>
                <a:ext uri="{FF2B5EF4-FFF2-40B4-BE49-F238E27FC236}">
                  <a16:creationId xmlns:a16="http://schemas.microsoft.com/office/drawing/2014/main" id="{B6CE4CE1-3DF7-43CD-9A5E-9756A67769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675228" flipV="1">
              <a:off x="4308" y="3453"/>
              <a:ext cx="227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344" name="computr2">
              <a:extLst>
                <a:ext uri="{FF2B5EF4-FFF2-40B4-BE49-F238E27FC236}">
                  <a16:creationId xmlns:a16="http://schemas.microsoft.com/office/drawing/2014/main" id="{60B4637E-FDDB-4022-8CD3-CC40C0F77B5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513" y="2956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computr2">
              <a:extLst>
                <a:ext uri="{FF2B5EF4-FFF2-40B4-BE49-F238E27FC236}">
                  <a16:creationId xmlns:a16="http://schemas.microsoft.com/office/drawing/2014/main" id="{03CCAA89-BACB-423E-90F1-B6693C1D430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513" y="3289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computr2">
              <a:extLst>
                <a:ext uri="{FF2B5EF4-FFF2-40B4-BE49-F238E27FC236}">
                  <a16:creationId xmlns:a16="http://schemas.microsoft.com/office/drawing/2014/main" id="{D430451F-FD68-40C0-9156-4D6D63252FA3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4521" y="3625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computr2">
              <a:extLst>
                <a:ext uri="{FF2B5EF4-FFF2-40B4-BE49-F238E27FC236}">
                  <a16:creationId xmlns:a16="http://schemas.microsoft.com/office/drawing/2014/main" id="{C85BEDC4-9159-4E4E-8969-60C2E3C5C47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3779" y="3334"/>
              <a:ext cx="318" cy="3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6181 w 21600"/>
                <a:gd name="T31" fmla="*/ 1884 h 21600"/>
                <a:gd name="T32" fmla="*/ 15555 w 21600"/>
                <a:gd name="T33" fmla="*/ 975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21022" y="20295"/>
                  </a:moveTo>
                  <a:lnTo>
                    <a:pt x="18828" y="18396"/>
                  </a:lnTo>
                  <a:lnTo>
                    <a:pt x="18828" y="13174"/>
                  </a:lnTo>
                  <a:lnTo>
                    <a:pt x="15478" y="13174"/>
                  </a:lnTo>
                  <a:lnTo>
                    <a:pt x="15478" y="11631"/>
                  </a:lnTo>
                  <a:lnTo>
                    <a:pt x="17326" y="11631"/>
                  </a:lnTo>
                  <a:lnTo>
                    <a:pt x="17326" y="11156"/>
                  </a:lnTo>
                  <a:lnTo>
                    <a:pt x="17326" y="0"/>
                  </a:lnTo>
                  <a:lnTo>
                    <a:pt x="10858" y="0"/>
                  </a:lnTo>
                  <a:lnTo>
                    <a:pt x="4274" y="0"/>
                  </a:lnTo>
                  <a:lnTo>
                    <a:pt x="4274" y="11037"/>
                  </a:lnTo>
                  <a:lnTo>
                    <a:pt x="4274" y="11631"/>
                  </a:lnTo>
                  <a:lnTo>
                    <a:pt x="6122" y="11631"/>
                  </a:lnTo>
                  <a:lnTo>
                    <a:pt x="6122" y="13174"/>
                  </a:lnTo>
                  <a:lnTo>
                    <a:pt x="2772" y="13174"/>
                  </a:lnTo>
                  <a:lnTo>
                    <a:pt x="2772" y="18514"/>
                  </a:lnTo>
                  <a:lnTo>
                    <a:pt x="693" y="20295"/>
                  </a:lnTo>
                  <a:lnTo>
                    <a:pt x="462" y="20413"/>
                  </a:lnTo>
                  <a:lnTo>
                    <a:pt x="231" y="20651"/>
                  </a:lnTo>
                  <a:lnTo>
                    <a:pt x="116" y="20888"/>
                  </a:lnTo>
                  <a:lnTo>
                    <a:pt x="0" y="21125"/>
                  </a:lnTo>
                  <a:lnTo>
                    <a:pt x="0" y="21244"/>
                  </a:lnTo>
                  <a:lnTo>
                    <a:pt x="116" y="21363"/>
                  </a:lnTo>
                  <a:lnTo>
                    <a:pt x="116" y="21481"/>
                  </a:lnTo>
                  <a:lnTo>
                    <a:pt x="231" y="21481"/>
                  </a:lnTo>
                  <a:lnTo>
                    <a:pt x="347" y="21600"/>
                  </a:lnTo>
                  <a:lnTo>
                    <a:pt x="578" y="21600"/>
                  </a:lnTo>
                  <a:lnTo>
                    <a:pt x="693" y="21600"/>
                  </a:lnTo>
                  <a:lnTo>
                    <a:pt x="10858" y="21600"/>
                  </a:lnTo>
                  <a:lnTo>
                    <a:pt x="20907" y="21600"/>
                  </a:lnTo>
                  <a:lnTo>
                    <a:pt x="21138" y="21600"/>
                  </a:lnTo>
                  <a:lnTo>
                    <a:pt x="21253" y="21600"/>
                  </a:lnTo>
                  <a:lnTo>
                    <a:pt x="21369" y="21481"/>
                  </a:lnTo>
                  <a:lnTo>
                    <a:pt x="21484" y="21481"/>
                  </a:lnTo>
                  <a:lnTo>
                    <a:pt x="21600" y="21363"/>
                  </a:lnTo>
                  <a:lnTo>
                    <a:pt x="21600" y="21244"/>
                  </a:lnTo>
                  <a:lnTo>
                    <a:pt x="21600" y="21125"/>
                  </a:lnTo>
                  <a:lnTo>
                    <a:pt x="21484" y="20888"/>
                  </a:lnTo>
                  <a:lnTo>
                    <a:pt x="21369" y="20651"/>
                  </a:lnTo>
                  <a:lnTo>
                    <a:pt x="21253" y="20413"/>
                  </a:lnTo>
                  <a:lnTo>
                    <a:pt x="21022" y="20295"/>
                  </a:lnTo>
                  <a:close/>
                </a:path>
                <a:path w="21600" h="21600" extrusionOk="0">
                  <a:moveTo>
                    <a:pt x="18019" y="18514"/>
                  </a:moveTo>
                  <a:lnTo>
                    <a:pt x="17326" y="17921"/>
                  </a:lnTo>
                  <a:lnTo>
                    <a:pt x="4389" y="17921"/>
                  </a:lnTo>
                  <a:lnTo>
                    <a:pt x="3696" y="18514"/>
                  </a:lnTo>
                  <a:lnTo>
                    <a:pt x="18019" y="18514"/>
                  </a:lnTo>
                  <a:close/>
                </a:path>
                <a:path w="21600" h="21600" extrusionOk="0">
                  <a:moveTo>
                    <a:pt x="19174" y="19701"/>
                  </a:moveTo>
                  <a:lnTo>
                    <a:pt x="18481" y="19108"/>
                  </a:lnTo>
                  <a:lnTo>
                    <a:pt x="3119" y="19108"/>
                  </a:lnTo>
                  <a:lnTo>
                    <a:pt x="2426" y="19701"/>
                  </a:lnTo>
                  <a:lnTo>
                    <a:pt x="19174" y="19701"/>
                  </a:lnTo>
                  <a:close/>
                </a:path>
                <a:path w="21600" h="21600" extrusionOk="0">
                  <a:moveTo>
                    <a:pt x="20560" y="20769"/>
                  </a:moveTo>
                  <a:lnTo>
                    <a:pt x="19867" y="20176"/>
                  </a:lnTo>
                  <a:lnTo>
                    <a:pt x="1848" y="20176"/>
                  </a:lnTo>
                  <a:lnTo>
                    <a:pt x="1155" y="20769"/>
                  </a:lnTo>
                  <a:lnTo>
                    <a:pt x="20560" y="20769"/>
                  </a:lnTo>
                  <a:close/>
                </a:path>
                <a:path w="21600" h="21600" extrusionOk="0">
                  <a:moveTo>
                    <a:pt x="18828" y="18396"/>
                  </a:moveTo>
                  <a:lnTo>
                    <a:pt x="17442" y="17209"/>
                  </a:lnTo>
                  <a:lnTo>
                    <a:pt x="4158" y="17209"/>
                  </a:lnTo>
                  <a:lnTo>
                    <a:pt x="2772" y="18514"/>
                  </a:lnTo>
                  <a:moveTo>
                    <a:pt x="13168" y="14123"/>
                  </a:moveTo>
                  <a:lnTo>
                    <a:pt x="13168" y="14716"/>
                  </a:lnTo>
                  <a:lnTo>
                    <a:pt x="17788" y="14716"/>
                  </a:lnTo>
                  <a:lnTo>
                    <a:pt x="17788" y="14123"/>
                  </a:lnTo>
                  <a:lnTo>
                    <a:pt x="13168" y="14123"/>
                  </a:lnTo>
                  <a:close/>
                </a:path>
                <a:path w="21600" h="21600" extrusionOk="0">
                  <a:moveTo>
                    <a:pt x="6122" y="1899"/>
                  </a:moveTo>
                  <a:lnTo>
                    <a:pt x="6122" y="9732"/>
                  </a:lnTo>
                  <a:lnTo>
                    <a:pt x="15478" y="9732"/>
                  </a:lnTo>
                  <a:lnTo>
                    <a:pt x="15478" y="1899"/>
                  </a:lnTo>
                  <a:lnTo>
                    <a:pt x="6122" y="1899"/>
                  </a:lnTo>
                  <a:moveTo>
                    <a:pt x="6122" y="11631"/>
                  </a:moveTo>
                  <a:lnTo>
                    <a:pt x="15478" y="11631"/>
                  </a:lnTo>
                  <a:lnTo>
                    <a:pt x="15478" y="13174"/>
                  </a:lnTo>
                  <a:lnTo>
                    <a:pt x="6122" y="13174"/>
                  </a:lnTo>
                  <a:lnTo>
                    <a:pt x="6122" y="11631"/>
                  </a:lnTo>
                  <a:close/>
                </a:path>
              </a:pathLst>
            </a:cu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Prefix Length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66430"/>
            <a:ext cx="8280400" cy="2254676"/>
          </a:xfrm>
        </p:spPr>
        <p:txBody>
          <a:bodyPr/>
          <a:lstStyle/>
          <a:p>
            <a:pPr marL="0" indent="0" algn="just" defTabSz="684213" fontAlgn="base"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2400" dirty="0"/>
              <a:t>Prefix length is represented in slash notation and is used to indicate the network portion of an IPv6 address.</a:t>
            </a:r>
          </a:p>
          <a:p>
            <a:pPr marL="0" indent="0" algn="just" defTabSz="684213" fontAlgn="base"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2400" dirty="0"/>
              <a:t>The IPv6 prefix length can range from 0 to 128. The recommended IPv6 prefix length for LANs and most other types of networks is /64.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711CFE-EFE8-4AEF-8D4D-DB7AA12D8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179" y="3134054"/>
            <a:ext cx="4469641" cy="172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9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F539-3057-FDE0-6F7F-F6E3C88D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631147-D58A-4223-12D0-F252E2529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Feature Summary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4DC0AAA-3378-F500-C892-AB38060BC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66429"/>
            <a:ext cx="8280400" cy="4271735"/>
          </a:xfrm>
        </p:spPr>
        <p:txBody>
          <a:bodyPr/>
          <a:lstStyle/>
          <a:p>
            <a:pPr marL="3683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size of address space</a:t>
            </a:r>
          </a:p>
          <a:p>
            <a:pPr marL="3683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simplification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Autoconfiguration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 (RFC 2462) or stateful (DHCPv6)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Facilitates renumbering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QoS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services (int-serv), Differentiated services (diff-serv and RFC2998)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RFC 3697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IPSec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for IPv4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L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techniques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stack</a:t>
            </a:r>
          </a:p>
          <a:p>
            <a:pPr marL="496888" lvl="1" indent="-212725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en-LB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Tunnelling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24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3516-2B92-6305-6FBB-D733B5296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40D81F-A1B2-46B7-1FAA-E52F31B1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header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E0CED7E-B367-3573-364F-BAB11482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766429"/>
            <a:ext cx="8280400" cy="4271735"/>
          </a:xfrm>
        </p:spPr>
        <p:txBody>
          <a:bodyPr/>
          <a:lstStyle/>
          <a:p>
            <a:pPr marL="342900" indent="-342900" algn="l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IPv6 header is simpler than IPv4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IPv4: 14 fields, variable length (20 bytes +)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IPv6:   8 fields, fixed length (40 bytes)</a:t>
            </a:r>
          </a:p>
          <a:p>
            <a:pPr marL="342900" indent="-342900" algn="l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Header fields eliminated in IPv6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Header Length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Identification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Flag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Fragmentation Offset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Checksum</a:t>
            </a:r>
          </a:p>
          <a:p>
            <a:pPr marL="342900" indent="-342900" algn="l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Header fields enhanced in IPv6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Traffic Class</a:t>
            </a:r>
          </a:p>
          <a:p>
            <a:pPr marL="625475" lvl="1" indent="-207963">
              <a:lnSpc>
                <a:spcPct val="90000"/>
              </a:lnSpc>
              <a:buClr>
                <a:srgbClr val="000000"/>
              </a:buClr>
              <a:buFont typeface="Courier New" panose="02070309020205020404" pitchFamily="49" charset="0"/>
              <a:buChar char="o"/>
            </a:pPr>
            <a:r>
              <a:rPr lang="en-US" altLang="ja-JP" sz="2000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Flow Label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047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7A4BB-1EE6-0D07-D27C-8F16D5D5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07423C-54D3-3076-B87A-B636A3556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vs IPv4 header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B204C4-6B09-BFA2-D57E-4F999ADC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6061"/>
            <a:ext cx="7772400" cy="21476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5AF80D-ADD3-0DFF-3660-FC16582E3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150" y="3388570"/>
            <a:ext cx="24257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26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6115C-157A-294E-90DA-10B7D262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F5F6D2-FAD6-794A-12C3-5EBE4BBB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vs IPv4 header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434BAC-43CE-056D-088C-FA5D11DB2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751" y="1353712"/>
            <a:ext cx="5488497" cy="2203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5FFB9C-08CE-30AA-0B88-FED59DE650DA}"/>
              </a:ext>
            </a:extLst>
          </p:cNvPr>
          <p:cNvSpPr txBox="1"/>
          <p:nvPr/>
        </p:nvSpPr>
        <p:spPr>
          <a:xfrm>
            <a:off x="355182" y="3557241"/>
            <a:ext cx="83022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 </a:t>
            </a:r>
            <a:r>
              <a:rPr lang="en-US" b="1" dirty="0">
                <a:solidFill>
                  <a:srgbClr val="000000"/>
                </a:solidFill>
              </a:rPr>
              <a:t>Traffic Class field</a:t>
            </a:r>
            <a:r>
              <a:rPr lang="en-US" dirty="0">
                <a:solidFill>
                  <a:srgbClr val="000000"/>
                </a:solidFill>
              </a:rPr>
              <a:t> is an </a:t>
            </a:r>
            <a:r>
              <a:rPr lang="en-US" b="1" dirty="0">
                <a:solidFill>
                  <a:srgbClr val="000000"/>
                </a:solidFill>
              </a:rPr>
              <a:t>8-bit field</a:t>
            </a:r>
            <a:r>
              <a:rPr lang="en-US" dirty="0">
                <a:solidFill>
                  <a:srgbClr val="000000"/>
                </a:solidFill>
              </a:rPr>
              <a:t> in the IPv6 header.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Similar to the </a:t>
            </a:r>
            <a:r>
              <a:rPr lang="en-US" b="1" dirty="0">
                <a:solidFill>
                  <a:srgbClr val="000000"/>
                </a:solidFill>
              </a:rPr>
              <a:t>Type of Service (</a:t>
            </a:r>
            <a:r>
              <a:rPr lang="en-US" b="1" dirty="0" err="1">
                <a:solidFill>
                  <a:srgbClr val="000000"/>
                </a:solidFill>
              </a:rPr>
              <a:t>ToS</a:t>
            </a:r>
            <a:r>
              <a:rPr lang="en-US" b="1" dirty="0">
                <a:solidFill>
                  <a:srgbClr val="000000"/>
                </a:solidFill>
              </a:rPr>
              <a:t>)</a:t>
            </a:r>
            <a:r>
              <a:rPr lang="en-US" dirty="0">
                <a:solidFill>
                  <a:srgbClr val="000000"/>
                </a:solidFill>
              </a:rPr>
              <a:t> field in IPv4.</a:t>
            </a:r>
          </a:p>
          <a:p>
            <a:pPr marL="285750" indent="-285750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Allows to </a:t>
            </a:r>
            <a:r>
              <a:rPr lang="en-US" b="1" dirty="0">
                <a:solidFill>
                  <a:srgbClr val="000000"/>
                </a:solidFill>
              </a:rPr>
              <a:t>classify and prioritize packets</a:t>
            </a:r>
            <a:r>
              <a:rPr lang="en-US" dirty="0">
                <a:solidFill>
                  <a:srgbClr val="000000"/>
                </a:solidFill>
              </a:rPr>
              <a:t> (e.g., voice, video, file transfer).</a:t>
            </a:r>
          </a:p>
        </p:txBody>
      </p:sp>
    </p:spTree>
    <p:extLst>
      <p:ext uri="{BB962C8B-B14F-4D97-AF65-F5344CB8AC3E}">
        <p14:creationId xmlns:p14="http://schemas.microsoft.com/office/powerpoint/2010/main" val="2974415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4B26-D6FC-F65B-2D4F-351B4FC1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CA0A40-DD9A-ACA9-2DA5-D7727BEB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Traffic Class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F6703D-CC57-EFD8-FE4B-DDA6CF65D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8" y="530502"/>
            <a:ext cx="3004307" cy="12733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EDBC4B-9FFE-7275-3021-E5B3F0B99E7B}"/>
              </a:ext>
            </a:extLst>
          </p:cNvPr>
          <p:cNvSpPr txBox="1"/>
          <p:nvPr/>
        </p:nvSpPr>
        <p:spPr>
          <a:xfrm>
            <a:off x="355182" y="753928"/>
            <a:ext cx="563455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How it works?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Traffic Class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field is divided into two parts (defined by Differentiated Services – </a:t>
            </a:r>
            <a:r>
              <a:rPr lang="en-US" sz="2000" b="1" i="0" u="none" strike="noStrike" dirty="0" err="1">
                <a:solidFill>
                  <a:srgbClr val="000000"/>
                </a:solidFill>
                <a:effectLst/>
              </a:rPr>
              <a:t>DiffServ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):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8B696-BC56-629B-D41A-6DB93C23B286}"/>
              </a:ext>
            </a:extLst>
          </p:cNvPr>
          <p:cNvSpPr txBox="1"/>
          <p:nvPr/>
        </p:nvSpPr>
        <p:spPr>
          <a:xfrm>
            <a:off x="355182" y="2097864"/>
            <a:ext cx="863886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92125" lvl="1" indent="-276225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Differentiated Services Code Point (DSCP, 6 bits):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Defines packet priority/quality of service (QoS).</a:t>
            </a:r>
          </a:p>
          <a:p>
            <a:pPr marL="492125" lvl="1" indent="-276225" algn="l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Explicit Congestion Notification (ECN, 2 bits):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Used for congestion control.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So,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Traffic Class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=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DSCP (6 bits) + ECN (2 bits).</a:t>
            </a: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3887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007A2-F7A2-1DEB-E0D2-A7FFFB82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6485C9-0F8C-E9C8-0EDF-ED3A1C0BD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Traffic Class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6B0A3F-CFB8-E6B8-2466-C88F48B51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8" y="530502"/>
            <a:ext cx="3004307" cy="14075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A59E51-6E06-ADF0-9E3D-E36603F84E9A}"/>
              </a:ext>
            </a:extLst>
          </p:cNvPr>
          <p:cNvSpPr txBox="1"/>
          <p:nvPr/>
        </p:nvSpPr>
        <p:spPr>
          <a:xfrm>
            <a:off x="355182" y="735417"/>
            <a:ext cx="563455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Using Class of Traffic (examples)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Network devices (routers, switches, firewalls) 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read this field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 to decide how to handle packets: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C23B0-4D56-6518-0E46-DB0AD77E1DF4}"/>
              </a:ext>
            </a:extLst>
          </p:cNvPr>
          <p:cNvSpPr txBox="1"/>
          <p:nvPr/>
        </p:nvSpPr>
        <p:spPr>
          <a:xfrm>
            <a:off x="252568" y="1938080"/>
            <a:ext cx="86388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lvl="1" indent="-3175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High priority (e.g., VoIP, video calls) → Low delay, low loss.</a:t>
            </a:r>
          </a:p>
          <a:p>
            <a:pPr marL="358775" lvl="1" indent="-3175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Normal priority (e.g., web browsing).</a:t>
            </a:r>
          </a:p>
          <a:p>
            <a:pPr marL="358775" lvl="1" indent="-3175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Low priority (e.g., file downloads, background updates).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</a:rPr>
              <a:t>Example values:</a:t>
            </a: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101110xx → Expedited Forwarding (for voice).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001010xx → Assured Forwarding (for streaming).</a:t>
            </a:r>
          </a:p>
          <a:p>
            <a:pPr marL="342900" indent="-34290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</a:rPr>
              <a:t>000000xx → Best Effort (default traffic).</a:t>
            </a:r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31394434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56DD8-5E41-EE5E-0B4B-1DBCAD48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FBD2A7-4A6E-D8EA-082E-598582F17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Flow Label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6F4924-CE03-8C90-807B-D1F21512C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8" y="530502"/>
            <a:ext cx="3004307" cy="1407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996093-542F-9E13-628C-0D62B1B77860}"/>
              </a:ext>
            </a:extLst>
          </p:cNvPr>
          <p:cNvSpPr txBox="1"/>
          <p:nvPr/>
        </p:nvSpPr>
        <p:spPr>
          <a:xfrm>
            <a:off x="355182" y="740226"/>
            <a:ext cx="563455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Reservation</a:t>
            </a:r>
          </a:p>
          <a:p>
            <a:pPr algn="just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IPv6 uses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 Label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field together with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Class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field to identify these flows.</a:t>
            </a:r>
            <a:endParaRPr lang="en-L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6E71A-AEC3-57F7-E10A-C8C6C7E01D5B}"/>
              </a:ext>
            </a:extLst>
          </p:cNvPr>
          <p:cNvSpPr txBox="1"/>
          <p:nvPr/>
        </p:nvSpPr>
        <p:spPr>
          <a:xfrm>
            <a:off x="355181" y="2197160"/>
            <a:ext cx="8638863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flow is defined as a sequence of packets from a source to a destination with the same properties (e.g., same DSCP, same port).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Protocols Used</a:t>
            </a:r>
          </a:p>
          <a:p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RSVP (Resource Reservation Protocol): Used to signal and reserve resources along the path.</a:t>
            </a:r>
          </a:p>
        </p:txBody>
      </p:sp>
    </p:spTree>
    <p:extLst>
      <p:ext uri="{BB962C8B-B14F-4D97-AF65-F5344CB8AC3E}">
        <p14:creationId xmlns:p14="http://schemas.microsoft.com/office/powerpoint/2010/main" val="322043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0AD6-8EE4-82B9-4AC6-FB440EF3F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7BD245-AF39-096B-DF91-C2DB17C3E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82" y="0"/>
            <a:ext cx="7990305" cy="731837"/>
          </a:xfrm>
        </p:spPr>
        <p:txBody>
          <a:bodyPr/>
          <a:lstStyle/>
          <a:p>
            <a:r>
              <a:rPr lang="en-US" sz="4000" dirty="0"/>
              <a:t>IPv6 Flow Label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232842-1871-1B68-6C77-561A331AB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738" y="530502"/>
            <a:ext cx="3004307" cy="1407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A5C5E9-6F2A-9184-EE0F-69C21A5CD703}"/>
              </a:ext>
            </a:extLst>
          </p:cNvPr>
          <p:cNvSpPr txBox="1"/>
          <p:nvPr/>
        </p:nvSpPr>
        <p:spPr>
          <a:xfrm>
            <a:off x="355182" y="715059"/>
            <a:ext cx="563455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Reservation</a:t>
            </a:r>
          </a:p>
          <a:p>
            <a:pPr algn="just"/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IPv6 uses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Flow Label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field together with the 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Traffic Class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field to identify these flows.</a:t>
            </a:r>
            <a:endParaRPr lang="en-L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BDEDE6-DA49-5575-3321-2DD84A31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343818"/>
              </p:ext>
            </p:extLst>
          </p:nvPr>
        </p:nvGraphicFramePr>
        <p:xfrm>
          <a:off x="852262" y="2274857"/>
          <a:ext cx="7439476" cy="914400"/>
        </p:xfrm>
        <a:graphic>
          <a:graphicData uri="http://schemas.openxmlformats.org/drawingml/2006/table">
            <a:tbl>
              <a:tblPr/>
              <a:tblGrid>
                <a:gridCol w="2634143">
                  <a:extLst>
                    <a:ext uri="{9D8B030D-6E8A-4147-A177-3AD203B41FA5}">
                      <a16:colId xmlns:a16="http://schemas.microsoft.com/office/drawing/2014/main" val="2976128075"/>
                    </a:ext>
                  </a:extLst>
                </a:gridCol>
                <a:gridCol w="4805333">
                  <a:extLst>
                    <a:ext uri="{9D8B030D-6E8A-4147-A177-3AD203B41FA5}">
                      <a16:colId xmlns:a16="http://schemas.microsoft.com/office/drawing/2014/main" val="42569505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IPv6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Purpose in </a:t>
                      </a:r>
                      <a:r>
                        <a:rPr lang="en-US" b="1" dirty="0" err="1">
                          <a:solidFill>
                            <a:srgbClr val="000000"/>
                          </a:solidFill>
                        </a:rPr>
                        <a:t>IntServ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030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Traffic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Marks the type/priority of the 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2225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Flow Label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Identifies a specific flow across the 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177031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4F8EC9B0-E951-F0E5-4F0D-FEB23F370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82" y="3712339"/>
            <a:ext cx="8708297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0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LB" altLang="en-LB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IPv6 Fields used by IntServ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LB" altLang="en-LB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these allow routers to recognize flows and provide per-flow QoS guarantees.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LB" altLang="en-LB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705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12932</TotalTime>
  <Words>1408</Words>
  <Application>Microsoft Macintosh PowerPoint</Application>
  <PresentationFormat>On-screen Show (16:9)</PresentationFormat>
  <Paragraphs>188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CiscoSans ExtraLight</vt:lpstr>
      <vt:lpstr>Courier New</vt:lpstr>
      <vt:lpstr>Times New Roman</vt:lpstr>
      <vt:lpstr>Default Theme</vt:lpstr>
      <vt:lpstr>IPv6 Addressing</vt:lpstr>
      <vt:lpstr>Need for IPv6</vt:lpstr>
      <vt:lpstr>IPv6 Address Representation</vt:lpstr>
      <vt:lpstr>IPv6 Addressing Formats</vt:lpstr>
      <vt:lpstr>Rule 1 – Omit Leading Zero</vt:lpstr>
      <vt:lpstr>Rule 2 – Double Colon</vt:lpstr>
      <vt:lpstr>IPv6 Address Types</vt:lpstr>
      <vt:lpstr>Unicast, Multicast, Anycast</vt:lpstr>
      <vt:lpstr>IPv6 Address Types</vt:lpstr>
      <vt:lpstr>IPv6 Prefix Length</vt:lpstr>
      <vt:lpstr>IPv6 Feature Summary</vt:lpstr>
      <vt:lpstr>IPv6 header</vt:lpstr>
      <vt:lpstr>IPv6 vs IPv4 header</vt:lpstr>
      <vt:lpstr>IPv6 vs IPv4 header</vt:lpstr>
      <vt:lpstr>IPv6 Traffic Class</vt:lpstr>
      <vt:lpstr>IPv6 Traffic Class</vt:lpstr>
      <vt:lpstr>IPv6 Flow Label</vt:lpstr>
      <vt:lpstr>IPv6 Flow Label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Rami Tawil</cp:lastModifiedBy>
  <cp:revision>413</cp:revision>
  <dcterms:created xsi:type="dcterms:W3CDTF">2019-10-18T06:21:22Z</dcterms:created>
  <dcterms:modified xsi:type="dcterms:W3CDTF">2025-10-03T15:51:14Z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