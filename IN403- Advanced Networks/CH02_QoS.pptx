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0"/>
  </p:notesMasterIdLst>
  <p:sldIdLst>
    <p:sldId id="460" r:id="rId2"/>
    <p:sldId id="528" r:id="rId3"/>
    <p:sldId id="471" r:id="rId4"/>
    <p:sldId id="1426" r:id="rId5"/>
    <p:sldId id="1324" r:id="rId6"/>
    <p:sldId id="1425" r:id="rId7"/>
    <p:sldId id="1328" r:id="rId8"/>
    <p:sldId id="1329" r:id="rId9"/>
    <p:sldId id="1331" r:id="rId10"/>
    <p:sldId id="1333" r:id="rId11"/>
    <p:sldId id="1428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85" r:id="rId21"/>
    <p:sldId id="486" r:id="rId22"/>
    <p:sldId id="1430" r:id="rId23"/>
    <p:sldId id="487" r:id="rId24"/>
    <p:sldId id="1256" r:id="rId25"/>
    <p:sldId id="1431" r:id="rId26"/>
    <p:sldId id="1432" r:id="rId27"/>
    <p:sldId id="1433" r:id="rId28"/>
    <p:sldId id="1427" r:id="rId29"/>
    <p:sldId id="488" r:id="rId30"/>
    <p:sldId id="1460" r:id="rId31"/>
    <p:sldId id="1461" r:id="rId32"/>
    <p:sldId id="1462" r:id="rId33"/>
    <p:sldId id="1463" r:id="rId34"/>
    <p:sldId id="1464" r:id="rId35"/>
    <p:sldId id="489" r:id="rId36"/>
    <p:sldId id="490" r:id="rId37"/>
    <p:sldId id="1465" r:id="rId38"/>
    <p:sldId id="1466" r:id="rId39"/>
    <p:sldId id="1467" r:id="rId40"/>
    <p:sldId id="1471" r:id="rId41"/>
    <p:sldId id="1468" r:id="rId42"/>
    <p:sldId id="1472" r:id="rId43"/>
    <p:sldId id="1474" r:id="rId44"/>
    <p:sldId id="1470" r:id="rId45"/>
    <p:sldId id="1475" r:id="rId46"/>
    <p:sldId id="1476" r:id="rId47"/>
    <p:sldId id="1473" r:id="rId48"/>
    <p:sldId id="1429" r:id="rId49"/>
    <p:sldId id="492" r:id="rId50"/>
    <p:sldId id="493" r:id="rId51"/>
    <p:sldId id="494" r:id="rId52"/>
    <p:sldId id="495" r:id="rId53"/>
    <p:sldId id="496" r:id="rId54"/>
    <p:sldId id="497" r:id="rId55"/>
    <p:sldId id="498" r:id="rId56"/>
    <p:sldId id="1435" r:id="rId57"/>
    <p:sldId id="1436" r:id="rId58"/>
    <p:sldId id="1438" r:id="rId59"/>
    <p:sldId id="1437" r:id="rId60"/>
    <p:sldId id="1439" r:id="rId61"/>
    <p:sldId id="1440" r:id="rId62"/>
    <p:sldId id="1441" r:id="rId63"/>
    <p:sldId id="1442" r:id="rId64"/>
    <p:sldId id="1443" r:id="rId65"/>
    <p:sldId id="1444" r:id="rId66"/>
    <p:sldId id="1445" r:id="rId67"/>
    <p:sldId id="1446" r:id="rId68"/>
    <p:sldId id="1447" r:id="rId69"/>
    <p:sldId id="1448" r:id="rId70"/>
    <p:sldId id="1449" r:id="rId71"/>
    <p:sldId id="1453" r:id="rId72"/>
    <p:sldId id="1452" r:id="rId73"/>
    <p:sldId id="1454" r:id="rId74"/>
    <p:sldId id="1455" r:id="rId75"/>
    <p:sldId id="1459" r:id="rId76"/>
    <p:sldId id="1458" r:id="rId77"/>
    <p:sldId id="1456" r:id="rId78"/>
    <p:sldId id="1457" r:id="rId79"/>
  </p:sldIdLst>
  <p:sldSz cx="12192000" cy="6858000"/>
  <p:notesSz cx="70485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DDDDDD"/>
    <a:srgbClr val="FFCCFF"/>
    <a:srgbClr val="FF99CC"/>
    <a:srgbClr val="CCFFFF"/>
    <a:srgbClr val="00CC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2" autoAdjust="0"/>
    <p:restoredTop sz="96739" autoAdjust="0"/>
  </p:normalViewPr>
  <p:slideViewPr>
    <p:cSldViewPr snapToGrid="0">
      <p:cViewPr varScale="1">
        <p:scale>
          <a:sx n="136" d="100"/>
          <a:sy n="136" d="100"/>
        </p:scale>
        <p:origin x="156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1770" y="-96"/>
      </p:cViewPr>
      <p:guideLst>
        <p:guide orient="horz" pos="2928"/>
        <p:guide pos="22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545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16425"/>
            <a:ext cx="51689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5435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761E503-993E-4C32-833B-CEC2ACD0AB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01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A7DD80-7F1F-4C50-AED0-5926033C57A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696913"/>
            <a:ext cx="6197600" cy="348615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4416425"/>
            <a:ext cx="5638800" cy="4181475"/>
          </a:xfr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1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8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4891-1E28-AC64-8FAD-E769B14A1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B35E7-B119-A4CE-72B8-43DD073C1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FDBDB-1C65-C3F6-E88A-1BA601D45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D927-41FB-A474-0D0D-D81CCEF2E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76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D219-15D9-178A-EE35-23AE5238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73B73-4631-CF91-884A-AE2CA31E7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7EDE2-CED3-89AF-C077-CEDE6C6C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EA482-8836-BF1D-B9A3-2AA1E5647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96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57D6-7CEB-DEC7-B543-018C84A2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CFB27-7181-7D22-DF78-FC1834CA5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67BC4-A580-8978-F154-65D68EBAB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55FD7-CE2E-D0C7-5A3C-FD42589AE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0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A58C-EF29-66EF-5C5A-884D559E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391EC-8285-052E-A664-EAD8C1297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B642D-96C5-F9CD-B5B3-F8117A834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BEA3B-D87C-E3D7-66CD-F2679884F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3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6BCB-C970-8175-BD48-0FA2D894B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5F609-68B3-6047-08E2-2A6D8B249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73573-D89F-23C1-EC53-40DAD2113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 			Description							Symbol</a:t>
            </a:r>
          </a:p>
          <a:p>
            <a:r>
              <a:rPr lang="en-US" b="1" dirty="0"/>
              <a:t>Token Bucket Rate		</a:t>
            </a:r>
            <a:r>
              <a:rPr lang="en-US" dirty="0"/>
              <a:t>The average rate at which packets are expected to arrive (bits per second).	</a:t>
            </a:r>
            <a:r>
              <a:rPr lang="en-US" b="1" dirty="0"/>
              <a:t>r</a:t>
            </a:r>
          </a:p>
          <a:p>
            <a:endParaRPr lang="en-US" b="1" dirty="0"/>
          </a:p>
          <a:p>
            <a:r>
              <a:rPr lang="en-US" b="1" dirty="0"/>
              <a:t>Token Bucket Size		</a:t>
            </a:r>
            <a:r>
              <a:rPr lang="en-US" dirty="0"/>
              <a:t>The maximum burst size that can be sent at once (bytes or bits).		</a:t>
            </a:r>
            <a:r>
              <a:rPr lang="en-US" b="1" dirty="0"/>
              <a:t>B</a:t>
            </a:r>
          </a:p>
          <a:p>
            <a:endParaRPr lang="en-US" b="1" dirty="0"/>
          </a:p>
          <a:p>
            <a:r>
              <a:rPr lang="en-US" b="1" dirty="0"/>
              <a:t>Peak Data Rate		</a:t>
            </a:r>
            <a:r>
              <a:rPr lang="en-US" dirty="0"/>
              <a:t>The maximum rate at which packets can be sent.				</a:t>
            </a:r>
            <a:r>
              <a:rPr lang="en-US" b="1" dirty="0"/>
              <a:t>P</a:t>
            </a:r>
          </a:p>
          <a:p>
            <a:endParaRPr lang="en-US" b="1" dirty="0"/>
          </a:p>
          <a:p>
            <a:r>
              <a:rPr lang="en-US" b="1" dirty="0"/>
              <a:t>Minimum Policed Unit (m)	</a:t>
            </a:r>
            <a:r>
              <a:rPr lang="en-US" dirty="0"/>
              <a:t>The smallest packet size for which the flow is policed. </a:t>
            </a:r>
          </a:p>
          <a:p>
            <a:r>
              <a:rPr lang="en-US" dirty="0"/>
              <a:t>			Smaller packets are treated as this size.				</a:t>
            </a:r>
            <a:r>
              <a:rPr lang="en-US" b="1" dirty="0"/>
              <a:t>m</a:t>
            </a:r>
          </a:p>
          <a:p>
            <a:endParaRPr lang="en-US" b="1" dirty="0"/>
          </a:p>
          <a:p>
            <a:r>
              <a:rPr lang="en-US" b="1" dirty="0"/>
              <a:t>Maximum Packet Size (M)	</a:t>
            </a:r>
            <a:r>
              <a:rPr lang="en-US" dirty="0"/>
              <a:t>The largest packet size in the flow.					</a:t>
            </a:r>
            <a:r>
              <a:rPr lang="en-US" b="1" dirty="0"/>
              <a:t>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C0C0-D394-4D59-1A65-17ECE950A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90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6AE9-22EC-3DAE-6C5C-4BA604D7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6A518-52A8-52F7-8D43-E05E568B6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A8A26-4B99-EF5B-9211-9C8E4932E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F23CF-5752-B2B2-966F-75EED5BE1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11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1FAD-4327-405C-AC46-A85C4CEB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EC436-17BF-53FC-524F-3283ACF95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85351-D2B0-1788-3716-DA72D8A6F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D5E38-C0B5-A740-4FAA-D884C4C20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56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1AA8-FA8E-2910-1F4A-1FB0A003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B31B6-6C77-ED76-0A97-2E58AFD63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3423A-931D-2326-5A10-6CA2FE4C4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Use Leaky bucket.</a:t>
            </a:r>
            <a:r>
              <a:rPr lang="en-US" baseline="0" dirty="0"/>
              <a:t>  </a:t>
            </a:r>
            <a:r>
              <a:rPr lang="en-US" dirty="0"/>
              <a:t>T-Spec: r (</a:t>
            </a:r>
            <a:r>
              <a:rPr lang="en-US" dirty="0" err="1"/>
              <a:t>avg</a:t>
            </a:r>
            <a:r>
              <a:rPr lang="en-US" dirty="0"/>
              <a:t> bitrate) and b (max burst size)   and R-Spec:</a:t>
            </a:r>
            <a:r>
              <a:rPr lang="en-US" baseline="0" dirty="0"/>
              <a:t> bandwidth needed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3712A-40FB-8F24-841F-3897CD08A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5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A932-AE2F-7848-AA95-74CEA437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8AFB1-F2DF-A133-AA84-D7307569E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DC8DB-FB61-2AEB-6597-F79EE0486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1E957-0AEE-7567-AC5E-0BEE8DE5A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90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624B-2032-2CC9-BAFD-F26FD3D0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16A41-3912-6B59-67E8-DADB08929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00209-84DA-E7A6-B063-F29F07365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E6414-5C3C-3C8E-A76F-32E65B73D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49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6E90-7567-A5F7-C02C-68CE88EEF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C6DFB-79C7-71D2-C9DD-3E2865E06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29998-4C7E-1704-F8BB-6A764A950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52358-5984-7793-5223-16EEC4D28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97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EDCB-75AA-2000-9F00-D81474DF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96450-4D09-E6A0-76A7-011C081D5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E527D-EA47-A550-4B23-27545ECC1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59A8A-6479-D0E4-61A3-D614CBC8D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61E503-993E-4C32-833B-CEC2ACD0ABD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26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1D9A73-8706-4530-9D57-8AEDD42275B4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696913"/>
            <a:ext cx="6197600" cy="348615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4418013"/>
            <a:ext cx="5168900" cy="4181475"/>
          </a:xfrm>
          <a:noFill/>
          <a:ln/>
        </p:spPr>
        <p:txBody>
          <a:bodyPr lIns="91412" tIns="45706" rIns="91412" bIns="45706"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u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7440D-8E65-4180-813C-5AB436F1F5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 sz="2000" baseline="0"/>
            </a:lvl3pPr>
            <a:lvl4pPr>
              <a:buClr>
                <a:schemeClr val="tx1"/>
              </a:buClr>
              <a:defRPr sz="2000" baseline="0"/>
            </a:lvl4pPr>
            <a:lvl5pPr>
              <a:buClr>
                <a:schemeClr val="tx1"/>
              </a:buClr>
              <a:defRPr sz="2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E69C2-16ED-48F0-8A57-8D7E4FD676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84CF6-1919-492C-AE53-D2955B0043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339850"/>
            <a:ext cx="5080000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339850"/>
            <a:ext cx="5080000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C26E97-A561-4781-A929-A7537FE842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321DF-A734-4BC6-BA29-F5C8452272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1808B-9E3C-46A1-BE6D-B45FD951A2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50F06-EF6E-4C4B-911D-5F54C257CD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06810-ABD9-497C-9FA6-3948068EF2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3FE8E-197B-493B-92E8-36C688098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D3863-D92E-42D9-AAB5-B4E17C6C6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83600" y="228600"/>
            <a:ext cx="25908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228600"/>
            <a:ext cx="75692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E9B6F-EE5F-4AAF-AEC6-166246489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8715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339850"/>
            <a:ext cx="5080000" cy="4908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339850"/>
            <a:ext cx="5080000" cy="4908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D755B-0420-4647-99D3-7530B68E1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2497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228600"/>
            <a:ext cx="10363200" cy="87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339850"/>
            <a:ext cx="10363200" cy="490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925DEF-6FD0-46DB-B520-77EFD6ED3B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u="none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ZapfDingbats" pitchFamily="82" charset="2"/>
        <a:buChar char="r"/>
        <a:defRPr sz="24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ZapfDingbats" pitchFamily="82" charset="2"/>
        <a:buChar char="m"/>
        <a:defRPr sz="2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latin typeface="Times New Roman" pitchFamily="18" charset="0"/>
          <a:cs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e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829801" y="6400800"/>
            <a:ext cx="625475" cy="457200"/>
          </a:xfrm>
          <a:noFill/>
        </p:spPr>
        <p:txBody>
          <a:bodyPr/>
          <a:lstStyle/>
          <a:p>
            <a:fld id="{9706AD86-68D1-4061-BA24-AF67647991D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258" y="722868"/>
            <a:ext cx="8027988" cy="4326211"/>
          </a:xfrm>
          <a:ln w="12700">
            <a:miter lim="400000"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indent="0" algn="ctr" defTabSz="584200">
              <a:spcBef>
                <a:spcPts val="1200"/>
              </a:spcBef>
              <a:spcAft>
                <a:spcPts val="3000"/>
              </a:spcAft>
              <a:buClrTx/>
              <a:buSzTx/>
              <a:buNone/>
            </a:pPr>
            <a:r>
              <a:rPr lang="en-US" sz="4800" b="1" kern="1200" dirty="0">
                <a:solidFill>
                  <a:schemeClr val="bg2">
                    <a:lumMod val="10000"/>
                  </a:schemeClr>
                </a:solidFill>
              </a:rPr>
              <a:t>Chapter 2</a:t>
            </a:r>
          </a:p>
          <a:p>
            <a:pPr marL="0" indent="0" algn="ctr" defTabSz="584200">
              <a:spcBef>
                <a:spcPts val="1200"/>
              </a:spcBef>
              <a:spcAft>
                <a:spcPts val="3000"/>
              </a:spcAft>
              <a:buClrTx/>
              <a:buSzTx/>
              <a:buNone/>
            </a:pPr>
            <a:endParaRPr lang="en-US" sz="1000" b="1" kern="12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 defTabSz="584200">
              <a:spcBef>
                <a:spcPts val="1200"/>
              </a:spcBef>
              <a:spcAft>
                <a:spcPts val="3000"/>
              </a:spcAft>
              <a:buClrTx/>
              <a:buSzTx/>
              <a:buNone/>
            </a:pPr>
            <a:endParaRPr lang="en-US" sz="1000" b="1" kern="12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 defTabSz="584200">
              <a:spcBef>
                <a:spcPts val="3000"/>
              </a:spcBef>
              <a:spcAft>
                <a:spcPts val="2400"/>
              </a:spcAft>
              <a:buClrTx/>
              <a:buSzTx/>
              <a:buNone/>
            </a:pPr>
            <a:r>
              <a:rPr lang="en-US" sz="6000" b="1" kern="1200" dirty="0">
                <a:solidFill>
                  <a:schemeClr val="bg2">
                    <a:lumMod val="10000"/>
                  </a:schemeClr>
                </a:solidFill>
              </a:rPr>
              <a:t>Quality of Service (QoS)</a:t>
            </a:r>
          </a:p>
        </p:txBody>
      </p:sp>
      <p:pic>
        <p:nvPicPr>
          <p:cNvPr id="2" name="Picture 1" descr="Lebanese University - Crunchbase School Profile &amp; Alumni">
            <a:extLst>
              <a:ext uri="{FF2B5EF4-FFF2-40B4-BE49-F238E27FC236}">
                <a16:creationId xmlns:a16="http://schemas.microsoft.com/office/drawing/2014/main" id="{8DB3FC1F-694A-987D-CB5D-790C0B8FF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85000"/>
          </a:blip>
          <a:srcRect/>
          <a:stretch>
            <a:fillRect/>
          </a:stretch>
        </p:blipFill>
        <p:spPr bwMode="auto">
          <a:xfrm>
            <a:off x="135693" y="290896"/>
            <a:ext cx="2399333" cy="23993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4" descr="Lebanese University">
            <a:extLst>
              <a:ext uri="{FF2B5EF4-FFF2-40B4-BE49-F238E27FC236}">
                <a16:creationId xmlns:a16="http://schemas.microsoft.com/office/drawing/2014/main" id="{8811EEE3-9406-C962-2F45-F84040E8E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85000"/>
          </a:blip>
          <a:srcRect/>
          <a:stretch>
            <a:fillRect/>
          </a:stretch>
        </p:blipFill>
        <p:spPr bwMode="auto">
          <a:xfrm>
            <a:off x="9419573" y="290895"/>
            <a:ext cx="2625339" cy="26231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C542018-8651-44E7-9B31-B7947C87D1B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QoS</a:t>
            </a:r>
            <a:r>
              <a:rPr lang="en-US" sz="4000" dirty="0"/>
              <a:t> Support in IP Networks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563757"/>
            <a:ext cx="7772400" cy="3644851"/>
          </a:xfrm>
        </p:spPr>
        <p:txBody>
          <a:bodyPr/>
          <a:lstStyle/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/>
              <a:t>Need for QoS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/>
              <a:t>Principles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/>
              <a:t>IntServ</a:t>
            </a:r>
            <a:endParaRPr lang="en-US" sz="3600" dirty="0"/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/>
              <a:t>DiffServ</a:t>
            </a:r>
            <a:r>
              <a:rPr lang="en-US" sz="3600" dirty="0"/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5463298-6E2F-4D52-9234-4838FF62920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435" name="Rectangle 127"/>
          <p:cNvSpPr>
            <a:spLocks noGrp="1" noChangeArrowheads="1"/>
          </p:cNvSpPr>
          <p:nvPr>
            <p:ph type="title"/>
          </p:nvPr>
        </p:nvSpPr>
        <p:spPr>
          <a:xfrm>
            <a:off x="701458" y="179389"/>
            <a:ext cx="10333972" cy="742949"/>
          </a:xfrm>
        </p:spPr>
        <p:txBody>
          <a:bodyPr/>
          <a:lstStyle/>
          <a:p>
            <a:pPr algn="l"/>
            <a:r>
              <a:rPr lang="en-US" sz="4000" dirty="0"/>
              <a:t>QoS Layers 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3735389" y="1438275"/>
            <a:ext cx="2916237" cy="57785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3756026" y="2446339"/>
            <a:ext cx="2879725" cy="53498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3727451" y="3497264"/>
            <a:ext cx="2938463" cy="53498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System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1954214" y="5037139"/>
            <a:ext cx="2492375" cy="53498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Local Devices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5427663" y="5002214"/>
            <a:ext cx="2493962" cy="53498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18" name="Elbow Connector 17"/>
          <p:cNvCxnSpPr>
            <a:stCxn id="5" idx="2"/>
            <a:endCxn id="7" idx="0"/>
          </p:cNvCxnSpPr>
          <p:nvPr/>
        </p:nvCxnSpPr>
        <p:spPr bwMode="auto">
          <a:xfrm rot="16200000" flipH="1">
            <a:off x="4979195" y="2229645"/>
            <a:ext cx="430213" cy="3175"/>
          </a:xfrm>
          <a:prstGeom prst="bentConnector3">
            <a:avLst>
              <a:gd name="adj1" fmla="val 50000"/>
            </a:avLst>
          </a:prstGeom>
          <a:ln w="25400">
            <a:headEnd type="arrow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442" name="Elbow Connector 23"/>
          <p:cNvCxnSpPr>
            <a:cxnSpLocks noChangeShapeType="1"/>
            <a:stCxn id="7" idx="2"/>
            <a:endCxn id="10" idx="0"/>
          </p:cNvCxnSpPr>
          <p:nvPr/>
        </p:nvCxnSpPr>
        <p:spPr bwMode="auto">
          <a:xfrm rot="16200000" flipH="1">
            <a:off x="4938713" y="3238501"/>
            <a:ext cx="515938" cy="1587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18443" name="Straight Arrow Connector 30"/>
          <p:cNvCxnSpPr>
            <a:cxnSpLocks noChangeShapeType="1"/>
            <a:endCxn id="12" idx="0"/>
          </p:cNvCxnSpPr>
          <p:nvPr/>
        </p:nvCxnSpPr>
        <p:spPr bwMode="auto">
          <a:xfrm>
            <a:off x="5595938" y="4032251"/>
            <a:ext cx="1077912" cy="96996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18444" name="Straight Arrow Connector 32"/>
          <p:cNvCxnSpPr>
            <a:cxnSpLocks noChangeShapeType="1"/>
            <a:endCxn id="11" idx="0"/>
          </p:cNvCxnSpPr>
          <p:nvPr/>
        </p:nvCxnSpPr>
        <p:spPr bwMode="auto">
          <a:xfrm rot="10800000" flipV="1">
            <a:off x="3200400" y="4040188"/>
            <a:ext cx="1379538" cy="9969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18445" name="TextBox 38"/>
          <p:cNvSpPr txBox="1">
            <a:spLocks noChangeArrowheads="1"/>
          </p:cNvSpPr>
          <p:nvPr/>
        </p:nvSpPr>
        <p:spPr bwMode="auto">
          <a:xfrm>
            <a:off x="6962775" y="1304926"/>
            <a:ext cx="3213002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>
            <a:spAutoFit/>
          </a:bodyPr>
          <a:lstStyle/>
          <a:p>
            <a:r>
              <a:rPr lang="en-US" dirty="0"/>
              <a:t>Perceptual</a:t>
            </a:r>
          </a:p>
          <a:p>
            <a:r>
              <a:rPr lang="en-US" dirty="0"/>
              <a:t>(e.g., window size, security)</a:t>
            </a:r>
          </a:p>
          <a:p>
            <a:r>
              <a:rPr lang="en-US" i="1" dirty="0">
                <a:solidFill>
                  <a:srgbClr val="FFFF00"/>
                </a:solidFill>
              </a:rPr>
              <a:t>Subjective Quality Metrics</a:t>
            </a:r>
          </a:p>
        </p:txBody>
      </p:sp>
      <p:sp>
        <p:nvSpPr>
          <p:cNvPr id="18446" name="TextBox 39"/>
          <p:cNvSpPr txBox="1">
            <a:spLocks noChangeArrowheads="1"/>
          </p:cNvSpPr>
          <p:nvPr/>
        </p:nvSpPr>
        <p:spPr bwMode="auto">
          <a:xfrm>
            <a:off x="6905626" y="2365375"/>
            <a:ext cx="3508375" cy="11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>
            <a:spAutoFit/>
          </a:bodyPr>
          <a:lstStyle/>
          <a:p>
            <a:r>
              <a:rPr lang="en-US" dirty="0"/>
              <a:t>Media Quality</a:t>
            </a:r>
          </a:p>
          <a:p>
            <a:r>
              <a:rPr lang="en-US" dirty="0"/>
              <a:t>(e.g., frame rate, adaptation rules)</a:t>
            </a:r>
          </a:p>
          <a:p>
            <a:r>
              <a:rPr lang="en-US" i="1" dirty="0">
                <a:solidFill>
                  <a:srgbClr val="FFFF00"/>
                </a:solidFill>
              </a:rPr>
              <a:t>Objective Quality Metrics</a:t>
            </a:r>
          </a:p>
        </p:txBody>
      </p:sp>
      <p:sp>
        <p:nvSpPr>
          <p:cNvPr id="18447" name="TextBox 40"/>
          <p:cNvSpPr txBox="1">
            <a:spLocks noChangeArrowheads="1"/>
          </p:cNvSpPr>
          <p:nvPr/>
        </p:nvSpPr>
        <p:spPr bwMode="auto">
          <a:xfrm>
            <a:off x="7921626" y="4846638"/>
            <a:ext cx="2746375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r>
              <a:rPr lang="en-US" dirty="0"/>
              <a:t>Traffic</a:t>
            </a:r>
          </a:p>
          <a:p>
            <a:r>
              <a:rPr lang="en-US" dirty="0"/>
              <a:t>(e.g., bit rate, loss, </a:t>
            </a:r>
          </a:p>
          <a:p>
            <a:r>
              <a:rPr lang="en-US" dirty="0"/>
              <a:t>delay, jitter)</a:t>
            </a:r>
          </a:p>
          <a:p>
            <a:endParaRPr lang="en-US" dirty="0"/>
          </a:p>
        </p:txBody>
      </p:sp>
      <p:sp>
        <p:nvSpPr>
          <p:cNvPr id="18448" name="TextBox 41"/>
          <p:cNvSpPr txBox="1">
            <a:spLocks noChangeArrowheads="1"/>
          </p:cNvSpPr>
          <p:nvPr/>
        </p:nvSpPr>
        <p:spPr bwMode="auto">
          <a:xfrm>
            <a:off x="2012950" y="5657851"/>
            <a:ext cx="3327400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/>
              <a:t>Processing</a:t>
            </a:r>
          </a:p>
          <a:p>
            <a:r>
              <a:rPr lang="en-US"/>
              <a:t>(e.g., CPU scheduling, memory, hard drive)</a:t>
            </a:r>
          </a:p>
          <a:p>
            <a:endParaRPr lang="en-US"/>
          </a:p>
        </p:txBody>
      </p:sp>
    </p:spTree>
  </p:cSld>
  <p:clrMapOvr>
    <a:masterClrMapping/>
  </p:clrMapOvr>
  <p:transition>
    <p:cover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3749-76FC-FCAF-4A3D-17A2E990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EBE7590B-5333-BFCF-6CE6-B6C972DB7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C542018-8651-44E7-9B31-B7947C87D1B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5769F92-9161-45A5-9BB2-EA897DA57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QoS</a:t>
            </a:r>
            <a:r>
              <a:rPr lang="en-US" sz="4000" dirty="0"/>
              <a:t> Support in IP Networks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0E2397E-BC22-BBAA-81BF-62A13C2EC8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63757"/>
            <a:ext cx="7772400" cy="3644851"/>
          </a:xfrm>
        </p:spPr>
        <p:txBody>
          <a:bodyPr/>
          <a:lstStyle/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rgbClr val="0070C0"/>
                </a:solidFill>
              </a:rPr>
              <a:t>Need for QoS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Principles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IntServ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DiffServ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9483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B89FE0-AFBF-4F30-AE65-3B18BCBE3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979" y="277633"/>
            <a:ext cx="7598042" cy="91817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QoS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FA70F-DC0C-41D5-868E-C8FBC661D58F}"/>
              </a:ext>
            </a:extLst>
          </p:cNvPr>
          <p:cNvSpPr txBox="1"/>
          <p:nvPr/>
        </p:nvSpPr>
        <p:spPr>
          <a:xfrm>
            <a:off x="358814" y="1400537"/>
            <a:ext cx="11331615" cy="5081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360363" indent="-360363" defTabSz="684213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3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358775" indent="-215900" defTabSz="684213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defTabSz="684213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defTabSz="684213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defTabSz="684213" eaLnBrk="1" hangingPunct="1">
              <a:lnSpc>
                <a:spcPct val="95000"/>
              </a:lnSpc>
              <a:spcBef>
                <a:spcPts val="625"/>
              </a:spcBef>
              <a:buFont typeface="Arial" charset="0"/>
              <a:buChar char="•"/>
              <a:defRPr lang="en-US" sz="1100" dirty="0">
                <a:latin typeface="+mn-lt"/>
                <a:ea typeface="ＭＳ Ｐゴシック" charset="0"/>
                <a:cs typeface="CiscoSans"/>
              </a:defRPr>
            </a:lvl5pPr>
            <a:lvl6pPr marL="863856" indent="-171445" defTabSz="685777">
              <a:spcBef>
                <a:spcPts val="600"/>
              </a:spcBef>
              <a:buFont typeface="Arial" pitchFamily="34" charset="0"/>
              <a:buChar char="•"/>
              <a:defRPr sz="900" baseline="0">
                <a:latin typeface="+mn-lt"/>
                <a:ea typeface="+mn-ea"/>
              </a:defRPr>
            </a:lvl6pPr>
            <a:lvl7pPr marL="935844" indent="-171422" defTabSz="685777">
              <a:spcBef>
                <a:spcPts val="600"/>
              </a:spcBef>
              <a:buFont typeface="Arial" pitchFamily="34" charset="0"/>
              <a:buChar char="•"/>
              <a:defRPr sz="800" baseline="0">
                <a:latin typeface="+mn-lt"/>
                <a:ea typeface="+mn-ea"/>
              </a:defRPr>
            </a:lvl7pPr>
            <a:lvl8pPr marL="2400220" indent="0" defTabSz="685777">
              <a:spcBef>
                <a:spcPct val="20000"/>
              </a:spcBef>
              <a:buFont typeface="Arial" pitchFamily="34" charset="0"/>
              <a:buNone/>
              <a:defRPr sz="1500">
                <a:latin typeface="+mn-lt"/>
                <a:ea typeface="+mn-ea"/>
              </a:defRPr>
            </a:lvl8pPr>
            <a:lvl9pPr marL="2914553" indent="-171445" defTabSz="685777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9pPr>
          </a:lstStyle>
          <a:p>
            <a:r>
              <a:rPr lang="en-US" sz="2800" dirty="0"/>
              <a:t>Assigning different levels of priority to different IP traffic flows and provides special treatment to higher-priority IP traffic flows.</a:t>
            </a:r>
          </a:p>
          <a:p>
            <a:r>
              <a:rPr lang="en-US" sz="2800" dirty="0"/>
              <a:t>For higher-priority IP traffic flows:</a:t>
            </a:r>
          </a:p>
          <a:p>
            <a:pPr marL="625475" lvl="1" algn="just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packet loss during times of network congestion </a:t>
            </a:r>
          </a:p>
          <a:p>
            <a:pPr marL="625475" lvl="1" algn="just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control delay (latency) and delay variation (jitter)</a:t>
            </a:r>
          </a:p>
          <a:p>
            <a:r>
              <a:rPr lang="en-US" sz="2800" dirty="0"/>
              <a:t>For low-priority IP traffic flows:</a:t>
            </a:r>
          </a:p>
          <a:p>
            <a:pPr marL="625475" lvl="1" algn="just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best-effort delivery service.</a:t>
            </a:r>
          </a:p>
          <a:p>
            <a:pPr marL="360363" lvl="1" indent="-360363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mechanisms:</a:t>
            </a:r>
          </a:p>
          <a:p>
            <a:pPr marL="625475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marking, policing and shaping, congestion management and avoidance.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63699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4124" y="0"/>
            <a:ext cx="11863753" cy="130551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en-US" sz="5333" dirty="0">
                <a:solidFill>
                  <a:srgbClr val="000000"/>
                </a:solidFill>
              </a:rPr>
              <a:t>Causes and Results of Quality Issues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2608" y="1305515"/>
            <a:ext cx="11558016" cy="5404963"/>
          </a:xfrm>
        </p:spPr>
        <p:txBody>
          <a:bodyPr/>
          <a:lstStyle/>
          <a:p>
            <a:pPr marL="0" indent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67" dirty="0"/>
              <a:t>When packets are delivered using a best-effort delivery model, they may not arrive in order or in a timely manner, and they may be dropped. </a:t>
            </a:r>
          </a:p>
          <a:p>
            <a:pPr marL="833946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2400" dirty="0"/>
              <a:t>For video, this can result in pixelization of the image, pausing, choppy video, audio and video being out of sync, or no video at all. </a:t>
            </a:r>
          </a:p>
          <a:p>
            <a:pPr marL="833946" lvl="1" algn="just">
              <a:spcAft>
                <a:spcPts val="0"/>
              </a:spcAft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2400" dirty="0"/>
              <a:t>For audio, it could cause echo, talker overlap (a walkie-talkie effect where only one person can speak at a time), unintelligible and distorted speech, voice breakups, long silence gaps, and call drops. </a:t>
            </a:r>
          </a:p>
          <a:p>
            <a:pPr marL="0" indent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67" dirty="0"/>
              <a:t>The following are the leading causes of quality issues:</a:t>
            </a:r>
          </a:p>
          <a:p>
            <a:pPr marL="833946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2400" dirty="0"/>
              <a:t>Lack of bandwidth</a:t>
            </a:r>
          </a:p>
          <a:p>
            <a:pPr marL="833946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2400" dirty="0"/>
              <a:t>Latency and jitter</a:t>
            </a:r>
          </a:p>
          <a:p>
            <a:pPr marL="833946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2400" dirty="0"/>
              <a:t>Packet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AFA9C-140C-C09E-3F4B-5254593A2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525" kern="1200">
                <a:solidFill>
                  <a:schemeClr val="tx2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6</a:t>
            </a:fld>
            <a:endParaRPr lang="en-US" kern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38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55544" y="175566"/>
            <a:ext cx="7880909" cy="8823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en-US" sz="5333" dirty="0">
                <a:solidFill>
                  <a:srgbClr val="000000"/>
                </a:solidFill>
              </a:rPr>
              <a:t>Lack of Bandwidth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0272" y="1160680"/>
            <a:ext cx="11751457" cy="5697321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The available bandwidth on the data path from a source to a destination equals the capacity of the lowest-bandwidth link. </a:t>
            </a:r>
          </a:p>
          <a:p>
            <a:pPr marL="0" indent="0">
              <a:buNone/>
            </a:pPr>
            <a:r>
              <a:rPr lang="en-US" sz="2667" dirty="0"/>
              <a:t>When the maximum capacity of the lowest-bandwidth link is surpassed, link congestion takes place, resulting in traffic drops. </a:t>
            </a:r>
          </a:p>
          <a:p>
            <a:pPr marL="0" indent="0">
              <a:buNone/>
            </a:pPr>
            <a:r>
              <a:rPr lang="en-US" sz="2667" dirty="0"/>
              <a:t>The solution to this type of problem:</a:t>
            </a:r>
          </a:p>
          <a:p>
            <a:pPr marL="480472" indent="-48047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67" dirty="0"/>
              <a:t>Increase the link bandwidth capacity</a:t>
            </a:r>
          </a:p>
          <a:p>
            <a:pPr marL="480472" indent="-48047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67" dirty="0"/>
              <a:t>Implement QoS mechanisms such as policing and queueing to prioritize traffic according to level of importance. </a:t>
            </a:r>
          </a:p>
          <a:p>
            <a:pPr marL="833946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  <a:tabLst>
                <a:tab pos="1360983" algn="l"/>
                <a:tab pos="1477396" algn="l"/>
              </a:tabLst>
            </a:pPr>
            <a:r>
              <a:rPr lang="en-US" sz="2400" dirty="0"/>
              <a:t>Voice, video, and business-critical traffic should get prioritized forwarding and sufficient bandwidth to support their application requirements.</a:t>
            </a:r>
          </a:p>
          <a:p>
            <a:pPr marL="833946" lvl="1" algn="just"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  <a:tabLst>
                <a:tab pos="1360983" algn="l"/>
                <a:tab pos="1477396" algn="l"/>
              </a:tabLst>
            </a:pPr>
            <a:r>
              <a:rPr lang="en-US" sz="2400" dirty="0"/>
              <a:t>The least important traffic should be allocated the remaining bandwidth.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1CCB1-E751-D82C-C67B-FF749DB21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525" kern="1200">
                <a:solidFill>
                  <a:schemeClr val="tx2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7</a:t>
            </a:fld>
            <a:endParaRPr lang="en-US" kern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9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2348" y="1"/>
            <a:ext cx="11327304" cy="8823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en-US" sz="5333" dirty="0">
                <a:solidFill>
                  <a:srgbClr val="000000"/>
                </a:solidFill>
              </a:rPr>
              <a:t>Latency and Jitter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6942" y="906315"/>
            <a:ext cx="11242711" cy="58236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One-way end-to-end delay, also known as network latency, is the time it takes for packets to travel across a network from a source to a destination. </a:t>
            </a:r>
          </a:p>
          <a:p>
            <a:pPr marL="0" indent="0">
              <a:buNone/>
            </a:pPr>
            <a:r>
              <a:rPr lang="en-US" dirty="0"/>
              <a:t>Regardless of the application type, ITU Recommendation G.114 recommends: 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A network latency of 400 ms should not be exceeded, 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For real-time traffic, network latency should be less than 150 </a:t>
            </a:r>
            <a:r>
              <a:rPr lang="en-US" sz="2400" dirty="0" err="1"/>
              <a:t>ms</a:t>
            </a:r>
            <a:r>
              <a:rPr lang="en-US" sz="2400" dirty="0"/>
              <a:t>; 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ITU demonstrated that real-time traffic quality does not begin to significantly degrade until network latency exceeds 200 </a:t>
            </a:r>
            <a:r>
              <a:rPr lang="en-US" sz="2400" dirty="0" err="1"/>
              <a:t>ms.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Network latency can be broken down into fixed and variable latency: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Propagation delay (fixed)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Serialization delay (fixed)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Processing delay (fixed)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Delay variation (variable)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04529-0E26-1B57-0EF6-5C931E2D5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525" kern="1200">
                <a:solidFill>
                  <a:schemeClr val="tx2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8</a:t>
            </a:fld>
            <a:endParaRPr lang="en-US" kern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05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7972" y="117986"/>
            <a:ext cx="11535504" cy="8823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en-US" sz="5333" dirty="0">
                <a:solidFill>
                  <a:srgbClr val="000000"/>
                </a:solidFill>
              </a:rPr>
              <a:t>Serialization Delay/Processing Delay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159" y="1119336"/>
            <a:ext cx="11264317" cy="3484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Serialization delay is the time it takes to place all the bits of a packet onto a link. 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It is a fixed value that depends on the link speed; the higher the link speed, the lower the delay. </a:t>
            </a:r>
          </a:p>
          <a:p>
            <a:pPr marL="480472" lvl="1" indent="-480472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The serialization delay s is equal to the packet size in bits divided by the line speed in bits per second. </a:t>
            </a:r>
          </a:p>
          <a:p>
            <a:pPr marL="0" indent="0">
              <a:buNone/>
            </a:pPr>
            <a:r>
              <a:rPr lang="en-US" dirty="0"/>
              <a:t>Processing delay is the fixed amount of time it takes for a networking device to take the packet from an input interface and place the packet onto the output queue of the output interface. </a:t>
            </a:r>
          </a:p>
          <a:p>
            <a:pPr marL="0" indent="0">
              <a:buNone/>
            </a:pPr>
            <a:endParaRPr lang="en-US" sz="2133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9B1915-AF55-44C0-8551-EC9A89CF3922}"/>
              </a:ext>
            </a:extLst>
          </p:cNvPr>
          <p:cNvSpPr/>
          <p:nvPr/>
        </p:nvSpPr>
        <p:spPr>
          <a:xfrm>
            <a:off x="429159" y="4633020"/>
            <a:ext cx="11264317" cy="16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0472" lvl="1" indent="-480472" defTabSz="912261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The processing delay depends on factors such as the following:</a:t>
            </a:r>
          </a:p>
          <a:p>
            <a:pPr marL="990575" lvl="1" indent="-380990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1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speed (for software-based platforms)</a:t>
            </a:r>
          </a:p>
          <a:p>
            <a:pPr marL="990575" lvl="1" indent="-380990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1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architecture (centralized or distributed)</a:t>
            </a:r>
          </a:p>
          <a:p>
            <a:pPr marL="990575" lvl="1" indent="-380990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1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 features on both input and output interfaces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58BE1-8E20-8C13-DA61-E5F1B5188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525" kern="1200">
                <a:solidFill>
                  <a:schemeClr val="tx2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9</a:t>
            </a:fld>
            <a:endParaRPr lang="en-US" kern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66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1774" y="5382"/>
            <a:ext cx="11588449" cy="85598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en-US" sz="5333" dirty="0">
                <a:solidFill>
                  <a:srgbClr val="000000"/>
                </a:solidFill>
              </a:rPr>
              <a:t>Delay Variation/Packet Loss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2621" y="973394"/>
            <a:ext cx="11375921" cy="5879225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Delay variation / jitter is the difference in the latency between packets in a single flow.</a:t>
            </a:r>
          </a:p>
          <a:p>
            <a:pPr marL="0" indent="0">
              <a:buNone/>
            </a:pPr>
            <a:r>
              <a:rPr lang="en-US" sz="2667" dirty="0"/>
              <a:t>Experienced due to the queueing delay experienced during periods of network congestion. </a:t>
            </a:r>
          </a:p>
          <a:p>
            <a:pPr marL="0" indent="0">
              <a:buNone/>
            </a:pPr>
            <a:r>
              <a:rPr lang="en-US" sz="2667" dirty="0"/>
              <a:t>Packet loss is usually a result of congestion on an interface, and can be prevented by implementing one of the following approaches:</a:t>
            </a:r>
          </a:p>
          <a:p>
            <a:pPr marL="480472" lvl="1" indent="-48047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Increase link speed.</a:t>
            </a:r>
          </a:p>
          <a:p>
            <a:pPr marL="480472" lvl="1" indent="-48047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Implement QoS congestion-avoidance and congestion-management mechanism.</a:t>
            </a:r>
          </a:p>
          <a:p>
            <a:pPr marL="480472" lvl="1" indent="-48047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Implement traffic policing to drop low-priority packets and allow high-priority traffic through.</a:t>
            </a:r>
          </a:p>
          <a:p>
            <a:pPr marL="480472" lvl="1" indent="-48047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360983" algn="l"/>
                <a:tab pos="1477396" algn="l"/>
              </a:tabLst>
            </a:pPr>
            <a:r>
              <a:rPr lang="en-US" sz="2400" dirty="0"/>
              <a:t>Implement traffic shaping to delay packets instead of dropping them since traffic may burst and exceed the capacity of an interface buffer. </a:t>
            </a:r>
          </a:p>
          <a:p>
            <a:pPr marL="673085" lvl="3" indent="-480472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Wingdings" pitchFamily="2" charset="2"/>
              <a:buChar char="ü"/>
              <a:tabLst>
                <a:tab pos="1360983" algn="l"/>
                <a:tab pos="1477396" algn="l"/>
              </a:tabLst>
            </a:pPr>
            <a:r>
              <a:rPr lang="en-US" dirty="0">
                <a:solidFill>
                  <a:schemeClr val="bg1"/>
                </a:solidFill>
              </a:rPr>
              <a:t>Traffic shaping is not recommended for real-time traffic because it relies on queuing that can cause jitter.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67994-E1FD-776B-0154-315A5D4C9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525" kern="1200">
                <a:solidFill>
                  <a:schemeClr val="tx2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10</a:t>
            </a:fld>
            <a:endParaRPr lang="en-US" kern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992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9941-5F1C-C3F9-AF4F-36713325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DE55B909-9829-0FBF-B754-E7449EBBE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C542018-8651-44E7-9B31-B7947C87D1B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31BD3CE-C4BC-9AC0-D0B8-22B21A14F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QoS</a:t>
            </a:r>
            <a:r>
              <a:rPr lang="en-US" sz="4000" dirty="0"/>
              <a:t> Support in IP Networks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927AD0C-4F90-45C3-2627-823B5B76A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63757"/>
            <a:ext cx="7772400" cy="3644851"/>
          </a:xfrm>
        </p:spPr>
        <p:txBody>
          <a:bodyPr/>
          <a:lstStyle/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Need for QoS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rgbClr val="0070C0"/>
                </a:solidFill>
              </a:rPr>
              <a:t>Principles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chemeClr val="bg1">
                    <a:lumMod val="75000"/>
                  </a:schemeClr>
                </a:solidFill>
              </a:rPr>
              <a:t>IntServ</a:t>
            </a:r>
            <a:endParaRPr lang="en-US" sz="3600" dirty="0">
              <a:solidFill>
                <a:schemeClr val="bg1">
                  <a:lumMod val="75000"/>
                </a:schemeClr>
              </a:solidFill>
            </a:endParaRP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chemeClr val="bg1">
                    <a:lumMod val="75000"/>
                  </a:schemeClr>
                </a:solidFill>
              </a:rPr>
              <a:t>DiffServ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0514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44C46C7-CB8E-4049-AFAE-3579A0E9FAB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Principles for QoS Guarantees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039813"/>
            <a:ext cx="10598484" cy="1890712"/>
          </a:xfrm>
        </p:spPr>
        <p:txBody>
          <a:bodyPr/>
          <a:lstStyle/>
          <a:p>
            <a:r>
              <a:rPr lang="en-US" dirty="0"/>
              <a:t>Let us explore these functions using a simple example</a:t>
            </a:r>
          </a:p>
          <a:p>
            <a:pPr lvl="1"/>
            <a:r>
              <a:rPr lang="en-US" dirty="0"/>
              <a:t>1Mbps IP phone, FTP share 1.5 Mbps link. </a:t>
            </a:r>
          </a:p>
          <a:p>
            <a:pPr lvl="1"/>
            <a:r>
              <a:rPr lang="en-US" dirty="0"/>
              <a:t>bursts of FTP can congest router, cause audio loss</a:t>
            </a:r>
          </a:p>
          <a:p>
            <a:pPr lvl="1"/>
            <a:r>
              <a:rPr lang="en-US" dirty="0"/>
              <a:t>want to give priority to audio over FTP</a:t>
            </a:r>
          </a:p>
        </p:txBody>
      </p:sp>
      <p:pic>
        <p:nvPicPr>
          <p:cNvPr id="22533" name="Picture 4" descr="652 Audio and FTP App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1576" y="2819400"/>
            <a:ext cx="4710113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1020279" y="5493271"/>
            <a:ext cx="995252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packet </a:t>
            </a:r>
            <a:r>
              <a:rPr lang="en-US" sz="2400" u="sng" dirty="0">
                <a:solidFill>
                  <a:schemeClr val="accent2"/>
                </a:solidFill>
              </a:rPr>
              <a:t>marking</a:t>
            </a:r>
            <a:r>
              <a:rPr lang="en-US" sz="2400" dirty="0">
                <a:solidFill>
                  <a:schemeClr val="accent2"/>
                </a:solidFill>
              </a:rPr>
              <a:t> needed for router to distinguish between different classes; and new </a:t>
            </a:r>
            <a:r>
              <a:rPr lang="en-US" sz="2400" u="sng" dirty="0">
                <a:solidFill>
                  <a:schemeClr val="accent2"/>
                </a:solidFill>
              </a:rPr>
              <a:t>router policy</a:t>
            </a:r>
            <a:r>
              <a:rPr lang="en-US" sz="2400" dirty="0">
                <a:solidFill>
                  <a:schemeClr val="accent2"/>
                </a:solidFill>
              </a:rPr>
              <a:t> to treat packets accordingly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1020279" y="5118101"/>
            <a:ext cx="9952522" cy="14446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1219199" y="4884740"/>
            <a:ext cx="161925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Principle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106C8D6-7440-44ED-9505-4120F384408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Principles for QoS Guarantees (more)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897" y="1131889"/>
            <a:ext cx="10363200" cy="1812925"/>
          </a:xfrm>
        </p:spPr>
        <p:txBody>
          <a:bodyPr/>
          <a:lstStyle/>
          <a:p>
            <a:r>
              <a:rPr lang="en-US" dirty="0"/>
              <a:t>what if applications misbehave (audio sends higher than declared rate)</a:t>
            </a:r>
          </a:p>
          <a:p>
            <a:pPr lvl="1"/>
            <a:r>
              <a:rPr lang="en-US" dirty="0"/>
              <a:t>policing: force source adherence to bandwidth allocations</a:t>
            </a:r>
          </a:p>
          <a:p>
            <a:r>
              <a:rPr lang="en-US" dirty="0"/>
              <a:t>marking and policing at network edge:</a:t>
            </a:r>
            <a:endParaRPr lang="en-US" sz="2000" dirty="0"/>
          </a:p>
        </p:txBody>
      </p:sp>
      <p:pic>
        <p:nvPicPr>
          <p:cNvPr id="23557" name="Picture 4" descr="653 Policing and Marking at Edg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4726" y="3072953"/>
            <a:ext cx="495617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1164657" y="5965828"/>
            <a:ext cx="928902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provide protection (</a:t>
            </a:r>
            <a:r>
              <a:rPr lang="en-US" sz="2400" i="1" dirty="0">
                <a:solidFill>
                  <a:schemeClr val="accent2"/>
                </a:solidFill>
              </a:rPr>
              <a:t>isolation</a:t>
            </a:r>
            <a:r>
              <a:rPr lang="en-US" sz="2400" dirty="0">
                <a:solidFill>
                  <a:schemeClr val="accent2"/>
                </a:solidFill>
              </a:rPr>
              <a:t>) for one class from others</a:t>
            </a:r>
            <a:endParaRPr lang="en-US" sz="20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1058779" y="5818190"/>
            <a:ext cx="9825121" cy="7635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Text Box 7"/>
          <p:cNvSpPr txBox="1">
            <a:spLocks noChangeArrowheads="1"/>
          </p:cNvSpPr>
          <p:nvPr/>
        </p:nvSpPr>
        <p:spPr bwMode="auto">
          <a:xfrm>
            <a:off x="1308100" y="5461006"/>
            <a:ext cx="1668462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Principle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8379EC6-2542-4CFB-B787-05C997ECD16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Principles for QoS Guarantees (more)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190625"/>
            <a:ext cx="10444480" cy="1214438"/>
          </a:xfrm>
        </p:spPr>
        <p:txBody>
          <a:bodyPr/>
          <a:lstStyle/>
          <a:p>
            <a:r>
              <a:rPr lang="en-US" dirty="0"/>
              <a:t>Allocating </a:t>
            </a:r>
            <a:r>
              <a:rPr lang="en-US" i="1" dirty="0"/>
              <a:t>fixed </a:t>
            </a:r>
            <a:r>
              <a:rPr lang="en-US" dirty="0"/>
              <a:t>(non-sharable) bandwidth to flow: </a:t>
            </a:r>
            <a:r>
              <a:rPr lang="en-US" i="1" dirty="0"/>
              <a:t>inefficient</a:t>
            </a:r>
            <a:r>
              <a:rPr lang="en-US" dirty="0"/>
              <a:t> use of bandwidth if flows doesn’t use its allocation</a:t>
            </a:r>
            <a:endParaRPr lang="en-US" b="1" dirty="0"/>
          </a:p>
        </p:txBody>
      </p:sp>
      <p:pic>
        <p:nvPicPr>
          <p:cNvPr id="24581" name="Picture 4" descr="654 Logical Isolation Through Bandwidth Alloc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8965" y="2378962"/>
            <a:ext cx="5568950" cy="239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1395663" y="5653089"/>
            <a:ext cx="94882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While providing isolation, it is desirable to use resources as efficiently as possible</a:t>
            </a:r>
            <a:endParaRPr lang="en-US" sz="24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1212783" y="5422900"/>
            <a:ext cx="9861617" cy="115093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Text Box 7"/>
          <p:cNvSpPr txBox="1">
            <a:spLocks noChangeArrowheads="1"/>
          </p:cNvSpPr>
          <p:nvPr/>
        </p:nvSpPr>
        <p:spPr bwMode="auto">
          <a:xfrm>
            <a:off x="1552709" y="5106137"/>
            <a:ext cx="1668463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Principle 3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A9EBD1B-FB74-4A19-84B2-3F80825ED7D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Principles for QoS Guarantees (more)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339852"/>
            <a:ext cx="10598484" cy="598486"/>
          </a:xfrm>
        </p:spPr>
        <p:txBody>
          <a:bodyPr/>
          <a:lstStyle/>
          <a:p>
            <a:r>
              <a:rPr lang="en-US" i="1" dirty="0"/>
              <a:t>Basic fact of life:</a:t>
            </a:r>
            <a:r>
              <a:rPr lang="en-US" dirty="0"/>
              <a:t> can not support traffic demands beyond link capacity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25605" name="Picture 4" descr="655 Overloaded Lin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32226" y="2185988"/>
            <a:ext cx="4416425" cy="255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1251284" y="5368926"/>
            <a:ext cx="99043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Call Admission: flow declares its needs, network may block call (e.g., busy signal) if it cannot meet needs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1251284" y="5140325"/>
            <a:ext cx="9904396" cy="115093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Text Box 7"/>
          <p:cNvSpPr txBox="1">
            <a:spLocks noChangeArrowheads="1"/>
          </p:cNvSpPr>
          <p:nvPr/>
        </p:nvSpPr>
        <p:spPr bwMode="auto">
          <a:xfrm>
            <a:off x="1617362" y="4893629"/>
            <a:ext cx="1668462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Principle 4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734A15A-134C-4E54-AE04-6DDFB4BCF9C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363539"/>
            <a:ext cx="8969375" cy="871537"/>
          </a:xfrm>
        </p:spPr>
        <p:txBody>
          <a:bodyPr/>
          <a:lstStyle/>
          <a:p>
            <a:pPr algn="l"/>
            <a:r>
              <a:rPr lang="en-US" sz="4000" dirty="0"/>
              <a:t>Summary of QoS Principles </a:t>
            </a:r>
          </a:p>
        </p:txBody>
      </p:sp>
      <p:pic>
        <p:nvPicPr>
          <p:cNvPr id="26628" name="Picture 3" descr="656 Four Pilla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99" y="1406526"/>
            <a:ext cx="9186863" cy="4651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31A83B3-FE7D-46E3-A5E9-2B367DA688B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75938" cy="871538"/>
          </a:xfrm>
        </p:spPr>
        <p:txBody>
          <a:bodyPr/>
          <a:lstStyle/>
          <a:p>
            <a:pPr algn="l"/>
            <a:r>
              <a:rPr lang="en-US" sz="4000" dirty="0"/>
              <a:t>Scheduling And Policing Mechanisms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199" y="1339849"/>
            <a:ext cx="10675939" cy="498395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3200" dirty="0">
                <a:solidFill>
                  <a:srgbClr val="0070C0"/>
                </a:solidFill>
              </a:rPr>
              <a:t>Scheduling: </a:t>
            </a:r>
            <a:r>
              <a:rPr lang="en-US" sz="3200" dirty="0"/>
              <a:t>choose next packet to send on link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solidFill>
                  <a:srgbClr val="0070C0"/>
                </a:solidFill>
              </a:rPr>
              <a:t>FIFO (first in first out) scheduling: </a:t>
            </a:r>
            <a:r>
              <a:rPr lang="en-US" sz="3200" dirty="0"/>
              <a:t>send in order of arrival to queue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olidFill>
                  <a:srgbClr val="0070C0"/>
                </a:solidFill>
              </a:rPr>
              <a:t>Discard policy: </a:t>
            </a:r>
            <a:r>
              <a:rPr lang="en-US" sz="2800" dirty="0"/>
              <a:t>if packet arrives to full queue: who to discard?</a:t>
            </a:r>
          </a:p>
          <a:p>
            <a:pPr lvl="2">
              <a:spcBef>
                <a:spcPts val="1200"/>
              </a:spcBef>
            </a:pPr>
            <a:r>
              <a:rPr lang="en-US" sz="2800" dirty="0"/>
              <a:t>Tail drop: drop arriving packet</a:t>
            </a:r>
          </a:p>
          <a:p>
            <a:pPr lvl="2">
              <a:spcBef>
                <a:spcPts val="1200"/>
              </a:spcBef>
            </a:pPr>
            <a:r>
              <a:rPr lang="en-US" sz="2800" dirty="0"/>
              <a:t>Priority: drop/remove on priority basis</a:t>
            </a:r>
          </a:p>
          <a:p>
            <a:pPr lvl="2">
              <a:spcBef>
                <a:spcPts val="1200"/>
              </a:spcBef>
            </a:pPr>
            <a:r>
              <a:rPr lang="en-US" sz="2800" dirty="0"/>
              <a:t>Random: drop/remove randomly</a:t>
            </a:r>
          </a:p>
        </p:txBody>
      </p:sp>
      <p:pic>
        <p:nvPicPr>
          <p:cNvPr id="27653" name="Picture 4" descr="661 FIF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3398" y="4777587"/>
            <a:ext cx="4816475" cy="167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653AF0E-D695-4A00-BC8D-8B1B3CF8042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75938" cy="871538"/>
          </a:xfrm>
        </p:spPr>
        <p:txBody>
          <a:bodyPr/>
          <a:lstStyle/>
          <a:p>
            <a:pPr algn="l"/>
            <a:r>
              <a:rPr lang="en-US" sz="4000" dirty="0"/>
              <a:t>Scheduling Policies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289049"/>
            <a:ext cx="10675938" cy="456882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buFont typeface="ZapfDingbats" pitchFamily="82" charset="2"/>
              <a:buNone/>
            </a:pPr>
            <a:r>
              <a:rPr lang="en-US" sz="3600" dirty="0">
                <a:solidFill>
                  <a:srgbClr val="0070C0"/>
                </a:solidFill>
              </a:rPr>
              <a:t>Priority scheduling: </a:t>
            </a:r>
            <a:r>
              <a:rPr lang="en-US" sz="3600" dirty="0"/>
              <a:t>transmit highest-priority queued packet </a:t>
            </a:r>
          </a:p>
          <a:p>
            <a:pPr marL="541338" indent="-541338">
              <a:spcBef>
                <a:spcPts val="1200"/>
              </a:spcBef>
              <a:spcAft>
                <a:spcPts val="600"/>
              </a:spcAft>
            </a:pPr>
            <a:r>
              <a:rPr lang="en-US" sz="3600" dirty="0"/>
              <a:t>Multiple </a:t>
            </a:r>
            <a:r>
              <a:rPr lang="en-US" sz="3600" i="1" dirty="0"/>
              <a:t>classes</a:t>
            </a:r>
            <a:r>
              <a:rPr lang="en-US" sz="3600" dirty="0"/>
              <a:t>, with different priorities</a:t>
            </a:r>
          </a:p>
          <a:p>
            <a:pPr marL="855663" lvl="1" indent="-398463">
              <a:spcBef>
                <a:spcPts val="1200"/>
              </a:spcBef>
              <a:spcAft>
                <a:spcPts val="600"/>
              </a:spcAft>
            </a:pPr>
            <a:r>
              <a:rPr lang="en-US" sz="3200" dirty="0"/>
              <a:t>Class may depend on marking or other header info, e.g. IP source/</a:t>
            </a:r>
            <a:r>
              <a:rPr lang="en-US" sz="3200" dirty="0" err="1"/>
              <a:t>dest</a:t>
            </a:r>
            <a:r>
              <a:rPr lang="en-US" sz="3200" dirty="0"/>
              <a:t>, port numbers, etc..</a:t>
            </a:r>
          </a:p>
        </p:txBody>
      </p:sp>
      <p:pic>
        <p:nvPicPr>
          <p:cNvPr id="28677" name="Picture 4" descr="663  2-Priority Que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2612" y="4143375"/>
            <a:ext cx="4548188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488CC07-8356-4D13-A17C-9519B6CDF60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85752"/>
            <a:ext cx="10675938" cy="871538"/>
          </a:xfrm>
        </p:spPr>
        <p:txBody>
          <a:bodyPr/>
          <a:lstStyle/>
          <a:p>
            <a:pPr algn="l"/>
            <a:r>
              <a:rPr lang="en-US" sz="4000" dirty="0"/>
              <a:t>Scheduling Policies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528762"/>
            <a:ext cx="10675938" cy="4656137"/>
          </a:xfrm>
          <a:noFill/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3200" dirty="0">
                <a:solidFill>
                  <a:srgbClr val="0070C0"/>
                </a:solidFill>
              </a:rPr>
              <a:t>Weighted Fair Queuing: </a:t>
            </a:r>
          </a:p>
          <a:p>
            <a:pPr marL="541338" indent="-541338"/>
            <a:r>
              <a:rPr lang="en-US" sz="3200" dirty="0"/>
              <a:t>Generalized Round Robin</a:t>
            </a:r>
          </a:p>
          <a:p>
            <a:pPr marL="541338" indent="-541338"/>
            <a:r>
              <a:rPr lang="en-US" sz="3200" dirty="0"/>
              <a:t>Each class gets weighted amount of service in each cycle</a:t>
            </a:r>
          </a:p>
        </p:txBody>
      </p:sp>
      <p:pic>
        <p:nvPicPr>
          <p:cNvPr id="29701" name="Picture 4" descr="666 WF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6056" y="3730625"/>
            <a:ext cx="6719887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B4BDE67-62EB-41BB-AB8D-5FD6FE6D2C6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713013" cy="871538"/>
          </a:xfrm>
        </p:spPr>
        <p:txBody>
          <a:bodyPr/>
          <a:lstStyle/>
          <a:p>
            <a:pPr algn="l"/>
            <a:r>
              <a:rPr lang="en-US" sz="4000" dirty="0"/>
              <a:t>Policing Mechanisms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199" y="1100140"/>
            <a:ext cx="10713013" cy="3385234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u="sng" dirty="0">
                <a:solidFill>
                  <a:srgbClr val="0070C0"/>
                </a:solidFill>
              </a:rPr>
              <a:t>Goal: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limit traffic to not exceed declared parameters</a:t>
            </a:r>
          </a:p>
          <a:p>
            <a:pPr>
              <a:buFont typeface="ZapfDingbats" pitchFamily="82" charset="2"/>
              <a:buNone/>
            </a:pPr>
            <a:r>
              <a:rPr lang="en-US" sz="2000" dirty="0"/>
              <a:t>Three common-used criteria: </a:t>
            </a:r>
          </a:p>
          <a:p>
            <a:r>
              <a:rPr lang="en-US" sz="2000" i="1" dirty="0">
                <a:solidFill>
                  <a:srgbClr val="0070C0"/>
                </a:solidFill>
              </a:rPr>
              <a:t>(Long term) Average Rate: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how many pkts can be sent per unit time</a:t>
            </a:r>
          </a:p>
          <a:p>
            <a:pPr lvl="1"/>
            <a:r>
              <a:rPr lang="en-US" sz="1800" dirty="0"/>
              <a:t>Crucial question: what is the interval length: 100 packets per sec and 6000 packets per min (ppm)  have same average!</a:t>
            </a:r>
          </a:p>
          <a:p>
            <a:r>
              <a:rPr lang="en-US" sz="2000" i="1" dirty="0">
                <a:solidFill>
                  <a:srgbClr val="0070C0"/>
                </a:solidFill>
              </a:rPr>
              <a:t>Peak Rate: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e.g., </a:t>
            </a:r>
          </a:p>
          <a:p>
            <a:pPr lvl="1"/>
            <a:r>
              <a:rPr lang="en-US" sz="1800" dirty="0" err="1"/>
              <a:t>Avg</a:t>
            </a:r>
            <a:r>
              <a:rPr lang="en-US" sz="1800" dirty="0"/>
              <a:t> rate: 6000 ppm </a:t>
            </a:r>
          </a:p>
          <a:p>
            <a:pPr lvl="1"/>
            <a:r>
              <a:rPr lang="en-US" sz="1800" dirty="0"/>
              <a:t>Peak rate: 25 </a:t>
            </a:r>
            <a:r>
              <a:rPr lang="en-US" sz="1800" dirty="0" err="1"/>
              <a:t>pps</a:t>
            </a:r>
            <a:r>
              <a:rPr lang="en-US" sz="1800" dirty="0"/>
              <a:t> (= 1500 ppm) </a:t>
            </a:r>
          </a:p>
          <a:p>
            <a:r>
              <a:rPr lang="en-US" sz="2000" i="1" dirty="0">
                <a:solidFill>
                  <a:srgbClr val="0070C0"/>
                </a:solidFill>
              </a:rPr>
              <a:t>(Max.) Burst Size: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max. number of </a:t>
            </a:r>
            <a:r>
              <a:rPr lang="en-US" sz="2000" dirty="0" err="1"/>
              <a:t>pkts</a:t>
            </a:r>
            <a:r>
              <a:rPr lang="en-US" sz="2000" dirty="0"/>
              <a:t> sent consecutively (with no intervening idle)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242F5-597B-6A39-E154-7954B4B10682}"/>
              </a:ext>
            </a:extLst>
          </p:cNvPr>
          <p:cNvSpPr txBox="1"/>
          <p:nvPr/>
        </p:nvSpPr>
        <p:spPr>
          <a:xfrm>
            <a:off x="621739" y="4603708"/>
            <a:ext cx="1116386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Putting it all together</a:t>
            </a:r>
          </a:p>
          <a:p>
            <a:pPr marL="266700" indent="-266700" algn="l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Rate 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long-term traffic load (e.g., 6000 ppm).</a:t>
            </a:r>
          </a:p>
          <a:p>
            <a:pPr marL="266700" indent="-266700" algn="l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i="0" u="none" strike="noStrike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Rate 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maximum instantaneous sending speed (e.g., 25 </a:t>
            </a:r>
            <a:r>
              <a:rPr lang="en-US" sz="2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pps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66700" indent="-266700" algn="l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i="0" u="none" strike="noStrike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Burst Size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how many packets can be sent consecutively before you must slow down.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31AFBC3-EDF5-4345-8399-E5268ACCFBC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655139" cy="871538"/>
          </a:xfrm>
        </p:spPr>
        <p:txBody>
          <a:bodyPr/>
          <a:lstStyle/>
          <a:p>
            <a:pPr algn="l"/>
            <a:r>
              <a:rPr lang="en-US" dirty="0"/>
              <a:t>Policing Mechanisms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101726"/>
            <a:ext cx="10840334" cy="5299074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2800" u="sng" dirty="0">
                <a:solidFill>
                  <a:srgbClr val="0070C0"/>
                </a:solidFill>
              </a:rPr>
              <a:t>Leaky Bucket: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traffic shaping / policing mechanism</a:t>
            </a:r>
          </a:p>
          <a:p>
            <a:r>
              <a:rPr lang="en-US" dirty="0"/>
              <a:t>limit input to specified </a:t>
            </a:r>
            <a:r>
              <a:rPr lang="en-US" u="sng" dirty="0"/>
              <a:t>Burst Size </a:t>
            </a:r>
            <a:r>
              <a:rPr lang="en-US" dirty="0"/>
              <a:t>and </a:t>
            </a:r>
            <a:r>
              <a:rPr lang="en-US" u="sng" dirty="0"/>
              <a:t>Average Rate</a:t>
            </a:r>
            <a:r>
              <a:rPr lang="en-US" dirty="0"/>
              <a:t>. </a:t>
            </a:r>
          </a:p>
          <a:p>
            <a:pPr>
              <a:buFont typeface="ZapfDingbats" pitchFamily="82" charset="2"/>
              <a:buNone/>
            </a:pPr>
            <a:endParaRPr lang="en-US" dirty="0"/>
          </a:p>
          <a:p>
            <a:pPr>
              <a:buFont typeface="ZapfDingbats" pitchFamily="82" charset="2"/>
              <a:buNone/>
            </a:pPr>
            <a:endParaRPr lang="en-US" dirty="0"/>
          </a:p>
          <a:p>
            <a:pPr>
              <a:buFont typeface="ZapfDingbats" pitchFamily="82" charset="2"/>
              <a:buNone/>
            </a:pPr>
            <a:endParaRPr lang="en-US" dirty="0"/>
          </a:p>
          <a:p>
            <a:pPr>
              <a:buFont typeface="ZapfDingbats" pitchFamily="82" charset="2"/>
              <a:buNone/>
            </a:pPr>
            <a:endParaRPr lang="en-US" dirty="0"/>
          </a:p>
          <a:p>
            <a:pPr>
              <a:buFont typeface="ZapfDingbats" pitchFamily="82" charset="2"/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Bucket can hold b tokens (R</a:t>
            </a:r>
            <a:r>
              <a:rPr lang="en-LB" dirty="0"/>
              <a:t>epresents the burst size)</a:t>
            </a:r>
            <a:endParaRPr lang="en-US" dirty="0"/>
          </a:p>
          <a:p>
            <a:r>
              <a:rPr lang="en-US" dirty="0"/>
              <a:t>Tokens generated at rate </a:t>
            </a:r>
            <a:r>
              <a:rPr lang="en-US" i="1" dirty="0"/>
              <a:t>r token/sec</a:t>
            </a:r>
            <a:r>
              <a:rPr lang="en-US" dirty="0"/>
              <a:t> unless bucket full (</a:t>
            </a:r>
            <a:r>
              <a:rPr lang="en-LB" dirty="0"/>
              <a:t>represents the average rate)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Over interval of length t: number of packets admitted less than or equal to  (r t + b).</a:t>
            </a:r>
          </a:p>
          <a:p>
            <a:endParaRPr lang="en-US" dirty="0"/>
          </a:p>
        </p:txBody>
      </p:sp>
      <p:pic>
        <p:nvPicPr>
          <p:cNvPr id="31749" name="Picture 4" descr="667 Token bucke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9267" y="2574572"/>
            <a:ext cx="4199001" cy="208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8B3988-677C-CDEB-3655-3B77C344B2FB}"/>
              </a:ext>
            </a:extLst>
          </p:cNvPr>
          <p:cNvSpPr txBox="1"/>
          <p:nvPr/>
        </p:nvSpPr>
        <p:spPr>
          <a:xfrm>
            <a:off x="8387616" y="2967335"/>
            <a:ext cx="3249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If no tokens are available, the packet must </a:t>
            </a:r>
            <a:r>
              <a:rPr lang="en-US" b="1" i="1" u="none" strike="noStrike" dirty="0">
                <a:solidFill>
                  <a:srgbClr val="0070C0"/>
                </a:solidFill>
                <a:effectLst/>
              </a:rPr>
              <a:t>wait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</a:t>
            </a:r>
            <a:r>
              <a:rPr lang="en-US" b="0" i="0" u="none" strike="noStrike" dirty="0">
                <a:solidFill>
                  <a:srgbClr val="0070C0"/>
                </a:solidFill>
                <a:effectLst/>
                <a:latin typeface="-webkit-standard"/>
              </a:rPr>
              <a:t>shaping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or is </a:t>
            </a:r>
            <a:r>
              <a:rPr lang="en-US" b="1" i="1" u="none" strike="noStrike" dirty="0">
                <a:solidFill>
                  <a:srgbClr val="0070C0"/>
                </a:solidFill>
                <a:effectLst/>
              </a:rPr>
              <a:t>dropped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</a:t>
            </a:r>
            <a:r>
              <a:rPr lang="en-US" b="0" i="0" u="none" strike="noStrike" dirty="0">
                <a:solidFill>
                  <a:srgbClr val="0070C0"/>
                </a:solidFill>
                <a:effectLst/>
                <a:latin typeface="-webkit-standard"/>
              </a:rPr>
              <a:t>policing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).</a:t>
            </a:r>
            <a:endParaRPr lang="en-L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714FE7-9CAF-595F-8FF8-7EBE0CD3E83D}"/>
              </a:ext>
            </a:extLst>
          </p:cNvPr>
          <p:cNvGrpSpPr/>
          <p:nvPr/>
        </p:nvGrpSpPr>
        <p:grpSpPr>
          <a:xfrm>
            <a:off x="8479857" y="2510135"/>
            <a:ext cx="558265" cy="478688"/>
            <a:chOff x="8479857" y="2510135"/>
            <a:chExt cx="558265" cy="478688"/>
          </a:xfrm>
        </p:grpSpPr>
        <p:sp>
          <p:nvSpPr>
            <p:cNvPr id="5" name="Extract 4">
              <a:extLst>
                <a:ext uri="{FF2B5EF4-FFF2-40B4-BE49-F238E27FC236}">
                  <a16:creationId xmlns:a16="http://schemas.microsoft.com/office/drawing/2014/main" id="{3E4D0E77-945A-EF71-F2FA-96CCD5D6710F}"/>
                </a:ext>
              </a:extLst>
            </p:cNvPr>
            <p:cNvSpPr/>
            <p:nvPr/>
          </p:nvSpPr>
          <p:spPr bwMode="auto">
            <a:xfrm>
              <a:off x="8479857" y="2510135"/>
              <a:ext cx="558265" cy="464768"/>
            </a:xfrm>
            <a:prstGeom prst="flowChartExtra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L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B8113C4-BA5D-BE05-083C-D687C8D3C8B0}"/>
                </a:ext>
              </a:extLst>
            </p:cNvPr>
            <p:cNvSpPr txBox="1"/>
            <p:nvPr/>
          </p:nvSpPr>
          <p:spPr>
            <a:xfrm>
              <a:off x="8633860" y="2619491"/>
              <a:ext cx="250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LB" dirty="0">
                  <a:solidFill>
                    <a:srgbClr val="FF0000"/>
                  </a:solidFill>
                </a:rPr>
                <a:t>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DC02-FA75-3207-91A6-0F7D64D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5B526898-6D5A-4167-8545-7F155CA7C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31AFBC3-EDF5-4345-8399-E5268ACCFBC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528CD0B-E816-0070-CDD3-D4236F729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655139" cy="871538"/>
          </a:xfrm>
        </p:spPr>
        <p:txBody>
          <a:bodyPr/>
          <a:lstStyle/>
          <a:p>
            <a:pPr algn="l"/>
            <a:r>
              <a:rPr lang="en-US" dirty="0"/>
              <a:t>Policing Mechanisms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4483ADE-93CD-1F01-20B2-5EAE4B7C8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1188353"/>
            <a:ext cx="10840334" cy="5068068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2800" u="sng" dirty="0">
                <a:solidFill>
                  <a:srgbClr val="0070C0"/>
                </a:solidFill>
              </a:rPr>
              <a:t>Leaky Bucket / Example: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Suppose:</a:t>
            </a:r>
          </a:p>
          <a:p>
            <a:pPr marL="981075" indent="-3175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Bucket size b=10 tokens.</a:t>
            </a:r>
          </a:p>
          <a:p>
            <a:pPr marL="981075" indent="-3175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 generation rate r=5 tokens/sec.</a:t>
            </a:r>
          </a:p>
          <a:p>
            <a:pPr algn="l"/>
            <a:r>
              <a:rPr lang="en-US" dirty="0">
                <a:solidFill>
                  <a:srgbClr val="000000"/>
                </a:solidFill>
              </a:rPr>
              <a:t>Then: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981075" indent="-3365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At time t=0, bucket is full → </a:t>
            </a:r>
            <a:r>
              <a:rPr lang="en-US" i="1" u="none" strike="noStrike" dirty="0">
                <a:solidFill>
                  <a:srgbClr val="0070C0"/>
                </a:solidFill>
                <a:effectLst/>
              </a:rPr>
              <a:t>10 packets can be sent immediately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(burst).</a:t>
            </a:r>
          </a:p>
          <a:p>
            <a:pPr marL="981075" indent="-3365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After that, only </a:t>
            </a:r>
            <a:r>
              <a:rPr lang="en-US" i="1" u="none" strike="noStrike" dirty="0">
                <a:solidFill>
                  <a:srgbClr val="0070C0"/>
                </a:solidFill>
                <a:effectLst/>
              </a:rPr>
              <a:t>5 packets per second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 be sent (because only 5 new tokens arrive each second).</a:t>
            </a:r>
          </a:p>
          <a:p>
            <a:pPr marL="981075" indent="-3365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any interval of t seconds, you can’t send more than:</a:t>
            </a:r>
          </a:p>
          <a:p>
            <a:pPr marL="644525" indent="0" algn="ctr">
              <a:spcBef>
                <a:spcPts val="1800"/>
              </a:spcBef>
              <a:buNone/>
            </a:pPr>
            <a:r>
              <a:rPr lang="en-US" sz="3200" b="0" i="1" u="none" strike="noStrike" dirty="0" err="1">
                <a:solidFill>
                  <a:srgbClr val="000000"/>
                </a:solidFill>
                <a:effectLst/>
              </a:rPr>
              <a:t>r⋅t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 + b = 5t + 10</a:t>
            </a:r>
          </a:p>
        </p:txBody>
      </p:sp>
      <p:pic>
        <p:nvPicPr>
          <p:cNvPr id="31749" name="Picture 4" descr="667 Token bucket">
            <a:extLst>
              <a:ext uri="{FF2B5EF4-FFF2-40B4-BE49-F238E27FC236}">
                <a16:creationId xmlns:a16="http://schemas.microsoft.com/office/drawing/2014/main" id="{C7A323CF-22D3-FC32-F79F-5C7BEBD5E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05988" y="534016"/>
            <a:ext cx="4179613" cy="207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432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26CCD3F-FD46-47E0-88C8-AB16CB2AFA6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678289" cy="871538"/>
          </a:xfrm>
        </p:spPr>
        <p:txBody>
          <a:bodyPr/>
          <a:lstStyle/>
          <a:p>
            <a:pPr algn="l"/>
            <a:r>
              <a:rPr lang="en-US" sz="4000" dirty="0"/>
              <a:t>Policing Mechanisms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1200" y="1230312"/>
            <a:ext cx="10678289" cy="2508311"/>
          </a:xfrm>
        </p:spPr>
        <p:txBody>
          <a:bodyPr/>
          <a:lstStyle/>
          <a:p>
            <a:pPr marL="541338" indent="-541338"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Leaky bucket + WFQ </a:t>
            </a:r>
            <a:r>
              <a:rPr lang="en-US" sz="2800" dirty="0">
                <a:sym typeface="Wingdings" pitchFamily="2" charset="2"/>
              </a:rPr>
              <a:t> </a:t>
            </a:r>
            <a:r>
              <a:rPr lang="en-US" sz="2800" dirty="0"/>
              <a:t>provide guaranteed upper bound on delay, i.e., </a:t>
            </a:r>
            <a:r>
              <a:rPr lang="en-US" sz="2800" i="1" dirty="0">
                <a:solidFill>
                  <a:srgbClr val="0070C0"/>
                </a:solidFill>
              </a:rPr>
              <a:t>QoS guarantee!  </a:t>
            </a:r>
            <a:r>
              <a:rPr lang="en-US" sz="2800" dirty="0">
                <a:solidFill>
                  <a:srgbClr val="0070C0"/>
                </a:solidFill>
              </a:rPr>
              <a:t>How?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sz="2400" dirty="0"/>
              <a:t>WFQ: guaranteed share of bandwidth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sz="2400" dirty="0"/>
              <a:t>Leaky bucket: limit max number of packets in queue  (burst)</a:t>
            </a:r>
          </a:p>
        </p:txBody>
      </p:sp>
      <p:pic>
        <p:nvPicPr>
          <p:cNvPr id="244740" name="Picture 4" descr="668 WFQ_and_tok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1435" y="3663345"/>
            <a:ext cx="4917815" cy="2737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B89FE0-AFBF-4F30-AE65-3B18BCBE3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227" y="189680"/>
            <a:ext cx="10130723" cy="13343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QoS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FA70F-DC0C-41D5-868E-C8FBC661D58F}"/>
              </a:ext>
            </a:extLst>
          </p:cNvPr>
          <p:cNvSpPr txBox="1"/>
          <p:nvPr/>
        </p:nvSpPr>
        <p:spPr>
          <a:xfrm>
            <a:off x="648930" y="1582994"/>
            <a:ext cx="10867213" cy="4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243840" bIns="60960" numCol="1" anchor="t" anchorCtr="0" compatLnSpc="1">
            <a:prstTxWarp prst="textNoShape">
              <a:avLst/>
            </a:prstTxWarp>
          </a:bodyPr>
          <a:lstStyle>
            <a:lvl1pPr marL="360363" indent="-360363" defTabSz="684213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3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358775" indent="-215900" defTabSz="684213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defTabSz="684213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defTabSz="684213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defTabSz="684213" eaLnBrk="1" hangingPunct="1">
              <a:lnSpc>
                <a:spcPct val="95000"/>
              </a:lnSpc>
              <a:spcBef>
                <a:spcPts val="625"/>
              </a:spcBef>
              <a:buFont typeface="Arial" charset="0"/>
              <a:buChar char="•"/>
              <a:defRPr lang="en-US" sz="1100" dirty="0">
                <a:latin typeface="+mn-lt"/>
                <a:ea typeface="ＭＳ Ｐゴシック" charset="0"/>
                <a:cs typeface="CiscoSans"/>
              </a:defRPr>
            </a:lvl5pPr>
            <a:lvl6pPr marL="863856" indent="-171445" defTabSz="685777">
              <a:spcBef>
                <a:spcPts val="600"/>
              </a:spcBef>
              <a:buFont typeface="Arial" pitchFamily="34" charset="0"/>
              <a:buChar char="•"/>
              <a:defRPr sz="900" baseline="0">
                <a:latin typeface="+mn-lt"/>
                <a:ea typeface="+mn-ea"/>
              </a:defRPr>
            </a:lvl6pPr>
            <a:lvl7pPr marL="935844" indent="-171422" defTabSz="685777">
              <a:spcBef>
                <a:spcPts val="600"/>
              </a:spcBef>
              <a:buFont typeface="Arial" pitchFamily="34" charset="0"/>
              <a:buChar char="•"/>
              <a:defRPr sz="800" baseline="0">
                <a:latin typeface="+mn-lt"/>
                <a:ea typeface="+mn-ea"/>
              </a:defRPr>
            </a:lvl7pPr>
            <a:lvl8pPr marL="2400220" indent="0" defTabSz="685777">
              <a:spcBef>
                <a:spcPct val="20000"/>
              </a:spcBef>
              <a:buFont typeface="Arial" pitchFamily="34" charset="0"/>
              <a:buNone/>
              <a:defRPr sz="1500">
                <a:latin typeface="+mn-lt"/>
                <a:ea typeface="+mn-ea"/>
              </a:defRPr>
            </a:lvl8pPr>
            <a:lvl9pPr marL="2914553" indent="-171445" defTabSz="685777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9pPr>
          </a:lstStyle>
          <a:p>
            <a:pPr algn="just">
              <a:spcBef>
                <a:spcPts val="1600"/>
              </a:spcBef>
              <a:spcAft>
                <a:spcPts val="1600"/>
              </a:spcAft>
            </a:pPr>
            <a:r>
              <a:rPr lang="en-US" dirty="0">
                <a:solidFill>
                  <a:srgbClr val="0070C0"/>
                </a:solidFill>
              </a:rPr>
              <a:t>Best effort </a:t>
            </a:r>
            <a:r>
              <a:rPr lang="en-US" dirty="0"/>
              <a:t>- QoS is not enabled for this model. It is used for traffic that does not require any special treatment.</a:t>
            </a:r>
          </a:p>
          <a:p>
            <a:pPr algn="just">
              <a:spcBef>
                <a:spcPts val="1600"/>
              </a:spcBef>
              <a:spcAft>
                <a:spcPts val="1600"/>
              </a:spcAft>
            </a:pPr>
            <a:r>
              <a:rPr lang="en-US" dirty="0">
                <a:solidFill>
                  <a:srgbClr val="0070C0"/>
                </a:solidFill>
              </a:rPr>
              <a:t>Integrated Services (IntServ) </a:t>
            </a:r>
            <a:r>
              <a:rPr lang="en-US" dirty="0"/>
              <a:t>- Applications signal the network to make a bandwidth reservation and to indicate that they require special QoS treatment.</a:t>
            </a:r>
          </a:p>
          <a:p>
            <a:pPr algn="just">
              <a:spcBef>
                <a:spcPts val="1600"/>
              </a:spcBef>
              <a:spcAft>
                <a:spcPts val="1600"/>
              </a:spcAft>
            </a:pPr>
            <a:r>
              <a:rPr lang="en-US" dirty="0">
                <a:solidFill>
                  <a:srgbClr val="0070C0"/>
                </a:solidFill>
              </a:rPr>
              <a:t>Differentiated Services (DiffServ) </a:t>
            </a:r>
            <a:r>
              <a:rPr lang="en-US" dirty="0"/>
              <a:t>- The network identifies classes that require special QoS treatment.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691706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9580-0F92-081F-7F3F-B70DF592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280F87-52B5-9100-D3EC-B18CCE6E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227" y="189680"/>
            <a:ext cx="10130723" cy="13343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QoS Models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7B1BB1-12D4-3B3D-BE00-828FF10DA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213" y="1520869"/>
            <a:ext cx="6752921" cy="4815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368607-24CF-F614-B32B-C6D1FBBC6CA2}"/>
              </a:ext>
            </a:extLst>
          </p:cNvPr>
          <p:cNvSpPr txBox="1"/>
          <p:nvPr/>
        </p:nvSpPr>
        <p:spPr>
          <a:xfrm>
            <a:off x="153444" y="4875466"/>
            <a:ext cx="62223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Applications signal the network to make a bandwidth reservation and to indicate that they require special QoS treatment.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19A22-E07C-E6A6-728E-9EF41A90D361}"/>
              </a:ext>
            </a:extLst>
          </p:cNvPr>
          <p:cNvSpPr txBox="1"/>
          <p:nvPr/>
        </p:nvSpPr>
        <p:spPr>
          <a:xfrm>
            <a:off x="153444" y="3691769"/>
            <a:ext cx="62223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network identifies classes that require special QoS treatment.</a:t>
            </a:r>
            <a:endParaRPr lang="en-L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873B7-9B47-ED7E-395B-6FBC419858FD}"/>
              </a:ext>
            </a:extLst>
          </p:cNvPr>
          <p:cNvSpPr txBox="1"/>
          <p:nvPr/>
        </p:nvSpPr>
        <p:spPr>
          <a:xfrm>
            <a:off x="153444" y="2569627"/>
            <a:ext cx="644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QoS is not enabled for this model. It is used for traffic that does not require any special treatment</a:t>
            </a:r>
            <a:endParaRPr lang="en-LB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49570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CA3C0F-EFB6-A64C-09A5-FBC6C118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067" y="2130755"/>
            <a:ext cx="8495865" cy="2596489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55A7FC0-A9B0-B861-ECD3-401D1D516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227" y="189680"/>
            <a:ext cx="10130723" cy="13343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of Service (</a:t>
            </a:r>
            <a:r>
              <a:rPr lang="en-US" sz="5333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B2DF1CE-2257-D391-2AE6-956802128231}"/>
              </a:ext>
            </a:extLst>
          </p:cNvPr>
          <p:cNvSpPr/>
          <p:nvPr/>
        </p:nvSpPr>
        <p:spPr bwMode="auto">
          <a:xfrm rot="16200000">
            <a:off x="3144033" y="4584525"/>
            <a:ext cx="388307" cy="88934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38023-9C5A-4799-07EA-9DA7EBDC2770}"/>
              </a:ext>
            </a:extLst>
          </p:cNvPr>
          <p:cNvSpPr txBox="1"/>
          <p:nvPr/>
        </p:nvSpPr>
        <p:spPr>
          <a:xfrm>
            <a:off x="2580362" y="5299652"/>
            <a:ext cx="145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dirty="0">
                <a:solidFill>
                  <a:schemeClr val="bg1"/>
                </a:solidFill>
              </a:rPr>
              <a:t>CoS Bits</a:t>
            </a:r>
          </a:p>
        </p:txBody>
      </p:sp>
    </p:spTree>
    <p:extLst>
      <p:ext uri="{BB962C8B-B14F-4D97-AF65-F5344CB8AC3E}">
        <p14:creationId xmlns:p14="http://schemas.microsoft.com/office/powerpoint/2010/main" val="188859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209E-3694-51BD-1D96-28529976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271FE81-1484-13FA-1150-656B28F25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227" y="189680"/>
            <a:ext cx="10130723" cy="13343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Service (</a:t>
            </a:r>
            <a:r>
              <a:rPr lang="en-US" sz="5333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</a:t>
            </a:r>
            <a: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byte</a:t>
            </a:r>
            <a:br>
              <a:rPr lang="en-US" sz="53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Class in IPv6</a:t>
            </a:r>
            <a:endParaRPr lang="en-US" sz="5333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23DBF15-BB2C-F927-547F-9962BE13B7B1}"/>
              </a:ext>
            </a:extLst>
          </p:cNvPr>
          <p:cNvSpPr/>
          <p:nvPr/>
        </p:nvSpPr>
        <p:spPr bwMode="auto">
          <a:xfrm rot="16200000">
            <a:off x="4077222" y="3849200"/>
            <a:ext cx="388307" cy="2254684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A7A68-6A2B-BECD-F2A4-F2FDF9838DD8}"/>
              </a:ext>
            </a:extLst>
          </p:cNvPr>
          <p:cNvSpPr txBox="1"/>
          <p:nvPr/>
        </p:nvSpPr>
        <p:spPr>
          <a:xfrm>
            <a:off x="2705621" y="5186917"/>
            <a:ext cx="3131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dirty="0">
                <a:solidFill>
                  <a:schemeClr val="bg1"/>
                </a:solidFill>
              </a:rPr>
              <a:t>IP precedence = priority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41D229-131C-05E6-5D02-D60CBEA2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88" y="2204566"/>
            <a:ext cx="7976823" cy="2448867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AFABA407-D4F5-A813-B130-AE6D36A658B2}"/>
              </a:ext>
            </a:extLst>
          </p:cNvPr>
          <p:cNvSpPr/>
          <p:nvPr/>
        </p:nvSpPr>
        <p:spPr bwMode="auto">
          <a:xfrm rot="16200000">
            <a:off x="5210830" y="3809725"/>
            <a:ext cx="388307" cy="45218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2B9F6-3ECB-45AD-9022-5073F78F4F10}"/>
              </a:ext>
            </a:extLst>
          </p:cNvPr>
          <p:cNvSpPr txBox="1"/>
          <p:nvPr/>
        </p:nvSpPr>
        <p:spPr>
          <a:xfrm>
            <a:off x="5329826" y="6371014"/>
            <a:ext cx="1853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dirty="0">
                <a:solidFill>
                  <a:schemeClr val="bg1"/>
                </a:solidFill>
              </a:rPr>
              <a:t>DSCP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6EF5B-3B2F-BC16-E1D1-7797205EA8DE}"/>
              </a:ext>
            </a:extLst>
          </p:cNvPr>
          <p:cNvSpPr txBox="1"/>
          <p:nvPr/>
        </p:nvSpPr>
        <p:spPr>
          <a:xfrm>
            <a:off x="5987444" y="5048417"/>
            <a:ext cx="3131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Google Sans"/>
              </a:rPr>
              <a:t>0-5 for user applications</a:t>
            </a:r>
          </a:p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Google Sans"/>
              </a:rPr>
              <a:t>6-7 for network control traffic</a:t>
            </a:r>
            <a:endParaRPr lang="en-LB" dirty="0">
              <a:solidFill>
                <a:schemeClr val="bg1"/>
              </a:solidFill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4799C29-7377-AA8C-AEF6-534F76F72731}"/>
              </a:ext>
            </a:extLst>
          </p:cNvPr>
          <p:cNvSpPr/>
          <p:nvPr/>
        </p:nvSpPr>
        <p:spPr bwMode="auto">
          <a:xfrm>
            <a:off x="5724955" y="4920174"/>
            <a:ext cx="366868" cy="902816"/>
          </a:xfrm>
          <a:prstGeom prst="leftBrace">
            <a:avLst>
              <a:gd name="adj1" fmla="val 8333"/>
              <a:gd name="adj2" fmla="val 4861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1572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5" grpId="0" animBg="1"/>
      <p:bldP spid="8" grpId="0"/>
      <p:bldP spid="9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6844C-3727-FCCB-E0D4-24A2B028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0911A3A7-354D-D3A9-4234-C36B3B06B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C542018-8651-44E7-9B31-B7947C87D1B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4AAA3A8-6A48-ED95-E5DD-EABA91407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QoS</a:t>
            </a:r>
            <a:r>
              <a:rPr lang="en-US" sz="4000" dirty="0"/>
              <a:t> Support in IP Networks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BC893B1-9C2E-1EDB-90B4-28A52B1B7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63757"/>
            <a:ext cx="7772400" cy="3644851"/>
          </a:xfrm>
        </p:spPr>
        <p:txBody>
          <a:bodyPr/>
          <a:lstStyle/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Need for QoS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Principles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rgbClr val="0070C0"/>
                </a:solidFill>
              </a:rPr>
              <a:t>IntServ</a:t>
            </a:r>
            <a:endParaRPr lang="en-US" sz="3600" dirty="0">
              <a:solidFill>
                <a:srgbClr val="0070C0"/>
              </a:solidFill>
            </a:endParaRP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DiffServ</a:t>
            </a:r>
            <a:r>
              <a:rPr lang="en-US" sz="3600" dirty="0"/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73497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AF90F30-BBD4-4A8B-A224-D26B361BFEB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821802" y="631825"/>
            <a:ext cx="10833903" cy="871538"/>
          </a:xfrm>
        </p:spPr>
        <p:txBody>
          <a:bodyPr/>
          <a:lstStyle/>
          <a:p>
            <a:pPr algn="l"/>
            <a:r>
              <a:rPr lang="en-US" sz="4000" dirty="0"/>
              <a:t>IETF Integrated Services (</a:t>
            </a:r>
            <a:r>
              <a:rPr lang="en-US" sz="4000" dirty="0" err="1"/>
              <a:t>IntServ</a:t>
            </a:r>
            <a:r>
              <a:rPr lang="en-US" sz="4000" dirty="0"/>
              <a:t>)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803" y="2002055"/>
            <a:ext cx="10833903" cy="3704264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architecture for providing QoS </a:t>
            </a:r>
            <a:r>
              <a:rPr lang="en-US" sz="3200" u="sng" dirty="0"/>
              <a:t>guarantees</a:t>
            </a:r>
            <a:r>
              <a:rPr lang="en-US" sz="3200" dirty="0"/>
              <a:t> in IP networks for individual application sessions (flow)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resource reservation: routers maintain per flow state info of allocated resources, QoS req’s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admit/deny new call setup requests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5515-10DA-A507-A1AC-5B7175DF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4C043F84-7B4F-DBA8-64B4-5A72AA5A0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AF90F30-BBD4-4A8B-A224-D26B361BFEB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A05BE9D-9F03-7F3A-A827-4FF148C52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802" y="256440"/>
            <a:ext cx="10833903" cy="571333"/>
          </a:xfrm>
        </p:spPr>
        <p:txBody>
          <a:bodyPr/>
          <a:lstStyle/>
          <a:p>
            <a:pPr algn="l"/>
            <a:r>
              <a:rPr lang="en-US" sz="4000" b="1" dirty="0"/>
              <a:t>Components of </a:t>
            </a:r>
            <a:r>
              <a:rPr lang="en-US" sz="4000" b="1" dirty="0" err="1"/>
              <a:t>IntServ</a:t>
            </a:r>
            <a:endParaRPr lang="en-US" sz="4000" b="1" dirty="0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08E1EB7-82AF-A9A8-4B6F-D77EF28E4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803" y="1078028"/>
            <a:ext cx="10833903" cy="55235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Type of Service Model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/>
              <a:t>What does the network promise?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Service Interface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/>
              <a:t>How does the application describe what it wants?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Packet Scheduling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/>
              <a:t>How does the network meet promises?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Establishing the guarantee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/>
              <a:t>How is the promise communicated to/from the network?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/>
              <a:t>How is admission of new applications controlled?</a:t>
            </a:r>
          </a:p>
        </p:txBody>
      </p:sp>
    </p:spTree>
    <p:extLst>
      <p:ext uri="{BB962C8B-B14F-4D97-AF65-F5344CB8AC3E}">
        <p14:creationId xmlns:p14="http://schemas.microsoft.com/office/powerpoint/2010/main" val="58346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4AA3C-9E64-9E41-BC59-227AE076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B8EDDEED-1EEB-882A-1785-F4D6FC23C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AF90F30-BBD4-4A8B-A224-D26B361BFEB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422D005-9EF1-0F98-585F-7AD98BCA2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802" y="256440"/>
            <a:ext cx="10833903" cy="571333"/>
          </a:xfrm>
        </p:spPr>
        <p:txBody>
          <a:bodyPr/>
          <a:lstStyle/>
          <a:p>
            <a:pPr algn="l"/>
            <a:r>
              <a:rPr lang="en-US" sz="4000" b="1" dirty="0"/>
              <a:t>Service Models Provided by </a:t>
            </a:r>
            <a:r>
              <a:rPr lang="en-US" sz="4000" b="1" dirty="0" err="1"/>
              <a:t>IntServ</a:t>
            </a:r>
            <a:endParaRPr lang="en-US" sz="4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15E9AB-249E-18DD-C0B9-964C6417F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598518"/>
              </p:ext>
            </p:extLst>
          </p:nvPr>
        </p:nvGraphicFramePr>
        <p:xfrm>
          <a:off x="679048" y="1295890"/>
          <a:ext cx="10833904" cy="42662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9655">
                  <a:extLst>
                    <a:ext uri="{9D8B030D-6E8A-4147-A177-3AD203B41FA5}">
                      <a16:colId xmlns:a16="http://schemas.microsoft.com/office/drawing/2014/main" val="3360720249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1194543552"/>
                    </a:ext>
                  </a:extLst>
                </a:gridCol>
                <a:gridCol w="2887579">
                  <a:extLst>
                    <a:ext uri="{9D8B030D-6E8A-4147-A177-3AD203B41FA5}">
                      <a16:colId xmlns:a16="http://schemas.microsoft.com/office/drawing/2014/main" val="931233590"/>
                    </a:ext>
                  </a:extLst>
                </a:gridCol>
                <a:gridCol w="2291950">
                  <a:extLst>
                    <a:ext uri="{9D8B030D-6E8A-4147-A177-3AD203B41FA5}">
                      <a16:colId xmlns:a16="http://schemas.microsoft.com/office/drawing/2014/main" val="3849699918"/>
                    </a:ext>
                  </a:extLst>
                </a:gridCol>
              </a:tblGrid>
              <a:tr h="955319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Service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Guaranteed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Control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Best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9852"/>
                  </a:ext>
                </a:extLst>
              </a:tr>
              <a:tr h="2355582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Provide QoS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LB" sz="2400" dirty="0"/>
                        <a:t>Guaranteed BW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</a:t>
                      </a:r>
                      <a:r>
                        <a:rPr lang="en-LB" sz="2400" dirty="0"/>
                        <a:t>nd-to-end Delay Bound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</a:t>
                      </a:r>
                      <a:r>
                        <a:rPr lang="en-LB" sz="2400" dirty="0"/>
                        <a:t>mulate a lightly loaded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599155"/>
                  </a:ext>
                </a:extLst>
              </a:tr>
              <a:tr h="955319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RFC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RFC 2212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RFC 2211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11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744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B88A-43E6-7D1B-A73F-17419C6C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796F4072-E808-FB75-A069-3F005F0EB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AF90F30-BBD4-4A8B-A224-D26B361BFEB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FB74872-CEBD-CA52-9CF2-04771D6F2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802" y="256440"/>
            <a:ext cx="10833903" cy="571333"/>
          </a:xfrm>
        </p:spPr>
        <p:txBody>
          <a:bodyPr/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– Guaranteed Service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56F84D8-DE6D-DBE1-4E00-5C3BA6B60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03" y="1155032"/>
            <a:ext cx="10833903" cy="5446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Targets hard real-time applications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User specifies traffic characteristics and a service requirement.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The network should guarantee that the delay experienced &lt; specified maximum value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Requires admission control at each of the routers.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Can mathematically guarantee bandwidth, delay and jitter.</a:t>
            </a:r>
          </a:p>
        </p:txBody>
      </p:sp>
    </p:spTree>
    <p:extLst>
      <p:ext uri="{BB962C8B-B14F-4D97-AF65-F5344CB8AC3E}">
        <p14:creationId xmlns:p14="http://schemas.microsoft.com/office/powerpoint/2010/main" val="4103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5971-2FD0-5A5C-6672-74E636C4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8D70D44B-1314-D026-DF11-DE9E2A5FE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AF90F30-BBD4-4A8B-A224-D26B361BFEB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286AE1F-EF7D-F611-AE4E-69F7CB087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802" y="256440"/>
            <a:ext cx="10833903" cy="571333"/>
          </a:xfrm>
        </p:spPr>
        <p:txBody>
          <a:bodyPr/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– Controlled Load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42855F6-B3E3-4697-660C-38D257E8A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03" y="1155032"/>
            <a:ext cx="10833903" cy="5446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/>
              <a:t>Emulate a lightly loaded network even though the network as a whole may in fact be heavily loaded.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/>
              <a:t>It does not guarantee strict delay bounds (like the Guaranteed Service model), but it tries to ensure that packets experience minimal delay and loss.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/>
              <a:t>Targets applications that can adapt to network conditions within a certain performance window.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/>
              <a:t>Use specifies traffic characteristics and bandwidth.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/>
              <a:t>Requires admission control at each of the routers.</a:t>
            </a:r>
          </a:p>
        </p:txBody>
      </p:sp>
    </p:spTree>
    <p:extLst>
      <p:ext uri="{BB962C8B-B14F-4D97-AF65-F5344CB8AC3E}">
        <p14:creationId xmlns:p14="http://schemas.microsoft.com/office/powerpoint/2010/main" val="33385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64A0-87BC-12C2-1B4E-03059992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984FC29D-816F-69B8-1B17-77AF644F8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AF90F30-BBD4-4A8B-A224-D26B361BFEB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4C8C2A1-009A-9DB1-834A-7C1EE09A5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802" y="256440"/>
            <a:ext cx="10833903" cy="57133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LB" altLang="en-LB" sz="4000" b="1" dirty="0"/>
              <a:t>Controlled Load vs Guaranteed Service</a:t>
            </a:r>
            <a:endParaRPr lang="en-US" sz="4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551F8C-BC9A-33C5-6207-2E382E0FA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418609"/>
              </p:ext>
            </p:extLst>
          </p:nvPr>
        </p:nvGraphicFramePr>
        <p:xfrm>
          <a:off x="821802" y="1236846"/>
          <a:ext cx="10363200" cy="5163953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338625491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17800857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451305527"/>
                    </a:ext>
                  </a:extLst>
                </a:gridCol>
              </a:tblGrid>
              <a:tr h="7824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Controlled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Guaranteed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151748"/>
                  </a:ext>
                </a:extLst>
              </a:tr>
              <a:tr h="14083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Type of guarantee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Soft (best-effort under low load)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 (strict delay bound)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8368"/>
                  </a:ext>
                </a:extLst>
              </a:tr>
              <a:tr h="7824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Delay 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434029"/>
                  </a:ext>
                </a:extLst>
              </a:tr>
              <a:tr h="14083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Video, VoIP, streaming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Industrial control, medical telemetry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61652"/>
                  </a:ext>
                </a:extLst>
              </a:tr>
              <a:tr h="7824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Tolerance to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Somewhat tolerant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 low tolerance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685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501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55B8B56-DBB9-44B0-A85D-341F8CB9422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076" name="Freeform 2"/>
          <p:cNvSpPr>
            <a:spLocks/>
          </p:cNvSpPr>
          <p:nvPr/>
        </p:nvSpPr>
        <p:spPr bwMode="auto">
          <a:xfrm>
            <a:off x="4711700" y="3295651"/>
            <a:ext cx="1798638" cy="167481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title"/>
          </p:nvPr>
        </p:nvSpPr>
        <p:spPr>
          <a:xfrm>
            <a:off x="856527" y="228600"/>
            <a:ext cx="10359341" cy="1143000"/>
          </a:xfrm>
        </p:spPr>
        <p:txBody>
          <a:bodyPr/>
          <a:lstStyle/>
          <a:p>
            <a:pPr algn="l"/>
            <a:r>
              <a:rPr lang="en-US" sz="4000" dirty="0" err="1"/>
              <a:t>IntServ</a:t>
            </a:r>
            <a:r>
              <a:rPr lang="en-US" sz="4000" dirty="0"/>
              <a:t>: QoS guarantee scenario</a:t>
            </a:r>
          </a:p>
        </p:txBody>
      </p:sp>
      <p:sp>
        <p:nvSpPr>
          <p:cNvPr id="3078" name="Freeform 4"/>
          <p:cNvSpPr>
            <a:spLocks/>
          </p:cNvSpPr>
          <p:nvPr/>
        </p:nvSpPr>
        <p:spPr bwMode="auto">
          <a:xfrm>
            <a:off x="2270125" y="2162176"/>
            <a:ext cx="2381250" cy="1922463"/>
          </a:xfrm>
          <a:custGeom>
            <a:avLst/>
            <a:gdLst>
              <a:gd name="T0" fmla="*/ 2147483647 w 1340"/>
              <a:gd name="T1" fmla="*/ 2147483647 h 1191"/>
              <a:gd name="T2" fmla="*/ 2147483647 w 1340"/>
              <a:gd name="T3" fmla="*/ 2147483647 h 1191"/>
              <a:gd name="T4" fmla="*/ 2147483647 w 1340"/>
              <a:gd name="T5" fmla="*/ 2147483647 h 1191"/>
              <a:gd name="T6" fmla="*/ 2147483647 w 1340"/>
              <a:gd name="T7" fmla="*/ 2147483647 h 1191"/>
              <a:gd name="T8" fmla="*/ 2147483647 w 1340"/>
              <a:gd name="T9" fmla="*/ 2147483647 h 1191"/>
              <a:gd name="T10" fmla="*/ 2147483647 w 1340"/>
              <a:gd name="T11" fmla="*/ 2147483647 h 1191"/>
              <a:gd name="T12" fmla="*/ 2147483647 w 1340"/>
              <a:gd name="T13" fmla="*/ 2147483647 h 1191"/>
              <a:gd name="T14" fmla="*/ 2147483647 w 1340"/>
              <a:gd name="T15" fmla="*/ 2147483647 h 1191"/>
              <a:gd name="T16" fmla="*/ 2147483647 w 1340"/>
              <a:gd name="T17" fmla="*/ 2147483647 h 1191"/>
              <a:gd name="T18" fmla="*/ 2147483647 w 1340"/>
              <a:gd name="T19" fmla="*/ 2147483647 h 1191"/>
              <a:gd name="T20" fmla="*/ 2147483647 w 1340"/>
              <a:gd name="T21" fmla="*/ 2147483647 h 1191"/>
              <a:gd name="T22" fmla="*/ 2147483647 w 1340"/>
              <a:gd name="T23" fmla="*/ 2147483647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5"/>
          <p:cNvSpPr>
            <a:spLocks noChangeArrowheads="1"/>
          </p:cNvSpPr>
          <p:nvPr/>
        </p:nvSpPr>
        <p:spPr bwMode="auto">
          <a:xfrm>
            <a:off x="2863850" y="4554538"/>
            <a:ext cx="6350" cy="215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080" name="Group 6"/>
          <p:cNvGrpSpPr>
            <a:grpSpLocks/>
          </p:cNvGrpSpPr>
          <p:nvPr/>
        </p:nvGrpSpPr>
        <p:grpSpPr bwMode="auto">
          <a:xfrm rot="-5400000">
            <a:off x="3900488" y="3482976"/>
            <a:ext cx="98425" cy="298450"/>
            <a:chOff x="3842" y="406"/>
            <a:chExt cx="51" cy="167"/>
          </a:xfrm>
        </p:grpSpPr>
        <p:sp>
          <p:nvSpPr>
            <p:cNvPr id="3470" name="Oval 7"/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71" name="Oval 8"/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72" name="Oval 9"/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1" name="Line 10"/>
          <p:cNvSpPr>
            <a:spLocks noChangeShapeType="1"/>
          </p:cNvSpPr>
          <p:nvPr/>
        </p:nvSpPr>
        <p:spPr bwMode="auto">
          <a:xfrm>
            <a:off x="3673476" y="3286125"/>
            <a:ext cx="631825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2" name="Line 11"/>
          <p:cNvSpPr>
            <a:spLocks noChangeShapeType="1"/>
          </p:cNvSpPr>
          <p:nvPr/>
        </p:nvSpPr>
        <p:spPr bwMode="auto">
          <a:xfrm>
            <a:off x="3676651" y="3281364"/>
            <a:ext cx="3175" cy="115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3" name="Line 12"/>
          <p:cNvSpPr>
            <a:spLocks noChangeShapeType="1"/>
          </p:cNvSpPr>
          <p:nvPr/>
        </p:nvSpPr>
        <p:spPr bwMode="auto">
          <a:xfrm>
            <a:off x="4308476" y="3279776"/>
            <a:ext cx="3175" cy="100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4" name="Line 13"/>
          <p:cNvSpPr>
            <a:spLocks noChangeShapeType="1"/>
          </p:cNvSpPr>
          <p:nvPr/>
        </p:nvSpPr>
        <p:spPr bwMode="auto">
          <a:xfrm>
            <a:off x="2901950" y="2620964"/>
            <a:ext cx="757238" cy="331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5" name="Line 14"/>
          <p:cNvSpPr>
            <a:spLocks noChangeShapeType="1"/>
          </p:cNvSpPr>
          <p:nvPr/>
        </p:nvSpPr>
        <p:spPr bwMode="auto">
          <a:xfrm flipV="1">
            <a:off x="2930526" y="2978150"/>
            <a:ext cx="715963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6" name="Line 15"/>
          <p:cNvSpPr>
            <a:spLocks noChangeShapeType="1"/>
          </p:cNvSpPr>
          <p:nvPr/>
        </p:nvSpPr>
        <p:spPr bwMode="auto">
          <a:xfrm flipV="1">
            <a:off x="3979864" y="3081339"/>
            <a:ext cx="1587" cy="198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7" name="Freeform 16"/>
          <p:cNvSpPr>
            <a:spLocks/>
          </p:cNvSpPr>
          <p:nvPr/>
        </p:nvSpPr>
        <p:spPr bwMode="auto">
          <a:xfrm>
            <a:off x="6867526" y="4041776"/>
            <a:ext cx="2974975" cy="221932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Line 17"/>
          <p:cNvSpPr>
            <a:spLocks noChangeShapeType="1"/>
          </p:cNvSpPr>
          <p:nvPr/>
        </p:nvSpPr>
        <p:spPr bwMode="auto">
          <a:xfrm>
            <a:off x="8091488" y="4849813"/>
            <a:ext cx="303212" cy="3857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89" name="Line 18"/>
          <p:cNvSpPr>
            <a:spLocks noChangeShapeType="1"/>
          </p:cNvSpPr>
          <p:nvPr/>
        </p:nvSpPr>
        <p:spPr bwMode="auto">
          <a:xfrm flipH="1">
            <a:off x="8886825" y="4846638"/>
            <a:ext cx="279400" cy="39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0" name="Oval 19"/>
          <p:cNvSpPr>
            <a:spLocks noChangeArrowheads="1"/>
          </p:cNvSpPr>
          <p:nvPr/>
        </p:nvSpPr>
        <p:spPr bwMode="auto">
          <a:xfrm rot="-5400000">
            <a:off x="7681119" y="5330031"/>
            <a:ext cx="63500" cy="65088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Oval 20"/>
          <p:cNvSpPr>
            <a:spLocks noChangeArrowheads="1"/>
          </p:cNvSpPr>
          <p:nvPr/>
        </p:nvSpPr>
        <p:spPr bwMode="auto">
          <a:xfrm rot="-5400000">
            <a:off x="7766051" y="5327651"/>
            <a:ext cx="63500" cy="66675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Oval 21"/>
          <p:cNvSpPr>
            <a:spLocks noChangeArrowheads="1"/>
          </p:cNvSpPr>
          <p:nvPr/>
        </p:nvSpPr>
        <p:spPr bwMode="auto">
          <a:xfrm rot="-5400000">
            <a:off x="7843838" y="5332413"/>
            <a:ext cx="61913" cy="65088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3" name="Line 22"/>
          <p:cNvSpPr>
            <a:spLocks noChangeShapeType="1"/>
          </p:cNvSpPr>
          <p:nvPr/>
        </p:nvSpPr>
        <p:spPr bwMode="auto">
          <a:xfrm rot="-5400000">
            <a:off x="8103395" y="5212558"/>
            <a:ext cx="60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4" name="Line 23"/>
          <p:cNvSpPr>
            <a:spLocks noChangeShapeType="1"/>
          </p:cNvSpPr>
          <p:nvPr/>
        </p:nvSpPr>
        <p:spPr bwMode="auto">
          <a:xfrm rot="5400000" flipH="1">
            <a:off x="7477125" y="5203825"/>
            <a:ext cx="63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5" name="Line 24"/>
          <p:cNvSpPr>
            <a:spLocks noChangeShapeType="1"/>
          </p:cNvSpPr>
          <p:nvPr/>
        </p:nvSpPr>
        <p:spPr bwMode="auto">
          <a:xfrm rot="16200000" flipV="1">
            <a:off x="7823994" y="4864894"/>
            <a:ext cx="0" cy="627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6" name="Line 25"/>
          <p:cNvSpPr>
            <a:spLocks noChangeShapeType="1"/>
          </p:cNvSpPr>
          <p:nvPr/>
        </p:nvSpPr>
        <p:spPr bwMode="auto">
          <a:xfrm>
            <a:off x="7821613" y="497522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7" name="Line 26"/>
          <p:cNvSpPr>
            <a:spLocks noChangeShapeType="1"/>
          </p:cNvSpPr>
          <p:nvPr/>
        </p:nvSpPr>
        <p:spPr bwMode="auto">
          <a:xfrm rot="5400000" flipH="1">
            <a:off x="9079706" y="5125244"/>
            <a:ext cx="611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8" name="Line 27"/>
          <p:cNvSpPr>
            <a:spLocks noChangeShapeType="1"/>
          </p:cNvSpPr>
          <p:nvPr/>
        </p:nvSpPr>
        <p:spPr bwMode="auto">
          <a:xfrm rot="-5400000">
            <a:off x="9433719" y="5377656"/>
            <a:ext cx="0" cy="103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099" name="Line 28"/>
          <p:cNvSpPr>
            <a:spLocks noChangeShapeType="1"/>
          </p:cNvSpPr>
          <p:nvPr/>
        </p:nvSpPr>
        <p:spPr bwMode="auto">
          <a:xfrm rot="-5400000">
            <a:off x="9423400" y="4908550"/>
            <a:ext cx="0" cy="8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grpSp>
        <p:nvGrpSpPr>
          <p:cNvPr id="3100" name="Group 29"/>
          <p:cNvGrpSpPr>
            <a:grpSpLocks/>
          </p:cNvGrpSpPr>
          <p:nvPr/>
        </p:nvGrpSpPr>
        <p:grpSpPr bwMode="auto">
          <a:xfrm>
            <a:off x="8996363" y="4606925"/>
            <a:ext cx="501650" cy="234950"/>
            <a:chOff x="3600" y="219"/>
            <a:chExt cx="360" cy="175"/>
          </a:xfrm>
        </p:grpSpPr>
        <p:sp>
          <p:nvSpPr>
            <p:cNvPr id="3457" name="Oval 30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58" name="Line 31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59" name="Line 32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60" name="Rectangle 33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461" name="Oval 34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62" name="Group 35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467" name="Line 3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68" name="Line 3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69" name="Line 3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463" name="Group 39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464" name="Line 4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65" name="Line 4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66" name="Line 4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sp>
        <p:nvSpPr>
          <p:cNvPr id="3101" name="Line 43"/>
          <p:cNvSpPr>
            <a:spLocks noChangeShapeType="1"/>
          </p:cNvSpPr>
          <p:nvPr/>
        </p:nvSpPr>
        <p:spPr bwMode="auto">
          <a:xfrm flipV="1">
            <a:off x="8072438" y="4730750"/>
            <a:ext cx="931862" cy="71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2" name="Line 44"/>
          <p:cNvSpPr>
            <a:spLocks noChangeShapeType="1"/>
          </p:cNvSpPr>
          <p:nvPr/>
        </p:nvSpPr>
        <p:spPr bwMode="auto">
          <a:xfrm rot="-5400000">
            <a:off x="8970170" y="5584033"/>
            <a:ext cx="60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3" name="Line 45"/>
          <p:cNvSpPr>
            <a:spLocks noChangeShapeType="1"/>
          </p:cNvSpPr>
          <p:nvPr/>
        </p:nvSpPr>
        <p:spPr bwMode="auto">
          <a:xfrm rot="5400000" flipH="1">
            <a:off x="8343900" y="5575300"/>
            <a:ext cx="63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4" name="Line 46"/>
          <p:cNvSpPr>
            <a:spLocks noChangeShapeType="1"/>
          </p:cNvSpPr>
          <p:nvPr/>
        </p:nvSpPr>
        <p:spPr bwMode="auto">
          <a:xfrm rot="16200000" flipV="1">
            <a:off x="8690769" y="5236369"/>
            <a:ext cx="0" cy="627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5" name="Line 47"/>
          <p:cNvSpPr>
            <a:spLocks noChangeShapeType="1"/>
          </p:cNvSpPr>
          <p:nvPr/>
        </p:nvSpPr>
        <p:spPr bwMode="auto">
          <a:xfrm>
            <a:off x="8688388" y="5346700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6" name="Line 48"/>
          <p:cNvSpPr>
            <a:spLocks noChangeShapeType="1"/>
          </p:cNvSpPr>
          <p:nvPr/>
        </p:nvSpPr>
        <p:spPr bwMode="auto">
          <a:xfrm>
            <a:off x="5360989" y="3576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7" name="Line 49"/>
          <p:cNvSpPr>
            <a:spLocks noChangeShapeType="1"/>
          </p:cNvSpPr>
          <p:nvPr/>
        </p:nvSpPr>
        <p:spPr bwMode="auto">
          <a:xfrm flipH="1">
            <a:off x="5880100" y="3913189"/>
            <a:ext cx="241300" cy="681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8" name="Line 50"/>
          <p:cNvSpPr>
            <a:spLocks noChangeShapeType="1"/>
          </p:cNvSpPr>
          <p:nvPr/>
        </p:nvSpPr>
        <p:spPr bwMode="auto">
          <a:xfrm>
            <a:off x="5110163" y="3689350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09" name="Line 51"/>
          <p:cNvSpPr>
            <a:spLocks noChangeShapeType="1"/>
          </p:cNvSpPr>
          <p:nvPr/>
        </p:nvSpPr>
        <p:spPr bwMode="auto">
          <a:xfrm>
            <a:off x="5135564" y="4337050"/>
            <a:ext cx="534987" cy="368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10" name="Line 52"/>
          <p:cNvSpPr>
            <a:spLocks noChangeShapeType="1"/>
          </p:cNvSpPr>
          <p:nvPr/>
        </p:nvSpPr>
        <p:spPr bwMode="auto">
          <a:xfrm>
            <a:off x="6319838" y="4754563"/>
            <a:ext cx="1295400" cy="174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11" name="Line 53"/>
          <p:cNvSpPr>
            <a:spLocks noChangeShapeType="1"/>
          </p:cNvSpPr>
          <p:nvPr/>
        </p:nvSpPr>
        <p:spPr bwMode="auto">
          <a:xfrm flipH="1">
            <a:off x="5368925" y="3881439"/>
            <a:ext cx="560388" cy="384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12" name="Line 54"/>
          <p:cNvSpPr>
            <a:spLocks noChangeShapeType="1"/>
          </p:cNvSpPr>
          <p:nvPr/>
        </p:nvSpPr>
        <p:spPr bwMode="auto">
          <a:xfrm flipH="1">
            <a:off x="5378450" y="3321050"/>
            <a:ext cx="350838" cy="255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13" name="Line 55"/>
          <p:cNvSpPr>
            <a:spLocks noChangeShapeType="1"/>
          </p:cNvSpPr>
          <p:nvPr/>
        </p:nvSpPr>
        <p:spPr bwMode="auto">
          <a:xfrm flipH="1">
            <a:off x="6096001" y="3497263"/>
            <a:ext cx="201613" cy="176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14" name="Line 56"/>
          <p:cNvSpPr>
            <a:spLocks noChangeShapeType="1"/>
          </p:cNvSpPr>
          <p:nvPr/>
        </p:nvSpPr>
        <p:spPr bwMode="auto">
          <a:xfrm>
            <a:off x="4244976" y="2981326"/>
            <a:ext cx="601663" cy="5635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46841" name="Rectangle 57"/>
          <p:cNvSpPr>
            <a:spLocks noGrp="1" noChangeArrowheads="1"/>
          </p:cNvSpPr>
          <p:nvPr>
            <p:ph type="body" sz="half" idx="1"/>
          </p:nvPr>
        </p:nvSpPr>
        <p:spPr>
          <a:xfrm>
            <a:off x="5181600" y="1344612"/>
            <a:ext cx="5524982" cy="1966911"/>
          </a:xfrm>
          <a:noFill/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Resource reservation</a:t>
            </a:r>
            <a:endParaRPr lang="en-US" sz="2400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call setup, signaling (RSVP)</a:t>
            </a:r>
          </a:p>
          <a:p>
            <a:pPr lvl="1"/>
            <a:r>
              <a:rPr lang="en-US" dirty="0"/>
              <a:t>traffic, QoS declaration</a:t>
            </a:r>
          </a:p>
          <a:p>
            <a:pPr lvl="1"/>
            <a:r>
              <a:rPr lang="en-US" dirty="0"/>
              <a:t>per-element admission control</a:t>
            </a:r>
            <a:endParaRPr lang="en-US" sz="2000" dirty="0">
              <a:solidFill>
                <a:srgbClr val="FF0000"/>
              </a:solidFill>
            </a:endParaRPr>
          </a:p>
        </p:txBody>
      </p:sp>
      <p:grpSp>
        <p:nvGrpSpPr>
          <p:cNvPr id="3116" name="Group 58"/>
          <p:cNvGrpSpPr>
            <a:grpSpLocks/>
          </p:cNvGrpSpPr>
          <p:nvPr/>
        </p:nvGrpSpPr>
        <p:grpSpPr bwMode="auto">
          <a:xfrm>
            <a:off x="3641726" y="2820989"/>
            <a:ext cx="639763" cy="282575"/>
            <a:chOff x="1070" y="3199"/>
            <a:chExt cx="403" cy="178"/>
          </a:xfrm>
        </p:grpSpPr>
        <p:sp>
          <p:nvSpPr>
            <p:cNvPr id="3444" name="Oval 59"/>
            <p:cNvSpPr>
              <a:spLocks noChangeArrowheads="1"/>
            </p:cNvSpPr>
            <p:nvPr/>
          </p:nvSpPr>
          <p:spPr bwMode="auto">
            <a:xfrm>
              <a:off x="1073" y="3278"/>
              <a:ext cx="400" cy="99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45" name="Line 60"/>
            <p:cNvSpPr>
              <a:spLocks noChangeShapeType="1"/>
            </p:cNvSpPr>
            <p:nvPr/>
          </p:nvSpPr>
          <p:spPr bwMode="auto">
            <a:xfrm>
              <a:off x="10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46" name="Line 61"/>
            <p:cNvSpPr>
              <a:spLocks noChangeShapeType="1"/>
            </p:cNvSpPr>
            <p:nvPr/>
          </p:nvSpPr>
          <p:spPr bwMode="auto">
            <a:xfrm>
              <a:off x="14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47" name="Rectangle 62"/>
            <p:cNvSpPr>
              <a:spLocks noChangeArrowheads="1"/>
            </p:cNvSpPr>
            <p:nvPr/>
          </p:nvSpPr>
          <p:spPr bwMode="auto">
            <a:xfrm>
              <a:off x="1073" y="3270"/>
              <a:ext cx="397" cy="6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448" name="Oval 63"/>
            <p:cNvSpPr>
              <a:spLocks noChangeArrowheads="1"/>
            </p:cNvSpPr>
            <p:nvPr/>
          </p:nvSpPr>
          <p:spPr bwMode="auto">
            <a:xfrm>
              <a:off x="1070" y="3199"/>
              <a:ext cx="400" cy="11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49" name="Group 64"/>
            <p:cNvGrpSpPr>
              <a:grpSpLocks/>
            </p:cNvGrpSpPr>
            <p:nvPr/>
          </p:nvGrpSpPr>
          <p:grpSpPr bwMode="auto">
            <a:xfrm>
              <a:off x="1166" y="3224"/>
              <a:ext cx="198" cy="68"/>
              <a:chOff x="2848" y="848"/>
              <a:chExt cx="140" cy="98"/>
            </a:xfrm>
          </p:grpSpPr>
          <p:sp>
            <p:nvSpPr>
              <p:cNvPr id="3454" name="Line 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55" name="Line 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56" name="Line 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450" name="Group 68"/>
            <p:cNvGrpSpPr>
              <a:grpSpLocks/>
            </p:cNvGrpSpPr>
            <p:nvPr/>
          </p:nvGrpSpPr>
          <p:grpSpPr bwMode="auto">
            <a:xfrm flipV="1">
              <a:off x="1166" y="3223"/>
              <a:ext cx="198" cy="68"/>
              <a:chOff x="2848" y="848"/>
              <a:chExt cx="140" cy="98"/>
            </a:xfrm>
          </p:grpSpPr>
          <p:sp>
            <p:nvSpPr>
              <p:cNvPr id="3451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52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53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117" name="Group 72"/>
          <p:cNvGrpSpPr>
            <a:grpSpLocks/>
          </p:cNvGrpSpPr>
          <p:nvPr/>
        </p:nvGrpSpPr>
        <p:grpSpPr bwMode="auto">
          <a:xfrm>
            <a:off x="4775201" y="3402014"/>
            <a:ext cx="639763" cy="282575"/>
            <a:chOff x="1070" y="3199"/>
            <a:chExt cx="403" cy="178"/>
          </a:xfrm>
        </p:grpSpPr>
        <p:sp>
          <p:nvSpPr>
            <p:cNvPr id="3431" name="Oval 73"/>
            <p:cNvSpPr>
              <a:spLocks noChangeArrowheads="1"/>
            </p:cNvSpPr>
            <p:nvPr/>
          </p:nvSpPr>
          <p:spPr bwMode="auto">
            <a:xfrm>
              <a:off x="1073" y="3278"/>
              <a:ext cx="400" cy="99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32" name="Line 74"/>
            <p:cNvSpPr>
              <a:spLocks noChangeShapeType="1"/>
            </p:cNvSpPr>
            <p:nvPr/>
          </p:nvSpPr>
          <p:spPr bwMode="auto">
            <a:xfrm>
              <a:off x="10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33" name="Line 75"/>
            <p:cNvSpPr>
              <a:spLocks noChangeShapeType="1"/>
            </p:cNvSpPr>
            <p:nvPr/>
          </p:nvSpPr>
          <p:spPr bwMode="auto">
            <a:xfrm>
              <a:off x="14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34" name="Rectangle 76"/>
            <p:cNvSpPr>
              <a:spLocks noChangeArrowheads="1"/>
            </p:cNvSpPr>
            <p:nvPr/>
          </p:nvSpPr>
          <p:spPr bwMode="auto">
            <a:xfrm>
              <a:off x="1073" y="3270"/>
              <a:ext cx="397" cy="6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435" name="Oval 77"/>
            <p:cNvSpPr>
              <a:spLocks noChangeArrowheads="1"/>
            </p:cNvSpPr>
            <p:nvPr/>
          </p:nvSpPr>
          <p:spPr bwMode="auto">
            <a:xfrm>
              <a:off x="1070" y="3199"/>
              <a:ext cx="400" cy="11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36" name="Group 78"/>
            <p:cNvGrpSpPr>
              <a:grpSpLocks/>
            </p:cNvGrpSpPr>
            <p:nvPr/>
          </p:nvGrpSpPr>
          <p:grpSpPr bwMode="auto">
            <a:xfrm>
              <a:off x="1166" y="3224"/>
              <a:ext cx="198" cy="68"/>
              <a:chOff x="2848" y="848"/>
              <a:chExt cx="140" cy="98"/>
            </a:xfrm>
          </p:grpSpPr>
          <p:sp>
            <p:nvSpPr>
              <p:cNvPr id="3441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42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43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437" name="Group 82"/>
            <p:cNvGrpSpPr>
              <a:grpSpLocks/>
            </p:cNvGrpSpPr>
            <p:nvPr/>
          </p:nvGrpSpPr>
          <p:grpSpPr bwMode="auto">
            <a:xfrm flipV="1">
              <a:off x="1166" y="3223"/>
              <a:ext cx="198" cy="68"/>
              <a:chOff x="2848" y="848"/>
              <a:chExt cx="140" cy="98"/>
            </a:xfrm>
          </p:grpSpPr>
          <p:sp>
            <p:nvSpPr>
              <p:cNvPr id="3438" name="Line 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39" name="Line 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40" name="Line 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118" name="Group 86"/>
          <p:cNvGrpSpPr>
            <a:grpSpLocks/>
          </p:cNvGrpSpPr>
          <p:nvPr/>
        </p:nvGrpSpPr>
        <p:grpSpPr bwMode="auto">
          <a:xfrm>
            <a:off x="4794251" y="4116389"/>
            <a:ext cx="639763" cy="282575"/>
            <a:chOff x="1070" y="3199"/>
            <a:chExt cx="403" cy="178"/>
          </a:xfrm>
        </p:grpSpPr>
        <p:sp>
          <p:nvSpPr>
            <p:cNvPr id="3418" name="Oval 87"/>
            <p:cNvSpPr>
              <a:spLocks noChangeArrowheads="1"/>
            </p:cNvSpPr>
            <p:nvPr/>
          </p:nvSpPr>
          <p:spPr bwMode="auto">
            <a:xfrm>
              <a:off x="1073" y="3278"/>
              <a:ext cx="400" cy="99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19" name="Line 88"/>
            <p:cNvSpPr>
              <a:spLocks noChangeShapeType="1"/>
            </p:cNvSpPr>
            <p:nvPr/>
          </p:nvSpPr>
          <p:spPr bwMode="auto">
            <a:xfrm>
              <a:off x="10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20" name="Line 89"/>
            <p:cNvSpPr>
              <a:spLocks noChangeShapeType="1"/>
            </p:cNvSpPr>
            <p:nvPr/>
          </p:nvSpPr>
          <p:spPr bwMode="auto">
            <a:xfrm>
              <a:off x="14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21" name="Rectangle 90"/>
            <p:cNvSpPr>
              <a:spLocks noChangeArrowheads="1"/>
            </p:cNvSpPr>
            <p:nvPr/>
          </p:nvSpPr>
          <p:spPr bwMode="auto">
            <a:xfrm>
              <a:off x="1073" y="3270"/>
              <a:ext cx="397" cy="6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422" name="Oval 91"/>
            <p:cNvSpPr>
              <a:spLocks noChangeArrowheads="1"/>
            </p:cNvSpPr>
            <p:nvPr/>
          </p:nvSpPr>
          <p:spPr bwMode="auto">
            <a:xfrm>
              <a:off x="1070" y="3199"/>
              <a:ext cx="400" cy="11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23" name="Group 92"/>
            <p:cNvGrpSpPr>
              <a:grpSpLocks/>
            </p:cNvGrpSpPr>
            <p:nvPr/>
          </p:nvGrpSpPr>
          <p:grpSpPr bwMode="auto">
            <a:xfrm>
              <a:off x="1166" y="3224"/>
              <a:ext cx="198" cy="68"/>
              <a:chOff x="2848" y="848"/>
              <a:chExt cx="140" cy="98"/>
            </a:xfrm>
          </p:grpSpPr>
          <p:sp>
            <p:nvSpPr>
              <p:cNvPr id="3428" name="Line 9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29" name="Line 9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30" name="Line 9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424" name="Group 96"/>
            <p:cNvGrpSpPr>
              <a:grpSpLocks/>
            </p:cNvGrpSpPr>
            <p:nvPr/>
          </p:nvGrpSpPr>
          <p:grpSpPr bwMode="auto">
            <a:xfrm flipV="1">
              <a:off x="1166" y="3223"/>
              <a:ext cx="198" cy="68"/>
              <a:chOff x="2848" y="848"/>
              <a:chExt cx="140" cy="98"/>
            </a:xfrm>
          </p:grpSpPr>
          <p:sp>
            <p:nvSpPr>
              <p:cNvPr id="3425" name="Line 9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26" name="Line 9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27" name="Line 9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119" name="Group 100"/>
          <p:cNvGrpSpPr>
            <a:grpSpLocks/>
          </p:cNvGrpSpPr>
          <p:nvPr/>
        </p:nvGrpSpPr>
        <p:grpSpPr bwMode="auto">
          <a:xfrm>
            <a:off x="5641976" y="4592639"/>
            <a:ext cx="639763" cy="282575"/>
            <a:chOff x="1070" y="3199"/>
            <a:chExt cx="403" cy="178"/>
          </a:xfrm>
        </p:grpSpPr>
        <p:sp>
          <p:nvSpPr>
            <p:cNvPr id="3405" name="Oval 101"/>
            <p:cNvSpPr>
              <a:spLocks noChangeArrowheads="1"/>
            </p:cNvSpPr>
            <p:nvPr/>
          </p:nvSpPr>
          <p:spPr bwMode="auto">
            <a:xfrm>
              <a:off x="1073" y="3278"/>
              <a:ext cx="400" cy="99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6" name="Line 102"/>
            <p:cNvSpPr>
              <a:spLocks noChangeShapeType="1"/>
            </p:cNvSpPr>
            <p:nvPr/>
          </p:nvSpPr>
          <p:spPr bwMode="auto">
            <a:xfrm>
              <a:off x="10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07" name="Line 103"/>
            <p:cNvSpPr>
              <a:spLocks noChangeShapeType="1"/>
            </p:cNvSpPr>
            <p:nvPr/>
          </p:nvSpPr>
          <p:spPr bwMode="auto">
            <a:xfrm>
              <a:off x="14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08" name="Rectangle 104"/>
            <p:cNvSpPr>
              <a:spLocks noChangeArrowheads="1"/>
            </p:cNvSpPr>
            <p:nvPr/>
          </p:nvSpPr>
          <p:spPr bwMode="auto">
            <a:xfrm>
              <a:off x="1073" y="3270"/>
              <a:ext cx="397" cy="6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409" name="Oval 105"/>
            <p:cNvSpPr>
              <a:spLocks noChangeArrowheads="1"/>
            </p:cNvSpPr>
            <p:nvPr/>
          </p:nvSpPr>
          <p:spPr bwMode="auto">
            <a:xfrm>
              <a:off x="1070" y="3199"/>
              <a:ext cx="400" cy="11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10" name="Group 106"/>
            <p:cNvGrpSpPr>
              <a:grpSpLocks/>
            </p:cNvGrpSpPr>
            <p:nvPr/>
          </p:nvGrpSpPr>
          <p:grpSpPr bwMode="auto">
            <a:xfrm>
              <a:off x="1166" y="3224"/>
              <a:ext cx="198" cy="68"/>
              <a:chOff x="2848" y="848"/>
              <a:chExt cx="140" cy="98"/>
            </a:xfrm>
          </p:grpSpPr>
          <p:sp>
            <p:nvSpPr>
              <p:cNvPr id="3415" name="Line 10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16" name="Line 10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17" name="Line 10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411" name="Group 110"/>
            <p:cNvGrpSpPr>
              <a:grpSpLocks/>
            </p:cNvGrpSpPr>
            <p:nvPr/>
          </p:nvGrpSpPr>
          <p:grpSpPr bwMode="auto">
            <a:xfrm flipV="1">
              <a:off x="1166" y="3223"/>
              <a:ext cx="198" cy="68"/>
              <a:chOff x="2848" y="848"/>
              <a:chExt cx="140" cy="98"/>
            </a:xfrm>
          </p:grpSpPr>
          <p:sp>
            <p:nvSpPr>
              <p:cNvPr id="3412" name="Line 1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13" name="Line 1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14" name="Line 1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120" name="Group 114"/>
          <p:cNvGrpSpPr>
            <a:grpSpLocks/>
          </p:cNvGrpSpPr>
          <p:nvPr/>
        </p:nvGrpSpPr>
        <p:grpSpPr bwMode="auto">
          <a:xfrm>
            <a:off x="7442201" y="4697414"/>
            <a:ext cx="639763" cy="282575"/>
            <a:chOff x="1070" y="3199"/>
            <a:chExt cx="403" cy="178"/>
          </a:xfrm>
        </p:grpSpPr>
        <p:sp>
          <p:nvSpPr>
            <p:cNvPr id="3392" name="Oval 115"/>
            <p:cNvSpPr>
              <a:spLocks noChangeArrowheads="1"/>
            </p:cNvSpPr>
            <p:nvPr/>
          </p:nvSpPr>
          <p:spPr bwMode="auto">
            <a:xfrm>
              <a:off x="1073" y="3278"/>
              <a:ext cx="400" cy="99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3" name="Line 116"/>
            <p:cNvSpPr>
              <a:spLocks noChangeShapeType="1"/>
            </p:cNvSpPr>
            <p:nvPr/>
          </p:nvSpPr>
          <p:spPr bwMode="auto">
            <a:xfrm>
              <a:off x="10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94" name="Line 117"/>
            <p:cNvSpPr>
              <a:spLocks noChangeShapeType="1"/>
            </p:cNvSpPr>
            <p:nvPr/>
          </p:nvSpPr>
          <p:spPr bwMode="auto">
            <a:xfrm>
              <a:off x="14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95" name="Rectangle 118"/>
            <p:cNvSpPr>
              <a:spLocks noChangeArrowheads="1"/>
            </p:cNvSpPr>
            <p:nvPr/>
          </p:nvSpPr>
          <p:spPr bwMode="auto">
            <a:xfrm>
              <a:off x="1073" y="3270"/>
              <a:ext cx="397" cy="6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396" name="Oval 119"/>
            <p:cNvSpPr>
              <a:spLocks noChangeArrowheads="1"/>
            </p:cNvSpPr>
            <p:nvPr/>
          </p:nvSpPr>
          <p:spPr bwMode="auto">
            <a:xfrm>
              <a:off x="1070" y="3199"/>
              <a:ext cx="400" cy="11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97" name="Group 120"/>
            <p:cNvGrpSpPr>
              <a:grpSpLocks/>
            </p:cNvGrpSpPr>
            <p:nvPr/>
          </p:nvGrpSpPr>
          <p:grpSpPr bwMode="auto">
            <a:xfrm>
              <a:off x="1166" y="3224"/>
              <a:ext cx="198" cy="68"/>
              <a:chOff x="2848" y="848"/>
              <a:chExt cx="140" cy="98"/>
            </a:xfrm>
          </p:grpSpPr>
          <p:sp>
            <p:nvSpPr>
              <p:cNvPr id="3402" name="Line 12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03" name="Line 12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04" name="Line 12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398" name="Group 124"/>
            <p:cNvGrpSpPr>
              <a:grpSpLocks/>
            </p:cNvGrpSpPr>
            <p:nvPr/>
          </p:nvGrpSpPr>
          <p:grpSpPr bwMode="auto">
            <a:xfrm flipV="1">
              <a:off x="1166" y="3223"/>
              <a:ext cx="198" cy="68"/>
              <a:chOff x="2848" y="848"/>
              <a:chExt cx="140" cy="98"/>
            </a:xfrm>
          </p:grpSpPr>
          <p:sp>
            <p:nvSpPr>
              <p:cNvPr id="3399" name="Line 1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00" name="Line 1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01" name="Line 1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121" name="Group 128"/>
          <p:cNvGrpSpPr>
            <a:grpSpLocks/>
          </p:cNvGrpSpPr>
          <p:nvPr/>
        </p:nvGrpSpPr>
        <p:grpSpPr bwMode="auto">
          <a:xfrm>
            <a:off x="8299451" y="5087939"/>
            <a:ext cx="639763" cy="282575"/>
            <a:chOff x="1070" y="3199"/>
            <a:chExt cx="403" cy="178"/>
          </a:xfrm>
        </p:grpSpPr>
        <p:sp>
          <p:nvSpPr>
            <p:cNvPr id="3379" name="Oval 129"/>
            <p:cNvSpPr>
              <a:spLocks noChangeArrowheads="1"/>
            </p:cNvSpPr>
            <p:nvPr/>
          </p:nvSpPr>
          <p:spPr bwMode="auto">
            <a:xfrm>
              <a:off x="1073" y="3278"/>
              <a:ext cx="400" cy="99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" name="Line 130"/>
            <p:cNvSpPr>
              <a:spLocks noChangeShapeType="1"/>
            </p:cNvSpPr>
            <p:nvPr/>
          </p:nvSpPr>
          <p:spPr bwMode="auto">
            <a:xfrm>
              <a:off x="10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81" name="Line 131"/>
            <p:cNvSpPr>
              <a:spLocks noChangeShapeType="1"/>
            </p:cNvSpPr>
            <p:nvPr/>
          </p:nvSpPr>
          <p:spPr bwMode="auto">
            <a:xfrm>
              <a:off x="1473" y="327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82" name="Rectangle 132"/>
            <p:cNvSpPr>
              <a:spLocks noChangeArrowheads="1"/>
            </p:cNvSpPr>
            <p:nvPr/>
          </p:nvSpPr>
          <p:spPr bwMode="auto">
            <a:xfrm>
              <a:off x="1073" y="3270"/>
              <a:ext cx="397" cy="6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383" name="Oval 133"/>
            <p:cNvSpPr>
              <a:spLocks noChangeArrowheads="1"/>
            </p:cNvSpPr>
            <p:nvPr/>
          </p:nvSpPr>
          <p:spPr bwMode="auto">
            <a:xfrm>
              <a:off x="1070" y="3199"/>
              <a:ext cx="400" cy="11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84" name="Group 134"/>
            <p:cNvGrpSpPr>
              <a:grpSpLocks/>
            </p:cNvGrpSpPr>
            <p:nvPr/>
          </p:nvGrpSpPr>
          <p:grpSpPr bwMode="auto">
            <a:xfrm>
              <a:off x="1166" y="3224"/>
              <a:ext cx="198" cy="68"/>
              <a:chOff x="2848" y="848"/>
              <a:chExt cx="140" cy="98"/>
            </a:xfrm>
          </p:grpSpPr>
          <p:sp>
            <p:nvSpPr>
              <p:cNvPr id="3389" name="Line 13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90" name="Line 13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91" name="Line 13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385" name="Group 138"/>
            <p:cNvGrpSpPr>
              <a:grpSpLocks/>
            </p:cNvGrpSpPr>
            <p:nvPr/>
          </p:nvGrpSpPr>
          <p:grpSpPr bwMode="auto">
            <a:xfrm flipV="1">
              <a:off x="1166" y="3223"/>
              <a:ext cx="198" cy="68"/>
              <a:chOff x="2848" y="848"/>
              <a:chExt cx="140" cy="98"/>
            </a:xfrm>
          </p:grpSpPr>
          <p:sp>
            <p:nvSpPr>
              <p:cNvPr id="3386" name="Line 13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87" name="Line 14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88" name="Line 14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122" name="Group 142"/>
          <p:cNvGrpSpPr>
            <a:grpSpLocks/>
          </p:cNvGrpSpPr>
          <p:nvPr/>
        </p:nvGrpSpPr>
        <p:grpSpPr bwMode="auto">
          <a:xfrm>
            <a:off x="5776914" y="3629026"/>
            <a:ext cx="604837" cy="347663"/>
            <a:chOff x="3600" y="219"/>
            <a:chExt cx="360" cy="175"/>
          </a:xfrm>
        </p:grpSpPr>
        <p:sp>
          <p:nvSpPr>
            <p:cNvPr id="3366" name="Oval 14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7" name="Line 14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68" name="Line 14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69" name="Rectangle 14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370" name="Oval 14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71" name="Group 14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376" name="Line 14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77" name="Line 15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78" name="Line 15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372" name="Group 15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373" name="Line 1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74" name="Line 1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75" name="Line 1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27" name="Group 156"/>
          <p:cNvGrpSpPr>
            <a:grpSpLocks/>
          </p:cNvGrpSpPr>
          <p:nvPr/>
        </p:nvGrpSpPr>
        <p:grpSpPr bwMode="auto">
          <a:xfrm>
            <a:off x="2914651" y="2305051"/>
            <a:ext cx="5895975" cy="3190875"/>
            <a:chOff x="876" y="1452"/>
            <a:chExt cx="3714" cy="2010"/>
          </a:xfrm>
        </p:grpSpPr>
        <p:sp>
          <p:nvSpPr>
            <p:cNvPr id="3360" name="Freeform 157"/>
            <p:cNvSpPr>
              <a:spLocks/>
            </p:cNvSpPr>
            <p:nvPr/>
          </p:nvSpPr>
          <p:spPr bwMode="auto">
            <a:xfrm>
              <a:off x="876" y="1452"/>
              <a:ext cx="3714" cy="2010"/>
            </a:xfrm>
            <a:custGeom>
              <a:avLst/>
              <a:gdLst>
                <a:gd name="T0" fmla="*/ 0 w 3666"/>
                <a:gd name="T1" fmla="*/ 0 h 1884"/>
                <a:gd name="T2" fmla="*/ 430 w 3666"/>
                <a:gd name="T3" fmla="*/ 211 h 1884"/>
                <a:gd name="T4" fmla="*/ 817 w 3666"/>
                <a:gd name="T5" fmla="*/ 211 h 1884"/>
                <a:gd name="T6" fmla="*/ 1173 w 3666"/>
                <a:gd name="T7" fmla="*/ 656 h 1884"/>
                <a:gd name="T8" fmla="*/ 1479 w 3666"/>
                <a:gd name="T9" fmla="*/ 656 h 1884"/>
                <a:gd name="T10" fmla="*/ 1485 w 3666"/>
                <a:gd name="T11" fmla="*/ 1202 h 1884"/>
                <a:gd name="T12" fmla="*/ 1797 w 3666"/>
                <a:gd name="T13" fmla="*/ 1509 h 1884"/>
                <a:gd name="T14" fmla="*/ 3325 w 3666"/>
                <a:gd name="T15" fmla="*/ 1501 h 1884"/>
                <a:gd name="T16" fmla="*/ 3562 w 3666"/>
                <a:gd name="T17" fmla="*/ 1857 h 1884"/>
                <a:gd name="T18" fmla="*/ 3812 w 3666"/>
                <a:gd name="T19" fmla="*/ 1857 h 1884"/>
                <a:gd name="T20" fmla="*/ 3812 w 3666"/>
                <a:gd name="T21" fmla="*/ 2287 h 18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666"/>
                <a:gd name="T34" fmla="*/ 0 h 1884"/>
                <a:gd name="T35" fmla="*/ 3666 w 3666"/>
                <a:gd name="T36" fmla="*/ 1884 h 18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666" h="1884">
                  <a:moveTo>
                    <a:pt x="0" y="0"/>
                  </a:moveTo>
                  <a:lnTo>
                    <a:pt x="414" y="174"/>
                  </a:lnTo>
                  <a:lnTo>
                    <a:pt x="786" y="174"/>
                  </a:lnTo>
                  <a:lnTo>
                    <a:pt x="1128" y="540"/>
                  </a:lnTo>
                  <a:lnTo>
                    <a:pt x="1422" y="540"/>
                  </a:lnTo>
                  <a:lnTo>
                    <a:pt x="1428" y="990"/>
                  </a:lnTo>
                  <a:lnTo>
                    <a:pt x="1728" y="1242"/>
                  </a:lnTo>
                  <a:lnTo>
                    <a:pt x="3198" y="1236"/>
                  </a:lnTo>
                  <a:lnTo>
                    <a:pt x="3426" y="1530"/>
                  </a:lnTo>
                  <a:lnTo>
                    <a:pt x="3666" y="1530"/>
                  </a:lnTo>
                  <a:lnTo>
                    <a:pt x="3666" y="1884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1" name="Line 158"/>
            <p:cNvSpPr>
              <a:spLocks noChangeShapeType="1"/>
            </p:cNvSpPr>
            <p:nvPr/>
          </p:nvSpPr>
          <p:spPr bwMode="auto">
            <a:xfrm flipH="1">
              <a:off x="1524" y="1614"/>
              <a:ext cx="6" cy="25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62" name="Line 159"/>
            <p:cNvSpPr>
              <a:spLocks noChangeShapeType="1"/>
            </p:cNvSpPr>
            <p:nvPr/>
          </p:nvSpPr>
          <p:spPr bwMode="auto">
            <a:xfrm flipH="1">
              <a:off x="2202" y="2028"/>
              <a:ext cx="6" cy="25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63" name="Line 160"/>
            <p:cNvSpPr>
              <a:spLocks noChangeShapeType="1"/>
            </p:cNvSpPr>
            <p:nvPr/>
          </p:nvSpPr>
          <p:spPr bwMode="auto">
            <a:xfrm flipH="1">
              <a:off x="2766" y="2778"/>
              <a:ext cx="6" cy="25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64" name="Line 161"/>
            <p:cNvSpPr>
              <a:spLocks noChangeShapeType="1"/>
            </p:cNvSpPr>
            <p:nvPr/>
          </p:nvSpPr>
          <p:spPr bwMode="auto">
            <a:xfrm flipH="1">
              <a:off x="3900" y="2790"/>
              <a:ext cx="6" cy="25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65" name="Line 162"/>
            <p:cNvSpPr>
              <a:spLocks noChangeShapeType="1"/>
            </p:cNvSpPr>
            <p:nvPr/>
          </p:nvSpPr>
          <p:spPr bwMode="auto">
            <a:xfrm flipH="1">
              <a:off x="4458" y="3072"/>
              <a:ext cx="6" cy="25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28" name="Group 163"/>
          <p:cNvGrpSpPr>
            <a:grpSpLocks/>
          </p:cNvGrpSpPr>
          <p:nvPr/>
        </p:nvGrpSpPr>
        <p:grpSpPr bwMode="auto">
          <a:xfrm>
            <a:off x="3925889" y="4624388"/>
            <a:ext cx="3284537" cy="1204912"/>
            <a:chOff x="1566" y="2913"/>
            <a:chExt cx="2016" cy="759"/>
          </a:xfrm>
        </p:grpSpPr>
        <p:sp>
          <p:nvSpPr>
            <p:cNvPr id="3353" name="Rectangle 164"/>
            <p:cNvSpPr>
              <a:spLocks noChangeArrowheads="1"/>
            </p:cNvSpPr>
            <p:nvPr/>
          </p:nvSpPr>
          <p:spPr bwMode="auto">
            <a:xfrm rot="-5401360">
              <a:off x="3004" y="2885"/>
              <a:ext cx="126" cy="186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4" name="Line 165"/>
            <p:cNvSpPr>
              <a:spLocks noChangeShapeType="1"/>
            </p:cNvSpPr>
            <p:nvPr/>
          </p:nvSpPr>
          <p:spPr bwMode="auto">
            <a:xfrm rot="-5401360">
              <a:off x="2954" y="2979"/>
              <a:ext cx="12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55" name="Line 166"/>
            <p:cNvSpPr>
              <a:spLocks noChangeShapeType="1"/>
            </p:cNvSpPr>
            <p:nvPr/>
          </p:nvSpPr>
          <p:spPr bwMode="auto">
            <a:xfrm rot="-5401360">
              <a:off x="2986" y="2976"/>
              <a:ext cx="12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56" name="Line 167"/>
            <p:cNvSpPr>
              <a:spLocks noChangeShapeType="1"/>
            </p:cNvSpPr>
            <p:nvPr/>
          </p:nvSpPr>
          <p:spPr bwMode="auto">
            <a:xfrm rot="-5401360">
              <a:off x="3022" y="2975"/>
              <a:ext cx="12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57" name="Line 168"/>
            <p:cNvSpPr>
              <a:spLocks noChangeShapeType="1"/>
            </p:cNvSpPr>
            <p:nvPr/>
          </p:nvSpPr>
          <p:spPr bwMode="auto">
            <a:xfrm rot="-5401360">
              <a:off x="3058" y="2975"/>
              <a:ext cx="12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58" name="Line 169"/>
            <p:cNvSpPr>
              <a:spLocks noChangeShapeType="1"/>
            </p:cNvSpPr>
            <p:nvPr/>
          </p:nvSpPr>
          <p:spPr bwMode="auto">
            <a:xfrm rot="-1213478">
              <a:off x="3167" y="2947"/>
              <a:ext cx="183" cy="6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59" name="Rectangle 170"/>
            <p:cNvSpPr>
              <a:spLocks noChangeArrowheads="1"/>
            </p:cNvSpPr>
            <p:nvPr/>
          </p:nvSpPr>
          <p:spPr bwMode="auto">
            <a:xfrm>
              <a:off x="1566" y="3108"/>
              <a:ext cx="2016" cy="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742950" lvl="1" indent="-285750"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</a:pPr>
              <a:r>
                <a:rPr lang="en-US" sz="2000" dirty="0"/>
                <a:t>QoS-sensitive scheduling (e.g., WFQ)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25" name="Group 171"/>
          <p:cNvGrpSpPr>
            <a:grpSpLocks/>
          </p:cNvGrpSpPr>
          <p:nvPr/>
        </p:nvGrpSpPr>
        <p:grpSpPr bwMode="auto">
          <a:xfrm>
            <a:off x="2128838" y="1809751"/>
            <a:ext cx="1257300" cy="415925"/>
            <a:chOff x="3621" y="3265"/>
            <a:chExt cx="1776" cy="744"/>
          </a:xfrm>
        </p:grpSpPr>
        <p:pic>
          <p:nvPicPr>
            <p:cNvPr id="3349" name="Picture 172" descr="reel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50" name="Freeform 173"/>
            <p:cNvSpPr>
              <a:spLocks/>
            </p:cNvSpPr>
            <p:nvPr/>
          </p:nvSpPr>
          <p:spPr bwMode="auto">
            <a:xfrm>
              <a:off x="3972" y="3288"/>
              <a:ext cx="1401" cy="438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84 h 438"/>
                <a:gd name="T4" fmla="*/ 114 w 1401"/>
                <a:gd name="T5" fmla="*/ 381 h 438"/>
                <a:gd name="T6" fmla="*/ 132 w 1401"/>
                <a:gd name="T7" fmla="*/ 357 h 438"/>
                <a:gd name="T8" fmla="*/ 210 w 1401"/>
                <a:gd name="T9" fmla="*/ 402 h 438"/>
                <a:gd name="T10" fmla="*/ 450 w 1401"/>
                <a:gd name="T11" fmla="*/ 384 h 438"/>
                <a:gd name="T12" fmla="*/ 486 w 1401"/>
                <a:gd name="T13" fmla="*/ 393 h 438"/>
                <a:gd name="T14" fmla="*/ 690 w 1401"/>
                <a:gd name="T15" fmla="*/ 417 h 438"/>
                <a:gd name="T16" fmla="*/ 1074 w 1401"/>
                <a:gd name="T17" fmla="*/ 438 h 438"/>
                <a:gd name="T18" fmla="*/ 1401 w 1401"/>
                <a:gd name="T19" fmla="*/ 420 h 438"/>
                <a:gd name="T20" fmla="*/ 1392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01"/>
                <a:gd name="T40" fmla="*/ 0 h 438"/>
                <a:gd name="T41" fmla="*/ 1401 w 1401"/>
                <a:gd name="T42" fmla="*/ 438 h 4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1" name="Freeform 174"/>
            <p:cNvSpPr>
              <a:spLocks/>
            </p:cNvSpPr>
            <p:nvPr/>
          </p:nvSpPr>
          <p:spPr bwMode="auto">
            <a:xfrm>
              <a:off x="4242" y="3858"/>
              <a:ext cx="999" cy="123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36 h 123"/>
                <a:gd name="T6" fmla="*/ 801 w 999"/>
                <a:gd name="T7" fmla="*/ 42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51 h 123"/>
                <a:gd name="T16" fmla="*/ 987 w 999"/>
                <a:gd name="T17" fmla="*/ 123 h 123"/>
                <a:gd name="T18" fmla="*/ 18 w 999"/>
                <a:gd name="T19" fmla="*/ 120 h 123"/>
                <a:gd name="T20" fmla="*/ 0 w 999"/>
                <a:gd name="T21" fmla="*/ 6 h 1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99"/>
                <a:gd name="T34" fmla="*/ 0 h 123"/>
                <a:gd name="T35" fmla="*/ 999 w 999"/>
                <a:gd name="T36" fmla="*/ 123 h 1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352" name="Picture 175" descr="video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3074" name="Object 176"/>
          <p:cNvGraphicFramePr>
            <a:graphicFrameLocks noChangeAspect="1"/>
          </p:cNvGraphicFramePr>
          <p:nvPr/>
        </p:nvGraphicFramePr>
        <p:xfrm>
          <a:off x="2589213" y="2084389"/>
          <a:ext cx="40481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857160" imgH="1324080" progId="">
                  <p:embed/>
                </p:oleObj>
              </mc:Choice>
              <mc:Fallback>
                <p:oleObj name="Clip" r:id="rId4" imgW="857160" imgH="1324080" progId="">
                  <p:embed/>
                  <p:pic>
                    <p:nvPicPr>
                      <p:cNvPr id="0" name="Object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2084389"/>
                        <a:ext cx="404812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6" name="Group 177"/>
          <p:cNvGrpSpPr>
            <a:grpSpLocks/>
          </p:cNvGrpSpPr>
          <p:nvPr/>
        </p:nvGrpSpPr>
        <p:grpSpPr bwMode="auto">
          <a:xfrm>
            <a:off x="3463926" y="3343276"/>
            <a:ext cx="314325" cy="542925"/>
            <a:chOff x="1054" y="3290"/>
            <a:chExt cx="238" cy="366"/>
          </a:xfrm>
        </p:grpSpPr>
        <p:sp>
          <p:nvSpPr>
            <p:cNvPr id="3300" name="Freeform 178"/>
            <p:cNvSpPr>
              <a:spLocks/>
            </p:cNvSpPr>
            <p:nvPr/>
          </p:nvSpPr>
          <p:spPr bwMode="auto">
            <a:xfrm>
              <a:off x="1172" y="3574"/>
              <a:ext cx="120" cy="82"/>
            </a:xfrm>
            <a:custGeom>
              <a:avLst/>
              <a:gdLst>
                <a:gd name="T0" fmla="*/ 0 w 720"/>
                <a:gd name="T1" fmla="*/ 2 h 490"/>
                <a:gd name="T2" fmla="*/ 0 w 720"/>
                <a:gd name="T3" fmla="*/ 2 h 490"/>
                <a:gd name="T4" fmla="*/ 0 w 720"/>
                <a:gd name="T5" fmla="*/ 2 h 490"/>
                <a:gd name="T6" fmla="*/ 0 w 720"/>
                <a:gd name="T7" fmla="*/ 2 h 490"/>
                <a:gd name="T8" fmla="*/ 0 w 720"/>
                <a:gd name="T9" fmla="*/ 2 h 490"/>
                <a:gd name="T10" fmla="*/ 1 w 720"/>
                <a:gd name="T11" fmla="*/ 2 h 490"/>
                <a:gd name="T12" fmla="*/ 1 w 720"/>
                <a:gd name="T13" fmla="*/ 2 h 490"/>
                <a:gd name="T14" fmla="*/ 1 w 720"/>
                <a:gd name="T15" fmla="*/ 2 h 490"/>
                <a:gd name="T16" fmla="*/ 1 w 720"/>
                <a:gd name="T17" fmla="*/ 2 h 490"/>
                <a:gd name="T18" fmla="*/ 2 w 720"/>
                <a:gd name="T19" fmla="*/ 2 h 490"/>
                <a:gd name="T20" fmla="*/ 2 w 720"/>
                <a:gd name="T21" fmla="*/ 2 h 490"/>
                <a:gd name="T22" fmla="*/ 3 w 720"/>
                <a:gd name="T23" fmla="*/ 2 h 490"/>
                <a:gd name="T24" fmla="*/ 3 w 720"/>
                <a:gd name="T25" fmla="*/ 1 h 490"/>
                <a:gd name="T26" fmla="*/ 3 w 720"/>
                <a:gd name="T27" fmla="*/ 1 h 490"/>
                <a:gd name="T28" fmla="*/ 3 w 720"/>
                <a:gd name="T29" fmla="*/ 1 h 490"/>
                <a:gd name="T30" fmla="*/ 3 w 720"/>
                <a:gd name="T31" fmla="*/ 1 h 490"/>
                <a:gd name="T32" fmla="*/ 3 w 720"/>
                <a:gd name="T33" fmla="*/ 1 h 490"/>
                <a:gd name="T34" fmla="*/ 3 w 720"/>
                <a:gd name="T35" fmla="*/ 1 h 490"/>
                <a:gd name="T36" fmla="*/ 3 w 720"/>
                <a:gd name="T37" fmla="*/ 1 h 490"/>
                <a:gd name="T38" fmla="*/ 3 w 720"/>
                <a:gd name="T39" fmla="*/ 1 h 490"/>
                <a:gd name="T40" fmla="*/ 3 w 720"/>
                <a:gd name="T41" fmla="*/ 1 h 490"/>
                <a:gd name="T42" fmla="*/ 3 w 720"/>
                <a:gd name="T43" fmla="*/ 1 h 490"/>
                <a:gd name="T44" fmla="*/ 3 w 720"/>
                <a:gd name="T45" fmla="*/ 1 h 490"/>
                <a:gd name="T46" fmla="*/ 2 w 720"/>
                <a:gd name="T47" fmla="*/ 0 h 490"/>
                <a:gd name="T48" fmla="*/ 2 w 720"/>
                <a:gd name="T49" fmla="*/ 0 h 490"/>
                <a:gd name="T50" fmla="*/ 2 w 720"/>
                <a:gd name="T51" fmla="*/ 0 h 490"/>
                <a:gd name="T52" fmla="*/ 2 w 720"/>
                <a:gd name="T53" fmla="*/ 0 h 490"/>
                <a:gd name="T54" fmla="*/ 2 w 720"/>
                <a:gd name="T55" fmla="*/ 0 h 490"/>
                <a:gd name="T56" fmla="*/ 2 w 720"/>
                <a:gd name="T57" fmla="*/ 0 h 490"/>
                <a:gd name="T58" fmla="*/ 2 w 720"/>
                <a:gd name="T59" fmla="*/ 0 h 490"/>
                <a:gd name="T60" fmla="*/ 2 w 720"/>
                <a:gd name="T61" fmla="*/ 0 h 490"/>
                <a:gd name="T62" fmla="*/ 2 w 720"/>
                <a:gd name="T63" fmla="*/ 0 h 490"/>
                <a:gd name="T64" fmla="*/ 2 w 720"/>
                <a:gd name="T65" fmla="*/ 0 h 490"/>
                <a:gd name="T66" fmla="*/ 2 w 720"/>
                <a:gd name="T67" fmla="*/ 0 h 490"/>
                <a:gd name="T68" fmla="*/ 2 w 720"/>
                <a:gd name="T69" fmla="*/ 0 h 490"/>
                <a:gd name="T70" fmla="*/ 1 w 720"/>
                <a:gd name="T71" fmla="*/ 1 h 490"/>
                <a:gd name="T72" fmla="*/ 1 w 720"/>
                <a:gd name="T73" fmla="*/ 1 h 490"/>
                <a:gd name="T74" fmla="*/ 1 w 720"/>
                <a:gd name="T75" fmla="*/ 1 h 490"/>
                <a:gd name="T76" fmla="*/ 1 w 720"/>
                <a:gd name="T77" fmla="*/ 1 h 490"/>
                <a:gd name="T78" fmla="*/ 0 w 720"/>
                <a:gd name="T79" fmla="*/ 1 h 490"/>
                <a:gd name="T80" fmla="*/ 0 w 720"/>
                <a:gd name="T81" fmla="*/ 1 h 490"/>
                <a:gd name="T82" fmla="*/ 0 w 720"/>
                <a:gd name="T83" fmla="*/ 1 h 490"/>
                <a:gd name="T84" fmla="*/ 0 w 720"/>
                <a:gd name="T85" fmla="*/ 1 h 490"/>
                <a:gd name="T86" fmla="*/ 0 w 720"/>
                <a:gd name="T87" fmla="*/ 2 h 49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20"/>
                <a:gd name="T133" fmla="*/ 0 h 490"/>
                <a:gd name="T134" fmla="*/ 720 w 720"/>
                <a:gd name="T135" fmla="*/ 490 h 49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20" h="490">
                  <a:moveTo>
                    <a:pt x="55" y="382"/>
                  </a:moveTo>
                  <a:lnTo>
                    <a:pt x="54" y="389"/>
                  </a:lnTo>
                  <a:lnTo>
                    <a:pt x="52" y="395"/>
                  </a:lnTo>
                  <a:lnTo>
                    <a:pt x="47" y="401"/>
                  </a:lnTo>
                  <a:lnTo>
                    <a:pt x="41" y="405"/>
                  </a:lnTo>
                  <a:lnTo>
                    <a:pt x="37" y="409"/>
                  </a:lnTo>
                  <a:lnTo>
                    <a:pt x="26" y="414"/>
                  </a:lnTo>
                  <a:lnTo>
                    <a:pt x="14" y="421"/>
                  </a:lnTo>
                  <a:lnTo>
                    <a:pt x="10" y="425"/>
                  </a:lnTo>
                  <a:lnTo>
                    <a:pt x="4" y="429"/>
                  </a:lnTo>
                  <a:lnTo>
                    <a:pt x="1" y="434"/>
                  </a:lnTo>
                  <a:lnTo>
                    <a:pt x="0" y="437"/>
                  </a:lnTo>
                  <a:lnTo>
                    <a:pt x="0" y="440"/>
                  </a:lnTo>
                  <a:lnTo>
                    <a:pt x="1" y="444"/>
                  </a:lnTo>
                  <a:lnTo>
                    <a:pt x="3" y="446"/>
                  </a:lnTo>
                  <a:lnTo>
                    <a:pt x="8" y="449"/>
                  </a:lnTo>
                  <a:lnTo>
                    <a:pt x="14" y="450"/>
                  </a:lnTo>
                  <a:lnTo>
                    <a:pt x="254" y="489"/>
                  </a:lnTo>
                  <a:lnTo>
                    <a:pt x="258" y="490"/>
                  </a:lnTo>
                  <a:lnTo>
                    <a:pt x="264" y="490"/>
                  </a:lnTo>
                  <a:lnTo>
                    <a:pt x="269" y="489"/>
                  </a:lnTo>
                  <a:lnTo>
                    <a:pt x="275" y="489"/>
                  </a:lnTo>
                  <a:lnTo>
                    <a:pt x="281" y="488"/>
                  </a:lnTo>
                  <a:lnTo>
                    <a:pt x="286" y="485"/>
                  </a:lnTo>
                  <a:lnTo>
                    <a:pt x="291" y="484"/>
                  </a:lnTo>
                  <a:lnTo>
                    <a:pt x="295" y="482"/>
                  </a:lnTo>
                  <a:lnTo>
                    <a:pt x="300" y="480"/>
                  </a:lnTo>
                  <a:lnTo>
                    <a:pt x="312" y="473"/>
                  </a:lnTo>
                  <a:lnTo>
                    <a:pt x="333" y="463"/>
                  </a:lnTo>
                  <a:lnTo>
                    <a:pt x="359" y="448"/>
                  </a:lnTo>
                  <a:lnTo>
                    <a:pt x="389" y="432"/>
                  </a:lnTo>
                  <a:lnTo>
                    <a:pt x="423" y="414"/>
                  </a:lnTo>
                  <a:lnTo>
                    <a:pt x="460" y="395"/>
                  </a:lnTo>
                  <a:lnTo>
                    <a:pt x="497" y="375"/>
                  </a:lnTo>
                  <a:lnTo>
                    <a:pt x="535" y="356"/>
                  </a:lnTo>
                  <a:lnTo>
                    <a:pt x="572" y="337"/>
                  </a:lnTo>
                  <a:lnTo>
                    <a:pt x="606" y="319"/>
                  </a:lnTo>
                  <a:lnTo>
                    <a:pt x="636" y="303"/>
                  </a:lnTo>
                  <a:lnTo>
                    <a:pt x="662" y="288"/>
                  </a:lnTo>
                  <a:lnTo>
                    <a:pt x="683" y="278"/>
                  </a:lnTo>
                  <a:lnTo>
                    <a:pt x="695" y="272"/>
                  </a:lnTo>
                  <a:lnTo>
                    <a:pt x="700" y="269"/>
                  </a:lnTo>
                  <a:lnTo>
                    <a:pt x="709" y="263"/>
                  </a:lnTo>
                  <a:lnTo>
                    <a:pt x="715" y="254"/>
                  </a:lnTo>
                  <a:lnTo>
                    <a:pt x="719" y="243"/>
                  </a:lnTo>
                  <a:lnTo>
                    <a:pt x="720" y="233"/>
                  </a:lnTo>
                  <a:lnTo>
                    <a:pt x="720" y="230"/>
                  </a:lnTo>
                  <a:lnTo>
                    <a:pt x="720" y="224"/>
                  </a:lnTo>
                  <a:lnTo>
                    <a:pt x="720" y="218"/>
                  </a:lnTo>
                  <a:lnTo>
                    <a:pt x="720" y="215"/>
                  </a:lnTo>
                  <a:lnTo>
                    <a:pt x="718" y="205"/>
                  </a:lnTo>
                  <a:lnTo>
                    <a:pt x="712" y="196"/>
                  </a:lnTo>
                  <a:lnTo>
                    <a:pt x="704" y="189"/>
                  </a:lnTo>
                  <a:lnTo>
                    <a:pt x="694" y="186"/>
                  </a:lnTo>
                  <a:lnTo>
                    <a:pt x="692" y="186"/>
                  </a:lnTo>
                  <a:lnTo>
                    <a:pt x="686" y="185"/>
                  </a:lnTo>
                  <a:lnTo>
                    <a:pt x="677" y="183"/>
                  </a:lnTo>
                  <a:lnTo>
                    <a:pt x="668" y="182"/>
                  </a:lnTo>
                  <a:lnTo>
                    <a:pt x="658" y="180"/>
                  </a:lnTo>
                  <a:lnTo>
                    <a:pt x="649" y="178"/>
                  </a:lnTo>
                  <a:lnTo>
                    <a:pt x="643" y="177"/>
                  </a:lnTo>
                  <a:lnTo>
                    <a:pt x="641" y="177"/>
                  </a:lnTo>
                  <a:lnTo>
                    <a:pt x="634" y="175"/>
                  </a:lnTo>
                  <a:lnTo>
                    <a:pt x="627" y="170"/>
                  </a:lnTo>
                  <a:lnTo>
                    <a:pt x="622" y="166"/>
                  </a:lnTo>
                  <a:lnTo>
                    <a:pt x="617" y="160"/>
                  </a:lnTo>
                  <a:lnTo>
                    <a:pt x="614" y="155"/>
                  </a:lnTo>
                  <a:lnTo>
                    <a:pt x="607" y="141"/>
                  </a:lnTo>
                  <a:lnTo>
                    <a:pt x="596" y="122"/>
                  </a:lnTo>
                  <a:lnTo>
                    <a:pt x="583" y="98"/>
                  </a:lnTo>
                  <a:lnTo>
                    <a:pt x="571" y="76"/>
                  </a:lnTo>
                  <a:lnTo>
                    <a:pt x="560" y="57"/>
                  </a:lnTo>
                  <a:lnTo>
                    <a:pt x="553" y="43"/>
                  </a:lnTo>
                  <a:lnTo>
                    <a:pt x="549" y="38"/>
                  </a:lnTo>
                  <a:lnTo>
                    <a:pt x="546" y="33"/>
                  </a:lnTo>
                  <a:lnTo>
                    <a:pt x="543" y="30"/>
                  </a:lnTo>
                  <a:lnTo>
                    <a:pt x="539" y="25"/>
                  </a:lnTo>
                  <a:lnTo>
                    <a:pt x="535" y="22"/>
                  </a:lnTo>
                  <a:lnTo>
                    <a:pt x="530" y="18"/>
                  </a:lnTo>
                  <a:lnTo>
                    <a:pt x="525" y="16"/>
                  </a:lnTo>
                  <a:lnTo>
                    <a:pt x="520" y="14"/>
                  </a:lnTo>
                  <a:lnTo>
                    <a:pt x="516" y="13"/>
                  </a:lnTo>
                  <a:lnTo>
                    <a:pt x="513" y="13"/>
                  </a:lnTo>
                  <a:lnTo>
                    <a:pt x="508" y="11"/>
                  </a:lnTo>
                  <a:lnTo>
                    <a:pt x="500" y="9"/>
                  </a:lnTo>
                  <a:lnTo>
                    <a:pt x="492" y="7"/>
                  </a:lnTo>
                  <a:lnTo>
                    <a:pt x="483" y="5"/>
                  </a:lnTo>
                  <a:lnTo>
                    <a:pt x="475" y="4"/>
                  </a:lnTo>
                  <a:lnTo>
                    <a:pt x="469" y="2"/>
                  </a:lnTo>
                  <a:lnTo>
                    <a:pt x="467" y="2"/>
                  </a:lnTo>
                  <a:lnTo>
                    <a:pt x="462" y="0"/>
                  </a:lnTo>
                  <a:lnTo>
                    <a:pt x="457" y="0"/>
                  </a:lnTo>
                  <a:lnTo>
                    <a:pt x="452" y="0"/>
                  </a:lnTo>
                  <a:lnTo>
                    <a:pt x="447" y="0"/>
                  </a:lnTo>
                  <a:lnTo>
                    <a:pt x="440" y="2"/>
                  </a:lnTo>
                  <a:lnTo>
                    <a:pt x="435" y="2"/>
                  </a:lnTo>
                  <a:lnTo>
                    <a:pt x="430" y="4"/>
                  </a:lnTo>
                  <a:lnTo>
                    <a:pt x="425" y="5"/>
                  </a:lnTo>
                  <a:lnTo>
                    <a:pt x="382" y="24"/>
                  </a:lnTo>
                  <a:lnTo>
                    <a:pt x="381" y="25"/>
                  </a:lnTo>
                  <a:lnTo>
                    <a:pt x="377" y="26"/>
                  </a:lnTo>
                  <a:lnTo>
                    <a:pt x="371" y="29"/>
                  </a:lnTo>
                  <a:lnTo>
                    <a:pt x="364" y="32"/>
                  </a:lnTo>
                  <a:lnTo>
                    <a:pt x="356" y="35"/>
                  </a:lnTo>
                  <a:lnTo>
                    <a:pt x="351" y="38"/>
                  </a:lnTo>
                  <a:lnTo>
                    <a:pt x="346" y="39"/>
                  </a:lnTo>
                  <a:lnTo>
                    <a:pt x="345" y="40"/>
                  </a:lnTo>
                  <a:lnTo>
                    <a:pt x="177" y="114"/>
                  </a:lnTo>
                  <a:lnTo>
                    <a:pt x="176" y="115"/>
                  </a:lnTo>
                  <a:lnTo>
                    <a:pt x="171" y="116"/>
                  </a:lnTo>
                  <a:lnTo>
                    <a:pt x="166" y="120"/>
                  </a:lnTo>
                  <a:lnTo>
                    <a:pt x="159" y="122"/>
                  </a:lnTo>
                  <a:lnTo>
                    <a:pt x="151" y="125"/>
                  </a:lnTo>
                  <a:lnTo>
                    <a:pt x="145" y="129"/>
                  </a:lnTo>
                  <a:lnTo>
                    <a:pt x="141" y="130"/>
                  </a:lnTo>
                  <a:lnTo>
                    <a:pt x="140" y="131"/>
                  </a:lnTo>
                  <a:lnTo>
                    <a:pt x="137" y="132"/>
                  </a:lnTo>
                  <a:lnTo>
                    <a:pt x="129" y="135"/>
                  </a:lnTo>
                  <a:lnTo>
                    <a:pt x="119" y="140"/>
                  </a:lnTo>
                  <a:lnTo>
                    <a:pt x="108" y="144"/>
                  </a:lnTo>
                  <a:lnTo>
                    <a:pt x="97" y="149"/>
                  </a:lnTo>
                  <a:lnTo>
                    <a:pt x="87" y="153"/>
                  </a:lnTo>
                  <a:lnTo>
                    <a:pt x="79" y="157"/>
                  </a:lnTo>
                  <a:lnTo>
                    <a:pt x="76" y="158"/>
                  </a:lnTo>
                  <a:lnTo>
                    <a:pt x="67" y="164"/>
                  </a:lnTo>
                  <a:lnTo>
                    <a:pt x="61" y="171"/>
                  </a:lnTo>
                  <a:lnTo>
                    <a:pt x="56" y="182"/>
                  </a:lnTo>
                  <a:lnTo>
                    <a:pt x="55" y="192"/>
                  </a:lnTo>
                  <a:lnTo>
                    <a:pt x="55" y="221"/>
                  </a:lnTo>
                  <a:lnTo>
                    <a:pt x="55" y="286"/>
                  </a:lnTo>
                  <a:lnTo>
                    <a:pt x="55" y="353"/>
                  </a:lnTo>
                  <a:lnTo>
                    <a:pt x="55" y="3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1" name="Freeform 179"/>
            <p:cNvSpPr>
              <a:spLocks/>
            </p:cNvSpPr>
            <p:nvPr/>
          </p:nvSpPr>
          <p:spPr bwMode="auto">
            <a:xfrm>
              <a:off x="1173" y="3575"/>
              <a:ext cx="118" cy="79"/>
            </a:xfrm>
            <a:custGeom>
              <a:avLst/>
              <a:gdLst>
                <a:gd name="T0" fmla="*/ 0 w 705"/>
                <a:gd name="T1" fmla="*/ 1 h 475"/>
                <a:gd name="T2" fmla="*/ 0 w 705"/>
                <a:gd name="T3" fmla="*/ 1 h 475"/>
                <a:gd name="T4" fmla="*/ 1 w 705"/>
                <a:gd name="T5" fmla="*/ 1 h 475"/>
                <a:gd name="T6" fmla="*/ 1 w 705"/>
                <a:gd name="T7" fmla="*/ 0 h 475"/>
                <a:gd name="T8" fmla="*/ 1 w 705"/>
                <a:gd name="T9" fmla="*/ 0 h 475"/>
                <a:gd name="T10" fmla="*/ 1 w 705"/>
                <a:gd name="T11" fmla="*/ 0 h 475"/>
                <a:gd name="T12" fmla="*/ 1 w 705"/>
                <a:gd name="T13" fmla="*/ 0 h 475"/>
                <a:gd name="T14" fmla="*/ 2 w 705"/>
                <a:gd name="T15" fmla="*/ 0 h 475"/>
                <a:gd name="T16" fmla="*/ 2 w 705"/>
                <a:gd name="T17" fmla="*/ 0 h 475"/>
                <a:gd name="T18" fmla="*/ 2 w 705"/>
                <a:gd name="T19" fmla="*/ 0 h 475"/>
                <a:gd name="T20" fmla="*/ 2 w 705"/>
                <a:gd name="T21" fmla="*/ 0 h 475"/>
                <a:gd name="T22" fmla="*/ 2 w 705"/>
                <a:gd name="T23" fmla="*/ 0 h 475"/>
                <a:gd name="T24" fmla="*/ 2 w 705"/>
                <a:gd name="T25" fmla="*/ 0 h 475"/>
                <a:gd name="T26" fmla="*/ 2 w 705"/>
                <a:gd name="T27" fmla="*/ 0 h 475"/>
                <a:gd name="T28" fmla="*/ 2 w 705"/>
                <a:gd name="T29" fmla="*/ 0 h 475"/>
                <a:gd name="T30" fmla="*/ 2 w 705"/>
                <a:gd name="T31" fmla="*/ 0 h 475"/>
                <a:gd name="T32" fmla="*/ 2 w 705"/>
                <a:gd name="T33" fmla="*/ 0 h 475"/>
                <a:gd name="T34" fmla="*/ 3 w 705"/>
                <a:gd name="T35" fmla="*/ 0 h 475"/>
                <a:gd name="T36" fmla="*/ 3 w 705"/>
                <a:gd name="T37" fmla="*/ 1 h 475"/>
                <a:gd name="T38" fmla="*/ 3 w 705"/>
                <a:gd name="T39" fmla="*/ 1 h 475"/>
                <a:gd name="T40" fmla="*/ 3 w 705"/>
                <a:gd name="T41" fmla="*/ 1 h 475"/>
                <a:gd name="T42" fmla="*/ 3 w 705"/>
                <a:gd name="T43" fmla="*/ 1 h 475"/>
                <a:gd name="T44" fmla="*/ 3 w 705"/>
                <a:gd name="T45" fmla="*/ 1 h 475"/>
                <a:gd name="T46" fmla="*/ 3 w 705"/>
                <a:gd name="T47" fmla="*/ 1 h 475"/>
                <a:gd name="T48" fmla="*/ 3 w 705"/>
                <a:gd name="T49" fmla="*/ 1 h 475"/>
                <a:gd name="T50" fmla="*/ 3 w 705"/>
                <a:gd name="T51" fmla="*/ 1 h 475"/>
                <a:gd name="T52" fmla="*/ 1 w 705"/>
                <a:gd name="T53" fmla="*/ 2 h 475"/>
                <a:gd name="T54" fmla="*/ 1 w 705"/>
                <a:gd name="T55" fmla="*/ 2 h 475"/>
                <a:gd name="T56" fmla="*/ 1 w 705"/>
                <a:gd name="T57" fmla="*/ 2 h 475"/>
                <a:gd name="T58" fmla="*/ 1 w 705"/>
                <a:gd name="T59" fmla="*/ 2 h 475"/>
                <a:gd name="T60" fmla="*/ 0 w 705"/>
                <a:gd name="T61" fmla="*/ 2 h 475"/>
                <a:gd name="T62" fmla="*/ 0 w 705"/>
                <a:gd name="T63" fmla="*/ 2 h 475"/>
                <a:gd name="T64" fmla="*/ 0 w 705"/>
                <a:gd name="T65" fmla="*/ 2 h 475"/>
                <a:gd name="T66" fmla="*/ 0 w 705"/>
                <a:gd name="T67" fmla="*/ 2 h 475"/>
                <a:gd name="T68" fmla="*/ 0 w 705"/>
                <a:gd name="T69" fmla="*/ 2 h 475"/>
                <a:gd name="T70" fmla="*/ 0 w 705"/>
                <a:gd name="T71" fmla="*/ 1 h 47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5"/>
                <a:gd name="T109" fmla="*/ 0 h 475"/>
                <a:gd name="T110" fmla="*/ 705 w 705"/>
                <a:gd name="T111" fmla="*/ 475 h 47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5" h="475">
                  <a:moveTo>
                    <a:pt x="54" y="185"/>
                  </a:moveTo>
                  <a:lnTo>
                    <a:pt x="55" y="177"/>
                  </a:lnTo>
                  <a:lnTo>
                    <a:pt x="59" y="169"/>
                  </a:lnTo>
                  <a:lnTo>
                    <a:pt x="65" y="162"/>
                  </a:lnTo>
                  <a:lnTo>
                    <a:pt x="72" y="158"/>
                  </a:lnTo>
                  <a:lnTo>
                    <a:pt x="135" y="130"/>
                  </a:lnTo>
                  <a:lnTo>
                    <a:pt x="140" y="127"/>
                  </a:lnTo>
                  <a:lnTo>
                    <a:pt x="144" y="126"/>
                  </a:lnTo>
                  <a:lnTo>
                    <a:pt x="149" y="124"/>
                  </a:lnTo>
                  <a:lnTo>
                    <a:pt x="153" y="122"/>
                  </a:lnTo>
                  <a:lnTo>
                    <a:pt x="158" y="119"/>
                  </a:lnTo>
                  <a:lnTo>
                    <a:pt x="162" y="117"/>
                  </a:lnTo>
                  <a:lnTo>
                    <a:pt x="167" y="116"/>
                  </a:lnTo>
                  <a:lnTo>
                    <a:pt x="171" y="114"/>
                  </a:lnTo>
                  <a:lnTo>
                    <a:pt x="340" y="40"/>
                  </a:lnTo>
                  <a:lnTo>
                    <a:pt x="345" y="37"/>
                  </a:lnTo>
                  <a:lnTo>
                    <a:pt x="350" y="36"/>
                  </a:lnTo>
                  <a:lnTo>
                    <a:pt x="354" y="34"/>
                  </a:lnTo>
                  <a:lnTo>
                    <a:pt x="359" y="32"/>
                  </a:lnTo>
                  <a:lnTo>
                    <a:pt x="363" y="29"/>
                  </a:lnTo>
                  <a:lnTo>
                    <a:pt x="368" y="27"/>
                  </a:lnTo>
                  <a:lnTo>
                    <a:pt x="372" y="26"/>
                  </a:lnTo>
                  <a:lnTo>
                    <a:pt x="377" y="24"/>
                  </a:lnTo>
                  <a:lnTo>
                    <a:pt x="421" y="5"/>
                  </a:lnTo>
                  <a:lnTo>
                    <a:pt x="425" y="4"/>
                  </a:lnTo>
                  <a:lnTo>
                    <a:pt x="430" y="2"/>
                  </a:lnTo>
                  <a:lnTo>
                    <a:pt x="434" y="1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9" y="0"/>
                  </a:lnTo>
                  <a:lnTo>
                    <a:pt x="453" y="0"/>
                  </a:lnTo>
                  <a:lnTo>
                    <a:pt x="458" y="1"/>
                  </a:lnTo>
                  <a:lnTo>
                    <a:pt x="506" y="13"/>
                  </a:lnTo>
                  <a:lnTo>
                    <a:pt x="514" y="16"/>
                  </a:lnTo>
                  <a:lnTo>
                    <a:pt x="522" y="20"/>
                  </a:lnTo>
                  <a:lnTo>
                    <a:pt x="529" y="27"/>
                  </a:lnTo>
                  <a:lnTo>
                    <a:pt x="535" y="34"/>
                  </a:lnTo>
                  <a:lnTo>
                    <a:pt x="602" y="157"/>
                  </a:lnTo>
                  <a:lnTo>
                    <a:pt x="608" y="163"/>
                  </a:lnTo>
                  <a:lnTo>
                    <a:pt x="616" y="169"/>
                  </a:lnTo>
                  <a:lnTo>
                    <a:pt x="624" y="173"/>
                  </a:lnTo>
                  <a:lnTo>
                    <a:pt x="632" y="177"/>
                  </a:lnTo>
                  <a:lnTo>
                    <a:pt x="685" y="186"/>
                  </a:lnTo>
                  <a:lnTo>
                    <a:pt x="693" y="189"/>
                  </a:lnTo>
                  <a:lnTo>
                    <a:pt x="699" y="194"/>
                  </a:lnTo>
                  <a:lnTo>
                    <a:pt x="704" y="200"/>
                  </a:lnTo>
                  <a:lnTo>
                    <a:pt x="705" y="208"/>
                  </a:lnTo>
                  <a:lnTo>
                    <a:pt x="705" y="226"/>
                  </a:lnTo>
                  <a:lnTo>
                    <a:pt x="704" y="235"/>
                  </a:lnTo>
                  <a:lnTo>
                    <a:pt x="701" y="243"/>
                  </a:lnTo>
                  <a:lnTo>
                    <a:pt x="695" y="251"/>
                  </a:lnTo>
                  <a:lnTo>
                    <a:pt x="688" y="256"/>
                  </a:lnTo>
                  <a:lnTo>
                    <a:pt x="284" y="469"/>
                  </a:lnTo>
                  <a:lnTo>
                    <a:pt x="280" y="470"/>
                  </a:lnTo>
                  <a:lnTo>
                    <a:pt x="275" y="473"/>
                  </a:lnTo>
                  <a:lnTo>
                    <a:pt x="270" y="474"/>
                  </a:lnTo>
                  <a:lnTo>
                    <a:pt x="266" y="474"/>
                  </a:lnTo>
                  <a:lnTo>
                    <a:pt x="260" y="475"/>
                  </a:lnTo>
                  <a:lnTo>
                    <a:pt x="256" y="475"/>
                  </a:lnTo>
                  <a:lnTo>
                    <a:pt x="251" y="475"/>
                  </a:lnTo>
                  <a:lnTo>
                    <a:pt x="247" y="475"/>
                  </a:lnTo>
                  <a:lnTo>
                    <a:pt x="7" y="437"/>
                  </a:lnTo>
                  <a:lnTo>
                    <a:pt x="2" y="434"/>
                  </a:lnTo>
                  <a:lnTo>
                    <a:pt x="0" y="431"/>
                  </a:lnTo>
                  <a:lnTo>
                    <a:pt x="1" y="428"/>
                  </a:lnTo>
                  <a:lnTo>
                    <a:pt x="5" y="423"/>
                  </a:lnTo>
                  <a:lnTo>
                    <a:pt x="37" y="405"/>
                  </a:lnTo>
                  <a:lnTo>
                    <a:pt x="44" y="400"/>
                  </a:lnTo>
                  <a:lnTo>
                    <a:pt x="49" y="392"/>
                  </a:lnTo>
                  <a:lnTo>
                    <a:pt x="53" y="384"/>
                  </a:lnTo>
                  <a:lnTo>
                    <a:pt x="54" y="375"/>
                  </a:lnTo>
                  <a:lnTo>
                    <a:pt x="54" y="185"/>
                  </a:lnTo>
                  <a:close/>
                </a:path>
              </a:pathLst>
            </a:custGeom>
            <a:solidFill>
              <a:srgbClr val="B5B5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2" name="Freeform 180"/>
            <p:cNvSpPr>
              <a:spLocks/>
            </p:cNvSpPr>
            <p:nvPr/>
          </p:nvSpPr>
          <p:spPr bwMode="auto">
            <a:xfrm>
              <a:off x="1173" y="3604"/>
              <a:ext cx="44" cy="50"/>
            </a:xfrm>
            <a:custGeom>
              <a:avLst/>
              <a:gdLst>
                <a:gd name="T0" fmla="*/ 0 w 265"/>
                <a:gd name="T1" fmla="*/ 0 h 305"/>
                <a:gd name="T2" fmla="*/ 0 w 265"/>
                <a:gd name="T3" fmla="*/ 0 h 305"/>
                <a:gd name="T4" fmla="*/ 0 w 265"/>
                <a:gd name="T5" fmla="*/ 0 h 305"/>
                <a:gd name="T6" fmla="*/ 0 w 265"/>
                <a:gd name="T7" fmla="*/ 0 h 305"/>
                <a:gd name="T8" fmla="*/ 0 w 265"/>
                <a:gd name="T9" fmla="*/ 0 h 305"/>
                <a:gd name="T10" fmla="*/ 0 w 265"/>
                <a:gd name="T11" fmla="*/ 0 h 305"/>
                <a:gd name="T12" fmla="*/ 1 w 265"/>
                <a:gd name="T13" fmla="*/ 0 h 305"/>
                <a:gd name="T14" fmla="*/ 1 w 265"/>
                <a:gd name="T15" fmla="*/ 0 h 305"/>
                <a:gd name="T16" fmla="*/ 1 w 265"/>
                <a:gd name="T17" fmla="*/ 0 h 305"/>
                <a:gd name="T18" fmla="*/ 1 w 265"/>
                <a:gd name="T19" fmla="*/ 0 h 305"/>
                <a:gd name="T20" fmla="*/ 1 w 265"/>
                <a:gd name="T21" fmla="*/ 1 h 305"/>
                <a:gd name="T22" fmla="*/ 1 w 265"/>
                <a:gd name="T23" fmla="*/ 1 h 305"/>
                <a:gd name="T24" fmla="*/ 1 w 265"/>
                <a:gd name="T25" fmla="*/ 1 h 305"/>
                <a:gd name="T26" fmla="*/ 1 w 265"/>
                <a:gd name="T27" fmla="*/ 1 h 305"/>
                <a:gd name="T28" fmla="*/ 1 w 265"/>
                <a:gd name="T29" fmla="*/ 1 h 305"/>
                <a:gd name="T30" fmla="*/ 1 w 265"/>
                <a:gd name="T31" fmla="*/ 1 h 305"/>
                <a:gd name="T32" fmla="*/ 1 w 265"/>
                <a:gd name="T33" fmla="*/ 1 h 305"/>
                <a:gd name="T34" fmla="*/ 1 w 265"/>
                <a:gd name="T35" fmla="*/ 1 h 305"/>
                <a:gd name="T36" fmla="*/ 1 w 265"/>
                <a:gd name="T37" fmla="*/ 1 h 305"/>
                <a:gd name="T38" fmla="*/ 1 w 265"/>
                <a:gd name="T39" fmla="*/ 1 h 305"/>
                <a:gd name="T40" fmla="*/ 1 w 265"/>
                <a:gd name="T41" fmla="*/ 1 h 305"/>
                <a:gd name="T42" fmla="*/ 1 w 265"/>
                <a:gd name="T43" fmla="*/ 1 h 305"/>
                <a:gd name="T44" fmla="*/ 1 w 265"/>
                <a:gd name="T45" fmla="*/ 1 h 305"/>
                <a:gd name="T46" fmla="*/ 1 w 265"/>
                <a:gd name="T47" fmla="*/ 1 h 305"/>
                <a:gd name="T48" fmla="*/ 1 w 265"/>
                <a:gd name="T49" fmla="*/ 1 h 305"/>
                <a:gd name="T50" fmla="*/ 0 w 265"/>
                <a:gd name="T51" fmla="*/ 1 h 305"/>
                <a:gd name="T52" fmla="*/ 0 w 265"/>
                <a:gd name="T53" fmla="*/ 1 h 305"/>
                <a:gd name="T54" fmla="*/ 0 w 265"/>
                <a:gd name="T55" fmla="*/ 1 h 305"/>
                <a:gd name="T56" fmla="*/ 0 w 265"/>
                <a:gd name="T57" fmla="*/ 1 h 305"/>
                <a:gd name="T58" fmla="*/ 0 w 265"/>
                <a:gd name="T59" fmla="*/ 1 h 305"/>
                <a:gd name="T60" fmla="*/ 0 w 265"/>
                <a:gd name="T61" fmla="*/ 1 h 305"/>
                <a:gd name="T62" fmla="*/ 0 w 265"/>
                <a:gd name="T63" fmla="*/ 1 h 305"/>
                <a:gd name="T64" fmla="*/ 0 w 265"/>
                <a:gd name="T65" fmla="*/ 1 h 305"/>
                <a:gd name="T66" fmla="*/ 0 w 265"/>
                <a:gd name="T67" fmla="*/ 1 h 305"/>
                <a:gd name="T68" fmla="*/ 0 w 265"/>
                <a:gd name="T69" fmla="*/ 1 h 305"/>
                <a:gd name="T70" fmla="*/ 0 w 265"/>
                <a:gd name="T71" fmla="*/ 0 h 3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5"/>
                <a:gd name="T109" fmla="*/ 0 h 305"/>
                <a:gd name="T110" fmla="*/ 265 w 265"/>
                <a:gd name="T111" fmla="*/ 305 h 30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5" h="305">
                  <a:moveTo>
                    <a:pt x="54" y="15"/>
                  </a:moveTo>
                  <a:lnTo>
                    <a:pt x="55" y="8"/>
                  </a:lnTo>
                  <a:lnTo>
                    <a:pt x="59" y="2"/>
                  </a:lnTo>
                  <a:lnTo>
                    <a:pt x="65" y="0"/>
                  </a:lnTo>
                  <a:lnTo>
                    <a:pt x="73" y="0"/>
                  </a:lnTo>
                  <a:lnTo>
                    <a:pt x="129" y="16"/>
                  </a:lnTo>
                  <a:lnTo>
                    <a:pt x="137" y="19"/>
                  </a:lnTo>
                  <a:lnTo>
                    <a:pt x="144" y="25"/>
                  </a:lnTo>
                  <a:lnTo>
                    <a:pt x="151" y="32"/>
                  </a:lnTo>
                  <a:lnTo>
                    <a:pt x="154" y="39"/>
                  </a:lnTo>
                  <a:lnTo>
                    <a:pt x="195" y="190"/>
                  </a:lnTo>
                  <a:lnTo>
                    <a:pt x="198" y="199"/>
                  </a:lnTo>
                  <a:lnTo>
                    <a:pt x="203" y="207"/>
                  </a:lnTo>
                  <a:lnTo>
                    <a:pt x="210" y="214"/>
                  </a:lnTo>
                  <a:lnTo>
                    <a:pt x="217" y="218"/>
                  </a:lnTo>
                  <a:lnTo>
                    <a:pt x="245" y="233"/>
                  </a:lnTo>
                  <a:lnTo>
                    <a:pt x="251" y="237"/>
                  </a:lnTo>
                  <a:lnTo>
                    <a:pt x="257" y="245"/>
                  </a:lnTo>
                  <a:lnTo>
                    <a:pt x="261" y="253"/>
                  </a:lnTo>
                  <a:lnTo>
                    <a:pt x="263" y="262"/>
                  </a:lnTo>
                  <a:lnTo>
                    <a:pt x="265" y="288"/>
                  </a:lnTo>
                  <a:lnTo>
                    <a:pt x="264" y="296"/>
                  </a:lnTo>
                  <a:lnTo>
                    <a:pt x="260" y="302"/>
                  </a:lnTo>
                  <a:lnTo>
                    <a:pt x="254" y="304"/>
                  </a:lnTo>
                  <a:lnTo>
                    <a:pt x="247" y="305"/>
                  </a:lnTo>
                  <a:lnTo>
                    <a:pt x="7" y="267"/>
                  </a:lnTo>
                  <a:lnTo>
                    <a:pt x="2" y="264"/>
                  </a:lnTo>
                  <a:lnTo>
                    <a:pt x="0" y="261"/>
                  </a:lnTo>
                  <a:lnTo>
                    <a:pt x="1" y="258"/>
                  </a:lnTo>
                  <a:lnTo>
                    <a:pt x="5" y="253"/>
                  </a:lnTo>
                  <a:lnTo>
                    <a:pt x="37" y="235"/>
                  </a:lnTo>
                  <a:lnTo>
                    <a:pt x="44" y="230"/>
                  </a:lnTo>
                  <a:lnTo>
                    <a:pt x="49" y="222"/>
                  </a:lnTo>
                  <a:lnTo>
                    <a:pt x="53" y="214"/>
                  </a:lnTo>
                  <a:lnTo>
                    <a:pt x="54" y="205"/>
                  </a:lnTo>
                  <a:lnTo>
                    <a:pt x="54" y="15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3" name="Freeform 181"/>
            <p:cNvSpPr>
              <a:spLocks/>
            </p:cNvSpPr>
            <p:nvPr/>
          </p:nvSpPr>
          <p:spPr bwMode="auto">
            <a:xfrm>
              <a:off x="1217" y="3608"/>
              <a:ext cx="74" cy="46"/>
            </a:xfrm>
            <a:custGeom>
              <a:avLst/>
              <a:gdLst>
                <a:gd name="T0" fmla="*/ 0 w 442"/>
                <a:gd name="T1" fmla="*/ 1 h 276"/>
                <a:gd name="T2" fmla="*/ 0 w 442"/>
                <a:gd name="T3" fmla="*/ 1 h 276"/>
                <a:gd name="T4" fmla="*/ 0 w 442"/>
                <a:gd name="T5" fmla="*/ 1 h 276"/>
                <a:gd name="T6" fmla="*/ 0 w 442"/>
                <a:gd name="T7" fmla="*/ 1 h 276"/>
                <a:gd name="T8" fmla="*/ 0 w 442"/>
                <a:gd name="T9" fmla="*/ 1 h 276"/>
                <a:gd name="T10" fmla="*/ 2 w 442"/>
                <a:gd name="T11" fmla="*/ 0 h 276"/>
                <a:gd name="T12" fmla="*/ 2 w 442"/>
                <a:gd name="T13" fmla="*/ 0 h 276"/>
                <a:gd name="T14" fmla="*/ 2 w 442"/>
                <a:gd name="T15" fmla="*/ 0 h 276"/>
                <a:gd name="T16" fmla="*/ 2 w 442"/>
                <a:gd name="T17" fmla="*/ 0 h 276"/>
                <a:gd name="T18" fmla="*/ 2 w 442"/>
                <a:gd name="T19" fmla="*/ 0 h 276"/>
                <a:gd name="T20" fmla="*/ 2 w 442"/>
                <a:gd name="T21" fmla="*/ 0 h 276"/>
                <a:gd name="T22" fmla="*/ 2 w 442"/>
                <a:gd name="T23" fmla="*/ 0 h 276"/>
                <a:gd name="T24" fmla="*/ 2 w 442"/>
                <a:gd name="T25" fmla="*/ 0 h 276"/>
                <a:gd name="T26" fmla="*/ 2 w 442"/>
                <a:gd name="T27" fmla="*/ 0 h 276"/>
                <a:gd name="T28" fmla="*/ 2 w 442"/>
                <a:gd name="T29" fmla="*/ 0 h 276"/>
                <a:gd name="T30" fmla="*/ 0 w 442"/>
                <a:gd name="T31" fmla="*/ 1 h 276"/>
                <a:gd name="T32" fmla="*/ 0 w 442"/>
                <a:gd name="T33" fmla="*/ 1 h 276"/>
                <a:gd name="T34" fmla="*/ 0 w 442"/>
                <a:gd name="T35" fmla="*/ 1 h 276"/>
                <a:gd name="T36" fmla="*/ 0 w 442"/>
                <a:gd name="T37" fmla="*/ 1 h 276"/>
                <a:gd name="T38" fmla="*/ 0 w 442"/>
                <a:gd name="T39" fmla="*/ 1 h 276"/>
                <a:gd name="T40" fmla="*/ 0 w 442"/>
                <a:gd name="T41" fmla="*/ 1 h 2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2"/>
                <a:gd name="T64" fmla="*/ 0 h 276"/>
                <a:gd name="T65" fmla="*/ 442 w 442"/>
                <a:gd name="T66" fmla="*/ 276 h 2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2" h="276">
                  <a:moveTo>
                    <a:pt x="0" y="236"/>
                  </a:moveTo>
                  <a:lnTo>
                    <a:pt x="1" y="227"/>
                  </a:lnTo>
                  <a:lnTo>
                    <a:pt x="4" y="219"/>
                  </a:lnTo>
                  <a:lnTo>
                    <a:pt x="10" y="213"/>
                  </a:lnTo>
                  <a:lnTo>
                    <a:pt x="17" y="207"/>
                  </a:lnTo>
                  <a:lnTo>
                    <a:pt x="424" y="2"/>
                  </a:lnTo>
                  <a:lnTo>
                    <a:pt x="431" y="0"/>
                  </a:lnTo>
                  <a:lnTo>
                    <a:pt x="436" y="1"/>
                  </a:lnTo>
                  <a:lnTo>
                    <a:pt x="441" y="6"/>
                  </a:lnTo>
                  <a:lnTo>
                    <a:pt x="442" y="12"/>
                  </a:lnTo>
                  <a:lnTo>
                    <a:pt x="442" y="30"/>
                  </a:lnTo>
                  <a:lnTo>
                    <a:pt x="441" y="39"/>
                  </a:lnTo>
                  <a:lnTo>
                    <a:pt x="438" y="47"/>
                  </a:lnTo>
                  <a:lnTo>
                    <a:pt x="432" y="55"/>
                  </a:lnTo>
                  <a:lnTo>
                    <a:pt x="425" y="60"/>
                  </a:lnTo>
                  <a:lnTo>
                    <a:pt x="21" y="273"/>
                  </a:lnTo>
                  <a:lnTo>
                    <a:pt x="14" y="276"/>
                  </a:lnTo>
                  <a:lnTo>
                    <a:pt x="9" y="273"/>
                  </a:lnTo>
                  <a:lnTo>
                    <a:pt x="4" y="269"/>
                  </a:lnTo>
                  <a:lnTo>
                    <a:pt x="2" y="262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4" name="Freeform 182"/>
            <p:cNvSpPr>
              <a:spLocks/>
            </p:cNvSpPr>
            <p:nvPr/>
          </p:nvSpPr>
          <p:spPr bwMode="auto">
            <a:xfrm>
              <a:off x="1233" y="3575"/>
              <a:ext cx="41" cy="38"/>
            </a:xfrm>
            <a:custGeom>
              <a:avLst/>
              <a:gdLst>
                <a:gd name="T0" fmla="*/ 1 w 244"/>
                <a:gd name="T1" fmla="*/ 1 h 227"/>
                <a:gd name="T2" fmla="*/ 1 w 244"/>
                <a:gd name="T3" fmla="*/ 1 h 227"/>
                <a:gd name="T4" fmla="*/ 1 w 244"/>
                <a:gd name="T5" fmla="*/ 1 h 227"/>
                <a:gd name="T6" fmla="*/ 1 w 244"/>
                <a:gd name="T7" fmla="*/ 1 h 227"/>
                <a:gd name="T8" fmla="*/ 1 w 244"/>
                <a:gd name="T9" fmla="*/ 1 h 227"/>
                <a:gd name="T10" fmla="*/ 1 w 244"/>
                <a:gd name="T11" fmla="*/ 1 h 227"/>
                <a:gd name="T12" fmla="*/ 1 w 244"/>
                <a:gd name="T13" fmla="*/ 1 h 227"/>
                <a:gd name="T14" fmla="*/ 1 w 244"/>
                <a:gd name="T15" fmla="*/ 1 h 227"/>
                <a:gd name="T16" fmla="*/ 1 w 244"/>
                <a:gd name="T17" fmla="*/ 1 h 227"/>
                <a:gd name="T18" fmla="*/ 0 w 244"/>
                <a:gd name="T19" fmla="*/ 1 h 227"/>
                <a:gd name="T20" fmla="*/ 0 w 244"/>
                <a:gd name="T21" fmla="*/ 1 h 227"/>
                <a:gd name="T22" fmla="*/ 0 w 244"/>
                <a:gd name="T23" fmla="*/ 1 h 227"/>
                <a:gd name="T24" fmla="*/ 0 w 244"/>
                <a:gd name="T25" fmla="*/ 1 h 227"/>
                <a:gd name="T26" fmla="*/ 0 w 244"/>
                <a:gd name="T27" fmla="*/ 1 h 227"/>
                <a:gd name="T28" fmla="*/ 0 w 244"/>
                <a:gd name="T29" fmla="*/ 0 h 227"/>
                <a:gd name="T30" fmla="*/ 0 w 244"/>
                <a:gd name="T31" fmla="*/ 0 h 227"/>
                <a:gd name="T32" fmla="*/ 0 w 244"/>
                <a:gd name="T33" fmla="*/ 0 h 227"/>
                <a:gd name="T34" fmla="*/ 0 w 244"/>
                <a:gd name="T35" fmla="*/ 0 h 227"/>
                <a:gd name="T36" fmla="*/ 0 w 244"/>
                <a:gd name="T37" fmla="*/ 0 h 227"/>
                <a:gd name="T38" fmla="*/ 0 w 244"/>
                <a:gd name="T39" fmla="*/ 0 h 227"/>
                <a:gd name="T40" fmla="*/ 0 w 244"/>
                <a:gd name="T41" fmla="*/ 0 h 227"/>
                <a:gd name="T42" fmla="*/ 0 w 244"/>
                <a:gd name="T43" fmla="*/ 0 h 227"/>
                <a:gd name="T44" fmla="*/ 0 w 244"/>
                <a:gd name="T45" fmla="*/ 0 h 227"/>
                <a:gd name="T46" fmla="*/ 0 w 244"/>
                <a:gd name="T47" fmla="*/ 0 h 227"/>
                <a:gd name="T48" fmla="*/ 0 w 244"/>
                <a:gd name="T49" fmla="*/ 0 h 227"/>
                <a:gd name="T50" fmla="*/ 1 w 244"/>
                <a:gd name="T51" fmla="*/ 0 h 227"/>
                <a:gd name="T52" fmla="*/ 1 w 244"/>
                <a:gd name="T53" fmla="*/ 0 h 227"/>
                <a:gd name="T54" fmla="*/ 1 w 244"/>
                <a:gd name="T55" fmla="*/ 0 h 227"/>
                <a:gd name="T56" fmla="*/ 1 w 244"/>
                <a:gd name="T57" fmla="*/ 0 h 227"/>
                <a:gd name="T58" fmla="*/ 1 w 244"/>
                <a:gd name="T59" fmla="*/ 0 h 227"/>
                <a:gd name="T60" fmla="*/ 1 w 244"/>
                <a:gd name="T61" fmla="*/ 0 h 227"/>
                <a:gd name="T62" fmla="*/ 1 w 244"/>
                <a:gd name="T63" fmla="*/ 0 h 227"/>
                <a:gd name="T64" fmla="*/ 1 w 244"/>
                <a:gd name="T65" fmla="*/ 0 h 227"/>
                <a:gd name="T66" fmla="*/ 1 w 244"/>
                <a:gd name="T67" fmla="*/ 1 h 227"/>
                <a:gd name="T68" fmla="*/ 1 w 244"/>
                <a:gd name="T69" fmla="*/ 1 h 227"/>
                <a:gd name="T70" fmla="*/ 1 w 244"/>
                <a:gd name="T71" fmla="*/ 1 h 227"/>
                <a:gd name="T72" fmla="*/ 1 w 244"/>
                <a:gd name="T73" fmla="*/ 1 h 227"/>
                <a:gd name="T74" fmla="*/ 1 w 244"/>
                <a:gd name="T75" fmla="*/ 1 h 227"/>
                <a:gd name="T76" fmla="*/ 1 w 244"/>
                <a:gd name="T77" fmla="*/ 1 h 2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44"/>
                <a:gd name="T118" fmla="*/ 0 h 227"/>
                <a:gd name="T119" fmla="*/ 244 w 244"/>
                <a:gd name="T120" fmla="*/ 227 h 22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44" h="227">
                  <a:moveTo>
                    <a:pt x="141" y="223"/>
                  </a:moveTo>
                  <a:lnTo>
                    <a:pt x="138" y="224"/>
                  </a:lnTo>
                  <a:lnTo>
                    <a:pt x="133" y="226"/>
                  </a:lnTo>
                  <a:lnTo>
                    <a:pt x="128" y="226"/>
                  </a:lnTo>
                  <a:lnTo>
                    <a:pt x="123" y="227"/>
                  </a:lnTo>
                  <a:lnTo>
                    <a:pt x="118" y="227"/>
                  </a:lnTo>
                  <a:lnTo>
                    <a:pt x="113" y="227"/>
                  </a:lnTo>
                  <a:lnTo>
                    <a:pt x="108" y="227"/>
                  </a:lnTo>
                  <a:lnTo>
                    <a:pt x="104" y="226"/>
                  </a:lnTo>
                  <a:lnTo>
                    <a:pt x="33" y="205"/>
                  </a:lnTo>
                  <a:lnTo>
                    <a:pt x="25" y="202"/>
                  </a:lnTo>
                  <a:lnTo>
                    <a:pt x="18" y="196"/>
                  </a:lnTo>
                  <a:lnTo>
                    <a:pt x="13" y="188"/>
                  </a:lnTo>
                  <a:lnTo>
                    <a:pt x="11" y="180"/>
                  </a:lnTo>
                  <a:lnTo>
                    <a:pt x="0" y="51"/>
                  </a:lnTo>
                  <a:lnTo>
                    <a:pt x="1" y="43"/>
                  </a:lnTo>
                  <a:lnTo>
                    <a:pt x="3" y="35"/>
                  </a:lnTo>
                  <a:lnTo>
                    <a:pt x="9" y="28"/>
                  </a:lnTo>
                  <a:lnTo>
                    <a:pt x="16" y="24"/>
                  </a:lnTo>
                  <a:lnTo>
                    <a:pt x="60" y="5"/>
                  </a:lnTo>
                  <a:lnTo>
                    <a:pt x="64" y="4"/>
                  </a:lnTo>
                  <a:lnTo>
                    <a:pt x="69" y="2"/>
                  </a:lnTo>
                  <a:lnTo>
                    <a:pt x="73" y="1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7" y="1"/>
                  </a:lnTo>
                  <a:lnTo>
                    <a:pt x="145" y="13"/>
                  </a:lnTo>
                  <a:lnTo>
                    <a:pt x="153" y="16"/>
                  </a:lnTo>
                  <a:lnTo>
                    <a:pt x="161" y="20"/>
                  </a:lnTo>
                  <a:lnTo>
                    <a:pt x="168" y="27"/>
                  </a:lnTo>
                  <a:lnTo>
                    <a:pt x="174" y="34"/>
                  </a:lnTo>
                  <a:lnTo>
                    <a:pt x="241" y="157"/>
                  </a:lnTo>
                  <a:lnTo>
                    <a:pt x="244" y="163"/>
                  </a:lnTo>
                  <a:lnTo>
                    <a:pt x="244" y="170"/>
                  </a:lnTo>
                  <a:lnTo>
                    <a:pt x="240" y="177"/>
                  </a:lnTo>
                  <a:lnTo>
                    <a:pt x="233" y="181"/>
                  </a:lnTo>
                  <a:lnTo>
                    <a:pt x="141" y="22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5" name="Freeform 183"/>
            <p:cNvSpPr>
              <a:spLocks/>
            </p:cNvSpPr>
            <p:nvPr/>
          </p:nvSpPr>
          <p:spPr bwMode="auto">
            <a:xfrm>
              <a:off x="1233" y="3581"/>
              <a:ext cx="20" cy="32"/>
            </a:xfrm>
            <a:custGeom>
              <a:avLst/>
              <a:gdLst>
                <a:gd name="T0" fmla="*/ 1 w 118"/>
                <a:gd name="T1" fmla="*/ 1 h 191"/>
                <a:gd name="T2" fmla="*/ 1 w 118"/>
                <a:gd name="T3" fmla="*/ 1 h 191"/>
                <a:gd name="T4" fmla="*/ 1 w 118"/>
                <a:gd name="T5" fmla="*/ 1 h 191"/>
                <a:gd name="T6" fmla="*/ 1 w 118"/>
                <a:gd name="T7" fmla="*/ 1 h 191"/>
                <a:gd name="T8" fmla="*/ 1 w 118"/>
                <a:gd name="T9" fmla="*/ 1 h 191"/>
                <a:gd name="T10" fmla="*/ 0 w 118"/>
                <a:gd name="T11" fmla="*/ 0 h 191"/>
                <a:gd name="T12" fmla="*/ 0 w 118"/>
                <a:gd name="T13" fmla="*/ 0 h 191"/>
                <a:gd name="T14" fmla="*/ 0 w 118"/>
                <a:gd name="T15" fmla="*/ 0 h 191"/>
                <a:gd name="T16" fmla="*/ 0 w 118"/>
                <a:gd name="T17" fmla="*/ 0 h 191"/>
                <a:gd name="T18" fmla="*/ 0 w 118"/>
                <a:gd name="T19" fmla="*/ 0 h 191"/>
                <a:gd name="T20" fmla="*/ 0 w 118"/>
                <a:gd name="T21" fmla="*/ 0 h 191"/>
                <a:gd name="T22" fmla="*/ 0 w 118"/>
                <a:gd name="T23" fmla="*/ 0 h 191"/>
                <a:gd name="T24" fmla="*/ 0 w 118"/>
                <a:gd name="T25" fmla="*/ 0 h 191"/>
                <a:gd name="T26" fmla="*/ 0 w 118"/>
                <a:gd name="T27" fmla="*/ 0 h 191"/>
                <a:gd name="T28" fmla="*/ 0 w 118"/>
                <a:gd name="T29" fmla="*/ 0 h 191"/>
                <a:gd name="T30" fmla="*/ 0 w 118"/>
                <a:gd name="T31" fmla="*/ 1 h 191"/>
                <a:gd name="T32" fmla="*/ 0 w 118"/>
                <a:gd name="T33" fmla="*/ 1 h 191"/>
                <a:gd name="T34" fmla="*/ 0 w 118"/>
                <a:gd name="T35" fmla="*/ 1 h 191"/>
                <a:gd name="T36" fmla="*/ 0 w 118"/>
                <a:gd name="T37" fmla="*/ 1 h 191"/>
                <a:gd name="T38" fmla="*/ 0 w 118"/>
                <a:gd name="T39" fmla="*/ 1 h 191"/>
                <a:gd name="T40" fmla="*/ 1 w 118"/>
                <a:gd name="T41" fmla="*/ 1 h 1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8"/>
                <a:gd name="T64" fmla="*/ 0 h 191"/>
                <a:gd name="T65" fmla="*/ 118 w 118"/>
                <a:gd name="T66" fmla="*/ 191 h 1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8" h="191">
                  <a:moveTo>
                    <a:pt x="104" y="190"/>
                  </a:moveTo>
                  <a:lnTo>
                    <a:pt x="112" y="191"/>
                  </a:lnTo>
                  <a:lnTo>
                    <a:pt x="116" y="188"/>
                  </a:lnTo>
                  <a:lnTo>
                    <a:pt x="118" y="184"/>
                  </a:lnTo>
                  <a:lnTo>
                    <a:pt x="118" y="177"/>
                  </a:lnTo>
                  <a:lnTo>
                    <a:pt x="83" y="36"/>
                  </a:lnTo>
                  <a:lnTo>
                    <a:pt x="80" y="28"/>
                  </a:lnTo>
                  <a:lnTo>
                    <a:pt x="74" y="22"/>
                  </a:lnTo>
                  <a:lnTo>
                    <a:pt x="68" y="15"/>
                  </a:lnTo>
                  <a:lnTo>
                    <a:pt x="60" y="11"/>
                  </a:lnTo>
                  <a:lnTo>
                    <a:pt x="17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1" y="8"/>
                  </a:lnTo>
                  <a:lnTo>
                    <a:pt x="0" y="15"/>
                  </a:lnTo>
                  <a:lnTo>
                    <a:pt x="11" y="144"/>
                  </a:lnTo>
                  <a:lnTo>
                    <a:pt x="13" y="152"/>
                  </a:lnTo>
                  <a:lnTo>
                    <a:pt x="18" y="160"/>
                  </a:lnTo>
                  <a:lnTo>
                    <a:pt x="25" y="166"/>
                  </a:lnTo>
                  <a:lnTo>
                    <a:pt x="33" y="169"/>
                  </a:lnTo>
                  <a:lnTo>
                    <a:pt x="104" y="190"/>
                  </a:lnTo>
                  <a:close/>
                </a:path>
              </a:pathLst>
            </a:custGeom>
            <a:solidFill>
              <a:srgbClr val="EDED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6" name="Freeform 184"/>
            <p:cNvSpPr>
              <a:spLocks/>
            </p:cNvSpPr>
            <p:nvPr/>
          </p:nvSpPr>
          <p:spPr bwMode="auto">
            <a:xfrm>
              <a:off x="1208" y="3605"/>
              <a:ext cx="81" cy="38"/>
            </a:xfrm>
            <a:custGeom>
              <a:avLst/>
              <a:gdLst>
                <a:gd name="T0" fmla="*/ 1 w 484"/>
                <a:gd name="T1" fmla="*/ 1 h 230"/>
                <a:gd name="T2" fmla="*/ 1 w 484"/>
                <a:gd name="T3" fmla="*/ 0 h 230"/>
                <a:gd name="T4" fmla="*/ 0 w 484"/>
                <a:gd name="T5" fmla="*/ 0 h 230"/>
                <a:gd name="T6" fmla="*/ 0 w 484"/>
                <a:gd name="T7" fmla="*/ 0 h 230"/>
                <a:gd name="T8" fmla="*/ 1 w 484"/>
                <a:gd name="T9" fmla="*/ 0 h 230"/>
                <a:gd name="T10" fmla="*/ 1 w 484"/>
                <a:gd name="T11" fmla="*/ 0 h 230"/>
                <a:gd name="T12" fmla="*/ 1 w 484"/>
                <a:gd name="T13" fmla="*/ 0 h 230"/>
                <a:gd name="T14" fmla="*/ 1 w 484"/>
                <a:gd name="T15" fmla="*/ 0 h 230"/>
                <a:gd name="T16" fmla="*/ 1 w 484"/>
                <a:gd name="T17" fmla="*/ 0 h 230"/>
                <a:gd name="T18" fmla="*/ 1 w 484"/>
                <a:gd name="T19" fmla="*/ 0 h 230"/>
                <a:gd name="T20" fmla="*/ 1 w 484"/>
                <a:gd name="T21" fmla="*/ 0 h 230"/>
                <a:gd name="T22" fmla="*/ 1 w 484"/>
                <a:gd name="T23" fmla="*/ 0 h 230"/>
                <a:gd name="T24" fmla="*/ 1 w 484"/>
                <a:gd name="T25" fmla="*/ 0 h 230"/>
                <a:gd name="T26" fmla="*/ 1 w 484"/>
                <a:gd name="T27" fmla="*/ 0 h 230"/>
                <a:gd name="T28" fmla="*/ 1 w 484"/>
                <a:gd name="T29" fmla="*/ 0 h 230"/>
                <a:gd name="T30" fmla="*/ 1 w 484"/>
                <a:gd name="T31" fmla="*/ 0 h 230"/>
                <a:gd name="T32" fmla="*/ 1 w 484"/>
                <a:gd name="T33" fmla="*/ 0 h 230"/>
                <a:gd name="T34" fmla="*/ 1 w 484"/>
                <a:gd name="T35" fmla="*/ 0 h 230"/>
                <a:gd name="T36" fmla="*/ 1 w 484"/>
                <a:gd name="T37" fmla="*/ 0 h 230"/>
                <a:gd name="T38" fmla="*/ 1 w 484"/>
                <a:gd name="T39" fmla="*/ 0 h 230"/>
                <a:gd name="T40" fmla="*/ 1 w 484"/>
                <a:gd name="T41" fmla="*/ 0 h 230"/>
                <a:gd name="T42" fmla="*/ 1 w 484"/>
                <a:gd name="T43" fmla="*/ 0 h 230"/>
                <a:gd name="T44" fmla="*/ 1 w 484"/>
                <a:gd name="T45" fmla="*/ 0 h 230"/>
                <a:gd name="T46" fmla="*/ 1 w 484"/>
                <a:gd name="T47" fmla="*/ 0 h 230"/>
                <a:gd name="T48" fmla="*/ 2 w 484"/>
                <a:gd name="T49" fmla="*/ 0 h 230"/>
                <a:gd name="T50" fmla="*/ 2 w 484"/>
                <a:gd name="T51" fmla="*/ 0 h 230"/>
                <a:gd name="T52" fmla="*/ 2 w 484"/>
                <a:gd name="T53" fmla="*/ 0 h 230"/>
                <a:gd name="T54" fmla="*/ 2 w 484"/>
                <a:gd name="T55" fmla="*/ 0 h 230"/>
                <a:gd name="T56" fmla="*/ 2 w 484"/>
                <a:gd name="T57" fmla="*/ 0 h 230"/>
                <a:gd name="T58" fmla="*/ 2 w 484"/>
                <a:gd name="T59" fmla="*/ 0 h 230"/>
                <a:gd name="T60" fmla="*/ 2 w 484"/>
                <a:gd name="T61" fmla="*/ 0 h 230"/>
                <a:gd name="T62" fmla="*/ 2 w 484"/>
                <a:gd name="T63" fmla="*/ 0 h 230"/>
                <a:gd name="T64" fmla="*/ 2 w 484"/>
                <a:gd name="T65" fmla="*/ 0 h 230"/>
                <a:gd name="T66" fmla="*/ 2 w 484"/>
                <a:gd name="T67" fmla="*/ 0 h 230"/>
                <a:gd name="T68" fmla="*/ 2 w 484"/>
                <a:gd name="T69" fmla="*/ 0 h 230"/>
                <a:gd name="T70" fmla="*/ 2 w 484"/>
                <a:gd name="T71" fmla="*/ 0 h 230"/>
                <a:gd name="T72" fmla="*/ 2 w 484"/>
                <a:gd name="T73" fmla="*/ 0 h 230"/>
                <a:gd name="T74" fmla="*/ 2 w 484"/>
                <a:gd name="T75" fmla="*/ 0 h 230"/>
                <a:gd name="T76" fmla="*/ 0 w 484"/>
                <a:gd name="T77" fmla="*/ 1 h 230"/>
                <a:gd name="T78" fmla="*/ 0 w 484"/>
                <a:gd name="T79" fmla="*/ 1 h 230"/>
                <a:gd name="T80" fmla="*/ 0 w 484"/>
                <a:gd name="T81" fmla="*/ 1 h 230"/>
                <a:gd name="T82" fmla="*/ 0 w 484"/>
                <a:gd name="T83" fmla="*/ 1 h 230"/>
                <a:gd name="T84" fmla="*/ 0 w 484"/>
                <a:gd name="T85" fmla="*/ 1 h 230"/>
                <a:gd name="T86" fmla="*/ 0 w 484"/>
                <a:gd name="T87" fmla="*/ 1 h 230"/>
                <a:gd name="T88" fmla="*/ 0 w 484"/>
                <a:gd name="T89" fmla="*/ 1 h 230"/>
                <a:gd name="T90" fmla="*/ 0 w 484"/>
                <a:gd name="T91" fmla="*/ 1 h 230"/>
                <a:gd name="T92" fmla="*/ 0 w 484"/>
                <a:gd name="T93" fmla="*/ 1 h 230"/>
                <a:gd name="T94" fmla="*/ 0 w 484"/>
                <a:gd name="T95" fmla="*/ 1 h 230"/>
                <a:gd name="T96" fmla="*/ 0 w 484"/>
                <a:gd name="T97" fmla="*/ 1 h 230"/>
                <a:gd name="T98" fmla="*/ 0 w 484"/>
                <a:gd name="T99" fmla="*/ 1 h 230"/>
                <a:gd name="T100" fmla="*/ 0 w 484"/>
                <a:gd name="T101" fmla="*/ 1 h 230"/>
                <a:gd name="T102" fmla="*/ 0 w 484"/>
                <a:gd name="T103" fmla="*/ 1 h 230"/>
                <a:gd name="T104" fmla="*/ 1 w 484"/>
                <a:gd name="T105" fmla="*/ 1 h 23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4"/>
                <a:gd name="T160" fmla="*/ 0 h 230"/>
                <a:gd name="T161" fmla="*/ 484 w 484"/>
                <a:gd name="T162" fmla="*/ 230 h 23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4" h="230">
                  <a:moveTo>
                    <a:pt x="118" y="132"/>
                  </a:moveTo>
                  <a:lnTo>
                    <a:pt x="88" y="82"/>
                  </a:lnTo>
                  <a:lnTo>
                    <a:pt x="85" y="75"/>
                  </a:lnTo>
                  <a:lnTo>
                    <a:pt x="85" y="67"/>
                  </a:lnTo>
                  <a:lnTo>
                    <a:pt x="89" y="60"/>
                  </a:lnTo>
                  <a:lnTo>
                    <a:pt x="95" y="56"/>
                  </a:lnTo>
                  <a:lnTo>
                    <a:pt x="146" y="32"/>
                  </a:lnTo>
                  <a:lnTo>
                    <a:pt x="151" y="31"/>
                  </a:lnTo>
                  <a:lnTo>
                    <a:pt x="155" y="30"/>
                  </a:lnTo>
                  <a:lnTo>
                    <a:pt x="160" y="29"/>
                  </a:lnTo>
                  <a:lnTo>
                    <a:pt x="164" y="28"/>
                  </a:lnTo>
                  <a:lnTo>
                    <a:pt x="170" y="28"/>
                  </a:lnTo>
                  <a:lnTo>
                    <a:pt x="175" y="28"/>
                  </a:lnTo>
                  <a:lnTo>
                    <a:pt x="179" y="28"/>
                  </a:lnTo>
                  <a:lnTo>
                    <a:pt x="184" y="29"/>
                  </a:lnTo>
                  <a:lnTo>
                    <a:pt x="255" y="50"/>
                  </a:lnTo>
                  <a:lnTo>
                    <a:pt x="259" y="51"/>
                  </a:lnTo>
                  <a:lnTo>
                    <a:pt x="264" y="51"/>
                  </a:lnTo>
                  <a:lnTo>
                    <a:pt x="269" y="51"/>
                  </a:lnTo>
                  <a:lnTo>
                    <a:pt x="274" y="51"/>
                  </a:lnTo>
                  <a:lnTo>
                    <a:pt x="279" y="50"/>
                  </a:lnTo>
                  <a:lnTo>
                    <a:pt x="284" y="50"/>
                  </a:lnTo>
                  <a:lnTo>
                    <a:pt x="289" y="48"/>
                  </a:lnTo>
                  <a:lnTo>
                    <a:pt x="292" y="47"/>
                  </a:lnTo>
                  <a:lnTo>
                    <a:pt x="384" y="5"/>
                  </a:lnTo>
                  <a:lnTo>
                    <a:pt x="389" y="4"/>
                  </a:lnTo>
                  <a:lnTo>
                    <a:pt x="394" y="2"/>
                  </a:lnTo>
                  <a:lnTo>
                    <a:pt x="398" y="1"/>
                  </a:lnTo>
                  <a:lnTo>
                    <a:pt x="404" y="1"/>
                  </a:lnTo>
                  <a:lnTo>
                    <a:pt x="408" y="0"/>
                  </a:lnTo>
                  <a:lnTo>
                    <a:pt x="413" y="0"/>
                  </a:lnTo>
                  <a:lnTo>
                    <a:pt x="417" y="0"/>
                  </a:lnTo>
                  <a:lnTo>
                    <a:pt x="422" y="1"/>
                  </a:lnTo>
                  <a:lnTo>
                    <a:pt x="475" y="10"/>
                  </a:lnTo>
                  <a:lnTo>
                    <a:pt x="482" y="12"/>
                  </a:lnTo>
                  <a:lnTo>
                    <a:pt x="484" y="14"/>
                  </a:lnTo>
                  <a:lnTo>
                    <a:pt x="483" y="18"/>
                  </a:lnTo>
                  <a:lnTo>
                    <a:pt x="477" y="22"/>
                  </a:lnTo>
                  <a:lnTo>
                    <a:pt x="70" y="227"/>
                  </a:lnTo>
                  <a:lnTo>
                    <a:pt x="65" y="229"/>
                  </a:lnTo>
                  <a:lnTo>
                    <a:pt x="60" y="230"/>
                  </a:lnTo>
                  <a:lnTo>
                    <a:pt x="56" y="230"/>
                  </a:lnTo>
                  <a:lnTo>
                    <a:pt x="51" y="230"/>
                  </a:lnTo>
                  <a:lnTo>
                    <a:pt x="47" y="230"/>
                  </a:lnTo>
                  <a:lnTo>
                    <a:pt x="42" y="229"/>
                  </a:lnTo>
                  <a:lnTo>
                    <a:pt x="38" y="228"/>
                  </a:lnTo>
                  <a:lnTo>
                    <a:pt x="35" y="227"/>
                  </a:lnTo>
                  <a:lnTo>
                    <a:pt x="7" y="212"/>
                  </a:lnTo>
                  <a:lnTo>
                    <a:pt x="2" y="208"/>
                  </a:lnTo>
                  <a:lnTo>
                    <a:pt x="0" y="203"/>
                  </a:lnTo>
                  <a:lnTo>
                    <a:pt x="2" y="199"/>
                  </a:lnTo>
                  <a:lnTo>
                    <a:pt x="7" y="194"/>
                  </a:lnTo>
                  <a:lnTo>
                    <a:pt x="118" y="132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" name="Freeform 185"/>
            <p:cNvSpPr>
              <a:spLocks/>
            </p:cNvSpPr>
            <p:nvPr/>
          </p:nvSpPr>
          <p:spPr bwMode="auto">
            <a:xfrm>
              <a:off x="1184" y="3596"/>
              <a:ext cx="43" cy="41"/>
            </a:xfrm>
            <a:custGeom>
              <a:avLst/>
              <a:gdLst>
                <a:gd name="T0" fmla="*/ 0 w 256"/>
                <a:gd name="T1" fmla="*/ 0 h 247"/>
                <a:gd name="T2" fmla="*/ 0 w 256"/>
                <a:gd name="T3" fmla="*/ 0 h 247"/>
                <a:gd name="T4" fmla="*/ 0 w 256"/>
                <a:gd name="T5" fmla="*/ 0 h 247"/>
                <a:gd name="T6" fmla="*/ 0 w 256"/>
                <a:gd name="T7" fmla="*/ 0 h 247"/>
                <a:gd name="T8" fmla="*/ 0 w 256"/>
                <a:gd name="T9" fmla="*/ 0 h 247"/>
                <a:gd name="T10" fmla="*/ 0 w 256"/>
                <a:gd name="T11" fmla="*/ 0 h 247"/>
                <a:gd name="T12" fmla="*/ 0 w 256"/>
                <a:gd name="T13" fmla="*/ 0 h 247"/>
                <a:gd name="T14" fmla="*/ 0 w 256"/>
                <a:gd name="T15" fmla="*/ 0 h 247"/>
                <a:gd name="T16" fmla="*/ 0 w 256"/>
                <a:gd name="T17" fmla="*/ 0 h 247"/>
                <a:gd name="T18" fmla="*/ 1 w 256"/>
                <a:gd name="T19" fmla="*/ 0 h 247"/>
                <a:gd name="T20" fmla="*/ 1 w 256"/>
                <a:gd name="T21" fmla="*/ 0 h 247"/>
                <a:gd name="T22" fmla="*/ 1 w 256"/>
                <a:gd name="T23" fmla="*/ 0 h 247"/>
                <a:gd name="T24" fmla="*/ 1 w 256"/>
                <a:gd name="T25" fmla="*/ 0 h 247"/>
                <a:gd name="T26" fmla="*/ 1 w 256"/>
                <a:gd name="T27" fmla="*/ 0 h 247"/>
                <a:gd name="T28" fmla="*/ 1 w 256"/>
                <a:gd name="T29" fmla="*/ 0 h 247"/>
                <a:gd name="T30" fmla="*/ 1 w 256"/>
                <a:gd name="T31" fmla="*/ 0 h 247"/>
                <a:gd name="T32" fmla="*/ 1 w 256"/>
                <a:gd name="T33" fmla="*/ 0 h 247"/>
                <a:gd name="T34" fmla="*/ 1 w 256"/>
                <a:gd name="T35" fmla="*/ 0 h 247"/>
                <a:gd name="T36" fmla="*/ 1 w 256"/>
                <a:gd name="T37" fmla="*/ 0 h 247"/>
                <a:gd name="T38" fmla="*/ 1 w 256"/>
                <a:gd name="T39" fmla="*/ 0 h 247"/>
                <a:gd name="T40" fmla="*/ 1 w 256"/>
                <a:gd name="T41" fmla="*/ 0 h 247"/>
                <a:gd name="T42" fmla="*/ 1 w 256"/>
                <a:gd name="T43" fmla="*/ 0 h 247"/>
                <a:gd name="T44" fmla="*/ 1 w 256"/>
                <a:gd name="T45" fmla="*/ 0 h 247"/>
                <a:gd name="T46" fmla="*/ 1 w 256"/>
                <a:gd name="T47" fmla="*/ 1 h 247"/>
                <a:gd name="T48" fmla="*/ 1 w 256"/>
                <a:gd name="T49" fmla="*/ 1 h 247"/>
                <a:gd name="T50" fmla="*/ 1 w 256"/>
                <a:gd name="T51" fmla="*/ 1 h 247"/>
                <a:gd name="T52" fmla="*/ 1 w 256"/>
                <a:gd name="T53" fmla="*/ 1 h 247"/>
                <a:gd name="T54" fmla="*/ 1 w 256"/>
                <a:gd name="T55" fmla="*/ 1 h 247"/>
                <a:gd name="T56" fmla="*/ 1 w 256"/>
                <a:gd name="T57" fmla="*/ 1 h 247"/>
                <a:gd name="T58" fmla="*/ 1 w 256"/>
                <a:gd name="T59" fmla="*/ 1 h 247"/>
                <a:gd name="T60" fmla="*/ 1 w 256"/>
                <a:gd name="T61" fmla="*/ 1 h 247"/>
                <a:gd name="T62" fmla="*/ 1 w 256"/>
                <a:gd name="T63" fmla="*/ 1 h 247"/>
                <a:gd name="T64" fmla="*/ 1 w 256"/>
                <a:gd name="T65" fmla="*/ 1 h 247"/>
                <a:gd name="T66" fmla="*/ 1 w 256"/>
                <a:gd name="T67" fmla="*/ 1 h 247"/>
                <a:gd name="T68" fmla="*/ 1 w 256"/>
                <a:gd name="T69" fmla="*/ 0 h 247"/>
                <a:gd name="T70" fmla="*/ 1 w 256"/>
                <a:gd name="T71" fmla="*/ 0 h 247"/>
                <a:gd name="T72" fmla="*/ 0 w 256"/>
                <a:gd name="T73" fmla="*/ 0 h 247"/>
                <a:gd name="T74" fmla="*/ 0 w 256"/>
                <a:gd name="T75" fmla="*/ 0 h 247"/>
                <a:gd name="T76" fmla="*/ 0 w 256"/>
                <a:gd name="T77" fmla="*/ 0 h 247"/>
                <a:gd name="T78" fmla="*/ 0 w 256"/>
                <a:gd name="T79" fmla="*/ 0 h 24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6"/>
                <a:gd name="T121" fmla="*/ 0 h 247"/>
                <a:gd name="T122" fmla="*/ 256 w 256"/>
                <a:gd name="T123" fmla="*/ 247 h 24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6" h="247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2" y="26"/>
                  </a:lnTo>
                  <a:lnTo>
                    <a:pt x="171" y="33"/>
                  </a:lnTo>
                  <a:lnTo>
                    <a:pt x="178" y="40"/>
                  </a:lnTo>
                  <a:lnTo>
                    <a:pt x="184" y="46"/>
                  </a:lnTo>
                  <a:lnTo>
                    <a:pt x="213" y="98"/>
                  </a:lnTo>
                  <a:lnTo>
                    <a:pt x="218" y="106"/>
                  </a:lnTo>
                  <a:lnTo>
                    <a:pt x="223" y="115"/>
                  </a:lnTo>
                  <a:lnTo>
                    <a:pt x="229" y="124"/>
                  </a:lnTo>
                  <a:lnTo>
                    <a:pt x="234" y="132"/>
                  </a:lnTo>
                  <a:lnTo>
                    <a:pt x="254" y="166"/>
                  </a:lnTo>
                  <a:lnTo>
                    <a:pt x="256" y="172"/>
                  </a:lnTo>
                  <a:lnTo>
                    <a:pt x="256" y="180"/>
                  </a:lnTo>
                  <a:lnTo>
                    <a:pt x="253" y="187"/>
                  </a:lnTo>
                  <a:lnTo>
                    <a:pt x="247" y="193"/>
                  </a:lnTo>
                  <a:lnTo>
                    <a:pt x="153" y="244"/>
                  </a:lnTo>
                  <a:lnTo>
                    <a:pt x="146" y="247"/>
                  </a:lnTo>
                  <a:lnTo>
                    <a:pt x="139" y="245"/>
                  </a:lnTo>
                  <a:lnTo>
                    <a:pt x="134" y="241"/>
                  </a:lnTo>
                  <a:lnTo>
                    <a:pt x="131" y="234"/>
                  </a:lnTo>
                  <a:lnTo>
                    <a:pt x="90" y="83"/>
                  </a:lnTo>
                  <a:lnTo>
                    <a:pt x="87" y="76"/>
                  </a:lnTo>
                  <a:lnTo>
                    <a:pt x="80" y="69"/>
                  </a:lnTo>
                  <a:lnTo>
                    <a:pt x="73" y="63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" name="Freeform 186"/>
            <p:cNvSpPr>
              <a:spLocks/>
            </p:cNvSpPr>
            <p:nvPr/>
          </p:nvSpPr>
          <p:spPr bwMode="auto">
            <a:xfrm>
              <a:off x="1184" y="3596"/>
              <a:ext cx="27" cy="10"/>
            </a:xfrm>
            <a:custGeom>
              <a:avLst/>
              <a:gdLst>
                <a:gd name="T0" fmla="*/ 0 w 162"/>
                <a:gd name="T1" fmla="*/ 0 h 61"/>
                <a:gd name="T2" fmla="*/ 0 w 162"/>
                <a:gd name="T3" fmla="*/ 0 h 61"/>
                <a:gd name="T4" fmla="*/ 0 w 162"/>
                <a:gd name="T5" fmla="*/ 0 h 61"/>
                <a:gd name="T6" fmla="*/ 0 w 162"/>
                <a:gd name="T7" fmla="*/ 0 h 61"/>
                <a:gd name="T8" fmla="*/ 0 w 162"/>
                <a:gd name="T9" fmla="*/ 0 h 61"/>
                <a:gd name="T10" fmla="*/ 0 w 162"/>
                <a:gd name="T11" fmla="*/ 0 h 61"/>
                <a:gd name="T12" fmla="*/ 0 w 162"/>
                <a:gd name="T13" fmla="*/ 0 h 61"/>
                <a:gd name="T14" fmla="*/ 0 w 162"/>
                <a:gd name="T15" fmla="*/ 0 h 61"/>
                <a:gd name="T16" fmla="*/ 0 w 162"/>
                <a:gd name="T17" fmla="*/ 0 h 61"/>
                <a:gd name="T18" fmla="*/ 0 w 162"/>
                <a:gd name="T19" fmla="*/ 0 h 61"/>
                <a:gd name="T20" fmla="*/ 0 w 162"/>
                <a:gd name="T21" fmla="*/ 0 h 61"/>
                <a:gd name="T22" fmla="*/ 0 w 162"/>
                <a:gd name="T23" fmla="*/ 0 h 61"/>
                <a:gd name="T24" fmla="*/ 0 w 162"/>
                <a:gd name="T25" fmla="*/ 0 h 61"/>
                <a:gd name="T26" fmla="*/ 0 w 162"/>
                <a:gd name="T27" fmla="*/ 0 h 61"/>
                <a:gd name="T28" fmla="*/ 1 w 162"/>
                <a:gd name="T29" fmla="*/ 0 h 61"/>
                <a:gd name="T30" fmla="*/ 1 w 162"/>
                <a:gd name="T31" fmla="*/ 0 h 61"/>
                <a:gd name="T32" fmla="*/ 1 w 162"/>
                <a:gd name="T33" fmla="*/ 0 h 61"/>
                <a:gd name="T34" fmla="*/ 1 w 162"/>
                <a:gd name="T35" fmla="*/ 0 h 61"/>
                <a:gd name="T36" fmla="*/ 1 w 162"/>
                <a:gd name="T37" fmla="*/ 0 h 61"/>
                <a:gd name="T38" fmla="*/ 0 w 162"/>
                <a:gd name="T39" fmla="*/ 0 h 61"/>
                <a:gd name="T40" fmla="*/ 0 w 162"/>
                <a:gd name="T41" fmla="*/ 0 h 61"/>
                <a:gd name="T42" fmla="*/ 0 w 162"/>
                <a:gd name="T43" fmla="*/ 0 h 61"/>
                <a:gd name="T44" fmla="*/ 0 w 162"/>
                <a:gd name="T45" fmla="*/ 0 h 61"/>
                <a:gd name="T46" fmla="*/ 0 w 162"/>
                <a:gd name="T47" fmla="*/ 0 h 61"/>
                <a:gd name="T48" fmla="*/ 0 w 162"/>
                <a:gd name="T49" fmla="*/ 0 h 61"/>
                <a:gd name="T50" fmla="*/ 0 w 162"/>
                <a:gd name="T51" fmla="*/ 0 h 61"/>
                <a:gd name="T52" fmla="*/ 0 w 162"/>
                <a:gd name="T53" fmla="*/ 0 h 61"/>
                <a:gd name="T54" fmla="*/ 0 w 162"/>
                <a:gd name="T55" fmla="*/ 0 h 61"/>
                <a:gd name="T56" fmla="*/ 0 w 162"/>
                <a:gd name="T57" fmla="*/ 0 h 6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2"/>
                <a:gd name="T88" fmla="*/ 0 h 61"/>
                <a:gd name="T89" fmla="*/ 162 w 162"/>
                <a:gd name="T90" fmla="*/ 61 h 6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2" h="61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0" y="26"/>
                  </a:lnTo>
                  <a:lnTo>
                    <a:pt x="162" y="29"/>
                  </a:lnTo>
                  <a:lnTo>
                    <a:pt x="160" y="34"/>
                  </a:lnTo>
                  <a:lnTo>
                    <a:pt x="155" y="37"/>
                  </a:lnTo>
                  <a:lnTo>
                    <a:pt x="103" y="58"/>
                  </a:lnTo>
                  <a:lnTo>
                    <a:pt x="98" y="59"/>
                  </a:lnTo>
                  <a:lnTo>
                    <a:pt x="94" y="60"/>
                  </a:lnTo>
                  <a:lnTo>
                    <a:pt x="89" y="60"/>
                  </a:lnTo>
                  <a:lnTo>
                    <a:pt x="85" y="61"/>
                  </a:lnTo>
                  <a:lnTo>
                    <a:pt x="79" y="61"/>
                  </a:lnTo>
                  <a:lnTo>
                    <a:pt x="74" y="61"/>
                  </a:lnTo>
                  <a:lnTo>
                    <a:pt x="70" y="61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" name="Freeform 187"/>
            <p:cNvSpPr>
              <a:spLocks/>
            </p:cNvSpPr>
            <p:nvPr/>
          </p:nvSpPr>
          <p:spPr bwMode="auto">
            <a:xfrm>
              <a:off x="1235" y="3575"/>
              <a:ext cx="24" cy="9"/>
            </a:xfrm>
            <a:custGeom>
              <a:avLst/>
              <a:gdLst>
                <a:gd name="T0" fmla="*/ 0 w 144"/>
                <a:gd name="T1" fmla="*/ 0 h 50"/>
                <a:gd name="T2" fmla="*/ 0 w 144"/>
                <a:gd name="T3" fmla="*/ 0 h 50"/>
                <a:gd name="T4" fmla="*/ 0 w 144"/>
                <a:gd name="T5" fmla="*/ 0 h 50"/>
                <a:gd name="T6" fmla="*/ 0 w 144"/>
                <a:gd name="T7" fmla="*/ 0 h 50"/>
                <a:gd name="T8" fmla="*/ 0 w 144"/>
                <a:gd name="T9" fmla="*/ 0 h 50"/>
                <a:gd name="T10" fmla="*/ 0 w 144"/>
                <a:gd name="T11" fmla="*/ 0 h 50"/>
                <a:gd name="T12" fmla="*/ 0 w 144"/>
                <a:gd name="T13" fmla="*/ 0 h 50"/>
                <a:gd name="T14" fmla="*/ 0 w 144"/>
                <a:gd name="T15" fmla="*/ 0 h 50"/>
                <a:gd name="T16" fmla="*/ 0 w 144"/>
                <a:gd name="T17" fmla="*/ 0 h 50"/>
                <a:gd name="T18" fmla="*/ 0 w 144"/>
                <a:gd name="T19" fmla="*/ 0 h 50"/>
                <a:gd name="T20" fmla="*/ 0 w 144"/>
                <a:gd name="T21" fmla="*/ 0 h 50"/>
                <a:gd name="T22" fmla="*/ 0 w 144"/>
                <a:gd name="T23" fmla="*/ 0 h 50"/>
                <a:gd name="T24" fmla="*/ 0 w 144"/>
                <a:gd name="T25" fmla="*/ 0 h 50"/>
                <a:gd name="T26" fmla="*/ 0 w 144"/>
                <a:gd name="T27" fmla="*/ 0 h 50"/>
                <a:gd name="T28" fmla="*/ 1 w 144"/>
                <a:gd name="T29" fmla="*/ 0 h 50"/>
                <a:gd name="T30" fmla="*/ 1 w 144"/>
                <a:gd name="T31" fmla="*/ 0 h 50"/>
                <a:gd name="T32" fmla="*/ 1 w 144"/>
                <a:gd name="T33" fmla="*/ 0 h 50"/>
                <a:gd name="T34" fmla="*/ 1 w 144"/>
                <a:gd name="T35" fmla="*/ 0 h 50"/>
                <a:gd name="T36" fmla="*/ 1 w 144"/>
                <a:gd name="T37" fmla="*/ 0 h 50"/>
                <a:gd name="T38" fmla="*/ 0 w 144"/>
                <a:gd name="T39" fmla="*/ 0 h 50"/>
                <a:gd name="T40" fmla="*/ 0 w 144"/>
                <a:gd name="T41" fmla="*/ 0 h 50"/>
                <a:gd name="T42" fmla="*/ 0 w 144"/>
                <a:gd name="T43" fmla="*/ 0 h 50"/>
                <a:gd name="T44" fmla="*/ 0 w 144"/>
                <a:gd name="T45" fmla="*/ 0 h 50"/>
                <a:gd name="T46" fmla="*/ 0 w 144"/>
                <a:gd name="T47" fmla="*/ 0 h 50"/>
                <a:gd name="T48" fmla="*/ 0 w 144"/>
                <a:gd name="T49" fmla="*/ 0 h 50"/>
                <a:gd name="T50" fmla="*/ 0 w 144"/>
                <a:gd name="T51" fmla="*/ 0 h 50"/>
                <a:gd name="T52" fmla="*/ 0 w 144"/>
                <a:gd name="T53" fmla="*/ 0 h 50"/>
                <a:gd name="T54" fmla="*/ 0 w 144"/>
                <a:gd name="T55" fmla="*/ 0 h 50"/>
                <a:gd name="T56" fmla="*/ 0 w 144"/>
                <a:gd name="T57" fmla="*/ 0 h 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50"/>
                <a:gd name="T89" fmla="*/ 144 w 144"/>
                <a:gd name="T90" fmla="*/ 50 h 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50">
                  <a:moveTo>
                    <a:pt x="7" y="24"/>
                  </a:moveTo>
                  <a:lnTo>
                    <a:pt x="1" y="27"/>
                  </a:lnTo>
                  <a:lnTo>
                    <a:pt x="0" y="31"/>
                  </a:lnTo>
                  <a:lnTo>
                    <a:pt x="2" y="34"/>
                  </a:lnTo>
                  <a:lnTo>
                    <a:pt x="8" y="36"/>
                  </a:lnTo>
                  <a:lnTo>
                    <a:pt x="51" y="47"/>
                  </a:lnTo>
                  <a:lnTo>
                    <a:pt x="55" y="49"/>
                  </a:lnTo>
                  <a:lnTo>
                    <a:pt x="60" y="50"/>
                  </a:lnTo>
                  <a:lnTo>
                    <a:pt x="64" y="50"/>
                  </a:lnTo>
                  <a:lnTo>
                    <a:pt x="70" y="50"/>
                  </a:lnTo>
                  <a:lnTo>
                    <a:pt x="74" y="49"/>
                  </a:lnTo>
                  <a:lnTo>
                    <a:pt x="79" y="47"/>
                  </a:lnTo>
                  <a:lnTo>
                    <a:pt x="83" y="46"/>
                  </a:lnTo>
                  <a:lnTo>
                    <a:pt x="88" y="45"/>
                  </a:lnTo>
                  <a:lnTo>
                    <a:pt x="136" y="25"/>
                  </a:lnTo>
                  <a:lnTo>
                    <a:pt x="142" y="22"/>
                  </a:lnTo>
                  <a:lnTo>
                    <a:pt x="144" y="18"/>
                  </a:lnTo>
                  <a:lnTo>
                    <a:pt x="142" y="15"/>
                  </a:lnTo>
                  <a:lnTo>
                    <a:pt x="136" y="13"/>
                  </a:lnTo>
                  <a:lnTo>
                    <a:pt x="88" y="1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4" y="1"/>
                  </a:lnTo>
                  <a:lnTo>
                    <a:pt x="60" y="2"/>
                  </a:lnTo>
                  <a:lnTo>
                    <a:pt x="55" y="4"/>
                  </a:lnTo>
                  <a:lnTo>
                    <a:pt x="51" y="5"/>
                  </a:lnTo>
                  <a:lnTo>
                    <a:pt x="7" y="24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0" name="Freeform 188"/>
            <p:cNvSpPr>
              <a:spLocks/>
            </p:cNvSpPr>
            <p:nvPr/>
          </p:nvSpPr>
          <p:spPr bwMode="auto">
            <a:xfrm>
              <a:off x="1054" y="3290"/>
              <a:ext cx="224" cy="362"/>
            </a:xfrm>
            <a:custGeom>
              <a:avLst/>
              <a:gdLst>
                <a:gd name="T0" fmla="*/ 0 w 1346"/>
                <a:gd name="T1" fmla="*/ 1 h 2178"/>
                <a:gd name="T2" fmla="*/ 0 w 1346"/>
                <a:gd name="T3" fmla="*/ 1 h 2178"/>
                <a:gd name="T4" fmla="*/ 0 w 1346"/>
                <a:gd name="T5" fmla="*/ 1 h 2178"/>
                <a:gd name="T6" fmla="*/ 0 w 1346"/>
                <a:gd name="T7" fmla="*/ 2 h 2178"/>
                <a:gd name="T8" fmla="*/ 0 w 1346"/>
                <a:gd name="T9" fmla="*/ 9 h 2178"/>
                <a:gd name="T10" fmla="*/ 0 w 1346"/>
                <a:gd name="T11" fmla="*/ 9 h 2178"/>
                <a:gd name="T12" fmla="*/ 0 w 1346"/>
                <a:gd name="T13" fmla="*/ 10 h 2178"/>
                <a:gd name="T14" fmla="*/ 0 w 1346"/>
                <a:gd name="T15" fmla="*/ 10 h 2178"/>
                <a:gd name="T16" fmla="*/ 0 w 1346"/>
                <a:gd name="T17" fmla="*/ 10 h 2178"/>
                <a:gd name="T18" fmla="*/ 3 w 1346"/>
                <a:gd name="T19" fmla="*/ 10 h 2178"/>
                <a:gd name="T20" fmla="*/ 3 w 1346"/>
                <a:gd name="T21" fmla="*/ 10 h 2178"/>
                <a:gd name="T22" fmla="*/ 3 w 1346"/>
                <a:gd name="T23" fmla="*/ 10 h 2178"/>
                <a:gd name="T24" fmla="*/ 3 w 1346"/>
                <a:gd name="T25" fmla="*/ 10 h 2178"/>
                <a:gd name="T26" fmla="*/ 3 w 1346"/>
                <a:gd name="T27" fmla="*/ 10 h 2178"/>
                <a:gd name="T28" fmla="*/ 3 w 1346"/>
                <a:gd name="T29" fmla="*/ 10 h 2178"/>
                <a:gd name="T30" fmla="*/ 4 w 1346"/>
                <a:gd name="T31" fmla="*/ 10 h 2178"/>
                <a:gd name="T32" fmla="*/ 4 w 1346"/>
                <a:gd name="T33" fmla="*/ 9 h 2178"/>
                <a:gd name="T34" fmla="*/ 5 w 1346"/>
                <a:gd name="T35" fmla="*/ 9 h 2178"/>
                <a:gd name="T36" fmla="*/ 5 w 1346"/>
                <a:gd name="T37" fmla="*/ 9 h 2178"/>
                <a:gd name="T38" fmla="*/ 6 w 1346"/>
                <a:gd name="T39" fmla="*/ 9 h 2178"/>
                <a:gd name="T40" fmla="*/ 6 w 1346"/>
                <a:gd name="T41" fmla="*/ 8 h 2178"/>
                <a:gd name="T42" fmla="*/ 6 w 1346"/>
                <a:gd name="T43" fmla="*/ 8 h 2178"/>
                <a:gd name="T44" fmla="*/ 6 w 1346"/>
                <a:gd name="T45" fmla="*/ 8 h 2178"/>
                <a:gd name="T46" fmla="*/ 6 w 1346"/>
                <a:gd name="T47" fmla="*/ 8 h 2178"/>
                <a:gd name="T48" fmla="*/ 6 w 1346"/>
                <a:gd name="T49" fmla="*/ 8 h 2178"/>
                <a:gd name="T50" fmla="*/ 6 w 1346"/>
                <a:gd name="T51" fmla="*/ 1 h 2178"/>
                <a:gd name="T52" fmla="*/ 6 w 1346"/>
                <a:gd name="T53" fmla="*/ 0 h 2178"/>
                <a:gd name="T54" fmla="*/ 6 w 1346"/>
                <a:gd name="T55" fmla="*/ 0 h 2178"/>
                <a:gd name="T56" fmla="*/ 6 w 1346"/>
                <a:gd name="T57" fmla="*/ 0 h 2178"/>
                <a:gd name="T58" fmla="*/ 6 w 1346"/>
                <a:gd name="T59" fmla="*/ 0 h 2178"/>
                <a:gd name="T60" fmla="*/ 3 w 1346"/>
                <a:gd name="T61" fmla="*/ 0 h 2178"/>
                <a:gd name="T62" fmla="*/ 3 w 1346"/>
                <a:gd name="T63" fmla="*/ 0 h 2178"/>
                <a:gd name="T64" fmla="*/ 3 w 1346"/>
                <a:gd name="T65" fmla="*/ 0 h 2178"/>
                <a:gd name="T66" fmla="*/ 3 w 1346"/>
                <a:gd name="T67" fmla="*/ 0 h 2178"/>
                <a:gd name="T68" fmla="*/ 0 w 1346"/>
                <a:gd name="T69" fmla="*/ 1 h 217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346"/>
                <a:gd name="T106" fmla="*/ 0 h 2178"/>
                <a:gd name="T107" fmla="*/ 1346 w 1346"/>
                <a:gd name="T108" fmla="*/ 2178 h 217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346" h="2178">
                  <a:moveTo>
                    <a:pt x="59" y="276"/>
                  </a:moveTo>
                  <a:lnTo>
                    <a:pt x="46" y="283"/>
                  </a:lnTo>
                  <a:lnTo>
                    <a:pt x="36" y="291"/>
                  </a:lnTo>
                  <a:lnTo>
                    <a:pt x="26" y="301"/>
                  </a:lnTo>
                  <a:lnTo>
                    <a:pt x="17" y="312"/>
                  </a:lnTo>
                  <a:lnTo>
                    <a:pt x="10" y="324"/>
                  </a:lnTo>
                  <a:lnTo>
                    <a:pt x="5" y="338"/>
                  </a:lnTo>
                  <a:lnTo>
                    <a:pt x="1" y="351"/>
                  </a:lnTo>
                  <a:lnTo>
                    <a:pt x="0" y="365"/>
                  </a:lnTo>
                  <a:lnTo>
                    <a:pt x="10" y="2038"/>
                  </a:lnTo>
                  <a:lnTo>
                    <a:pt x="11" y="2052"/>
                  </a:lnTo>
                  <a:lnTo>
                    <a:pt x="16" y="2064"/>
                  </a:lnTo>
                  <a:lnTo>
                    <a:pt x="21" y="2076"/>
                  </a:lnTo>
                  <a:lnTo>
                    <a:pt x="29" y="2086"/>
                  </a:lnTo>
                  <a:lnTo>
                    <a:pt x="40" y="2095"/>
                  </a:lnTo>
                  <a:lnTo>
                    <a:pt x="50" y="2103"/>
                  </a:lnTo>
                  <a:lnTo>
                    <a:pt x="62" y="2108"/>
                  </a:lnTo>
                  <a:lnTo>
                    <a:pt x="76" y="2111"/>
                  </a:lnTo>
                  <a:lnTo>
                    <a:pt x="585" y="2176"/>
                  </a:lnTo>
                  <a:lnTo>
                    <a:pt x="598" y="2178"/>
                  </a:lnTo>
                  <a:lnTo>
                    <a:pt x="613" y="2178"/>
                  </a:lnTo>
                  <a:lnTo>
                    <a:pt x="629" y="2176"/>
                  </a:lnTo>
                  <a:lnTo>
                    <a:pt x="645" y="2174"/>
                  </a:lnTo>
                  <a:lnTo>
                    <a:pt x="659" y="2171"/>
                  </a:lnTo>
                  <a:lnTo>
                    <a:pt x="675" y="2166"/>
                  </a:lnTo>
                  <a:lnTo>
                    <a:pt x="689" y="2162"/>
                  </a:lnTo>
                  <a:lnTo>
                    <a:pt x="701" y="2156"/>
                  </a:lnTo>
                  <a:lnTo>
                    <a:pt x="708" y="2153"/>
                  </a:lnTo>
                  <a:lnTo>
                    <a:pt x="726" y="2143"/>
                  </a:lnTo>
                  <a:lnTo>
                    <a:pt x="755" y="2128"/>
                  </a:lnTo>
                  <a:lnTo>
                    <a:pt x="792" y="2108"/>
                  </a:lnTo>
                  <a:lnTo>
                    <a:pt x="836" y="2085"/>
                  </a:lnTo>
                  <a:lnTo>
                    <a:pt x="886" y="2059"/>
                  </a:lnTo>
                  <a:lnTo>
                    <a:pt x="939" y="2031"/>
                  </a:lnTo>
                  <a:lnTo>
                    <a:pt x="995" y="2003"/>
                  </a:lnTo>
                  <a:lnTo>
                    <a:pt x="1049" y="1975"/>
                  </a:lnTo>
                  <a:lnTo>
                    <a:pt x="1102" y="1947"/>
                  </a:lnTo>
                  <a:lnTo>
                    <a:pt x="1151" y="1921"/>
                  </a:lnTo>
                  <a:lnTo>
                    <a:pt x="1195" y="1897"/>
                  </a:lnTo>
                  <a:lnTo>
                    <a:pt x="1233" y="1878"/>
                  </a:lnTo>
                  <a:lnTo>
                    <a:pt x="1262" y="1864"/>
                  </a:lnTo>
                  <a:lnTo>
                    <a:pt x="1280" y="1854"/>
                  </a:lnTo>
                  <a:lnTo>
                    <a:pt x="1287" y="1850"/>
                  </a:lnTo>
                  <a:lnTo>
                    <a:pt x="1298" y="1842"/>
                  </a:lnTo>
                  <a:lnTo>
                    <a:pt x="1309" y="1833"/>
                  </a:lnTo>
                  <a:lnTo>
                    <a:pt x="1319" y="1822"/>
                  </a:lnTo>
                  <a:lnTo>
                    <a:pt x="1328" y="1810"/>
                  </a:lnTo>
                  <a:lnTo>
                    <a:pt x="1334" y="1797"/>
                  </a:lnTo>
                  <a:lnTo>
                    <a:pt x="1339" y="1784"/>
                  </a:lnTo>
                  <a:lnTo>
                    <a:pt x="1342" y="1770"/>
                  </a:lnTo>
                  <a:lnTo>
                    <a:pt x="1343" y="1757"/>
                  </a:lnTo>
                  <a:lnTo>
                    <a:pt x="1346" y="147"/>
                  </a:lnTo>
                  <a:lnTo>
                    <a:pt x="1344" y="133"/>
                  </a:lnTo>
                  <a:lnTo>
                    <a:pt x="1340" y="121"/>
                  </a:lnTo>
                  <a:lnTo>
                    <a:pt x="1334" y="108"/>
                  </a:lnTo>
                  <a:lnTo>
                    <a:pt x="1326" y="98"/>
                  </a:lnTo>
                  <a:lnTo>
                    <a:pt x="1316" y="89"/>
                  </a:lnTo>
                  <a:lnTo>
                    <a:pt x="1306" y="81"/>
                  </a:lnTo>
                  <a:lnTo>
                    <a:pt x="1294" y="76"/>
                  </a:lnTo>
                  <a:lnTo>
                    <a:pt x="1280" y="72"/>
                  </a:lnTo>
                  <a:lnTo>
                    <a:pt x="782" y="3"/>
                  </a:lnTo>
                  <a:lnTo>
                    <a:pt x="769" y="2"/>
                  </a:lnTo>
                  <a:lnTo>
                    <a:pt x="754" y="0"/>
                  </a:lnTo>
                  <a:lnTo>
                    <a:pt x="738" y="2"/>
                  </a:lnTo>
                  <a:lnTo>
                    <a:pt x="722" y="3"/>
                  </a:lnTo>
                  <a:lnTo>
                    <a:pt x="707" y="6"/>
                  </a:lnTo>
                  <a:lnTo>
                    <a:pt x="691" y="9"/>
                  </a:lnTo>
                  <a:lnTo>
                    <a:pt x="677" y="13"/>
                  </a:lnTo>
                  <a:lnTo>
                    <a:pt x="665" y="17"/>
                  </a:lnTo>
                  <a:lnTo>
                    <a:pt x="59" y="27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1" name="Freeform 189"/>
            <p:cNvSpPr>
              <a:spLocks/>
            </p:cNvSpPr>
            <p:nvPr/>
          </p:nvSpPr>
          <p:spPr bwMode="auto">
            <a:xfrm>
              <a:off x="1055" y="3291"/>
              <a:ext cx="222" cy="360"/>
            </a:xfrm>
            <a:custGeom>
              <a:avLst/>
              <a:gdLst>
                <a:gd name="T0" fmla="*/ 0 w 1332"/>
                <a:gd name="T1" fmla="*/ 1 h 2163"/>
                <a:gd name="T2" fmla="*/ 0 w 1332"/>
                <a:gd name="T3" fmla="*/ 1 h 2163"/>
                <a:gd name="T4" fmla="*/ 0 w 1332"/>
                <a:gd name="T5" fmla="*/ 1 h 2163"/>
                <a:gd name="T6" fmla="*/ 0 w 1332"/>
                <a:gd name="T7" fmla="*/ 1 h 2163"/>
                <a:gd name="T8" fmla="*/ 0 w 1332"/>
                <a:gd name="T9" fmla="*/ 1 h 2163"/>
                <a:gd name="T10" fmla="*/ 0 w 1332"/>
                <a:gd name="T11" fmla="*/ 1 h 2163"/>
                <a:gd name="T12" fmla="*/ 0 w 1332"/>
                <a:gd name="T13" fmla="*/ 1 h 2163"/>
                <a:gd name="T14" fmla="*/ 0 w 1332"/>
                <a:gd name="T15" fmla="*/ 1 h 2163"/>
                <a:gd name="T16" fmla="*/ 0 w 1332"/>
                <a:gd name="T17" fmla="*/ 2 h 2163"/>
                <a:gd name="T18" fmla="*/ 0 w 1332"/>
                <a:gd name="T19" fmla="*/ 9 h 2163"/>
                <a:gd name="T20" fmla="*/ 0 w 1332"/>
                <a:gd name="T21" fmla="*/ 9 h 2163"/>
                <a:gd name="T22" fmla="*/ 0 w 1332"/>
                <a:gd name="T23" fmla="*/ 9 h 2163"/>
                <a:gd name="T24" fmla="*/ 0 w 1332"/>
                <a:gd name="T25" fmla="*/ 9 h 2163"/>
                <a:gd name="T26" fmla="*/ 0 w 1332"/>
                <a:gd name="T27" fmla="*/ 9 h 2163"/>
                <a:gd name="T28" fmla="*/ 0 w 1332"/>
                <a:gd name="T29" fmla="*/ 10 h 2163"/>
                <a:gd name="T30" fmla="*/ 0 w 1332"/>
                <a:gd name="T31" fmla="*/ 10 h 2163"/>
                <a:gd name="T32" fmla="*/ 0 w 1332"/>
                <a:gd name="T33" fmla="*/ 10 h 2163"/>
                <a:gd name="T34" fmla="*/ 0 w 1332"/>
                <a:gd name="T35" fmla="*/ 10 h 2163"/>
                <a:gd name="T36" fmla="*/ 3 w 1332"/>
                <a:gd name="T37" fmla="*/ 10 h 2163"/>
                <a:gd name="T38" fmla="*/ 3 w 1332"/>
                <a:gd name="T39" fmla="*/ 10 h 2163"/>
                <a:gd name="T40" fmla="*/ 3 w 1332"/>
                <a:gd name="T41" fmla="*/ 10 h 2163"/>
                <a:gd name="T42" fmla="*/ 3 w 1332"/>
                <a:gd name="T43" fmla="*/ 10 h 2163"/>
                <a:gd name="T44" fmla="*/ 3 w 1332"/>
                <a:gd name="T45" fmla="*/ 10 h 2163"/>
                <a:gd name="T46" fmla="*/ 3 w 1332"/>
                <a:gd name="T47" fmla="*/ 10 h 2163"/>
                <a:gd name="T48" fmla="*/ 3 w 1332"/>
                <a:gd name="T49" fmla="*/ 10 h 2163"/>
                <a:gd name="T50" fmla="*/ 3 w 1332"/>
                <a:gd name="T51" fmla="*/ 10 h 2163"/>
                <a:gd name="T52" fmla="*/ 3 w 1332"/>
                <a:gd name="T53" fmla="*/ 10 h 2163"/>
                <a:gd name="T54" fmla="*/ 6 w 1332"/>
                <a:gd name="T55" fmla="*/ 8 h 2163"/>
                <a:gd name="T56" fmla="*/ 6 w 1332"/>
                <a:gd name="T57" fmla="*/ 8 h 2163"/>
                <a:gd name="T58" fmla="*/ 6 w 1332"/>
                <a:gd name="T59" fmla="*/ 8 h 2163"/>
                <a:gd name="T60" fmla="*/ 6 w 1332"/>
                <a:gd name="T61" fmla="*/ 8 h 2163"/>
                <a:gd name="T62" fmla="*/ 6 w 1332"/>
                <a:gd name="T63" fmla="*/ 8 h 2163"/>
                <a:gd name="T64" fmla="*/ 6 w 1332"/>
                <a:gd name="T65" fmla="*/ 8 h 2163"/>
                <a:gd name="T66" fmla="*/ 6 w 1332"/>
                <a:gd name="T67" fmla="*/ 8 h 2163"/>
                <a:gd name="T68" fmla="*/ 6 w 1332"/>
                <a:gd name="T69" fmla="*/ 8 h 2163"/>
                <a:gd name="T70" fmla="*/ 6 w 1332"/>
                <a:gd name="T71" fmla="*/ 8 h 2163"/>
                <a:gd name="T72" fmla="*/ 6 w 1332"/>
                <a:gd name="T73" fmla="*/ 1 h 2163"/>
                <a:gd name="T74" fmla="*/ 6 w 1332"/>
                <a:gd name="T75" fmla="*/ 0 h 2163"/>
                <a:gd name="T76" fmla="*/ 6 w 1332"/>
                <a:gd name="T77" fmla="*/ 0 h 2163"/>
                <a:gd name="T78" fmla="*/ 6 w 1332"/>
                <a:gd name="T79" fmla="*/ 0 h 2163"/>
                <a:gd name="T80" fmla="*/ 6 w 1332"/>
                <a:gd name="T81" fmla="*/ 0 h 2163"/>
                <a:gd name="T82" fmla="*/ 6 w 1332"/>
                <a:gd name="T83" fmla="*/ 0 h 2163"/>
                <a:gd name="T84" fmla="*/ 6 w 1332"/>
                <a:gd name="T85" fmla="*/ 0 h 2163"/>
                <a:gd name="T86" fmla="*/ 6 w 1332"/>
                <a:gd name="T87" fmla="*/ 0 h 2163"/>
                <a:gd name="T88" fmla="*/ 6 w 1332"/>
                <a:gd name="T89" fmla="*/ 0 h 2163"/>
                <a:gd name="T90" fmla="*/ 4 w 1332"/>
                <a:gd name="T91" fmla="*/ 0 h 2163"/>
                <a:gd name="T92" fmla="*/ 3 w 1332"/>
                <a:gd name="T93" fmla="*/ 0 h 2163"/>
                <a:gd name="T94" fmla="*/ 3 w 1332"/>
                <a:gd name="T95" fmla="*/ 0 h 2163"/>
                <a:gd name="T96" fmla="*/ 3 w 1332"/>
                <a:gd name="T97" fmla="*/ 0 h 2163"/>
                <a:gd name="T98" fmla="*/ 3 w 1332"/>
                <a:gd name="T99" fmla="*/ 0 h 2163"/>
                <a:gd name="T100" fmla="*/ 3 w 1332"/>
                <a:gd name="T101" fmla="*/ 0 h 2163"/>
                <a:gd name="T102" fmla="*/ 3 w 1332"/>
                <a:gd name="T103" fmla="*/ 0 h 2163"/>
                <a:gd name="T104" fmla="*/ 3 w 1332"/>
                <a:gd name="T105" fmla="*/ 0 h 2163"/>
                <a:gd name="T106" fmla="*/ 3 w 1332"/>
                <a:gd name="T107" fmla="*/ 0 h 2163"/>
                <a:gd name="T108" fmla="*/ 0 w 1332"/>
                <a:gd name="T109" fmla="*/ 1 h 216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332"/>
                <a:gd name="T166" fmla="*/ 0 h 2163"/>
                <a:gd name="T167" fmla="*/ 1332 w 1332"/>
                <a:gd name="T168" fmla="*/ 2163 h 216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332" h="2163">
                  <a:moveTo>
                    <a:pt x="55" y="274"/>
                  </a:moveTo>
                  <a:lnTo>
                    <a:pt x="44" y="279"/>
                  </a:lnTo>
                  <a:lnTo>
                    <a:pt x="34" y="288"/>
                  </a:lnTo>
                  <a:lnTo>
                    <a:pt x="25" y="297"/>
                  </a:lnTo>
                  <a:lnTo>
                    <a:pt x="16" y="307"/>
                  </a:lnTo>
                  <a:lnTo>
                    <a:pt x="9" y="320"/>
                  </a:lnTo>
                  <a:lnTo>
                    <a:pt x="4" y="331"/>
                  </a:lnTo>
                  <a:lnTo>
                    <a:pt x="1" y="343"/>
                  </a:lnTo>
                  <a:lnTo>
                    <a:pt x="0" y="356"/>
                  </a:lnTo>
                  <a:lnTo>
                    <a:pt x="10" y="2030"/>
                  </a:lnTo>
                  <a:lnTo>
                    <a:pt x="11" y="2042"/>
                  </a:lnTo>
                  <a:lnTo>
                    <a:pt x="14" y="2054"/>
                  </a:lnTo>
                  <a:lnTo>
                    <a:pt x="20" y="2065"/>
                  </a:lnTo>
                  <a:lnTo>
                    <a:pt x="28" y="2074"/>
                  </a:lnTo>
                  <a:lnTo>
                    <a:pt x="36" y="2083"/>
                  </a:lnTo>
                  <a:lnTo>
                    <a:pt x="46" y="2090"/>
                  </a:lnTo>
                  <a:lnTo>
                    <a:pt x="57" y="2094"/>
                  </a:lnTo>
                  <a:lnTo>
                    <a:pt x="69" y="2096"/>
                  </a:lnTo>
                  <a:lnTo>
                    <a:pt x="579" y="2162"/>
                  </a:lnTo>
                  <a:lnTo>
                    <a:pt x="592" y="2163"/>
                  </a:lnTo>
                  <a:lnTo>
                    <a:pt x="606" y="2163"/>
                  </a:lnTo>
                  <a:lnTo>
                    <a:pt x="621" y="2162"/>
                  </a:lnTo>
                  <a:lnTo>
                    <a:pt x="636" y="2159"/>
                  </a:lnTo>
                  <a:lnTo>
                    <a:pt x="651" y="2156"/>
                  </a:lnTo>
                  <a:lnTo>
                    <a:pt x="666" y="2152"/>
                  </a:lnTo>
                  <a:lnTo>
                    <a:pt x="679" y="2147"/>
                  </a:lnTo>
                  <a:lnTo>
                    <a:pt x="691" y="2141"/>
                  </a:lnTo>
                  <a:lnTo>
                    <a:pt x="1277" y="1835"/>
                  </a:lnTo>
                  <a:lnTo>
                    <a:pt x="1287" y="1829"/>
                  </a:lnTo>
                  <a:lnTo>
                    <a:pt x="1297" y="1821"/>
                  </a:lnTo>
                  <a:lnTo>
                    <a:pt x="1306" y="1811"/>
                  </a:lnTo>
                  <a:lnTo>
                    <a:pt x="1314" y="1798"/>
                  </a:lnTo>
                  <a:lnTo>
                    <a:pt x="1321" y="1787"/>
                  </a:lnTo>
                  <a:lnTo>
                    <a:pt x="1325" y="1774"/>
                  </a:lnTo>
                  <a:lnTo>
                    <a:pt x="1328" y="1761"/>
                  </a:lnTo>
                  <a:lnTo>
                    <a:pt x="1330" y="1749"/>
                  </a:lnTo>
                  <a:lnTo>
                    <a:pt x="1332" y="139"/>
                  </a:lnTo>
                  <a:lnTo>
                    <a:pt x="1331" y="126"/>
                  </a:lnTo>
                  <a:lnTo>
                    <a:pt x="1327" y="115"/>
                  </a:lnTo>
                  <a:lnTo>
                    <a:pt x="1322" y="104"/>
                  </a:lnTo>
                  <a:lnTo>
                    <a:pt x="1314" y="95"/>
                  </a:lnTo>
                  <a:lnTo>
                    <a:pt x="1306" y="86"/>
                  </a:lnTo>
                  <a:lnTo>
                    <a:pt x="1296" y="79"/>
                  </a:lnTo>
                  <a:lnTo>
                    <a:pt x="1284" y="75"/>
                  </a:lnTo>
                  <a:lnTo>
                    <a:pt x="1272" y="71"/>
                  </a:lnTo>
                  <a:lnTo>
                    <a:pt x="774" y="1"/>
                  </a:lnTo>
                  <a:lnTo>
                    <a:pt x="761" y="0"/>
                  </a:lnTo>
                  <a:lnTo>
                    <a:pt x="747" y="0"/>
                  </a:lnTo>
                  <a:lnTo>
                    <a:pt x="731" y="0"/>
                  </a:lnTo>
                  <a:lnTo>
                    <a:pt x="717" y="3"/>
                  </a:lnTo>
                  <a:lnTo>
                    <a:pt x="701" y="5"/>
                  </a:lnTo>
                  <a:lnTo>
                    <a:pt x="686" y="8"/>
                  </a:lnTo>
                  <a:lnTo>
                    <a:pt x="673" y="12"/>
                  </a:lnTo>
                  <a:lnTo>
                    <a:pt x="660" y="16"/>
                  </a:lnTo>
                  <a:lnTo>
                    <a:pt x="55" y="27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" name="Freeform 190"/>
            <p:cNvSpPr>
              <a:spLocks/>
            </p:cNvSpPr>
            <p:nvPr/>
          </p:nvSpPr>
          <p:spPr bwMode="auto">
            <a:xfrm>
              <a:off x="1163" y="3311"/>
              <a:ext cx="111" cy="334"/>
            </a:xfrm>
            <a:custGeom>
              <a:avLst/>
              <a:gdLst>
                <a:gd name="T0" fmla="*/ 3 w 662"/>
                <a:gd name="T1" fmla="*/ 7 h 2007"/>
                <a:gd name="T2" fmla="*/ 3 w 662"/>
                <a:gd name="T3" fmla="*/ 7 h 2007"/>
                <a:gd name="T4" fmla="*/ 3 w 662"/>
                <a:gd name="T5" fmla="*/ 8 h 2007"/>
                <a:gd name="T6" fmla="*/ 3 w 662"/>
                <a:gd name="T7" fmla="*/ 8 h 2007"/>
                <a:gd name="T8" fmla="*/ 3 w 662"/>
                <a:gd name="T9" fmla="*/ 8 h 2007"/>
                <a:gd name="T10" fmla="*/ 3 w 662"/>
                <a:gd name="T11" fmla="*/ 8 h 2007"/>
                <a:gd name="T12" fmla="*/ 3 w 662"/>
                <a:gd name="T13" fmla="*/ 8 h 2007"/>
                <a:gd name="T14" fmla="*/ 3 w 662"/>
                <a:gd name="T15" fmla="*/ 8 h 2007"/>
                <a:gd name="T16" fmla="*/ 3 w 662"/>
                <a:gd name="T17" fmla="*/ 8 h 2007"/>
                <a:gd name="T18" fmla="*/ 0 w 662"/>
                <a:gd name="T19" fmla="*/ 9 h 2007"/>
                <a:gd name="T20" fmla="*/ 0 w 662"/>
                <a:gd name="T21" fmla="*/ 9 h 2007"/>
                <a:gd name="T22" fmla="*/ 0 w 662"/>
                <a:gd name="T23" fmla="*/ 9 h 2007"/>
                <a:gd name="T24" fmla="*/ 0 w 662"/>
                <a:gd name="T25" fmla="*/ 9 h 2007"/>
                <a:gd name="T26" fmla="*/ 0 w 662"/>
                <a:gd name="T27" fmla="*/ 9 h 2007"/>
                <a:gd name="T28" fmla="*/ 0 w 662"/>
                <a:gd name="T29" fmla="*/ 9 h 2007"/>
                <a:gd name="T30" fmla="*/ 0 w 662"/>
                <a:gd name="T31" fmla="*/ 9 h 2007"/>
                <a:gd name="T32" fmla="*/ 0 w 662"/>
                <a:gd name="T33" fmla="*/ 9 h 2007"/>
                <a:gd name="T34" fmla="*/ 0 w 662"/>
                <a:gd name="T35" fmla="*/ 9 h 2007"/>
                <a:gd name="T36" fmla="*/ 0 w 662"/>
                <a:gd name="T37" fmla="*/ 1 h 2007"/>
                <a:gd name="T38" fmla="*/ 0 w 662"/>
                <a:gd name="T39" fmla="*/ 1 h 2007"/>
                <a:gd name="T40" fmla="*/ 0 w 662"/>
                <a:gd name="T41" fmla="*/ 1 h 2007"/>
                <a:gd name="T42" fmla="*/ 0 w 662"/>
                <a:gd name="T43" fmla="*/ 1 h 2007"/>
                <a:gd name="T44" fmla="*/ 0 w 662"/>
                <a:gd name="T45" fmla="*/ 1 h 2007"/>
                <a:gd name="T46" fmla="*/ 0 w 662"/>
                <a:gd name="T47" fmla="*/ 1 h 2007"/>
                <a:gd name="T48" fmla="*/ 0 w 662"/>
                <a:gd name="T49" fmla="*/ 1 h 2007"/>
                <a:gd name="T50" fmla="*/ 0 w 662"/>
                <a:gd name="T51" fmla="*/ 1 h 2007"/>
                <a:gd name="T52" fmla="*/ 0 w 662"/>
                <a:gd name="T53" fmla="*/ 1 h 2007"/>
                <a:gd name="T54" fmla="*/ 0 w 662"/>
                <a:gd name="T55" fmla="*/ 1 h 2007"/>
                <a:gd name="T56" fmla="*/ 0 w 662"/>
                <a:gd name="T57" fmla="*/ 1 h 2007"/>
                <a:gd name="T58" fmla="*/ 1 w 662"/>
                <a:gd name="T59" fmla="*/ 1 h 2007"/>
                <a:gd name="T60" fmla="*/ 1 w 662"/>
                <a:gd name="T61" fmla="*/ 1 h 2007"/>
                <a:gd name="T62" fmla="*/ 1 w 662"/>
                <a:gd name="T63" fmla="*/ 1 h 2007"/>
                <a:gd name="T64" fmla="*/ 1 w 662"/>
                <a:gd name="T65" fmla="*/ 1 h 2007"/>
                <a:gd name="T66" fmla="*/ 1 w 662"/>
                <a:gd name="T67" fmla="*/ 1 h 2007"/>
                <a:gd name="T68" fmla="*/ 2 w 662"/>
                <a:gd name="T69" fmla="*/ 1 h 2007"/>
                <a:gd name="T70" fmla="*/ 2 w 662"/>
                <a:gd name="T71" fmla="*/ 0 h 2007"/>
                <a:gd name="T72" fmla="*/ 2 w 662"/>
                <a:gd name="T73" fmla="*/ 0 h 2007"/>
                <a:gd name="T74" fmla="*/ 2 w 662"/>
                <a:gd name="T75" fmla="*/ 0 h 2007"/>
                <a:gd name="T76" fmla="*/ 3 w 662"/>
                <a:gd name="T77" fmla="*/ 0 h 2007"/>
                <a:gd name="T78" fmla="*/ 3 w 662"/>
                <a:gd name="T79" fmla="*/ 0 h 2007"/>
                <a:gd name="T80" fmla="*/ 3 w 662"/>
                <a:gd name="T81" fmla="*/ 0 h 2007"/>
                <a:gd name="T82" fmla="*/ 3 w 662"/>
                <a:gd name="T83" fmla="*/ 0 h 2007"/>
                <a:gd name="T84" fmla="*/ 3 w 662"/>
                <a:gd name="T85" fmla="*/ 0 h 2007"/>
                <a:gd name="T86" fmla="*/ 3 w 662"/>
                <a:gd name="T87" fmla="*/ 0 h 2007"/>
                <a:gd name="T88" fmla="*/ 3 w 662"/>
                <a:gd name="T89" fmla="*/ 0 h 2007"/>
                <a:gd name="T90" fmla="*/ 3 w 662"/>
                <a:gd name="T91" fmla="*/ 0 h 2007"/>
                <a:gd name="T92" fmla="*/ 3 w 662"/>
                <a:gd name="T93" fmla="*/ 0 h 2007"/>
                <a:gd name="T94" fmla="*/ 3 w 662"/>
                <a:gd name="T95" fmla="*/ 0 h 2007"/>
                <a:gd name="T96" fmla="*/ 3 w 662"/>
                <a:gd name="T97" fmla="*/ 0 h 2007"/>
                <a:gd name="T98" fmla="*/ 3 w 662"/>
                <a:gd name="T99" fmla="*/ 0 h 2007"/>
                <a:gd name="T100" fmla="*/ 3 w 662"/>
                <a:gd name="T101" fmla="*/ 0 h 2007"/>
                <a:gd name="T102" fmla="*/ 3 w 662"/>
                <a:gd name="T103" fmla="*/ 7 h 20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62"/>
                <a:gd name="T157" fmla="*/ 0 h 2007"/>
                <a:gd name="T158" fmla="*/ 662 w 662"/>
                <a:gd name="T159" fmla="*/ 2007 h 20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62" h="2007">
                  <a:moveTo>
                    <a:pt x="661" y="1629"/>
                  </a:moveTo>
                  <a:lnTo>
                    <a:pt x="660" y="1639"/>
                  </a:lnTo>
                  <a:lnTo>
                    <a:pt x="658" y="1648"/>
                  </a:lnTo>
                  <a:lnTo>
                    <a:pt x="653" y="1658"/>
                  </a:lnTo>
                  <a:lnTo>
                    <a:pt x="649" y="1668"/>
                  </a:lnTo>
                  <a:lnTo>
                    <a:pt x="642" y="1677"/>
                  </a:lnTo>
                  <a:lnTo>
                    <a:pt x="635" y="1685"/>
                  </a:lnTo>
                  <a:lnTo>
                    <a:pt x="627" y="1692"/>
                  </a:lnTo>
                  <a:lnTo>
                    <a:pt x="619" y="1697"/>
                  </a:lnTo>
                  <a:lnTo>
                    <a:pt x="34" y="2003"/>
                  </a:lnTo>
                  <a:lnTo>
                    <a:pt x="28" y="2006"/>
                  </a:lnTo>
                  <a:lnTo>
                    <a:pt x="23" y="2007"/>
                  </a:lnTo>
                  <a:lnTo>
                    <a:pt x="20" y="2007"/>
                  </a:lnTo>
                  <a:lnTo>
                    <a:pt x="17" y="2006"/>
                  </a:lnTo>
                  <a:lnTo>
                    <a:pt x="14" y="2003"/>
                  </a:lnTo>
                  <a:lnTo>
                    <a:pt x="12" y="2000"/>
                  </a:lnTo>
                  <a:lnTo>
                    <a:pt x="11" y="1996"/>
                  </a:lnTo>
                  <a:lnTo>
                    <a:pt x="11" y="1990"/>
                  </a:lnTo>
                  <a:lnTo>
                    <a:pt x="0" y="324"/>
                  </a:lnTo>
                  <a:lnTo>
                    <a:pt x="0" y="315"/>
                  </a:lnTo>
                  <a:lnTo>
                    <a:pt x="3" y="304"/>
                  </a:lnTo>
                  <a:lnTo>
                    <a:pt x="7" y="295"/>
                  </a:lnTo>
                  <a:lnTo>
                    <a:pt x="12" y="286"/>
                  </a:lnTo>
                  <a:lnTo>
                    <a:pt x="18" y="277"/>
                  </a:lnTo>
                  <a:lnTo>
                    <a:pt x="25" y="271"/>
                  </a:lnTo>
                  <a:lnTo>
                    <a:pt x="32" y="264"/>
                  </a:lnTo>
                  <a:lnTo>
                    <a:pt x="40" y="259"/>
                  </a:lnTo>
                  <a:lnTo>
                    <a:pt x="47" y="256"/>
                  </a:lnTo>
                  <a:lnTo>
                    <a:pt x="66" y="248"/>
                  </a:lnTo>
                  <a:lnTo>
                    <a:pt x="96" y="236"/>
                  </a:lnTo>
                  <a:lnTo>
                    <a:pt x="134" y="219"/>
                  </a:lnTo>
                  <a:lnTo>
                    <a:pt x="179" y="200"/>
                  </a:lnTo>
                  <a:lnTo>
                    <a:pt x="229" y="178"/>
                  </a:lnTo>
                  <a:lnTo>
                    <a:pt x="283" y="155"/>
                  </a:lnTo>
                  <a:lnTo>
                    <a:pt x="340" y="131"/>
                  </a:lnTo>
                  <a:lnTo>
                    <a:pt x="395" y="108"/>
                  </a:lnTo>
                  <a:lnTo>
                    <a:pt x="449" y="84"/>
                  </a:lnTo>
                  <a:lnTo>
                    <a:pt x="499" y="63"/>
                  </a:lnTo>
                  <a:lnTo>
                    <a:pt x="544" y="43"/>
                  </a:lnTo>
                  <a:lnTo>
                    <a:pt x="582" y="27"/>
                  </a:lnTo>
                  <a:lnTo>
                    <a:pt x="612" y="14"/>
                  </a:lnTo>
                  <a:lnTo>
                    <a:pt x="631" y="6"/>
                  </a:lnTo>
                  <a:lnTo>
                    <a:pt x="638" y="3"/>
                  </a:lnTo>
                  <a:lnTo>
                    <a:pt x="643" y="1"/>
                  </a:lnTo>
                  <a:lnTo>
                    <a:pt x="649" y="0"/>
                  </a:lnTo>
                  <a:lnTo>
                    <a:pt x="652" y="0"/>
                  </a:lnTo>
                  <a:lnTo>
                    <a:pt x="656" y="2"/>
                  </a:lnTo>
                  <a:lnTo>
                    <a:pt x="659" y="4"/>
                  </a:lnTo>
                  <a:lnTo>
                    <a:pt x="661" y="9"/>
                  </a:lnTo>
                  <a:lnTo>
                    <a:pt x="662" y="13"/>
                  </a:lnTo>
                  <a:lnTo>
                    <a:pt x="662" y="19"/>
                  </a:lnTo>
                  <a:lnTo>
                    <a:pt x="661" y="16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" name="Freeform 191"/>
            <p:cNvSpPr>
              <a:spLocks/>
            </p:cNvSpPr>
            <p:nvPr/>
          </p:nvSpPr>
          <p:spPr bwMode="auto">
            <a:xfrm>
              <a:off x="1068" y="3294"/>
              <a:ext cx="196" cy="56"/>
            </a:xfrm>
            <a:custGeom>
              <a:avLst/>
              <a:gdLst>
                <a:gd name="T0" fmla="*/ 3 w 1178"/>
                <a:gd name="T1" fmla="*/ 0 h 336"/>
                <a:gd name="T2" fmla="*/ 2 w 1178"/>
                <a:gd name="T3" fmla="*/ 0 h 336"/>
                <a:gd name="T4" fmla="*/ 2 w 1178"/>
                <a:gd name="T5" fmla="*/ 0 h 336"/>
                <a:gd name="T6" fmla="*/ 2 w 1178"/>
                <a:gd name="T7" fmla="*/ 0 h 336"/>
                <a:gd name="T8" fmla="*/ 1 w 1178"/>
                <a:gd name="T9" fmla="*/ 1 h 336"/>
                <a:gd name="T10" fmla="*/ 1 w 1178"/>
                <a:gd name="T11" fmla="*/ 1 h 336"/>
                <a:gd name="T12" fmla="*/ 0 w 1178"/>
                <a:gd name="T13" fmla="*/ 1 h 336"/>
                <a:gd name="T14" fmla="*/ 0 w 1178"/>
                <a:gd name="T15" fmla="*/ 1 h 336"/>
                <a:gd name="T16" fmla="*/ 0 w 1178"/>
                <a:gd name="T17" fmla="*/ 1 h 336"/>
                <a:gd name="T18" fmla="*/ 0 w 1178"/>
                <a:gd name="T19" fmla="*/ 1 h 336"/>
                <a:gd name="T20" fmla="*/ 0 w 1178"/>
                <a:gd name="T21" fmla="*/ 1 h 336"/>
                <a:gd name="T22" fmla="*/ 1 w 1178"/>
                <a:gd name="T23" fmla="*/ 1 h 336"/>
                <a:gd name="T24" fmla="*/ 1 w 1178"/>
                <a:gd name="T25" fmla="*/ 1 h 336"/>
                <a:gd name="T26" fmla="*/ 2 w 1178"/>
                <a:gd name="T27" fmla="*/ 2 h 336"/>
                <a:gd name="T28" fmla="*/ 2 w 1178"/>
                <a:gd name="T29" fmla="*/ 2 h 336"/>
                <a:gd name="T30" fmla="*/ 2 w 1178"/>
                <a:gd name="T31" fmla="*/ 2 h 336"/>
                <a:gd name="T32" fmla="*/ 2 w 1178"/>
                <a:gd name="T33" fmla="*/ 2 h 336"/>
                <a:gd name="T34" fmla="*/ 2 w 1178"/>
                <a:gd name="T35" fmla="*/ 2 h 336"/>
                <a:gd name="T36" fmla="*/ 2 w 1178"/>
                <a:gd name="T37" fmla="*/ 2 h 336"/>
                <a:gd name="T38" fmla="*/ 3 w 1178"/>
                <a:gd name="T39" fmla="*/ 2 h 336"/>
                <a:gd name="T40" fmla="*/ 3 w 1178"/>
                <a:gd name="T41" fmla="*/ 2 h 336"/>
                <a:gd name="T42" fmla="*/ 3 w 1178"/>
                <a:gd name="T43" fmla="*/ 1 h 336"/>
                <a:gd name="T44" fmla="*/ 3 w 1178"/>
                <a:gd name="T45" fmla="*/ 1 h 336"/>
                <a:gd name="T46" fmla="*/ 4 w 1178"/>
                <a:gd name="T47" fmla="*/ 1 h 336"/>
                <a:gd name="T48" fmla="*/ 4 w 1178"/>
                <a:gd name="T49" fmla="*/ 1 h 336"/>
                <a:gd name="T50" fmla="*/ 5 w 1178"/>
                <a:gd name="T51" fmla="*/ 1 h 336"/>
                <a:gd name="T52" fmla="*/ 5 w 1178"/>
                <a:gd name="T53" fmla="*/ 0 h 336"/>
                <a:gd name="T54" fmla="*/ 5 w 1178"/>
                <a:gd name="T55" fmla="*/ 0 h 336"/>
                <a:gd name="T56" fmla="*/ 3 w 1178"/>
                <a:gd name="T57" fmla="*/ 0 h 336"/>
                <a:gd name="T58" fmla="*/ 3 w 1178"/>
                <a:gd name="T59" fmla="*/ 0 h 336"/>
                <a:gd name="T60" fmla="*/ 3 w 1178"/>
                <a:gd name="T61" fmla="*/ 0 h 336"/>
                <a:gd name="T62" fmla="*/ 3 w 1178"/>
                <a:gd name="T63" fmla="*/ 0 h 336"/>
                <a:gd name="T64" fmla="*/ 3 w 1178"/>
                <a:gd name="T65" fmla="*/ 0 h 3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8"/>
                <a:gd name="T100" fmla="*/ 0 h 336"/>
                <a:gd name="T101" fmla="*/ 1178 w 1178"/>
                <a:gd name="T102" fmla="*/ 336 h 3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8" h="336">
                  <a:moveTo>
                    <a:pt x="591" y="14"/>
                  </a:moveTo>
                  <a:lnTo>
                    <a:pt x="584" y="16"/>
                  </a:lnTo>
                  <a:lnTo>
                    <a:pt x="566" y="24"/>
                  </a:lnTo>
                  <a:lnTo>
                    <a:pt x="539" y="37"/>
                  </a:lnTo>
                  <a:lnTo>
                    <a:pt x="503" y="52"/>
                  </a:lnTo>
                  <a:lnTo>
                    <a:pt x="459" y="70"/>
                  </a:lnTo>
                  <a:lnTo>
                    <a:pt x="412" y="91"/>
                  </a:lnTo>
                  <a:lnTo>
                    <a:pt x="360" y="113"/>
                  </a:lnTo>
                  <a:lnTo>
                    <a:pt x="305" y="136"/>
                  </a:lnTo>
                  <a:lnTo>
                    <a:pt x="251" y="159"/>
                  </a:lnTo>
                  <a:lnTo>
                    <a:pt x="198" y="182"/>
                  </a:lnTo>
                  <a:lnTo>
                    <a:pt x="149" y="203"/>
                  </a:lnTo>
                  <a:lnTo>
                    <a:pt x="103" y="222"/>
                  </a:lnTo>
                  <a:lnTo>
                    <a:pt x="64" y="239"/>
                  </a:lnTo>
                  <a:lnTo>
                    <a:pt x="32" y="253"/>
                  </a:lnTo>
                  <a:lnTo>
                    <a:pt x="11" y="262"/>
                  </a:lnTo>
                  <a:lnTo>
                    <a:pt x="0" y="266"/>
                  </a:lnTo>
                  <a:lnTo>
                    <a:pt x="10" y="267"/>
                  </a:lnTo>
                  <a:lnTo>
                    <a:pt x="29" y="271"/>
                  </a:lnTo>
                  <a:lnTo>
                    <a:pt x="56" y="274"/>
                  </a:lnTo>
                  <a:lnTo>
                    <a:pt x="89" y="279"/>
                  </a:lnTo>
                  <a:lnTo>
                    <a:pt x="127" y="284"/>
                  </a:lnTo>
                  <a:lnTo>
                    <a:pt x="169" y="290"/>
                  </a:lnTo>
                  <a:lnTo>
                    <a:pt x="213" y="295"/>
                  </a:lnTo>
                  <a:lnTo>
                    <a:pt x="257" y="302"/>
                  </a:lnTo>
                  <a:lnTo>
                    <a:pt x="302" y="308"/>
                  </a:lnTo>
                  <a:lnTo>
                    <a:pt x="345" y="315"/>
                  </a:lnTo>
                  <a:lnTo>
                    <a:pt x="384" y="320"/>
                  </a:lnTo>
                  <a:lnTo>
                    <a:pt x="419" y="325"/>
                  </a:lnTo>
                  <a:lnTo>
                    <a:pt x="450" y="329"/>
                  </a:lnTo>
                  <a:lnTo>
                    <a:pt x="473" y="333"/>
                  </a:lnTo>
                  <a:lnTo>
                    <a:pt x="487" y="334"/>
                  </a:lnTo>
                  <a:lnTo>
                    <a:pt x="493" y="335"/>
                  </a:lnTo>
                  <a:lnTo>
                    <a:pt x="504" y="336"/>
                  </a:lnTo>
                  <a:lnTo>
                    <a:pt x="517" y="336"/>
                  </a:lnTo>
                  <a:lnTo>
                    <a:pt x="530" y="335"/>
                  </a:lnTo>
                  <a:lnTo>
                    <a:pt x="545" y="334"/>
                  </a:lnTo>
                  <a:lnTo>
                    <a:pt x="558" y="331"/>
                  </a:lnTo>
                  <a:lnTo>
                    <a:pt x="572" y="329"/>
                  </a:lnTo>
                  <a:lnTo>
                    <a:pt x="584" y="326"/>
                  </a:lnTo>
                  <a:lnTo>
                    <a:pt x="596" y="321"/>
                  </a:lnTo>
                  <a:lnTo>
                    <a:pt x="601" y="319"/>
                  </a:lnTo>
                  <a:lnTo>
                    <a:pt x="617" y="312"/>
                  </a:lnTo>
                  <a:lnTo>
                    <a:pt x="642" y="301"/>
                  </a:lnTo>
                  <a:lnTo>
                    <a:pt x="675" y="288"/>
                  </a:lnTo>
                  <a:lnTo>
                    <a:pt x="713" y="271"/>
                  </a:lnTo>
                  <a:lnTo>
                    <a:pt x="757" y="252"/>
                  </a:lnTo>
                  <a:lnTo>
                    <a:pt x="804" y="231"/>
                  </a:lnTo>
                  <a:lnTo>
                    <a:pt x="854" y="209"/>
                  </a:lnTo>
                  <a:lnTo>
                    <a:pt x="905" y="187"/>
                  </a:lnTo>
                  <a:lnTo>
                    <a:pt x="955" y="165"/>
                  </a:lnTo>
                  <a:lnTo>
                    <a:pt x="1004" y="145"/>
                  </a:lnTo>
                  <a:lnTo>
                    <a:pt x="1049" y="124"/>
                  </a:lnTo>
                  <a:lnTo>
                    <a:pt x="1091" y="106"/>
                  </a:lnTo>
                  <a:lnTo>
                    <a:pt x="1127" y="91"/>
                  </a:lnTo>
                  <a:lnTo>
                    <a:pt x="1157" y="78"/>
                  </a:lnTo>
                  <a:lnTo>
                    <a:pt x="1178" y="69"/>
                  </a:lnTo>
                  <a:lnTo>
                    <a:pt x="694" y="1"/>
                  </a:lnTo>
                  <a:lnTo>
                    <a:pt x="682" y="0"/>
                  </a:lnTo>
                  <a:lnTo>
                    <a:pt x="670" y="0"/>
                  </a:lnTo>
                  <a:lnTo>
                    <a:pt x="657" y="0"/>
                  </a:lnTo>
                  <a:lnTo>
                    <a:pt x="642" y="2"/>
                  </a:lnTo>
                  <a:lnTo>
                    <a:pt x="628" y="4"/>
                  </a:lnTo>
                  <a:lnTo>
                    <a:pt x="615" y="6"/>
                  </a:lnTo>
                  <a:lnTo>
                    <a:pt x="602" y="10"/>
                  </a:lnTo>
                  <a:lnTo>
                    <a:pt x="591" y="1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4" name="Freeform 192"/>
            <p:cNvSpPr>
              <a:spLocks/>
            </p:cNvSpPr>
            <p:nvPr/>
          </p:nvSpPr>
          <p:spPr bwMode="auto">
            <a:xfrm>
              <a:off x="1059" y="3345"/>
              <a:ext cx="99" cy="303"/>
            </a:xfrm>
            <a:custGeom>
              <a:avLst/>
              <a:gdLst>
                <a:gd name="T0" fmla="*/ 0 w 596"/>
                <a:gd name="T1" fmla="*/ 0 h 1814"/>
                <a:gd name="T2" fmla="*/ 0 w 596"/>
                <a:gd name="T3" fmla="*/ 0 h 1814"/>
                <a:gd name="T4" fmla="*/ 0 w 596"/>
                <a:gd name="T5" fmla="*/ 0 h 1814"/>
                <a:gd name="T6" fmla="*/ 0 w 596"/>
                <a:gd name="T7" fmla="*/ 0 h 1814"/>
                <a:gd name="T8" fmla="*/ 0 w 596"/>
                <a:gd name="T9" fmla="*/ 0 h 1814"/>
                <a:gd name="T10" fmla="*/ 0 w 596"/>
                <a:gd name="T11" fmla="*/ 0 h 1814"/>
                <a:gd name="T12" fmla="*/ 0 w 596"/>
                <a:gd name="T13" fmla="*/ 0 h 1814"/>
                <a:gd name="T14" fmla="*/ 0 w 596"/>
                <a:gd name="T15" fmla="*/ 0 h 1814"/>
                <a:gd name="T16" fmla="*/ 0 w 596"/>
                <a:gd name="T17" fmla="*/ 0 h 1814"/>
                <a:gd name="T18" fmla="*/ 2 w 596"/>
                <a:gd name="T19" fmla="*/ 0 h 1814"/>
                <a:gd name="T20" fmla="*/ 2 w 596"/>
                <a:gd name="T21" fmla="*/ 0 h 1814"/>
                <a:gd name="T22" fmla="*/ 2 w 596"/>
                <a:gd name="T23" fmla="*/ 0 h 1814"/>
                <a:gd name="T24" fmla="*/ 3 w 596"/>
                <a:gd name="T25" fmla="*/ 0 h 1814"/>
                <a:gd name="T26" fmla="*/ 3 w 596"/>
                <a:gd name="T27" fmla="*/ 0 h 1814"/>
                <a:gd name="T28" fmla="*/ 3 w 596"/>
                <a:gd name="T29" fmla="*/ 1 h 1814"/>
                <a:gd name="T30" fmla="*/ 3 w 596"/>
                <a:gd name="T31" fmla="*/ 1 h 1814"/>
                <a:gd name="T32" fmla="*/ 3 w 596"/>
                <a:gd name="T33" fmla="*/ 1 h 1814"/>
                <a:gd name="T34" fmla="*/ 3 w 596"/>
                <a:gd name="T35" fmla="*/ 1 h 1814"/>
                <a:gd name="T36" fmla="*/ 3 w 596"/>
                <a:gd name="T37" fmla="*/ 8 h 1814"/>
                <a:gd name="T38" fmla="*/ 3 w 596"/>
                <a:gd name="T39" fmla="*/ 8 h 1814"/>
                <a:gd name="T40" fmla="*/ 3 w 596"/>
                <a:gd name="T41" fmla="*/ 8 h 1814"/>
                <a:gd name="T42" fmla="*/ 3 w 596"/>
                <a:gd name="T43" fmla="*/ 8 h 1814"/>
                <a:gd name="T44" fmla="*/ 3 w 596"/>
                <a:gd name="T45" fmla="*/ 8 h 1814"/>
                <a:gd name="T46" fmla="*/ 3 w 596"/>
                <a:gd name="T47" fmla="*/ 8 h 1814"/>
                <a:gd name="T48" fmla="*/ 3 w 596"/>
                <a:gd name="T49" fmla="*/ 9 h 1814"/>
                <a:gd name="T50" fmla="*/ 3 w 596"/>
                <a:gd name="T51" fmla="*/ 9 h 1814"/>
                <a:gd name="T52" fmla="*/ 2 w 596"/>
                <a:gd name="T53" fmla="*/ 9 h 1814"/>
                <a:gd name="T54" fmla="*/ 0 w 596"/>
                <a:gd name="T55" fmla="*/ 8 h 1814"/>
                <a:gd name="T56" fmla="*/ 0 w 596"/>
                <a:gd name="T57" fmla="*/ 8 h 1814"/>
                <a:gd name="T58" fmla="*/ 0 w 596"/>
                <a:gd name="T59" fmla="*/ 8 h 1814"/>
                <a:gd name="T60" fmla="*/ 0 w 596"/>
                <a:gd name="T61" fmla="*/ 8 h 1814"/>
                <a:gd name="T62" fmla="*/ 0 w 596"/>
                <a:gd name="T63" fmla="*/ 8 h 1814"/>
                <a:gd name="T64" fmla="*/ 0 w 596"/>
                <a:gd name="T65" fmla="*/ 8 h 1814"/>
                <a:gd name="T66" fmla="*/ 0 w 596"/>
                <a:gd name="T67" fmla="*/ 8 h 1814"/>
                <a:gd name="T68" fmla="*/ 0 w 596"/>
                <a:gd name="T69" fmla="*/ 8 h 1814"/>
                <a:gd name="T70" fmla="*/ 0 w 596"/>
                <a:gd name="T71" fmla="*/ 8 h 1814"/>
                <a:gd name="T72" fmla="*/ 0 w 596"/>
                <a:gd name="T73" fmla="*/ 0 h 18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96"/>
                <a:gd name="T112" fmla="*/ 0 h 1814"/>
                <a:gd name="T113" fmla="*/ 596 w 596"/>
                <a:gd name="T114" fmla="*/ 1814 h 181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96" h="1814">
                  <a:moveTo>
                    <a:pt x="0" y="29"/>
                  </a:moveTo>
                  <a:lnTo>
                    <a:pt x="1" y="22"/>
                  </a:lnTo>
                  <a:lnTo>
                    <a:pt x="2" y="16"/>
                  </a:lnTo>
                  <a:lnTo>
                    <a:pt x="6" y="11"/>
                  </a:lnTo>
                  <a:lnTo>
                    <a:pt x="10" y="6"/>
                  </a:lnTo>
                  <a:lnTo>
                    <a:pt x="16" y="3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543" y="69"/>
                  </a:lnTo>
                  <a:lnTo>
                    <a:pt x="551" y="72"/>
                  </a:lnTo>
                  <a:lnTo>
                    <a:pt x="559" y="75"/>
                  </a:lnTo>
                  <a:lnTo>
                    <a:pt x="566" y="79"/>
                  </a:lnTo>
                  <a:lnTo>
                    <a:pt x="571" y="86"/>
                  </a:lnTo>
                  <a:lnTo>
                    <a:pt x="577" y="93"/>
                  </a:lnTo>
                  <a:lnTo>
                    <a:pt x="580" y="100"/>
                  </a:lnTo>
                  <a:lnTo>
                    <a:pt x="583" y="109"/>
                  </a:lnTo>
                  <a:lnTo>
                    <a:pt x="584" y="117"/>
                  </a:lnTo>
                  <a:lnTo>
                    <a:pt x="596" y="1783"/>
                  </a:lnTo>
                  <a:lnTo>
                    <a:pt x="595" y="1790"/>
                  </a:lnTo>
                  <a:lnTo>
                    <a:pt x="593" y="1796"/>
                  </a:lnTo>
                  <a:lnTo>
                    <a:pt x="591" y="1802"/>
                  </a:lnTo>
                  <a:lnTo>
                    <a:pt x="586" y="1807"/>
                  </a:lnTo>
                  <a:lnTo>
                    <a:pt x="580" y="1811"/>
                  </a:lnTo>
                  <a:lnTo>
                    <a:pt x="575" y="1813"/>
                  </a:lnTo>
                  <a:lnTo>
                    <a:pt x="568" y="1814"/>
                  </a:lnTo>
                  <a:lnTo>
                    <a:pt x="561" y="1814"/>
                  </a:lnTo>
                  <a:lnTo>
                    <a:pt x="51" y="1749"/>
                  </a:lnTo>
                  <a:lnTo>
                    <a:pt x="43" y="1747"/>
                  </a:lnTo>
                  <a:lnTo>
                    <a:pt x="35" y="1744"/>
                  </a:lnTo>
                  <a:lnTo>
                    <a:pt x="28" y="1739"/>
                  </a:lnTo>
                  <a:lnTo>
                    <a:pt x="22" y="1733"/>
                  </a:lnTo>
                  <a:lnTo>
                    <a:pt x="17" y="1727"/>
                  </a:lnTo>
                  <a:lnTo>
                    <a:pt x="13" y="1719"/>
                  </a:lnTo>
                  <a:lnTo>
                    <a:pt x="10" y="1711"/>
                  </a:lnTo>
                  <a:lnTo>
                    <a:pt x="9" y="170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5" name="Freeform 193"/>
            <p:cNvSpPr>
              <a:spLocks/>
            </p:cNvSpPr>
            <p:nvPr/>
          </p:nvSpPr>
          <p:spPr bwMode="auto">
            <a:xfrm>
              <a:off x="1060" y="3358"/>
              <a:ext cx="28" cy="25"/>
            </a:xfrm>
            <a:custGeom>
              <a:avLst/>
              <a:gdLst>
                <a:gd name="T0" fmla="*/ 1 w 167"/>
                <a:gd name="T1" fmla="*/ 1 h 148"/>
                <a:gd name="T2" fmla="*/ 1 w 167"/>
                <a:gd name="T3" fmla="*/ 0 h 148"/>
                <a:gd name="T4" fmla="*/ 0 w 167"/>
                <a:gd name="T5" fmla="*/ 0 h 148"/>
                <a:gd name="T6" fmla="*/ 0 w 167"/>
                <a:gd name="T7" fmla="*/ 0 h 148"/>
                <a:gd name="T8" fmla="*/ 0 w 167"/>
                <a:gd name="T9" fmla="*/ 1 h 148"/>
                <a:gd name="T10" fmla="*/ 1 w 167"/>
                <a:gd name="T11" fmla="*/ 1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"/>
                <a:gd name="T19" fmla="*/ 0 h 148"/>
                <a:gd name="T20" fmla="*/ 167 w 167"/>
                <a:gd name="T21" fmla="*/ 148 h 1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" h="148">
                  <a:moveTo>
                    <a:pt x="167" y="148"/>
                  </a:moveTo>
                  <a:lnTo>
                    <a:pt x="165" y="24"/>
                  </a:lnTo>
                  <a:lnTo>
                    <a:pt x="5" y="0"/>
                  </a:lnTo>
                  <a:lnTo>
                    <a:pt x="1" y="10"/>
                  </a:lnTo>
                  <a:lnTo>
                    <a:pt x="0" y="126"/>
                  </a:lnTo>
                  <a:lnTo>
                    <a:pt x="167" y="1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6" name="Freeform 194"/>
            <p:cNvSpPr>
              <a:spLocks/>
            </p:cNvSpPr>
            <p:nvPr/>
          </p:nvSpPr>
          <p:spPr bwMode="auto">
            <a:xfrm>
              <a:off x="1059" y="3360"/>
              <a:ext cx="28" cy="22"/>
            </a:xfrm>
            <a:custGeom>
              <a:avLst/>
              <a:gdLst>
                <a:gd name="T0" fmla="*/ 1 w 166"/>
                <a:gd name="T1" fmla="*/ 1 h 133"/>
                <a:gd name="T2" fmla="*/ 1 w 166"/>
                <a:gd name="T3" fmla="*/ 0 h 133"/>
                <a:gd name="T4" fmla="*/ 1 w 166"/>
                <a:gd name="T5" fmla="*/ 0 h 133"/>
                <a:gd name="T6" fmla="*/ 0 w 166"/>
                <a:gd name="T7" fmla="*/ 0 h 133"/>
                <a:gd name="T8" fmla="*/ 0 w 166"/>
                <a:gd name="T9" fmla="*/ 0 h 133"/>
                <a:gd name="T10" fmla="*/ 0 w 166"/>
                <a:gd name="T11" fmla="*/ 0 h 133"/>
                <a:gd name="T12" fmla="*/ 1 w 166"/>
                <a:gd name="T13" fmla="*/ 1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33"/>
                <a:gd name="T23" fmla="*/ 166 w 166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33">
                  <a:moveTo>
                    <a:pt x="157" y="133"/>
                  </a:moveTo>
                  <a:lnTo>
                    <a:pt x="166" y="129"/>
                  </a:lnTo>
                  <a:lnTo>
                    <a:pt x="164" y="24"/>
                  </a:lnTo>
                  <a:lnTo>
                    <a:pt x="10" y="0"/>
                  </a:lnTo>
                  <a:lnTo>
                    <a:pt x="0" y="9"/>
                  </a:lnTo>
                  <a:lnTo>
                    <a:pt x="10" y="106"/>
                  </a:lnTo>
                  <a:lnTo>
                    <a:pt x="157" y="133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7" name="Freeform 195"/>
            <p:cNvSpPr>
              <a:spLocks/>
            </p:cNvSpPr>
            <p:nvPr/>
          </p:nvSpPr>
          <p:spPr bwMode="auto">
            <a:xfrm>
              <a:off x="1059" y="3361"/>
              <a:ext cx="26" cy="21"/>
            </a:xfrm>
            <a:custGeom>
              <a:avLst/>
              <a:gdLst>
                <a:gd name="T0" fmla="*/ 1 w 157"/>
                <a:gd name="T1" fmla="*/ 1 h 124"/>
                <a:gd name="T2" fmla="*/ 1 w 157"/>
                <a:gd name="T3" fmla="*/ 0 h 124"/>
                <a:gd name="T4" fmla="*/ 0 w 157"/>
                <a:gd name="T5" fmla="*/ 0 h 124"/>
                <a:gd name="T6" fmla="*/ 0 w 157"/>
                <a:gd name="T7" fmla="*/ 1 h 124"/>
                <a:gd name="T8" fmla="*/ 1 w 157"/>
                <a:gd name="T9" fmla="*/ 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24"/>
                <a:gd name="T17" fmla="*/ 157 w 157"/>
                <a:gd name="T18" fmla="*/ 124 h 1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24">
                  <a:moveTo>
                    <a:pt x="157" y="124"/>
                  </a:moveTo>
                  <a:lnTo>
                    <a:pt x="155" y="24"/>
                  </a:lnTo>
                  <a:lnTo>
                    <a:pt x="0" y="0"/>
                  </a:lnTo>
                  <a:lnTo>
                    <a:pt x="0" y="104"/>
                  </a:lnTo>
                  <a:lnTo>
                    <a:pt x="15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8" name="Freeform 196"/>
            <p:cNvSpPr>
              <a:spLocks/>
            </p:cNvSpPr>
            <p:nvPr/>
          </p:nvSpPr>
          <p:spPr bwMode="auto">
            <a:xfrm>
              <a:off x="1188" y="3358"/>
              <a:ext cx="86" cy="274"/>
            </a:xfrm>
            <a:custGeom>
              <a:avLst/>
              <a:gdLst>
                <a:gd name="T0" fmla="*/ 2 w 513"/>
                <a:gd name="T1" fmla="*/ 6 h 1646"/>
                <a:gd name="T2" fmla="*/ 2 w 513"/>
                <a:gd name="T3" fmla="*/ 0 h 1646"/>
                <a:gd name="T4" fmla="*/ 2 w 513"/>
                <a:gd name="T5" fmla="*/ 0 h 1646"/>
                <a:gd name="T6" fmla="*/ 2 w 513"/>
                <a:gd name="T7" fmla="*/ 0 h 1646"/>
                <a:gd name="T8" fmla="*/ 2 w 513"/>
                <a:gd name="T9" fmla="*/ 1 h 1646"/>
                <a:gd name="T10" fmla="*/ 2 w 513"/>
                <a:gd name="T11" fmla="*/ 1 h 1646"/>
                <a:gd name="T12" fmla="*/ 1 w 513"/>
                <a:gd name="T13" fmla="*/ 1 h 1646"/>
                <a:gd name="T14" fmla="*/ 1 w 513"/>
                <a:gd name="T15" fmla="*/ 1 h 1646"/>
                <a:gd name="T16" fmla="*/ 1 w 513"/>
                <a:gd name="T17" fmla="*/ 2 h 1646"/>
                <a:gd name="T18" fmla="*/ 1 w 513"/>
                <a:gd name="T19" fmla="*/ 2 h 1646"/>
                <a:gd name="T20" fmla="*/ 1 w 513"/>
                <a:gd name="T21" fmla="*/ 2 h 1646"/>
                <a:gd name="T22" fmla="*/ 0 w 513"/>
                <a:gd name="T23" fmla="*/ 3 h 1646"/>
                <a:gd name="T24" fmla="*/ 0 w 513"/>
                <a:gd name="T25" fmla="*/ 3 h 1646"/>
                <a:gd name="T26" fmla="*/ 0 w 513"/>
                <a:gd name="T27" fmla="*/ 4 h 1646"/>
                <a:gd name="T28" fmla="*/ 0 w 513"/>
                <a:gd name="T29" fmla="*/ 4 h 1646"/>
                <a:gd name="T30" fmla="*/ 0 w 513"/>
                <a:gd name="T31" fmla="*/ 4 h 1646"/>
                <a:gd name="T32" fmla="*/ 0 w 513"/>
                <a:gd name="T33" fmla="*/ 5 h 1646"/>
                <a:gd name="T34" fmla="*/ 0 w 513"/>
                <a:gd name="T35" fmla="*/ 5 h 1646"/>
                <a:gd name="T36" fmla="*/ 0 w 513"/>
                <a:gd name="T37" fmla="*/ 6 h 1646"/>
                <a:gd name="T38" fmla="*/ 0 w 513"/>
                <a:gd name="T39" fmla="*/ 6 h 1646"/>
                <a:gd name="T40" fmla="*/ 0 w 513"/>
                <a:gd name="T41" fmla="*/ 7 h 1646"/>
                <a:gd name="T42" fmla="*/ 0 w 513"/>
                <a:gd name="T43" fmla="*/ 8 h 1646"/>
                <a:gd name="T44" fmla="*/ 2 w 513"/>
                <a:gd name="T45" fmla="*/ 6 h 1646"/>
                <a:gd name="T46" fmla="*/ 2 w 513"/>
                <a:gd name="T47" fmla="*/ 6 h 1646"/>
                <a:gd name="T48" fmla="*/ 2 w 513"/>
                <a:gd name="T49" fmla="*/ 6 h 1646"/>
                <a:gd name="T50" fmla="*/ 2 w 513"/>
                <a:gd name="T51" fmla="*/ 6 h 1646"/>
                <a:gd name="T52" fmla="*/ 2 w 513"/>
                <a:gd name="T53" fmla="*/ 6 h 1646"/>
                <a:gd name="T54" fmla="*/ 2 w 513"/>
                <a:gd name="T55" fmla="*/ 6 h 1646"/>
                <a:gd name="T56" fmla="*/ 2 w 513"/>
                <a:gd name="T57" fmla="*/ 6 h 1646"/>
                <a:gd name="T58" fmla="*/ 2 w 513"/>
                <a:gd name="T59" fmla="*/ 6 h 1646"/>
                <a:gd name="T60" fmla="*/ 2 w 513"/>
                <a:gd name="T61" fmla="*/ 6 h 16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513"/>
                <a:gd name="T94" fmla="*/ 0 h 1646"/>
                <a:gd name="T95" fmla="*/ 513 w 513"/>
                <a:gd name="T96" fmla="*/ 1646 h 164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513" h="1646">
                  <a:moveTo>
                    <a:pt x="512" y="1346"/>
                  </a:moveTo>
                  <a:lnTo>
                    <a:pt x="513" y="0"/>
                  </a:lnTo>
                  <a:lnTo>
                    <a:pt x="457" y="41"/>
                  </a:lnTo>
                  <a:lnTo>
                    <a:pt x="404" y="87"/>
                  </a:lnTo>
                  <a:lnTo>
                    <a:pt x="353" y="138"/>
                  </a:lnTo>
                  <a:lnTo>
                    <a:pt x="305" y="194"/>
                  </a:lnTo>
                  <a:lnTo>
                    <a:pt x="259" y="254"/>
                  </a:lnTo>
                  <a:lnTo>
                    <a:pt x="216" y="320"/>
                  </a:lnTo>
                  <a:lnTo>
                    <a:pt x="178" y="388"/>
                  </a:lnTo>
                  <a:lnTo>
                    <a:pt x="142" y="461"/>
                  </a:lnTo>
                  <a:lnTo>
                    <a:pt x="110" y="538"/>
                  </a:lnTo>
                  <a:lnTo>
                    <a:pt x="82" y="617"/>
                  </a:lnTo>
                  <a:lnTo>
                    <a:pt x="57" y="700"/>
                  </a:lnTo>
                  <a:lnTo>
                    <a:pt x="37" y="785"/>
                  </a:lnTo>
                  <a:lnTo>
                    <a:pt x="21" y="874"/>
                  </a:lnTo>
                  <a:lnTo>
                    <a:pt x="9" y="964"/>
                  </a:lnTo>
                  <a:lnTo>
                    <a:pt x="2" y="1058"/>
                  </a:lnTo>
                  <a:lnTo>
                    <a:pt x="0" y="1152"/>
                  </a:lnTo>
                  <a:lnTo>
                    <a:pt x="1" y="1282"/>
                  </a:lnTo>
                  <a:lnTo>
                    <a:pt x="7" y="1408"/>
                  </a:lnTo>
                  <a:lnTo>
                    <a:pt x="14" y="1529"/>
                  </a:lnTo>
                  <a:lnTo>
                    <a:pt x="27" y="1646"/>
                  </a:lnTo>
                  <a:lnTo>
                    <a:pt x="470" y="1414"/>
                  </a:lnTo>
                  <a:lnTo>
                    <a:pt x="478" y="1409"/>
                  </a:lnTo>
                  <a:lnTo>
                    <a:pt x="486" y="1402"/>
                  </a:lnTo>
                  <a:lnTo>
                    <a:pt x="493" y="1394"/>
                  </a:lnTo>
                  <a:lnTo>
                    <a:pt x="500" y="1385"/>
                  </a:lnTo>
                  <a:lnTo>
                    <a:pt x="504" y="1375"/>
                  </a:lnTo>
                  <a:lnTo>
                    <a:pt x="509" y="1365"/>
                  </a:lnTo>
                  <a:lnTo>
                    <a:pt x="511" y="1356"/>
                  </a:lnTo>
                  <a:lnTo>
                    <a:pt x="512" y="134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9" name="Freeform 197"/>
            <p:cNvSpPr>
              <a:spLocks/>
            </p:cNvSpPr>
            <p:nvPr/>
          </p:nvSpPr>
          <p:spPr bwMode="auto">
            <a:xfrm>
              <a:off x="1202" y="3559"/>
              <a:ext cx="25" cy="26"/>
            </a:xfrm>
            <a:custGeom>
              <a:avLst/>
              <a:gdLst>
                <a:gd name="T0" fmla="*/ 1 w 154"/>
                <a:gd name="T1" fmla="*/ 1 h 155"/>
                <a:gd name="T2" fmla="*/ 1 w 154"/>
                <a:gd name="T3" fmla="*/ 1 h 155"/>
                <a:gd name="T4" fmla="*/ 1 w 154"/>
                <a:gd name="T5" fmla="*/ 1 h 155"/>
                <a:gd name="T6" fmla="*/ 1 w 154"/>
                <a:gd name="T7" fmla="*/ 0 h 155"/>
                <a:gd name="T8" fmla="*/ 1 w 154"/>
                <a:gd name="T9" fmla="*/ 0 h 155"/>
                <a:gd name="T10" fmla="*/ 1 w 154"/>
                <a:gd name="T11" fmla="*/ 0 h 155"/>
                <a:gd name="T12" fmla="*/ 1 w 154"/>
                <a:gd name="T13" fmla="*/ 0 h 155"/>
                <a:gd name="T14" fmla="*/ 1 w 154"/>
                <a:gd name="T15" fmla="*/ 0 h 155"/>
                <a:gd name="T16" fmla="*/ 1 w 154"/>
                <a:gd name="T17" fmla="*/ 0 h 155"/>
                <a:gd name="T18" fmla="*/ 1 w 154"/>
                <a:gd name="T19" fmla="*/ 0 h 155"/>
                <a:gd name="T20" fmla="*/ 1 w 154"/>
                <a:gd name="T21" fmla="*/ 0 h 155"/>
                <a:gd name="T22" fmla="*/ 1 w 154"/>
                <a:gd name="T23" fmla="*/ 0 h 155"/>
                <a:gd name="T24" fmla="*/ 1 w 154"/>
                <a:gd name="T25" fmla="*/ 0 h 155"/>
                <a:gd name="T26" fmla="*/ 0 w 154"/>
                <a:gd name="T27" fmla="*/ 0 h 155"/>
                <a:gd name="T28" fmla="*/ 0 w 154"/>
                <a:gd name="T29" fmla="*/ 0 h 155"/>
                <a:gd name="T30" fmla="*/ 0 w 154"/>
                <a:gd name="T31" fmla="*/ 0 h 155"/>
                <a:gd name="T32" fmla="*/ 0 w 154"/>
                <a:gd name="T33" fmla="*/ 0 h 155"/>
                <a:gd name="T34" fmla="*/ 0 w 154"/>
                <a:gd name="T35" fmla="*/ 0 h 155"/>
                <a:gd name="T36" fmla="*/ 0 w 154"/>
                <a:gd name="T37" fmla="*/ 0 h 155"/>
                <a:gd name="T38" fmla="*/ 0 w 154"/>
                <a:gd name="T39" fmla="*/ 1 h 155"/>
                <a:gd name="T40" fmla="*/ 0 w 154"/>
                <a:gd name="T41" fmla="*/ 1 h 155"/>
                <a:gd name="T42" fmla="*/ 0 w 154"/>
                <a:gd name="T43" fmla="*/ 1 h 155"/>
                <a:gd name="T44" fmla="*/ 0 w 154"/>
                <a:gd name="T45" fmla="*/ 1 h 155"/>
                <a:gd name="T46" fmla="*/ 0 w 154"/>
                <a:gd name="T47" fmla="*/ 1 h 155"/>
                <a:gd name="T48" fmla="*/ 1 w 154"/>
                <a:gd name="T49" fmla="*/ 1 h 15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4"/>
                <a:gd name="T76" fmla="*/ 0 h 155"/>
                <a:gd name="T77" fmla="*/ 154 w 154"/>
                <a:gd name="T78" fmla="*/ 155 h 15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4" h="155">
                  <a:moveTo>
                    <a:pt x="134" y="104"/>
                  </a:moveTo>
                  <a:lnTo>
                    <a:pt x="141" y="99"/>
                  </a:lnTo>
                  <a:lnTo>
                    <a:pt x="148" y="92"/>
                  </a:lnTo>
                  <a:lnTo>
                    <a:pt x="152" y="85"/>
                  </a:lnTo>
                  <a:lnTo>
                    <a:pt x="154" y="76"/>
                  </a:lnTo>
                  <a:lnTo>
                    <a:pt x="152" y="25"/>
                  </a:lnTo>
                  <a:lnTo>
                    <a:pt x="152" y="17"/>
                  </a:lnTo>
                  <a:lnTo>
                    <a:pt x="151" y="10"/>
                  </a:lnTo>
                  <a:lnTo>
                    <a:pt x="150" y="5"/>
                  </a:lnTo>
                  <a:lnTo>
                    <a:pt x="149" y="1"/>
                  </a:lnTo>
                  <a:lnTo>
                    <a:pt x="146" y="0"/>
                  </a:lnTo>
                  <a:lnTo>
                    <a:pt x="141" y="0"/>
                  </a:lnTo>
                  <a:lnTo>
                    <a:pt x="134" y="2"/>
                  </a:lnTo>
                  <a:lnTo>
                    <a:pt x="128" y="5"/>
                  </a:lnTo>
                  <a:lnTo>
                    <a:pt x="17" y="56"/>
                  </a:lnTo>
                  <a:lnTo>
                    <a:pt x="10" y="61"/>
                  </a:lnTo>
                  <a:lnTo>
                    <a:pt x="5" y="69"/>
                  </a:lnTo>
                  <a:lnTo>
                    <a:pt x="1" y="77"/>
                  </a:lnTo>
                  <a:lnTo>
                    <a:pt x="0" y="85"/>
                  </a:lnTo>
                  <a:lnTo>
                    <a:pt x="0" y="142"/>
                  </a:lnTo>
                  <a:lnTo>
                    <a:pt x="1" y="149"/>
                  </a:lnTo>
                  <a:lnTo>
                    <a:pt x="5" y="154"/>
                  </a:lnTo>
                  <a:lnTo>
                    <a:pt x="10" y="155"/>
                  </a:lnTo>
                  <a:lnTo>
                    <a:pt x="17" y="154"/>
                  </a:lnTo>
                  <a:lnTo>
                    <a:pt x="134" y="104"/>
                  </a:lnTo>
                  <a:close/>
                </a:path>
              </a:pathLst>
            </a:custGeom>
            <a:solidFill>
              <a:srgbClr val="DDDD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0" name="Freeform 198"/>
            <p:cNvSpPr>
              <a:spLocks/>
            </p:cNvSpPr>
            <p:nvPr/>
          </p:nvSpPr>
          <p:spPr bwMode="auto">
            <a:xfrm>
              <a:off x="1200" y="3559"/>
              <a:ext cx="26" cy="24"/>
            </a:xfrm>
            <a:custGeom>
              <a:avLst/>
              <a:gdLst>
                <a:gd name="T0" fmla="*/ 1 w 153"/>
                <a:gd name="T1" fmla="*/ 0 h 144"/>
                <a:gd name="T2" fmla="*/ 1 w 153"/>
                <a:gd name="T3" fmla="*/ 0 h 144"/>
                <a:gd name="T4" fmla="*/ 1 w 153"/>
                <a:gd name="T5" fmla="*/ 0 h 144"/>
                <a:gd name="T6" fmla="*/ 1 w 153"/>
                <a:gd name="T7" fmla="*/ 0 h 144"/>
                <a:gd name="T8" fmla="*/ 1 w 153"/>
                <a:gd name="T9" fmla="*/ 0 h 144"/>
                <a:gd name="T10" fmla="*/ 1 w 153"/>
                <a:gd name="T11" fmla="*/ 0 h 144"/>
                <a:gd name="T12" fmla="*/ 1 w 153"/>
                <a:gd name="T13" fmla="*/ 0 h 144"/>
                <a:gd name="T14" fmla="*/ 1 w 153"/>
                <a:gd name="T15" fmla="*/ 0 h 144"/>
                <a:gd name="T16" fmla="*/ 1 w 153"/>
                <a:gd name="T17" fmla="*/ 0 h 144"/>
                <a:gd name="T18" fmla="*/ 1 w 153"/>
                <a:gd name="T19" fmla="*/ 0 h 144"/>
                <a:gd name="T20" fmla="*/ 0 w 153"/>
                <a:gd name="T21" fmla="*/ 0 h 144"/>
                <a:gd name="T22" fmla="*/ 0 w 153"/>
                <a:gd name="T23" fmla="*/ 0 h 144"/>
                <a:gd name="T24" fmla="*/ 0 w 153"/>
                <a:gd name="T25" fmla="*/ 0 h 144"/>
                <a:gd name="T26" fmla="*/ 0 w 153"/>
                <a:gd name="T27" fmla="*/ 0 h 144"/>
                <a:gd name="T28" fmla="*/ 0 w 153"/>
                <a:gd name="T29" fmla="*/ 0 h 144"/>
                <a:gd name="T30" fmla="*/ 0 w 153"/>
                <a:gd name="T31" fmla="*/ 1 h 144"/>
                <a:gd name="T32" fmla="*/ 0 w 153"/>
                <a:gd name="T33" fmla="*/ 1 h 144"/>
                <a:gd name="T34" fmla="*/ 0 w 153"/>
                <a:gd name="T35" fmla="*/ 1 h 144"/>
                <a:gd name="T36" fmla="*/ 0 w 153"/>
                <a:gd name="T37" fmla="*/ 1 h 144"/>
                <a:gd name="T38" fmla="*/ 0 w 153"/>
                <a:gd name="T39" fmla="*/ 1 h 144"/>
                <a:gd name="T40" fmla="*/ 1 w 153"/>
                <a:gd name="T41" fmla="*/ 0 h 1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3"/>
                <a:gd name="T64" fmla="*/ 0 h 144"/>
                <a:gd name="T65" fmla="*/ 153 w 153"/>
                <a:gd name="T66" fmla="*/ 144 h 14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3" h="144">
                  <a:moveTo>
                    <a:pt x="135" y="93"/>
                  </a:moveTo>
                  <a:lnTo>
                    <a:pt x="141" y="88"/>
                  </a:lnTo>
                  <a:lnTo>
                    <a:pt x="147" y="81"/>
                  </a:lnTo>
                  <a:lnTo>
                    <a:pt x="152" y="74"/>
                  </a:lnTo>
                  <a:lnTo>
                    <a:pt x="153" y="66"/>
                  </a:lnTo>
                  <a:lnTo>
                    <a:pt x="153" y="15"/>
                  </a:lnTo>
                  <a:lnTo>
                    <a:pt x="152" y="7"/>
                  </a:lnTo>
                  <a:lnTo>
                    <a:pt x="147" y="3"/>
                  </a:lnTo>
                  <a:lnTo>
                    <a:pt x="141" y="0"/>
                  </a:lnTo>
                  <a:lnTo>
                    <a:pt x="135" y="2"/>
                  </a:lnTo>
                  <a:lnTo>
                    <a:pt x="17" y="48"/>
                  </a:lnTo>
                  <a:lnTo>
                    <a:pt x="10" y="52"/>
                  </a:lnTo>
                  <a:lnTo>
                    <a:pt x="6" y="58"/>
                  </a:lnTo>
                  <a:lnTo>
                    <a:pt x="1" y="66"/>
                  </a:lnTo>
                  <a:lnTo>
                    <a:pt x="0" y="74"/>
                  </a:lnTo>
                  <a:lnTo>
                    <a:pt x="0" y="132"/>
                  </a:lnTo>
                  <a:lnTo>
                    <a:pt x="1" y="139"/>
                  </a:lnTo>
                  <a:lnTo>
                    <a:pt x="6" y="143"/>
                  </a:lnTo>
                  <a:lnTo>
                    <a:pt x="10" y="144"/>
                  </a:lnTo>
                  <a:lnTo>
                    <a:pt x="17" y="143"/>
                  </a:lnTo>
                  <a:lnTo>
                    <a:pt x="135" y="9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1" name="Freeform 199"/>
            <p:cNvSpPr>
              <a:spLocks/>
            </p:cNvSpPr>
            <p:nvPr/>
          </p:nvSpPr>
          <p:spPr bwMode="auto">
            <a:xfrm>
              <a:off x="1084" y="3356"/>
              <a:ext cx="74" cy="292"/>
            </a:xfrm>
            <a:custGeom>
              <a:avLst/>
              <a:gdLst>
                <a:gd name="T0" fmla="*/ 2 w 445"/>
                <a:gd name="T1" fmla="*/ 8 h 1750"/>
                <a:gd name="T2" fmla="*/ 2 w 445"/>
                <a:gd name="T3" fmla="*/ 8 h 1750"/>
                <a:gd name="T4" fmla="*/ 2 w 445"/>
                <a:gd name="T5" fmla="*/ 8 h 1750"/>
                <a:gd name="T6" fmla="*/ 2 w 445"/>
                <a:gd name="T7" fmla="*/ 8 h 1750"/>
                <a:gd name="T8" fmla="*/ 2 w 445"/>
                <a:gd name="T9" fmla="*/ 8 h 1750"/>
                <a:gd name="T10" fmla="*/ 2 w 445"/>
                <a:gd name="T11" fmla="*/ 0 h 1750"/>
                <a:gd name="T12" fmla="*/ 2 w 445"/>
                <a:gd name="T13" fmla="*/ 0 h 1750"/>
                <a:gd name="T14" fmla="*/ 2 w 445"/>
                <a:gd name="T15" fmla="*/ 0 h 1750"/>
                <a:gd name="T16" fmla="*/ 2 w 445"/>
                <a:gd name="T17" fmla="*/ 0 h 1750"/>
                <a:gd name="T18" fmla="*/ 2 w 445"/>
                <a:gd name="T19" fmla="*/ 0 h 1750"/>
                <a:gd name="T20" fmla="*/ 2 w 445"/>
                <a:gd name="T21" fmla="*/ 0 h 1750"/>
                <a:gd name="T22" fmla="*/ 2 w 445"/>
                <a:gd name="T23" fmla="*/ 0 h 1750"/>
                <a:gd name="T24" fmla="*/ 2 w 445"/>
                <a:gd name="T25" fmla="*/ 0 h 1750"/>
                <a:gd name="T26" fmla="*/ 2 w 445"/>
                <a:gd name="T27" fmla="*/ 0 h 1750"/>
                <a:gd name="T28" fmla="*/ 2 w 445"/>
                <a:gd name="T29" fmla="*/ 0 h 1750"/>
                <a:gd name="T30" fmla="*/ 2 w 445"/>
                <a:gd name="T31" fmla="*/ 0 h 1750"/>
                <a:gd name="T32" fmla="*/ 2 w 445"/>
                <a:gd name="T33" fmla="*/ 0 h 1750"/>
                <a:gd name="T34" fmla="*/ 2 w 445"/>
                <a:gd name="T35" fmla="*/ 0 h 1750"/>
                <a:gd name="T36" fmla="*/ 2 w 445"/>
                <a:gd name="T37" fmla="*/ 0 h 1750"/>
                <a:gd name="T38" fmla="*/ 2 w 445"/>
                <a:gd name="T39" fmla="*/ 0 h 1750"/>
                <a:gd name="T40" fmla="*/ 2 w 445"/>
                <a:gd name="T41" fmla="*/ 0 h 1750"/>
                <a:gd name="T42" fmla="*/ 2 w 445"/>
                <a:gd name="T43" fmla="*/ 0 h 1750"/>
                <a:gd name="T44" fmla="*/ 1 w 445"/>
                <a:gd name="T45" fmla="*/ 0 h 1750"/>
                <a:gd name="T46" fmla="*/ 1 w 445"/>
                <a:gd name="T47" fmla="*/ 0 h 1750"/>
                <a:gd name="T48" fmla="*/ 1 w 445"/>
                <a:gd name="T49" fmla="*/ 1 h 1750"/>
                <a:gd name="T50" fmla="*/ 1 w 445"/>
                <a:gd name="T51" fmla="*/ 1 h 1750"/>
                <a:gd name="T52" fmla="*/ 1 w 445"/>
                <a:gd name="T53" fmla="*/ 1 h 1750"/>
                <a:gd name="T54" fmla="*/ 1 w 445"/>
                <a:gd name="T55" fmla="*/ 1 h 1750"/>
                <a:gd name="T56" fmla="*/ 0 w 445"/>
                <a:gd name="T57" fmla="*/ 2 h 1750"/>
                <a:gd name="T58" fmla="*/ 0 w 445"/>
                <a:gd name="T59" fmla="*/ 2 h 1750"/>
                <a:gd name="T60" fmla="*/ 0 w 445"/>
                <a:gd name="T61" fmla="*/ 2 h 1750"/>
                <a:gd name="T62" fmla="*/ 0 w 445"/>
                <a:gd name="T63" fmla="*/ 3 h 1750"/>
                <a:gd name="T64" fmla="*/ 0 w 445"/>
                <a:gd name="T65" fmla="*/ 3 h 1750"/>
                <a:gd name="T66" fmla="*/ 0 w 445"/>
                <a:gd name="T67" fmla="*/ 3 h 1750"/>
                <a:gd name="T68" fmla="*/ 0 w 445"/>
                <a:gd name="T69" fmla="*/ 4 h 1750"/>
                <a:gd name="T70" fmla="*/ 0 w 445"/>
                <a:gd name="T71" fmla="*/ 4 h 1750"/>
                <a:gd name="T72" fmla="*/ 0 w 445"/>
                <a:gd name="T73" fmla="*/ 5 h 1750"/>
                <a:gd name="T74" fmla="*/ 0 w 445"/>
                <a:gd name="T75" fmla="*/ 5 h 1750"/>
                <a:gd name="T76" fmla="*/ 0 w 445"/>
                <a:gd name="T77" fmla="*/ 6 h 1750"/>
                <a:gd name="T78" fmla="*/ 0 w 445"/>
                <a:gd name="T79" fmla="*/ 7 h 1750"/>
                <a:gd name="T80" fmla="*/ 0 w 445"/>
                <a:gd name="T81" fmla="*/ 7 h 1750"/>
                <a:gd name="T82" fmla="*/ 0 w 445"/>
                <a:gd name="T83" fmla="*/ 8 h 1750"/>
                <a:gd name="T84" fmla="*/ 0 w 445"/>
                <a:gd name="T85" fmla="*/ 8 h 1750"/>
                <a:gd name="T86" fmla="*/ 0 w 445"/>
                <a:gd name="T87" fmla="*/ 8 h 1750"/>
                <a:gd name="T88" fmla="*/ 0 w 445"/>
                <a:gd name="T89" fmla="*/ 8 h 1750"/>
                <a:gd name="T90" fmla="*/ 1 w 445"/>
                <a:gd name="T91" fmla="*/ 8 h 1750"/>
                <a:gd name="T92" fmla="*/ 1 w 445"/>
                <a:gd name="T93" fmla="*/ 8 h 1750"/>
                <a:gd name="T94" fmla="*/ 1 w 445"/>
                <a:gd name="T95" fmla="*/ 8 h 1750"/>
                <a:gd name="T96" fmla="*/ 1 w 445"/>
                <a:gd name="T97" fmla="*/ 8 h 1750"/>
                <a:gd name="T98" fmla="*/ 1 w 445"/>
                <a:gd name="T99" fmla="*/ 8 h 1750"/>
                <a:gd name="T100" fmla="*/ 1 w 445"/>
                <a:gd name="T101" fmla="*/ 8 h 1750"/>
                <a:gd name="T102" fmla="*/ 1 w 445"/>
                <a:gd name="T103" fmla="*/ 8 h 1750"/>
                <a:gd name="T104" fmla="*/ 2 w 445"/>
                <a:gd name="T105" fmla="*/ 8 h 1750"/>
                <a:gd name="T106" fmla="*/ 2 w 445"/>
                <a:gd name="T107" fmla="*/ 8 h 1750"/>
                <a:gd name="T108" fmla="*/ 2 w 445"/>
                <a:gd name="T109" fmla="*/ 8 h 1750"/>
                <a:gd name="T110" fmla="*/ 2 w 445"/>
                <a:gd name="T111" fmla="*/ 8 h 1750"/>
                <a:gd name="T112" fmla="*/ 2 w 445"/>
                <a:gd name="T113" fmla="*/ 8 h 1750"/>
                <a:gd name="T114" fmla="*/ 2 w 445"/>
                <a:gd name="T115" fmla="*/ 8 h 1750"/>
                <a:gd name="T116" fmla="*/ 2 w 445"/>
                <a:gd name="T117" fmla="*/ 8 h 1750"/>
                <a:gd name="T118" fmla="*/ 2 w 445"/>
                <a:gd name="T119" fmla="*/ 8 h 1750"/>
                <a:gd name="T120" fmla="*/ 2 w 445"/>
                <a:gd name="T121" fmla="*/ 8 h 1750"/>
                <a:gd name="T122" fmla="*/ 2 w 445"/>
                <a:gd name="T123" fmla="*/ 8 h 175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45"/>
                <a:gd name="T187" fmla="*/ 0 h 1750"/>
                <a:gd name="T188" fmla="*/ 445 w 445"/>
                <a:gd name="T189" fmla="*/ 1750 h 175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45" h="1750">
                  <a:moveTo>
                    <a:pt x="435" y="1743"/>
                  </a:moveTo>
                  <a:lnTo>
                    <a:pt x="440" y="1738"/>
                  </a:lnTo>
                  <a:lnTo>
                    <a:pt x="442" y="1732"/>
                  </a:lnTo>
                  <a:lnTo>
                    <a:pt x="444" y="1726"/>
                  </a:lnTo>
                  <a:lnTo>
                    <a:pt x="445" y="1719"/>
                  </a:lnTo>
                  <a:lnTo>
                    <a:pt x="433" y="53"/>
                  </a:lnTo>
                  <a:lnTo>
                    <a:pt x="432" y="45"/>
                  </a:lnTo>
                  <a:lnTo>
                    <a:pt x="429" y="36"/>
                  </a:lnTo>
                  <a:lnTo>
                    <a:pt x="426" y="29"/>
                  </a:lnTo>
                  <a:lnTo>
                    <a:pt x="420" y="22"/>
                  </a:lnTo>
                  <a:lnTo>
                    <a:pt x="415" y="15"/>
                  </a:lnTo>
                  <a:lnTo>
                    <a:pt x="408" y="11"/>
                  </a:lnTo>
                  <a:lnTo>
                    <a:pt x="400" y="8"/>
                  </a:lnTo>
                  <a:lnTo>
                    <a:pt x="392" y="5"/>
                  </a:lnTo>
                  <a:lnTo>
                    <a:pt x="391" y="5"/>
                  </a:lnTo>
                  <a:lnTo>
                    <a:pt x="387" y="4"/>
                  </a:lnTo>
                  <a:lnTo>
                    <a:pt x="380" y="4"/>
                  </a:lnTo>
                  <a:lnTo>
                    <a:pt x="372" y="3"/>
                  </a:lnTo>
                  <a:lnTo>
                    <a:pt x="364" y="2"/>
                  </a:lnTo>
                  <a:lnTo>
                    <a:pt x="356" y="1"/>
                  </a:lnTo>
                  <a:lnTo>
                    <a:pt x="350" y="1"/>
                  </a:lnTo>
                  <a:lnTo>
                    <a:pt x="346" y="0"/>
                  </a:lnTo>
                  <a:lnTo>
                    <a:pt x="309" y="35"/>
                  </a:lnTo>
                  <a:lnTo>
                    <a:pt x="274" y="74"/>
                  </a:lnTo>
                  <a:lnTo>
                    <a:pt x="239" y="119"/>
                  </a:lnTo>
                  <a:lnTo>
                    <a:pt x="207" y="168"/>
                  </a:lnTo>
                  <a:lnTo>
                    <a:pt x="177" y="222"/>
                  </a:lnTo>
                  <a:lnTo>
                    <a:pt x="148" y="281"/>
                  </a:lnTo>
                  <a:lnTo>
                    <a:pt x="122" y="343"/>
                  </a:lnTo>
                  <a:lnTo>
                    <a:pt x="98" y="408"/>
                  </a:lnTo>
                  <a:lnTo>
                    <a:pt x="76" y="478"/>
                  </a:lnTo>
                  <a:lnTo>
                    <a:pt x="57" y="550"/>
                  </a:lnTo>
                  <a:lnTo>
                    <a:pt x="41" y="625"/>
                  </a:lnTo>
                  <a:lnTo>
                    <a:pt x="26" y="704"/>
                  </a:lnTo>
                  <a:lnTo>
                    <a:pt x="16" y="785"/>
                  </a:lnTo>
                  <a:lnTo>
                    <a:pt x="8" y="867"/>
                  </a:lnTo>
                  <a:lnTo>
                    <a:pt x="3" y="953"/>
                  </a:lnTo>
                  <a:lnTo>
                    <a:pt x="2" y="1039"/>
                  </a:lnTo>
                  <a:lnTo>
                    <a:pt x="0" y="1228"/>
                  </a:lnTo>
                  <a:lnTo>
                    <a:pt x="0" y="1403"/>
                  </a:lnTo>
                  <a:lnTo>
                    <a:pt x="4" y="1559"/>
                  </a:lnTo>
                  <a:lnTo>
                    <a:pt x="15" y="1700"/>
                  </a:lnTo>
                  <a:lnTo>
                    <a:pt x="42" y="1703"/>
                  </a:lnTo>
                  <a:lnTo>
                    <a:pt x="72" y="1708"/>
                  </a:lnTo>
                  <a:lnTo>
                    <a:pt x="103" y="1711"/>
                  </a:lnTo>
                  <a:lnTo>
                    <a:pt x="135" y="1716"/>
                  </a:lnTo>
                  <a:lnTo>
                    <a:pt x="168" y="1720"/>
                  </a:lnTo>
                  <a:lnTo>
                    <a:pt x="200" y="1723"/>
                  </a:lnTo>
                  <a:lnTo>
                    <a:pt x="233" y="1728"/>
                  </a:lnTo>
                  <a:lnTo>
                    <a:pt x="265" y="1731"/>
                  </a:lnTo>
                  <a:lnTo>
                    <a:pt x="294" y="1736"/>
                  </a:lnTo>
                  <a:lnTo>
                    <a:pt x="321" y="1739"/>
                  </a:lnTo>
                  <a:lnTo>
                    <a:pt x="346" y="1743"/>
                  </a:lnTo>
                  <a:lnTo>
                    <a:pt x="367" y="1745"/>
                  </a:lnTo>
                  <a:lnTo>
                    <a:pt x="385" y="1747"/>
                  </a:lnTo>
                  <a:lnTo>
                    <a:pt x="399" y="1749"/>
                  </a:lnTo>
                  <a:lnTo>
                    <a:pt x="407" y="1750"/>
                  </a:lnTo>
                  <a:lnTo>
                    <a:pt x="410" y="1750"/>
                  </a:lnTo>
                  <a:lnTo>
                    <a:pt x="417" y="1750"/>
                  </a:lnTo>
                  <a:lnTo>
                    <a:pt x="424" y="1749"/>
                  </a:lnTo>
                  <a:lnTo>
                    <a:pt x="429" y="1747"/>
                  </a:lnTo>
                  <a:lnTo>
                    <a:pt x="435" y="17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2" name="Freeform 200"/>
            <p:cNvSpPr>
              <a:spLocks/>
            </p:cNvSpPr>
            <p:nvPr/>
          </p:nvSpPr>
          <p:spPr bwMode="auto">
            <a:xfrm>
              <a:off x="1065" y="3609"/>
              <a:ext cx="39" cy="28"/>
            </a:xfrm>
            <a:custGeom>
              <a:avLst/>
              <a:gdLst>
                <a:gd name="T0" fmla="*/ 1 w 235"/>
                <a:gd name="T1" fmla="*/ 1 h 172"/>
                <a:gd name="T2" fmla="*/ 1 w 235"/>
                <a:gd name="T3" fmla="*/ 1 h 172"/>
                <a:gd name="T4" fmla="*/ 1 w 235"/>
                <a:gd name="T5" fmla="*/ 1 h 172"/>
                <a:gd name="T6" fmla="*/ 1 w 235"/>
                <a:gd name="T7" fmla="*/ 1 h 172"/>
                <a:gd name="T8" fmla="*/ 1 w 235"/>
                <a:gd name="T9" fmla="*/ 1 h 172"/>
                <a:gd name="T10" fmla="*/ 1 w 235"/>
                <a:gd name="T11" fmla="*/ 0 h 172"/>
                <a:gd name="T12" fmla="*/ 1 w 235"/>
                <a:gd name="T13" fmla="*/ 0 h 172"/>
                <a:gd name="T14" fmla="*/ 1 w 235"/>
                <a:gd name="T15" fmla="*/ 0 h 172"/>
                <a:gd name="T16" fmla="*/ 1 w 235"/>
                <a:gd name="T17" fmla="*/ 0 h 172"/>
                <a:gd name="T18" fmla="*/ 1 w 235"/>
                <a:gd name="T19" fmla="*/ 0 h 172"/>
                <a:gd name="T20" fmla="*/ 0 w 235"/>
                <a:gd name="T21" fmla="*/ 0 h 172"/>
                <a:gd name="T22" fmla="*/ 0 w 235"/>
                <a:gd name="T23" fmla="*/ 0 h 172"/>
                <a:gd name="T24" fmla="*/ 0 w 235"/>
                <a:gd name="T25" fmla="*/ 0 h 172"/>
                <a:gd name="T26" fmla="*/ 0 w 235"/>
                <a:gd name="T27" fmla="*/ 0 h 172"/>
                <a:gd name="T28" fmla="*/ 0 w 235"/>
                <a:gd name="T29" fmla="*/ 0 h 172"/>
                <a:gd name="T30" fmla="*/ 0 w 235"/>
                <a:gd name="T31" fmla="*/ 0 h 172"/>
                <a:gd name="T32" fmla="*/ 0 w 235"/>
                <a:gd name="T33" fmla="*/ 1 h 172"/>
                <a:gd name="T34" fmla="*/ 0 w 235"/>
                <a:gd name="T35" fmla="*/ 1 h 172"/>
                <a:gd name="T36" fmla="*/ 0 w 235"/>
                <a:gd name="T37" fmla="*/ 1 h 172"/>
                <a:gd name="T38" fmla="*/ 0 w 235"/>
                <a:gd name="T39" fmla="*/ 1 h 172"/>
                <a:gd name="T40" fmla="*/ 1 w 235"/>
                <a:gd name="T41" fmla="*/ 1 h 1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5"/>
                <a:gd name="T64" fmla="*/ 0 h 172"/>
                <a:gd name="T65" fmla="*/ 235 w 235"/>
                <a:gd name="T66" fmla="*/ 172 h 1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5" h="172">
                  <a:moveTo>
                    <a:pt x="216" y="172"/>
                  </a:moveTo>
                  <a:lnTo>
                    <a:pt x="223" y="171"/>
                  </a:lnTo>
                  <a:lnTo>
                    <a:pt x="230" y="168"/>
                  </a:lnTo>
                  <a:lnTo>
                    <a:pt x="234" y="162"/>
                  </a:lnTo>
                  <a:lnTo>
                    <a:pt x="235" y="156"/>
                  </a:lnTo>
                  <a:lnTo>
                    <a:pt x="234" y="44"/>
                  </a:lnTo>
                  <a:lnTo>
                    <a:pt x="233" y="36"/>
                  </a:lnTo>
                  <a:lnTo>
                    <a:pt x="228" y="30"/>
                  </a:lnTo>
                  <a:lnTo>
                    <a:pt x="222" y="25"/>
                  </a:lnTo>
                  <a:lnTo>
                    <a:pt x="215" y="22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26"/>
                  </a:lnTo>
                  <a:lnTo>
                    <a:pt x="3" y="134"/>
                  </a:lnTo>
                  <a:lnTo>
                    <a:pt x="7" y="141"/>
                  </a:lnTo>
                  <a:lnTo>
                    <a:pt x="14" y="147"/>
                  </a:lnTo>
                  <a:lnTo>
                    <a:pt x="22" y="149"/>
                  </a:lnTo>
                  <a:lnTo>
                    <a:pt x="216" y="1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3" name="Freeform 201"/>
            <p:cNvSpPr>
              <a:spLocks/>
            </p:cNvSpPr>
            <p:nvPr/>
          </p:nvSpPr>
          <p:spPr bwMode="auto">
            <a:xfrm>
              <a:off x="1065" y="3610"/>
              <a:ext cx="37" cy="28"/>
            </a:xfrm>
            <a:custGeom>
              <a:avLst/>
              <a:gdLst>
                <a:gd name="T0" fmla="*/ 1 w 219"/>
                <a:gd name="T1" fmla="*/ 1 h 167"/>
                <a:gd name="T2" fmla="*/ 1 w 219"/>
                <a:gd name="T3" fmla="*/ 0 h 167"/>
                <a:gd name="T4" fmla="*/ 1 w 219"/>
                <a:gd name="T5" fmla="*/ 0 h 167"/>
                <a:gd name="T6" fmla="*/ 1 w 219"/>
                <a:gd name="T7" fmla="*/ 0 h 167"/>
                <a:gd name="T8" fmla="*/ 1 w 219"/>
                <a:gd name="T9" fmla="*/ 0 h 167"/>
                <a:gd name="T10" fmla="*/ 1 w 219"/>
                <a:gd name="T11" fmla="*/ 0 h 167"/>
                <a:gd name="T12" fmla="*/ 0 w 219"/>
                <a:gd name="T13" fmla="*/ 0 h 167"/>
                <a:gd name="T14" fmla="*/ 0 w 219"/>
                <a:gd name="T15" fmla="*/ 0 h 167"/>
                <a:gd name="T16" fmla="*/ 0 w 219"/>
                <a:gd name="T17" fmla="*/ 0 h 167"/>
                <a:gd name="T18" fmla="*/ 0 w 219"/>
                <a:gd name="T19" fmla="*/ 0 h 167"/>
                <a:gd name="T20" fmla="*/ 0 w 219"/>
                <a:gd name="T21" fmla="*/ 0 h 167"/>
                <a:gd name="T22" fmla="*/ 0 w 219"/>
                <a:gd name="T23" fmla="*/ 1 h 167"/>
                <a:gd name="T24" fmla="*/ 0 w 219"/>
                <a:gd name="T25" fmla="*/ 1 h 167"/>
                <a:gd name="T26" fmla="*/ 0 w 219"/>
                <a:gd name="T27" fmla="*/ 1 h 167"/>
                <a:gd name="T28" fmla="*/ 0 w 219"/>
                <a:gd name="T29" fmla="*/ 1 h 167"/>
                <a:gd name="T30" fmla="*/ 0 w 219"/>
                <a:gd name="T31" fmla="*/ 1 h 167"/>
                <a:gd name="T32" fmla="*/ 1 w 219"/>
                <a:gd name="T33" fmla="*/ 1 h 167"/>
                <a:gd name="T34" fmla="*/ 1 w 219"/>
                <a:gd name="T35" fmla="*/ 1 h 167"/>
                <a:gd name="T36" fmla="*/ 1 w 219"/>
                <a:gd name="T37" fmla="*/ 1 h 167"/>
                <a:gd name="T38" fmla="*/ 1 w 219"/>
                <a:gd name="T39" fmla="*/ 1 h 167"/>
                <a:gd name="T40" fmla="*/ 1 w 219"/>
                <a:gd name="T41" fmla="*/ 1 h 1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9"/>
                <a:gd name="T64" fmla="*/ 0 h 167"/>
                <a:gd name="T65" fmla="*/ 219 w 219"/>
                <a:gd name="T66" fmla="*/ 167 h 1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9" h="167">
                  <a:moveTo>
                    <a:pt x="219" y="152"/>
                  </a:moveTo>
                  <a:lnTo>
                    <a:pt x="219" y="41"/>
                  </a:lnTo>
                  <a:lnTo>
                    <a:pt x="218" y="33"/>
                  </a:lnTo>
                  <a:lnTo>
                    <a:pt x="213" y="26"/>
                  </a:lnTo>
                  <a:lnTo>
                    <a:pt x="206" y="22"/>
                  </a:lnTo>
                  <a:lnTo>
                    <a:pt x="199" y="2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6"/>
                  </a:lnTo>
                  <a:lnTo>
                    <a:pt x="1" y="123"/>
                  </a:lnTo>
                  <a:lnTo>
                    <a:pt x="2" y="131"/>
                  </a:lnTo>
                  <a:lnTo>
                    <a:pt x="7" y="138"/>
                  </a:lnTo>
                  <a:lnTo>
                    <a:pt x="13" y="143"/>
                  </a:lnTo>
                  <a:lnTo>
                    <a:pt x="21" y="146"/>
                  </a:lnTo>
                  <a:lnTo>
                    <a:pt x="188" y="167"/>
                  </a:lnTo>
                  <a:lnTo>
                    <a:pt x="197" y="167"/>
                  </a:lnTo>
                  <a:lnTo>
                    <a:pt x="208" y="166"/>
                  </a:lnTo>
                  <a:lnTo>
                    <a:pt x="215" y="161"/>
                  </a:lnTo>
                  <a:lnTo>
                    <a:pt x="219" y="152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4" name="Freeform 202"/>
            <p:cNvSpPr>
              <a:spLocks/>
            </p:cNvSpPr>
            <p:nvPr/>
          </p:nvSpPr>
          <p:spPr bwMode="auto">
            <a:xfrm>
              <a:off x="1065" y="3612"/>
              <a:ext cx="35" cy="26"/>
            </a:xfrm>
            <a:custGeom>
              <a:avLst/>
              <a:gdLst>
                <a:gd name="T0" fmla="*/ 1 w 208"/>
                <a:gd name="T1" fmla="*/ 1 h 159"/>
                <a:gd name="T2" fmla="*/ 1 w 208"/>
                <a:gd name="T3" fmla="*/ 1 h 159"/>
                <a:gd name="T4" fmla="*/ 1 w 208"/>
                <a:gd name="T5" fmla="*/ 1 h 159"/>
                <a:gd name="T6" fmla="*/ 1 w 208"/>
                <a:gd name="T7" fmla="*/ 1 h 159"/>
                <a:gd name="T8" fmla="*/ 1 w 208"/>
                <a:gd name="T9" fmla="*/ 1 h 159"/>
                <a:gd name="T10" fmla="*/ 1 w 208"/>
                <a:gd name="T11" fmla="*/ 0 h 159"/>
                <a:gd name="T12" fmla="*/ 1 w 208"/>
                <a:gd name="T13" fmla="*/ 0 h 159"/>
                <a:gd name="T14" fmla="*/ 1 w 208"/>
                <a:gd name="T15" fmla="*/ 0 h 159"/>
                <a:gd name="T16" fmla="*/ 1 w 208"/>
                <a:gd name="T17" fmla="*/ 0 h 159"/>
                <a:gd name="T18" fmla="*/ 1 w 208"/>
                <a:gd name="T19" fmla="*/ 0 h 159"/>
                <a:gd name="T20" fmla="*/ 0 w 208"/>
                <a:gd name="T21" fmla="*/ 0 h 159"/>
                <a:gd name="T22" fmla="*/ 0 w 208"/>
                <a:gd name="T23" fmla="*/ 0 h 159"/>
                <a:gd name="T24" fmla="*/ 0 w 208"/>
                <a:gd name="T25" fmla="*/ 0 h 159"/>
                <a:gd name="T26" fmla="*/ 0 w 208"/>
                <a:gd name="T27" fmla="*/ 0 h 159"/>
                <a:gd name="T28" fmla="*/ 0 w 208"/>
                <a:gd name="T29" fmla="*/ 0 h 159"/>
                <a:gd name="T30" fmla="*/ 0 w 208"/>
                <a:gd name="T31" fmla="*/ 0 h 159"/>
                <a:gd name="T32" fmla="*/ 0 w 208"/>
                <a:gd name="T33" fmla="*/ 0 h 159"/>
                <a:gd name="T34" fmla="*/ 0 w 208"/>
                <a:gd name="T35" fmla="*/ 0 h 159"/>
                <a:gd name="T36" fmla="*/ 0 w 208"/>
                <a:gd name="T37" fmla="*/ 1 h 159"/>
                <a:gd name="T38" fmla="*/ 0 w 208"/>
                <a:gd name="T39" fmla="*/ 1 h 159"/>
                <a:gd name="T40" fmla="*/ 1 w 208"/>
                <a:gd name="T41" fmla="*/ 1 h 15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8"/>
                <a:gd name="T64" fmla="*/ 0 h 159"/>
                <a:gd name="T65" fmla="*/ 208 w 208"/>
                <a:gd name="T66" fmla="*/ 159 h 15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8" h="159">
                  <a:moveTo>
                    <a:pt x="188" y="159"/>
                  </a:moveTo>
                  <a:lnTo>
                    <a:pt x="196" y="158"/>
                  </a:lnTo>
                  <a:lnTo>
                    <a:pt x="203" y="154"/>
                  </a:lnTo>
                  <a:lnTo>
                    <a:pt x="206" y="149"/>
                  </a:lnTo>
                  <a:lnTo>
                    <a:pt x="208" y="142"/>
                  </a:lnTo>
                  <a:lnTo>
                    <a:pt x="208" y="42"/>
                  </a:lnTo>
                  <a:lnTo>
                    <a:pt x="206" y="34"/>
                  </a:lnTo>
                  <a:lnTo>
                    <a:pt x="202" y="27"/>
                  </a:lnTo>
                  <a:lnTo>
                    <a:pt x="195" y="22"/>
                  </a:lnTo>
                  <a:lnTo>
                    <a:pt x="187" y="19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15"/>
                  </a:lnTo>
                  <a:lnTo>
                    <a:pt x="2" y="123"/>
                  </a:lnTo>
                  <a:lnTo>
                    <a:pt x="7" y="130"/>
                  </a:lnTo>
                  <a:lnTo>
                    <a:pt x="13" y="135"/>
                  </a:lnTo>
                  <a:lnTo>
                    <a:pt x="21" y="138"/>
                  </a:lnTo>
                  <a:lnTo>
                    <a:pt x="188" y="15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5" name="Freeform 203"/>
            <p:cNvSpPr>
              <a:spLocks/>
            </p:cNvSpPr>
            <p:nvPr/>
          </p:nvSpPr>
          <p:spPr bwMode="auto">
            <a:xfrm>
              <a:off x="1130" y="3302"/>
              <a:ext cx="124" cy="349"/>
            </a:xfrm>
            <a:custGeom>
              <a:avLst/>
              <a:gdLst>
                <a:gd name="T0" fmla="*/ 0 w 746"/>
                <a:gd name="T1" fmla="*/ 1 h 2092"/>
                <a:gd name="T2" fmla="*/ 3 w 746"/>
                <a:gd name="T3" fmla="*/ 0 h 2092"/>
                <a:gd name="T4" fmla="*/ 3 w 746"/>
                <a:gd name="T5" fmla="*/ 0 h 2092"/>
                <a:gd name="T6" fmla="*/ 0 w 746"/>
                <a:gd name="T7" fmla="*/ 1 h 2092"/>
                <a:gd name="T8" fmla="*/ 0 w 746"/>
                <a:gd name="T9" fmla="*/ 2 h 2092"/>
                <a:gd name="T10" fmla="*/ 0 w 746"/>
                <a:gd name="T11" fmla="*/ 10 h 2092"/>
                <a:gd name="T12" fmla="*/ 0 w 746"/>
                <a:gd name="T13" fmla="*/ 10 h 2092"/>
                <a:gd name="T14" fmla="*/ 0 w 746"/>
                <a:gd name="T15" fmla="*/ 10 h 2092"/>
                <a:gd name="T16" fmla="*/ 0 w 746"/>
                <a:gd name="T17" fmla="*/ 10 h 2092"/>
                <a:gd name="T18" fmla="*/ 0 w 746"/>
                <a:gd name="T19" fmla="*/ 2 h 2092"/>
                <a:gd name="T20" fmla="*/ 0 w 746"/>
                <a:gd name="T21" fmla="*/ 1 h 20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46"/>
                <a:gd name="T34" fmla="*/ 0 h 2092"/>
                <a:gd name="T35" fmla="*/ 746 w 746"/>
                <a:gd name="T36" fmla="*/ 2092 h 209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46" h="2092">
                  <a:moveTo>
                    <a:pt x="106" y="290"/>
                  </a:moveTo>
                  <a:lnTo>
                    <a:pt x="746" y="0"/>
                  </a:lnTo>
                  <a:lnTo>
                    <a:pt x="662" y="1"/>
                  </a:lnTo>
                  <a:lnTo>
                    <a:pt x="22" y="274"/>
                  </a:lnTo>
                  <a:lnTo>
                    <a:pt x="0" y="311"/>
                  </a:lnTo>
                  <a:lnTo>
                    <a:pt x="0" y="2052"/>
                  </a:lnTo>
                  <a:lnTo>
                    <a:pt x="17" y="2080"/>
                  </a:lnTo>
                  <a:lnTo>
                    <a:pt x="112" y="2092"/>
                  </a:lnTo>
                  <a:lnTo>
                    <a:pt x="96" y="2071"/>
                  </a:lnTo>
                  <a:lnTo>
                    <a:pt x="85" y="323"/>
                  </a:lnTo>
                  <a:lnTo>
                    <a:pt x="106" y="2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6" name="Freeform 204"/>
            <p:cNvSpPr>
              <a:spLocks/>
            </p:cNvSpPr>
            <p:nvPr/>
          </p:nvSpPr>
          <p:spPr bwMode="auto">
            <a:xfrm>
              <a:off x="1124" y="3300"/>
              <a:ext cx="130" cy="344"/>
            </a:xfrm>
            <a:custGeom>
              <a:avLst/>
              <a:gdLst>
                <a:gd name="T0" fmla="*/ 3 w 781"/>
                <a:gd name="T1" fmla="*/ 0 h 2066"/>
                <a:gd name="T2" fmla="*/ 4 w 781"/>
                <a:gd name="T3" fmla="*/ 0 h 2066"/>
                <a:gd name="T4" fmla="*/ 3 w 781"/>
                <a:gd name="T5" fmla="*/ 0 h 2066"/>
                <a:gd name="T6" fmla="*/ 0 w 781"/>
                <a:gd name="T7" fmla="*/ 1 h 2066"/>
                <a:gd name="T8" fmla="*/ 0 w 781"/>
                <a:gd name="T9" fmla="*/ 1 h 2066"/>
                <a:gd name="T10" fmla="*/ 0 w 781"/>
                <a:gd name="T11" fmla="*/ 9 h 2066"/>
                <a:gd name="T12" fmla="*/ 0 w 781"/>
                <a:gd name="T13" fmla="*/ 9 h 2066"/>
                <a:gd name="T14" fmla="*/ 0 w 781"/>
                <a:gd name="T15" fmla="*/ 1 h 2066"/>
                <a:gd name="T16" fmla="*/ 0 w 781"/>
                <a:gd name="T17" fmla="*/ 1 h 2066"/>
                <a:gd name="T18" fmla="*/ 3 w 781"/>
                <a:gd name="T19" fmla="*/ 0 h 2066"/>
                <a:gd name="T20" fmla="*/ 3 w 781"/>
                <a:gd name="T21" fmla="*/ 0 h 20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81"/>
                <a:gd name="T34" fmla="*/ 0 h 2066"/>
                <a:gd name="T35" fmla="*/ 781 w 781"/>
                <a:gd name="T36" fmla="*/ 2066 h 20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81" h="2066">
                  <a:moveTo>
                    <a:pt x="758" y="24"/>
                  </a:moveTo>
                  <a:lnTo>
                    <a:pt x="781" y="14"/>
                  </a:lnTo>
                  <a:lnTo>
                    <a:pt x="686" y="0"/>
                  </a:lnTo>
                  <a:lnTo>
                    <a:pt x="23" y="280"/>
                  </a:lnTo>
                  <a:lnTo>
                    <a:pt x="0" y="315"/>
                  </a:lnTo>
                  <a:lnTo>
                    <a:pt x="9" y="2055"/>
                  </a:lnTo>
                  <a:lnTo>
                    <a:pt x="35" y="2066"/>
                  </a:lnTo>
                  <a:lnTo>
                    <a:pt x="35" y="325"/>
                  </a:lnTo>
                  <a:lnTo>
                    <a:pt x="57" y="288"/>
                  </a:lnTo>
                  <a:lnTo>
                    <a:pt x="697" y="15"/>
                  </a:lnTo>
                  <a:lnTo>
                    <a:pt x="758" y="2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7" name="Freeform 205"/>
            <p:cNvSpPr>
              <a:spLocks/>
            </p:cNvSpPr>
            <p:nvPr/>
          </p:nvSpPr>
          <p:spPr bwMode="auto">
            <a:xfrm>
              <a:off x="1126" y="3373"/>
              <a:ext cx="16" cy="27"/>
            </a:xfrm>
            <a:custGeom>
              <a:avLst/>
              <a:gdLst>
                <a:gd name="T0" fmla="*/ 0 w 97"/>
                <a:gd name="T1" fmla="*/ 1 h 162"/>
                <a:gd name="T2" fmla="*/ 0 w 97"/>
                <a:gd name="T3" fmla="*/ 1 h 162"/>
                <a:gd name="T4" fmla="*/ 0 w 97"/>
                <a:gd name="T5" fmla="*/ 0 h 162"/>
                <a:gd name="T6" fmla="*/ 0 w 97"/>
                <a:gd name="T7" fmla="*/ 0 h 162"/>
                <a:gd name="T8" fmla="*/ 0 w 97"/>
                <a:gd name="T9" fmla="*/ 0 h 162"/>
                <a:gd name="T10" fmla="*/ 0 w 97"/>
                <a:gd name="T11" fmla="*/ 1 h 162"/>
                <a:gd name="T12" fmla="*/ 0 w 97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2"/>
                <a:gd name="T23" fmla="*/ 97 w 97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2">
                  <a:moveTo>
                    <a:pt x="80" y="162"/>
                  </a:moveTo>
                  <a:lnTo>
                    <a:pt x="97" y="151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39"/>
                  </a:lnTo>
                  <a:lnTo>
                    <a:pt x="80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8" name="Freeform 206"/>
            <p:cNvSpPr>
              <a:spLocks/>
            </p:cNvSpPr>
            <p:nvPr/>
          </p:nvSpPr>
          <p:spPr bwMode="auto">
            <a:xfrm>
              <a:off x="1126" y="3418"/>
              <a:ext cx="16" cy="28"/>
            </a:xfrm>
            <a:custGeom>
              <a:avLst/>
              <a:gdLst>
                <a:gd name="T0" fmla="*/ 0 w 97"/>
                <a:gd name="T1" fmla="*/ 1 h 164"/>
                <a:gd name="T2" fmla="*/ 0 w 97"/>
                <a:gd name="T3" fmla="*/ 1 h 164"/>
                <a:gd name="T4" fmla="*/ 0 w 97"/>
                <a:gd name="T5" fmla="*/ 0 h 164"/>
                <a:gd name="T6" fmla="*/ 0 w 97"/>
                <a:gd name="T7" fmla="*/ 0 h 164"/>
                <a:gd name="T8" fmla="*/ 0 w 97"/>
                <a:gd name="T9" fmla="*/ 0 h 164"/>
                <a:gd name="T10" fmla="*/ 0 w 97"/>
                <a:gd name="T11" fmla="*/ 1 h 164"/>
                <a:gd name="T12" fmla="*/ 0 w 97"/>
                <a:gd name="T13" fmla="*/ 1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4"/>
                <a:gd name="T23" fmla="*/ 97 w 9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4">
                  <a:moveTo>
                    <a:pt x="80" y="164"/>
                  </a:moveTo>
                  <a:lnTo>
                    <a:pt x="97" y="152"/>
                  </a:lnTo>
                  <a:lnTo>
                    <a:pt x="96" y="12"/>
                  </a:lnTo>
                  <a:lnTo>
                    <a:pt x="17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9" name="Freeform 207"/>
            <p:cNvSpPr>
              <a:spLocks/>
            </p:cNvSpPr>
            <p:nvPr/>
          </p:nvSpPr>
          <p:spPr bwMode="auto">
            <a:xfrm>
              <a:off x="1126" y="3464"/>
              <a:ext cx="16" cy="27"/>
            </a:xfrm>
            <a:custGeom>
              <a:avLst/>
              <a:gdLst>
                <a:gd name="T0" fmla="*/ 0 w 98"/>
                <a:gd name="T1" fmla="*/ 1 h 162"/>
                <a:gd name="T2" fmla="*/ 0 w 98"/>
                <a:gd name="T3" fmla="*/ 1 h 162"/>
                <a:gd name="T4" fmla="*/ 0 w 98"/>
                <a:gd name="T5" fmla="*/ 0 h 162"/>
                <a:gd name="T6" fmla="*/ 0 w 98"/>
                <a:gd name="T7" fmla="*/ 0 h 162"/>
                <a:gd name="T8" fmla="*/ 0 w 98"/>
                <a:gd name="T9" fmla="*/ 0 h 162"/>
                <a:gd name="T10" fmla="*/ 0 w 98"/>
                <a:gd name="T11" fmla="*/ 1 h 162"/>
                <a:gd name="T12" fmla="*/ 0 w 98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"/>
                <a:gd name="T22" fmla="*/ 0 h 162"/>
                <a:gd name="T23" fmla="*/ 98 w 98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" h="162">
                  <a:moveTo>
                    <a:pt x="81" y="162"/>
                  </a:moveTo>
                  <a:lnTo>
                    <a:pt x="98" y="151"/>
                  </a:lnTo>
                  <a:lnTo>
                    <a:pt x="96" y="10"/>
                  </a:lnTo>
                  <a:lnTo>
                    <a:pt x="17" y="0"/>
                  </a:lnTo>
                  <a:lnTo>
                    <a:pt x="0" y="11"/>
                  </a:lnTo>
                  <a:lnTo>
                    <a:pt x="19" y="140"/>
                  </a:lnTo>
                  <a:lnTo>
                    <a:pt x="81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0" name="Freeform 208"/>
            <p:cNvSpPr>
              <a:spLocks/>
            </p:cNvSpPr>
            <p:nvPr/>
          </p:nvSpPr>
          <p:spPr bwMode="auto">
            <a:xfrm>
              <a:off x="1127" y="3510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40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1" name="Freeform 209"/>
            <p:cNvSpPr>
              <a:spLocks/>
            </p:cNvSpPr>
            <p:nvPr/>
          </p:nvSpPr>
          <p:spPr bwMode="auto">
            <a:xfrm>
              <a:off x="1127" y="3556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2"/>
                  </a:lnTo>
                  <a:lnTo>
                    <a:pt x="16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2" name="Freeform 210"/>
            <p:cNvSpPr>
              <a:spLocks/>
            </p:cNvSpPr>
            <p:nvPr/>
          </p:nvSpPr>
          <p:spPr bwMode="auto">
            <a:xfrm>
              <a:off x="1126" y="3375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3" name="Freeform 211"/>
            <p:cNvSpPr>
              <a:spLocks/>
            </p:cNvSpPr>
            <p:nvPr/>
          </p:nvSpPr>
          <p:spPr bwMode="auto">
            <a:xfrm>
              <a:off x="1126" y="3420"/>
              <a:ext cx="13" cy="26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80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4" name="Freeform 212"/>
            <p:cNvSpPr>
              <a:spLocks/>
            </p:cNvSpPr>
            <p:nvPr/>
          </p:nvSpPr>
          <p:spPr bwMode="auto">
            <a:xfrm>
              <a:off x="1126" y="3466"/>
              <a:ext cx="14" cy="25"/>
            </a:xfrm>
            <a:custGeom>
              <a:avLst/>
              <a:gdLst>
                <a:gd name="T0" fmla="*/ 0 w 81"/>
                <a:gd name="T1" fmla="*/ 1 h 151"/>
                <a:gd name="T2" fmla="*/ 0 w 81"/>
                <a:gd name="T3" fmla="*/ 0 h 151"/>
                <a:gd name="T4" fmla="*/ 0 w 81"/>
                <a:gd name="T5" fmla="*/ 0 h 151"/>
                <a:gd name="T6" fmla="*/ 0 w 81"/>
                <a:gd name="T7" fmla="*/ 1 h 151"/>
                <a:gd name="T8" fmla="*/ 0 w 81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151"/>
                <a:gd name="T17" fmla="*/ 81 w 81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151">
                  <a:moveTo>
                    <a:pt x="81" y="151"/>
                  </a:moveTo>
                  <a:lnTo>
                    <a:pt x="81" y="10"/>
                  </a:lnTo>
                  <a:lnTo>
                    <a:pt x="0" y="0"/>
                  </a:lnTo>
                  <a:lnTo>
                    <a:pt x="2" y="141"/>
                  </a:lnTo>
                  <a:lnTo>
                    <a:pt x="81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5" name="Freeform 213"/>
            <p:cNvSpPr>
              <a:spLocks/>
            </p:cNvSpPr>
            <p:nvPr/>
          </p:nvSpPr>
          <p:spPr bwMode="auto">
            <a:xfrm>
              <a:off x="1127" y="3512"/>
              <a:ext cx="13" cy="25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1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6" name="Freeform 214"/>
            <p:cNvSpPr>
              <a:spLocks/>
            </p:cNvSpPr>
            <p:nvPr/>
          </p:nvSpPr>
          <p:spPr bwMode="auto">
            <a:xfrm>
              <a:off x="1127" y="3558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7" name="Freeform 215"/>
            <p:cNvSpPr>
              <a:spLocks/>
            </p:cNvSpPr>
            <p:nvPr/>
          </p:nvSpPr>
          <p:spPr bwMode="auto">
            <a:xfrm>
              <a:off x="1127" y="3377"/>
              <a:ext cx="11" cy="19"/>
            </a:xfrm>
            <a:custGeom>
              <a:avLst/>
              <a:gdLst>
                <a:gd name="T0" fmla="*/ 0 w 65"/>
                <a:gd name="T1" fmla="*/ 0 h 117"/>
                <a:gd name="T2" fmla="*/ 0 w 65"/>
                <a:gd name="T3" fmla="*/ 0 h 117"/>
                <a:gd name="T4" fmla="*/ 0 w 65"/>
                <a:gd name="T5" fmla="*/ 0 h 117"/>
                <a:gd name="T6" fmla="*/ 0 w 65"/>
                <a:gd name="T7" fmla="*/ 0 h 117"/>
                <a:gd name="T8" fmla="*/ 0 w 65"/>
                <a:gd name="T9" fmla="*/ 0 h 117"/>
                <a:gd name="T10" fmla="*/ 0 w 65"/>
                <a:gd name="T11" fmla="*/ 0 h 117"/>
                <a:gd name="T12" fmla="*/ 0 w 6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7"/>
                <a:gd name="T23" fmla="*/ 65 w 65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7">
                  <a:moveTo>
                    <a:pt x="65" y="40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3"/>
                  </a:lnTo>
                  <a:lnTo>
                    <a:pt x="26" y="117"/>
                  </a:lnTo>
                  <a:lnTo>
                    <a:pt x="26" y="30"/>
                  </a:lnTo>
                  <a:lnTo>
                    <a:pt x="65" y="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8" name="Freeform 216"/>
            <p:cNvSpPr>
              <a:spLocks/>
            </p:cNvSpPr>
            <p:nvPr/>
          </p:nvSpPr>
          <p:spPr bwMode="auto">
            <a:xfrm>
              <a:off x="1127" y="3423"/>
              <a:ext cx="11" cy="19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0 h 118"/>
                <a:gd name="T8" fmla="*/ 0 w 65"/>
                <a:gd name="T9" fmla="*/ 0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5"/>
                  </a:lnTo>
                  <a:lnTo>
                    <a:pt x="25" y="118"/>
                  </a:lnTo>
                  <a:lnTo>
                    <a:pt x="25" y="31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9" name="Freeform 217"/>
            <p:cNvSpPr>
              <a:spLocks/>
            </p:cNvSpPr>
            <p:nvPr/>
          </p:nvSpPr>
          <p:spPr bwMode="auto">
            <a:xfrm>
              <a:off x="1128" y="3468"/>
              <a:ext cx="10" cy="20"/>
            </a:xfrm>
            <a:custGeom>
              <a:avLst/>
              <a:gdLst>
                <a:gd name="T0" fmla="*/ 0 w 66"/>
                <a:gd name="T1" fmla="*/ 0 h 119"/>
                <a:gd name="T2" fmla="*/ 0 w 66"/>
                <a:gd name="T3" fmla="*/ 0 h 119"/>
                <a:gd name="T4" fmla="*/ 0 w 66"/>
                <a:gd name="T5" fmla="*/ 0 h 119"/>
                <a:gd name="T6" fmla="*/ 0 w 66"/>
                <a:gd name="T7" fmla="*/ 1 h 119"/>
                <a:gd name="T8" fmla="*/ 0 w 66"/>
                <a:gd name="T9" fmla="*/ 1 h 119"/>
                <a:gd name="T10" fmla="*/ 0 w 66"/>
                <a:gd name="T11" fmla="*/ 0 h 119"/>
                <a:gd name="T12" fmla="*/ 0 w 66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"/>
                <a:gd name="T22" fmla="*/ 0 h 119"/>
                <a:gd name="T23" fmla="*/ 66 w 6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" h="119">
                  <a:moveTo>
                    <a:pt x="66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25" y="119"/>
                  </a:lnTo>
                  <a:lnTo>
                    <a:pt x="25" y="31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0" name="Freeform 218"/>
            <p:cNvSpPr>
              <a:spLocks/>
            </p:cNvSpPr>
            <p:nvPr/>
          </p:nvSpPr>
          <p:spPr bwMode="auto">
            <a:xfrm>
              <a:off x="1128" y="3514"/>
              <a:ext cx="11" cy="20"/>
            </a:xfrm>
            <a:custGeom>
              <a:avLst/>
              <a:gdLst>
                <a:gd name="T0" fmla="*/ 0 w 65"/>
                <a:gd name="T1" fmla="*/ 0 h 119"/>
                <a:gd name="T2" fmla="*/ 0 w 65"/>
                <a:gd name="T3" fmla="*/ 0 h 119"/>
                <a:gd name="T4" fmla="*/ 0 w 65"/>
                <a:gd name="T5" fmla="*/ 0 h 119"/>
                <a:gd name="T6" fmla="*/ 0 w 65"/>
                <a:gd name="T7" fmla="*/ 1 h 119"/>
                <a:gd name="T8" fmla="*/ 0 w 65"/>
                <a:gd name="T9" fmla="*/ 1 h 119"/>
                <a:gd name="T10" fmla="*/ 0 w 65"/>
                <a:gd name="T11" fmla="*/ 0 h 119"/>
                <a:gd name="T12" fmla="*/ 0 w 65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9"/>
                <a:gd name="T23" fmla="*/ 65 w 65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9">
                  <a:moveTo>
                    <a:pt x="65" y="43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5" y="119"/>
                  </a:lnTo>
                  <a:lnTo>
                    <a:pt x="24" y="32"/>
                  </a:lnTo>
                  <a:lnTo>
                    <a:pt x="65" y="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1" name="Freeform 219"/>
            <p:cNvSpPr>
              <a:spLocks/>
            </p:cNvSpPr>
            <p:nvPr/>
          </p:nvSpPr>
          <p:spPr bwMode="auto">
            <a:xfrm>
              <a:off x="1128" y="3560"/>
              <a:ext cx="11" cy="20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1 h 118"/>
                <a:gd name="T8" fmla="*/ 0 w 65"/>
                <a:gd name="T9" fmla="*/ 1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6" y="118"/>
                  </a:lnTo>
                  <a:lnTo>
                    <a:pt x="26" y="32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2" name="Freeform 220"/>
            <p:cNvSpPr>
              <a:spLocks/>
            </p:cNvSpPr>
            <p:nvPr/>
          </p:nvSpPr>
          <p:spPr bwMode="auto">
            <a:xfrm>
              <a:off x="1132" y="3383"/>
              <a:ext cx="6" cy="15"/>
            </a:xfrm>
            <a:custGeom>
              <a:avLst/>
              <a:gdLst>
                <a:gd name="T0" fmla="*/ 0 w 41"/>
                <a:gd name="T1" fmla="*/ 0 h 93"/>
                <a:gd name="T2" fmla="*/ 0 w 41"/>
                <a:gd name="T3" fmla="*/ 0 h 93"/>
                <a:gd name="T4" fmla="*/ 0 w 41"/>
                <a:gd name="T5" fmla="*/ 0 h 93"/>
                <a:gd name="T6" fmla="*/ 0 w 41"/>
                <a:gd name="T7" fmla="*/ 0 h 93"/>
                <a:gd name="T8" fmla="*/ 0 w 41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3"/>
                <a:gd name="T17" fmla="*/ 41 w 41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3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3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3" name="Freeform 221"/>
            <p:cNvSpPr>
              <a:spLocks/>
            </p:cNvSpPr>
            <p:nvPr/>
          </p:nvSpPr>
          <p:spPr bwMode="auto">
            <a:xfrm>
              <a:off x="1132" y="3428"/>
              <a:ext cx="7" cy="16"/>
            </a:xfrm>
            <a:custGeom>
              <a:avLst/>
              <a:gdLst>
                <a:gd name="T0" fmla="*/ 0 w 41"/>
                <a:gd name="T1" fmla="*/ 0 h 92"/>
                <a:gd name="T2" fmla="*/ 0 w 41"/>
                <a:gd name="T3" fmla="*/ 0 h 92"/>
                <a:gd name="T4" fmla="*/ 0 w 41"/>
                <a:gd name="T5" fmla="*/ 1 h 92"/>
                <a:gd name="T6" fmla="*/ 0 w 41"/>
                <a:gd name="T7" fmla="*/ 1 h 92"/>
                <a:gd name="T8" fmla="*/ 0 w 41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2"/>
                <a:gd name="T17" fmla="*/ 41 w 41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2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2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4" name="Freeform 222"/>
            <p:cNvSpPr>
              <a:spLocks/>
            </p:cNvSpPr>
            <p:nvPr/>
          </p:nvSpPr>
          <p:spPr bwMode="auto">
            <a:xfrm>
              <a:off x="1132" y="3474"/>
              <a:ext cx="7" cy="16"/>
            </a:xfrm>
            <a:custGeom>
              <a:avLst/>
              <a:gdLst>
                <a:gd name="T0" fmla="*/ 0 w 39"/>
                <a:gd name="T1" fmla="*/ 0 h 92"/>
                <a:gd name="T2" fmla="*/ 0 w 39"/>
                <a:gd name="T3" fmla="*/ 0 h 92"/>
                <a:gd name="T4" fmla="*/ 0 w 39"/>
                <a:gd name="T5" fmla="*/ 1 h 92"/>
                <a:gd name="T6" fmla="*/ 0 w 39"/>
                <a:gd name="T7" fmla="*/ 1 h 92"/>
                <a:gd name="T8" fmla="*/ 0 w 39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92"/>
                <a:gd name="T17" fmla="*/ 39 w 39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92">
                  <a:moveTo>
                    <a:pt x="39" y="1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39" y="92"/>
                  </a:lnTo>
                  <a:lnTo>
                    <a:pt x="39" y="1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5" name="Freeform 223"/>
            <p:cNvSpPr>
              <a:spLocks/>
            </p:cNvSpPr>
            <p:nvPr/>
          </p:nvSpPr>
          <p:spPr bwMode="auto">
            <a:xfrm>
              <a:off x="1132" y="3520"/>
              <a:ext cx="7" cy="16"/>
            </a:xfrm>
            <a:custGeom>
              <a:avLst/>
              <a:gdLst>
                <a:gd name="T0" fmla="*/ 0 w 40"/>
                <a:gd name="T1" fmla="*/ 0 h 94"/>
                <a:gd name="T2" fmla="*/ 0 w 40"/>
                <a:gd name="T3" fmla="*/ 0 h 94"/>
                <a:gd name="T4" fmla="*/ 0 w 40"/>
                <a:gd name="T5" fmla="*/ 1 h 94"/>
                <a:gd name="T6" fmla="*/ 0 w 40"/>
                <a:gd name="T7" fmla="*/ 1 h 94"/>
                <a:gd name="T8" fmla="*/ 0 w 4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4"/>
                <a:gd name="T17" fmla="*/ 40 w 40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4">
                  <a:moveTo>
                    <a:pt x="39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4"/>
                  </a:lnTo>
                  <a:lnTo>
                    <a:pt x="39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6" name="Freeform 224"/>
            <p:cNvSpPr>
              <a:spLocks/>
            </p:cNvSpPr>
            <p:nvPr/>
          </p:nvSpPr>
          <p:spPr bwMode="auto">
            <a:xfrm>
              <a:off x="1133" y="3566"/>
              <a:ext cx="6" cy="16"/>
            </a:xfrm>
            <a:custGeom>
              <a:avLst/>
              <a:gdLst>
                <a:gd name="T0" fmla="*/ 0 w 40"/>
                <a:gd name="T1" fmla="*/ 0 h 93"/>
                <a:gd name="T2" fmla="*/ 0 w 40"/>
                <a:gd name="T3" fmla="*/ 0 h 93"/>
                <a:gd name="T4" fmla="*/ 0 w 40"/>
                <a:gd name="T5" fmla="*/ 1 h 93"/>
                <a:gd name="T6" fmla="*/ 0 w 40"/>
                <a:gd name="T7" fmla="*/ 1 h 93"/>
                <a:gd name="T8" fmla="*/ 0 w 40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3"/>
                <a:gd name="T17" fmla="*/ 40 w 40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3">
                  <a:moveTo>
                    <a:pt x="40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3"/>
                  </a:lnTo>
                  <a:lnTo>
                    <a:pt x="40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7" name="Freeform 225"/>
            <p:cNvSpPr>
              <a:spLocks/>
            </p:cNvSpPr>
            <p:nvPr/>
          </p:nvSpPr>
          <p:spPr bwMode="auto">
            <a:xfrm>
              <a:off x="1126" y="3588"/>
              <a:ext cx="19" cy="66"/>
            </a:xfrm>
            <a:custGeom>
              <a:avLst/>
              <a:gdLst>
                <a:gd name="T0" fmla="*/ 0 w 115"/>
                <a:gd name="T1" fmla="*/ 0 h 390"/>
                <a:gd name="T2" fmla="*/ 0 w 115"/>
                <a:gd name="T3" fmla="*/ 0 h 390"/>
                <a:gd name="T4" fmla="*/ 0 w 115"/>
                <a:gd name="T5" fmla="*/ 0 h 390"/>
                <a:gd name="T6" fmla="*/ 0 w 115"/>
                <a:gd name="T7" fmla="*/ 0 h 390"/>
                <a:gd name="T8" fmla="*/ 0 w 115"/>
                <a:gd name="T9" fmla="*/ 0 h 390"/>
                <a:gd name="T10" fmla="*/ 0 w 115"/>
                <a:gd name="T11" fmla="*/ 0 h 390"/>
                <a:gd name="T12" fmla="*/ 0 w 115"/>
                <a:gd name="T13" fmla="*/ 0 h 390"/>
                <a:gd name="T14" fmla="*/ 0 w 115"/>
                <a:gd name="T15" fmla="*/ 0 h 390"/>
                <a:gd name="T16" fmla="*/ 0 w 115"/>
                <a:gd name="T17" fmla="*/ 0 h 390"/>
                <a:gd name="T18" fmla="*/ 0 w 115"/>
                <a:gd name="T19" fmla="*/ 0 h 390"/>
                <a:gd name="T20" fmla="*/ 0 w 115"/>
                <a:gd name="T21" fmla="*/ 0 h 390"/>
                <a:gd name="T22" fmla="*/ 0 w 115"/>
                <a:gd name="T23" fmla="*/ 0 h 390"/>
                <a:gd name="T24" fmla="*/ 0 w 115"/>
                <a:gd name="T25" fmla="*/ 0 h 390"/>
                <a:gd name="T26" fmla="*/ 0 w 115"/>
                <a:gd name="T27" fmla="*/ 0 h 390"/>
                <a:gd name="T28" fmla="*/ 0 w 115"/>
                <a:gd name="T29" fmla="*/ 0 h 390"/>
                <a:gd name="T30" fmla="*/ 0 w 115"/>
                <a:gd name="T31" fmla="*/ 0 h 390"/>
                <a:gd name="T32" fmla="*/ 0 w 115"/>
                <a:gd name="T33" fmla="*/ 0 h 390"/>
                <a:gd name="T34" fmla="*/ 0 w 115"/>
                <a:gd name="T35" fmla="*/ 0 h 390"/>
                <a:gd name="T36" fmla="*/ 0 w 115"/>
                <a:gd name="T37" fmla="*/ 2 h 390"/>
                <a:gd name="T38" fmla="*/ 0 w 115"/>
                <a:gd name="T39" fmla="*/ 2 h 390"/>
                <a:gd name="T40" fmla="*/ 0 w 115"/>
                <a:gd name="T41" fmla="*/ 2 h 390"/>
                <a:gd name="T42" fmla="*/ 0 w 115"/>
                <a:gd name="T43" fmla="*/ 2 h 390"/>
                <a:gd name="T44" fmla="*/ 0 w 115"/>
                <a:gd name="T45" fmla="*/ 2 h 390"/>
                <a:gd name="T46" fmla="*/ 0 w 115"/>
                <a:gd name="T47" fmla="*/ 2 h 390"/>
                <a:gd name="T48" fmla="*/ 0 w 115"/>
                <a:gd name="T49" fmla="*/ 2 h 390"/>
                <a:gd name="T50" fmla="*/ 0 w 115"/>
                <a:gd name="T51" fmla="*/ 2 h 390"/>
                <a:gd name="T52" fmla="*/ 0 w 115"/>
                <a:gd name="T53" fmla="*/ 2 h 390"/>
                <a:gd name="T54" fmla="*/ 0 w 115"/>
                <a:gd name="T55" fmla="*/ 2 h 390"/>
                <a:gd name="T56" fmla="*/ 0 w 115"/>
                <a:gd name="T57" fmla="*/ 2 h 390"/>
                <a:gd name="T58" fmla="*/ 0 w 115"/>
                <a:gd name="T59" fmla="*/ 2 h 390"/>
                <a:gd name="T60" fmla="*/ 0 w 115"/>
                <a:gd name="T61" fmla="*/ 2 h 390"/>
                <a:gd name="T62" fmla="*/ 0 w 115"/>
                <a:gd name="T63" fmla="*/ 2 h 390"/>
                <a:gd name="T64" fmla="*/ 0 w 115"/>
                <a:gd name="T65" fmla="*/ 2 h 390"/>
                <a:gd name="T66" fmla="*/ 0 w 115"/>
                <a:gd name="T67" fmla="*/ 2 h 390"/>
                <a:gd name="T68" fmla="*/ 0 w 115"/>
                <a:gd name="T69" fmla="*/ 2 h 390"/>
                <a:gd name="T70" fmla="*/ 0 w 115"/>
                <a:gd name="T71" fmla="*/ 2 h 390"/>
                <a:gd name="T72" fmla="*/ 0 w 115"/>
                <a:gd name="T73" fmla="*/ 0 h 3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5"/>
                <a:gd name="T112" fmla="*/ 0 h 390"/>
                <a:gd name="T113" fmla="*/ 115 w 115"/>
                <a:gd name="T114" fmla="*/ 390 h 3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5" h="390">
                  <a:moveTo>
                    <a:pt x="114" y="28"/>
                  </a:moveTo>
                  <a:lnTo>
                    <a:pt x="113" y="20"/>
                  </a:lnTo>
                  <a:lnTo>
                    <a:pt x="109" y="13"/>
                  </a:lnTo>
                  <a:lnTo>
                    <a:pt x="102" y="9"/>
                  </a:lnTo>
                  <a:lnTo>
                    <a:pt x="94" y="6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7"/>
                  </a:lnTo>
                  <a:lnTo>
                    <a:pt x="10" y="11"/>
                  </a:lnTo>
                  <a:lnTo>
                    <a:pt x="5" y="18"/>
                  </a:lnTo>
                  <a:lnTo>
                    <a:pt x="1" y="26"/>
                  </a:lnTo>
                  <a:lnTo>
                    <a:pt x="0" y="35"/>
                  </a:lnTo>
                  <a:lnTo>
                    <a:pt x="1" y="362"/>
                  </a:lnTo>
                  <a:lnTo>
                    <a:pt x="2" y="370"/>
                  </a:lnTo>
                  <a:lnTo>
                    <a:pt x="7" y="377"/>
                  </a:lnTo>
                  <a:lnTo>
                    <a:pt x="14" y="382"/>
                  </a:lnTo>
                  <a:lnTo>
                    <a:pt x="22" y="385"/>
                  </a:lnTo>
                  <a:lnTo>
                    <a:pt x="61" y="390"/>
                  </a:lnTo>
                  <a:lnTo>
                    <a:pt x="66" y="390"/>
                  </a:lnTo>
                  <a:lnTo>
                    <a:pt x="70" y="390"/>
                  </a:lnTo>
                  <a:lnTo>
                    <a:pt x="76" y="390"/>
                  </a:lnTo>
                  <a:lnTo>
                    <a:pt x="80" y="389"/>
                  </a:lnTo>
                  <a:lnTo>
                    <a:pt x="86" y="389"/>
                  </a:lnTo>
                  <a:lnTo>
                    <a:pt x="91" y="388"/>
                  </a:lnTo>
                  <a:lnTo>
                    <a:pt x="95" y="386"/>
                  </a:lnTo>
                  <a:lnTo>
                    <a:pt x="98" y="385"/>
                  </a:lnTo>
                  <a:lnTo>
                    <a:pt x="105" y="379"/>
                  </a:lnTo>
                  <a:lnTo>
                    <a:pt x="111" y="372"/>
                  </a:lnTo>
                  <a:lnTo>
                    <a:pt x="114" y="364"/>
                  </a:lnTo>
                  <a:lnTo>
                    <a:pt x="115" y="355"/>
                  </a:lnTo>
                  <a:lnTo>
                    <a:pt x="114" y="2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8" name="Freeform 226"/>
            <p:cNvSpPr>
              <a:spLocks/>
            </p:cNvSpPr>
            <p:nvPr/>
          </p:nvSpPr>
          <p:spPr bwMode="auto">
            <a:xfrm>
              <a:off x="1126" y="3591"/>
              <a:ext cx="13" cy="63"/>
            </a:xfrm>
            <a:custGeom>
              <a:avLst/>
              <a:gdLst>
                <a:gd name="T0" fmla="*/ 0 w 80"/>
                <a:gd name="T1" fmla="*/ 2 h 372"/>
                <a:gd name="T2" fmla="*/ 0 w 80"/>
                <a:gd name="T3" fmla="*/ 2 h 372"/>
                <a:gd name="T4" fmla="*/ 0 w 80"/>
                <a:gd name="T5" fmla="*/ 2 h 372"/>
                <a:gd name="T6" fmla="*/ 0 w 80"/>
                <a:gd name="T7" fmla="*/ 2 h 372"/>
                <a:gd name="T8" fmla="*/ 0 w 80"/>
                <a:gd name="T9" fmla="*/ 2 h 372"/>
                <a:gd name="T10" fmla="*/ 0 w 80"/>
                <a:gd name="T11" fmla="*/ 0 h 372"/>
                <a:gd name="T12" fmla="*/ 0 w 80"/>
                <a:gd name="T13" fmla="*/ 0 h 372"/>
                <a:gd name="T14" fmla="*/ 0 w 80"/>
                <a:gd name="T15" fmla="*/ 0 h 372"/>
                <a:gd name="T16" fmla="*/ 0 w 80"/>
                <a:gd name="T17" fmla="*/ 0 h 372"/>
                <a:gd name="T18" fmla="*/ 0 w 80"/>
                <a:gd name="T19" fmla="*/ 0 h 372"/>
                <a:gd name="T20" fmla="*/ 0 w 80"/>
                <a:gd name="T21" fmla="*/ 0 h 372"/>
                <a:gd name="T22" fmla="*/ 0 w 80"/>
                <a:gd name="T23" fmla="*/ 0 h 372"/>
                <a:gd name="T24" fmla="*/ 0 w 80"/>
                <a:gd name="T25" fmla="*/ 0 h 372"/>
                <a:gd name="T26" fmla="*/ 0 w 80"/>
                <a:gd name="T27" fmla="*/ 0 h 372"/>
                <a:gd name="T28" fmla="*/ 0 w 80"/>
                <a:gd name="T29" fmla="*/ 0 h 372"/>
                <a:gd name="T30" fmla="*/ 0 w 80"/>
                <a:gd name="T31" fmla="*/ 2 h 372"/>
                <a:gd name="T32" fmla="*/ 0 w 80"/>
                <a:gd name="T33" fmla="*/ 2 h 372"/>
                <a:gd name="T34" fmla="*/ 0 w 80"/>
                <a:gd name="T35" fmla="*/ 2 h 372"/>
                <a:gd name="T36" fmla="*/ 0 w 80"/>
                <a:gd name="T37" fmla="*/ 2 h 372"/>
                <a:gd name="T38" fmla="*/ 0 w 80"/>
                <a:gd name="T39" fmla="*/ 2 h 372"/>
                <a:gd name="T40" fmla="*/ 0 w 80"/>
                <a:gd name="T41" fmla="*/ 2 h 3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372"/>
                <a:gd name="T65" fmla="*/ 80 w 80"/>
                <a:gd name="T66" fmla="*/ 372 h 3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372">
                  <a:moveTo>
                    <a:pt x="61" y="372"/>
                  </a:moveTo>
                  <a:lnTo>
                    <a:pt x="69" y="371"/>
                  </a:lnTo>
                  <a:lnTo>
                    <a:pt x="76" y="369"/>
                  </a:lnTo>
                  <a:lnTo>
                    <a:pt x="79" y="363"/>
                  </a:lnTo>
                  <a:lnTo>
                    <a:pt x="80" y="355"/>
                  </a:lnTo>
                  <a:lnTo>
                    <a:pt x="79" y="28"/>
                  </a:lnTo>
                  <a:lnTo>
                    <a:pt x="78" y="20"/>
                  </a:lnTo>
                  <a:lnTo>
                    <a:pt x="74" y="13"/>
                  </a:lnTo>
                  <a:lnTo>
                    <a:pt x="67" y="8"/>
                  </a:lnTo>
                  <a:lnTo>
                    <a:pt x="59" y="6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5" y="3"/>
                  </a:lnTo>
                  <a:lnTo>
                    <a:pt x="1" y="9"/>
                  </a:lnTo>
                  <a:lnTo>
                    <a:pt x="0" y="17"/>
                  </a:lnTo>
                  <a:lnTo>
                    <a:pt x="1" y="344"/>
                  </a:lnTo>
                  <a:lnTo>
                    <a:pt x="2" y="352"/>
                  </a:lnTo>
                  <a:lnTo>
                    <a:pt x="7" y="359"/>
                  </a:lnTo>
                  <a:lnTo>
                    <a:pt x="14" y="364"/>
                  </a:lnTo>
                  <a:lnTo>
                    <a:pt x="22" y="367"/>
                  </a:lnTo>
                  <a:lnTo>
                    <a:pt x="61" y="37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27" name="Group 227"/>
          <p:cNvGrpSpPr>
            <a:grpSpLocks/>
          </p:cNvGrpSpPr>
          <p:nvPr/>
        </p:nvGrpSpPr>
        <p:grpSpPr bwMode="auto">
          <a:xfrm>
            <a:off x="4124326" y="3368676"/>
            <a:ext cx="314325" cy="542925"/>
            <a:chOff x="1054" y="3290"/>
            <a:chExt cx="238" cy="366"/>
          </a:xfrm>
        </p:grpSpPr>
        <p:sp>
          <p:nvSpPr>
            <p:cNvPr id="3251" name="Freeform 228"/>
            <p:cNvSpPr>
              <a:spLocks/>
            </p:cNvSpPr>
            <p:nvPr/>
          </p:nvSpPr>
          <p:spPr bwMode="auto">
            <a:xfrm>
              <a:off x="1172" y="3574"/>
              <a:ext cx="120" cy="82"/>
            </a:xfrm>
            <a:custGeom>
              <a:avLst/>
              <a:gdLst>
                <a:gd name="T0" fmla="*/ 0 w 720"/>
                <a:gd name="T1" fmla="*/ 2 h 490"/>
                <a:gd name="T2" fmla="*/ 0 w 720"/>
                <a:gd name="T3" fmla="*/ 2 h 490"/>
                <a:gd name="T4" fmla="*/ 0 w 720"/>
                <a:gd name="T5" fmla="*/ 2 h 490"/>
                <a:gd name="T6" fmla="*/ 0 w 720"/>
                <a:gd name="T7" fmla="*/ 2 h 490"/>
                <a:gd name="T8" fmla="*/ 0 w 720"/>
                <a:gd name="T9" fmla="*/ 2 h 490"/>
                <a:gd name="T10" fmla="*/ 1 w 720"/>
                <a:gd name="T11" fmla="*/ 2 h 490"/>
                <a:gd name="T12" fmla="*/ 1 w 720"/>
                <a:gd name="T13" fmla="*/ 2 h 490"/>
                <a:gd name="T14" fmla="*/ 1 w 720"/>
                <a:gd name="T15" fmla="*/ 2 h 490"/>
                <a:gd name="T16" fmla="*/ 1 w 720"/>
                <a:gd name="T17" fmla="*/ 2 h 490"/>
                <a:gd name="T18" fmla="*/ 2 w 720"/>
                <a:gd name="T19" fmla="*/ 2 h 490"/>
                <a:gd name="T20" fmla="*/ 2 w 720"/>
                <a:gd name="T21" fmla="*/ 2 h 490"/>
                <a:gd name="T22" fmla="*/ 3 w 720"/>
                <a:gd name="T23" fmla="*/ 2 h 490"/>
                <a:gd name="T24" fmla="*/ 3 w 720"/>
                <a:gd name="T25" fmla="*/ 1 h 490"/>
                <a:gd name="T26" fmla="*/ 3 w 720"/>
                <a:gd name="T27" fmla="*/ 1 h 490"/>
                <a:gd name="T28" fmla="*/ 3 w 720"/>
                <a:gd name="T29" fmla="*/ 1 h 490"/>
                <a:gd name="T30" fmla="*/ 3 w 720"/>
                <a:gd name="T31" fmla="*/ 1 h 490"/>
                <a:gd name="T32" fmla="*/ 3 w 720"/>
                <a:gd name="T33" fmla="*/ 1 h 490"/>
                <a:gd name="T34" fmla="*/ 3 w 720"/>
                <a:gd name="T35" fmla="*/ 1 h 490"/>
                <a:gd name="T36" fmla="*/ 3 w 720"/>
                <a:gd name="T37" fmla="*/ 1 h 490"/>
                <a:gd name="T38" fmla="*/ 3 w 720"/>
                <a:gd name="T39" fmla="*/ 1 h 490"/>
                <a:gd name="T40" fmla="*/ 3 w 720"/>
                <a:gd name="T41" fmla="*/ 1 h 490"/>
                <a:gd name="T42" fmla="*/ 3 w 720"/>
                <a:gd name="T43" fmla="*/ 1 h 490"/>
                <a:gd name="T44" fmla="*/ 3 w 720"/>
                <a:gd name="T45" fmla="*/ 1 h 490"/>
                <a:gd name="T46" fmla="*/ 2 w 720"/>
                <a:gd name="T47" fmla="*/ 0 h 490"/>
                <a:gd name="T48" fmla="*/ 2 w 720"/>
                <a:gd name="T49" fmla="*/ 0 h 490"/>
                <a:gd name="T50" fmla="*/ 2 w 720"/>
                <a:gd name="T51" fmla="*/ 0 h 490"/>
                <a:gd name="T52" fmla="*/ 2 w 720"/>
                <a:gd name="T53" fmla="*/ 0 h 490"/>
                <a:gd name="T54" fmla="*/ 2 w 720"/>
                <a:gd name="T55" fmla="*/ 0 h 490"/>
                <a:gd name="T56" fmla="*/ 2 w 720"/>
                <a:gd name="T57" fmla="*/ 0 h 490"/>
                <a:gd name="T58" fmla="*/ 2 w 720"/>
                <a:gd name="T59" fmla="*/ 0 h 490"/>
                <a:gd name="T60" fmla="*/ 2 w 720"/>
                <a:gd name="T61" fmla="*/ 0 h 490"/>
                <a:gd name="T62" fmla="*/ 2 w 720"/>
                <a:gd name="T63" fmla="*/ 0 h 490"/>
                <a:gd name="T64" fmla="*/ 2 w 720"/>
                <a:gd name="T65" fmla="*/ 0 h 490"/>
                <a:gd name="T66" fmla="*/ 2 w 720"/>
                <a:gd name="T67" fmla="*/ 0 h 490"/>
                <a:gd name="T68" fmla="*/ 2 w 720"/>
                <a:gd name="T69" fmla="*/ 0 h 490"/>
                <a:gd name="T70" fmla="*/ 1 w 720"/>
                <a:gd name="T71" fmla="*/ 1 h 490"/>
                <a:gd name="T72" fmla="*/ 1 w 720"/>
                <a:gd name="T73" fmla="*/ 1 h 490"/>
                <a:gd name="T74" fmla="*/ 1 w 720"/>
                <a:gd name="T75" fmla="*/ 1 h 490"/>
                <a:gd name="T76" fmla="*/ 1 w 720"/>
                <a:gd name="T77" fmla="*/ 1 h 490"/>
                <a:gd name="T78" fmla="*/ 0 w 720"/>
                <a:gd name="T79" fmla="*/ 1 h 490"/>
                <a:gd name="T80" fmla="*/ 0 w 720"/>
                <a:gd name="T81" fmla="*/ 1 h 490"/>
                <a:gd name="T82" fmla="*/ 0 w 720"/>
                <a:gd name="T83" fmla="*/ 1 h 490"/>
                <a:gd name="T84" fmla="*/ 0 w 720"/>
                <a:gd name="T85" fmla="*/ 1 h 490"/>
                <a:gd name="T86" fmla="*/ 0 w 720"/>
                <a:gd name="T87" fmla="*/ 2 h 49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20"/>
                <a:gd name="T133" fmla="*/ 0 h 490"/>
                <a:gd name="T134" fmla="*/ 720 w 720"/>
                <a:gd name="T135" fmla="*/ 490 h 49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20" h="490">
                  <a:moveTo>
                    <a:pt x="55" y="382"/>
                  </a:moveTo>
                  <a:lnTo>
                    <a:pt x="54" y="389"/>
                  </a:lnTo>
                  <a:lnTo>
                    <a:pt x="52" y="395"/>
                  </a:lnTo>
                  <a:lnTo>
                    <a:pt x="47" y="401"/>
                  </a:lnTo>
                  <a:lnTo>
                    <a:pt x="41" y="405"/>
                  </a:lnTo>
                  <a:lnTo>
                    <a:pt x="37" y="409"/>
                  </a:lnTo>
                  <a:lnTo>
                    <a:pt x="26" y="414"/>
                  </a:lnTo>
                  <a:lnTo>
                    <a:pt x="14" y="421"/>
                  </a:lnTo>
                  <a:lnTo>
                    <a:pt x="10" y="425"/>
                  </a:lnTo>
                  <a:lnTo>
                    <a:pt x="4" y="429"/>
                  </a:lnTo>
                  <a:lnTo>
                    <a:pt x="1" y="434"/>
                  </a:lnTo>
                  <a:lnTo>
                    <a:pt x="0" y="437"/>
                  </a:lnTo>
                  <a:lnTo>
                    <a:pt x="0" y="440"/>
                  </a:lnTo>
                  <a:lnTo>
                    <a:pt x="1" y="444"/>
                  </a:lnTo>
                  <a:lnTo>
                    <a:pt x="3" y="446"/>
                  </a:lnTo>
                  <a:lnTo>
                    <a:pt x="8" y="449"/>
                  </a:lnTo>
                  <a:lnTo>
                    <a:pt x="14" y="450"/>
                  </a:lnTo>
                  <a:lnTo>
                    <a:pt x="254" y="489"/>
                  </a:lnTo>
                  <a:lnTo>
                    <a:pt x="258" y="490"/>
                  </a:lnTo>
                  <a:lnTo>
                    <a:pt x="264" y="490"/>
                  </a:lnTo>
                  <a:lnTo>
                    <a:pt x="269" y="489"/>
                  </a:lnTo>
                  <a:lnTo>
                    <a:pt x="275" y="489"/>
                  </a:lnTo>
                  <a:lnTo>
                    <a:pt x="281" y="488"/>
                  </a:lnTo>
                  <a:lnTo>
                    <a:pt x="286" y="485"/>
                  </a:lnTo>
                  <a:lnTo>
                    <a:pt x="291" y="484"/>
                  </a:lnTo>
                  <a:lnTo>
                    <a:pt x="295" y="482"/>
                  </a:lnTo>
                  <a:lnTo>
                    <a:pt x="300" y="480"/>
                  </a:lnTo>
                  <a:lnTo>
                    <a:pt x="312" y="473"/>
                  </a:lnTo>
                  <a:lnTo>
                    <a:pt x="333" y="463"/>
                  </a:lnTo>
                  <a:lnTo>
                    <a:pt x="359" y="448"/>
                  </a:lnTo>
                  <a:lnTo>
                    <a:pt x="389" y="432"/>
                  </a:lnTo>
                  <a:lnTo>
                    <a:pt x="423" y="414"/>
                  </a:lnTo>
                  <a:lnTo>
                    <a:pt x="460" y="395"/>
                  </a:lnTo>
                  <a:lnTo>
                    <a:pt x="497" y="375"/>
                  </a:lnTo>
                  <a:lnTo>
                    <a:pt x="535" y="356"/>
                  </a:lnTo>
                  <a:lnTo>
                    <a:pt x="572" y="337"/>
                  </a:lnTo>
                  <a:lnTo>
                    <a:pt x="606" y="319"/>
                  </a:lnTo>
                  <a:lnTo>
                    <a:pt x="636" y="303"/>
                  </a:lnTo>
                  <a:lnTo>
                    <a:pt x="662" y="288"/>
                  </a:lnTo>
                  <a:lnTo>
                    <a:pt x="683" y="278"/>
                  </a:lnTo>
                  <a:lnTo>
                    <a:pt x="695" y="272"/>
                  </a:lnTo>
                  <a:lnTo>
                    <a:pt x="700" y="269"/>
                  </a:lnTo>
                  <a:lnTo>
                    <a:pt x="709" y="263"/>
                  </a:lnTo>
                  <a:lnTo>
                    <a:pt x="715" y="254"/>
                  </a:lnTo>
                  <a:lnTo>
                    <a:pt x="719" y="243"/>
                  </a:lnTo>
                  <a:lnTo>
                    <a:pt x="720" y="233"/>
                  </a:lnTo>
                  <a:lnTo>
                    <a:pt x="720" y="230"/>
                  </a:lnTo>
                  <a:lnTo>
                    <a:pt x="720" y="224"/>
                  </a:lnTo>
                  <a:lnTo>
                    <a:pt x="720" y="218"/>
                  </a:lnTo>
                  <a:lnTo>
                    <a:pt x="720" y="215"/>
                  </a:lnTo>
                  <a:lnTo>
                    <a:pt x="718" y="205"/>
                  </a:lnTo>
                  <a:lnTo>
                    <a:pt x="712" y="196"/>
                  </a:lnTo>
                  <a:lnTo>
                    <a:pt x="704" y="189"/>
                  </a:lnTo>
                  <a:lnTo>
                    <a:pt x="694" y="186"/>
                  </a:lnTo>
                  <a:lnTo>
                    <a:pt x="692" y="186"/>
                  </a:lnTo>
                  <a:lnTo>
                    <a:pt x="686" y="185"/>
                  </a:lnTo>
                  <a:lnTo>
                    <a:pt x="677" y="183"/>
                  </a:lnTo>
                  <a:lnTo>
                    <a:pt x="668" y="182"/>
                  </a:lnTo>
                  <a:lnTo>
                    <a:pt x="658" y="180"/>
                  </a:lnTo>
                  <a:lnTo>
                    <a:pt x="649" y="178"/>
                  </a:lnTo>
                  <a:lnTo>
                    <a:pt x="643" y="177"/>
                  </a:lnTo>
                  <a:lnTo>
                    <a:pt x="641" y="177"/>
                  </a:lnTo>
                  <a:lnTo>
                    <a:pt x="634" y="175"/>
                  </a:lnTo>
                  <a:lnTo>
                    <a:pt x="627" y="170"/>
                  </a:lnTo>
                  <a:lnTo>
                    <a:pt x="622" y="166"/>
                  </a:lnTo>
                  <a:lnTo>
                    <a:pt x="617" y="160"/>
                  </a:lnTo>
                  <a:lnTo>
                    <a:pt x="614" y="155"/>
                  </a:lnTo>
                  <a:lnTo>
                    <a:pt x="607" y="141"/>
                  </a:lnTo>
                  <a:lnTo>
                    <a:pt x="596" y="122"/>
                  </a:lnTo>
                  <a:lnTo>
                    <a:pt x="583" y="98"/>
                  </a:lnTo>
                  <a:lnTo>
                    <a:pt x="571" y="76"/>
                  </a:lnTo>
                  <a:lnTo>
                    <a:pt x="560" y="57"/>
                  </a:lnTo>
                  <a:lnTo>
                    <a:pt x="553" y="43"/>
                  </a:lnTo>
                  <a:lnTo>
                    <a:pt x="549" y="38"/>
                  </a:lnTo>
                  <a:lnTo>
                    <a:pt x="546" y="33"/>
                  </a:lnTo>
                  <a:lnTo>
                    <a:pt x="543" y="30"/>
                  </a:lnTo>
                  <a:lnTo>
                    <a:pt x="539" y="25"/>
                  </a:lnTo>
                  <a:lnTo>
                    <a:pt x="535" y="22"/>
                  </a:lnTo>
                  <a:lnTo>
                    <a:pt x="530" y="18"/>
                  </a:lnTo>
                  <a:lnTo>
                    <a:pt x="525" y="16"/>
                  </a:lnTo>
                  <a:lnTo>
                    <a:pt x="520" y="14"/>
                  </a:lnTo>
                  <a:lnTo>
                    <a:pt x="516" y="13"/>
                  </a:lnTo>
                  <a:lnTo>
                    <a:pt x="513" y="13"/>
                  </a:lnTo>
                  <a:lnTo>
                    <a:pt x="508" y="11"/>
                  </a:lnTo>
                  <a:lnTo>
                    <a:pt x="500" y="9"/>
                  </a:lnTo>
                  <a:lnTo>
                    <a:pt x="492" y="7"/>
                  </a:lnTo>
                  <a:lnTo>
                    <a:pt x="483" y="5"/>
                  </a:lnTo>
                  <a:lnTo>
                    <a:pt x="475" y="4"/>
                  </a:lnTo>
                  <a:lnTo>
                    <a:pt x="469" y="2"/>
                  </a:lnTo>
                  <a:lnTo>
                    <a:pt x="467" y="2"/>
                  </a:lnTo>
                  <a:lnTo>
                    <a:pt x="462" y="0"/>
                  </a:lnTo>
                  <a:lnTo>
                    <a:pt x="457" y="0"/>
                  </a:lnTo>
                  <a:lnTo>
                    <a:pt x="452" y="0"/>
                  </a:lnTo>
                  <a:lnTo>
                    <a:pt x="447" y="0"/>
                  </a:lnTo>
                  <a:lnTo>
                    <a:pt x="440" y="2"/>
                  </a:lnTo>
                  <a:lnTo>
                    <a:pt x="435" y="2"/>
                  </a:lnTo>
                  <a:lnTo>
                    <a:pt x="430" y="4"/>
                  </a:lnTo>
                  <a:lnTo>
                    <a:pt x="425" y="5"/>
                  </a:lnTo>
                  <a:lnTo>
                    <a:pt x="382" y="24"/>
                  </a:lnTo>
                  <a:lnTo>
                    <a:pt x="381" y="25"/>
                  </a:lnTo>
                  <a:lnTo>
                    <a:pt x="377" y="26"/>
                  </a:lnTo>
                  <a:lnTo>
                    <a:pt x="371" y="29"/>
                  </a:lnTo>
                  <a:lnTo>
                    <a:pt x="364" y="32"/>
                  </a:lnTo>
                  <a:lnTo>
                    <a:pt x="356" y="35"/>
                  </a:lnTo>
                  <a:lnTo>
                    <a:pt x="351" y="38"/>
                  </a:lnTo>
                  <a:lnTo>
                    <a:pt x="346" y="39"/>
                  </a:lnTo>
                  <a:lnTo>
                    <a:pt x="345" y="40"/>
                  </a:lnTo>
                  <a:lnTo>
                    <a:pt x="177" y="114"/>
                  </a:lnTo>
                  <a:lnTo>
                    <a:pt x="176" y="115"/>
                  </a:lnTo>
                  <a:lnTo>
                    <a:pt x="171" y="116"/>
                  </a:lnTo>
                  <a:lnTo>
                    <a:pt x="166" y="120"/>
                  </a:lnTo>
                  <a:lnTo>
                    <a:pt x="159" y="122"/>
                  </a:lnTo>
                  <a:lnTo>
                    <a:pt x="151" y="125"/>
                  </a:lnTo>
                  <a:lnTo>
                    <a:pt x="145" y="129"/>
                  </a:lnTo>
                  <a:lnTo>
                    <a:pt x="141" y="130"/>
                  </a:lnTo>
                  <a:lnTo>
                    <a:pt x="140" y="131"/>
                  </a:lnTo>
                  <a:lnTo>
                    <a:pt x="137" y="132"/>
                  </a:lnTo>
                  <a:lnTo>
                    <a:pt x="129" y="135"/>
                  </a:lnTo>
                  <a:lnTo>
                    <a:pt x="119" y="140"/>
                  </a:lnTo>
                  <a:lnTo>
                    <a:pt x="108" y="144"/>
                  </a:lnTo>
                  <a:lnTo>
                    <a:pt x="97" y="149"/>
                  </a:lnTo>
                  <a:lnTo>
                    <a:pt x="87" y="153"/>
                  </a:lnTo>
                  <a:lnTo>
                    <a:pt x="79" y="157"/>
                  </a:lnTo>
                  <a:lnTo>
                    <a:pt x="76" y="158"/>
                  </a:lnTo>
                  <a:lnTo>
                    <a:pt x="67" y="164"/>
                  </a:lnTo>
                  <a:lnTo>
                    <a:pt x="61" y="171"/>
                  </a:lnTo>
                  <a:lnTo>
                    <a:pt x="56" y="182"/>
                  </a:lnTo>
                  <a:lnTo>
                    <a:pt x="55" y="192"/>
                  </a:lnTo>
                  <a:lnTo>
                    <a:pt x="55" y="221"/>
                  </a:lnTo>
                  <a:lnTo>
                    <a:pt x="55" y="286"/>
                  </a:lnTo>
                  <a:lnTo>
                    <a:pt x="55" y="353"/>
                  </a:lnTo>
                  <a:lnTo>
                    <a:pt x="55" y="3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2" name="Freeform 229"/>
            <p:cNvSpPr>
              <a:spLocks/>
            </p:cNvSpPr>
            <p:nvPr/>
          </p:nvSpPr>
          <p:spPr bwMode="auto">
            <a:xfrm>
              <a:off x="1173" y="3575"/>
              <a:ext cx="118" cy="79"/>
            </a:xfrm>
            <a:custGeom>
              <a:avLst/>
              <a:gdLst>
                <a:gd name="T0" fmla="*/ 0 w 705"/>
                <a:gd name="T1" fmla="*/ 1 h 475"/>
                <a:gd name="T2" fmla="*/ 0 w 705"/>
                <a:gd name="T3" fmla="*/ 1 h 475"/>
                <a:gd name="T4" fmla="*/ 1 w 705"/>
                <a:gd name="T5" fmla="*/ 1 h 475"/>
                <a:gd name="T6" fmla="*/ 1 w 705"/>
                <a:gd name="T7" fmla="*/ 0 h 475"/>
                <a:gd name="T8" fmla="*/ 1 w 705"/>
                <a:gd name="T9" fmla="*/ 0 h 475"/>
                <a:gd name="T10" fmla="*/ 1 w 705"/>
                <a:gd name="T11" fmla="*/ 0 h 475"/>
                <a:gd name="T12" fmla="*/ 1 w 705"/>
                <a:gd name="T13" fmla="*/ 0 h 475"/>
                <a:gd name="T14" fmla="*/ 2 w 705"/>
                <a:gd name="T15" fmla="*/ 0 h 475"/>
                <a:gd name="T16" fmla="*/ 2 w 705"/>
                <a:gd name="T17" fmla="*/ 0 h 475"/>
                <a:gd name="T18" fmla="*/ 2 w 705"/>
                <a:gd name="T19" fmla="*/ 0 h 475"/>
                <a:gd name="T20" fmla="*/ 2 w 705"/>
                <a:gd name="T21" fmla="*/ 0 h 475"/>
                <a:gd name="T22" fmla="*/ 2 w 705"/>
                <a:gd name="T23" fmla="*/ 0 h 475"/>
                <a:gd name="T24" fmla="*/ 2 w 705"/>
                <a:gd name="T25" fmla="*/ 0 h 475"/>
                <a:gd name="T26" fmla="*/ 2 w 705"/>
                <a:gd name="T27" fmla="*/ 0 h 475"/>
                <a:gd name="T28" fmla="*/ 2 w 705"/>
                <a:gd name="T29" fmla="*/ 0 h 475"/>
                <a:gd name="T30" fmla="*/ 2 w 705"/>
                <a:gd name="T31" fmla="*/ 0 h 475"/>
                <a:gd name="T32" fmla="*/ 2 w 705"/>
                <a:gd name="T33" fmla="*/ 0 h 475"/>
                <a:gd name="T34" fmla="*/ 3 w 705"/>
                <a:gd name="T35" fmla="*/ 0 h 475"/>
                <a:gd name="T36" fmla="*/ 3 w 705"/>
                <a:gd name="T37" fmla="*/ 1 h 475"/>
                <a:gd name="T38" fmla="*/ 3 w 705"/>
                <a:gd name="T39" fmla="*/ 1 h 475"/>
                <a:gd name="T40" fmla="*/ 3 w 705"/>
                <a:gd name="T41" fmla="*/ 1 h 475"/>
                <a:gd name="T42" fmla="*/ 3 w 705"/>
                <a:gd name="T43" fmla="*/ 1 h 475"/>
                <a:gd name="T44" fmla="*/ 3 w 705"/>
                <a:gd name="T45" fmla="*/ 1 h 475"/>
                <a:gd name="T46" fmla="*/ 3 w 705"/>
                <a:gd name="T47" fmla="*/ 1 h 475"/>
                <a:gd name="T48" fmla="*/ 3 w 705"/>
                <a:gd name="T49" fmla="*/ 1 h 475"/>
                <a:gd name="T50" fmla="*/ 3 w 705"/>
                <a:gd name="T51" fmla="*/ 1 h 475"/>
                <a:gd name="T52" fmla="*/ 1 w 705"/>
                <a:gd name="T53" fmla="*/ 2 h 475"/>
                <a:gd name="T54" fmla="*/ 1 w 705"/>
                <a:gd name="T55" fmla="*/ 2 h 475"/>
                <a:gd name="T56" fmla="*/ 1 w 705"/>
                <a:gd name="T57" fmla="*/ 2 h 475"/>
                <a:gd name="T58" fmla="*/ 1 w 705"/>
                <a:gd name="T59" fmla="*/ 2 h 475"/>
                <a:gd name="T60" fmla="*/ 0 w 705"/>
                <a:gd name="T61" fmla="*/ 2 h 475"/>
                <a:gd name="T62" fmla="*/ 0 w 705"/>
                <a:gd name="T63" fmla="*/ 2 h 475"/>
                <a:gd name="T64" fmla="*/ 0 w 705"/>
                <a:gd name="T65" fmla="*/ 2 h 475"/>
                <a:gd name="T66" fmla="*/ 0 w 705"/>
                <a:gd name="T67" fmla="*/ 2 h 475"/>
                <a:gd name="T68" fmla="*/ 0 w 705"/>
                <a:gd name="T69" fmla="*/ 2 h 475"/>
                <a:gd name="T70" fmla="*/ 0 w 705"/>
                <a:gd name="T71" fmla="*/ 1 h 47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5"/>
                <a:gd name="T109" fmla="*/ 0 h 475"/>
                <a:gd name="T110" fmla="*/ 705 w 705"/>
                <a:gd name="T111" fmla="*/ 475 h 47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5" h="475">
                  <a:moveTo>
                    <a:pt x="54" y="185"/>
                  </a:moveTo>
                  <a:lnTo>
                    <a:pt x="55" y="177"/>
                  </a:lnTo>
                  <a:lnTo>
                    <a:pt x="59" y="169"/>
                  </a:lnTo>
                  <a:lnTo>
                    <a:pt x="65" y="162"/>
                  </a:lnTo>
                  <a:lnTo>
                    <a:pt x="72" y="158"/>
                  </a:lnTo>
                  <a:lnTo>
                    <a:pt x="135" y="130"/>
                  </a:lnTo>
                  <a:lnTo>
                    <a:pt x="140" y="127"/>
                  </a:lnTo>
                  <a:lnTo>
                    <a:pt x="144" y="126"/>
                  </a:lnTo>
                  <a:lnTo>
                    <a:pt x="149" y="124"/>
                  </a:lnTo>
                  <a:lnTo>
                    <a:pt x="153" y="122"/>
                  </a:lnTo>
                  <a:lnTo>
                    <a:pt x="158" y="119"/>
                  </a:lnTo>
                  <a:lnTo>
                    <a:pt x="162" y="117"/>
                  </a:lnTo>
                  <a:lnTo>
                    <a:pt x="167" y="116"/>
                  </a:lnTo>
                  <a:lnTo>
                    <a:pt x="171" y="114"/>
                  </a:lnTo>
                  <a:lnTo>
                    <a:pt x="340" y="40"/>
                  </a:lnTo>
                  <a:lnTo>
                    <a:pt x="345" y="37"/>
                  </a:lnTo>
                  <a:lnTo>
                    <a:pt x="350" y="36"/>
                  </a:lnTo>
                  <a:lnTo>
                    <a:pt x="354" y="34"/>
                  </a:lnTo>
                  <a:lnTo>
                    <a:pt x="359" y="32"/>
                  </a:lnTo>
                  <a:lnTo>
                    <a:pt x="363" y="29"/>
                  </a:lnTo>
                  <a:lnTo>
                    <a:pt x="368" y="27"/>
                  </a:lnTo>
                  <a:lnTo>
                    <a:pt x="372" y="26"/>
                  </a:lnTo>
                  <a:lnTo>
                    <a:pt x="377" y="24"/>
                  </a:lnTo>
                  <a:lnTo>
                    <a:pt x="421" y="5"/>
                  </a:lnTo>
                  <a:lnTo>
                    <a:pt x="425" y="4"/>
                  </a:lnTo>
                  <a:lnTo>
                    <a:pt x="430" y="2"/>
                  </a:lnTo>
                  <a:lnTo>
                    <a:pt x="434" y="1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9" y="0"/>
                  </a:lnTo>
                  <a:lnTo>
                    <a:pt x="453" y="0"/>
                  </a:lnTo>
                  <a:lnTo>
                    <a:pt x="458" y="1"/>
                  </a:lnTo>
                  <a:lnTo>
                    <a:pt x="506" y="13"/>
                  </a:lnTo>
                  <a:lnTo>
                    <a:pt x="514" y="16"/>
                  </a:lnTo>
                  <a:lnTo>
                    <a:pt x="522" y="20"/>
                  </a:lnTo>
                  <a:lnTo>
                    <a:pt x="529" y="27"/>
                  </a:lnTo>
                  <a:lnTo>
                    <a:pt x="535" y="34"/>
                  </a:lnTo>
                  <a:lnTo>
                    <a:pt x="602" y="157"/>
                  </a:lnTo>
                  <a:lnTo>
                    <a:pt x="608" y="163"/>
                  </a:lnTo>
                  <a:lnTo>
                    <a:pt x="616" y="169"/>
                  </a:lnTo>
                  <a:lnTo>
                    <a:pt x="624" y="173"/>
                  </a:lnTo>
                  <a:lnTo>
                    <a:pt x="632" y="177"/>
                  </a:lnTo>
                  <a:lnTo>
                    <a:pt x="685" y="186"/>
                  </a:lnTo>
                  <a:lnTo>
                    <a:pt x="693" y="189"/>
                  </a:lnTo>
                  <a:lnTo>
                    <a:pt x="699" y="194"/>
                  </a:lnTo>
                  <a:lnTo>
                    <a:pt x="704" y="200"/>
                  </a:lnTo>
                  <a:lnTo>
                    <a:pt x="705" y="208"/>
                  </a:lnTo>
                  <a:lnTo>
                    <a:pt x="705" y="226"/>
                  </a:lnTo>
                  <a:lnTo>
                    <a:pt x="704" y="235"/>
                  </a:lnTo>
                  <a:lnTo>
                    <a:pt x="701" y="243"/>
                  </a:lnTo>
                  <a:lnTo>
                    <a:pt x="695" y="251"/>
                  </a:lnTo>
                  <a:lnTo>
                    <a:pt x="688" y="256"/>
                  </a:lnTo>
                  <a:lnTo>
                    <a:pt x="284" y="469"/>
                  </a:lnTo>
                  <a:lnTo>
                    <a:pt x="280" y="470"/>
                  </a:lnTo>
                  <a:lnTo>
                    <a:pt x="275" y="473"/>
                  </a:lnTo>
                  <a:lnTo>
                    <a:pt x="270" y="474"/>
                  </a:lnTo>
                  <a:lnTo>
                    <a:pt x="266" y="474"/>
                  </a:lnTo>
                  <a:lnTo>
                    <a:pt x="260" y="475"/>
                  </a:lnTo>
                  <a:lnTo>
                    <a:pt x="256" y="475"/>
                  </a:lnTo>
                  <a:lnTo>
                    <a:pt x="251" y="475"/>
                  </a:lnTo>
                  <a:lnTo>
                    <a:pt x="247" y="475"/>
                  </a:lnTo>
                  <a:lnTo>
                    <a:pt x="7" y="437"/>
                  </a:lnTo>
                  <a:lnTo>
                    <a:pt x="2" y="434"/>
                  </a:lnTo>
                  <a:lnTo>
                    <a:pt x="0" y="431"/>
                  </a:lnTo>
                  <a:lnTo>
                    <a:pt x="1" y="428"/>
                  </a:lnTo>
                  <a:lnTo>
                    <a:pt x="5" y="423"/>
                  </a:lnTo>
                  <a:lnTo>
                    <a:pt x="37" y="405"/>
                  </a:lnTo>
                  <a:lnTo>
                    <a:pt x="44" y="400"/>
                  </a:lnTo>
                  <a:lnTo>
                    <a:pt x="49" y="392"/>
                  </a:lnTo>
                  <a:lnTo>
                    <a:pt x="53" y="384"/>
                  </a:lnTo>
                  <a:lnTo>
                    <a:pt x="54" y="375"/>
                  </a:lnTo>
                  <a:lnTo>
                    <a:pt x="54" y="185"/>
                  </a:lnTo>
                  <a:close/>
                </a:path>
              </a:pathLst>
            </a:custGeom>
            <a:solidFill>
              <a:srgbClr val="B5B5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3" name="Freeform 230"/>
            <p:cNvSpPr>
              <a:spLocks/>
            </p:cNvSpPr>
            <p:nvPr/>
          </p:nvSpPr>
          <p:spPr bwMode="auto">
            <a:xfrm>
              <a:off x="1173" y="3604"/>
              <a:ext cx="44" cy="50"/>
            </a:xfrm>
            <a:custGeom>
              <a:avLst/>
              <a:gdLst>
                <a:gd name="T0" fmla="*/ 0 w 265"/>
                <a:gd name="T1" fmla="*/ 0 h 305"/>
                <a:gd name="T2" fmla="*/ 0 w 265"/>
                <a:gd name="T3" fmla="*/ 0 h 305"/>
                <a:gd name="T4" fmla="*/ 0 w 265"/>
                <a:gd name="T5" fmla="*/ 0 h 305"/>
                <a:gd name="T6" fmla="*/ 0 w 265"/>
                <a:gd name="T7" fmla="*/ 0 h 305"/>
                <a:gd name="T8" fmla="*/ 0 w 265"/>
                <a:gd name="T9" fmla="*/ 0 h 305"/>
                <a:gd name="T10" fmla="*/ 0 w 265"/>
                <a:gd name="T11" fmla="*/ 0 h 305"/>
                <a:gd name="T12" fmla="*/ 1 w 265"/>
                <a:gd name="T13" fmla="*/ 0 h 305"/>
                <a:gd name="T14" fmla="*/ 1 w 265"/>
                <a:gd name="T15" fmla="*/ 0 h 305"/>
                <a:gd name="T16" fmla="*/ 1 w 265"/>
                <a:gd name="T17" fmla="*/ 0 h 305"/>
                <a:gd name="T18" fmla="*/ 1 w 265"/>
                <a:gd name="T19" fmla="*/ 0 h 305"/>
                <a:gd name="T20" fmla="*/ 1 w 265"/>
                <a:gd name="T21" fmla="*/ 1 h 305"/>
                <a:gd name="T22" fmla="*/ 1 w 265"/>
                <a:gd name="T23" fmla="*/ 1 h 305"/>
                <a:gd name="T24" fmla="*/ 1 w 265"/>
                <a:gd name="T25" fmla="*/ 1 h 305"/>
                <a:gd name="T26" fmla="*/ 1 w 265"/>
                <a:gd name="T27" fmla="*/ 1 h 305"/>
                <a:gd name="T28" fmla="*/ 1 w 265"/>
                <a:gd name="T29" fmla="*/ 1 h 305"/>
                <a:gd name="T30" fmla="*/ 1 w 265"/>
                <a:gd name="T31" fmla="*/ 1 h 305"/>
                <a:gd name="T32" fmla="*/ 1 w 265"/>
                <a:gd name="T33" fmla="*/ 1 h 305"/>
                <a:gd name="T34" fmla="*/ 1 w 265"/>
                <a:gd name="T35" fmla="*/ 1 h 305"/>
                <a:gd name="T36" fmla="*/ 1 w 265"/>
                <a:gd name="T37" fmla="*/ 1 h 305"/>
                <a:gd name="T38" fmla="*/ 1 w 265"/>
                <a:gd name="T39" fmla="*/ 1 h 305"/>
                <a:gd name="T40" fmla="*/ 1 w 265"/>
                <a:gd name="T41" fmla="*/ 1 h 305"/>
                <a:gd name="T42" fmla="*/ 1 w 265"/>
                <a:gd name="T43" fmla="*/ 1 h 305"/>
                <a:gd name="T44" fmla="*/ 1 w 265"/>
                <a:gd name="T45" fmla="*/ 1 h 305"/>
                <a:gd name="T46" fmla="*/ 1 w 265"/>
                <a:gd name="T47" fmla="*/ 1 h 305"/>
                <a:gd name="T48" fmla="*/ 1 w 265"/>
                <a:gd name="T49" fmla="*/ 1 h 305"/>
                <a:gd name="T50" fmla="*/ 0 w 265"/>
                <a:gd name="T51" fmla="*/ 1 h 305"/>
                <a:gd name="T52" fmla="*/ 0 w 265"/>
                <a:gd name="T53" fmla="*/ 1 h 305"/>
                <a:gd name="T54" fmla="*/ 0 w 265"/>
                <a:gd name="T55" fmla="*/ 1 h 305"/>
                <a:gd name="T56" fmla="*/ 0 w 265"/>
                <a:gd name="T57" fmla="*/ 1 h 305"/>
                <a:gd name="T58" fmla="*/ 0 w 265"/>
                <a:gd name="T59" fmla="*/ 1 h 305"/>
                <a:gd name="T60" fmla="*/ 0 w 265"/>
                <a:gd name="T61" fmla="*/ 1 h 305"/>
                <a:gd name="T62" fmla="*/ 0 w 265"/>
                <a:gd name="T63" fmla="*/ 1 h 305"/>
                <a:gd name="T64" fmla="*/ 0 w 265"/>
                <a:gd name="T65" fmla="*/ 1 h 305"/>
                <a:gd name="T66" fmla="*/ 0 w 265"/>
                <a:gd name="T67" fmla="*/ 1 h 305"/>
                <a:gd name="T68" fmla="*/ 0 w 265"/>
                <a:gd name="T69" fmla="*/ 1 h 305"/>
                <a:gd name="T70" fmla="*/ 0 w 265"/>
                <a:gd name="T71" fmla="*/ 0 h 3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5"/>
                <a:gd name="T109" fmla="*/ 0 h 305"/>
                <a:gd name="T110" fmla="*/ 265 w 265"/>
                <a:gd name="T111" fmla="*/ 305 h 30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5" h="305">
                  <a:moveTo>
                    <a:pt x="54" y="15"/>
                  </a:moveTo>
                  <a:lnTo>
                    <a:pt x="55" y="8"/>
                  </a:lnTo>
                  <a:lnTo>
                    <a:pt x="59" y="2"/>
                  </a:lnTo>
                  <a:lnTo>
                    <a:pt x="65" y="0"/>
                  </a:lnTo>
                  <a:lnTo>
                    <a:pt x="73" y="0"/>
                  </a:lnTo>
                  <a:lnTo>
                    <a:pt x="129" y="16"/>
                  </a:lnTo>
                  <a:lnTo>
                    <a:pt x="137" y="19"/>
                  </a:lnTo>
                  <a:lnTo>
                    <a:pt x="144" y="25"/>
                  </a:lnTo>
                  <a:lnTo>
                    <a:pt x="151" y="32"/>
                  </a:lnTo>
                  <a:lnTo>
                    <a:pt x="154" y="39"/>
                  </a:lnTo>
                  <a:lnTo>
                    <a:pt x="195" y="190"/>
                  </a:lnTo>
                  <a:lnTo>
                    <a:pt x="198" y="199"/>
                  </a:lnTo>
                  <a:lnTo>
                    <a:pt x="203" y="207"/>
                  </a:lnTo>
                  <a:lnTo>
                    <a:pt x="210" y="214"/>
                  </a:lnTo>
                  <a:lnTo>
                    <a:pt x="217" y="218"/>
                  </a:lnTo>
                  <a:lnTo>
                    <a:pt x="245" y="233"/>
                  </a:lnTo>
                  <a:lnTo>
                    <a:pt x="251" y="237"/>
                  </a:lnTo>
                  <a:lnTo>
                    <a:pt x="257" y="245"/>
                  </a:lnTo>
                  <a:lnTo>
                    <a:pt x="261" y="253"/>
                  </a:lnTo>
                  <a:lnTo>
                    <a:pt x="263" y="262"/>
                  </a:lnTo>
                  <a:lnTo>
                    <a:pt x="265" y="288"/>
                  </a:lnTo>
                  <a:lnTo>
                    <a:pt x="264" y="296"/>
                  </a:lnTo>
                  <a:lnTo>
                    <a:pt x="260" y="302"/>
                  </a:lnTo>
                  <a:lnTo>
                    <a:pt x="254" y="304"/>
                  </a:lnTo>
                  <a:lnTo>
                    <a:pt x="247" y="305"/>
                  </a:lnTo>
                  <a:lnTo>
                    <a:pt x="7" y="267"/>
                  </a:lnTo>
                  <a:lnTo>
                    <a:pt x="2" y="264"/>
                  </a:lnTo>
                  <a:lnTo>
                    <a:pt x="0" y="261"/>
                  </a:lnTo>
                  <a:lnTo>
                    <a:pt x="1" y="258"/>
                  </a:lnTo>
                  <a:lnTo>
                    <a:pt x="5" y="253"/>
                  </a:lnTo>
                  <a:lnTo>
                    <a:pt x="37" y="235"/>
                  </a:lnTo>
                  <a:lnTo>
                    <a:pt x="44" y="230"/>
                  </a:lnTo>
                  <a:lnTo>
                    <a:pt x="49" y="222"/>
                  </a:lnTo>
                  <a:lnTo>
                    <a:pt x="53" y="214"/>
                  </a:lnTo>
                  <a:lnTo>
                    <a:pt x="54" y="205"/>
                  </a:lnTo>
                  <a:lnTo>
                    <a:pt x="54" y="15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4" name="Freeform 231"/>
            <p:cNvSpPr>
              <a:spLocks/>
            </p:cNvSpPr>
            <p:nvPr/>
          </p:nvSpPr>
          <p:spPr bwMode="auto">
            <a:xfrm>
              <a:off x="1217" y="3608"/>
              <a:ext cx="74" cy="46"/>
            </a:xfrm>
            <a:custGeom>
              <a:avLst/>
              <a:gdLst>
                <a:gd name="T0" fmla="*/ 0 w 442"/>
                <a:gd name="T1" fmla="*/ 1 h 276"/>
                <a:gd name="T2" fmla="*/ 0 w 442"/>
                <a:gd name="T3" fmla="*/ 1 h 276"/>
                <a:gd name="T4" fmla="*/ 0 w 442"/>
                <a:gd name="T5" fmla="*/ 1 h 276"/>
                <a:gd name="T6" fmla="*/ 0 w 442"/>
                <a:gd name="T7" fmla="*/ 1 h 276"/>
                <a:gd name="T8" fmla="*/ 0 w 442"/>
                <a:gd name="T9" fmla="*/ 1 h 276"/>
                <a:gd name="T10" fmla="*/ 2 w 442"/>
                <a:gd name="T11" fmla="*/ 0 h 276"/>
                <a:gd name="T12" fmla="*/ 2 w 442"/>
                <a:gd name="T13" fmla="*/ 0 h 276"/>
                <a:gd name="T14" fmla="*/ 2 w 442"/>
                <a:gd name="T15" fmla="*/ 0 h 276"/>
                <a:gd name="T16" fmla="*/ 2 w 442"/>
                <a:gd name="T17" fmla="*/ 0 h 276"/>
                <a:gd name="T18" fmla="*/ 2 w 442"/>
                <a:gd name="T19" fmla="*/ 0 h 276"/>
                <a:gd name="T20" fmla="*/ 2 w 442"/>
                <a:gd name="T21" fmla="*/ 0 h 276"/>
                <a:gd name="T22" fmla="*/ 2 w 442"/>
                <a:gd name="T23" fmla="*/ 0 h 276"/>
                <a:gd name="T24" fmla="*/ 2 w 442"/>
                <a:gd name="T25" fmla="*/ 0 h 276"/>
                <a:gd name="T26" fmla="*/ 2 w 442"/>
                <a:gd name="T27" fmla="*/ 0 h 276"/>
                <a:gd name="T28" fmla="*/ 2 w 442"/>
                <a:gd name="T29" fmla="*/ 0 h 276"/>
                <a:gd name="T30" fmla="*/ 0 w 442"/>
                <a:gd name="T31" fmla="*/ 1 h 276"/>
                <a:gd name="T32" fmla="*/ 0 w 442"/>
                <a:gd name="T33" fmla="*/ 1 h 276"/>
                <a:gd name="T34" fmla="*/ 0 w 442"/>
                <a:gd name="T35" fmla="*/ 1 h 276"/>
                <a:gd name="T36" fmla="*/ 0 w 442"/>
                <a:gd name="T37" fmla="*/ 1 h 276"/>
                <a:gd name="T38" fmla="*/ 0 w 442"/>
                <a:gd name="T39" fmla="*/ 1 h 276"/>
                <a:gd name="T40" fmla="*/ 0 w 442"/>
                <a:gd name="T41" fmla="*/ 1 h 2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2"/>
                <a:gd name="T64" fmla="*/ 0 h 276"/>
                <a:gd name="T65" fmla="*/ 442 w 442"/>
                <a:gd name="T66" fmla="*/ 276 h 2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2" h="276">
                  <a:moveTo>
                    <a:pt x="0" y="236"/>
                  </a:moveTo>
                  <a:lnTo>
                    <a:pt x="1" y="227"/>
                  </a:lnTo>
                  <a:lnTo>
                    <a:pt x="4" y="219"/>
                  </a:lnTo>
                  <a:lnTo>
                    <a:pt x="10" y="213"/>
                  </a:lnTo>
                  <a:lnTo>
                    <a:pt x="17" y="207"/>
                  </a:lnTo>
                  <a:lnTo>
                    <a:pt x="424" y="2"/>
                  </a:lnTo>
                  <a:lnTo>
                    <a:pt x="431" y="0"/>
                  </a:lnTo>
                  <a:lnTo>
                    <a:pt x="436" y="1"/>
                  </a:lnTo>
                  <a:lnTo>
                    <a:pt x="441" y="6"/>
                  </a:lnTo>
                  <a:lnTo>
                    <a:pt x="442" y="12"/>
                  </a:lnTo>
                  <a:lnTo>
                    <a:pt x="442" y="30"/>
                  </a:lnTo>
                  <a:lnTo>
                    <a:pt x="441" y="39"/>
                  </a:lnTo>
                  <a:lnTo>
                    <a:pt x="438" y="47"/>
                  </a:lnTo>
                  <a:lnTo>
                    <a:pt x="432" y="55"/>
                  </a:lnTo>
                  <a:lnTo>
                    <a:pt x="425" y="60"/>
                  </a:lnTo>
                  <a:lnTo>
                    <a:pt x="21" y="273"/>
                  </a:lnTo>
                  <a:lnTo>
                    <a:pt x="14" y="276"/>
                  </a:lnTo>
                  <a:lnTo>
                    <a:pt x="9" y="273"/>
                  </a:lnTo>
                  <a:lnTo>
                    <a:pt x="4" y="269"/>
                  </a:lnTo>
                  <a:lnTo>
                    <a:pt x="2" y="262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5" name="Freeform 232"/>
            <p:cNvSpPr>
              <a:spLocks/>
            </p:cNvSpPr>
            <p:nvPr/>
          </p:nvSpPr>
          <p:spPr bwMode="auto">
            <a:xfrm>
              <a:off x="1233" y="3575"/>
              <a:ext cx="41" cy="38"/>
            </a:xfrm>
            <a:custGeom>
              <a:avLst/>
              <a:gdLst>
                <a:gd name="T0" fmla="*/ 1 w 244"/>
                <a:gd name="T1" fmla="*/ 1 h 227"/>
                <a:gd name="T2" fmla="*/ 1 w 244"/>
                <a:gd name="T3" fmla="*/ 1 h 227"/>
                <a:gd name="T4" fmla="*/ 1 w 244"/>
                <a:gd name="T5" fmla="*/ 1 h 227"/>
                <a:gd name="T6" fmla="*/ 1 w 244"/>
                <a:gd name="T7" fmla="*/ 1 h 227"/>
                <a:gd name="T8" fmla="*/ 1 w 244"/>
                <a:gd name="T9" fmla="*/ 1 h 227"/>
                <a:gd name="T10" fmla="*/ 1 w 244"/>
                <a:gd name="T11" fmla="*/ 1 h 227"/>
                <a:gd name="T12" fmla="*/ 1 w 244"/>
                <a:gd name="T13" fmla="*/ 1 h 227"/>
                <a:gd name="T14" fmla="*/ 1 w 244"/>
                <a:gd name="T15" fmla="*/ 1 h 227"/>
                <a:gd name="T16" fmla="*/ 1 w 244"/>
                <a:gd name="T17" fmla="*/ 1 h 227"/>
                <a:gd name="T18" fmla="*/ 0 w 244"/>
                <a:gd name="T19" fmla="*/ 1 h 227"/>
                <a:gd name="T20" fmla="*/ 0 w 244"/>
                <a:gd name="T21" fmla="*/ 1 h 227"/>
                <a:gd name="T22" fmla="*/ 0 w 244"/>
                <a:gd name="T23" fmla="*/ 1 h 227"/>
                <a:gd name="T24" fmla="*/ 0 w 244"/>
                <a:gd name="T25" fmla="*/ 1 h 227"/>
                <a:gd name="T26" fmla="*/ 0 w 244"/>
                <a:gd name="T27" fmla="*/ 1 h 227"/>
                <a:gd name="T28" fmla="*/ 0 w 244"/>
                <a:gd name="T29" fmla="*/ 0 h 227"/>
                <a:gd name="T30" fmla="*/ 0 w 244"/>
                <a:gd name="T31" fmla="*/ 0 h 227"/>
                <a:gd name="T32" fmla="*/ 0 w 244"/>
                <a:gd name="T33" fmla="*/ 0 h 227"/>
                <a:gd name="T34" fmla="*/ 0 w 244"/>
                <a:gd name="T35" fmla="*/ 0 h 227"/>
                <a:gd name="T36" fmla="*/ 0 w 244"/>
                <a:gd name="T37" fmla="*/ 0 h 227"/>
                <a:gd name="T38" fmla="*/ 0 w 244"/>
                <a:gd name="T39" fmla="*/ 0 h 227"/>
                <a:gd name="T40" fmla="*/ 0 w 244"/>
                <a:gd name="T41" fmla="*/ 0 h 227"/>
                <a:gd name="T42" fmla="*/ 0 w 244"/>
                <a:gd name="T43" fmla="*/ 0 h 227"/>
                <a:gd name="T44" fmla="*/ 0 w 244"/>
                <a:gd name="T45" fmla="*/ 0 h 227"/>
                <a:gd name="T46" fmla="*/ 0 w 244"/>
                <a:gd name="T47" fmla="*/ 0 h 227"/>
                <a:gd name="T48" fmla="*/ 0 w 244"/>
                <a:gd name="T49" fmla="*/ 0 h 227"/>
                <a:gd name="T50" fmla="*/ 1 w 244"/>
                <a:gd name="T51" fmla="*/ 0 h 227"/>
                <a:gd name="T52" fmla="*/ 1 w 244"/>
                <a:gd name="T53" fmla="*/ 0 h 227"/>
                <a:gd name="T54" fmla="*/ 1 w 244"/>
                <a:gd name="T55" fmla="*/ 0 h 227"/>
                <a:gd name="T56" fmla="*/ 1 w 244"/>
                <a:gd name="T57" fmla="*/ 0 h 227"/>
                <a:gd name="T58" fmla="*/ 1 w 244"/>
                <a:gd name="T59" fmla="*/ 0 h 227"/>
                <a:gd name="T60" fmla="*/ 1 w 244"/>
                <a:gd name="T61" fmla="*/ 0 h 227"/>
                <a:gd name="T62" fmla="*/ 1 w 244"/>
                <a:gd name="T63" fmla="*/ 0 h 227"/>
                <a:gd name="T64" fmla="*/ 1 w 244"/>
                <a:gd name="T65" fmla="*/ 0 h 227"/>
                <a:gd name="T66" fmla="*/ 1 w 244"/>
                <a:gd name="T67" fmla="*/ 1 h 227"/>
                <a:gd name="T68" fmla="*/ 1 w 244"/>
                <a:gd name="T69" fmla="*/ 1 h 227"/>
                <a:gd name="T70" fmla="*/ 1 w 244"/>
                <a:gd name="T71" fmla="*/ 1 h 227"/>
                <a:gd name="T72" fmla="*/ 1 w 244"/>
                <a:gd name="T73" fmla="*/ 1 h 227"/>
                <a:gd name="T74" fmla="*/ 1 w 244"/>
                <a:gd name="T75" fmla="*/ 1 h 227"/>
                <a:gd name="T76" fmla="*/ 1 w 244"/>
                <a:gd name="T77" fmla="*/ 1 h 2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44"/>
                <a:gd name="T118" fmla="*/ 0 h 227"/>
                <a:gd name="T119" fmla="*/ 244 w 244"/>
                <a:gd name="T120" fmla="*/ 227 h 22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44" h="227">
                  <a:moveTo>
                    <a:pt x="141" y="223"/>
                  </a:moveTo>
                  <a:lnTo>
                    <a:pt x="138" y="224"/>
                  </a:lnTo>
                  <a:lnTo>
                    <a:pt x="133" y="226"/>
                  </a:lnTo>
                  <a:lnTo>
                    <a:pt x="128" y="226"/>
                  </a:lnTo>
                  <a:lnTo>
                    <a:pt x="123" y="227"/>
                  </a:lnTo>
                  <a:lnTo>
                    <a:pt x="118" y="227"/>
                  </a:lnTo>
                  <a:lnTo>
                    <a:pt x="113" y="227"/>
                  </a:lnTo>
                  <a:lnTo>
                    <a:pt x="108" y="227"/>
                  </a:lnTo>
                  <a:lnTo>
                    <a:pt x="104" y="226"/>
                  </a:lnTo>
                  <a:lnTo>
                    <a:pt x="33" y="205"/>
                  </a:lnTo>
                  <a:lnTo>
                    <a:pt x="25" y="202"/>
                  </a:lnTo>
                  <a:lnTo>
                    <a:pt x="18" y="196"/>
                  </a:lnTo>
                  <a:lnTo>
                    <a:pt x="13" y="188"/>
                  </a:lnTo>
                  <a:lnTo>
                    <a:pt x="11" y="180"/>
                  </a:lnTo>
                  <a:lnTo>
                    <a:pt x="0" y="51"/>
                  </a:lnTo>
                  <a:lnTo>
                    <a:pt x="1" y="43"/>
                  </a:lnTo>
                  <a:lnTo>
                    <a:pt x="3" y="35"/>
                  </a:lnTo>
                  <a:lnTo>
                    <a:pt x="9" y="28"/>
                  </a:lnTo>
                  <a:lnTo>
                    <a:pt x="16" y="24"/>
                  </a:lnTo>
                  <a:lnTo>
                    <a:pt x="60" y="5"/>
                  </a:lnTo>
                  <a:lnTo>
                    <a:pt x="64" y="4"/>
                  </a:lnTo>
                  <a:lnTo>
                    <a:pt x="69" y="2"/>
                  </a:lnTo>
                  <a:lnTo>
                    <a:pt x="73" y="1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7" y="1"/>
                  </a:lnTo>
                  <a:lnTo>
                    <a:pt x="145" y="13"/>
                  </a:lnTo>
                  <a:lnTo>
                    <a:pt x="153" y="16"/>
                  </a:lnTo>
                  <a:lnTo>
                    <a:pt x="161" y="20"/>
                  </a:lnTo>
                  <a:lnTo>
                    <a:pt x="168" y="27"/>
                  </a:lnTo>
                  <a:lnTo>
                    <a:pt x="174" y="34"/>
                  </a:lnTo>
                  <a:lnTo>
                    <a:pt x="241" y="157"/>
                  </a:lnTo>
                  <a:lnTo>
                    <a:pt x="244" y="163"/>
                  </a:lnTo>
                  <a:lnTo>
                    <a:pt x="244" y="170"/>
                  </a:lnTo>
                  <a:lnTo>
                    <a:pt x="240" y="177"/>
                  </a:lnTo>
                  <a:lnTo>
                    <a:pt x="233" y="181"/>
                  </a:lnTo>
                  <a:lnTo>
                    <a:pt x="141" y="22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6" name="Freeform 233"/>
            <p:cNvSpPr>
              <a:spLocks/>
            </p:cNvSpPr>
            <p:nvPr/>
          </p:nvSpPr>
          <p:spPr bwMode="auto">
            <a:xfrm>
              <a:off x="1233" y="3581"/>
              <a:ext cx="20" cy="32"/>
            </a:xfrm>
            <a:custGeom>
              <a:avLst/>
              <a:gdLst>
                <a:gd name="T0" fmla="*/ 1 w 118"/>
                <a:gd name="T1" fmla="*/ 1 h 191"/>
                <a:gd name="T2" fmla="*/ 1 w 118"/>
                <a:gd name="T3" fmla="*/ 1 h 191"/>
                <a:gd name="T4" fmla="*/ 1 w 118"/>
                <a:gd name="T5" fmla="*/ 1 h 191"/>
                <a:gd name="T6" fmla="*/ 1 w 118"/>
                <a:gd name="T7" fmla="*/ 1 h 191"/>
                <a:gd name="T8" fmla="*/ 1 w 118"/>
                <a:gd name="T9" fmla="*/ 1 h 191"/>
                <a:gd name="T10" fmla="*/ 0 w 118"/>
                <a:gd name="T11" fmla="*/ 0 h 191"/>
                <a:gd name="T12" fmla="*/ 0 w 118"/>
                <a:gd name="T13" fmla="*/ 0 h 191"/>
                <a:gd name="T14" fmla="*/ 0 w 118"/>
                <a:gd name="T15" fmla="*/ 0 h 191"/>
                <a:gd name="T16" fmla="*/ 0 w 118"/>
                <a:gd name="T17" fmla="*/ 0 h 191"/>
                <a:gd name="T18" fmla="*/ 0 w 118"/>
                <a:gd name="T19" fmla="*/ 0 h 191"/>
                <a:gd name="T20" fmla="*/ 0 w 118"/>
                <a:gd name="T21" fmla="*/ 0 h 191"/>
                <a:gd name="T22" fmla="*/ 0 w 118"/>
                <a:gd name="T23" fmla="*/ 0 h 191"/>
                <a:gd name="T24" fmla="*/ 0 w 118"/>
                <a:gd name="T25" fmla="*/ 0 h 191"/>
                <a:gd name="T26" fmla="*/ 0 w 118"/>
                <a:gd name="T27" fmla="*/ 0 h 191"/>
                <a:gd name="T28" fmla="*/ 0 w 118"/>
                <a:gd name="T29" fmla="*/ 0 h 191"/>
                <a:gd name="T30" fmla="*/ 0 w 118"/>
                <a:gd name="T31" fmla="*/ 1 h 191"/>
                <a:gd name="T32" fmla="*/ 0 w 118"/>
                <a:gd name="T33" fmla="*/ 1 h 191"/>
                <a:gd name="T34" fmla="*/ 0 w 118"/>
                <a:gd name="T35" fmla="*/ 1 h 191"/>
                <a:gd name="T36" fmla="*/ 0 w 118"/>
                <a:gd name="T37" fmla="*/ 1 h 191"/>
                <a:gd name="T38" fmla="*/ 0 w 118"/>
                <a:gd name="T39" fmla="*/ 1 h 191"/>
                <a:gd name="T40" fmla="*/ 1 w 118"/>
                <a:gd name="T41" fmla="*/ 1 h 1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8"/>
                <a:gd name="T64" fmla="*/ 0 h 191"/>
                <a:gd name="T65" fmla="*/ 118 w 118"/>
                <a:gd name="T66" fmla="*/ 191 h 1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8" h="191">
                  <a:moveTo>
                    <a:pt x="104" y="190"/>
                  </a:moveTo>
                  <a:lnTo>
                    <a:pt x="112" y="191"/>
                  </a:lnTo>
                  <a:lnTo>
                    <a:pt x="116" y="188"/>
                  </a:lnTo>
                  <a:lnTo>
                    <a:pt x="118" y="184"/>
                  </a:lnTo>
                  <a:lnTo>
                    <a:pt x="118" y="177"/>
                  </a:lnTo>
                  <a:lnTo>
                    <a:pt x="83" y="36"/>
                  </a:lnTo>
                  <a:lnTo>
                    <a:pt x="80" y="28"/>
                  </a:lnTo>
                  <a:lnTo>
                    <a:pt x="74" y="22"/>
                  </a:lnTo>
                  <a:lnTo>
                    <a:pt x="68" y="15"/>
                  </a:lnTo>
                  <a:lnTo>
                    <a:pt x="60" y="11"/>
                  </a:lnTo>
                  <a:lnTo>
                    <a:pt x="17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1" y="8"/>
                  </a:lnTo>
                  <a:lnTo>
                    <a:pt x="0" y="15"/>
                  </a:lnTo>
                  <a:lnTo>
                    <a:pt x="11" y="144"/>
                  </a:lnTo>
                  <a:lnTo>
                    <a:pt x="13" y="152"/>
                  </a:lnTo>
                  <a:lnTo>
                    <a:pt x="18" y="160"/>
                  </a:lnTo>
                  <a:lnTo>
                    <a:pt x="25" y="166"/>
                  </a:lnTo>
                  <a:lnTo>
                    <a:pt x="33" y="169"/>
                  </a:lnTo>
                  <a:lnTo>
                    <a:pt x="104" y="190"/>
                  </a:lnTo>
                  <a:close/>
                </a:path>
              </a:pathLst>
            </a:custGeom>
            <a:solidFill>
              <a:srgbClr val="EDED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7" name="Freeform 234"/>
            <p:cNvSpPr>
              <a:spLocks/>
            </p:cNvSpPr>
            <p:nvPr/>
          </p:nvSpPr>
          <p:spPr bwMode="auto">
            <a:xfrm>
              <a:off x="1208" y="3605"/>
              <a:ext cx="81" cy="38"/>
            </a:xfrm>
            <a:custGeom>
              <a:avLst/>
              <a:gdLst>
                <a:gd name="T0" fmla="*/ 1 w 484"/>
                <a:gd name="T1" fmla="*/ 1 h 230"/>
                <a:gd name="T2" fmla="*/ 1 w 484"/>
                <a:gd name="T3" fmla="*/ 0 h 230"/>
                <a:gd name="T4" fmla="*/ 0 w 484"/>
                <a:gd name="T5" fmla="*/ 0 h 230"/>
                <a:gd name="T6" fmla="*/ 0 w 484"/>
                <a:gd name="T7" fmla="*/ 0 h 230"/>
                <a:gd name="T8" fmla="*/ 1 w 484"/>
                <a:gd name="T9" fmla="*/ 0 h 230"/>
                <a:gd name="T10" fmla="*/ 1 w 484"/>
                <a:gd name="T11" fmla="*/ 0 h 230"/>
                <a:gd name="T12" fmla="*/ 1 w 484"/>
                <a:gd name="T13" fmla="*/ 0 h 230"/>
                <a:gd name="T14" fmla="*/ 1 w 484"/>
                <a:gd name="T15" fmla="*/ 0 h 230"/>
                <a:gd name="T16" fmla="*/ 1 w 484"/>
                <a:gd name="T17" fmla="*/ 0 h 230"/>
                <a:gd name="T18" fmla="*/ 1 w 484"/>
                <a:gd name="T19" fmla="*/ 0 h 230"/>
                <a:gd name="T20" fmla="*/ 1 w 484"/>
                <a:gd name="T21" fmla="*/ 0 h 230"/>
                <a:gd name="T22" fmla="*/ 1 w 484"/>
                <a:gd name="T23" fmla="*/ 0 h 230"/>
                <a:gd name="T24" fmla="*/ 1 w 484"/>
                <a:gd name="T25" fmla="*/ 0 h 230"/>
                <a:gd name="T26" fmla="*/ 1 w 484"/>
                <a:gd name="T27" fmla="*/ 0 h 230"/>
                <a:gd name="T28" fmla="*/ 1 w 484"/>
                <a:gd name="T29" fmla="*/ 0 h 230"/>
                <a:gd name="T30" fmla="*/ 1 w 484"/>
                <a:gd name="T31" fmla="*/ 0 h 230"/>
                <a:gd name="T32" fmla="*/ 1 w 484"/>
                <a:gd name="T33" fmla="*/ 0 h 230"/>
                <a:gd name="T34" fmla="*/ 1 w 484"/>
                <a:gd name="T35" fmla="*/ 0 h 230"/>
                <a:gd name="T36" fmla="*/ 1 w 484"/>
                <a:gd name="T37" fmla="*/ 0 h 230"/>
                <a:gd name="T38" fmla="*/ 1 w 484"/>
                <a:gd name="T39" fmla="*/ 0 h 230"/>
                <a:gd name="T40" fmla="*/ 1 w 484"/>
                <a:gd name="T41" fmla="*/ 0 h 230"/>
                <a:gd name="T42" fmla="*/ 1 w 484"/>
                <a:gd name="T43" fmla="*/ 0 h 230"/>
                <a:gd name="T44" fmla="*/ 1 w 484"/>
                <a:gd name="T45" fmla="*/ 0 h 230"/>
                <a:gd name="T46" fmla="*/ 1 w 484"/>
                <a:gd name="T47" fmla="*/ 0 h 230"/>
                <a:gd name="T48" fmla="*/ 2 w 484"/>
                <a:gd name="T49" fmla="*/ 0 h 230"/>
                <a:gd name="T50" fmla="*/ 2 w 484"/>
                <a:gd name="T51" fmla="*/ 0 h 230"/>
                <a:gd name="T52" fmla="*/ 2 w 484"/>
                <a:gd name="T53" fmla="*/ 0 h 230"/>
                <a:gd name="T54" fmla="*/ 2 w 484"/>
                <a:gd name="T55" fmla="*/ 0 h 230"/>
                <a:gd name="T56" fmla="*/ 2 w 484"/>
                <a:gd name="T57" fmla="*/ 0 h 230"/>
                <a:gd name="T58" fmla="*/ 2 w 484"/>
                <a:gd name="T59" fmla="*/ 0 h 230"/>
                <a:gd name="T60" fmla="*/ 2 w 484"/>
                <a:gd name="T61" fmla="*/ 0 h 230"/>
                <a:gd name="T62" fmla="*/ 2 w 484"/>
                <a:gd name="T63" fmla="*/ 0 h 230"/>
                <a:gd name="T64" fmla="*/ 2 w 484"/>
                <a:gd name="T65" fmla="*/ 0 h 230"/>
                <a:gd name="T66" fmla="*/ 2 w 484"/>
                <a:gd name="T67" fmla="*/ 0 h 230"/>
                <a:gd name="T68" fmla="*/ 2 w 484"/>
                <a:gd name="T69" fmla="*/ 0 h 230"/>
                <a:gd name="T70" fmla="*/ 2 w 484"/>
                <a:gd name="T71" fmla="*/ 0 h 230"/>
                <a:gd name="T72" fmla="*/ 2 w 484"/>
                <a:gd name="T73" fmla="*/ 0 h 230"/>
                <a:gd name="T74" fmla="*/ 2 w 484"/>
                <a:gd name="T75" fmla="*/ 0 h 230"/>
                <a:gd name="T76" fmla="*/ 0 w 484"/>
                <a:gd name="T77" fmla="*/ 1 h 230"/>
                <a:gd name="T78" fmla="*/ 0 w 484"/>
                <a:gd name="T79" fmla="*/ 1 h 230"/>
                <a:gd name="T80" fmla="*/ 0 w 484"/>
                <a:gd name="T81" fmla="*/ 1 h 230"/>
                <a:gd name="T82" fmla="*/ 0 w 484"/>
                <a:gd name="T83" fmla="*/ 1 h 230"/>
                <a:gd name="T84" fmla="*/ 0 w 484"/>
                <a:gd name="T85" fmla="*/ 1 h 230"/>
                <a:gd name="T86" fmla="*/ 0 w 484"/>
                <a:gd name="T87" fmla="*/ 1 h 230"/>
                <a:gd name="T88" fmla="*/ 0 w 484"/>
                <a:gd name="T89" fmla="*/ 1 h 230"/>
                <a:gd name="T90" fmla="*/ 0 w 484"/>
                <a:gd name="T91" fmla="*/ 1 h 230"/>
                <a:gd name="T92" fmla="*/ 0 w 484"/>
                <a:gd name="T93" fmla="*/ 1 h 230"/>
                <a:gd name="T94" fmla="*/ 0 w 484"/>
                <a:gd name="T95" fmla="*/ 1 h 230"/>
                <a:gd name="T96" fmla="*/ 0 w 484"/>
                <a:gd name="T97" fmla="*/ 1 h 230"/>
                <a:gd name="T98" fmla="*/ 0 w 484"/>
                <a:gd name="T99" fmla="*/ 1 h 230"/>
                <a:gd name="T100" fmla="*/ 0 w 484"/>
                <a:gd name="T101" fmla="*/ 1 h 230"/>
                <a:gd name="T102" fmla="*/ 0 w 484"/>
                <a:gd name="T103" fmla="*/ 1 h 230"/>
                <a:gd name="T104" fmla="*/ 1 w 484"/>
                <a:gd name="T105" fmla="*/ 1 h 23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4"/>
                <a:gd name="T160" fmla="*/ 0 h 230"/>
                <a:gd name="T161" fmla="*/ 484 w 484"/>
                <a:gd name="T162" fmla="*/ 230 h 23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4" h="230">
                  <a:moveTo>
                    <a:pt x="118" y="132"/>
                  </a:moveTo>
                  <a:lnTo>
                    <a:pt x="88" y="82"/>
                  </a:lnTo>
                  <a:lnTo>
                    <a:pt x="85" y="75"/>
                  </a:lnTo>
                  <a:lnTo>
                    <a:pt x="85" y="67"/>
                  </a:lnTo>
                  <a:lnTo>
                    <a:pt x="89" y="60"/>
                  </a:lnTo>
                  <a:lnTo>
                    <a:pt x="95" y="56"/>
                  </a:lnTo>
                  <a:lnTo>
                    <a:pt x="146" y="32"/>
                  </a:lnTo>
                  <a:lnTo>
                    <a:pt x="151" y="31"/>
                  </a:lnTo>
                  <a:lnTo>
                    <a:pt x="155" y="30"/>
                  </a:lnTo>
                  <a:lnTo>
                    <a:pt x="160" y="29"/>
                  </a:lnTo>
                  <a:lnTo>
                    <a:pt x="164" y="28"/>
                  </a:lnTo>
                  <a:lnTo>
                    <a:pt x="170" y="28"/>
                  </a:lnTo>
                  <a:lnTo>
                    <a:pt x="175" y="28"/>
                  </a:lnTo>
                  <a:lnTo>
                    <a:pt x="179" y="28"/>
                  </a:lnTo>
                  <a:lnTo>
                    <a:pt x="184" y="29"/>
                  </a:lnTo>
                  <a:lnTo>
                    <a:pt x="255" y="50"/>
                  </a:lnTo>
                  <a:lnTo>
                    <a:pt x="259" y="51"/>
                  </a:lnTo>
                  <a:lnTo>
                    <a:pt x="264" y="51"/>
                  </a:lnTo>
                  <a:lnTo>
                    <a:pt x="269" y="51"/>
                  </a:lnTo>
                  <a:lnTo>
                    <a:pt x="274" y="51"/>
                  </a:lnTo>
                  <a:lnTo>
                    <a:pt x="279" y="50"/>
                  </a:lnTo>
                  <a:lnTo>
                    <a:pt x="284" y="50"/>
                  </a:lnTo>
                  <a:lnTo>
                    <a:pt x="289" y="48"/>
                  </a:lnTo>
                  <a:lnTo>
                    <a:pt x="292" y="47"/>
                  </a:lnTo>
                  <a:lnTo>
                    <a:pt x="384" y="5"/>
                  </a:lnTo>
                  <a:lnTo>
                    <a:pt x="389" y="4"/>
                  </a:lnTo>
                  <a:lnTo>
                    <a:pt x="394" y="2"/>
                  </a:lnTo>
                  <a:lnTo>
                    <a:pt x="398" y="1"/>
                  </a:lnTo>
                  <a:lnTo>
                    <a:pt x="404" y="1"/>
                  </a:lnTo>
                  <a:lnTo>
                    <a:pt x="408" y="0"/>
                  </a:lnTo>
                  <a:lnTo>
                    <a:pt x="413" y="0"/>
                  </a:lnTo>
                  <a:lnTo>
                    <a:pt x="417" y="0"/>
                  </a:lnTo>
                  <a:lnTo>
                    <a:pt x="422" y="1"/>
                  </a:lnTo>
                  <a:lnTo>
                    <a:pt x="475" y="10"/>
                  </a:lnTo>
                  <a:lnTo>
                    <a:pt x="482" y="12"/>
                  </a:lnTo>
                  <a:lnTo>
                    <a:pt x="484" y="14"/>
                  </a:lnTo>
                  <a:lnTo>
                    <a:pt x="483" y="18"/>
                  </a:lnTo>
                  <a:lnTo>
                    <a:pt x="477" y="22"/>
                  </a:lnTo>
                  <a:lnTo>
                    <a:pt x="70" y="227"/>
                  </a:lnTo>
                  <a:lnTo>
                    <a:pt x="65" y="229"/>
                  </a:lnTo>
                  <a:lnTo>
                    <a:pt x="60" y="230"/>
                  </a:lnTo>
                  <a:lnTo>
                    <a:pt x="56" y="230"/>
                  </a:lnTo>
                  <a:lnTo>
                    <a:pt x="51" y="230"/>
                  </a:lnTo>
                  <a:lnTo>
                    <a:pt x="47" y="230"/>
                  </a:lnTo>
                  <a:lnTo>
                    <a:pt x="42" y="229"/>
                  </a:lnTo>
                  <a:lnTo>
                    <a:pt x="38" y="228"/>
                  </a:lnTo>
                  <a:lnTo>
                    <a:pt x="35" y="227"/>
                  </a:lnTo>
                  <a:lnTo>
                    <a:pt x="7" y="212"/>
                  </a:lnTo>
                  <a:lnTo>
                    <a:pt x="2" y="208"/>
                  </a:lnTo>
                  <a:lnTo>
                    <a:pt x="0" y="203"/>
                  </a:lnTo>
                  <a:lnTo>
                    <a:pt x="2" y="199"/>
                  </a:lnTo>
                  <a:lnTo>
                    <a:pt x="7" y="194"/>
                  </a:lnTo>
                  <a:lnTo>
                    <a:pt x="118" y="132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8" name="Freeform 235"/>
            <p:cNvSpPr>
              <a:spLocks/>
            </p:cNvSpPr>
            <p:nvPr/>
          </p:nvSpPr>
          <p:spPr bwMode="auto">
            <a:xfrm>
              <a:off x="1184" y="3596"/>
              <a:ext cx="43" cy="41"/>
            </a:xfrm>
            <a:custGeom>
              <a:avLst/>
              <a:gdLst>
                <a:gd name="T0" fmla="*/ 0 w 256"/>
                <a:gd name="T1" fmla="*/ 0 h 247"/>
                <a:gd name="T2" fmla="*/ 0 w 256"/>
                <a:gd name="T3" fmla="*/ 0 h 247"/>
                <a:gd name="T4" fmla="*/ 0 w 256"/>
                <a:gd name="T5" fmla="*/ 0 h 247"/>
                <a:gd name="T6" fmla="*/ 0 w 256"/>
                <a:gd name="T7" fmla="*/ 0 h 247"/>
                <a:gd name="T8" fmla="*/ 0 w 256"/>
                <a:gd name="T9" fmla="*/ 0 h 247"/>
                <a:gd name="T10" fmla="*/ 0 w 256"/>
                <a:gd name="T11" fmla="*/ 0 h 247"/>
                <a:gd name="T12" fmla="*/ 0 w 256"/>
                <a:gd name="T13" fmla="*/ 0 h 247"/>
                <a:gd name="T14" fmla="*/ 0 w 256"/>
                <a:gd name="T15" fmla="*/ 0 h 247"/>
                <a:gd name="T16" fmla="*/ 0 w 256"/>
                <a:gd name="T17" fmla="*/ 0 h 247"/>
                <a:gd name="T18" fmla="*/ 1 w 256"/>
                <a:gd name="T19" fmla="*/ 0 h 247"/>
                <a:gd name="T20" fmla="*/ 1 w 256"/>
                <a:gd name="T21" fmla="*/ 0 h 247"/>
                <a:gd name="T22" fmla="*/ 1 w 256"/>
                <a:gd name="T23" fmla="*/ 0 h 247"/>
                <a:gd name="T24" fmla="*/ 1 w 256"/>
                <a:gd name="T25" fmla="*/ 0 h 247"/>
                <a:gd name="T26" fmla="*/ 1 w 256"/>
                <a:gd name="T27" fmla="*/ 0 h 247"/>
                <a:gd name="T28" fmla="*/ 1 w 256"/>
                <a:gd name="T29" fmla="*/ 0 h 247"/>
                <a:gd name="T30" fmla="*/ 1 w 256"/>
                <a:gd name="T31" fmla="*/ 0 h 247"/>
                <a:gd name="T32" fmla="*/ 1 w 256"/>
                <a:gd name="T33" fmla="*/ 0 h 247"/>
                <a:gd name="T34" fmla="*/ 1 w 256"/>
                <a:gd name="T35" fmla="*/ 0 h 247"/>
                <a:gd name="T36" fmla="*/ 1 w 256"/>
                <a:gd name="T37" fmla="*/ 0 h 247"/>
                <a:gd name="T38" fmla="*/ 1 w 256"/>
                <a:gd name="T39" fmla="*/ 0 h 247"/>
                <a:gd name="T40" fmla="*/ 1 w 256"/>
                <a:gd name="T41" fmla="*/ 0 h 247"/>
                <a:gd name="T42" fmla="*/ 1 w 256"/>
                <a:gd name="T43" fmla="*/ 0 h 247"/>
                <a:gd name="T44" fmla="*/ 1 w 256"/>
                <a:gd name="T45" fmla="*/ 0 h 247"/>
                <a:gd name="T46" fmla="*/ 1 w 256"/>
                <a:gd name="T47" fmla="*/ 1 h 247"/>
                <a:gd name="T48" fmla="*/ 1 w 256"/>
                <a:gd name="T49" fmla="*/ 1 h 247"/>
                <a:gd name="T50" fmla="*/ 1 w 256"/>
                <a:gd name="T51" fmla="*/ 1 h 247"/>
                <a:gd name="T52" fmla="*/ 1 w 256"/>
                <a:gd name="T53" fmla="*/ 1 h 247"/>
                <a:gd name="T54" fmla="*/ 1 w 256"/>
                <a:gd name="T55" fmla="*/ 1 h 247"/>
                <a:gd name="T56" fmla="*/ 1 w 256"/>
                <a:gd name="T57" fmla="*/ 1 h 247"/>
                <a:gd name="T58" fmla="*/ 1 w 256"/>
                <a:gd name="T59" fmla="*/ 1 h 247"/>
                <a:gd name="T60" fmla="*/ 1 w 256"/>
                <a:gd name="T61" fmla="*/ 1 h 247"/>
                <a:gd name="T62" fmla="*/ 1 w 256"/>
                <a:gd name="T63" fmla="*/ 1 h 247"/>
                <a:gd name="T64" fmla="*/ 1 w 256"/>
                <a:gd name="T65" fmla="*/ 1 h 247"/>
                <a:gd name="T66" fmla="*/ 1 w 256"/>
                <a:gd name="T67" fmla="*/ 1 h 247"/>
                <a:gd name="T68" fmla="*/ 1 w 256"/>
                <a:gd name="T69" fmla="*/ 0 h 247"/>
                <a:gd name="T70" fmla="*/ 1 w 256"/>
                <a:gd name="T71" fmla="*/ 0 h 247"/>
                <a:gd name="T72" fmla="*/ 0 w 256"/>
                <a:gd name="T73" fmla="*/ 0 h 247"/>
                <a:gd name="T74" fmla="*/ 0 w 256"/>
                <a:gd name="T75" fmla="*/ 0 h 247"/>
                <a:gd name="T76" fmla="*/ 0 w 256"/>
                <a:gd name="T77" fmla="*/ 0 h 247"/>
                <a:gd name="T78" fmla="*/ 0 w 256"/>
                <a:gd name="T79" fmla="*/ 0 h 24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6"/>
                <a:gd name="T121" fmla="*/ 0 h 247"/>
                <a:gd name="T122" fmla="*/ 256 w 256"/>
                <a:gd name="T123" fmla="*/ 247 h 24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6" h="247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2" y="26"/>
                  </a:lnTo>
                  <a:lnTo>
                    <a:pt x="171" y="33"/>
                  </a:lnTo>
                  <a:lnTo>
                    <a:pt x="178" y="40"/>
                  </a:lnTo>
                  <a:lnTo>
                    <a:pt x="184" y="46"/>
                  </a:lnTo>
                  <a:lnTo>
                    <a:pt x="213" y="98"/>
                  </a:lnTo>
                  <a:lnTo>
                    <a:pt x="218" y="106"/>
                  </a:lnTo>
                  <a:lnTo>
                    <a:pt x="223" y="115"/>
                  </a:lnTo>
                  <a:lnTo>
                    <a:pt x="229" y="124"/>
                  </a:lnTo>
                  <a:lnTo>
                    <a:pt x="234" y="132"/>
                  </a:lnTo>
                  <a:lnTo>
                    <a:pt x="254" y="166"/>
                  </a:lnTo>
                  <a:lnTo>
                    <a:pt x="256" y="172"/>
                  </a:lnTo>
                  <a:lnTo>
                    <a:pt x="256" y="180"/>
                  </a:lnTo>
                  <a:lnTo>
                    <a:pt x="253" y="187"/>
                  </a:lnTo>
                  <a:lnTo>
                    <a:pt x="247" y="193"/>
                  </a:lnTo>
                  <a:lnTo>
                    <a:pt x="153" y="244"/>
                  </a:lnTo>
                  <a:lnTo>
                    <a:pt x="146" y="247"/>
                  </a:lnTo>
                  <a:lnTo>
                    <a:pt x="139" y="245"/>
                  </a:lnTo>
                  <a:lnTo>
                    <a:pt x="134" y="241"/>
                  </a:lnTo>
                  <a:lnTo>
                    <a:pt x="131" y="234"/>
                  </a:lnTo>
                  <a:lnTo>
                    <a:pt x="90" y="83"/>
                  </a:lnTo>
                  <a:lnTo>
                    <a:pt x="87" y="76"/>
                  </a:lnTo>
                  <a:lnTo>
                    <a:pt x="80" y="69"/>
                  </a:lnTo>
                  <a:lnTo>
                    <a:pt x="73" y="63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9" name="Freeform 236"/>
            <p:cNvSpPr>
              <a:spLocks/>
            </p:cNvSpPr>
            <p:nvPr/>
          </p:nvSpPr>
          <p:spPr bwMode="auto">
            <a:xfrm>
              <a:off x="1184" y="3596"/>
              <a:ext cx="27" cy="10"/>
            </a:xfrm>
            <a:custGeom>
              <a:avLst/>
              <a:gdLst>
                <a:gd name="T0" fmla="*/ 0 w 162"/>
                <a:gd name="T1" fmla="*/ 0 h 61"/>
                <a:gd name="T2" fmla="*/ 0 w 162"/>
                <a:gd name="T3" fmla="*/ 0 h 61"/>
                <a:gd name="T4" fmla="*/ 0 w 162"/>
                <a:gd name="T5" fmla="*/ 0 h 61"/>
                <a:gd name="T6" fmla="*/ 0 w 162"/>
                <a:gd name="T7" fmla="*/ 0 h 61"/>
                <a:gd name="T8" fmla="*/ 0 w 162"/>
                <a:gd name="T9" fmla="*/ 0 h 61"/>
                <a:gd name="T10" fmla="*/ 0 w 162"/>
                <a:gd name="T11" fmla="*/ 0 h 61"/>
                <a:gd name="T12" fmla="*/ 0 w 162"/>
                <a:gd name="T13" fmla="*/ 0 h 61"/>
                <a:gd name="T14" fmla="*/ 0 w 162"/>
                <a:gd name="T15" fmla="*/ 0 h 61"/>
                <a:gd name="T16" fmla="*/ 0 w 162"/>
                <a:gd name="T17" fmla="*/ 0 h 61"/>
                <a:gd name="T18" fmla="*/ 0 w 162"/>
                <a:gd name="T19" fmla="*/ 0 h 61"/>
                <a:gd name="T20" fmla="*/ 0 w 162"/>
                <a:gd name="T21" fmla="*/ 0 h 61"/>
                <a:gd name="T22" fmla="*/ 0 w 162"/>
                <a:gd name="T23" fmla="*/ 0 h 61"/>
                <a:gd name="T24" fmla="*/ 0 w 162"/>
                <a:gd name="T25" fmla="*/ 0 h 61"/>
                <a:gd name="T26" fmla="*/ 0 w 162"/>
                <a:gd name="T27" fmla="*/ 0 h 61"/>
                <a:gd name="T28" fmla="*/ 1 w 162"/>
                <a:gd name="T29" fmla="*/ 0 h 61"/>
                <a:gd name="T30" fmla="*/ 1 w 162"/>
                <a:gd name="T31" fmla="*/ 0 h 61"/>
                <a:gd name="T32" fmla="*/ 1 w 162"/>
                <a:gd name="T33" fmla="*/ 0 h 61"/>
                <a:gd name="T34" fmla="*/ 1 w 162"/>
                <a:gd name="T35" fmla="*/ 0 h 61"/>
                <a:gd name="T36" fmla="*/ 1 w 162"/>
                <a:gd name="T37" fmla="*/ 0 h 61"/>
                <a:gd name="T38" fmla="*/ 0 w 162"/>
                <a:gd name="T39" fmla="*/ 0 h 61"/>
                <a:gd name="T40" fmla="*/ 0 w 162"/>
                <a:gd name="T41" fmla="*/ 0 h 61"/>
                <a:gd name="T42" fmla="*/ 0 w 162"/>
                <a:gd name="T43" fmla="*/ 0 h 61"/>
                <a:gd name="T44" fmla="*/ 0 w 162"/>
                <a:gd name="T45" fmla="*/ 0 h 61"/>
                <a:gd name="T46" fmla="*/ 0 w 162"/>
                <a:gd name="T47" fmla="*/ 0 h 61"/>
                <a:gd name="T48" fmla="*/ 0 w 162"/>
                <a:gd name="T49" fmla="*/ 0 h 61"/>
                <a:gd name="T50" fmla="*/ 0 w 162"/>
                <a:gd name="T51" fmla="*/ 0 h 61"/>
                <a:gd name="T52" fmla="*/ 0 w 162"/>
                <a:gd name="T53" fmla="*/ 0 h 61"/>
                <a:gd name="T54" fmla="*/ 0 w 162"/>
                <a:gd name="T55" fmla="*/ 0 h 61"/>
                <a:gd name="T56" fmla="*/ 0 w 162"/>
                <a:gd name="T57" fmla="*/ 0 h 6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2"/>
                <a:gd name="T88" fmla="*/ 0 h 61"/>
                <a:gd name="T89" fmla="*/ 162 w 162"/>
                <a:gd name="T90" fmla="*/ 61 h 6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2" h="61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0" y="26"/>
                  </a:lnTo>
                  <a:lnTo>
                    <a:pt x="162" y="29"/>
                  </a:lnTo>
                  <a:lnTo>
                    <a:pt x="160" y="34"/>
                  </a:lnTo>
                  <a:lnTo>
                    <a:pt x="155" y="37"/>
                  </a:lnTo>
                  <a:lnTo>
                    <a:pt x="103" y="58"/>
                  </a:lnTo>
                  <a:lnTo>
                    <a:pt x="98" y="59"/>
                  </a:lnTo>
                  <a:lnTo>
                    <a:pt x="94" y="60"/>
                  </a:lnTo>
                  <a:lnTo>
                    <a:pt x="89" y="60"/>
                  </a:lnTo>
                  <a:lnTo>
                    <a:pt x="85" y="61"/>
                  </a:lnTo>
                  <a:lnTo>
                    <a:pt x="79" y="61"/>
                  </a:lnTo>
                  <a:lnTo>
                    <a:pt x="74" y="61"/>
                  </a:lnTo>
                  <a:lnTo>
                    <a:pt x="70" y="61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0" name="Freeform 237"/>
            <p:cNvSpPr>
              <a:spLocks/>
            </p:cNvSpPr>
            <p:nvPr/>
          </p:nvSpPr>
          <p:spPr bwMode="auto">
            <a:xfrm>
              <a:off x="1235" y="3575"/>
              <a:ext cx="24" cy="9"/>
            </a:xfrm>
            <a:custGeom>
              <a:avLst/>
              <a:gdLst>
                <a:gd name="T0" fmla="*/ 0 w 144"/>
                <a:gd name="T1" fmla="*/ 0 h 50"/>
                <a:gd name="T2" fmla="*/ 0 w 144"/>
                <a:gd name="T3" fmla="*/ 0 h 50"/>
                <a:gd name="T4" fmla="*/ 0 w 144"/>
                <a:gd name="T5" fmla="*/ 0 h 50"/>
                <a:gd name="T6" fmla="*/ 0 w 144"/>
                <a:gd name="T7" fmla="*/ 0 h 50"/>
                <a:gd name="T8" fmla="*/ 0 w 144"/>
                <a:gd name="T9" fmla="*/ 0 h 50"/>
                <a:gd name="T10" fmla="*/ 0 w 144"/>
                <a:gd name="T11" fmla="*/ 0 h 50"/>
                <a:gd name="T12" fmla="*/ 0 w 144"/>
                <a:gd name="T13" fmla="*/ 0 h 50"/>
                <a:gd name="T14" fmla="*/ 0 w 144"/>
                <a:gd name="T15" fmla="*/ 0 h 50"/>
                <a:gd name="T16" fmla="*/ 0 w 144"/>
                <a:gd name="T17" fmla="*/ 0 h 50"/>
                <a:gd name="T18" fmla="*/ 0 w 144"/>
                <a:gd name="T19" fmla="*/ 0 h 50"/>
                <a:gd name="T20" fmla="*/ 0 w 144"/>
                <a:gd name="T21" fmla="*/ 0 h 50"/>
                <a:gd name="T22" fmla="*/ 0 w 144"/>
                <a:gd name="T23" fmla="*/ 0 h 50"/>
                <a:gd name="T24" fmla="*/ 0 w 144"/>
                <a:gd name="T25" fmla="*/ 0 h 50"/>
                <a:gd name="T26" fmla="*/ 0 w 144"/>
                <a:gd name="T27" fmla="*/ 0 h 50"/>
                <a:gd name="T28" fmla="*/ 1 w 144"/>
                <a:gd name="T29" fmla="*/ 0 h 50"/>
                <a:gd name="T30" fmla="*/ 1 w 144"/>
                <a:gd name="T31" fmla="*/ 0 h 50"/>
                <a:gd name="T32" fmla="*/ 1 w 144"/>
                <a:gd name="T33" fmla="*/ 0 h 50"/>
                <a:gd name="T34" fmla="*/ 1 w 144"/>
                <a:gd name="T35" fmla="*/ 0 h 50"/>
                <a:gd name="T36" fmla="*/ 1 w 144"/>
                <a:gd name="T37" fmla="*/ 0 h 50"/>
                <a:gd name="T38" fmla="*/ 0 w 144"/>
                <a:gd name="T39" fmla="*/ 0 h 50"/>
                <a:gd name="T40" fmla="*/ 0 w 144"/>
                <a:gd name="T41" fmla="*/ 0 h 50"/>
                <a:gd name="T42" fmla="*/ 0 w 144"/>
                <a:gd name="T43" fmla="*/ 0 h 50"/>
                <a:gd name="T44" fmla="*/ 0 w 144"/>
                <a:gd name="T45" fmla="*/ 0 h 50"/>
                <a:gd name="T46" fmla="*/ 0 w 144"/>
                <a:gd name="T47" fmla="*/ 0 h 50"/>
                <a:gd name="T48" fmla="*/ 0 w 144"/>
                <a:gd name="T49" fmla="*/ 0 h 50"/>
                <a:gd name="T50" fmla="*/ 0 w 144"/>
                <a:gd name="T51" fmla="*/ 0 h 50"/>
                <a:gd name="T52" fmla="*/ 0 w 144"/>
                <a:gd name="T53" fmla="*/ 0 h 50"/>
                <a:gd name="T54" fmla="*/ 0 w 144"/>
                <a:gd name="T55" fmla="*/ 0 h 50"/>
                <a:gd name="T56" fmla="*/ 0 w 144"/>
                <a:gd name="T57" fmla="*/ 0 h 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50"/>
                <a:gd name="T89" fmla="*/ 144 w 144"/>
                <a:gd name="T90" fmla="*/ 50 h 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50">
                  <a:moveTo>
                    <a:pt x="7" y="24"/>
                  </a:moveTo>
                  <a:lnTo>
                    <a:pt x="1" y="27"/>
                  </a:lnTo>
                  <a:lnTo>
                    <a:pt x="0" y="31"/>
                  </a:lnTo>
                  <a:lnTo>
                    <a:pt x="2" y="34"/>
                  </a:lnTo>
                  <a:lnTo>
                    <a:pt x="8" y="36"/>
                  </a:lnTo>
                  <a:lnTo>
                    <a:pt x="51" y="47"/>
                  </a:lnTo>
                  <a:lnTo>
                    <a:pt x="55" y="49"/>
                  </a:lnTo>
                  <a:lnTo>
                    <a:pt x="60" y="50"/>
                  </a:lnTo>
                  <a:lnTo>
                    <a:pt x="64" y="50"/>
                  </a:lnTo>
                  <a:lnTo>
                    <a:pt x="70" y="50"/>
                  </a:lnTo>
                  <a:lnTo>
                    <a:pt x="74" y="49"/>
                  </a:lnTo>
                  <a:lnTo>
                    <a:pt x="79" y="47"/>
                  </a:lnTo>
                  <a:lnTo>
                    <a:pt x="83" y="46"/>
                  </a:lnTo>
                  <a:lnTo>
                    <a:pt x="88" y="45"/>
                  </a:lnTo>
                  <a:lnTo>
                    <a:pt x="136" y="25"/>
                  </a:lnTo>
                  <a:lnTo>
                    <a:pt x="142" y="22"/>
                  </a:lnTo>
                  <a:lnTo>
                    <a:pt x="144" y="18"/>
                  </a:lnTo>
                  <a:lnTo>
                    <a:pt x="142" y="15"/>
                  </a:lnTo>
                  <a:lnTo>
                    <a:pt x="136" y="13"/>
                  </a:lnTo>
                  <a:lnTo>
                    <a:pt x="88" y="1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4" y="1"/>
                  </a:lnTo>
                  <a:lnTo>
                    <a:pt x="60" y="2"/>
                  </a:lnTo>
                  <a:lnTo>
                    <a:pt x="55" y="4"/>
                  </a:lnTo>
                  <a:lnTo>
                    <a:pt x="51" y="5"/>
                  </a:lnTo>
                  <a:lnTo>
                    <a:pt x="7" y="24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1" name="Freeform 238"/>
            <p:cNvSpPr>
              <a:spLocks/>
            </p:cNvSpPr>
            <p:nvPr/>
          </p:nvSpPr>
          <p:spPr bwMode="auto">
            <a:xfrm>
              <a:off x="1054" y="3290"/>
              <a:ext cx="224" cy="362"/>
            </a:xfrm>
            <a:custGeom>
              <a:avLst/>
              <a:gdLst>
                <a:gd name="T0" fmla="*/ 0 w 1346"/>
                <a:gd name="T1" fmla="*/ 1 h 2178"/>
                <a:gd name="T2" fmla="*/ 0 w 1346"/>
                <a:gd name="T3" fmla="*/ 1 h 2178"/>
                <a:gd name="T4" fmla="*/ 0 w 1346"/>
                <a:gd name="T5" fmla="*/ 1 h 2178"/>
                <a:gd name="T6" fmla="*/ 0 w 1346"/>
                <a:gd name="T7" fmla="*/ 2 h 2178"/>
                <a:gd name="T8" fmla="*/ 0 w 1346"/>
                <a:gd name="T9" fmla="*/ 9 h 2178"/>
                <a:gd name="T10" fmla="*/ 0 w 1346"/>
                <a:gd name="T11" fmla="*/ 9 h 2178"/>
                <a:gd name="T12" fmla="*/ 0 w 1346"/>
                <a:gd name="T13" fmla="*/ 10 h 2178"/>
                <a:gd name="T14" fmla="*/ 0 w 1346"/>
                <a:gd name="T15" fmla="*/ 10 h 2178"/>
                <a:gd name="T16" fmla="*/ 0 w 1346"/>
                <a:gd name="T17" fmla="*/ 10 h 2178"/>
                <a:gd name="T18" fmla="*/ 3 w 1346"/>
                <a:gd name="T19" fmla="*/ 10 h 2178"/>
                <a:gd name="T20" fmla="*/ 3 w 1346"/>
                <a:gd name="T21" fmla="*/ 10 h 2178"/>
                <a:gd name="T22" fmla="*/ 3 w 1346"/>
                <a:gd name="T23" fmla="*/ 10 h 2178"/>
                <a:gd name="T24" fmla="*/ 3 w 1346"/>
                <a:gd name="T25" fmla="*/ 10 h 2178"/>
                <a:gd name="T26" fmla="*/ 3 w 1346"/>
                <a:gd name="T27" fmla="*/ 10 h 2178"/>
                <a:gd name="T28" fmla="*/ 3 w 1346"/>
                <a:gd name="T29" fmla="*/ 10 h 2178"/>
                <a:gd name="T30" fmla="*/ 4 w 1346"/>
                <a:gd name="T31" fmla="*/ 10 h 2178"/>
                <a:gd name="T32" fmla="*/ 4 w 1346"/>
                <a:gd name="T33" fmla="*/ 9 h 2178"/>
                <a:gd name="T34" fmla="*/ 5 w 1346"/>
                <a:gd name="T35" fmla="*/ 9 h 2178"/>
                <a:gd name="T36" fmla="*/ 5 w 1346"/>
                <a:gd name="T37" fmla="*/ 9 h 2178"/>
                <a:gd name="T38" fmla="*/ 6 w 1346"/>
                <a:gd name="T39" fmla="*/ 9 h 2178"/>
                <a:gd name="T40" fmla="*/ 6 w 1346"/>
                <a:gd name="T41" fmla="*/ 8 h 2178"/>
                <a:gd name="T42" fmla="*/ 6 w 1346"/>
                <a:gd name="T43" fmla="*/ 8 h 2178"/>
                <a:gd name="T44" fmla="*/ 6 w 1346"/>
                <a:gd name="T45" fmla="*/ 8 h 2178"/>
                <a:gd name="T46" fmla="*/ 6 w 1346"/>
                <a:gd name="T47" fmla="*/ 8 h 2178"/>
                <a:gd name="T48" fmla="*/ 6 w 1346"/>
                <a:gd name="T49" fmla="*/ 8 h 2178"/>
                <a:gd name="T50" fmla="*/ 6 w 1346"/>
                <a:gd name="T51" fmla="*/ 1 h 2178"/>
                <a:gd name="T52" fmla="*/ 6 w 1346"/>
                <a:gd name="T53" fmla="*/ 0 h 2178"/>
                <a:gd name="T54" fmla="*/ 6 w 1346"/>
                <a:gd name="T55" fmla="*/ 0 h 2178"/>
                <a:gd name="T56" fmla="*/ 6 w 1346"/>
                <a:gd name="T57" fmla="*/ 0 h 2178"/>
                <a:gd name="T58" fmla="*/ 6 w 1346"/>
                <a:gd name="T59" fmla="*/ 0 h 2178"/>
                <a:gd name="T60" fmla="*/ 3 w 1346"/>
                <a:gd name="T61" fmla="*/ 0 h 2178"/>
                <a:gd name="T62" fmla="*/ 3 w 1346"/>
                <a:gd name="T63" fmla="*/ 0 h 2178"/>
                <a:gd name="T64" fmla="*/ 3 w 1346"/>
                <a:gd name="T65" fmla="*/ 0 h 2178"/>
                <a:gd name="T66" fmla="*/ 3 w 1346"/>
                <a:gd name="T67" fmla="*/ 0 h 2178"/>
                <a:gd name="T68" fmla="*/ 0 w 1346"/>
                <a:gd name="T69" fmla="*/ 1 h 217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346"/>
                <a:gd name="T106" fmla="*/ 0 h 2178"/>
                <a:gd name="T107" fmla="*/ 1346 w 1346"/>
                <a:gd name="T108" fmla="*/ 2178 h 217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346" h="2178">
                  <a:moveTo>
                    <a:pt x="59" y="276"/>
                  </a:moveTo>
                  <a:lnTo>
                    <a:pt x="46" y="283"/>
                  </a:lnTo>
                  <a:lnTo>
                    <a:pt x="36" y="291"/>
                  </a:lnTo>
                  <a:lnTo>
                    <a:pt x="26" y="301"/>
                  </a:lnTo>
                  <a:lnTo>
                    <a:pt x="17" y="312"/>
                  </a:lnTo>
                  <a:lnTo>
                    <a:pt x="10" y="324"/>
                  </a:lnTo>
                  <a:lnTo>
                    <a:pt x="5" y="338"/>
                  </a:lnTo>
                  <a:lnTo>
                    <a:pt x="1" y="351"/>
                  </a:lnTo>
                  <a:lnTo>
                    <a:pt x="0" y="365"/>
                  </a:lnTo>
                  <a:lnTo>
                    <a:pt x="10" y="2038"/>
                  </a:lnTo>
                  <a:lnTo>
                    <a:pt x="11" y="2052"/>
                  </a:lnTo>
                  <a:lnTo>
                    <a:pt x="16" y="2064"/>
                  </a:lnTo>
                  <a:lnTo>
                    <a:pt x="21" y="2076"/>
                  </a:lnTo>
                  <a:lnTo>
                    <a:pt x="29" y="2086"/>
                  </a:lnTo>
                  <a:lnTo>
                    <a:pt x="40" y="2095"/>
                  </a:lnTo>
                  <a:lnTo>
                    <a:pt x="50" y="2103"/>
                  </a:lnTo>
                  <a:lnTo>
                    <a:pt x="62" y="2108"/>
                  </a:lnTo>
                  <a:lnTo>
                    <a:pt x="76" y="2111"/>
                  </a:lnTo>
                  <a:lnTo>
                    <a:pt x="585" y="2176"/>
                  </a:lnTo>
                  <a:lnTo>
                    <a:pt x="598" y="2178"/>
                  </a:lnTo>
                  <a:lnTo>
                    <a:pt x="613" y="2178"/>
                  </a:lnTo>
                  <a:lnTo>
                    <a:pt x="629" y="2176"/>
                  </a:lnTo>
                  <a:lnTo>
                    <a:pt x="645" y="2174"/>
                  </a:lnTo>
                  <a:lnTo>
                    <a:pt x="659" y="2171"/>
                  </a:lnTo>
                  <a:lnTo>
                    <a:pt x="675" y="2166"/>
                  </a:lnTo>
                  <a:lnTo>
                    <a:pt x="689" y="2162"/>
                  </a:lnTo>
                  <a:lnTo>
                    <a:pt x="701" y="2156"/>
                  </a:lnTo>
                  <a:lnTo>
                    <a:pt x="708" y="2153"/>
                  </a:lnTo>
                  <a:lnTo>
                    <a:pt x="726" y="2143"/>
                  </a:lnTo>
                  <a:lnTo>
                    <a:pt x="755" y="2128"/>
                  </a:lnTo>
                  <a:lnTo>
                    <a:pt x="792" y="2108"/>
                  </a:lnTo>
                  <a:lnTo>
                    <a:pt x="836" y="2085"/>
                  </a:lnTo>
                  <a:lnTo>
                    <a:pt x="886" y="2059"/>
                  </a:lnTo>
                  <a:lnTo>
                    <a:pt x="939" y="2031"/>
                  </a:lnTo>
                  <a:lnTo>
                    <a:pt x="995" y="2003"/>
                  </a:lnTo>
                  <a:lnTo>
                    <a:pt x="1049" y="1975"/>
                  </a:lnTo>
                  <a:lnTo>
                    <a:pt x="1102" y="1947"/>
                  </a:lnTo>
                  <a:lnTo>
                    <a:pt x="1151" y="1921"/>
                  </a:lnTo>
                  <a:lnTo>
                    <a:pt x="1195" y="1897"/>
                  </a:lnTo>
                  <a:lnTo>
                    <a:pt x="1233" y="1878"/>
                  </a:lnTo>
                  <a:lnTo>
                    <a:pt x="1262" y="1864"/>
                  </a:lnTo>
                  <a:lnTo>
                    <a:pt x="1280" y="1854"/>
                  </a:lnTo>
                  <a:lnTo>
                    <a:pt x="1287" y="1850"/>
                  </a:lnTo>
                  <a:lnTo>
                    <a:pt x="1298" y="1842"/>
                  </a:lnTo>
                  <a:lnTo>
                    <a:pt x="1309" y="1833"/>
                  </a:lnTo>
                  <a:lnTo>
                    <a:pt x="1319" y="1822"/>
                  </a:lnTo>
                  <a:lnTo>
                    <a:pt x="1328" y="1810"/>
                  </a:lnTo>
                  <a:lnTo>
                    <a:pt x="1334" y="1797"/>
                  </a:lnTo>
                  <a:lnTo>
                    <a:pt x="1339" y="1784"/>
                  </a:lnTo>
                  <a:lnTo>
                    <a:pt x="1342" y="1770"/>
                  </a:lnTo>
                  <a:lnTo>
                    <a:pt x="1343" y="1757"/>
                  </a:lnTo>
                  <a:lnTo>
                    <a:pt x="1346" y="147"/>
                  </a:lnTo>
                  <a:lnTo>
                    <a:pt x="1344" y="133"/>
                  </a:lnTo>
                  <a:lnTo>
                    <a:pt x="1340" y="121"/>
                  </a:lnTo>
                  <a:lnTo>
                    <a:pt x="1334" y="108"/>
                  </a:lnTo>
                  <a:lnTo>
                    <a:pt x="1326" y="98"/>
                  </a:lnTo>
                  <a:lnTo>
                    <a:pt x="1316" y="89"/>
                  </a:lnTo>
                  <a:lnTo>
                    <a:pt x="1306" y="81"/>
                  </a:lnTo>
                  <a:lnTo>
                    <a:pt x="1294" y="76"/>
                  </a:lnTo>
                  <a:lnTo>
                    <a:pt x="1280" y="72"/>
                  </a:lnTo>
                  <a:lnTo>
                    <a:pt x="782" y="3"/>
                  </a:lnTo>
                  <a:lnTo>
                    <a:pt x="769" y="2"/>
                  </a:lnTo>
                  <a:lnTo>
                    <a:pt x="754" y="0"/>
                  </a:lnTo>
                  <a:lnTo>
                    <a:pt x="738" y="2"/>
                  </a:lnTo>
                  <a:lnTo>
                    <a:pt x="722" y="3"/>
                  </a:lnTo>
                  <a:lnTo>
                    <a:pt x="707" y="6"/>
                  </a:lnTo>
                  <a:lnTo>
                    <a:pt x="691" y="9"/>
                  </a:lnTo>
                  <a:lnTo>
                    <a:pt x="677" y="13"/>
                  </a:lnTo>
                  <a:lnTo>
                    <a:pt x="665" y="17"/>
                  </a:lnTo>
                  <a:lnTo>
                    <a:pt x="59" y="27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2" name="Freeform 239"/>
            <p:cNvSpPr>
              <a:spLocks/>
            </p:cNvSpPr>
            <p:nvPr/>
          </p:nvSpPr>
          <p:spPr bwMode="auto">
            <a:xfrm>
              <a:off x="1055" y="3291"/>
              <a:ext cx="222" cy="360"/>
            </a:xfrm>
            <a:custGeom>
              <a:avLst/>
              <a:gdLst>
                <a:gd name="T0" fmla="*/ 0 w 1332"/>
                <a:gd name="T1" fmla="*/ 1 h 2163"/>
                <a:gd name="T2" fmla="*/ 0 w 1332"/>
                <a:gd name="T3" fmla="*/ 1 h 2163"/>
                <a:gd name="T4" fmla="*/ 0 w 1332"/>
                <a:gd name="T5" fmla="*/ 1 h 2163"/>
                <a:gd name="T6" fmla="*/ 0 w 1332"/>
                <a:gd name="T7" fmla="*/ 1 h 2163"/>
                <a:gd name="T8" fmla="*/ 0 w 1332"/>
                <a:gd name="T9" fmla="*/ 1 h 2163"/>
                <a:gd name="T10" fmla="*/ 0 w 1332"/>
                <a:gd name="T11" fmla="*/ 1 h 2163"/>
                <a:gd name="T12" fmla="*/ 0 w 1332"/>
                <a:gd name="T13" fmla="*/ 1 h 2163"/>
                <a:gd name="T14" fmla="*/ 0 w 1332"/>
                <a:gd name="T15" fmla="*/ 1 h 2163"/>
                <a:gd name="T16" fmla="*/ 0 w 1332"/>
                <a:gd name="T17" fmla="*/ 2 h 2163"/>
                <a:gd name="T18" fmla="*/ 0 w 1332"/>
                <a:gd name="T19" fmla="*/ 9 h 2163"/>
                <a:gd name="T20" fmla="*/ 0 w 1332"/>
                <a:gd name="T21" fmla="*/ 9 h 2163"/>
                <a:gd name="T22" fmla="*/ 0 w 1332"/>
                <a:gd name="T23" fmla="*/ 9 h 2163"/>
                <a:gd name="T24" fmla="*/ 0 w 1332"/>
                <a:gd name="T25" fmla="*/ 9 h 2163"/>
                <a:gd name="T26" fmla="*/ 0 w 1332"/>
                <a:gd name="T27" fmla="*/ 9 h 2163"/>
                <a:gd name="T28" fmla="*/ 0 w 1332"/>
                <a:gd name="T29" fmla="*/ 10 h 2163"/>
                <a:gd name="T30" fmla="*/ 0 w 1332"/>
                <a:gd name="T31" fmla="*/ 10 h 2163"/>
                <a:gd name="T32" fmla="*/ 0 w 1332"/>
                <a:gd name="T33" fmla="*/ 10 h 2163"/>
                <a:gd name="T34" fmla="*/ 0 w 1332"/>
                <a:gd name="T35" fmla="*/ 10 h 2163"/>
                <a:gd name="T36" fmla="*/ 3 w 1332"/>
                <a:gd name="T37" fmla="*/ 10 h 2163"/>
                <a:gd name="T38" fmla="*/ 3 w 1332"/>
                <a:gd name="T39" fmla="*/ 10 h 2163"/>
                <a:gd name="T40" fmla="*/ 3 w 1332"/>
                <a:gd name="T41" fmla="*/ 10 h 2163"/>
                <a:gd name="T42" fmla="*/ 3 w 1332"/>
                <a:gd name="T43" fmla="*/ 10 h 2163"/>
                <a:gd name="T44" fmla="*/ 3 w 1332"/>
                <a:gd name="T45" fmla="*/ 10 h 2163"/>
                <a:gd name="T46" fmla="*/ 3 w 1332"/>
                <a:gd name="T47" fmla="*/ 10 h 2163"/>
                <a:gd name="T48" fmla="*/ 3 w 1332"/>
                <a:gd name="T49" fmla="*/ 10 h 2163"/>
                <a:gd name="T50" fmla="*/ 3 w 1332"/>
                <a:gd name="T51" fmla="*/ 10 h 2163"/>
                <a:gd name="T52" fmla="*/ 3 w 1332"/>
                <a:gd name="T53" fmla="*/ 10 h 2163"/>
                <a:gd name="T54" fmla="*/ 6 w 1332"/>
                <a:gd name="T55" fmla="*/ 8 h 2163"/>
                <a:gd name="T56" fmla="*/ 6 w 1332"/>
                <a:gd name="T57" fmla="*/ 8 h 2163"/>
                <a:gd name="T58" fmla="*/ 6 w 1332"/>
                <a:gd name="T59" fmla="*/ 8 h 2163"/>
                <a:gd name="T60" fmla="*/ 6 w 1332"/>
                <a:gd name="T61" fmla="*/ 8 h 2163"/>
                <a:gd name="T62" fmla="*/ 6 w 1332"/>
                <a:gd name="T63" fmla="*/ 8 h 2163"/>
                <a:gd name="T64" fmla="*/ 6 w 1332"/>
                <a:gd name="T65" fmla="*/ 8 h 2163"/>
                <a:gd name="T66" fmla="*/ 6 w 1332"/>
                <a:gd name="T67" fmla="*/ 8 h 2163"/>
                <a:gd name="T68" fmla="*/ 6 w 1332"/>
                <a:gd name="T69" fmla="*/ 8 h 2163"/>
                <a:gd name="T70" fmla="*/ 6 w 1332"/>
                <a:gd name="T71" fmla="*/ 8 h 2163"/>
                <a:gd name="T72" fmla="*/ 6 w 1332"/>
                <a:gd name="T73" fmla="*/ 1 h 2163"/>
                <a:gd name="T74" fmla="*/ 6 w 1332"/>
                <a:gd name="T75" fmla="*/ 0 h 2163"/>
                <a:gd name="T76" fmla="*/ 6 w 1332"/>
                <a:gd name="T77" fmla="*/ 0 h 2163"/>
                <a:gd name="T78" fmla="*/ 6 w 1332"/>
                <a:gd name="T79" fmla="*/ 0 h 2163"/>
                <a:gd name="T80" fmla="*/ 6 w 1332"/>
                <a:gd name="T81" fmla="*/ 0 h 2163"/>
                <a:gd name="T82" fmla="*/ 6 w 1332"/>
                <a:gd name="T83" fmla="*/ 0 h 2163"/>
                <a:gd name="T84" fmla="*/ 6 w 1332"/>
                <a:gd name="T85" fmla="*/ 0 h 2163"/>
                <a:gd name="T86" fmla="*/ 6 w 1332"/>
                <a:gd name="T87" fmla="*/ 0 h 2163"/>
                <a:gd name="T88" fmla="*/ 6 w 1332"/>
                <a:gd name="T89" fmla="*/ 0 h 2163"/>
                <a:gd name="T90" fmla="*/ 4 w 1332"/>
                <a:gd name="T91" fmla="*/ 0 h 2163"/>
                <a:gd name="T92" fmla="*/ 3 w 1332"/>
                <a:gd name="T93" fmla="*/ 0 h 2163"/>
                <a:gd name="T94" fmla="*/ 3 w 1332"/>
                <a:gd name="T95" fmla="*/ 0 h 2163"/>
                <a:gd name="T96" fmla="*/ 3 w 1332"/>
                <a:gd name="T97" fmla="*/ 0 h 2163"/>
                <a:gd name="T98" fmla="*/ 3 w 1332"/>
                <a:gd name="T99" fmla="*/ 0 h 2163"/>
                <a:gd name="T100" fmla="*/ 3 w 1332"/>
                <a:gd name="T101" fmla="*/ 0 h 2163"/>
                <a:gd name="T102" fmla="*/ 3 w 1332"/>
                <a:gd name="T103" fmla="*/ 0 h 2163"/>
                <a:gd name="T104" fmla="*/ 3 w 1332"/>
                <a:gd name="T105" fmla="*/ 0 h 2163"/>
                <a:gd name="T106" fmla="*/ 3 w 1332"/>
                <a:gd name="T107" fmla="*/ 0 h 2163"/>
                <a:gd name="T108" fmla="*/ 0 w 1332"/>
                <a:gd name="T109" fmla="*/ 1 h 216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332"/>
                <a:gd name="T166" fmla="*/ 0 h 2163"/>
                <a:gd name="T167" fmla="*/ 1332 w 1332"/>
                <a:gd name="T168" fmla="*/ 2163 h 216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332" h="2163">
                  <a:moveTo>
                    <a:pt x="55" y="274"/>
                  </a:moveTo>
                  <a:lnTo>
                    <a:pt x="44" y="279"/>
                  </a:lnTo>
                  <a:lnTo>
                    <a:pt x="34" y="288"/>
                  </a:lnTo>
                  <a:lnTo>
                    <a:pt x="25" y="297"/>
                  </a:lnTo>
                  <a:lnTo>
                    <a:pt x="16" y="307"/>
                  </a:lnTo>
                  <a:lnTo>
                    <a:pt x="9" y="320"/>
                  </a:lnTo>
                  <a:lnTo>
                    <a:pt x="4" y="331"/>
                  </a:lnTo>
                  <a:lnTo>
                    <a:pt x="1" y="343"/>
                  </a:lnTo>
                  <a:lnTo>
                    <a:pt x="0" y="356"/>
                  </a:lnTo>
                  <a:lnTo>
                    <a:pt x="10" y="2030"/>
                  </a:lnTo>
                  <a:lnTo>
                    <a:pt x="11" y="2042"/>
                  </a:lnTo>
                  <a:lnTo>
                    <a:pt x="14" y="2054"/>
                  </a:lnTo>
                  <a:lnTo>
                    <a:pt x="20" y="2065"/>
                  </a:lnTo>
                  <a:lnTo>
                    <a:pt x="28" y="2074"/>
                  </a:lnTo>
                  <a:lnTo>
                    <a:pt x="36" y="2083"/>
                  </a:lnTo>
                  <a:lnTo>
                    <a:pt x="46" y="2090"/>
                  </a:lnTo>
                  <a:lnTo>
                    <a:pt x="57" y="2094"/>
                  </a:lnTo>
                  <a:lnTo>
                    <a:pt x="69" y="2096"/>
                  </a:lnTo>
                  <a:lnTo>
                    <a:pt x="579" y="2162"/>
                  </a:lnTo>
                  <a:lnTo>
                    <a:pt x="592" y="2163"/>
                  </a:lnTo>
                  <a:lnTo>
                    <a:pt x="606" y="2163"/>
                  </a:lnTo>
                  <a:lnTo>
                    <a:pt x="621" y="2162"/>
                  </a:lnTo>
                  <a:lnTo>
                    <a:pt x="636" y="2159"/>
                  </a:lnTo>
                  <a:lnTo>
                    <a:pt x="651" y="2156"/>
                  </a:lnTo>
                  <a:lnTo>
                    <a:pt x="666" y="2152"/>
                  </a:lnTo>
                  <a:lnTo>
                    <a:pt x="679" y="2147"/>
                  </a:lnTo>
                  <a:lnTo>
                    <a:pt x="691" y="2141"/>
                  </a:lnTo>
                  <a:lnTo>
                    <a:pt x="1277" y="1835"/>
                  </a:lnTo>
                  <a:lnTo>
                    <a:pt x="1287" y="1829"/>
                  </a:lnTo>
                  <a:lnTo>
                    <a:pt x="1297" y="1821"/>
                  </a:lnTo>
                  <a:lnTo>
                    <a:pt x="1306" y="1811"/>
                  </a:lnTo>
                  <a:lnTo>
                    <a:pt x="1314" y="1798"/>
                  </a:lnTo>
                  <a:lnTo>
                    <a:pt x="1321" y="1787"/>
                  </a:lnTo>
                  <a:lnTo>
                    <a:pt x="1325" y="1774"/>
                  </a:lnTo>
                  <a:lnTo>
                    <a:pt x="1328" y="1761"/>
                  </a:lnTo>
                  <a:lnTo>
                    <a:pt x="1330" y="1749"/>
                  </a:lnTo>
                  <a:lnTo>
                    <a:pt x="1332" y="139"/>
                  </a:lnTo>
                  <a:lnTo>
                    <a:pt x="1331" y="126"/>
                  </a:lnTo>
                  <a:lnTo>
                    <a:pt x="1327" y="115"/>
                  </a:lnTo>
                  <a:lnTo>
                    <a:pt x="1322" y="104"/>
                  </a:lnTo>
                  <a:lnTo>
                    <a:pt x="1314" y="95"/>
                  </a:lnTo>
                  <a:lnTo>
                    <a:pt x="1306" y="86"/>
                  </a:lnTo>
                  <a:lnTo>
                    <a:pt x="1296" y="79"/>
                  </a:lnTo>
                  <a:lnTo>
                    <a:pt x="1284" y="75"/>
                  </a:lnTo>
                  <a:lnTo>
                    <a:pt x="1272" y="71"/>
                  </a:lnTo>
                  <a:lnTo>
                    <a:pt x="774" y="1"/>
                  </a:lnTo>
                  <a:lnTo>
                    <a:pt x="761" y="0"/>
                  </a:lnTo>
                  <a:lnTo>
                    <a:pt x="747" y="0"/>
                  </a:lnTo>
                  <a:lnTo>
                    <a:pt x="731" y="0"/>
                  </a:lnTo>
                  <a:lnTo>
                    <a:pt x="717" y="3"/>
                  </a:lnTo>
                  <a:lnTo>
                    <a:pt x="701" y="5"/>
                  </a:lnTo>
                  <a:lnTo>
                    <a:pt x="686" y="8"/>
                  </a:lnTo>
                  <a:lnTo>
                    <a:pt x="673" y="12"/>
                  </a:lnTo>
                  <a:lnTo>
                    <a:pt x="660" y="16"/>
                  </a:lnTo>
                  <a:lnTo>
                    <a:pt x="55" y="27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3" name="Freeform 240"/>
            <p:cNvSpPr>
              <a:spLocks/>
            </p:cNvSpPr>
            <p:nvPr/>
          </p:nvSpPr>
          <p:spPr bwMode="auto">
            <a:xfrm>
              <a:off x="1163" y="3311"/>
              <a:ext cx="111" cy="334"/>
            </a:xfrm>
            <a:custGeom>
              <a:avLst/>
              <a:gdLst>
                <a:gd name="T0" fmla="*/ 3 w 662"/>
                <a:gd name="T1" fmla="*/ 7 h 2007"/>
                <a:gd name="T2" fmla="*/ 3 w 662"/>
                <a:gd name="T3" fmla="*/ 7 h 2007"/>
                <a:gd name="T4" fmla="*/ 3 w 662"/>
                <a:gd name="T5" fmla="*/ 8 h 2007"/>
                <a:gd name="T6" fmla="*/ 3 w 662"/>
                <a:gd name="T7" fmla="*/ 8 h 2007"/>
                <a:gd name="T8" fmla="*/ 3 w 662"/>
                <a:gd name="T9" fmla="*/ 8 h 2007"/>
                <a:gd name="T10" fmla="*/ 3 w 662"/>
                <a:gd name="T11" fmla="*/ 8 h 2007"/>
                <a:gd name="T12" fmla="*/ 3 w 662"/>
                <a:gd name="T13" fmla="*/ 8 h 2007"/>
                <a:gd name="T14" fmla="*/ 3 w 662"/>
                <a:gd name="T15" fmla="*/ 8 h 2007"/>
                <a:gd name="T16" fmla="*/ 3 w 662"/>
                <a:gd name="T17" fmla="*/ 8 h 2007"/>
                <a:gd name="T18" fmla="*/ 0 w 662"/>
                <a:gd name="T19" fmla="*/ 9 h 2007"/>
                <a:gd name="T20" fmla="*/ 0 w 662"/>
                <a:gd name="T21" fmla="*/ 9 h 2007"/>
                <a:gd name="T22" fmla="*/ 0 w 662"/>
                <a:gd name="T23" fmla="*/ 9 h 2007"/>
                <a:gd name="T24" fmla="*/ 0 w 662"/>
                <a:gd name="T25" fmla="*/ 9 h 2007"/>
                <a:gd name="T26" fmla="*/ 0 w 662"/>
                <a:gd name="T27" fmla="*/ 9 h 2007"/>
                <a:gd name="T28" fmla="*/ 0 w 662"/>
                <a:gd name="T29" fmla="*/ 9 h 2007"/>
                <a:gd name="T30" fmla="*/ 0 w 662"/>
                <a:gd name="T31" fmla="*/ 9 h 2007"/>
                <a:gd name="T32" fmla="*/ 0 w 662"/>
                <a:gd name="T33" fmla="*/ 9 h 2007"/>
                <a:gd name="T34" fmla="*/ 0 w 662"/>
                <a:gd name="T35" fmla="*/ 9 h 2007"/>
                <a:gd name="T36" fmla="*/ 0 w 662"/>
                <a:gd name="T37" fmla="*/ 1 h 2007"/>
                <a:gd name="T38" fmla="*/ 0 w 662"/>
                <a:gd name="T39" fmla="*/ 1 h 2007"/>
                <a:gd name="T40" fmla="*/ 0 w 662"/>
                <a:gd name="T41" fmla="*/ 1 h 2007"/>
                <a:gd name="T42" fmla="*/ 0 w 662"/>
                <a:gd name="T43" fmla="*/ 1 h 2007"/>
                <a:gd name="T44" fmla="*/ 0 w 662"/>
                <a:gd name="T45" fmla="*/ 1 h 2007"/>
                <a:gd name="T46" fmla="*/ 0 w 662"/>
                <a:gd name="T47" fmla="*/ 1 h 2007"/>
                <a:gd name="T48" fmla="*/ 0 w 662"/>
                <a:gd name="T49" fmla="*/ 1 h 2007"/>
                <a:gd name="T50" fmla="*/ 0 w 662"/>
                <a:gd name="T51" fmla="*/ 1 h 2007"/>
                <a:gd name="T52" fmla="*/ 0 w 662"/>
                <a:gd name="T53" fmla="*/ 1 h 2007"/>
                <a:gd name="T54" fmla="*/ 0 w 662"/>
                <a:gd name="T55" fmla="*/ 1 h 2007"/>
                <a:gd name="T56" fmla="*/ 0 w 662"/>
                <a:gd name="T57" fmla="*/ 1 h 2007"/>
                <a:gd name="T58" fmla="*/ 1 w 662"/>
                <a:gd name="T59" fmla="*/ 1 h 2007"/>
                <a:gd name="T60" fmla="*/ 1 w 662"/>
                <a:gd name="T61" fmla="*/ 1 h 2007"/>
                <a:gd name="T62" fmla="*/ 1 w 662"/>
                <a:gd name="T63" fmla="*/ 1 h 2007"/>
                <a:gd name="T64" fmla="*/ 1 w 662"/>
                <a:gd name="T65" fmla="*/ 1 h 2007"/>
                <a:gd name="T66" fmla="*/ 1 w 662"/>
                <a:gd name="T67" fmla="*/ 1 h 2007"/>
                <a:gd name="T68" fmla="*/ 2 w 662"/>
                <a:gd name="T69" fmla="*/ 1 h 2007"/>
                <a:gd name="T70" fmla="*/ 2 w 662"/>
                <a:gd name="T71" fmla="*/ 0 h 2007"/>
                <a:gd name="T72" fmla="*/ 2 w 662"/>
                <a:gd name="T73" fmla="*/ 0 h 2007"/>
                <a:gd name="T74" fmla="*/ 2 w 662"/>
                <a:gd name="T75" fmla="*/ 0 h 2007"/>
                <a:gd name="T76" fmla="*/ 3 w 662"/>
                <a:gd name="T77" fmla="*/ 0 h 2007"/>
                <a:gd name="T78" fmla="*/ 3 w 662"/>
                <a:gd name="T79" fmla="*/ 0 h 2007"/>
                <a:gd name="T80" fmla="*/ 3 w 662"/>
                <a:gd name="T81" fmla="*/ 0 h 2007"/>
                <a:gd name="T82" fmla="*/ 3 w 662"/>
                <a:gd name="T83" fmla="*/ 0 h 2007"/>
                <a:gd name="T84" fmla="*/ 3 w 662"/>
                <a:gd name="T85" fmla="*/ 0 h 2007"/>
                <a:gd name="T86" fmla="*/ 3 w 662"/>
                <a:gd name="T87" fmla="*/ 0 h 2007"/>
                <a:gd name="T88" fmla="*/ 3 w 662"/>
                <a:gd name="T89" fmla="*/ 0 h 2007"/>
                <a:gd name="T90" fmla="*/ 3 w 662"/>
                <a:gd name="T91" fmla="*/ 0 h 2007"/>
                <a:gd name="T92" fmla="*/ 3 w 662"/>
                <a:gd name="T93" fmla="*/ 0 h 2007"/>
                <a:gd name="T94" fmla="*/ 3 w 662"/>
                <a:gd name="T95" fmla="*/ 0 h 2007"/>
                <a:gd name="T96" fmla="*/ 3 w 662"/>
                <a:gd name="T97" fmla="*/ 0 h 2007"/>
                <a:gd name="T98" fmla="*/ 3 w 662"/>
                <a:gd name="T99" fmla="*/ 0 h 2007"/>
                <a:gd name="T100" fmla="*/ 3 w 662"/>
                <a:gd name="T101" fmla="*/ 0 h 2007"/>
                <a:gd name="T102" fmla="*/ 3 w 662"/>
                <a:gd name="T103" fmla="*/ 7 h 20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62"/>
                <a:gd name="T157" fmla="*/ 0 h 2007"/>
                <a:gd name="T158" fmla="*/ 662 w 662"/>
                <a:gd name="T159" fmla="*/ 2007 h 20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62" h="2007">
                  <a:moveTo>
                    <a:pt x="661" y="1629"/>
                  </a:moveTo>
                  <a:lnTo>
                    <a:pt x="660" y="1639"/>
                  </a:lnTo>
                  <a:lnTo>
                    <a:pt x="658" y="1648"/>
                  </a:lnTo>
                  <a:lnTo>
                    <a:pt x="653" y="1658"/>
                  </a:lnTo>
                  <a:lnTo>
                    <a:pt x="649" y="1668"/>
                  </a:lnTo>
                  <a:lnTo>
                    <a:pt x="642" y="1677"/>
                  </a:lnTo>
                  <a:lnTo>
                    <a:pt x="635" y="1685"/>
                  </a:lnTo>
                  <a:lnTo>
                    <a:pt x="627" y="1692"/>
                  </a:lnTo>
                  <a:lnTo>
                    <a:pt x="619" y="1697"/>
                  </a:lnTo>
                  <a:lnTo>
                    <a:pt x="34" y="2003"/>
                  </a:lnTo>
                  <a:lnTo>
                    <a:pt x="28" y="2006"/>
                  </a:lnTo>
                  <a:lnTo>
                    <a:pt x="23" y="2007"/>
                  </a:lnTo>
                  <a:lnTo>
                    <a:pt x="20" y="2007"/>
                  </a:lnTo>
                  <a:lnTo>
                    <a:pt x="17" y="2006"/>
                  </a:lnTo>
                  <a:lnTo>
                    <a:pt x="14" y="2003"/>
                  </a:lnTo>
                  <a:lnTo>
                    <a:pt x="12" y="2000"/>
                  </a:lnTo>
                  <a:lnTo>
                    <a:pt x="11" y="1996"/>
                  </a:lnTo>
                  <a:lnTo>
                    <a:pt x="11" y="1990"/>
                  </a:lnTo>
                  <a:lnTo>
                    <a:pt x="0" y="324"/>
                  </a:lnTo>
                  <a:lnTo>
                    <a:pt x="0" y="315"/>
                  </a:lnTo>
                  <a:lnTo>
                    <a:pt x="3" y="304"/>
                  </a:lnTo>
                  <a:lnTo>
                    <a:pt x="7" y="295"/>
                  </a:lnTo>
                  <a:lnTo>
                    <a:pt x="12" y="286"/>
                  </a:lnTo>
                  <a:lnTo>
                    <a:pt x="18" y="277"/>
                  </a:lnTo>
                  <a:lnTo>
                    <a:pt x="25" y="271"/>
                  </a:lnTo>
                  <a:lnTo>
                    <a:pt x="32" y="264"/>
                  </a:lnTo>
                  <a:lnTo>
                    <a:pt x="40" y="259"/>
                  </a:lnTo>
                  <a:lnTo>
                    <a:pt x="47" y="256"/>
                  </a:lnTo>
                  <a:lnTo>
                    <a:pt x="66" y="248"/>
                  </a:lnTo>
                  <a:lnTo>
                    <a:pt x="96" y="236"/>
                  </a:lnTo>
                  <a:lnTo>
                    <a:pt x="134" y="219"/>
                  </a:lnTo>
                  <a:lnTo>
                    <a:pt x="179" y="200"/>
                  </a:lnTo>
                  <a:lnTo>
                    <a:pt x="229" y="178"/>
                  </a:lnTo>
                  <a:lnTo>
                    <a:pt x="283" y="155"/>
                  </a:lnTo>
                  <a:lnTo>
                    <a:pt x="340" y="131"/>
                  </a:lnTo>
                  <a:lnTo>
                    <a:pt x="395" y="108"/>
                  </a:lnTo>
                  <a:lnTo>
                    <a:pt x="449" y="84"/>
                  </a:lnTo>
                  <a:lnTo>
                    <a:pt x="499" y="63"/>
                  </a:lnTo>
                  <a:lnTo>
                    <a:pt x="544" y="43"/>
                  </a:lnTo>
                  <a:lnTo>
                    <a:pt x="582" y="27"/>
                  </a:lnTo>
                  <a:lnTo>
                    <a:pt x="612" y="14"/>
                  </a:lnTo>
                  <a:lnTo>
                    <a:pt x="631" y="6"/>
                  </a:lnTo>
                  <a:lnTo>
                    <a:pt x="638" y="3"/>
                  </a:lnTo>
                  <a:lnTo>
                    <a:pt x="643" y="1"/>
                  </a:lnTo>
                  <a:lnTo>
                    <a:pt x="649" y="0"/>
                  </a:lnTo>
                  <a:lnTo>
                    <a:pt x="652" y="0"/>
                  </a:lnTo>
                  <a:lnTo>
                    <a:pt x="656" y="2"/>
                  </a:lnTo>
                  <a:lnTo>
                    <a:pt x="659" y="4"/>
                  </a:lnTo>
                  <a:lnTo>
                    <a:pt x="661" y="9"/>
                  </a:lnTo>
                  <a:lnTo>
                    <a:pt x="662" y="13"/>
                  </a:lnTo>
                  <a:lnTo>
                    <a:pt x="662" y="19"/>
                  </a:lnTo>
                  <a:lnTo>
                    <a:pt x="661" y="16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4" name="Freeform 241"/>
            <p:cNvSpPr>
              <a:spLocks/>
            </p:cNvSpPr>
            <p:nvPr/>
          </p:nvSpPr>
          <p:spPr bwMode="auto">
            <a:xfrm>
              <a:off x="1068" y="3294"/>
              <a:ext cx="196" cy="56"/>
            </a:xfrm>
            <a:custGeom>
              <a:avLst/>
              <a:gdLst>
                <a:gd name="T0" fmla="*/ 3 w 1178"/>
                <a:gd name="T1" fmla="*/ 0 h 336"/>
                <a:gd name="T2" fmla="*/ 2 w 1178"/>
                <a:gd name="T3" fmla="*/ 0 h 336"/>
                <a:gd name="T4" fmla="*/ 2 w 1178"/>
                <a:gd name="T5" fmla="*/ 0 h 336"/>
                <a:gd name="T6" fmla="*/ 2 w 1178"/>
                <a:gd name="T7" fmla="*/ 0 h 336"/>
                <a:gd name="T8" fmla="*/ 1 w 1178"/>
                <a:gd name="T9" fmla="*/ 1 h 336"/>
                <a:gd name="T10" fmla="*/ 1 w 1178"/>
                <a:gd name="T11" fmla="*/ 1 h 336"/>
                <a:gd name="T12" fmla="*/ 0 w 1178"/>
                <a:gd name="T13" fmla="*/ 1 h 336"/>
                <a:gd name="T14" fmla="*/ 0 w 1178"/>
                <a:gd name="T15" fmla="*/ 1 h 336"/>
                <a:gd name="T16" fmla="*/ 0 w 1178"/>
                <a:gd name="T17" fmla="*/ 1 h 336"/>
                <a:gd name="T18" fmla="*/ 0 w 1178"/>
                <a:gd name="T19" fmla="*/ 1 h 336"/>
                <a:gd name="T20" fmla="*/ 0 w 1178"/>
                <a:gd name="T21" fmla="*/ 1 h 336"/>
                <a:gd name="T22" fmla="*/ 1 w 1178"/>
                <a:gd name="T23" fmla="*/ 1 h 336"/>
                <a:gd name="T24" fmla="*/ 1 w 1178"/>
                <a:gd name="T25" fmla="*/ 1 h 336"/>
                <a:gd name="T26" fmla="*/ 2 w 1178"/>
                <a:gd name="T27" fmla="*/ 2 h 336"/>
                <a:gd name="T28" fmla="*/ 2 w 1178"/>
                <a:gd name="T29" fmla="*/ 2 h 336"/>
                <a:gd name="T30" fmla="*/ 2 w 1178"/>
                <a:gd name="T31" fmla="*/ 2 h 336"/>
                <a:gd name="T32" fmla="*/ 2 w 1178"/>
                <a:gd name="T33" fmla="*/ 2 h 336"/>
                <a:gd name="T34" fmla="*/ 2 w 1178"/>
                <a:gd name="T35" fmla="*/ 2 h 336"/>
                <a:gd name="T36" fmla="*/ 2 w 1178"/>
                <a:gd name="T37" fmla="*/ 2 h 336"/>
                <a:gd name="T38" fmla="*/ 3 w 1178"/>
                <a:gd name="T39" fmla="*/ 2 h 336"/>
                <a:gd name="T40" fmla="*/ 3 w 1178"/>
                <a:gd name="T41" fmla="*/ 2 h 336"/>
                <a:gd name="T42" fmla="*/ 3 w 1178"/>
                <a:gd name="T43" fmla="*/ 1 h 336"/>
                <a:gd name="T44" fmla="*/ 3 w 1178"/>
                <a:gd name="T45" fmla="*/ 1 h 336"/>
                <a:gd name="T46" fmla="*/ 4 w 1178"/>
                <a:gd name="T47" fmla="*/ 1 h 336"/>
                <a:gd name="T48" fmla="*/ 4 w 1178"/>
                <a:gd name="T49" fmla="*/ 1 h 336"/>
                <a:gd name="T50" fmla="*/ 5 w 1178"/>
                <a:gd name="T51" fmla="*/ 1 h 336"/>
                <a:gd name="T52" fmla="*/ 5 w 1178"/>
                <a:gd name="T53" fmla="*/ 0 h 336"/>
                <a:gd name="T54" fmla="*/ 5 w 1178"/>
                <a:gd name="T55" fmla="*/ 0 h 336"/>
                <a:gd name="T56" fmla="*/ 3 w 1178"/>
                <a:gd name="T57" fmla="*/ 0 h 336"/>
                <a:gd name="T58" fmla="*/ 3 w 1178"/>
                <a:gd name="T59" fmla="*/ 0 h 336"/>
                <a:gd name="T60" fmla="*/ 3 w 1178"/>
                <a:gd name="T61" fmla="*/ 0 h 336"/>
                <a:gd name="T62" fmla="*/ 3 w 1178"/>
                <a:gd name="T63" fmla="*/ 0 h 336"/>
                <a:gd name="T64" fmla="*/ 3 w 1178"/>
                <a:gd name="T65" fmla="*/ 0 h 3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8"/>
                <a:gd name="T100" fmla="*/ 0 h 336"/>
                <a:gd name="T101" fmla="*/ 1178 w 1178"/>
                <a:gd name="T102" fmla="*/ 336 h 3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8" h="336">
                  <a:moveTo>
                    <a:pt x="591" y="14"/>
                  </a:moveTo>
                  <a:lnTo>
                    <a:pt x="584" y="16"/>
                  </a:lnTo>
                  <a:lnTo>
                    <a:pt x="566" y="24"/>
                  </a:lnTo>
                  <a:lnTo>
                    <a:pt x="539" y="37"/>
                  </a:lnTo>
                  <a:lnTo>
                    <a:pt x="503" y="52"/>
                  </a:lnTo>
                  <a:lnTo>
                    <a:pt x="459" y="70"/>
                  </a:lnTo>
                  <a:lnTo>
                    <a:pt x="412" y="91"/>
                  </a:lnTo>
                  <a:lnTo>
                    <a:pt x="360" y="113"/>
                  </a:lnTo>
                  <a:lnTo>
                    <a:pt x="305" y="136"/>
                  </a:lnTo>
                  <a:lnTo>
                    <a:pt x="251" y="159"/>
                  </a:lnTo>
                  <a:lnTo>
                    <a:pt x="198" y="182"/>
                  </a:lnTo>
                  <a:lnTo>
                    <a:pt x="149" y="203"/>
                  </a:lnTo>
                  <a:lnTo>
                    <a:pt x="103" y="222"/>
                  </a:lnTo>
                  <a:lnTo>
                    <a:pt x="64" y="239"/>
                  </a:lnTo>
                  <a:lnTo>
                    <a:pt x="32" y="253"/>
                  </a:lnTo>
                  <a:lnTo>
                    <a:pt x="11" y="262"/>
                  </a:lnTo>
                  <a:lnTo>
                    <a:pt x="0" y="266"/>
                  </a:lnTo>
                  <a:lnTo>
                    <a:pt x="10" y="267"/>
                  </a:lnTo>
                  <a:lnTo>
                    <a:pt x="29" y="271"/>
                  </a:lnTo>
                  <a:lnTo>
                    <a:pt x="56" y="274"/>
                  </a:lnTo>
                  <a:lnTo>
                    <a:pt x="89" y="279"/>
                  </a:lnTo>
                  <a:lnTo>
                    <a:pt x="127" y="284"/>
                  </a:lnTo>
                  <a:lnTo>
                    <a:pt x="169" y="290"/>
                  </a:lnTo>
                  <a:lnTo>
                    <a:pt x="213" y="295"/>
                  </a:lnTo>
                  <a:lnTo>
                    <a:pt x="257" y="302"/>
                  </a:lnTo>
                  <a:lnTo>
                    <a:pt x="302" y="308"/>
                  </a:lnTo>
                  <a:lnTo>
                    <a:pt x="345" y="315"/>
                  </a:lnTo>
                  <a:lnTo>
                    <a:pt x="384" y="320"/>
                  </a:lnTo>
                  <a:lnTo>
                    <a:pt x="419" y="325"/>
                  </a:lnTo>
                  <a:lnTo>
                    <a:pt x="450" y="329"/>
                  </a:lnTo>
                  <a:lnTo>
                    <a:pt x="473" y="333"/>
                  </a:lnTo>
                  <a:lnTo>
                    <a:pt x="487" y="334"/>
                  </a:lnTo>
                  <a:lnTo>
                    <a:pt x="493" y="335"/>
                  </a:lnTo>
                  <a:lnTo>
                    <a:pt x="504" y="336"/>
                  </a:lnTo>
                  <a:lnTo>
                    <a:pt x="517" y="336"/>
                  </a:lnTo>
                  <a:lnTo>
                    <a:pt x="530" y="335"/>
                  </a:lnTo>
                  <a:lnTo>
                    <a:pt x="545" y="334"/>
                  </a:lnTo>
                  <a:lnTo>
                    <a:pt x="558" y="331"/>
                  </a:lnTo>
                  <a:lnTo>
                    <a:pt x="572" y="329"/>
                  </a:lnTo>
                  <a:lnTo>
                    <a:pt x="584" y="326"/>
                  </a:lnTo>
                  <a:lnTo>
                    <a:pt x="596" y="321"/>
                  </a:lnTo>
                  <a:lnTo>
                    <a:pt x="601" y="319"/>
                  </a:lnTo>
                  <a:lnTo>
                    <a:pt x="617" y="312"/>
                  </a:lnTo>
                  <a:lnTo>
                    <a:pt x="642" y="301"/>
                  </a:lnTo>
                  <a:lnTo>
                    <a:pt x="675" y="288"/>
                  </a:lnTo>
                  <a:lnTo>
                    <a:pt x="713" y="271"/>
                  </a:lnTo>
                  <a:lnTo>
                    <a:pt x="757" y="252"/>
                  </a:lnTo>
                  <a:lnTo>
                    <a:pt x="804" y="231"/>
                  </a:lnTo>
                  <a:lnTo>
                    <a:pt x="854" y="209"/>
                  </a:lnTo>
                  <a:lnTo>
                    <a:pt x="905" y="187"/>
                  </a:lnTo>
                  <a:lnTo>
                    <a:pt x="955" y="165"/>
                  </a:lnTo>
                  <a:lnTo>
                    <a:pt x="1004" y="145"/>
                  </a:lnTo>
                  <a:lnTo>
                    <a:pt x="1049" y="124"/>
                  </a:lnTo>
                  <a:lnTo>
                    <a:pt x="1091" y="106"/>
                  </a:lnTo>
                  <a:lnTo>
                    <a:pt x="1127" y="91"/>
                  </a:lnTo>
                  <a:lnTo>
                    <a:pt x="1157" y="78"/>
                  </a:lnTo>
                  <a:lnTo>
                    <a:pt x="1178" y="69"/>
                  </a:lnTo>
                  <a:lnTo>
                    <a:pt x="694" y="1"/>
                  </a:lnTo>
                  <a:lnTo>
                    <a:pt x="682" y="0"/>
                  </a:lnTo>
                  <a:lnTo>
                    <a:pt x="670" y="0"/>
                  </a:lnTo>
                  <a:lnTo>
                    <a:pt x="657" y="0"/>
                  </a:lnTo>
                  <a:lnTo>
                    <a:pt x="642" y="2"/>
                  </a:lnTo>
                  <a:lnTo>
                    <a:pt x="628" y="4"/>
                  </a:lnTo>
                  <a:lnTo>
                    <a:pt x="615" y="6"/>
                  </a:lnTo>
                  <a:lnTo>
                    <a:pt x="602" y="10"/>
                  </a:lnTo>
                  <a:lnTo>
                    <a:pt x="591" y="1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5" name="Freeform 242"/>
            <p:cNvSpPr>
              <a:spLocks/>
            </p:cNvSpPr>
            <p:nvPr/>
          </p:nvSpPr>
          <p:spPr bwMode="auto">
            <a:xfrm>
              <a:off x="1059" y="3345"/>
              <a:ext cx="99" cy="303"/>
            </a:xfrm>
            <a:custGeom>
              <a:avLst/>
              <a:gdLst>
                <a:gd name="T0" fmla="*/ 0 w 596"/>
                <a:gd name="T1" fmla="*/ 0 h 1814"/>
                <a:gd name="T2" fmla="*/ 0 w 596"/>
                <a:gd name="T3" fmla="*/ 0 h 1814"/>
                <a:gd name="T4" fmla="*/ 0 w 596"/>
                <a:gd name="T5" fmla="*/ 0 h 1814"/>
                <a:gd name="T6" fmla="*/ 0 w 596"/>
                <a:gd name="T7" fmla="*/ 0 h 1814"/>
                <a:gd name="T8" fmla="*/ 0 w 596"/>
                <a:gd name="T9" fmla="*/ 0 h 1814"/>
                <a:gd name="T10" fmla="*/ 0 w 596"/>
                <a:gd name="T11" fmla="*/ 0 h 1814"/>
                <a:gd name="T12" fmla="*/ 0 w 596"/>
                <a:gd name="T13" fmla="*/ 0 h 1814"/>
                <a:gd name="T14" fmla="*/ 0 w 596"/>
                <a:gd name="T15" fmla="*/ 0 h 1814"/>
                <a:gd name="T16" fmla="*/ 0 w 596"/>
                <a:gd name="T17" fmla="*/ 0 h 1814"/>
                <a:gd name="T18" fmla="*/ 2 w 596"/>
                <a:gd name="T19" fmla="*/ 0 h 1814"/>
                <a:gd name="T20" fmla="*/ 2 w 596"/>
                <a:gd name="T21" fmla="*/ 0 h 1814"/>
                <a:gd name="T22" fmla="*/ 2 w 596"/>
                <a:gd name="T23" fmla="*/ 0 h 1814"/>
                <a:gd name="T24" fmla="*/ 3 w 596"/>
                <a:gd name="T25" fmla="*/ 0 h 1814"/>
                <a:gd name="T26" fmla="*/ 3 w 596"/>
                <a:gd name="T27" fmla="*/ 0 h 1814"/>
                <a:gd name="T28" fmla="*/ 3 w 596"/>
                <a:gd name="T29" fmla="*/ 1 h 1814"/>
                <a:gd name="T30" fmla="*/ 3 w 596"/>
                <a:gd name="T31" fmla="*/ 1 h 1814"/>
                <a:gd name="T32" fmla="*/ 3 w 596"/>
                <a:gd name="T33" fmla="*/ 1 h 1814"/>
                <a:gd name="T34" fmla="*/ 3 w 596"/>
                <a:gd name="T35" fmla="*/ 1 h 1814"/>
                <a:gd name="T36" fmla="*/ 3 w 596"/>
                <a:gd name="T37" fmla="*/ 8 h 1814"/>
                <a:gd name="T38" fmla="*/ 3 w 596"/>
                <a:gd name="T39" fmla="*/ 8 h 1814"/>
                <a:gd name="T40" fmla="*/ 3 w 596"/>
                <a:gd name="T41" fmla="*/ 8 h 1814"/>
                <a:gd name="T42" fmla="*/ 3 w 596"/>
                <a:gd name="T43" fmla="*/ 8 h 1814"/>
                <a:gd name="T44" fmla="*/ 3 w 596"/>
                <a:gd name="T45" fmla="*/ 8 h 1814"/>
                <a:gd name="T46" fmla="*/ 3 w 596"/>
                <a:gd name="T47" fmla="*/ 8 h 1814"/>
                <a:gd name="T48" fmla="*/ 3 w 596"/>
                <a:gd name="T49" fmla="*/ 9 h 1814"/>
                <a:gd name="T50" fmla="*/ 3 w 596"/>
                <a:gd name="T51" fmla="*/ 9 h 1814"/>
                <a:gd name="T52" fmla="*/ 2 w 596"/>
                <a:gd name="T53" fmla="*/ 9 h 1814"/>
                <a:gd name="T54" fmla="*/ 0 w 596"/>
                <a:gd name="T55" fmla="*/ 8 h 1814"/>
                <a:gd name="T56" fmla="*/ 0 w 596"/>
                <a:gd name="T57" fmla="*/ 8 h 1814"/>
                <a:gd name="T58" fmla="*/ 0 w 596"/>
                <a:gd name="T59" fmla="*/ 8 h 1814"/>
                <a:gd name="T60" fmla="*/ 0 w 596"/>
                <a:gd name="T61" fmla="*/ 8 h 1814"/>
                <a:gd name="T62" fmla="*/ 0 w 596"/>
                <a:gd name="T63" fmla="*/ 8 h 1814"/>
                <a:gd name="T64" fmla="*/ 0 w 596"/>
                <a:gd name="T65" fmla="*/ 8 h 1814"/>
                <a:gd name="T66" fmla="*/ 0 w 596"/>
                <a:gd name="T67" fmla="*/ 8 h 1814"/>
                <a:gd name="T68" fmla="*/ 0 w 596"/>
                <a:gd name="T69" fmla="*/ 8 h 1814"/>
                <a:gd name="T70" fmla="*/ 0 w 596"/>
                <a:gd name="T71" fmla="*/ 8 h 1814"/>
                <a:gd name="T72" fmla="*/ 0 w 596"/>
                <a:gd name="T73" fmla="*/ 0 h 18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96"/>
                <a:gd name="T112" fmla="*/ 0 h 1814"/>
                <a:gd name="T113" fmla="*/ 596 w 596"/>
                <a:gd name="T114" fmla="*/ 1814 h 181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96" h="1814">
                  <a:moveTo>
                    <a:pt x="0" y="29"/>
                  </a:moveTo>
                  <a:lnTo>
                    <a:pt x="1" y="22"/>
                  </a:lnTo>
                  <a:lnTo>
                    <a:pt x="2" y="16"/>
                  </a:lnTo>
                  <a:lnTo>
                    <a:pt x="6" y="11"/>
                  </a:lnTo>
                  <a:lnTo>
                    <a:pt x="10" y="6"/>
                  </a:lnTo>
                  <a:lnTo>
                    <a:pt x="16" y="3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543" y="69"/>
                  </a:lnTo>
                  <a:lnTo>
                    <a:pt x="551" y="72"/>
                  </a:lnTo>
                  <a:lnTo>
                    <a:pt x="559" y="75"/>
                  </a:lnTo>
                  <a:lnTo>
                    <a:pt x="566" y="79"/>
                  </a:lnTo>
                  <a:lnTo>
                    <a:pt x="571" y="86"/>
                  </a:lnTo>
                  <a:lnTo>
                    <a:pt x="577" y="93"/>
                  </a:lnTo>
                  <a:lnTo>
                    <a:pt x="580" y="100"/>
                  </a:lnTo>
                  <a:lnTo>
                    <a:pt x="583" y="109"/>
                  </a:lnTo>
                  <a:lnTo>
                    <a:pt x="584" y="117"/>
                  </a:lnTo>
                  <a:lnTo>
                    <a:pt x="596" y="1783"/>
                  </a:lnTo>
                  <a:lnTo>
                    <a:pt x="595" y="1790"/>
                  </a:lnTo>
                  <a:lnTo>
                    <a:pt x="593" y="1796"/>
                  </a:lnTo>
                  <a:lnTo>
                    <a:pt x="591" y="1802"/>
                  </a:lnTo>
                  <a:lnTo>
                    <a:pt x="586" y="1807"/>
                  </a:lnTo>
                  <a:lnTo>
                    <a:pt x="580" y="1811"/>
                  </a:lnTo>
                  <a:lnTo>
                    <a:pt x="575" y="1813"/>
                  </a:lnTo>
                  <a:lnTo>
                    <a:pt x="568" y="1814"/>
                  </a:lnTo>
                  <a:lnTo>
                    <a:pt x="561" y="1814"/>
                  </a:lnTo>
                  <a:lnTo>
                    <a:pt x="51" y="1749"/>
                  </a:lnTo>
                  <a:lnTo>
                    <a:pt x="43" y="1747"/>
                  </a:lnTo>
                  <a:lnTo>
                    <a:pt x="35" y="1744"/>
                  </a:lnTo>
                  <a:lnTo>
                    <a:pt x="28" y="1739"/>
                  </a:lnTo>
                  <a:lnTo>
                    <a:pt x="22" y="1733"/>
                  </a:lnTo>
                  <a:lnTo>
                    <a:pt x="17" y="1727"/>
                  </a:lnTo>
                  <a:lnTo>
                    <a:pt x="13" y="1719"/>
                  </a:lnTo>
                  <a:lnTo>
                    <a:pt x="10" y="1711"/>
                  </a:lnTo>
                  <a:lnTo>
                    <a:pt x="9" y="170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6" name="Freeform 243"/>
            <p:cNvSpPr>
              <a:spLocks/>
            </p:cNvSpPr>
            <p:nvPr/>
          </p:nvSpPr>
          <p:spPr bwMode="auto">
            <a:xfrm>
              <a:off x="1060" y="3358"/>
              <a:ext cx="28" cy="25"/>
            </a:xfrm>
            <a:custGeom>
              <a:avLst/>
              <a:gdLst>
                <a:gd name="T0" fmla="*/ 1 w 167"/>
                <a:gd name="T1" fmla="*/ 1 h 148"/>
                <a:gd name="T2" fmla="*/ 1 w 167"/>
                <a:gd name="T3" fmla="*/ 0 h 148"/>
                <a:gd name="T4" fmla="*/ 0 w 167"/>
                <a:gd name="T5" fmla="*/ 0 h 148"/>
                <a:gd name="T6" fmla="*/ 0 w 167"/>
                <a:gd name="T7" fmla="*/ 0 h 148"/>
                <a:gd name="T8" fmla="*/ 0 w 167"/>
                <a:gd name="T9" fmla="*/ 1 h 148"/>
                <a:gd name="T10" fmla="*/ 1 w 167"/>
                <a:gd name="T11" fmla="*/ 1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"/>
                <a:gd name="T19" fmla="*/ 0 h 148"/>
                <a:gd name="T20" fmla="*/ 167 w 167"/>
                <a:gd name="T21" fmla="*/ 148 h 1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" h="148">
                  <a:moveTo>
                    <a:pt x="167" y="148"/>
                  </a:moveTo>
                  <a:lnTo>
                    <a:pt x="165" y="24"/>
                  </a:lnTo>
                  <a:lnTo>
                    <a:pt x="5" y="0"/>
                  </a:lnTo>
                  <a:lnTo>
                    <a:pt x="1" y="10"/>
                  </a:lnTo>
                  <a:lnTo>
                    <a:pt x="0" y="126"/>
                  </a:lnTo>
                  <a:lnTo>
                    <a:pt x="167" y="1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7" name="Freeform 244"/>
            <p:cNvSpPr>
              <a:spLocks/>
            </p:cNvSpPr>
            <p:nvPr/>
          </p:nvSpPr>
          <p:spPr bwMode="auto">
            <a:xfrm>
              <a:off x="1059" y="3360"/>
              <a:ext cx="28" cy="22"/>
            </a:xfrm>
            <a:custGeom>
              <a:avLst/>
              <a:gdLst>
                <a:gd name="T0" fmla="*/ 1 w 166"/>
                <a:gd name="T1" fmla="*/ 1 h 133"/>
                <a:gd name="T2" fmla="*/ 1 w 166"/>
                <a:gd name="T3" fmla="*/ 0 h 133"/>
                <a:gd name="T4" fmla="*/ 1 w 166"/>
                <a:gd name="T5" fmla="*/ 0 h 133"/>
                <a:gd name="T6" fmla="*/ 0 w 166"/>
                <a:gd name="T7" fmla="*/ 0 h 133"/>
                <a:gd name="T8" fmla="*/ 0 w 166"/>
                <a:gd name="T9" fmla="*/ 0 h 133"/>
                <a:gd name="T10" fmla="*/ 0 w 166"/>
                <a:gd name="T11" fmla="*/ 0 h 133"/>
                <a:gd name="T12" fmla="*/ 1 w 166"/>
                <a:gd name="T13" fmla="*/ 1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33"/>
                <a:gd name="T23" fmla="*/ 166 w 166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33">
                  <a:moveTo>
                    <a:pt x="157" y="133"/>
                  </a:moveTo>
                  <a:lnTo>
                    <a:pt x="166" y="129"/>
                  </a:lnTo>
                  <a:lnTo>
                    <a:pt x="164" y="24"/>
                  </a:lnTo>
                  <a:lnTo>
                    <a:pt x="10" y="0"/>
                  </a:lnTo>
                  <a:lnTo>
                    <a:pt x="0" y="9"/>
                  </a:lnTo>
                  <a:lnTo>
                    <a:pt x="10" y="106"/>
                  </a:lnTo>
                  <a:lnTo>
                    <a:pt x="157" y="133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8" name="Freeform 245"/>
            <p:cNvSpPr>
              <a:spLocks/>
            </p:cNvSpPr>
            <p:nvPr/>
          </p:nvSpPr>
          <p:spPr bwMode="auto">
            <a:xfrm>
              <a:off x="1059" y="3361"/>
              <a:ext cx="26" cy="21"/>
            </a:xfrm>
            <a:custGeom>
              <a:avLst/>
              <a:gdLst>
                <a:gd name="T0" fmla="*/ 1 w 157"/>
                <a:gd name="T1" fmla="*/ 1 h 124"/>
                <a:gd name="T2" fmla="*/ 1 w 157"/>
                <a:gd name="T3" fmla="*/ 0 h 124"/>
                <a:gd name="T4" fmla="*/ 0 w 157"/>
                <a:gd name="T5" fmla="*/ 0 h 124"/>
                <a:gd name="T6" fmla="*/ 0 w 157"/>
                <a:gd name="T7" fmla="*/ 1 h 124"/>
                <a:gd name="T8" fmla="*/ 1 w 157"/>
                <a:gd name="T9" fmla="*/ 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24"/>
                <a:gd name="T17" fmla="*/ 157 w 157"/>
                <a:gd name="T18" fmla="*/ 124 h 1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24">
                  <a:moveTo>
                    <a:pt x="157" y="124"/>
                  </a:moveTo>
                  <a:lnTo>
                    <a:pt x="155" y="24"/>
                  </a:lnTo>
                  <a:lnTo>
                    <a:pt x="0" y="0"/>
                  </a:lnTo>
                  <a:lnTo>
                    <a:pt x="0" y="104"/>
                  </a:lnTo>
                  <a:lnTo>
                    <a:pt x="15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9" name="Freeform 246"/>
            <p:cNvSpPr>
              <a:spLocks/>
            </p:cNvSpPr>
            <p:nvPr/>
          </p:nvSpPr>
          <p:spPr bwMode="auto">
            <a:xfrm>
              <a:off x="1188" y="3358"/>
              <a:ext cx="86" cy="274"/>
            </a:xfrm>
            <a:custGeom>
              <a:avLst/>
              <a:gdLst>
                <a:gd name="T0" fmla="*/ 2 w 513"/>
                <a:gd name="T1" fmla="*/ 6 h 1646"/>
                <a:gd name="T2" fmla="*/ 2 w 513"/>
                <a:gd name="T3" fmla="*/ 0 h 1646"/>
                <a:gd name="T4" fmla="*/ 2 w 513"/>
                <a:gd name="T5" fmla="*/ 0 h 1646"/>
                <a:gd name="T6" fmla="*/ 2 w 513"/>
                <a:gd name="T7" fmla="*/ 0 h 1646"/>
                <a:gd name="T8" fmla="*/ 2 w 513"/>
                <a:gd name="T9" fmla="*/ 1 h 1646"/>
                <a:gd name="T10" fmla="*/ 2 w 513"/>
                <a:gd name="T11" fmla="*/ 1 h 1646"/>
                <a:gd name="T12" fmla="*/ 1 w 513"/>
                <a:gd name="T13" fmla="*/ 1 h 1646"/>
                <a:gd name="T14" fmla="*/ 1 w 513"/>
                <a:gd name="T15" fmla="*/ 1 h 1646"/>
                <a:gd name="T16" fmla="*/ 1 w 513"/>
                <a:gd name="T17" fmla="*/ 2 h 1646"/>
                <a:gd name="T18" fmla="*/ 1 w 513"/>
                <a:gd name="T19" fmla="*/ 2 h 1646"/>
                <a:gd name="T20" fmla="*/ 1 w 513"/>
                <a:gd name="T21" fmla="*/ 2 h 1646"/>
                <a:gd name="T22" fmla="*/ 0 w 513"/>
                <a:gd name="T23" fmla="*/ 3 h 1646"/>
                <a:gd name="T24" fmla="*/ 0 w 513"/>
                <a:gd name="T25" fmla="*/ 3 h 1646"/>
                <a:gd name="T26" fmla="*/ 0 w 513"/>
                <a:gd name="T27" fmla="*/ 4 h 1646"/>
                <a:gd name="T28" fmla="*/ 0 w 513"/>
                <a:gd name="T29" fmla="*/ 4 h 1646"/>
                <a:gd name="T30" fmla="*/ 0 w 513"/>
                <a:gd name="T31" fmla="*/ 4 h 1646"/>
                <a:gd name="T32" fmla="*/ 0 w 513"/>
                <a:gd name="T33" fmla="*/ 5 h 1646"/>
                <a:gd name="T34" fmla="*/ 0 w 513"/>
                <a:gd name="T35" fmla="*/ 5 h 1646"/>
                <a:gd name="T36" fmla="*/ 0 w 513"/>
                <a:gd name="T37" fmla="*/ 6 h 1646"/>
                <a:gd name="T38" fmla="*/ 0 w 513"/>
                <a:gd name="T39" fmla="*/ 6 h 1646"/>
                <a:gd name="T40" fmla="*/ 0 w 513"/>
                <a:gd name="T41" fmla="*/ 7 h 1646"/>
                <a:gd name="T42" fmla="*/ 0 w 513"/>
                <a:gd name="T43" fmla="*/ 8 h 1646"/>
                <a:gd name="T44" fmla="*/ 2 w 513"/>
                <a:gd name="T45" fmla="*/ 6 h 1646"/>
                <a:gd name="T46" fmla="*/ 2 w 513"/>
                <a:gd name="T47" fmla="*/ 6 h 1646"/>
                <a:gd name="T48" fmla="*/ 2 w 513"/>
                <a:gd name="T49" fmla="*/ 6 h 1646"/>
                <a:gd name="T50" fmla="*/ 2 w 513"/>
                <a:gd name="T51" fmla="*/ 6 h 1646"/>
                <a:gd name="T52" fmla="*/ 2 w 513"/>
                <a:gd name="T53" fmla="*/ 6 h 1646"/>
                <a:gd name="T54" fmla="*/ 2 w 513"/>
                <a:gd name="T55" fmla="*/ 6 h 1646"/>
                <a:gd name="T56" fmla="*/ 2 w 513"/>
                <a:gd name="T57" fmla="*/ 6 h 1646"/>
                <a:gd name="T58" fmla="*/ 2 w 513"/>
                <a:gd name="T59" fmla="*/ 6 h 1646"/>
                <a:gd name="T60" fmla="*/ 2 w 513"/>
                <a:gd name="T61" fmla="*/ 6 h 16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513"/>
                <a:gd name="T94" fmla="*/ 0 h 1646"/>
                <a:gd name="T95" fmla="*/ 513 w 513"/>
                <a:gd name="T96" fmla="*/ 1646 h 164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513" h="1646">
                  <a:moveTo>
                    <a:pt x="512" y="1346"/>
                  </a:moveTo>
                  <a:lnTo>
                    <a:pt x="513" y="0"/>
                  </a:lnTo>
                  <a:lnTo>
                    <a:pt x="457" y="41"/>
                  </a:lnTo>
                  <a:lnTo>
                    <a:pt x="404" y="87"/>
                  </a:lnTo>
                  <a:lnTo>
                    <a:pt x="353" y="138"/>
                  </a:lnTo>
                  <a:lnTo>
                    <a:pt x="305" y="194"/>
                  </a:lnTo>
                  <a:lnTo>
                    <a:pt x="259" y="254"/>
                  </a:lnTo>
                  <a:lnTo>
                    <a:pt x="216" y="320"/>
                  </a:lnTo>
                  <a:lnTo>
                    <a:pt x="178" y="388"/>
                  </a:lnTo>
                  <a:lnTo>
                    <a:pt x="142" y="461"/>
                  </a:lnTo>
                  <a:lnTo>
                    <a:pt x="110" y="538"/>
                  </a:lnTo>
                  <a:lnTo>
                    <a:pt x="82" y="617"/>
                  </a:lnTo>
                  <a:lnTo>
                    <a:pt x="57" y="700"/>
                  </a:lnTo>
                  <a:lnTo>
                    <a:pt x="37" y="785"/>
                  </a:lnTo>
                  <a:lnTo>
                    <a:pt x="21" y="874"/>
                  </a:lnTo>
                  <a:lnTo>
                    <a:pt x="9" y="964"/>
                  </a:lnTo>
                  <a:lnTo>
                    <a:pt x="2" y="1058"/>
                  </a:lnTo>
                  <a:lnTo>
                    <a:pt x="0" y="1152"/>
                  </a:lnTo>
                  <a:lnTo>
                    <a:pt x="1" y="1282"/>
                  </a:lnTo>
                  <a:lnTo>
                    <a:pt x="7" y="1408"/>
                  </a:lnTo>
                  <a:lnTo>
                    <a:pt x="14" y="1529"/>
                  </a:lnTo>
                  <a:lnTo>
                    <a:pt x="27" y="1646"/>
                  </a:lnTo>
                  <a:lnTo>
                    <a:pt x="470" y="1414"/>
                  </a:lnTo>
                  <a:lnTo>
                    <a:pt x="478" y="1409"/>
                  </a:lnTo>
                  <a:lnTo>
                    <a:pt x="486" y="1402"/>
                  </a:lnTo>
                  <a:lnTo>
                    <a:pt x="493" y="1394"/>
                  </a:lnTo>
                  <a:lnTo>
                    <a:pt x="500" y="1385"/>
                  </a:lnTo>
                  <a:lnTo>
                    <a:pt x="504" y="1375"/>
                  </a:lnTo>
                  <a:lnTo>
                    <a:pt x="509" y="1365"/>
                  </a:lnTo>
                  <a:lnTo>
                    <a:pt x="511" y="1356"/>
                  </a:lnTo>
                  <a:lnTo>
                    <a:pt x="512" y="134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0" name="Freeform 247"/>
            <p:cNvSpPr>
              <a:spLocks/>
            </p:cNvSpPr>
            <p:nvPr/>
          </p:nvSpPr>
          <p:spPr bwMode="auto">
            <a:xfrm>
              <a:off x="1202" y="3559"/>
              <a:ext cx="25" cy="26"/>
            </a:xfrm>
            <a:custGeom>
              <a:avLst/>
              <a:gdLst>
                <a:gd name="T0" fmla="*/ 1 w 154"/>
                <a:gd name="T1" fmla="*/ 1 h 155"/>
                <a:gd name="T2" fmla="*/ 1 w 154"/>
                <a:gd name="T3" fmla="*/ 1 h 155"/>
                <a:gd name="T4" fmla="*/ 1 w 154"/>
                <a:gd name="T5" fmla="*/ 1 h 155"/>
                <a:gd name="T6" fmla="*/ 1 w 154"/>
                <a:gd name="T7" fmla="*/ 0 h 155"/>
                <a:gd name="T8" fmla="*/ 1 w 154"/>
                <a:gd name="T9" fmla="*/ 0 h 155"/>
                <a:gd name="T10" fmla="*/ 1 w 154"/>
                <a:gd name="T11" fmla="*/ 0 h 155"/>
                <a:gd name="T12" fmla="*/ 1 w 154"/>
                <a:gd name="T13" fmla="*/ 0 h 155"/>
                <a:gd name="T14" fmla="*/ 1 w 154"/>
                <a:gd name="T15" fmla="*/ 0 h 155"/>
                <a:gd name="T16" fmla="*/ 1 w 154"/>
                <a:gd name="T17" fmla="*/ 0 h 155"/>
                <a:gd name="T18" fmla="*/ 1 w 154"/>
                <a:gd name="T19" fmla="*/ 0 h 155"/>
                <a:gd name="T20" fmla="*/ 1 w 154"/>
                <a:gd name="T21" fmla="*/ 0 h 155"/>
                <a:gd name="T22" fmla="*/ 1 w 154"/>
                <a:gd name="T23" fmla="*/ 0 h 155"/>
                <a:gd name="T24" fmla="*/ 1 w 154"/>
                <a:gd name="T25" fmla="*/ 0 h 155"/>
                <a:gd name="T26" fmla="*/ 0 w 154"/>
                <a:gd name="T27" fmla="*/ 0 h 155"/>
                <a:gd name="T28" fmla="*/ 0 w 154"/>
                <a:gd name="T29" fmla="*/ 0 h 155"/>
                <a:gd name="T30" fmla="*/ 0 w 154"/>
                <a:gd name="T31" fmla="*/ 0 h 155"/>
                <a:gd name="T32" fmla="*/ 0 w 154"/>
                <a:gd name="T33" fmla="*/ 0 h 155"/>
                <a:gd name="T34" fmla="*/ 0 w 154"/>
                <a:gd name="T35" fmla="*/ 0 h 155"/>
                <a:gd name="T36" fmla="*/ 0 w 154"/>
                <a:gd name="T37" fmla="*/ 0 h 155"/>
                <a:gd name="T38" fmla="*/ 0 w 154"/>
                <a:gd name="T39" fmla="*/ 1 h 155"/>
                <a:gd name="T40" fmla="*/ 0 w 154"/>
                <a:gd name="T41" fmla="*/ 1 h 155"/>
                <a:gd name="T42" fmla="*/ 0 w 154"/>
                <a:gd name="T43" fmla="*/ 1 h 155"/>
                <a:gd name="T44" fmla="*/ 0 w 154"/>
                <a:gd name="T45" fmla="*/ 1 h 155"/>
                <a:gd name="T46" fmla="*/ 0 w 154"/>
                <a:gd name="T47" fmla="*/ 1 h 155"/>
                <a:gd name="T48" fmla="*/ 1 w 154"/>
                <a:gd name="T49" fmla="*/ 1 h 15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4"/>
                <a:gd name="T76" fmla="*/ 0 h 155"/>
                <a:gd name="T77" fmla="*/ 154 w 154"/>
                <a:gd name="T78" fmla="*/ 155 h 15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4" h="155">
                  <a:moveTo>
                    <a:pt x="134" y="104"/>
                  </a:moveTo>
                  <a:lnTo>
                    <a:pt x="141" y="99"/>
                  </a:lnTo>
                  <a:lnTo>
                    <a:pt x="148" y="92"/>
                  </a:lnTo>
                  <a:lnTo>
                    <a:pt x="152" y="85"/>
                  </a:lnTo>
                  <a:lnTo>
                    <a:pt x="154" y="76"/>
                  </a:lnTo>
                  <a:lnTo>
                    <a:pt x="152" y="25"/>
                  </a:lnTo>
                  <a:lnTo>
                    <a:pt x="152" y="17"/>
                  </a:lnTo>
                  <a:lnTo>
                    <a:pt x="151" y="10"/>
                  </a:lnTo>
                  <a:lnTo>
                    <a:pt x="150" y="5"/>
                  </a:lnTo>
                  <a:lnTo>
                    <a:pt x="149" y="1"/>
                  </a:lnTo>
                  <a:lnTo>
                    <a:pt x="146" y="0"/>
                  </a:lnTo>
                  <a:lnTo>
                    <a:pt x="141" y="0"/>
                  </a:lnTo>
                  <a:lnTo>
                    <a:pt x="134" y="2"/>
                  </a:lnTo>
                  <a:lnTo>
                    <a:pt x="128" y="5"/>
                  </a:lnTo>
                  <a:lnTo>
                    <a:pt x="17" y="56"/>
                  </a:lnTo>
                  <a:lnTo>
                    <a:pt x="10" y="61"/>
                  </a:lnTo>
                  <a:lnTo>
                    <a:pt x="5" y="69"/>
                  </a:lnTo>
                  <a:lnTo>
                    <a:pt x="1" y="77"/>
                  </a:lnTo>
                  <a:lnTo>
                    <a:pt x="0" y="85"/>
                  </a:lnTo>
                  <a:lnTo>
                    <a:pt x="0" y="142"/>
                  </a:lnTo>
                  <a:lnTo>
                    <a:pt x="1" y="149"/>
                  </a:lnTo>
                  <a:lnTo>
                    <a:pt x="5" y="154"/>
                  </a:lnTo>
                  <a:lnTo>
                    <a:pt x="10" y="155"/>
                  </a:lnTo>
                  <a:lnTo>
                    <a:pt x="17" y="154"/>
                  </a:lnTo>
                  <a:lnTo>
                    <a:pt x="134" y="104"/>
                  </a:lnTo>
                  <a:close/>
                </a:path>
              </a:pathLst>
            </a:custGeom>
            <a:solidFill>
              <a:srgbClr val="DDDD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1" name="Freeform 248"/>
            <p:cNvSpPr>
              <a:spLocks/>
            </p:cNvSpPr>
            <p:nvPr/>
          </p:nvSpPr>
          <p:spPr bwMode="auto">
            <a:xfrm>
              <a:off x="1200" y="3559"/>
              <a:ext cx="26" cy="24"/>
            </a:xfrm>
            <a:custGeom>
              <a:avLst/>
              <a:gdLst>
                <a:gd name="T0" fmla="*/ 1 w 153"/>
                <a:gd name="T1" fmla="*/ 0 h 144"/>
                <a:gd name="T2" fmla="*/ 1 w 153"/>
                <a:gd name="T3" fmla="*/ 0 h 144"/>
                <a:gd name="T4" fmla="*/ 1 w 153"/>
                <a:gd name="T5" fmla="*/ 0 h 144"/>
                <a:gd name="T6" fmla="*/ 1 w 153"/>
                <a:gd name="T7" fmla="*/ 0 h 144"/>
                <a:gd name="T8" fmla="*/ 1 w 153"/>
                <a:gd name="T9" fmla="*/ 0 h 144"/>
                <a:gd name="T10" fmla="*/ 1 w 153"/>
                <a:gd name="T11" fmla="*/ 0 h 144"/>
                <a:gd name="T12" fmla="*/ 1 w 153"/>
                <a:gd name="T13" fmla="*/ 0 h 144"/>
                <a:gd name="T14" fmla="*/ 1 w 153"/>
                <a:gd name="T15" fmla="*/ 0 h 144"/>
                <a:gd name="T16" fmla="*/ 1 w 153"/>
                <a:gd name="T17" fmla="*/ 0 h 144"/>
                <a:gd name="T18" fmla="*/ 1 w 153"/>
                <a:gd name="T19" fmla="*/ 0 h 144"/>
                <a:gd name="T20" fmla="*/ 0 w 153"/>
                <a:gd name="T21" fmla="*/ 0 h 144"/>
                <a:gd name="T22" fmla="*/ 0 w 153"/>
                <a:gd name="T23" fmla="*/ 0 h 144"/>
                <a:gd name="T24" fmla="*/ 0 w 153"/>
                <a:gd name="T25" fmla="*/ 0 h 144"/>
                <a:gd name="T26" fmla="*/ 0 w 153"/>
                <a:gd name="T27" fmla="*/ 0 h 144"/>
                <a:gd name="T28" fmla="*/ 0 w 153"/>
                <a:gd name="T29" fmla="*/ 0 h 144"/>
                <a:gd name="T30" fmla="*/ 0 w 153"/>
                <a:gd name="T31" fmla="*/ 1 h 144"/>
                <a:gd name="T32" fmla="*/ 0 w 153"/>
                <a:gd name="T33" fmla="*/ 1 h 144"/>
                <a:gd name="T34" fmla="*/ 0 w 153"/>
                <a:gd name="T35" fmla="*/ 1 h 144"/>
                <a:gd name="T36" fmla="*/ 0 w 153"/>
                <a:gd name="T37" fmla="*/ 1 h 144"/>
                <a:gd name="T38" fmla="*/ 0 w 153"/>
                <a:gd name="T39" fmla="*/ 1 h 144"/>
                <a:gd name="T40" fmla="*/ 1 w 153"/>
                <a:gd name="T41" fmla="*/ 0 h 1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3"/>
                <a:gd name="T64" fmla="*/ 0 h 144"/>
                <a:gd name="T65" fmla="*/ 153 w 153"/>
                <a:gd name="T66" fmla="*/ 144 h 14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3" h="144">
                  <a:moveTo>
                    <a:pt x="135" y="93"/>
                  </a:moveTo>
                  <a:lnTo>
                    <a:pt x="141" y="88"/>
                  </a:lnTo>
                  <a:lnTo>
                    <a:pt x="147" y="81"/>
                  </a:lnTo>
                  <a:lnTo>
                    <a:pt x="152" y="74"/>
                  </a:lnTo>
                  <a:lnTo>
                    <a:pt x="153" y="66"/>
                  </a:lnTo>
                  <a:lnTo>
                    <a:pt x="153" y="15"/>
                  </a:lnTo>
                  <a:lnTo>
                    <a:pt x="152" y="7"/>
                  </a:lnTo>
                  <a:lnTo>
                    <a:pt x="147" y="3"/>
                  </a:lnTo>
                  <a:lnTo>
                    <a:pt x="141" y="0"/>
                  </a:lnTo>
                  <a:lnTo>
                    <a:pt x="135" y="2"/>
                  </a:lnTo>
                  <a:lnTo>
                    <a:pt x="17" y="48"/>
                  </a:lnTo>
                  <a:lnTo>
                    <a:pt x="10" y="52"/>
                  </a:lnTo>
                  <a:lnTo>
                    <a:pt x="6" y="58"/>
                  </a:lnTo>
                  <a:lnTo>
                    <a:pt x="1" y="66"/>
                  </a:lnTo>
                  <a:lnTo>
                    <a:pt x="0" y="74"/>
                  </a:lnTo>
                  <a:lnTo>
                    <a:pt x="0" y="132"/>
                  </a:lnTo>
                  <a:lnTo>
                    <a:pt x="1" y="139"/>
                  </a:lnTo>
                  <a:lnTo>
                    <a:pt x="6" y="143"/>
                  </a:lnTo>
                  <a:lnTo>
                    <a:pt x="10" y="144"/>
                  </a:lnTo>
                  <a:lnTo>
                    <a:pt x="17" y="143"/>
                  </a:lnTo>
                  <a:lnTo>
                    <a:pt x="135" y="9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2" name="Freeform 249"/>
            <p:cNvSpPr>
              <a:spLocks/>
            </p:cNvSpPr>
            <p:nvPr/>
          </p:nvSpPr>
          <p:spPr bwMode="auto">
            <a:xfrm>
              <a:off x="1084" y="3356"/>
              <a:ext cx="74" cy="292"/>
            </a:xfrm>
            <a:custGeom>
              <a:avLst/>
              <a:gdLst>
                <a:gd name="T0" fmla="*/ 2 w 445"/>
                <a:gd name="T1" fmla="*/ 8 h 1750"/>
                <a:gd name="T2" fmla="*/ 2 w 445"/>
                <a:gd name="T3" fmla="*/ 8 h 1750"/>
                <a:gd name="T4" fmla="*/ 2 w 445"/>
                <a:gd name="T5" fmla="*/ 8 h 1750"/>
                <a:gd name="T6" fmla="*/ 2 w 445"/>
                <a:gd name="T7" fmla="*/ 8 h 1750"/>
                <a:gd name="T8" fmla="*/ 2 w 445"/>
                <a:gd name="T9" fmla="*/ 8 h 1750"/>
                <a:gd name="T10" fmla="*/ 2 w 445"/>
                <a:gd name="T11" fmla="*/ 0 h 1750"/>
                <a:gd name="T12" fmla="*/ 2 w 445"/>
                <a:gd name="T13" fmla="*/ 0 h 1750"/>
                <a:gd name="T14" fmla="*/ 2 w 445"/>
                <a:gd name="T15" fmla="*/ 0 h 1750"/>
                <a:gd name="T16" fmla="*/ 2 w 445"/>
                <a:gd name="T17" fmla="*/ 0 h 1750"/>
                <a:gd name="T18" fmla="*/ 2 w 445"/>
                <a:gd name="T19" fmla="*/ 0 h 1750"/>
                <a:gd name="T20" fmla="*/ 2 w 445"/>
                <a:gd name="T21" fmla="*/ 0 h 1750"/>
                <a:gd name="T22" fmla="*/ 2 w 445"/>
                <a:gd name="T23" fmla="*/ 0 h 1750"/>
                <a:gd name="T24" fmla="*/ 2 w 445"/>
                <a:gd name="T25" fmla="*/ 0 h 1750"/>
                <a:gd name="T26" fmla="*/ 2 w 445"/>
                <a:gd name="T27" fmla="*/ 0 h 1750"/>
                <a:gd name="T28" fmla="*/ 2 w 445"/>
                <a:gd name="T29" fmla="*/ 0 h 1750"/>
                <a:gd name="T30" fmla="*/ 2 w 445"/>
                <a:gd name="T31" fmla="*/ 0 h 1750"/>
                <a:gd name="T32" fmla="*/ 2 w 445"/>
                <a:gd name="T33" fmla="*/ 0 h 1750"/>
                <a:gd name="T34" fmla="*/ 2 w 445"/>
                <a:gd name="T35" fmla="*/ 0 h 1750"/>
                <a:gd name="T36" fmla="*/ 2 w 445"/>
                <a:gd name="T37" fmla="*/ 0 h 1750"/>
                <a:gd name="T38" fmla="*/ 2 w 445"/>
                <a:gd name="T39" fmla="*/ 0 h 1750"/>
                <a:gd name="T40" fmla="*/ 2 w 445"/>
                <a:gd name="T41" fmla="*/ 0 h 1750"/>
                <a:gd name="T42" fmla="*/ 2 w 445"/>
                <a:gd name="T43" fmla="*/ 0 h 1750"/>
                <a:gd name="T44" fmla="*/ 1 w 445"/>
                <a:gd name="T45" fmla="*/ 0 h 1750"/>
                <a:gd name="T46" fmla="*/ 1 w 445"/>
                <a:gd name="T47" fmla="*/ 0 h 1750"/>
                <a:gd name="T48" fmla="*/ 1 w 445"/>
                <a:gd name="T49" fmla="*/ 1 h 1750"/>
                <a:gd name="T50" fmla="*/ 1 w 445"/>
                <a:gd name="T51" fmla="*/ 1 h 1750"/>
                <a:gd name="T52" fmla="*/ 1 w 445"/>
                <a:gd name="T53" fmla="*/ 1 h 1750"/>
                <a:gd name="T54" fmla="*/ 1 w 445"/>
                <a:gd name="T55" fmla="*/ 1 h 1750"/>
                <a:gd name="T56" fmla="*/ 0 w 445"/>
                <a:gd name="T57" fmla="*/ 2 h 1750"/>
                <a:gd name="T58" fmla="*/ 0 w 445"/>
                <a:gd name="T59" fmla="*/ 2 h 1750"/>
                <a:gd name="T60" fmla="*/ 0 w 445"/>
                <a:gd name="T61" fmla="*/ 2 h 1750"/>
                <a:gd name="T62" fmla="*/ 0 w 445"/>
                <a:gd name="T63" fmla="*/ 3 h 1750"/>
                <a:gd name="T64" fmla="*/ 0 w 445"/>
                <a:gd name="T65" fmla="*/ 3 h 1750"/>
                <a:gd name="T66" fmla="*/ 0 w 445"/>
                <a:gd name="T67" fmla="*/ 3 h 1750"/>
                <a:gd name="T68" fmla="*/ 0 w 445"/>
                <a:gd name="T69" fmla="*/ 4 h 1750"/>
                <a:gd name="T70" fmla="*/ 0 w 445"/>
                <a:gd name="T71" fmla="*/ 4 h 1750"/>
                <a:gd name="T72" fmla="*/ 0 w 445"/>
                <a:gd name="T73" fmla="*/ 5 h 1750"/>
                <a:gd name="T74" fmla="*/ 0 w 445"/>
                <a:gd name="T75" fmla="*/ 5 h 1750"/>
                <a:gd name="T76" fmla="*/ 0 w 445"/>
                <a:gd name="T77" fmla="*/ 6 h 1750"/>
                <a:gd name="T78" fmla="*/ 0 w 445"/>
                <a:gd name="T79" fmla="*/ 7 h 1750"/>
                <a:gd name="T80" fmla="*/ 0 w 445"/>
                <a:gd name="T81" fmla="*/ 7 h 1750"/>
                <a:gd name="T82" fmla="*/ 0 w 445"/>
                <a:gd name="T83" fmla="*/ 8 h 1750"/>
                <a:gd name="T84" fmla="*/ 0 w 445"/>
                <a:gd name="T85" fmla="*/ 8 h 1750"/>
                <a:gd name="T86" fmla="*/ 0 w 445"/>
                <a:gd name="T87" fmla="*/ 8 h 1750"/>
                <a:gd name="T88" fmla="*/ 0 w 445"/>
                <a:gd name="T89" fmla="*/ 8 h 1750"/>
                <a:gd name="T90" fmla="*/ 1 w 445"/>
                <a:gd name="T91" fmla="*/ 8 h 1750"/>
                <a:gd name="T92" fmla="*/ 1 w 445"/>
                <a:gd name="T93" fmla="*/ 8 h 1750"/>
                <a:gd name="T94" fmla="*/ 1 w 445"/>
                <a:gd name="T95" fmla="*/ 8 h 1750"/>
                <a:gd name="T96" fmla="*/ 1 w 445"/>
                <a:gd name="T97" fmla="*/ 8 h 1750"/>
                <a:gd name="T98" fmla="*/ 1 w 445"/>
                <a:gd name="T99" fmla="*/ 8 h 1750"/>
                <a:gd name="T100" fmla="*/ 1 w 445"/>
                <a:gd name="T101" fmla="*/ 8 h 1750"/>
                <a:gd name="T102" fmla="*/ 1 w 445"/>
                <a:gd name="T103" fmla="*/ 8 h 1750"/>
                <a:gd name="T104" fmla="*/ 2 w 445"/>
                <a:gd name="T105" fmla="*/ 8 h 1750"/>
                <a:gd name="T106" fmla="*/ 2 w 445"/>
                <a:gd name="T107" fmla="*/ 8 h 1750"/>
                <a:gd name="T108" fmla="*/ 2 w 445"/>
                <a:gd name="T109" fmla="*/ 8 h 1750"/>
                <a:gd name="T110" fmla="*/ 2 w 445"/>
                <a:gd name="T111" fmla="*/ 8 h 1750"/>
                <a:gd name="T112" fmla="*/ 2 w 445"/>
                <a:gd name="T113" fmla="*/ 8 h 1750"/>
                <a:gd name="T114" fmla="*/ 2 w 445"/>
                <a:gd name="T115" fmla="*/ 8 h 1750"/>
                <a:gd name="T116" fmla="*/ 2 w 445"/>
                <a:gd name="T117" fmla="*/ 8 h 1750"/>
                <a:gd name="T118" fmla="*/ 2 w 445"/>
                <a:gd name="T119" fmla="*/ 8 h 1750"/>
                <a:gd name="T120" fmla="*/ 2 w 445"/>
                <a:gd name="T121" fmla="*/ 8 h 1750"/>
                <a:gd name="T122" fmla="*/ 2 w 445"/>
                <a:gd name="T123" fmla="*/ 8 h 175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45"/>
                <a:gd name="T187" fmla="*/ 0 h 1750"/>
                <a:gd name="T188" fmla="*/ 445 w 445"/>
                <a:gd name="T189" fmla="*/ 1750 h 175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45" h="1750">
                  <a:moveTo>
                    <a:pt x="435" y="1743"/>
                  </a:moveTo>
                  <a:lnTo>
                    <a:pt x="440" y="1738"/>
                  </a:lnTo>
                  <a:lnTo>
                    <a:pt x="442" y="1732"/>
                  </a:lnTo>
                  <a:lnTo>
                    <a:pt x="444" y="1726"/>
                  </a:lnTo>
                  <a:lnTo>
                    <a:pt x="445" y="1719"/>
                  </a:lnTo>
                  <a:lnTo>
                    <a:pt x="433" y="53"/>
                  </a:lnTo>
                  <a:lnTo>
                    <a:pt x="432" y="45"/>
                  </a:lnTo>
                  <a:lnTo>
                    <a:pt x="429" y="36"/>
                  </a:lnTo>
                  <a:lnTo>
                    <a:pt x="426" y="29"/>
                  </a:lnTo>
                  <a:lnTo>
                    <a:pt x="420" y="22"/>
                  </a:lnTo>
                  <a:lnTo>
                    <a:pt x="415" y="15"/>
                  </a:lnTo>
                  <a:lnTo>
                    <a:pt x="408" y="11"/>
                  </a:lnTo>
                  <a:lnTo>
                    <a:pt x="400" y="8"/>
                  </a:lnTo>
                  <a:lnTo>
                    <a:pt x="392" y="5"/>
                  </a:lnTo>
                  <a:lnTo>
                    <a:pt x="391" y="5"/>
                  </a:lnTo>
                  <a:lnTo>
                    <a:pt x="387" y="4"/>
                  </a:lnTo>
                  <a:lnTo>
                    <a:pt x="380" y="4"/>
                  </a:lnTo>
                  <a:lnTo>
                    <a:pt x="372" y="3"/>
                  </a:lnTo>
                  <a:lnTo>
                    <a:pt x="364" y="2"/>
                  </a:lnTo>
                  <a:lnTo>
                    <a:pt x="356" y="1"/>
                  </a:lnTo>
                  <a:lnTo>
                    <a:pt x="350" y="1"/>
                  </a:lnTo>
                  <a:lnTo>
                    <a:pt x="346" y="0"/>
                  </a:lnTo>
                  <a:lnTo>
                    <a:pt x="309" y="35"/>
                  </a:lnTo>
                  <a:lnTo>
                    <a:pt x="274" y="74"/>
                  </a:lnTo>
                  <a:lnTo>
                    <a:pt x="239" y="119"/>
                  </a:lnTo>
                  <a:lnTo>
                    <a:pt x="207" y="168"/>
                  </a:lnTo>
                  <a:lnTo>
                    <a:pt x="177" y="222"/>
                  </a:lnTo>
                  <a:lnTo>
                    <a:pt x="148" y="281"/>
                  </a:lnTo>
                  <a:lnTo>
                    <a:pt x="122" y="343"/>
                  </a:lnTo>
                  <a:lnTo>
                    <a:pt x="98" y="408"/>
                  </a:lnTo>
                  <a:lnTo>
                    <a:pt x="76" y="478"/>
                  </a:lnTo>
                  <a:lnTo>
                    <a:pt x="57" y="550"/>
                  </a:lnTo>
                  <a:lnTo>
                    <a:pt x="41" y="625"/>
                  </a:lnTo>
                  <a:lnTo>
                    <a:pt x="26" y="704"/>
                  </a:lnTo>
                  <a:lnTo>
                    <a:pt x="16" y="785"/>
                  </a:lnTo>
                  <a:lnTo>
                    <a:pt x="8" y="867"/>
                  </a:lnTo>
                  <a:lnTo>
                    <a:pt x="3" y="953"/>
                  </a:lnTo>
                  <a:lnTo>
                    <a:pt x="2" y="1039"/>
                  </a:lnTo>
                  <a:lnTo>
                    <a:pt x="0" y="1228"/>
                  </a:lnTo>
                  <a:lnTo>
                    <a:pt x="0" y="1403"/>
                  </a:lnTo>
                  <a:lnTo>
                    <a:pt x="4" y="1559"/>
                  </a:lnTo>
                  <a:lnTo>
                    <a:pt x="15" y="1700"/>
                  </a:lnTo>
                  <a:lnTo>
                    <a:pt x="42" y="1703"/>
                  </a:lnTo>
                  <a:lnTo>
                    <a:pt x="72" y="1708"/>
                  </a:lnTo>
                  <a:lnTo>
                    <a:pt x="103" y="1711"/>
                  </a:lnTo>
                  <a:lnTo>
                    <a:pt x="135" y="1716"/>
                  </a:lnTo>
                  <a:lnTo>
                    <a:pt x="168" y="1720"/>
                  </a:lnTo>
                  <a:lnTo>
                    <a:pt x="200" y="1723"/>
                  </a:lnTo>
                  <a:lnTo>
                    <a:pt x="233" y="1728"/>
                  </a:lnTo>
                  <a:lnTo>
                    <a:pt x="265" y="1731"/>
                  </a:lnTo>
                  <a:lnTo>
                    <a:pt x="294" y="1736"/>
                  </a:lnTo>
                  <a:lnTo>
                    <a:pt x="321" y="1739"/>
                  </a:lnTo>
                  <a:lnTo>
                    <a:pt x="346" y="1743"/>
                  </a:lnTo>
                  <a:lnTo>
                    <a:pt x="367" y="1745"/>
                  </a:lnTo>
                  <a:lnTo>
                    <a:pt x="385" y="1747"/>
                  </a:lnTo>
                  <a:lnTo>
                    <a:pt x="399" y="1749"/>
                  </a:lnTo>
                  <a:lnTo>
                    <a:pt x="407" y="1750"/>
                  </a:lnTo>
                  <a:lnTo>
                    <a:pt x="410" y="1750"/>
                  </a:lnTo>
                  <a:lnTo>
                    <a:pt x="417" y="1750"/>
                  </a:lnTo>
                  <a:lnTo>
                    <a:pt x="424" y="1749"/>
                  </a:lnTo>
                  <a:lnTo>
                    <a:pt x="429" y="1747"/>
                  </a:lnTo>
                  <a:lnTo>
                    <a:pt x="435" y="17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3" name="Freeform 250"/>
            <p:cNvSpPr>
              <a:spLocks/>
            </p:cNvSpPr>
            <p:nvPr/>
          </p:nvSpPr>
          <p:spPr bwMode="auto">
            <a:xfrm>
              <a:off x="1065" y="3609"/>
              <a:ext cx="39" cy="28"/>
            </a:xfrm>
            <a:custGeom>
              <a:avLst/>
              <a:gdLst>
                <a:gd name="T0" fmla="*/ 1 w 235"/>
                <a:gd name="T1" fmla="*/ 1 h 172"/>
                <a:gd name="T2" fmla="*/ 1 w 235"/>
                <a:gd name="T3" fmla="*/ 1 h 172"/>
                <a:gd name="T4" fmla="*/ 1 w 235"/>
                <a:gd name="T5" fmla="*/ 1 h 172"/>
                <a:gd name="T6" fmla="*/ 1 w 235"/>
                <a:gd name="T7" fmla="*/ 1 h 172"/>
                <a:gd name="T8" fmla="*/ 1 w 235"/>
                <a:gd name="T9" fmla="*/ 1 h 172"/>
                <a:gd name="T10" fmla="*/ 1 w 235"/>
                <a:gd name="T11" fmla="*/ 0 h 172"/>
                <a:gd name="T12" fmla="*/ 1 w 235"/>
                <a:gd name="T13" fmla="*/ 0 h 172"/>
                <a:gd name="T14" fmla="*/ 1 w 235"/>
                <a:gd name="T15" fmla="*/ 0 h 172"/>
                <a:gd name="T16" fmla="*/ 1 w 235"/>
                <a:gd name="T17" fmla="*/ 0 h 172"/>
                <a:gd name="T18" fmla="*/ 1 w 235"/>
                <a:gd name="T19" fmla="*/ 0 h 172"/>
                <a:gd name="T20" fmla="*/ 0 w 235"/>
                <a:gd name="T21" fmla="*/ 0 h 172"/>
                <a:gd name="T22" fmla="*/ 0 w 235"/>
                <a:gd name="T23" fmla="*/ 0 h 172"/>
                <a:gd name="T24" fmla="*/ 0 w 235"/>
                <a:gd name="T25" fmla="*/ 0 h 172"/>
                <a:gd name="T26" fmla="*/ 0 w 235"/>
                <a:gd name="T27" fmla="*/ 0 h 172"/>
                <a:gd name="T28" fmla="*/ 0 w 235"/>
                <a:gd name="T29" fmla="*/ 0 h 172"/>
                <a:gd name="T30" fmla="*/ 0 w 235"/>
                <a:gd name="T31" fmla="*/ 0 h 172"/>
                <a:gd name="T32" fmla="*/ 0 w 235"/>
                <a:gd name="T33" fmla="*/ 1 h 172"/>
                <a:gd name="T34" fmla="*/ 0 w 235"/>
                <a:gd name="T35" fmla="*/ 1 h 172"/>
                <a:gd name="T36" fmla="*/ 0 w 235"/>
                <a:gd name="T37" fmla="*/ 1 h 172"/>
                <a:gd name="T38" fmla="*/ 0 w 235"/>
                <a:gd name="T39" fmla="*/ 1 h 172"/>
                <a:gd name="T40" fmla="*/ 1 w 235"/>
                <a:gd name="T41" fmla="*/ 1 h 1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5"/>
                <a:gd name="T64" fmla="*/ 0 h 172"/>
                <a:gd name="T65" fmla="*/ 235 w 235"/>
                <a:gd name="T66" fmla="*/ 172 h 1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5" h="172">
                  <a:moveTo>
                    <a:pt x="216" y="172"/>
                  </a:moveTo>
                  <a:lnTo>
                    <a:pt x="223" y="171"/>
                  </a:lnTo>
                  <a:lnTo>
                    <a:pt x="230" y="168"/>
                  </a:lnTo>
                  <a:lnTo>
                    <a:pt x="234" y="162"/>
                  </a:lnTo>
                  <a:lnTo>
                    <a:pt x="235" y="156"/>
                  </a:lnTo>
                  <a:lnTo>
                    <a:pt x="234" y="44"/>
                  </a:lnTo>
                  <a:lnTo>
                    <a:pt x="233" y="36"/>
                  </a:lnTo>
                  <a:lnTo>
                    <a:pt x="228" y="30"/>
                  </a:lnTo>
                  <a:lnTo>
                    <a:pt x="222" y="25"/>
                  </a:lnTo>
                  <a:lnTo>
                    <a:pt x="215" y="22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26"/>
                  </a:lnTo>
                  <a:lnTo>
                    <a:pt x="3" y="134"/>
                  </a:lnTo>
                  <a:lnTo>
                    <a:pt x="7" y="141"/>
                  </a:lnTo>
                  <a:lnTo>
                    <a:pt x="14" y="147"/>
                  </a:lnTo>
                  <a:lnTo>
                    <a:pt x="22" y="149"/>
                  </a:lnTo>
                  <a:lnTo>
                    <a:pt x="216" y="1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4" name="Freeform 251"/>
            <p:cNvSpPr>
              <a:spLocks/>
            </p:cNvSpPr>
            <p:nvPr/>
          </p:nvSpPr>
          <p:spPr bwMode="auto">
            <a:xfrm>
              <a:off x="1065" y="3610"/>
              <a:ext cx="37" cy="28"/>
            </a:xfrm>
            <a:custGeom>
              <a:avLst/>
              <a:gdLst>
                <a:gd name="T0" fmla="*/ 1 w 219"/>
                <a:gd name="T1" fmla="*/ 1 h 167"/>
                <a:gd name="T2" fmla="*/ 1 w 219"/>
                <a:gd name="T3" fmla="*/ 0 h 167"/>
                <a:gd name="T4" fmla="*/ 1 w 219"/>
                <a:gd name="T5" fmla="*/ 0 h 167"/>
                <a:gd name="T6" fmla="*/ 1 w 219"/>
                <a:gd name="T7" fmla="*/ 0 h 167"/>
                <a:gd name="T8" fmla="*/ 1 w 219"/>
                <a:gd name="T9" fmla="*/ 0 h 167"/>
                <a:gd name="T10" fmla="*/ 1 w 219"/>
                <a:gd name="T11" fmla="*/ 0 h 167"/>
                <a:gd name="T12" fmla="*/ 0 w 219"/>
                <a:gd name="T13" fmla="*/ 0 h 167"/>
                <a:gd name="T14" fmla="*/ 0 w 219"/>
                <a:gd name="T15" fmla="*/ 0 h 167"/>
                <a:gd name="T16" fmla="*/ 0 w 219"/>
                <a:gd name="T17" fmla="*/ 0 h 167"/>
                <a:gd name="T18" fmla="*/ 0 w 219"/>
                <a:gd name="T19" fmla="*/ 0 h 167"/>
                <a:gd name="T20" fmla="*/ 0 w 219"/>
                <a:gd name="T21" fmla="*/ 0 h 167"/>
                <a:gd name="T22" fmla="*/ 0 w 219"/>
                <a:gd name="T23" fmla="*/ 1 h 167"/>
                <a:gd name="T24" fmla="*/ 0 w 219"/>
                <a:gd name="T25" fmla="*/ 1 h 167"/>
                <a:gd name="T26" fmla="*/ 0 w 219"/>
                <a:gd name="T27" fmla="*/ 1 h 167"/>
                <a:gd name="T28" fmla="*/ 0 w 219"/>
                <a:gd name="T29" fmla="*/ 1 h 167"/>
                <a:gd name="T30" fmla="*/ 0 w 219"/>
                <a:gd name="T31" fmla="*/ 1 h 167"/>
                <a:gd name="T32" fmla="*/ 1 w 219"/>
                <a:gd name="T33" fmla="*/ 1 h 167"/>
                <a:gd name="T34" fmla="*/ 1 w 219"/>
                <a:gd name="T35" fmla="*/ 1 h 167"/>
                <a:gd name="T36" fmla="*/ 1 w 219"/>
                <a:gd name="T37" fmla="*/ 1 h 167"/>
                <a:gd name="T38" fmla="*/ 1 w 219"/>
                <a:gd name="T39" fmla="*/ 1 h 167"/>
                <a:gd name="T40" fmla="*/ 1 w 219"/>
                <a:gd name="T41" fmla="*/ 1 h 1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9"/>
                <a:gd name="T64" fmla="*/ 0 h 167"/>
                <a:gd name="T65" fmla="*/ 219 w 219"/>
                <a:gd name="T66" fmla="*/ 167 h 1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9" h="167">
                  <a:moveTo>
                    <a:pt x="219" y="152"/>
                  </a:moveTo>
                  <a:lnTo>
                    <a:pt x="219" y="41"/>
                  </a:lnTo>
                  <a:lnTo>
                    <a:pt x="218" y="33"/>
                  </a:lnTo>
                  <a:lnTo>
                    <a:pt x="213" y="26"/>
                  </a:lnTo>
                  <a:lnTo>
                    <a:pt x="206" y="22"/>
                  </a:lnTo>
                  <a:lnTo>
                    <a:pt x="199" y="2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6"/>
                  </a:lnTo>
                  <a:lnTo>
                    <a:pt x="1" y="123"/>
                  </a:lnTo>
                  <a:lnTo>
                    <a:pt x="2" y="131"/>
                  </a:lnTo>
                  <a:lnTo>
                    <a:pt x="7" y="138"/>
                  </a:lnTo>
                  <a:lnTo>
                    <a:pt x="13" y="143"/>
                  </a:lnTo>
                  <a:lnTo>
                    <a:pt x="21" y="146"/>
                  </a:lnTo>
                  <a:lnTo>
                    <a:pt x="188" y="167"/>
                  </a:lnTo>
                  <a:lnTo>
                    <a:pt x="197" y="167"/>
                  </a:lnTo>
                  <a:lnTo>
                    <a:pt x="208" y="166"/>
                  </a:lnTo>
                  <a:lnTo>
                    <a:pt x="215" y="161"/>
                  </a:lnTo>
                  <a:lnTo>
                    <a:pt x="219" y="152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5" name="Freeform 252"/>
            <p:cNvSpPr>
              <a:spLocks/>
            </p:cNvSpPr>
            <p:nvPr/>
          </p:nvSpPr>
          <p:spPr bwMode="auto">
            <a:xfrm>
              <a:off x="1065" y="3612"/>
              <a:ext cx="35" cy="26"/>
            </a:xfrm>
            <a:custGeom>
              <a:avLst/>
              <a:gdLst>
                <a:gd name="T0" fmla="*/ 1 w 208"/>
                <a:gd name="T1" fmla="*/ 1 h 159"/>
                <a:gd name="T2" fmla="*/ 1 w 208"/>
                <a:gd name="T3" fmla="*/ 1 h 159"/>
                <a:gd name="T4" fmla="*/ 1 w 208"/>
                <a:gd name="T5" fmla="*/ 1 h 159"/>
                <a:gd name="T6" fmla="*/ 1 w 208"/>
                <a:gd name="T7" fmla="*/ 1 h 159"/>
                <a:gd name="T8" fmla="*/ 1 w 208"/>
                <a:gd name="T9" fmla="*/ 1 h 159"/>
                <a:gd name="T10" fmla="*/ 1 w 208"/>
                <a:gd name="T11" fmla="*/ 0 h 159"/>
                <a:gd name="T12" fmla="*/ 1 w 208"/>
                <a:gd name="T13" fmla="*/ 0 h 159"/>
                <a:gd name="T14" fmla="*/ 1 w 208"/>
                <a:gd name="T15" fmla="*/ 0 h 159"/>
                <a:gd name="T16" fmla="*/ 1 w 208"/>
                <a:gd name="T17" fmla="*/ 0 h 159"/>
                <a:gd name="T18" fmla="*/ 1 w 208"/>
                <a:gd name="T19" fmla="*/ 0 h 159"/>
                <a:gd name="T20" fmla="*/ 0 w 208"/>
                <a:gd name="T21" fmla="*/ 0 h 159"/>
                <a:gd name="T22" fmla="*/ 0 w 208"/>
                <a:gd name="T23" fmla="*/ 0 h 159"/>
                <a:gd name="T24" fmla="*/ 0 w 208"/>
                <a:gd name="T25" fmla="*/ 0 h 159"/>
                <a:gd name="T26" fmla="*/ 0 w 208"/>
                <a:gd name="T27" fmla="*/ 0 h 159"/>
                <a:gd name="T28" fmla="*/ 0 w 208"/>
                <a:gd name="T29" fmla="*/ 0 h 159"/>
                <a:gd name="T30" fmla="*/ 0 w 208"/>
                <a:gd name="T31" fmla="*/ 0 h 159"/>
                <a:gd name="T32" fmla="*/ 0 w 208"/>
                <a:gd name="T33" fmla="*/ 0 h 159"/>
                <a:gd name="T34" fmla="*/ 0 w 208"/>
                <a:gd name="T35" fmla="*/ 0 h 159"/>
                <a:gd name="T36" fmla="*/ 0 w 208"/>
                <a:gd name="T37" fmla="*/ 1 h 159"/>
                <a:gd name="T38" fmla="*/ 0 w 208"/>
                <a:gd name="T39" fmla="*/ 1 h 159"/>
                <a:gd name="T40" fmla="*/ 1 w 208"/>
                <a:gd name="T41" fmla="*/ 1 h 15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8"/>
                <a:gd name="T64" fmla="*/ 0 h 159"/>
                <a:gd name="T65" fmla="*/ 208 w 208"/>
                <a:gd name="T66" fmla="*/ 159 h 15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8" h="159">
                  <a:moveTo>
                    <a:pt x="188" y="159"/>
                  </a:moveTo>
                  <a:lnTo>
                    <a:pt x="196" y="158"/>
                  </a:lnTo>
                  <a:lnTo>
                    <a:pt x="203" y="154"/>
                  </a:lnTo>
                  <a:lnTo>
                    <a:pt x="206" y="149"/>
                  </a:lnTo>
                  <a:lnTo>
                    <a:pt x="208" y="142"/>
                  </a:lnTo>
                  <a:lnTo>
                    <a:pt x="208" y="42"/>
                  </a:lnTo>
                  <a:lnTo>
                    <a:pt x="206" y="34"/>
                  </a:lnTo>
                  <a:lnTo>
                    <a:pt x="202" y="27"/>
                  </a:lnTo>
                  <a:lnTo>
                    <a:pt x="195" y="22"/>
                  </a:lnTo>
                  <a:lnTo>
                    <a:pt x="187" y="19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15"/>
                  </a:lnTo>
                  <a:lnTo>
                    <a:pt x="2" y="123"/>
                  </a:lnTo>
                  <a:lnTo>
                    <a:pt x="7" y="130"/>
                  </a:lnTo>
                  <a:lnTo>
                    <a:pt x="13" y="135"/>
                  </a:lnTo>
                  <a:lnTo>
                    <a:pt x="21" y="138"/>
                  </a:lnTo>
                  <a:lnTo>
                    <a:pt x="188" y="15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6" name="Freeform 253"/>
            <p:cNvSpPr>
              <a:spLocks/>
            </p:cNvSpPr>
            <p:nvPr/>
          </p:nvSpPr>
          <p:spPr bwMode="auto">
            <a:xfrm>
              <a:off x="1130" y="3302"/>
              <a:ext cx="124" cy="349"/>
            </a:xfrm>
            <a:custGeom>
              <a:avLst/>
              <a:gdLst>
                <a:gd name="T0" fmla="*/ 0 w 746"/>
                <a:gd name="T1" fmla="*/ 1 h 2092"/>
                <a:gd name="T2" fmla="*/ 3 w 746"/>
                <a:gd name="T3" fmla="*/ 0 h 2092"/>
                <a:gd name="T4" fmla="*/ 3 w 746"/>
                <a:gd name="T5" fmla="*/ 0 h 2092"/>
                <a:gd name="T6" fmla="*/ 0 w 746"/>
                <a:gd name="T7" fmla="*/ 1 h 2092"/>
                <a:gd name="T8" fmla="*/ 0 w 746"/>
                <a:gd name="T9" fmla="*/ 2 h 2092"/>
                <a:gd name="T10" fmla="*/ 0 w 746"/>
                <a:gd name="T11" fmla="*/ 10 h 2092"/>
                <a:gd name="T12" fmla="*/ 0 w 746"/>
                <a:gd name="T13" fmla="*/ 10 h 2092"/>
                <a:gd name="T14" fmla="*/ 0 w 746"/>
                <a:gd name="T15" fmla="*/ 10 h 2092"/>
                <a:gd name="T16" fmla="*/ 0 w 746"/>
                <a:gd name="T17" fmla="*/ 10 h 2092"/>
                <a:gd name="T18" fmla="*/ 0 w 746"/>
                <a:gd name="T19" fmla="*/ 2 h 2092"/>
                <a:gd name="T20" fmla="*/ 0 w 746"/>
                <a:gd name="T21" fmla="*/ 1 h 20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46"/>
                <a:gd name="T34" fmla="*/ 0 h 2092"/>
                <a:gd name="T35" fmla="*/ 746 w 746"/>
                <a:gd name="T36" fmla="*/ 2092 h 209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46" h="2092">
                  <a:moveTo>
                    <a:pt x="106" y="290"/>
                  </a:moveTo>
                  <a:lnTo>
                    <a:pt x="746" y="0"/>
                  </a:lnTo>
                  <a:lnTo>
                    <a:pt x="662" y="1"/>
                  </a:lnTo>
                  <a:lnTo>
                    <a:pt x="22" y="274"/>
                  </a:lnTo>
                  <a:lnTo>
                    <a:pt x="0" y="311"/>
                  </a:lnTo>
                  <a:lnTo>
                    <a:pt x="0" y="2052"/>
                  </a:lnTo>
                  <a:lnTo>
                    <a:pt x="17" y="2080"/>
                  </a:lnTo>
                  <a:lnTo>
                    <a:pt x="112" y="2092"/>
                  </a:lnTo>
                  <a:lnTo>
                    <a:pt x="96" y="2071"/>
                  </a:lnTo>
                  <a:lnTo>
                    <a:pt x="85" y="323"/>
                  </a:lnTo>
                  <a:lnTo>
                    <a:pt x="106" y="2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7" name="Freeform 254"/>
            <p:cNvSpPr>
              <a:spLocks/>
            </p:cNvSpPr>
            <p:nvPr/>
          </p:nvSpPr>
          <p:spPr bwMode="auto">
            <a:xfrm>
              <a:off x="1124" y="3300"/>
              <a:ext cx="130" cy="344"/>
            </a:xfrm>
            <a:custGeom>
              <a:avLst/>
              <a:gdLst>
                <a:gd name="T0" fmla="*/ 3 w 781"/>
                <a:gd name="T1" fmla="*/ 0 h 2066"/>
                <a:gd name="T2" fmla="*/ 4 w 781"/>
                <a:gd name="T3" fmla="*/ 0 h 2066"/>
                <a:gd name="T4" fmla="*/ 3 w 781"/>
                <a:gd name="T5" fmla="*/ 0 h 2066"/>
                <a:gd name="T6" fmla="*/ 0 w 781"/>
                <a:gd name="T7" fmla="*/ 1 h 2066"/>
                <a:gd name="T8" fmla="*/ 0 w 781"/>
                <a:gd name="T9" fmla="*/ 1 h 2066"/>
                <a:gd name="T10" fmla="*/ 0 w 781"/>
                <a:gd name="T11" fmla="*/ 9 h 2066"/>
                <a:gd name="T12" fmla="*/ 0 w 781"/>
                <a:gd name="T13" fmla="*/ 9 h 2066"/>
                <a:gd name="T14" fmla="*/ 0 w 781"/>
                <a:gd name="T15" fmla="*/ 1 h 2066"/>
                <a:gd name="T16" fmla="*/ 0 w 781"/>
                <a:gd name="T17" fmla="*/ 1 h 2066"/>
                <a:gd name="T18" fmla="*/ 3 w 781"/>
                <a:gd name="T19" fmla="*/ 0 h 2066"/>
                <a:gd name="T20" fmla="*/ 3 w 781"/>
                <a:gd name="T21" fmla="*/ 0 h 20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81"/>
                <a:gd name="T34" fmla="*/ 0 h 2066"/>
                <a:gd name="T35" fmla="*/ 781 w 781"/>
                <a:gd name="T36" fmla="*/ 2066 h 20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81" h="2066">
                  <a:moveTo>
                    <a:pt x="758" y="24"/>
                  </a:moveTo>
                  <a:lnTo>
                    <a:pt x="781" y="14"/>
                  </a:lnTo>
                  <a:lnTo>
                    <a:pt x="686" y="0"/>
                  </a:lnTo>
                  <a:lnTo>
                    <a:pt x="23" y="280"/>
                  </a:lnTo>
                  <a:lnTo>
                    <a:pt x="0" y="315"/>
                  </a:lnTo>
                  <a:lnTo>
                    <a:pt x="9" y="2055"/>
                  </a:lnTo>
                  <a:lnTo>
                    <a:pt x="35" y="2066"/>
                  </a:lnTo>
                  <a:lnTo>
                    <a:pt x="35" y="325"/>
                  </a:lnTo>
                  <a:lnTo>
                    <a:pt x="57" y="288"/>
                  </a:lnTo>
                  <a:lnTo>
                    <a:pt x="697" y="15"/>
                  </a:lnTo>
                  <a:lnTo>
                    <a:pt x="758" y="2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" name="Freeform 255"/>
            <p:cNvSpPr>
              <a:spLocks/>
            </p:cNvSpPr>
            <p:nvPr/>
          </p:nvSpPr>
          <p:spPr bwMode="auto">
            <a:xfrm>
              <a:off x="1126" y="3373"/>
              <a:ext cx="16" cy="27"/>
            </a:xfrm>
            <a:custGeom>
              <a:avLst/>
              <a:gdLst>
                <a:gd name="T0" fmla="*/ 0 w 97"/>
                <a:gd name="T1" fmla="*/ 1 h 162"/>
                <a:gd name="T2" fmla="*/ 0 w 97"/>
                <a:gd name="T3" fmla="*/ 1 h 162"/>
                <a:gd name="T4" fmla="*/ 0 w 97"/>
                <a:gd name="T5" fmla="*/ 0 h 162"/>
                <a:gd name="T6" fmla="*/ 0 w 97"/>
                <a:gd name="T7" fmla="*/ 0 h 162"/>
                <a:gd name="T8" fmla="*/ 0 w 97"/>
                <a:gd name="T9" fmla="*/ 0 h 162"/>
                <a:gd name="T10" fmla="*/ 0 w 97"/>
                <a:gd name="T11" fmla="*/ 1 h 162"/>
                <a:gd name="T12" fmla="*/ 0 w 97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2"/>
                <a:gd name="T23" fmla="*/ 97 w 97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2">
                  <a:moveTo>
                    <a:pt x="80" y="162"/>
                  </a:moveTo>
                  <a:lnTo>
                    <a:pt x="97" y="151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39"/>
                  </a:lnTo>
                  <a:lnTo>
                    <a:pt x="80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9" name="Freeform 256"/>
            <p:cNvSpPr>
              <a:spLocks/>
            </p:cNvSpPr>
            <p:nvPr/>
          </p:nvSpPr>
          <p:spPr bwMode="auto">
            <a:xfrm>
              <a:off x="1126" y="3418"/>
              <a:ext cx="16" cy="28"/>
            </a:xfrm>
            <a:custGeom>
              <a:avLst/>
              <a:gdLst>
                <a:gd name="T0" fmla="*/ 0 w 97"/>
                <a:gd name="T1" fmla="*/ 1 h 164"/>
                <a:gd name="T2" fmla="*/ 0 w 97"/>
                <a:gd name="T3" fmla="*/ 1 h 164"/>
                <a:gd name="T4" fmla="*/ 0 w 97"/>
                <a:gd name="T5" fmla="*/ 0 h 164"/>
                <a:gd name="T6" fmla="*/ 0 w 97"/>
                <a:gd name="T7" fmla="*/ 0 h 164"/>
                <a:gd name="T8" fmla="*/ 0 w 97"/>
                <a:gd name="T9" fmla="*/ 0 h 164"/>
                <a:gd name="T10" fmla="*/ 0 w 97"/>
                <a:gd name="T11" fmla="*/ 1 h 164"/>
                <a:gd name="T12" fmla="*/ 0 w 97"/>
                <a:gd name="T13" fmla="*/ 1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4"/>
                <a:gd name="T23" fmla="*/ 97 w 9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4">
                  <a:moveTo>
                    <a:pt x="80" y="164"/>
                  </a:moveTo>
                  <a:lnTo>
                    <a:pt x="97" y="152"/>
                  </a:lnTo>
                  <a:lnTo>
                    <a:pt x="96" y="12"/>
                  </a:lnTo>
                  <a:lnTo>
                    <a:pt x="17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0" name="Freeform 257"/>
            <p:cNvSpPr>
              <a:spLocks/>
            </p:cNvSpPr>
            <p:nvPr/>
          </p:nvSpPr>
          <p:spPr bwMode="auto">
            <a:xfrm>
              <a:off x="1126" y="3464"/>
              <a:ext cx="16" cy="27"/>
            </a:xfrm>
            <a:custGeom>
              <a:avLst/>
              <a:gdLst>
                <a:gd name="T0" fmla="*/ 0 w 98"/>
                <a:gd name="T1" fmla="*/ 1 h 162"/>
                <a:gd name="T2" fmla="*/ 0 w 98"/>
                <a:gd name="T3" fmla="*/ 1 h 162"/>
                <a:gd name="T4" fmla="*/ 0 w 98"/>
                <a:gd name="T5" fmla="*/ 0 h 162"/>
                <a:gd name="T6" fmla="*/ 0 w 98"/>
                <a:gd name="T7" fmla="*/ 0 h 162"/>
                <a:gd name="T8" fmla="*/ 0 w 98"/>
                <a:gd name="T9" fmla="*/ 0 h 162"/>
                <a:gd name="T10" fmla="*/ 0 w 98"/>
                <a:gd name="T11" fmla="*/ 1 h 162"/>
                <a:gd name="T12" fmla="*/ 0 w 98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"/>
                <a:gd name="T22" fmla="*/ 0 h 162"/>
                <a:gd name="T23" fmla="*/ 98 w 98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" h="162">
                  <a:moveTo>
                    <a:pt x="81" y="162"/>
                  </a:moveTo>
                  <a:lnTo>
                    <a:pt x="98" y="151"/>
                  </a:lnTo>
                  <a:lnTo>
                    <a:pt x="96" y="10"/>
                  </a:lnTo>
                  <a:lnTo>
                    <a:pt x="17" y="0"/>
                  </a:lnTo>
                  <a:lnTo>
                    <a:pt x="0" y="11"/>
                  </a:lnTo>
                  <a:lnTo>
                    <a:pt x="19" y="140"/>
                  </a:lnTo>
                  <a:lnTo>
                    <a:pt x="81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1" name="Freeform 258"/>
            <p:cNvSpPr>
              <a:spLocks/>
            </p:cNvSpPr>
            <p:nvPr/>
          </p:nvSpPr>
          <p:spPr bwMode="auto">
            <a:xfrm>
              <a:off x="1127" y="3510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40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2" name="Freeform 259"/>
            <p:cNvSpPr>
              <a:spLocks/>
            </p:cNvSpPr>
            <p:nvPr/>
          </p:nvSpPr>
          <p:spPr bwMode="auto">
            <a:xfrm>
              <a:off x="1127" y="3556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2"/>
                  </a:lnTo>
                  <a:lnTo>
                    <a:pt x="16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3" name="Freeform 260"/>
            <p:cNvSpPr>
              <a:spLocks/>
            </p:cNvSpPr>
            <p:nvPr/>
          </p:nvSpPr>
          <p:spPr bwMode="auto">
            <a:xfrm>
              <a:off x="1126" y="3375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" name="Freeform 261"/>
            <p:cNvSpPr>
              <a:spLocks/>
            </p:cNvSpPr>
            <p:nvPr/>
          </p:nvSpPr>
          <p:spPr bwMode="auto">
            <a:xfrm>
              <a:off x="1126" y="3420"/>
              <a:ext cx="13" cy="26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80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" name="Freeform 262"/>
            <p:cNvSpPr>
              <a:spLocks/>
            </p:cNvSpPr>
            <p:nvPr/>
          </p:nvSpPr>
          <p:spPr bwMode="auto">
            <a:xfrm>
              <a:off x="1126" y="3466"/>
              <a:ext cx="14" cy="25"/>
            </a:xfrm>
            <a:custGeom>
              <a:avLst/>
              <a:gdLst>
                <a:gd name="T0" fmla="*/ 0 w 81"/>
                <a:gd name="T1" fmla="*/ 1 h 151"/>
                <a:gd name="T2" fmla="*/ 0 w 81"/>
                <a:gd name="T3" fmla="*/ 0 h 151"/>
                <a:gd name="T4" fmla="*/ 0 w 81"/>
                <a:gd name="T5" fmla="*/ 0 h 151"/>
                <a:gd name="T6" fmla="*/ 0 w 81"/>
                <a:gd name="T7" fmla="*/ 1 h 151"/>
                <a:gd name="T8" fmla="*/ 0 w 81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151"/>
                <a:gd name="T17" fmla="*/ 81 w 81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151">
                  <a:moveTo>
                    <a:pt x="81" y="151"/>
                  </a:moveTo>
                  <a:lnTo>
                    <a:pt x="81" y="10"/>
                  </a:lnTo>
                  <a:lnTo>
                    <a:pt x="0" y="0"/>
                  </a:lnTo>
                  <a:lnTo>
                    <a:pt x="2" y="141"/>
                  </a:lnTo>
                  <a:lnTo>
                    <a:pt x="81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6" name="Freeform 263"/>
            <p:cNvSpPr>
              <a:spLocks/>
            </p:cNvSpPr>
            <p:nvPr/>
          </p:nvSpPr>
          <p:spPr bwMode="auto">
            <a:xfrm>
              <a:off x="1127" y="3512"/>
              <a:ext cx="13" cy="25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1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7" name="Freeform 264"/>
            <p:cNvSpPr>
              <a:spLocks/>
            </p:cNvSpPr>
            <p:nvPr/>
          </p:nvSpPr>
          <p:spPr bwMode="auto">
            <a:xfrm>
              <a:off x="1127" y="3558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" name="Freeform 265"/>
            <p:cNvSpPr>
              <a:spLocks/>
            </p:cNvSpPr>
            <p:nvPr/>
          </p:nvSpPr>
          <p:spPr bwMode="auto">
            <a:xfrm>
              <a:off x="1127" y="3377"/>
              <a:ext cx="11" cy="19"/>
            </a:xfrm>
            <a:custGeom>
              <a:avLst/>
              <a:gdLst>
                <a:gd name="T0" fmla="*/ 0 w 65"/>
                <a:gd name="T1" fmla="*/ 0 h 117"/>
                <a:gd name="T2" fmla="*/ 0 w 65"/>
                <a:gd name="T3" fmla="*/ 0 h 117"/>
                <a:gd name="T4" fmla="*/ 0 w 65"/>
                <a:gd name="T5" fmla="*/ 0 h 117"/>
                <a:gd name="T6" fmla="*/ 0 w 65"/>
                <a:gd name="T7" fmla="*/ 0 h 117"/>
                <a:gd name="T8" fmla="*/ 0 w 65"/>
                <a:gd name="T9" fmla="*/ 0 h 117"/>
                <a:gd name="T10" fmla="*/ 0 w 65"/>
                <a:gd name="T11" fmla="*/ 0 h 117"/>
                <a:gd name="T12" fmla="*/ 0 w 6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7"/>
                <a:gd name="T23" fmla="*/ 65 w 65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7">
                  <a:moveTo>
                    <a:pt x="65" y="40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3"/>
                  </a:lnTo>
                  <a:lnTo>
                    <a:pt x="26" y="117"/>
                  </a:lnTo>
                  <a:lnTo>
                    <a:pt x="26" y="30"/>
                  </a:lnTo>
                  <a:lnTo>
                    <a:pt x="65" y="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" name="Freeform 266"/>
            <p:cNvSpPr>
              <a:spLocks/>
            </p:cNvSpPr>
            <p:nvPr/>
          </p:nvSpPr>
          <p:spPr bwMode="auto">
            <a:xfrm>
              <a:off x="1127" y="3423"/>
              <a:ext cx="11" cy="19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0 h 118"/>
                <a:gd name="T8" fmla="*/ 0 w 65"/>
                <a:gd name="T9" fmla="*/ 0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5"/>
                  </a:lnTo>
                  <a:lnTo>
                    <a:pt x="25" y="118"/>
                  </a:lnTo>
                  <a:lnTo>
                    <a:pt x="25" y="31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" name="Freeform 267"/>
            <p:cNvSpPr>
              <a:spLocks/>
            </p:cNvSpPr>
            <p:nvPr/>
          </p:nvSpPr>
          <p:spPr bwMode="auto">
            <a:xfrm>
              <a:off x="1128" y="3468"/>
              <a:ext cx="10" cy="20"/>
            </a:xfrm>
            <a:custGeom>
              <a:avLst/>
              <a:gdLst>
                <a:gd name="T0" fmla="*/ 0 w 66"/>
                <a:gd name="T1" fmla="*/ 0 h 119"/>
                <a:gd name="T2" fmla="*/ 0 w 66"/>
                <a:gd name="T3" fmla="*/ 0 h 119"/>
                <a:gd name="T4" fmla="*/ 0 w 66"/>
                <a:gd name="T5" fmla="*/ 0 h 119"/>
                <a:gd name="T6" fmla="*/ 0 w 66"/>
                <a:gd name="T7" fmla="*/ 1 h 119"/>
                <a:gd name="T8" fmla="*/ 0 w 66"/>
                <a:gd name="T9" fmla="*/ 1 h 119"/>
                <a:gd name="T10" fmla="*/ 0 w 66"/>
                <a:gd name="T11" fmla="*/ 0 h 119"/>
                <a:gd name="T12" fmla="*/ 0 w 66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"/>
                <a:gd name="T22" fmla="*/ 0 h 119"/>
                <a:gd name="T23" fmla="*/ 66 w 6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" h="119">
                  <a:moveTo>
                    <a:pt x="66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25" y="119"/>
                  </a:lnTo>
                  <a:lnTo>
                    <a:pt x="25" y="31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" name="Freeform 268"/>
            <p:cNvSpPr>
              <a:spLocks/>
            </p:cNvSpPr>
            <p:nvPr/>
          </p:nvSpPr>
          <p:spPr bwMode="auto">
            <a:xfrm>
              <a:off x="1128" y="3514"/>
              <a:ext cx="11" cy="20"/>
            </a:xfrm>
            <a:custGeom>
              <a:avLst/>
              <a:gdLst>
                <a:gd name="T0" fmla="*/ 0 w 65"/>
                <a:gd name="T1" fmla="*/ 0 h 119"/>
                <a:gd name="T2" fmla="*/ 0 w 65"/>
                <a:gd name="T3" fmla="*/ 0 h 119"/>
                <a:gd name="T4" fmla="*/ 0 w 65"/>
                <a:gd name="T5" fmla="*/ 0 h 119"/>
                <a:gd name="T6" fmla="*/ 0 w 65"/>
                <a:gd name="T7" fmla="*/ 1 h 119"/>
                <a:gd name="T8" fmla="*/ 0 w 65"/>
                <a:gd name="T9" fmla="*/ 1 h 119"/>
                <a:gd name="T10" fmla="*/ 0 w 65"/>
                <a:gd name="T11" fmla="*/ 0 h 119"/>
                <a:gd name="T12" fmla="*/ 0 w 65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9"/>
                <a:gd name="T23" fmla="*/ 65 w 65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9">
                  <a:moveTo>
                    <a:pt x="65" y="43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5" y="119"/>
                  </a:lnTo>
                  <a:lnTo>
                    <a:pt x="24" y="32"/>
                  </a:lnTo>
                  <a:lnTo>
                    <a:pt x="65" y="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" name="Freeform 269"/>
            <p:cNvSpPr>
              <a:spLocks/>
            </p:cNvSpPr>
            <p:nvPr/>
          </p:nvSpPr>
          <p:spPr bwMode="auto">
            <a:xfrm>
              <a:off x="1128" y="3560"/>
              <a:ext cx="11" cy="20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1 h 118"/>
                <a:gd name="T8" fmla="*/ 0 w 65"/>
                <a:gd name="T9" fmla="*/ 1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6" y="118"/>
                  </a:lnTo>
                  <a:lnTo>
                    <a:pt x="26" y="32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3" name="Freeform 270"/>
            <p:cNvSpPr>
              <a:spLocks/>
            </p:cNvSpPr>
            <p:nvPr/>
          </p:nvSpPr>
          <p:spPr bwMode="auto">
            <a:xfrm>
              <a:off x="1132" y="3383"/>
              <a:ext cx="6" cy="15"/>
            </a:xfrm>
            <a:custGeom>
              <a:avLst/>
              <a:gdLst>
                <a:gd name="T0" fmla="*/ 0 w 41"/>
                <a:gd name="T1" fmla="*/ 0 h 93"/>
                <a:gd name="T2" fmla="*/ 0 w 41"/>
                <a:gd name="T3" fmla="*/ 0 h 93"/>
                <a:gd name="T4" fmla="*/ 0 w 41"/>
                <a:gd name="T5" fmla="*/ 0 h 93"/>
                <a:gd name="T6" fmla="*/ 0 w 41"/>
                <a:gd name="T7" fmla="*/ 0 h 93"/>
                <a:gd name="T8" fmla="*/ 0 w 41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3"/>
                <a:gd name="T17" fmla="*/ 41 w 41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3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3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4" name="Freeform 271"/>
            <p:cNvSpPr>
              <a:spLocks/>
            </p:cNvSpPr>
            <p:nvPr/>
          </p:nvSpPr>
          <p:spPr bwMode="auto">
            <a:xfrm>
              <a:off x="1132" y="3428"/>
              <a:ext cx="7" cy="16"/>
            </a:xfrm>
            <a:custGeom>
              <a:avLst/>
              <a:gdLst>
                <a:gd name="T0" fmla="*/ 0 w 41"/>
                <a:gd name="T1" fmla="*/ 0 h 92"/>
                <a:gd name="T2" fmla="*/ 0 w 41"/>
                <a:gd name="T3" fmla="*/ 0 h 92"/>
                <a:gd name="T4" fmla="*/ 0 w 41"/>
                <a:gd name="T5" fmla="*/ 1 h 92"/>
                <a:gd name="T6" fmla="*/ 0 w 41"/>
                <a:gd name="T7" fmla="*/ 1 h 92"/>
                <a:gd name="T8" fmla="*/ 0 w 41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2"/>
                <a:gd name="T17" fmla="*/ 41 w 41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2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2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5" name="Freeform 272"/>
            <p:cNvSpPr>
              <a:spLocks/>
            </p:cNvSpPr>
            <p:nvPr/>
          </p:nvSpPr>
          <p:spPr bwMode="auto">
            <a:xfrm>
              <a:off x="1132" y="3474"/>
              <a:ext cx="7" cy="16"/>
            </a:xfrm>
            <a:custGeom>
              <a:avLst/>
              <a:gdLst>
                <a:gd name="T0" fmla="*/ 0 w 39"/>
                <a:gd name="T1" fmla="*/ 0 h 92"/>
                <a:gd name="T2" fmla="*/ 0 w 39"/>
                <a:gd name="T3" fmla="*/ 0 h 92"/>
                <a:gd name="T4" fmla="*/ 0 w 39"/>
                <a:gd name="T5" fmla="*/ 1 h 92"/>
                <a:gd name="T6" fmla="*/ 0 w 39"/>
                <a:gd name="T7" fmla="*/ 1 h 92"/>
                <a:gd name="T8" fmla="*/ 0 w 39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92"/>
                <a:gd name="T17" fmla="*/ 39 w 39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92">
                  <a:moveTo>
                    <a:pt x="39" y="1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39" y="92"/>
                  </a:lnTo>
                  <a:lnTo>
                    <a:pt x="39" y="1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6" name="Freeform 273"/>
            <p:cNvSpPr>
              <a:spLocks/>
            </p:cNvSpPr>
            <p:nvPr/>
          </p:nvSpPr>
          <p:spPr bwMode="auto">
            <a:xfrm>
              <a:off x="1132" y="3520"/>
              <a:ext cx="7" cy="16"/>
            </a:xfrm>
            <a:custGeom>
              <a:avLst/>
              <a:gdLst>
                <a:gd name="T0" fmla="*/ 0 w 40"/>
                <a:gd name="T1" fmla="*/ 0 h 94"/>
                <a:gd name="T2" fmla="*/ 0 w 40"/>
                <a:gd name="T3" fmla="*/ 0 h 94"/>
                <a:gd name="T4" fmla="*/ 0 w 40"/>
                <a:gd name="T5" fmla="*/ 1 h 94"/>
                <a:gd name="T6" fmla="*/ 0 w 40"/>
                <a:gd name="T7" fmla="*/ 1 h 94"/>
                <a:gd name="T8" fmla="*/ 0 w 4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4"/>
                <a:gd name="T17" fmla="*/ 40 w 40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4">
                  <a:moveTo>
                    <a:pt x="39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4"/>
                  </a:lnTo>
                  <a:lnTo>
                    <a:pt x="39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7" name="Freeform 274"/>
            <p:cNvSpPr>
              <a:spLocks/>
            </p:cNvSpPr>
            <p:nvPr/>
          </p:nvSpPr>
          <p:spPr bwMode="auto">
            <a:xfrm>
              <a:off x="1133" y="3566"/>
              <a:ext cx="6" cy="16"/>
            </a:xfrm>
            <a:custGeom>
              <a:avLst/>
              <a:gdLst>
                <a:gd name="T0" fmla="*/ 0 w 40"/>
                <a:gd name="T1" fmla="*/ 0 h 93"/>
                <a:gd name="T2" fmla="*/ 0 w 40"/>
                <a:gd name="T3" fmla="*/ 0 h 93"/>
                <a:gd name="T4" fmla="*/ 0 w 40"/>
                <a:gd name="T5" fmla="*/ 1 h 93"/>
                <a:gd name="T6" fmla="*/ 0 w 40"/>
                <a:gd name="T7" fmla="*/ 1 h 93"/>
                <a:gd name="T8" fmla="*/ 0 w 40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3"/>
                <a:gd name="T17" fmla="*/ 40 w 40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3">
                  <a:moveTo>
                    <a:pt x="40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3"/>
                  </a:lnTo>
                  <a:lnTo>
                    <a:pt x="40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8" name="Freeform 275"/>
            <p:cNvSpPr>
              <a:spLocks/>
            </p:cNvSpPr>
            <p:nvPr/>
          </p:nvSpPr>
          <p:spPr bwMode="auto">
            <a:xfrm>
              <a:off x="1126" y="3588"/>
              <a:ext cx="19" cy="66"/>
            </a:xfrm>
            <a:custGeom>
              <a:avLst/>
              <a:gdLst>
                <a:gd name="T0" fmla="*/ 0 w 115"/>
                <a:gd name="T1" fmla="*/ 0 h 390"/>
                <a:gd name="T2" fmla="*/ 0 w 115"/>
                <a:gd name="T3" fmla="*/ 0 h 390"/>
                <a:gd name="T4" fmla="*/ 0 w 115"/>
                <a:gd name="T5" fmla="*/ 0 h 390"/>
                <a:gd name="T6" fmla="*/ 0 w 115"/>
                <a:gd name="T7" fmla="*/ 0 h 390"/>
                <a:gd name="T8" fmla="*/ 0 w 115"/>
                <a:gd name="T9" fmla="*/ 0 h 390"/>
                <a:gd name="T10" fmla="*/ 0 w 115"/>
                <a:gd name="T11" fmla="*/ 0 h 390"/>
                <a:gd name="T12" fmla="*/ 0 w 115"/>
                <a:gd name="T13" fmla="*/ 0 h 390"/>
                <a:gd name="T14" fmla="*/ 0 w 115"/>
                <a:gd name="T15" fmla="*/ 0 h 390"/>
                <a:gd name="T16" fmla="*/ 0 w 115"/>
                <a:gd name="T17" fmla="*/ 0 h 390"/>
                <a:gd name="T18" fmla="*/ 0 w 115"/>
                <a:gd name="T19" fmla="*/ 0 h 390"/>
                <a:gd name="T20" fmla="*/ 0 w 115"/>
                <a:gd name="T21" fmla="*/ 0 h 390"/>
                <a:gd name="T22" fmla="*/ 0 w 115"/>
                <a:gd name="T23" fmla="*/ 0 h 390"/>
                <a:gd name="T24" fmla="*/ 0 w 115"/>
                <a:gd name="T25" fmla="*/ 0 h 390"/>
                <a:gd name="T26" fmla="*/ 0 w 115"/>
                <a:gd name="T27" fmla="*/ 0 h 390"/>
                <a:gd name="T28" fmla="*/ 0 w 115"/>
                <a:gd name="T29" fmla="*/ 0 h 390"/>
                <a:gd name="T30" fmla="*/ 0 w 115"/>
                <a:gd name="T31" fmla="*/ 0 h 390"/>
                <a:gd name="T32" fmla="*/ 0 w 115"/>
                <a:gd name="T33" fmla="*/ 0 h 390"/>
                <a:gd name="T34" fmla="*/ 0 w 115"/>
                <a:gd name="T35" fmla="*/ 0 h 390"/>
                <a:gd name="T36" fmla="*/ 0 w 115"/>
                <a:gd name="T37" fmla="*/ 2 h 390"/>
                <a:gd name="T38" fmla="*/ 0 w 115"/>
                <a:gd name="T39" fmla="*/ 2 h 390"/>
                <a:gd name="T40" fmla="*/ 0 w 115"/>
                <a:gd name="T41" fmla="*/ 2 h 390"/>
                <a:gd name="T42" fmla="*/ 0 w 115"/>
                <a:gd name="T43" fmla="*/ 2 h 390"/>
                <a:gd name="T44" fmla="*/ 0 w 115"/>
                <a:gd name="T45" fmla="*/ 2 h 390"/>
                <a:gd name="T46" fmla="*/ 0 w 115"/>
                <a:gd name="T47" fmla="*/ 2 h 390"/>
                <a:gd name="T48" fmla="*/ 0 w 115"/>
                <a:gd name="T49" fmla="*/ 2 h 390"/>
                <a:gd name="T50" fmla="*/ 0 w 115"/>
                <a:gd name="T51" fmla="*/ 2 h 390"/>
                <a:gd name="T52" fmla="*/ 0 w 115"/>
                <a:gd name="T53" fmla="*/ 2 h 390"/>
                <a:gd name="T54" fmla="*/ 0 w 115"/>
                <a:gd name="T55" fmla="*/ 2 h 390"/>
                <a:gd name="T56" fmla="*/ 0 w 115"/>
                <a:gd name="T57" fmla="*/ 2 h 390"/>
                <a:gd name="T58" fmla="*/ 0 w 115"/>
                <a:gd name="T59" fmla="*/ 2 h 390"/>
                <a:gd name="T60" fmla="*/ 0 w 115"/>
                <a:gd name="T61" fmla="*/ 2 h 390"/>
                <a:gd name="T62" fmla="*/ 0 w 115"/>
                <a:gd name="T63" fmla="*/ 2 h 390"/>
                <a:gd name="T64" fmla="*/ 0 w 115"/>
                <a:gd name="T65" fmla="*/ 2 h 390"/>
                <a:gd name="T66" fmla="*/ 0 w 115"/>
                <a:gd name="T67" fmla="*/ 2 h 390"/>
                <a:gd name="T68" fmla="*/ 0 w 115"/>
                <a:gd name="T69" fmla="*/ 2 h 390"/>
                <a:gd name="T70" fmla="*/ 0 w 115"/>
                <a:gd name="T71" fmla="*/ 2 h 390"/>
                <a:gd name="T72" fmla="*/ 0 w 115"/>
                <a:gd name="T73" fmla="*/ 0 h 3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5"/>
                <a:gd name="T112" fmla="*/ 0 h 390"/>
                <a:gd name="T113" fmla="*/ 115 w 115"/>
                <a:gd name="T114" fmla="*/ 390 h 3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5" h="390">
                  <a:moveTo>
                    <a:pt x="114" y="28"/>
                  </a:moveTo>
                  <a:lnTo>
                    <a:pt x="113" y="20"/>
                  </a:lnTo>
                  <a:lnTo>
                    <a:pt x="109" y="13"/>
                  </a:lnTo>
                  <a:lnTo>
                    <a:pt x="102" y="9"/>
                  </a:lnTo>
                  <a:lnTo>
                    <a:pt x="94" y="6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7"/>
                  </a:lnTo>
                  <a:lnTo>
                    <a:pt x="10" y="11"/>
                  </a:lnTo>
                  <a:lnTo>
                    <a:pt x="5" y="18"/>
                  </a:lnTo>
                  <a:lnTo>
                    <a:pt x="1" y="26"/>
                  </a:lnTo>
                  <a:lnTo>
                    <a:pt x="0" y="35"/>
                  </a:lnTo>
                  <a:lnTo>
                    <a:pt x="1" y="362"/>
                  </a:lnTo>
                  <a:lnTo>
                    <a:pt x="2" y="370"/>
                  </a:lnTo>
                  <a:lnTo>
                    <a:pt x="7" y="377"/>
                  </a:lnTo>
                  <a:lnTo>
                    <a:pt x="14" y="382"/>
                  </a:lnTo>
                  <a:lnTo>
                    <a:pt x="22" y="385"/>
                  </a:lnTo>
                  <a:lnTo>
                    <a:pt x="61" y="390"/>
                  </a:lnTo>
                  <a:lnTo>
                    <a:pt x="66" y="390"/>
                  </a:lnTo>
                  <a:lnTo>
                    <a:pt x="70" y="390"/>
                  </a:lnTo>
                  <a:lnTo>
                    <a:pt x="76" y="390"/>
                  </a:lnTo>
                  <a:lnTo>
                    <a:pt x="80" y="389"/>
                  </a:lnTo>
                  <a:lnTo>
                    <a:pt x="86" y="389"/>
                  </a:lnTo>
                  <a:lnTo>
                    <a:pt x="91" y="388"/>
                  </a:lnTo>
                  <a:lnTo>
                    <a:pt x="95" y="386"/>
                  </a:lnTo>
                  <a:lnTo>
                    <a:pt x="98" y="385"/>
                  </a:lnTo>
                  <a:lnTo>
                    <a:pt x="105" y="379"/>
                  </a:lnTo>
                  <a:lnTo>
                    <a:pt x="111" y="372"/>
                  </a:lnTo>
                  <a:lnTo>
                    <a:pt x="114" y="364"/>
                  </a:lnTo>
                  <a:lnTo>
                    <a:pt x="115" y="355"/>
                  </a:lnTo>
                  <a:lnTo>
                    <a:pt x="114" y="2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9" name="Freeform 276"/>
            <p:cNvSpPr>
              <a:spLocks/>
            </p:cNvSpPr>
            <p:nvPr/>
          </p:nvSpPr>
          <p:spPr bwMode="auto">
            <a:xfrm>
              <a:off x="1126" y="3591"/>
              <a:ext cx="13" cy="63"/>
            </a:xfrm>
            <a:custGeom>
              <a:avLst/>
              <a:gdLst>
                <a:gd name="T0" fmla="*/ 0 w 80"/>
                <a:gd name="T1" fmla="*/ 2 h 372"/>
                <a:gd name="T2" fmla="*/ 0 w 80"/>
                <a:gd name="T3" fmla="*/ 2 h 372"/>
                <a:gd name="T4" fmla="*/ 0 w 80"/>
                <a:gd name="T5" fmla="*/ 2 h 372"/>
                <a:gd name="T6" fmla="*/ 0 w 80"/>
                <a:gd name="T7" fmla="*/ 2 h 372"/>
                <a:gd name="T8" fmla="*/ 0 w 80"/>
                <a:gd name="T9" fmla="*/ 2 h 372"/>
                <a:gd name="T10" fmla="*/ 0 w 80"/>
                <a:gd name="T11" fmla="*/ 0 h 372"/>
                <a:gd name="T12" fmla="*/ 0 w 80"/>
                <a:gd name="T13" fmla="*/ 0 h 372"/>
                <a:gd name="T14" fmla="*/ 0 w 80"/>
                <a:gd name="T15" fmla="*/ 0 h 372"/>
                <a:gd name="T16" fmla="*/ 0 w 80"/>
                <a:gd name="T17" fmla="*/ 0 h 372"/>
                <a:gd name="T18" fmla="*/ 0 w 80"/>
                <a:gd name="T19" fmla="*/ 0 h 372"/>
                <a:gd name="T20" fmla="*/ 0 w 80"/>
                <a:gd name="T21" fmla="*/ 0 h 372"/>
                <a:gd name="T22" fmla="*/ 0 w 80"/>
                <a:gd name="T23" fmla="*/ 0 h 372"/>
                <a:gd name="T24" fmla="*/ 0 w 80"/>
                <a:gd name="T25" fmla="*/ 0 h 372"/>
                <a:gd name="T26" fmla="*/ 0 w 80"/>
                <a:gd name="T27" fmla="*/ 0 h 372"/>
                <a:gd name="T28" fmla="*/ 0 w 80"/>
                <a:gd name="T29" fmla="*/ 0 h 372"/>
                <a:gd name="T30" fmla="*/ 0 w 80"/>
                <a:gd name="T31" fmla="*/ 2 h 372"/>
                <a:gd name="T32" fmla="*/ 0 w 80"/>
                <a:gd name="T33" fmla="*/ 2 h 372"/>
                <a:gd name="T34" fmla="*/ 0 w 80"/>
                <a:gd name="T35" fmla="*/ 2 h 372"/>
                <a:gd name="T36" fmla="*/ 0 w 80"/>
                <a:gd name="T37" fmla="*/ 2 h 372"/>
                <a:gd name="T38" fmla="*/ 0 w 80"/>
                <a:gd name="T39" fmla="*/ 2 h 372"/>
                <a:gd name="T40" fmla="*/ 0 w 80"/>
                <a:gd name="T41" fmla="*/ 2 h 3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372"/>
                <a:gd name="T65" fmla="*/ 80 w 80"/>
                <a:gd name="T66" fmla="*/ 372 h 3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372">
                  <a:moveTo>
                    <a:pt x="61" y="372"/>
                  </a:moveTo>
                  <a:lnTo>
                    <a:pt x="69" y="371"/>
                  </a:lnTo>
                  <a:lnTo>
                    <a:pt x="76" y="369"/>
                  </a:lnTo>
                  <a:lnTo>
                    <a:pt x="79" y="363"/>
                  </a:lnTo>
                  <a:lnTo>
                    <a:pt x="80" y="355"/>
                  </a:lnTo>
                  <a:lnTo>
                    <a:pt x="79" y="28"/>
                  </a:lnTo>
                  <a:lnTo>
                    <a:pt x="78" y="20"/>
                  </a:lnTo>
                  <a:lnTo>
                    <a:pt x="74" y="13"/>
                  </a:lnTo>
                  <a:lnTo>
                    <a:pt x="67" y="8"/>
                  </a:lnTo>
                  <a:lnTo>
                    <a:pt x="59" y="6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5" y="3"/>
                  </a:lnTo>
                  <a:lnTo>
                    <a:pt x="1" y="9"/>
                  </a:lnTo>
                  <a:lnTo>
                    <a:pt x="0" y="17"/>
                  </a:lnTo>
                  <a:lnTo>
                    <a:pt x="1" y="344"/>
                  </a:lnTo>
                  <a:lnTo>
                    <a:pt x="2" y="352"/>
                  </a:lnTo>
                  <a:lnTo>
                    <a:pt x="7" y="359"/>
                  </a:lnTo>
                  <a:lnTo>
                    <a:pt x="14" y="364"/>
                  </a:lnTo>
                  <a:lnTo>
                    <a:pt x="22" y="367"/>
                  </a:lnTo>
                  <a:lnTo>
                    <a:pt x="61" y="37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28" name="Group 277"/>
          <p:cNvGrpSpPr>
            <a:grpSpLocks/>
          </p:cNvGrpSpPr>
          <p:nvPr/>
        </p:nvGrpSpPr>
        <p:grpSpPr bwMode="auto">
          <a:xfrm>
            <a:off x="9509126" y="4600576"/>
            <a:ext cx="314325" cy="542925"/>
            <a:chOff x="1054" y="3290"/>
            <a:chExt cx="238" cy="366"/>
          </a:xfrm>
        </p:grpSpPr>
        <p:sp>
          <p:nvSpPr>
            <p:cNvPr id="3202" name="Freeform 278"/>
            <p:cNvSpPr>
              <a:spLocks/>
            </p:cNvSpPr>
            <p:nvPr/>
          </p:nvSpPr>
          <p:spPr bwMode="auto">
            <a:xfrm>
              <a:off x="1172" y="3574"/>
              <a:ext cx="120" cy="82"/>
            </a:xfrm>
            <a:custGeom>
              <a:avLst/>
              <a:gdLst>
                <a:gd name="T0" fmla="*/ 0 w 720"/>
                <a:gd name="T1" fmla="*/ 2 h 490"/>
                <a:gd name="T2" fmla="*/ 0 w 720"/>
                <a:gd name="T3" fmla="*/ 2 h 490"/>
                <a:gd name="T4" fmla="*/ 0 w 720"/>
                <a:gd name="T5" fmla="*/ 2 h 490"/>
                <a:gd name="T6" fmla="*/ 0 w 720"/>
                <a:gd name="T7" fmla="*/ 2 h 490"/>
                <a:gd name="T8" fmla="*/ 0 w 720"/>
                <a:gd name="T9" fmla="*/ 2 h 490"/>
                <a:gd name="T10" fmla="*/ 1 w 720"/>
                <a:gd name="T11" fmla="*/ 2 h 490"/>
                <a:gd name="T12" fmla="*/ 1 w 720"/>
                <a:gd name="T13" fmla="*/ 2 h 490"/>
                <a:gd name="T14" fmla="*/ 1 w 720"/>
                <a:gd name="T15" fmla="*/ 2 h 490"/>
                <a:gd name="T16" fmla="*/ 1 w 720"/>
                <a:gd name="T17" fmla="*/ 2 h 490"/>
                <a:gd name="T18" fmla="*/ 2 w 720"/>
                <a:gd name="T19" fmla="*/ 2 h 490"/>
                <a:gd name="T20" fmla="*/ 2 w 720"/>
                <a:gd name="T21" fmla="*/ 2 h 490"/>
                <a:gd name="T22" fmla="*/ 3 w 720"/>
                <a:gd name="T23" fmla="*/ 2 h 490"/>
                <a:gd name="T24" fmla="*/ 3 w 720"/>
                <a:gd name="T25" fmla="*/ 1 h 490"/>
                <a:gd name="T26" fmla="*/ 3 w 720"/>
                <a:gd name="T27" fmla="*/ 1 h 490"/>
                <a:gd name="T28" fmla="*/ 3 w 720"/>
                <a:gd name="T29" fmla="*/ 1 h 490"/>
                <a:gd name="T30" fmla="*/ 3 w 720"/>
                <a:gd name="T31" fmla="*/ 1 h 490"/>
                <a:gd name="T32" fmla="*/ 3 w 720"/>
                <a:gd name="T33" fmla="*/ 1 h 490"/>
                <a:gd name="T34" fmla="*/ 3 w 720"/>
                <a:gd name="T35" fmla="*/ 1 h 490"/>
                <a:gd name="T36" fmla="*/ 3 w 720"/>
                <a:gd name="T37" fmla="*/ 1 h 490"/>
                <a:gd name="T38" fmla="*/ 3 w 720"/>
                <a:gd name="T39" fmla="*/ 1 h 490"/>
                <a:gd name="T40" fmla="*/ 3 w 720"/>
                <a:gd name="T41" fmla="*/ 1 h 490"/>
                <a:gd name="T42" fmla="*/ 3 w 720"/>
                <a:gd name="T43" fmla="*/ 1 h 490"/>
                <a:gd name="T44" fmla="*/ 3 w 720"/>
                <a:gd name="T45" fmla="*/ 1 h 490"/>
                <a:gd name="T46" fmla="*/ 2 w 720"/>
                <a:gd name="T47" fmla="*/ 0 h 490"/>
                <a:gd name="T48" fmla="*/ 2 w 720"/>
                <a:gd name="T49" fmla="*/ 0 h 490"/>
                <a:gd name="T50" fmla="*/ 2 w 720"/>
                <a:gd name="T51" fmla="*/ 0 h 490"/>
                <a:gd name="T52" fmla="*/ 2 w 720"/>
                <a:gd name="T53" fmla="*/ 0 h 490"/>
                <a:gd name="T54" fmla="*/ 2 w 720"/>
                <a:gd name="T55" fmla="*/ 0 h 490"/>
                <a:gd name="T56" fmla="*/ 2 w 720"/>
                <a:gd name="T57" fmla="*/ 0 h 490"/>
                <a:gd name="T58" fmla="*/ 2 w 720"/>
                <a:gd name="T59" fmla="*/ 0 h 490"/>
                <a:gd name="T60" fmla="*/ 2 w 720"/>
                <a:gd name="T61" fmla="*/ 0 h 490"/>
                <a:gd name="T62" fmla="*/ 2 w 720"/>
                <a:gd name="T63" fmla="*/ 0 h 490"/>
                <a:gd name="T64" fmla="*/ 2 w 720"/>
                <a:gd name="T65" fmla="*/ 0 h 490"/>
                <a:gd name="T66" fmla="*/ 2 w 720"/>
                <a:gd name="T67" fmla="*/ 0 h 490"/>
                <a:gd name="T68" fmla="*/ 2 w 720"/>
                <a:gd name="T69" fmla="*/ 0 h 490"/>
                <a:gd name="T70" fmla="*/ 1 w 720"/>
                <a:gd name="T71" fmla="*/ 1 h 490"/>
                <a:gd name="T72" fmla="*/ 1 w 720"/>
                <a:gd name="T73" fmla="*/ 1 h 490"/>
                <a:gd name="T74" fmla="*/ 1 w 720"/>
                <a:gd name="T75" fmla="*/ 1 h 490"/>
                <a:gd name="T76" fmla="*/ 1 w 720"/>
                <a:gd name="T77" fmla="*/ 1 h 490"/>
                <a:gd name="T78" fmla="*/ 0 w 720"/>
                <a:gd name="T79" fmla="*/ 1 h 490"/>
                <a:gd name="T80" fmla="*/ 0 w 720"/>
                <a:gd name="T81" fmla="*/ 1 h 490"/>
                <a:gd name="T82" fmla="*/ 0 w 720"/>
                <a:gd name="T83" fmla="*/ 1 h 490"/>
                <a:gd name="T84" fmla="*/ 0 w 720"/>
                <a:gd name="T85" fmla="*/ 1 h 490"/>
                <a:gd name="T86" fmla="*/ 0 w 720"/>
                <a:gd name="T87" fmla="*/ 2 h 49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20"/>
                <a:gd name="T133" fmla="*/ 0 h 490"/>
                <a:gd name="T134" fmla="*/ 720 w 720"/>
                <a:gd name="T135" fmla="*/ 490 h 49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20" h="490">
                  <a:moveTo>
                    <a:pt x="55" y="382"/>
                  </a:moveTo>
                  <a:lnTo>
                    <a:pt x="54" y="389"/>
                  </a:lnTo>
                  <a:lnTo>
                    <a:pt x="52" y="395"/>
                  </a:lnTo>
                  <a:lnTo>
                    <a:pt x="47" y="401"/>
                  </a:lnTo>
                  <a:lnTo>
                    <a:pt x="41" y="405"/>
                  </a:lnTo>
                  <a:lnTo>
                    <a:pt x="37" y="409"/>
                  </a:lnTo>
                  <a:lnTo>
                    <a:pt x="26" y="414"/>
                  </a:lnTo>
                  <a:lnTo>
                    <a:pt x="14" y="421"/>
                  </a:lnTo>
                  <a:lnTo>
                    <a:pt x="10" y="425"/>
                  </a:lnTo>
                  <a:lnTo>
                    <a:pt x="4" y="429"/>
                  </a:lnTo>
                  <a:lnTo>
                    <a:pt x="1" y="434"/>
                  </a:lnTo>
                  <a:lnTo>
                    <a:pt x="0" y="437"/>
                  </a:lnTo>
                  <a:lnTo>
                    <a:pt x="0" y="440"/>
                  </a:lnTo>
                  <a:lnTo>
                    <a:pt x="1" y="444"/>
                  </a:lnTo>
                  <a:lnTo>
                    <a:pt x="3" y="446"/>
                  </a:lnTo>
                  <a:lnTo>
                    <a:pt x="8" y="449"/>
                  </a:lnTo>
                  <a:lnTo>
                    <a:pt x="14" y="450"/>
                  </a:lnTo>
                  <a:lnTo>
                    <a:pt x="254" y="489"/>
                  </a:lnTo>
                  <a:lnTo>
                    <a:pt x="258" y="490"/>
                  </a:lnTo>
                  <a:lnTo>
                    <a:pt x="264" y="490"/>
                  </a:lnTo>
                  <a:lnTo>
                    <a:pt x="269" y="489"/>
                  </a:lnTo>
                  <a:lnTo>
                    <a:pt x="275" y="489"/>
                  </a:lnTo>
                  <a:lnTo>
                    <a:pt x="281" y="488"/>
                  </a:lnTo>
                  <a:lnTo>
                    <a:pt x="286" y="485"/>
                  </a:lnTo>
                  <a:lnTo>
                    <a:pt x="291" y="484"/>
                  </a:lnTo>
                  <a:lnTo>
                    <a:pt x="295" y="482"/>
                  </a:lnTo>
                  <a:lnTo>
                    <a:pt x="300" y="480"/>
                  </a:lnTo>
                  <a:lnTo>
                    <a:pt x="312" y="473"/>
                  </a:lnTo>
                  <a:lnTo>
                    <a:pt x="333" y="463"/>
                  </a:lnTo>
                  <a:lnTo>
                    <a:pt x="359" y="448"/>
                  </a:lnTo>
                  <a:lnTo>
                    <a:pt x="389" y="432"/>
                  </a:lnTo>
                  <a:lnTo>
                    <a:pt x="423" y="414"/>
                  </a:lnTo>
                  <a:lnTo>
                    <a:pt x="460" y="395"/>
                  </a:lnTo>
                  <a:lnTo>
                    <a:pt x="497" y="375"/>
                  </a:lnTo>
                  <a:lnTo>
                    <a:pt x="535" y="356"/>
                  </a:lnTo>
                  <a:lnTo>
                    <a:pt x="572" y="337"/>
                  </a:lnTo>
                  <a:lnTo>
                    <a:pt x="606" y="319"/>
                  </a:lnTo>
                  <a:lnTo>
                    <a:pt x="636" y="303"/>
                  </a:lnTo>
                  <a:lnTo>
                    <a:pt x="662" y="288"/>
                  </a:lnTo>
                  <a:lnTo>
                    <a:pt x="683" y="278"/>
                  </a:lnTo>
                  <a:lnTo>
                    <a:pt x="695" y="272"/>
                  </a:lnTo>
                  <a:lnTo>
                    <a:pt x="700" y="269"/>
                  </a:lnTo>
                  <a:lnTo>
                    <a:pt x="709" y="263"/>
                  </a:lnTo>
                  <a:lnTo>
                    <a:pt x="715" y="254"/>
                  </a:lnTo>
                  <a:lnTo>
                    <a:pt x="719" y="243"/>
                  </a:lnTo>
                  <a:lnTo>
                    <a:pt x="720" y="233"/>
                  </a:lnTo>
                  <a:lnTo>
                    <a:pt x="720" y="230"/>
                  </a:lnTo>
                  <a:lnTo>
                    <a:pt x="720" y="224"/>
                  </a:lnTo>
                  <a:lnTo>
                    <a:pt x="720" y="218"/>
                  </a:lnTo>
                  <a:lnTo>
                    <a:pt x="720" y="215"/>
                  </a:lnTo>
                  <a:lnTo>
                    <a:pt x="718" y="205"/>
                  </a:lnTo>
                  <a:lnTo>
                    <a:pt x="712" y="196"/>
                  </a:lnTo>
                  <a:lnTo>
                    <a:pt x="704" y="189"/>
                  </a:lnTo>
                  <a:lnTo>
                    <a:pt x="694" y="186"/>
                  </a:lnTo>
                  <a:lnTo>
                    <a:pt x="692" y="186"/>
                  </a:lnTo>
                  <a:lnTo>
                    <a:pt x="686" y="185"/>
                  </a:lnTo>
                  <a:lnTo>
                    <a:pt x="677" y="183"/>
                  </a:lnTo>
                  <a:lnTo>
                    <a:pt x="668" y="182"/>
                  </a:lnTo>
                  <a:lnTo>
                    <a:pt x="658" y="180"/>
                  </a:lnTo>
                  <a:lnTo>
                    <a:pt x="649" y="178"/>
                  </a:lnTo>
                  <a:lnTo>
                    <a:pt x="643" y="177"/>
                  </a:lnTo>
                  <a:lnTo>
                    <a:pt x="641" y="177"/>
                  </a:lnTo>
                  <a:lnTo>
                    <a:pt x="634" y="175"/>
                  </a:lnTo>
                  <a:lnTo>
                    <a:pt x="627" y="170"/>
                  </a:lnTo>
                  <a:lnTo>
                    <a:pt x="622" y="166"/>
                  </a:lnTo>
                  <a:lnTo>
                    <a:pt x="617" y="160"/>
                  </a:lnTo>
                  <a:lnTo>
                    <a:pt x="614" y="155"/>
                  </a:lnTo>
                  <a:lnTo>
                    <a:pt x="607" y="141"/>
                  </a:lnTo>
                  <a:lnTo>
                    <a:pt x="596" y="122"/>
                  </a:lnTo>
                  <a:lnTo>
                    <a:pt x="583" y="98"/>
                  </a:lnTo>
                  <a:lnTo>
                    <a:pt x="571" y="76"/>
                  </a:lnTo>
                  <a:lnTo>
                    <a:pt x="560" y="57"/>
                  </a:lnTo>
                  <a:lnTo>
                    <a:pt x="553" y="43"/>
                  </a:lnTo>
                  <a:lnTo>
                    <a:pt x="549" y="38"/>
                  </a:lnTo>
                  <a:lnTo>
                    <a:pt x="546" y="33"/>
                  </a:lnTo>
                  <a:lnTo>
                    <a:pt x="543" y="30"/>
                  </a:lnTo>
                  <a:lnTo>
                    <a:pt x="539" y="25"/>
                  </a:lnTo>
                  <a:lnTo>
                    <a:pt x="535" y="22"/>
                  </a:lnTo>
                  <a:lnTo>
                    <a:pt x="530" y="18"/>
                  </a:lnTo>
                  <a:lnTo>
                    <a:pt x="525" y="16"/>
                  </a:lnTo>
                  <a:lnTo>
                    <a:pt x="520" y="14"/>
                  </a:lnTo>
                  <a:lnTo>
                    <a:pt x="516" y="13"/>
                  </a:lnTo>
                  <a:lnTo>
                    <a:pt x="513" y="13"/>
                  </a:lnTo>
                  <a:lnTo>
                    <a:pt x="508" y="11"/>
                  </a:lnTo>
                  <a:lnTo>
                    <a:pt x="500" y="9"/>
                  </a:lnTo>
                  <a:lnTo>
                    <a:pt x="492" y="7"/>
                  </a:lnTo>
                  <a:lnTo>
                    <a:pt x="483" y="5"/>
                  </a:lnTo>
                  <a:lnTo>
                    <a:pt x="475" y="4"/>
                  </a:lnTo>
                  <a:lnTo>
                    <a:pt x="469" y="2"/>
                  </a:lnTo>
                  <a:lnTo>
                    <a:pt x="467" y="2"/>
                  </a:lnTo>
                  <a:lnTo>
                    <a:pt x="462" y="0"/>
                  </a:lnTo>
                  <a:lnTo>
                    <a:pt x="457" y="0"/>
                  </a:lnTo>
                  <a:lnTo>
                    <a:pt x="452" y="0"/>
                  </a:lnTo>
                  <a:lnTo>
                    <a:pt x="447" y="0"/>
                  </a:lnTo>
                  <a:lnTo>
                    <a:pt x="440" y="2"/>
                  </a:lnTo>
                  <a:lnTo>
                    <a:pt x="435" y="2"/>
                  </a:lnTo>
                  <a:lnTo>
                    <a:pt x="430" y="4"/>
                  </a:lnTo>
                  <a:lnTo>
                    <a:pt x="425" y="5"/>
                  </a:lnTo>
                  <a:lnTo>
                    <a:pt x="382" y="24"/>
                  </a:lnTo>
                  <a:lnTo>
                    <a:pt x="381" y="25"/>
                  </a:lnTo>
                  <a:lnTo>
                    <a:pt x="377" y="26"/>
                  </a:lnTo>
                  <a:lnTo>
                    <a:pt x="371" y="29"/>
                  </a:lnTo>
                  <a:lnTo>
                    <a:pt x="364" y="32"/>
                  </a:lnTo>
                  <a:lnTo>
                    <a:pt x="356" y="35"/>
                  </a:lnTo>
                  <a:lnTo>
                    <a:pt x="351" y="38"/>
                  </a:lnTo>
                  <a:lnTo>
                    <a:pt x="346" y="39"/>
                  </a:lnTo>
                  <a:lnTo>
                    <a:pt x="345" y="40"/>
                  </a:lnTo>
                  <a:lnTo>
                    <a:pt x="177" y="114"/>
                  </a:lnTo>
                  <a:lnTo>
                    <a:pt x="176" y="115"/>
                  </a:lnTo>
                  <a:lnTo>
                    <a:pt x="171" y="116"/>
                  </a:lnTo>
                  <a:lnTo>
                    <a:pt x="166" y="120"/>
                  </a:lnTo>
                  <a:lnTo>
                    <a:pt x="159" y="122"/>
                  </a:lnTo>
                  <a:lnTo>
                    <a:pt x="151" y="125"/>
                  </a:lnTo>
                  <a:lnTo>
                    <a:pt x="145" y="129"/>
                  </a:lnTo>
                  <a:lnTo>
                    <a:pt x="141" y="130"/>
                  </a:lnTo>
                  <a:lnTo>
                    <a:pt x="140" y="131"/>
                  </a:lnTo>
                  <a:lnTo>
                    <a:pt x="137" y="132"/>
                  </a:lnTo>
                  <a:lnTo>
                    <a:pt x="129" y="135"/>
                  </a:lnTo>
                  <a:lnTo>
                    <a:pt x="119" y="140"/>
                  </a:lnTo>
                  <a:lnTo>
                    <a:pt x="108" y="144"/>
                  </a:lnTo>
                  <a:lnTo>
                    <a:pt x="97" y="149"/>
                  </a:lnTo>
                  <a:lnTo>
                    <a:pt x="87" y="153"/>
                  </a:lnTo>
                  <a:lnTo>
                    <a:pt x="79" y="157"/>
                  </a:lnTo>
                  <a:lnTo>
                    <a:pt x="76" y="158"/>
                  </a:lnTo>
                  <a:lnTo>
                    <a:pt x="67" y="164"/>
                  </a:lnTo>
                  <a:lnTo>
                    <a:pt x="61" y="171"/>
                  </a:lnTo>
                  <a:lnTo>
                    <a:pt x="56" y="182"/>
                  </a:lnTo>
                  <a:lnTo>
                    <a:pt x="55" y="192"/>
                  </a:lnTo>
                  <a:lnTo>
                    <a:pt x="55" y="221"/>
                  </a:lnTo>
                  <a:lnTo>
                    <a:pt x="55" y="286"/>
                  </a:lnTo>
                  <a:lnTo>
                    <a:pt x="55" y="353"/>
                  </a:lnTo>
                  <a:lnTo>
                    <a:pt x="55" y="3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3" name="Freeform 279"/>
            <p:cNvSpPr>
              <a:spLocks/>
            </p:cNvSpPr>
            <p:nvPr/>
          </p:nvSpPr>
          <p:spPr bwMode="auto">
            <a:xfrm>
              <a:off x="1173" y="3575"/>
              <a:ext cx="118" cy="79"/>
            </a:xfrm>
            <a:custGeom>
              <a:avLst/>
              <a:gdLst>
                <a:gd name="T0" fmla="*/ 0 w 705"/>
                <a:gd name="T1" fmla="*/ 1 h 475"/>
                <a:gd name="T2" fmla="*/ 0 w 705"/>
                <a:gd name="T3" fmla="*/ 1 h 475"/>
                <a:gd name="T4" fmla="*/ 1 w 705"/>
                <a:gd name="T5" fmla="*/ 1 h 475"/>
                <a:gd name="T6" fmla="*/ 1 w 705"/>
                <a:gd name="T7" fmla="*/ 0 h 475"/>
                <a:gd name="T8" fmla="*/ 1 w 705"/>
                <a:gd name="T9" fmla="*/ 0 h 475"/>
                <a:gd name="T10" fmla="*/ 1 w 705"/>
                <a:gd name="T11" fmla="*/ 0 h 475"/>
                <a:gd name="T12" fmla="*/ 1 w 705"/>
                <a:gd name="T13" fmla="*/ 0 h 475"/>
                <a:gd name="T14" fmla="*/ 2 w 705"/>
                <a:gd name="T15" fmla="*/ 0 h 475"/>
                <a:gd name="T16" fmla="*/ 2 w 705"/>
                <a:gd name="T17" fmla="*/ 0 h 475"/>
                <a:gd name="T18" fmla="*/ 2 w 705"/>
                <a:gd name="T19" fmla="*/ 0 h 475"/>
                <a:gd name="T20" fmla="*/ 2 w 705"/>
                <a:gd name="T21" fmla="*/ 0 h 475"/>
                <a:gd name="T22" fmla="*/ 2 w 705"/>
                <a:gd name="T23" fmla="*/ 0 h 475"/>
                <a:gd name="T24" fmla="*/ 2 w 705"/>
                <a:gd name="T25" fmla="*/ 0 h 475"/>
                <a:gd name="T26" fmla="*/ 2 w 705"/>
                <a:gd name="T27" fmla="*/ 0 h 475"/>
                <a:gd name="T28" fmla="*/ 2 w 705"/>
                <a:gd name="T29" fmla="*/ 0 h 475"/>
                <a:gd name="T30" fmla="*/ 2 w 705"/>
                <a:gd name="T31" fmla="*/ 0 h 475"/>
                <a:gd name="T32" fmla="*/ 2 w 705"/>
                <a:gd name="T33" fmla="*/ 0 h 475"/>
                <a:gd name="T34" fmla="*/ 3 w 705"/>
                <a:gd name="T35" fmla="*/ 0 h 475"/>
                <a:gd name="T36" fmla="*/ 3 w 705"/>
                <a:gd name="T37" fmla="*/ 1 h 475"/>
                <a:gd name="T38" fmla="*/ 3 w 705"/>
                <a:gd name="T39" fmla="*/ 1 h 475"/>
                <a:gd name="T40" fmla="*/ 3 w 705"/>
                <a:gd name="T41" fmla="*/ 1 h 475"/>
                <a:gd name="T42" fmla="*/ 3 w 705"/>
                <a:gd name="T43" fmla="*/ 1 h 475"/>
                <a:gd name="T44" fmla="*/ 3 w 705"/>
                <a:gd name="T45" fmla="*/ 1 h 475"/>
                <a:gd name="T46" fmla="*/ 3 w 705"/>
                <a:gd name="T47" fmla="*/ 1 h 475"/>
                <a:gd name="T48" fmla="*/ 3 w 705"/>
                <a:gd name="T49" fmla="*/ 1 h 475"/>
                <a:gd name="T50" fmla="*/ 3 w 705"/>
                <a:gd name="T51" fmla="*/ 1 h 475"/>
                <a:gd name="T52" fmla="*/ 1 w 705"/>
                <a:gd name="T53" fmla="*/ 2 h 475"/>
                <a:gd name="T54" fmla="*/ 1 w 705"/>
                <a:gd name="T55" fmla="*/ 2 h 475"/>
                <a:gd name="T56" fmla="*/ 1 w 705"/>
                <a:gd name="T57" fmla="*/ 2 h 475"/>
                <a:gd name="T58" fmla="*/ 1 w 705"/>
                <a:gd name="T59" fmla="*/ 2 h 475"/>
                <a:gd name="T60" fmla="*/ 0 w 705"/>
                <a:gd name="T61" fmla="*/ 2 h 475"/>
                <a:gd name="T62" fmla="*/ 0 w 705"/>
                <a:gd name="T63" fmla="*/ 2 h 475"/>
                <a:gd name="T64" fmla="*/ 0 w 705"/>
                <a:gd name="T65" fmla="*/ 2 h 475"/>
                <a:gd name="T66" fmla="*/ 0 w 705"/>
                <a:gd name="T67" fmla="*/ 2 h 475"/>
                <a:gd name="T68" fmla="*/ 0 w 705"/>
                <a:gd name="T69" fmla="*/ 2 h 475"/>
                <a:gd name="T70" fmla="*/ 0 w 705"/>
                <a:gd name="T71" fmla="*/ 1 h 47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5"/>
                <a:gd name="T109" fmla="*/ 0 h 475"/>
                <a:gd name="T110" fmla="*/ 705 w 705"/>
                <a:gd name="T111" fmla="*/ 475 h 47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5" h="475">
                  <a:moveTo>
                    <a:pt x="54" y="185"/>
                  </a:moveTo>
                  <a:lnTo>
                    <a:pt x="55" y="177"/>
                  </a:lnTo>
                  <a:lnTo>
                    <a:pt x="59" y="169"/>
                  </a:lnTo>
                  <a:lnTo>
                    <a:pt x="65" y="162"/>
                  </a:lnTo>
                  <a:lnTo>
                    <a:pt x="72" y="158"/>
                  </a:lnTo>
                  <a:lnTo>
                    <a:pt x="135" y="130"/>
                  </a:lnTo>
                  <a:lnTo>
                    <a:pt x="140" y="127"/>
                  </a:lnTo>
                  <a:lnTo>
                    <a:pt x="144" y="126"/>
                  </a:lnTo>
                  <a:lnTo>
                    <a:pt x="149" y="124"/>
                  </a:lnTo>
                  <a:lnTo>
                    <a:pt x="153" y="122"/>
                  </a:lnTo>
                  <a:lnTo>
                    <a:pt x="158" y="119"/>
                  </a:lnTo>
                  <a:lnTo>
                    <a:pt x="162" y="117"/>
                  </a:lnTo>
                  <a:lnTo>
                    <a:pt x="167" y="116"/>
                  </a:lnTo>
                  <a:lnTo>
                    <a:pt x="171" y="114"/>
                  </a:lnTo>
                  <a:lnTo>
                    <a:pt x="340" y="40"/>
                  </a:lnTo>
                  <a:lnTo>
                    <a:pt x="345" y="37"/>
                  </a:lnTo>
                  <a:lnTo>
                    <a:pt x="350" y="36"/>
                  </a:lnTo>
                  <a:lnTo>
                    <a:pt x="354" y="34"/>
                  </a:lnTo>
                  <a:lnTo>
                    <a:pt x="359" y="32"/>
                  </a:lnTo>
                  <a:lnTo>
                    <a:pt x="363" y="29"/>
                  </a:lnTo>
                  <a:lnTo>
                    <a:pt x="368" y="27"/>
                  </a:lnTo>
                  <a:lnTo>
                    <a:pt x="372" y="26"/>
                  </a:lnTo>
                  <a:lnTo>
                    <a:pt x="377" y="24"/>
                  </a:lnTo>
                  <a:lnTo>
                    <a:pt x="421" y="5"/>
                  </a:lnTo>
                  <a:lnTo>
                    <a:pt x="425" y="4"/>
                  </a:lnTo>
                  <a:lnTo>
                    <a:pt x="430" y="2"/>
                  </a:lnTo>
                  <a:lnTo>
                    <a:pt x="434" y="1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9" y="0"/>
                  </a:lnTo>
                  <a:lnTo>
                    <a:pt x="453" y="0"/>
                  </a:lnTo>
                  <a:lnTo>
                    <a:pt x="458" y="1"/>
                  </a:lnTo>
                  <a:lnTo>
                    <a:pt x="506" y="13"/>
                  </a:lnTo>
                  <a:lnTo>
                    <a:pt x="514" y="16"/>
                  </a:lnTo>
                  <a:lnTo>
                    <a:pt x="522" y="20"/>
                  </a:lnTo>
                  <a:lnTo>
                    <a:pt x="529" y="27"/>
                  </a:lnTo>
                  <a:lnTo>
                    <a:pt x="535" y="34"/>
                  </a:lnTo>
                  <a:lnTo>
                    <a:pt x="602" y="157"/>
                  </a:lnTo>
                  <a:lnTo>
                    <a:pt x="608" y="163"/>
                  </a:lnTo>
                  <a:lnTo>
                    <a:pt x="616" y="169"/>
                  </a:lnTo>
                  <a:lnTo>
                    <a:pt x="624" y="173"/>
                  </a:lnTo>
                  <a:lnTo>
                    <a:pt x="632" y="177"/>
                  </a:lnTo>
                  <a:lnTo>
                    <a:pt x="685" y="186"/>
                  </a:lnTo>
                  <a:lnTo>
                    <a:pt x="693" y="189"/>
                  </a:lnTo>
                  <a:lnTo>
                    <a:pt x="699" y="194"/>
                  </a:lnTo>
                  <a:lnTo>
                    <a:pt x="704" y="200"/>
                  </a:lnTo>
                  <a:lnTo>
                    <a:pt x="705" y="208"/>
                  </a:lnTo>
                  <a:lnTo>
                    <a:pt x="705" y="226"/>
                  </a:lnTo>
                  <a:lnTo>
                    <a:pt x="704" y="235"/>
                  </a:lnTo>
                  <a:lnTo>
                    <a:pt x="701" y="243"/>
                  </a:lnTo>
                  <a:lnTo>
                    <a:pt x="695" y="251"/>
                  </a:lnTo>
                  <a:lnTo>
                    <a:pt x="688" y="256"/>
                  </a:lnTo>
                  <a:lnTo>
                    <a:pt x="284" y="469"/>
                  </a:lnTo>
                  <a:lnTo>
                    <a:pt x="280" y="470"/>
                  </a:lnTo>
                  <a:lnTo>
                    <a:pt x="275" y="473"/>
                  </a:lnTo>
                  <a:lnTo>
                    <a:pt x="270" y="474"/>
                  </a:lnTo>
                  <a:lnTo>
                    <a:pt x="266" y="474"/>
                  </a:lnTo>
                  <a:lnTo>
                    <a:pt x="260" y="475"/>
                  </a:lnTo>
                  <a:lnTo>
                    <a:pt x="256" y="475"/>
                  </a:lnTo>
                  <a:lnTo>
                    <a:pt x="251" y="475"/>
                  </a:lnTo>
                  <a:lnTo>
                    <a:pt x="247" y="475"/>
                  </a:lnTo>
                  <a:lnTo>
                    <a:pt x="7" y="437"/>
                  </a:lnTo>
                  <a:lnTo>
                    <a:pt x="2" y="434"/>
                  </a:lnTo>
                  <a:lnTo>
                    <a:pt x="0" y="431"/>
                  </a:lnTo>
                  <a:lnTo>
                    <a:pt x="1" y="428"/>
                  </a:lnTo>
                  <a:lnTo>
                    <a:pt x="5" y="423"/>
                  </a:lnTo>
                  <a:lnTo>
                    <a:pt x="37" y="405"/>
                  </a:lnTo>
                  <a:lnTo>
                    <a:pt x="44" y="400"/>
                  </a:lnTo>
                  <a:lnTo>
                    <a:pt x="49" y="392"/>
                  </a:lnTo>
                  <a:lnTo>
                    <a:pt x="53" y="384"/>
                  </a:lnTo>
                  <a:lnTo>
                    <a:pt x="54" y="375"/>
                  </a:lnTo>
                  <a:lnTo>
                    <a:pt x="54" y="185"/>
                  </a:lnTo>
                  <a:close/>
                </a:path>
              </a:pathLst>
            </a:custGeom>
            <a:solidFill>
              <a:srgbClr val="B5B5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4" name="Freeform 280"/>
            <p:cNvSpPr>
              <a:spLocks/>
            </p:cNvSpPr>
            <p:nvPr/>
          </p:nvSpPr>
          <p:spPr bwMode="auto">
            <a:xfrm>
              <a:off x="1173" y="3604"/>
              <a:ext cx="44" cy="50"/>
            </a:xfrm>
            <a:custGeom>
              <a:avLst/>
              <a:gdLst>
                <a:gd name="T0" fmla="*/ 0 w 265"/>
                <a:gd name="T1" fmla="*/ 0 h 305"/>
                <a:gd name="T2" fmla="*/ 0 w 265"/>
                <a:gd name="T3" fmla="*/ 0 h 305"/>
                <a:gd name="T4" fmla="*/ 0 w 265"/>
                <a:gd name="T5" fmla="*/ 0 h 305"/>
                <a:gd name="T6" fmla="*/ 0 w 265"/>
                <a:gd name="T7" fmla="*/ 0 h 305"/>
                <a:gd name="T8" fmla="*/ 0 w 265"/>
                <a:gd name="T9" fmla="*/ 0 h 305"/>
                <a:gd name="T10" fmla="*/ 0 w 265"/>
                <a:gd name="T11" fmla="*/ 0 h 305"/>
                <a:gd name="T12" fmla="*/ 1 w 265"/>
                <a:gd name="T13" fmla="*/ 0 h 305"/>
                <a:gd name="T14" fmla="*/ 1 w 265"/>
                <a:gd name="T15" fmla="*/ 0 h 305"/>
                <a:gd name="T16" fmla="*/ 1 w 265"/>
                <a:gd name="T17" fmla="*/ 0 h 305"/>
                <a:gd name="T18" fmla="*/ 1 w 265"/>
                <a:gd name="T19" fmla="*/ 0 h 305"/>
                <a:gd name="T20" fmla="*/ 1 w 265"/>
                <a:gd name="T21" fmla="*/ 1 h 305"/>
                <a:gd name="T22" fmla="*/ 1 w 265"/>
                <a:gd name="T23" fmla="*/ 1 h 305"/>
                <a:gd name="T24" fmla="*/ 1 w 265"/>
                <a:gd name="T25" fmla="*/ 1 h 305"/>
                <a:gd name="T26" fmla="*/ 1 w 265"/>
                <a:gd name="T27" fmla="*/ 1 h 305"/>
                <a:gd name="T28" fmla="*/ 1 w 265"/>
                <a:gd name="T29" fmla="*/ 1 h 305"/>
                <a:gd name="T30" fmla="*/ 1 w 265"/>
                <a:gd name="T31" fmla="*/ 1 h 305"/>
                <a:gd name="T32" fmla="*/ 1 w 265"/>
                <a:gd name="T33" fmla="*/ 1 h 305"/>
                <a:gd name="T34" fmla="*/ 1 w 265"/>
                <a:gd name="T35" fmla="*/ 1 h 305"/>
                <a:gd name="T36" fmla="*/ 1 w 265"/>
                <a:gd name="T37" fmla="*/ 1 h 305"/>
                <a:gd name="T38" fmla="*/ 1 w 265"/>
                <a:gd name="T39" fmla="*/ 1 h 305"/>
                <a:gd name="T40" fmla="*/ 1 w 265"/>
                <a:gd name="T41" fmla="*/ 1 h 305"/>
                <a:gd name="T42" fmla="*/ 1 w 265"/>
                <a:gd name="T43" fmla="*/ 1 h 305"/>
                <a:gd name="T44" fmla="*/ 1 w 265"/>
                <a:gd name="T45" fmla="*/ 1 h 305"/>
                <a:gd name="T46" fmla="*/ 1 w 265"/>
                <a:gd name="T47" fmla="*/ 1 h 305"/>
                <a:gd name="T48" fmla="*/ 1 w 265"/>
                <a:gd name="T49" fmla="*/ 1 h 305"/>
                <a:gd name="T50" fmla="*/ 0 w 265"/>
                <a:gd name="T51" fmla="*/ 1 h 305"/>
                <a:gd name="T52" fmla="*/ 0 w 265"/>
                <a:gd name="T53" fmla="*/ 1 h 305"/>
                <a:gd name="T54" fmla="*/ 0 w 265"/>
                <a:gd name="T55" fmla="*/ 1 h 305"/>
                <a:gd name="T56" fmla="*/ 0 w 265"/>
                <a:gd name="T57" fmla="*/ 1 h 305"/>
                <a:gd name="T58" fmla="*/ 0 w 265"/>
                <a:gd name="T59" fmla="*/ 1 h 305"/>
                <a:gd name="T60" fmla="*/ 0 w 265"/>
                <a:gd name="T61" fmla="*/ 1 h 305"/>
                <a:gd name="T62" fmla="*/ 0 w 265"/>
                <a:gd name="T63" fmla="*/ 1 h 305"/>
                <a:gd name="T64" fmla="*/ 0 w 265"/>
                <a:gd name="T65" fmla="*/ 1 h 305"/>
                <a:gd name="T66" fmla="*/ 0 w 265"/>
                <a:gd name="T67" fmla="*/ 1 h 305"/>
                <a:gd name="T68" fmla="*/ 0 w 265"/>
                <a:gd name="T69" fmla="*/ 1 h 305"/>
                <a:gd name="T70" fmla="*/ 0 w 265"/>
                <a:gd name="T71" fmla="*/ 0 h 3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5"/>
                <a:gd name="T109" fmla="*/ 0 h 305"/>
                <a:gd name="T110" fmla="*/ 265 w 265"/>
                <a:gd name="T111" fmla="*/ 305 h 30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5" h="305">
                  <a:moveTo>
                    <a:pt x="54" y="15"/>
                  </a:moveTo>
                  <a:lnTo>
                    <a:pt x="55" y="8"/>
                  </a:lnTo>
                  <a:lnTo>
                    <a:pt x="59" y="2"/>
                  </a:lnTo>
                  <a:lnTo>
                    <a:pt x="65" y="0"/>
                  </a:lnTo>
                  <a:lnTo>
                    <a:pt x="73" y="0"/>
                  </a:lnTo>
                  <a:lnTo>
                    <a:pt x="129" y="16"/>
                  </a:lnTo>
                  <a:lnTo>
                    <a:pt x="137" y="19"/>
                  </a:lnTo>
                  <a:lnTo>
                    <a:pt x="144" y="25"/>
                  </a:lnTo>
                  <a:lnTo>
                    <a:pt x="151" y="32"/>
                  </a:lnTo>
                  <a:lnTo>
                    <a:pt x="154" y="39"/>
                  </a:lnTo>
                  <a:lnTo>
                    <a:pt x="195" y="190"/>
                  </a:lnTo>
                  <a:lnTo>
                    <a:pt x="198" y="199"/>
                  </a:lnTo>
                  <a:lnTo>
                    <a:pt x="203" y="207"/>
                  </a:lnTo>
                  <a:lnTo>
                    <a:pt x="210" y="214"/>
                  </a:lnTo>
                  <a:lnTo>
                    <a:pt x="217" y="218"/>
                  </a:lnTo>
                  <a:lnTo>
                    <a:pt x="245" y="233"/>
                  </a:lnTo>
                  <a:lnTo>
                    <a:pt x="251" y="237"/>
                  </a:lnTo>
                  <a:lnTo>
                    <a:pt x="257" y="245"/>
                  </a:lnTo>
                  <a:lnTo>
                    <a:pt x="261" y="253"/>
                  </a:lnTo>
                  <a:lnTo>
                    <a:pt x="263" y="262"/>
                  </a:lnTo>
                  <a:lnTo>
                    <a:pt x="265" y="288"/>
                  </a:lnTo>
                  <a:lnTo>
                    <a:pt x="264" y="296"/>
                  </a:lnTo>
                  <a:lnTo>
                    <a:pt x="260" y="302"/>
                  </a:lnTo>
                  <a:lnTo>
                    <a:pt x="254" y="304"/>
                  </a:lnTo>
                  <a:lnTo>
                    <a:pt x="247" y="305"/>
                  </a:lnTo>
                  <a:lnTo>
                    <a:pt x="7" y="267"/>
                  </a:lnTo>
                  <a:lnTo>
                    <a:pt x="2" y="264"/>
                  </a:lnTo>
                  <a:lnTo>
                    <a:pt x="0" y="261"/>
                  </a:lnTo>
                  <a:lnTo>
                    <a:pt x="1" y="258"/>
                  </a:lnTo>
                  <a:lnTo>
                    <a:pt x="5" y="253"/>
                  </a:lnTo>
                  <a:lnTo>
                    <a:pt x="37" y="235"/>
                  </a:lnTo>
                  <a:lnTo>
                    <a:pt x="44" y="230"/>
                  </a:lnTo>
                  <a:lnTo>
                    <a:pt x="49" y="222"/>
                  </a:lnTo>
                  <a:lnTo>
                    <a:pt x="53" y="214"/>
                  </a:lnTo>
                  <a:lnTo>
                    <a:pt x="54" y="205"/>
                  </a:lnTo>
                  <a:lnTo>
                    <a:pt x="54" y="15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5" name="Freeform 281"/>
            <p:cNvSpPr>
              <a:spLocks/>
            </p:cNvSpPr>
            <p:nvPr/>
          </p:nvSpPr>
          <p:spPr bwMode="auto">
            <a:xfrm>
              <a:off x="1217" y="3608"/>
              <a:ext cx="74" cy="46"/>
            </a:xfrm>
            <a:custGeom>
              <a:avLst/>
              <a:gdLst>
                <a:gd name="T0" fmla="*/ 0 w 442"/>
                <a:gd name="T1" fmla="*/ 1 h 276"/>
                <a:gd name="T2" fmla="*/ 0 w 442"/>
                <a:gd name="T3" fmla="*/ 1 h 276"/>
                <a:gd name="T4" fmla="*/ 0 w 442"/>
                <a:gd name="T5" fmla="*/ 1 h 276"/>
                <a:gd name="T6" fmla="*/ 0 w 442"/>
                <a:gd name="T7" fmla="*/ 1 h 276"/>
                <a:gd name="T8" fmla="*/ 0 w 442"/>
                <a:gd name="T9" fmla="*/ 1 h 276"/>
                <a:gd name="T10" fmla="*/ 2 w 442"/>
                <a:gd name="T11" fmla="*/ 0 h 276"/>
                <a:gd name="T12" fmla="*/ 2 w 442"/>
                <a:gd name="T13" fmla="*/ 0 h 276"/>
                <a:gd name="T14" fmla="*/ 2 w 442"/>
                <a:gd name="T15" fmla="*/ 0 h 276"/>
                <a:gd name="T16" fmla="*/ 2 w 442"/>
                <a:gd name="T17" fmla="*/ 0 h 276"/>
                <a:gd name="T18" fmla="*/ 2 w 442"/>
                <a:gd name="T19" fmla="*/ 0 h 276"/>
                <a:gd name="T20" fmla="*/ 2 w 442"/>
                <a:gd name="T21" fmla="*/ 0 h 276"/>
                <a:gd name="T22" fmla="*/ 2 w 442"/>
                <a:gd name="T23" fmla="*/ 0 h 276"/>
                <a:gd name="T24" fmla="*/ 2 w 442"/>
                <a:gd name="T25" fmla="*/ 0 h 276"/>
                <a:gd name="T26" fmla="*/ 2 w 442"/>
                <a:gd name="T27" fmla="*/ 0 h 276"/>
                <a:gd name="T28" fmla="*/ 2 w 442"/>
                <a:gd name="T29" fmla="*/ 0 h 276"/>
                <a:gd name="T30" fmla="*/ 0 w 442"/>
                <a:gd name="T31" fmla="*/ 1 h 276"/>
                <a:gd name="T32" fmla="*/ 0 w 442"/>
                <a:gd name="T33" fmla="*/ 1 h 276"/>
                <a:gd name="T34" fmla="*/ 0 w 442"/>
                <a:gd name="T35" fmla="*/ 1 h 276"/>
                <a:gd name="T36" fmla="*/ 0 w 442"/>
                <a:gd name="T37" fmla="*/ 1 h 276"/>
                <a:gd name="T38" fmla="*/ 0 w 442"/>
                <a:gd name="T39" fmla="*/ 1 h 276"/>
                <a:gd name="T40" fmla="*/ 0 w 442"/>
                <a:gd name="T41" fmla="*/ 1 h 2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2"/>
                <a:gd name="T64" fmla="*/ 0 h 276"/>
                <a:gd name="T65" fmla="*/ 442 w 442"/>
                <a:gd name="T66" fmla="*/ 276 h 2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2" h="276">
                  <a:moveTo>
                    <a:pt x="0" y="236"/>
                  </a:moveTo>
                  <a:lnTo>
                    <a:pt x="1" y="227"/>
                  </a:lnTo>
                  <a:lnTo>
                    <a:pt x="4" y="219"/>
                  </a:lnTo>
                  <a:lnTo>
                    <a:pt x="10" y="213"/>
                  </a:lnTo>
                  <a:lnTo>
                    <a:pt x="17" y="207"/>
                  </a:lnTo>
                  <a:lnTo>
                    <a:pt x="424" y="2"/>
                  </a:lnTo>
                  <a:lnTo>
                    <a:pt x="431" y="0"/>
                  </a:lnTo>
                  <a:lnTo>
                    <a:pt x="436" y="1"/>
                  </a:lnTo>
                  <a:lnTo>
                    <a:pt x="441" y="6"/>
                  </a:lnTo>
                  <a:lnTo>
                    <a:pt x="442" y="12"/>
                  </a:lnTo>
                  <a:lnTo>
                    <a:pt x="442" y="30"/>
                  </a:lnTo>
                  <a:lnTo>
                    <a:pt x="441" y="39"/>
                  </a:lnTo>
                  <a:lnTo>
                    <a:pt x="438" y="47"/>
                  </a:lnTo>
                  <a:lnTo>
                    <a:pt x="432" y="55"/>
                  </a:lnTo>
                  <a:lnTo>
                    <a:pt x="425" y="60"/>
                  </a:lnTo>
                  <a:lnTo>
                    <a:pt x="21" y="273"/>
                  </a:lnTo>
                  <a:lnTo>
                    <a:pt x="14" y="276"/>
                  </a:lnTo>
                  <a:lnTo>
                    <a:pt x="9" y="273"/>
                  </a:lnTo>
                  <a:lnTo>
                    <a:pt x="4" y="269"/>
                  </a:lnTo>
                  <a:lnTo>
                    <a:pt x="2" y="262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6" name="Freeform 282"/>
            <p:cNvSpPr>
              <a:spLocks/>
            </p:cNvSpPr>
            <p:nvPr/>
          </p:nvSpPr>
          <p:spPr bwMode="auto">
            <a:xfrm>
              <a:off x="1233" y="3575"/>
              <a:ext cx="41" cy="38"/>
            </a:xfrm>
            <a:custGeom>
              <a:avLst/>
              <a:gdLst>
                <a:gd name="T0" fmla="*/ 1 w 244"/>
                <a:gd name="T1" fmla="*/ 1 h 227"/>
                <a:gd name="T2" fmla="*/ 1 w 244"/>
                <a:gd name="T3" fmla="*/ 1 h 227"/>
                <a:gd name="T4" fmla="*/ 1 w 244"/>
                <a:gd name="T5" fmla="*/ 1 h 227"/>
                <a:gd name="T6" fmla="*/ 1 w 244"/>
                <a:gd name="T7" fmla="*/ 1 h 227"/>
                <a:gd name="T8" fmla="*/ 1 w 244"/>
                <a:gd name="T9" fmla="*/ 1 h 227"/>
                <a:gd name="T10" fmla="*/ 1 w 244"/>
                <a:gd name="T11" fmla="*/ 1 h 227"/>
                <a:gd name="T12" fmla="*/ 1 w 244"/>
                <a:gd name="T13" fmla="*/ 1 h 227"/>
                <a:gd name="T14" fmla="*/ 1 w 244"/>
                <a:gd name="T15" fmla="*/ 1 h 227"/>
                <a:gd name="T16" fmla="*/ 1 w 244"/>
                <a:gd name="T17" fmla="*/ 1 h 227"/>
                <a:gd name="T18" fmla="*/ 0 w 244"/>
                <a:gd name="T19" fmla="*/ 1 h 227"/>
                <a:gd name="T20" fmla="*/ 0 w 244"/>
                <a:gd name="T21" fmla="*/ 1 h 227"/>
                <a:gd name="T22" fmla="*/ 0 w 244"/>
                <a:gd name="T23" fmla="*/ 1 h 227"/>
                <a:gd name="T24" fmla="*/ 0 w 244"/>
                <a:gd name="T25" fmla="*/ 1 h 227"/>
                <a:gd name="T26" fmla="*/ 0 w 244"/>
                <a:gd name="T27" fmla="*/ 1 h 227"/>
                <a:gd name="T28" fmla="*/ 0 w 244"/>
                <a:gd name="T29" fmla="*/ 0 h 227"/>
                <a:gd name="T30" fmla="*/ 0 w 244"/>
                <a:gd name="T31" fmla="*/ 0 h 227"/>
                <a:gd name="T32" fmla="*/ 0 w 244"/>
                <a:gd name="T33" fmla="*/ 0 h 227"/>
                <a:gd name="T34" fmla="*/ 0 w 244"/>
                <a:gd name="T35" fmla="*/ 0 h 227"/>
                <a:gd name="T36" fmla="*/ 0 w 244"/>
                <a:gd name="T37" fmla="*/ 0 h 227"/>
                <a:gd name="T38" fmla="*/ 0 w 244"/>
                <a:gd name="T39" fmla="*/ 0 h 227"/>
                <a:gd name="T40" fmla="*/ 0 w 244"/>
                <a:gd name="T41" fmla="*/ 0 h 227"/>
                <a:gd name="T42" fmla="*/ 0 w 244"/>
                <a:gd name="T43" fmla="*/ 0 h 227"/>
                <a:gd name="T44" fmla="*/ 0 w 244"/>
                <a:gd name="T45" fmla="*/ 0 h 227"/>
                <a:gd name="T46" fmla="*/ 0 w 244"/>
                <a:gd name="T47" fmla="*/ 0 h 227"/>
                <a:gd name="T48" fmla="*/ 0 w 244"/>
                <a:gd name="T49" fmla="*/ 0 h 227"/>
                <a:gd name="T50" fmla="*/ 1 w 244"/>
                <a:gd name="T51" fmla="*/ 0 h 227"/>
                <a:gd name="T52" fmla="*/ 1 w 244"/>
                <a:gd name="T53" fmla="*/ 0 h 227"/>
                <a:gd name="T54" fmla="*/ 1 w 244"/>
                <a:gd name="T55" fmla="*/ 0 h 227"/>
                <a:gd name="T56" fmla="*/ 1 w 244"/>
                <a:gd name="T57" fmla="*/ 0 h 227"/>
                <a:gd name="T58" fmla="*/ 1 w 244"/>
                <a:gd name="T59" fmla="*/ 0 h 227"/>
                <a:gd name="T60" fmla="*/ 1 w 244"/>
                <a:gd name="T61" fmla="*/ 0 h 227"/>
                <a:gd name="T62" fmla="*/ 1 w 244"/>
                <a:gd name="T63" fmla="*/ 0 h 227"/>
                <a:gd name="T64" fmla="*/ 1 w 244"/>
                <a:gd name="T65" fmla="*/ 0 h 227"/>
                <a:gd name="T66" fmla="*/ 1 w 244"/>
                <a:gd name="T67" fmla="*/ 1 h 227"/>
                <a:gd name="T68" fmla="*/ 1 w 244"/>
                <a:gd name="T69" fmla="*/ 1 h 227"/>
                <a:gd name="T70" fmla="*/ 1 w 244"/>
                <a:gd name="T71" fmla="*/ 1 h 227"/>
                <a:gd name="T72" fmla="*/ 1 w 244"/>
                <a:gd name="T73" fmla="*/ 1 h 227"/>
                <a:gd name="T74" fmla="*/ 1 w 244"/>
                <a:gd name="T75" fmla="*/ 1 h 227"/>
                <a:gd name="T76" fmla="*/ 1 w 244"/>
                <a:gd name="T77" fmla="*/ 1 h 2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44"/>
                <a:gd name="T118" fmla="*/ 0 h 227"/>
                <a:gd name="T119" fmla="*/ 244 w 244"/>
                <a:gd name="T120" fmla="*/ 227 h 22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44" h="227">
                  <a:moveTo>
                    <a:pt x="141" y="223"/>
                  </a:moveTo>
                  <a:lnTo>
                    <a:pt x="138" y="224"/>
                  </a:lnTo>
                  <a:lnTo>
                    <a:pt x="133" y="226"/>
                  </a:lnTo>
                  <a:lnTo>
                    <a:pt x="128" y="226"/>
                  </a:lnTo>
                  <a:lnTo>
                    <a:pt x="123" y="227"/>
                  </a:lnTo>
                  <a:lnTo>
                    <a:pt x="118" y="227"/>
                  </a:lnTo>
                  <a:lnTo>
                    <a:pt x="113" y="227"/>
                  </a:lnTo>
                  <a:lnTo>
                    <a:pt x="108" y="227"/>
                  </a:lnTo>
                  <a:lnTo>
                    <a:pt x="104" y="226"/>
                  </a:lnTo>
                  <a:lnTo>
                    <a:pt x="33" y="205"/>
                  </a:lnTo>
                  <a:lnTo>
                    <a:pt x="25" y="202"/>
                  </a:lnTo>
                  <a:lnTo>
                    <a:pt x="18" y="196"/>
                  </a:lnTo>
                  <a:lnTo>
                    <a:pt x="13" y="188"/>
                  </a:lnTo>
                  <a:lnTo>
                    <a:pt x="11" y="180"/>
                  </a:lnTo>
                  <a:lnTo>
                    <a:pt x="0" y="51"/>
                  </a:lnTo>
                  <a:lnTo>
                    <a:pt x="1" y="43"/>
                  </a:lnTo>
                  <a:lnTo>
                    <a:pt x="3" y="35"/>
                  </a:lnTo>
                  <a:lnTo>
                    <a:pt x="9" y="28"/>
                  </a:lnTo>
                  <a:lnTo>
                    <a:pt x="16" y="24"/>
                  </a:lnTo>
                  <a:lnTo>
                    <a:pt x="60" y="5"/>
                  </a:lnTo>
                  <a:lnTo>
                    <a:pt x="64" y="4"/>
                  </a:lnTo>
                  <a:lnTo>
                    <a:pt x="69" y="2"/>
                  </a:lnTo>
                  <a:lnTo>
                    <a:pt x="73" y="1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7" y="1"/>
                  </a:lnTo>
                  <a:lnTo>
                    <a:pt x="145" y="13"/>
                  </a:lnTo>
                  <a:lnTo>
                    <a:pt x="153" y="16"/>
                  </a:lnTo>
                  <a:lnTo>
                    <a:pt x="161" y="20"/>
                  </a:lnTo>
                  <a:lnTo>
                    <a:pt x="168" y="27"/>
                  </a:lnTo>
                  <a:lnTo>
                    <a:pt x="174" y="34"/>
                  </a:lnTo>
                  <a:lnTo>
                    <a:pt x="241" y="157"/>
                  </a:lnTo>
                  <a:lnTo>
                    <a:pt x="244" y="163"/>
                  </a:lnTo>
                  <a:lnTo>
                    <a:pt x="244" y="170"/>
                  </a:lnTo>
                  <a:lnTo>
                    <a:pt x="240" y="177"/>
                  </a:lnTo>
                  <a:lnTo>
                    <a:pt x="233" y="181"/>
                  </a:lnTo>
                  <a:lnTo>
                    <a:pt x="141" y="22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7" name="Freeform 283"/>
            <p:cNvSpPr>
              <a:spLocks/>
            </p:cNvSpPr>
            <p:nvPr/>
          </p:nvSpPr>
          <p:spPr bwMode="auto">
            <a:xfrm>
              <a:off x="1233" y="3581"/>
              <a:ext cx="20" cy="32"/>
            </a:xfrm>
            <a:custGeom>
              <a:avLst/>
              <a:gdLst>
                <a:gd name="T0" fmla="*/ 1 w 118"/>
                <a:gd name="T1" fmla="*/ 1 h 191"/>
                <a:gd name="T2" fmla="*/ 1 w 118"/>
                <a:gd name="T3" fmla="*/ 1 h 191"/>
                <a:gd name="T4" fmla="*/ 1 w 118"/>
                <a:gd name="T5" fmla="*/ 1 h 191"/>
                <a:gd name="T6" fmla="*/ 1 w 118"/>
                <a:gd name="T7" fmla="*/ 1 h 191"/>
                <a:gd name="T8" fmla="*/ 1 w 118"/>
                <a:gd name="T9" fmla="*/ 1 h 191"/>
                <a:gd name="T10" fmla="*/ 0 w 118"/>
                <a:gd name="T11" fmla="*/ 0 h 191"/>
                <a:gd name="T12" fmla="*/ 0 w 118"/>
                <a:gd name="T13" fmla="*/ 0 h 191"/>
                <a:gd name="T14" fmla="*/ 0 w 118"/>
                <a:gd name="T15" fmla="*/ 0 h 191"/>
                <a:gd name="T16" fmla="*/ 0 w 118"/>
                <a:gd name="T17" fmla="*/ 0 h 191"/>
                <a:gd name="T18" fmla="*/ 0 w 118"/>
                <a:gd name="T19" fmla="*/ 0 h 191"/>
                <a:gd name="T20" fmla="*/ 0 w 118"/>
                <a:gd name="T21" fmla="*/ 0 h 191"/>
                <a:gd name="T22" fmla="*/ 0 w 118"/>
                <a:gd name="T23" fmla="*/ 0 h 191"/>
                <a:gd name="T24" fmla="*/ 0 w 118"/>
                <a:gd name="T25" fmla="*/ 0 h 191"/>
                <a:gd name="T26" fmla="*/ 0 w 118"/>
                <a:gd name="T27" fmla="*/ 0 h 191"/>
                <a:gd name="T28" fmla="*/ 0 w 118"/>
                <a:gd name="T29" fmla="*/ 0 h 191"/>
                <a:gd name="T30" fmla="*/ 0 w 118"/>
                <a:gd name="T31" fmla="*/ 1 h 191"/>
                <a:gd name="T32" fmla="*/ 0 w 118"/>
                <a:gd name="T33" fmla="*/ 1 h 191"/>
                <a:gd name="T34" fmla="*/ 0 w 118"/>
                <a:gd name="T35" fmla="*/ 1 h 191"/>
                <a:gd name="T36" fmla="*/ 0 w 118"/>
                <a:gd name="T37" fmla="*/ 1 h 191"/>
                <a:gd name="T38" fmla="*/ 0 w 118"/>
                <a:gd name="T39" fmla="*/ 1 h 191"/>
                <a:gd name="T40" fmla="*/ 1 w 118"/>
                <a:gd name="T41" fmla="*/ 1 h 1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8"/>
                <a:gd name="T64" fmla="*/ 0 h 191"/>
                <a:gd name="T65" fmla="*/ 118 w 118"/>
                <a:gd name="T66" fmla="*/ 191 h 1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8" h="191">
                  <a:moveTo>
                    <a:pt x="104" y="190"/>
                  </a:moveTo>
                  <a:lnTo>
                    <a:pt x="112" y="191"/>
                  </a:lnTo>
                  <a:lnTo>
                    <a:pt x="116" y="188"/>
                  </a:lnTo>
                  <a:lnTo>
                    <a:pt x="118" y="184"/>
                  </a:lnTo>
                  <a:lnTo>
                    <a:pt x="118" y="177"/>
                  </a:lnTo>
                  <a:lnTo>
                    <a:pt x="83" y="36"/>
                  </a:lnTo>
                  <a:lnTo>
                    <a:pt x="80" y="28"/>
                  </a:lnTo>
                  <a:lnTo>
                    <a:pt x="74" y="22"/>
                  </a:lnTo>
                  <a:lnTo>
                    <a:pt x="68" y="15"/>
                  </a:lnTo>
                  <a:lnTo>
                    <a:pt x="60" y="11"/>
                  </a:lnTo>
                  <a:lnTo>
                    <a:pt x="17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1" y="8"/>
                  </a:lnTo>
                  <a:lnTo>
                    <a:pt x="0" y="15"/>
                  </a:lnTo>
                  <a:lnTo>
                    <a:pt x="11" y="144"/>
                  </a:lnTo>
                  <a:lnTo>
                    <a:pt x="13" y="152"/>
                  </a:lnTo>
                  <a:lnTo>
                    <a:pt x="18" y="160"/>
                  </a:lnTo>
                  <a:lnTo>
                    <a:pt x="25" y="166"/>
                  </a:lnTo>
                  <a:lnTo>
                    <a:pt x="33" y="169"/>
                  </a:lnTo>
                  <a:lnTo>
                    <a:pt x="104" y="190"/>
                  </a:lnTo>
                  <a:close/>
                </a:path>
              </a:pathLst>
            </a:custGeom>
            <a:solidFill>
              <a:srgbClr val="EDED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8" name="Freeform 284"/>
            <p:cNvSpPr>
              <a:spLocks/>
            </p:cNvSpPr>
            <p:nvPr/>
          </p:nvSpPr>
          <p:spPr bwMode="auto">
            <a:xfrm>
              <a:off x="1208" y="3605"/>
              <a:ext cx="81" cy="38"/>
            </a:xfrm>
            <a:custGeom>
              <a:avLst/>
              <a:gdLst>
                <a:gd name="T0" fmla="*/ 1 w 484"/>
                <a:gd name="T1" fmla="*/ 1 h 230"/>
                <a:gd name="T2" fmla="*/ 1 w 484"/>
                <a:gd name="T3" fmla="*/ 0 h 230"/>
                <a:gd name="T4" fmla="*/ 0 w 484"/>
                <a:gd name="T5" fmla="*/ 0 h 230"/>
                <a:gd name="T6" fmla="*/ 0 w 484"/>
                <a:gd name="T7" fmla="*/ 0 h 230"/>
                <a:gd name="T8" fmla="*/ 1 w 484"/>
                <a:gd name="T9" fmla="*/ 0 h 230"/>
                <a:gd name="T10" fmla="*/ 1 w 484"/>
                <a:gd name="T11" fmla="*/ 0 h 230"/>
                <a:gd name="T12" fmla="*/ 1 w 484"/>
                <a:gd name="T13" fmla="*/ 0 h 230"/>
                <a:gd name="T14" fmla="*/ 1 w 484"/>
                <a:gd name="T15" fmla="*/ 0 h 230"/>
                <a:gd name="T16" fmla="*/ 1 w 484"/>
                <a:gd name="T17" fmla="*/ 0 h 230"/>
                <a:gd name="T18" fmla="*/ 1 w 484"/>
                <a:gd name="T19" fmla="*/ 0 h 230"/>
                <a:gd name="T20" fmla="*/ 1 w 484"/>
                <a:gd name="T21" fmla="*/ 0 h 230"/>
                <a:gd name="T22" fmla="*/ 1 w 484"/>
                <a:gd name="T23" fmla="*/ 0 h 230"/>
                <a:gd name="T24" fmla="*/ 1 w 484"/>
                <a:gd name="T25" fmla="*/ 0 h 230"/>
                <a:gd name="T26" fmla="*/ 1 w 484"/>
                <a:gd name="T27" fmla="*/ 0 h 230"/>
                <a:gd name="T28" fmla="*/ 1 w 484"/>
                <a:gd name="T29" fmla="*/ 0 h 230"/>
                <a:gd name="T30" fmla="*/ 1 w 484"/>
                <a:gd name="T31" fmla="*/ 0 h 230"/>
                <a:gd name="T32" fmla="*/ 1 w 484"/>
                <a:gd name="T33" fmla="*/ 0 h 230"/>
                <a:gd name="T34" fmla="*/ 1 w 484"/>
                <a:gd name="T35" fmla="*/ 0 h 230"/>
                <a:gd name="T36" fmla="*/ 1 w 484"/>
                <a:gd name="T37" fmla="*/ 0 h 230"/>
                <a:gd name="T38" fmla="*/ 1 w 484"/>
                <a:gd name="T39" fmla="*/ 0 h 230"/>
                <a:gd name="T40" fmla="*/ 1 w 484"/>
                <a:gd name="T41" fmla="*/ 0 h 230"/>
                <a:gd name="T42" fmla="*/ 1 w 484"/>
                <a:gd name="T43" fmla="*/ 0 h 230"/>
                <a:gd name="T44" fmla="*/ 1 w 484"/>
                <a:gd name="T45" fmla="*/ 0 h 230"/>
                <a:gd name="T46" fmla="*/ 1 w 484"/>
                <a:gd name="T47" fmla="*/ 0 h 230"/>
                <a:gd name="T48" fmla="*/ 2 w 484"/>
                <a:gd name="T49" fmla="*/ 0 h 230"/>
                <a:gd name="T50" fmla="*/ 2 w 484"/>
                <a:gd name="T51" fmla="*/ 0 h 230"/>
                <a:gd name="T52" fmla="*/ 2 w 484"/>
                <a:gd name="T53" fmla="*/ 0 h 230"/>
                <a:gd name="T54" fmla="*/ 2 w 484"/>
                <a:gd name="T55" fmla="*/ 0 h 230"/>
                <a:gd name="T56" fmla="*/ 2 w 484"/>
                <a:gd name="T57" fmla="*/ 0 h 230"/>
                <a:gd name="T58" fmla="*/ 2 w 484"/>
                <a:gd name="T59" fmla="*/ 0 h 230"/>
                <a:gd name="T60" fmla="*/ 2 w 484"/>
                <a:gd name="T61" fmla="*/ 0 h 230"/>
                <a:gd name="T62" fmla="*/ 2 w 484"/>
                <a:gd name="T63" fmla="*/ 0 h 230"/>
                <a:gd name="T64" fmla="*/ 2 w 484"/>
                <a:gd name="T65" fmla="*/ 0 h 230"/>
                <a:gd name="T66" fmla="*/ 2 w 484"/>
                <a:gd name="T67" fmla="*/ 0 h 230"/>
                <a:gd name="T68" fmla="*/ 2 w 484"/>
                <a:gd name="T69" fmla="*/ 0 h 230"/>
                <a:gd name="T70" fmla="*/ 2 w 484"/>
                <a:gd name="T71" fmla="*/ 0 h 230"/>
                <a:gd name="T72" fmla="*/ 2 w 484"/>
                <a:gd name="T73" fmla="*/ 0 h 230"/>
                <a:gd name="T74" fmla="*/ 2 w 484"/>
                <a:gd name="T75" fmla="*/ 0 h 230"/>
                <a:gd name="T76" fmla="*/ 0 w 484"/>
                <a:gd name="T77" fmla="*/ 1 h 230"/>
                <a:gd name="T78" fmla="*/ 0 w 484"/>
                <a:gd name="T79" fmla="*/ 1 h 230"/>
                <a:gd name="T80" fmla="*/ 0 w 484"/>
                <a:gd name="T81" fmla="*/ 1 h 230"/>
                <a:gd name="T82" fmla="*/ 0 w 484"/>
                <a:gd name="T83" fmla="*/ 1 h 230"/>
                <a:gd name="T84" fmla="*/ 0 w 484"/>
                <a:gd name="T85" fmla="*/ 1 h 230"/>
                <a:gd name="T86" fmla="*/ 0 w 484"/>
                <a:gd name="T87" fmla="*/ 1 h 230"/>
                <a:gd name="T88" fmla="*/ 0 w 484"/>
                <a:gd name="T89" fmla="*/ 1 h 230"/>
                <a:gd name="T90" fmla="*/ 0 w 484"/>
                <a:gd name="T91" fmla="*/ 1 h 230"/>
                <a:gd name="T92" fmla="*/ 0 w 484"/>
                <a:gd name="T93" fmla="*/ 1 h 230"/>
                <a:gd name="T94" fmla="*/ 0 w 484"/>
                <a:gd name="T95" fmla="*/ 1 h 230"/>
                <a:gd name="T96" fmla="*/ 0 w 484"/>
                <a:gd name="T97" fmla="*/ 1 h 230"/>
                <a:gd name="T98" fmla="*/ 0 w 484"/>
                <a:gd name="T99" fmla="*/ 1 h 230"/>
                <a:gd name="T100" fmla="*/ 0 w 484"/>
                <a:gd name="T101" fmla="*/ 1 h 230"/>
                <a:gd name="T102" fmla="*/ 0 w 484"/>
                <a:gd name="T103" fmla="*/ 1 h 230"/>
                <a:gd name="T104" fmla="*/ 1 w 484"/>
                <a:gd name="T105" fmla="*/ 1 h 23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4"/>
                <a:gd name="T160" fmla="*/ 0 h 230"/>
                <a:gd name="T161" fmla="*/ 484 w 484"/>
                <a:gd name="T162" fmla="*/ 230 h 23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4" h="230">
                  <a:moveTo>
                    <a:pt x="118" y="132"/>
                  </a:moveTo>
                  <a:lnTo>
                    <a:pt x="88" y="82"/>
                  </a:lnTo>
                  <a:lnTo>
                    <a:pt x="85" y="75"/>
                  </a:lnTo>
                  <a:lnTo>
                    <a:pt x="85" y="67"/>
                  </a:lnTo>
                  <a:lnTo>
                    <a:pt x="89" y="60"/>
                  </a:lnTo>
                  <a:lnTo>
                    <a:pt x="95" y="56"/>
                  </a:lnTo>
                  <a:lnTo>
                    <a:pt x="146" y="32"/>
                  </a:lnTo>
                  <a:lnTo>
                    <a:pt x="151" y="31"/>
                  </a:lnTo>
                  <a:lnTo>
                    <a:pt x="155" y="30"/>
                  </a:lnTo>
                  <a:lnTo>
                    <a:pt x="160" y="29"/>
                  </a:lnTo>
                  <a:lnTo>
                    <a:pt x="164" y="28"/>
                  </a:lnTo>
                  <a:lnTo>
                    <a:pt x="170" y="28"/>
                  </a:lnTo>
                  <a:lnTo>
                    <a:pt x="175" y="28"/>
                  </a:lnTo>
                  <a:lnTo>
                    <a:pt x="179" y="28"/>
                  </a:lnTo>
                  <a:lnTo>
                    <a:pt x="184" y="29"/>
                  </a:lnTo>
                  <a:lnTo>
                    <a:pt x="255" y="50"/>
                  </a:lnTo>
                  <a:lnTo>
                    <a:pt x="259" y="51"/>
                  </a:lnTo>
                  <a:lnTo>
                    <a:pt x="264" y="51"/>
                  </a:lnTo>
                  <a:lnTo>
                    <a:pt x="269" y="51"/>
                  </a:lnTo>
                  <a:lnTo>
                    <a:pt x="274" y="51"/>
                  </a:lnTo>
                  <a:lnTo>
                    <a:pt x="279" y="50"/>
                  </a:lnTo>
                  <a:lnTo>
                    <a:pt x="284" y="50"/>
                  </a:lnTo>
                  <a:lnTo>
                    <a:pt x="289" y="48"/>
                  </a:lnTo>
                  <a:lnTo>
                    <a:pt x="292" y="47"/>
                  </a:lnTo>
                  <a:lnTo>
                    <a:pt x="384" y="5"/>
                  </a:lnTo>
                  <a:lnTo>
                    <a:pt x="389" y="4"/>
                  </a:lnTo>
                  <a:lnTo>
                    <a:pt x="394" y="2"/>
                  </a:lnTo>
                  <a:lnTo>
                    <a:pt x="398" y="1"/>
                  </a:lnTo>
                  <a:lnTo>
                    <a:pt x="404" y="1"/>
                  </a:lnTo>
                  <a:lnTo>
                    <a:pt x="408" y="0"/>
                  </a:lnTo>
                  <a:lnTo>
                    <a:pt x="413" y="0"/>
                  </a:lnTo>
                  <a:lnTo>
                    <a:pt x="417" y="0"/>
                  </a:lnTo>
                  <a:lnTo>
                    <a:pt x="422" y="1"/>
                  </a:lnTo>
                  <a:lnTo>
                    <a:pt x="475" y="10"/>
                  </a:lnTo>
                  <a:lnTo>
                    <a:pt x="482" y="12"/>
                  </a:lnTo>
                  <a:lnTo>
                    <a:pt x="484" y="14"/>
                  </a:lnTo>
                  <a:lnTo>
                    <a:pt x="483" y="18"/>
                  </a:lnTo>
                  <a:lnTo>
                    <a:pt x="477" y="22"/>
                  </a:lnTo>
                  <a:lnTo>
                    <a:pt x="70" y="227"/>
                  </a:lnTo>
                  <a:lnTo>
                    <a:pt x="65" y="229"/>
                  </a:lnTo>
                  <a:lnTo>
                    <a:pt x="60" y="230"/>
                  </a:lnTo>
                  <a:lnTo>
                    <a:pt x="56" y="230"/>
                  </a:lnTo>
                  <a:lnTo>
                    <a:pt x="51" y="230"/>
                  </a:lnTo>
                  <a:lnTo>
                    <a:pt x="47" y="230"/>
                  </a:lnTo>
                  <a:lnTo>
                    <a:pt x="42" y="229"/>
                  </a:lnTo>
                  <a:lnTo>
                    <a:pt x="38" y="228"/>
                  </a:lnTo>
                  <a:lnTo>
                    <a:pt x="35" y="227"/>
                  </a:lnTo>
                  <a:lnTo>
                    <a:pt x="7" y="212"/>
                  </a:lnTo>
                  <a:lnTo>
                    <a:pt x="2" y="208"/>
                  </a:lnTo>
                  <a:lnTo>
                    <a:pt x="0" y="203"/>
                  </a:lnTo>
                  <a:lnTo>
                    <a:pt x="2" y="199"/>
                  </a:lnTo>
                  <a:lnTo>
                    <a:pt x="7" y="194"/>
                  </a:lnTo>
                  <a:lnTo>
                    <a:pt x="118" y="132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9" name="Freeform 285"/>
            <p:cNvSpPr>
              <a:spLocks/>
            </p:cNvSpPr>
            <p:nvPr/>
          </p:nvSpPr>
          <p:spPr bwMode="auto">
            <a:xfrm>
              <a:off x="1184" y="3596"/>
              <a:ext cx="43" cy="41"/>
            </a:xfrm>
            <a:custGeom>
              <a:avLst/>
              <a:gdLst>
                <a:gd name="T0" fmla="*/ 0 w 256"/>
                <a:gd name="T1" fmla="*/ 0 h 247"/>
                <a:gd name="T2" fmla="*/ 0 w 256"/>
                <a:gd name="T3" fmla="*/ 0 h 247"/>
                <a:gd name="T4" fmla="*/ 0 w 256"/>
                <a:gd name="T5" fmla="*/ 0 h 247"/>
                <a:gd name="T6" fmla="*/ 0 w 256"/>
                <a:gd name="T7" fmla="*/ 0 h 247"/>
                <a:gd name="T8" fmla="*/ 0 w 256"/>
                <a:gd name="T9" fmla="*/ 0 h 247"/>
                <a:gd name="T10" fmla="*/ 0 w 256"/>
                <a:gd name="T11" fmla="*/ 0 h 247"/>
                <a:gd name="T12" fmla="*/ 0 w 256"/>
                <a:gd name="T13" fmla="*/ 0 h 247"/>
                <a:gd name="T14" fmla="*/ 0 w 256"/>
                <a:gd name="T15" fmla="*/ 0 h 247"/>
                <a:gd name="T16" fmla="*/ 0 w 256"/>
                <a:gd name="T17" fmla="*/ 0 h 247"/>
                <a:gd name="T18" fmla="*/ 1 w 256"/>
                <a:gd name="T19" fmla="*/ 0 h 247"/>
                <a:gd name="T20" fmla="*/ 1 w 256"/>
                <a:gd name="T21" fmla="*/ 0 h 247"/>
                <a:gd name="T22" fmla="*/ 1 w 256"/>
                <a:gd name="T23" fmla="*/ 0 h 247"/>
                <a:gd name="T24" fmla="*/ 1 w 256"/>
                <a:gd name="T25" fmla="*/ 0 h 247"/>
                <a:gd name="T26" fmla="*/ 1 w 256"/>
                <a:gd name="T27" fmla="*/ 0 h 247"/>
                <a:gd name="T28" fmla="*/ 1 w 256"/>
                <a:gd name="T29" fmla="*/ 0 h 247"/>
                <a:gd name="T30" fmla="*/ 1 w 256"/>
                <a:gd name="T31" fmla="*/ 0 h 247"/>
                <a:gd name="T32" fmla="*/ 1 w 256"/>
                <a:gd name="T33" fmla="*/ 0 h 247"/>
                <a:gd name="T34" fmla="*/ 1 w 256"/>
                <a:gd name="T35" fmla="*/ 0 h 247"/>
                <a:gd name="T36" fmla="*/ 1 w 256"/>
                <a:gd name="T37" fmla="*/ 0 h 247"/>
                <a:gd name="T38" fmla="*/ 1 w 256"/>
                <a:gd name="T39" fmla="*/ 0 h 247"/>
                <a:gd name="T40" fmla="*/ 1 w 256"/>
                <a:gd name="T41" fmla="*/ 0 h 247"/>
                <a:gd name="T42" fmla="*/ 1 w 256"/>
                <a:gd name="T43" fmla="*/ 0 h 247"/>
                <a:gd name="T44" fmla="*/ 1 w 256"/>
                <a:gd name="T45" fmla="*/ 0 h 247"/>
                <a:gd name="T46" fmla="*/ 1 w 256"/>
                <a:gd name="T47" fmla="*/ 1 h 247"/>
                <a:gd name="T48" fmla="*/ 1 w 256"/>
                <a:gd name="T49" fmla="*/ 1 h 247"/>
                <a:gd name="T50" fmla="*/ 1 w 256"/>
                <a:gd name="T51" fmla="*/ 1 h 247"/>
                <a:gd name="T52" fmla="*/ 1 w 256"/>
                <a:gd name="T53" fmla="*/ 1 h 247"/>
                <a:gd name="T54" fmla="*/ 1 w 256"/>
                <a:gd name="T55" fmla="*/ 1 h 247"/>
                <a:gd name="T56" fmla="*/ 1 w 256"/>
                <a:gd name="T57" fmla="*/ 1 h 247"/>
                <a:gd name="T58" fmla="*/ 1 w 256"/>
                <a:gd name="T59" fmla="*/ 1 h 247"/>
                <a:gd name="T60" fmla="*/ 1 w 256"/>
                <a:gd name="T61" fmla="*/ 1 h 247"/>
                <a:gd name="T62" fmla="*/ 1 w 256"/>
                <a:gd name="T63" fmla="*/ 1 h 247"/>
                <a:gd name="T64" fmla="*/ 1 w 256"/>
                <a:gd name="T65" fmla="*/ 1 h 247"/>
                <a:gd name="T66" fmla="*/ 1 w 256"/>
                <a:gd name="T67" fmla="*/ 1 h 247"/>
                <a:gd name="T68" fmla="*/ 1 w 256"/>
                <a:gd name="T69" fmla="*/ 0 h 247"/>
                <a:gd name="T70" fmla="*/ 1 w 256"/>
                <a:gd name="T71" fmla="*/ 0 h 247"/>
                <a:gd name="T72" fmla="*/ 0 w 256"/>
                <a:gd name="T73" fmla="*/ 0 h 247"/>
                <a:gd name="T74" fmla="*/ 0 w 256"/>
                <a:gd name="T75" fmla="*/ 0 h 247"/>
                <a:gd name="T76" fmla="*/ 0 w 256"/>
                <a:gd name="T77" fmla="*/ 0 h 247"/>
                <a:gd name="T78" fmla="*/ 0 w 256"/>
                <a:gd name="T79" fmla="*/ 0 h 24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6"/>
                <a:gd name="T121" fmla="*/ 0 h 247"/>
                <a:gd name="T122" fmla="*/ 256 w 256"/>
                <a:gd name="T123" fmla="*/ 247 h 24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6" h="247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2" y="26"/>
                  </a:lnTo>
                  <a:lnTo>
                    <a:pt x="171" y="33"/>
                  </a:lnTo>
                  <a:lnTo>
                    <a:pt x="178" y="40"/>
                  </a:lnTo>
                  <a:lnTo>
                    <a:pt x="184" y="46"/>
                  </a:lnTo>
                  <a:lnTo>
                    <a:pt x="213" y="98"/>
                  </a:lnTo>
                  <a:lnTo>
                    <a:pt x="218" y="106"/>
                  </a:lnTo>
                  <a:lnTo>
                    <a:pt x="223" y="115"/>
                  </a:lnTo>
                  <a:lnTo>
                    <a:pt x="229" y="124"/>
                  </a:lnTo>
                  <a:lnTo>
                    <a:pt x="234" y="132"/>
                  </a:lnTo>
                  <a:lnTo>
                    <a:pt x="254" y="166"/>
                  </a:lnTo>
                  <a:lnTo>
                    <a:pt x="256" y="172"/>
                  </a:lnTo>
                  <a:lnTo>
                    <a:pt x="256" y="180"/>
                  </a:lnTo>
                  <a:lnTo>
                    <a:pt x="253" y="187"/>
                  </a:lnTo>
                  <a:lnTo>
                    <a:pt x="247" y="193"/>
                  </a:lnTo>
                  <a:lnTo>
                    <a:pt x="153" y="244"/>
                  </a:lnTo>
                  <a:lnTo>
                    <a:pt x="146" y="247"/>
                  </a:lnTo>
                  <a:lnTo>
                    <a:pt x="139" y="245"/>
                  </a:lnTo>
                  <a:lnTo>
                    <a:pt x="134" y="241"/>
                  </a:lnTo>
                  <a:lnTo>
                    <a:pt x="131" y="234"/>
                  </a:lnTo>
                  <a:lnTo>
                    <a:pt x="90" y="83"/>
                  </a:lnTo>
                  <a:lnTo>
                    <a:pt x="87" y="76"/>
                  </a:lnTo>
                  <a:lnTo>
                    <a:pt x="80" y="69"/>
                  </a:lnTo>
                  <a:lnTo>
                    <a:pt x="73" y="63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0" name="Freeform 286"/>
            <p:cNvSpPr>
              <a:spLocks/>
            </p:cNvSpPr>
            <p:nvPr/>
          </p:nvSpPr>
          <p:spPr bwMode="auto">
            <a:xfrm>
              <a:off x="1184" y="3596"/>
              <a:ext cx="27" cy="10"/>
            </a:xfrm>
            <a:custGeom>
              <a:avLst/>
              <a:gdLst>
                <a:gd name="T0" fmla="*/ 0 w 162"/>
                <a:gd name="T1" fmla="*/ 0 h 61"/>
                <a:gd name="T2" fmla="*/ 0 w 162"/>
                <a:gd name="T3" fmla="*/ 0 h 61"/>
                <a:gd name="T4" fmla="*/ 0 w 162"/>
                <a:gd name="T5" fmla="*/ 0 h 61"/>
                <a:gd name="T6" fmla="*/ 0 w 162"/>
                <a:gd name="T7" fmla="*/ 0 h 61"/>
                <a:gd name="T8" fmla="*/ 0 w 162"/>
                <a:gd name="T9" fmla="*/ 0 h 61"/>
                <a:gd name="T10" fmla="*/ 0 w 162"/>
                <a:gd name="T11" fmla="*/ 0 h 61"/>
                <a:gd name="T12" fmla="*/ 0 w 162"/>
                <a:gd name="T13" fmla="*/ 0 h 61"/>
                <a:gd name="T14" fmla="*/ 0 w 162"/>
                <a:gd name="T15" fmla="*/ 0 h 61"/>
                <a:gd name="T16" fmla="*/ 0 w 162"/>
                <a:gd name="T17" fmla="*/ 0 h 61"/>
                <a:gd name="T18" fmla="*/ 0 w 162"/>
                <a:gd name="T19" fmla="*/ 0 h 61"/>
                <a:gd name="T20" fmla="*/ 0 w 162"/>
                <a:gd name="T21" fmla="*/ 0 h 61"/>
                <a:gd name="T22" fmla="*/ 0 w 162"/>
                <a:gd name="T23" fmla="*/ 0 h 61"/>
                <a:gd name="T24" fmla="*/ 0 w 162"/>
                <a:gd name="T25" fmla="*/ 0 h 61"/>
                <a:gd name="T26" fmla="*/ 0 w 162"/>
                <a:gd name="T27" fmla="*/ 0 h 61"/>
                <a:gd name="T28" fmla="*/ 1 w 162"/>
                <a:gd name="T29" fmla="*/ 0 h 61"/>
                <a:gd name="T30" fmla="*/ 1 w 162"/>
                <a:gd name="T31" fmla="*/ 0 h 61"/>
                <a:gd name="T32" fmla="*/ 1 w 162"/>
                <a:gd name="T33" fmla="*/ 0 h 61"/>
                <a:gd name="T34" fmla="*/ 1 w 162"/>
                <a:gd name="T35" fmla="*/ 0 h 61"/>
                <a:gd name="T36" fmla="*/ 1 w 162"/>
                <a:gd name="T37" fmla="*/ 0 h 61"/>
                <a:gd name="T38" fmla="*/ 0 w 162"/>
                <a:gd name="T39" fmla="*/ 0 h 61"/>
                <a:gd name="T40" fmla="*/ 0 w 162"/>
                <a:gd name="T41" fmla="*/ 0 h 61"/>
                <a:gd name="T42" fmla="*/ 0 w 162"/>
                <a:gd name="T43" fmla="*/ 0 h 61"/>
                <a:gd name="T44" fmla="*/ 0 w 162"/>
                <a:gd name="T45" fmla="*/ 0 h 61"/>
                <a:gd name="T46" fmla="*/ 0 w 162"/>
                <a:gd name="T47" fmla="*/ 0 h 61"/>
                <a:gd name="T48" fmla="*/ 0 w 162"/>
                <a:gd name="T49" fmla="*/ 0 h 61"/>
                <a:gd name="T50" fmla="*/ 0 w 162"/>
                <a:gd name="T51" fmla="*/ 0 h 61"/>
                <a:gd name="T52" fmla="*/ 0 w 162"/>
                <a:gd name="T53" fmla="*/ 0 h 61"/>
                <a:gd name="T54" fmla="*/ 0 w 162"/>
                <a:gd name="T55" fmla="*/ 0 h 61"/>
                <a:gd name="T56" fmla="*/ 0 w 162"/>
                <a:gd name="T57" fmla="*/ 0 h 6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2"/>
                <a:gd name="T88" fmla="*/ 0 h 61"/>
                <a:gd name="T89" fmla="*/ 162 w 162"/>
                <a:gd name="T90" fmla="*/ 61 h 6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2" h="61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0" y="26"/>
                  </a:lnTo>
                  <a:lnTo>
                    <a:pt x="162" y="29"/>
                  </a:lnTo>
                  <a:lnTo>
                    <a:pt x="160" y="34"/>
                  </a:lnTo>
                  <a:lnTo>
                    <a:pt x="155" y="37"/>
                  </a:lnTo>
                  <a:lnTo>
                    <a:pt x="103" y="58"/>
                  </a:lnTo>
                  <a:lnTo>
                    <a:pt x="98" y="59"/>
                  </a:lnTo>
                  <a:lnTo>
                    <a:pt x="94" y="60"/>
                  </a:lnTo>
                  <a:lnTo>
                    <a:pt x="89" y="60"/>
                  </a:lnTo>
                  <a:lnTo>
                    <a:pt x="85" y="61"/>
                  </a:lnTo>
                  <a:lnTo>
                    <a:pt x="79" y="61"/>
                  </a:lnTo>
                  <a:lnTo>
                    <a:pt x="74" y="61"/>
                  </a:lnTo>
                  <a:lnTo>
                    <a:pt x="70" y="61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1" name="Freeform 287"/>
            <p:cNvSpPr>
              <a:spLocks/>
            </p:cNvSpPr>
            <p:nvPr/>
          </p:nvSpPr>
          <p:spPr bwMode="auto">
            <a:xfrm>
              <a:off x="1235" y="3575"/>
              <a:ext cx="24" cy="9"/>
            </a:xfrm>
            <a:custGeom>
              <a:avLst/>
              <a:gdLst>
                <a:gd name="T0" fmla="*/ 0 w 144"/>
                <a:gd name="T1" fmla="*/ 0 h 50"/>
                <a:gd name="T2" fmla="*/ 0 w 144"/>
                <a:gd name="T3" fmla="*/ 0 h 50"/>
                <a:gd name="T4" fmla="*/ 0 w 144"/>
                <a:gd name="T5" fmla="*/ 0 h 50"/>
                <a:gd name="T6" fmla="*/ 0 w 144"/>
                <a:gd name="T7" fmla="*/ 0 h 50"/>
                <a:gd name="T8" fmla="*/ 0 w 144"/>
                <a:gd name="T9" fmla="*/ 0 h 50"/>
                <a:gd name="T10" fmla="*/ 0 w 144"/>
                <a:gd name="T11" fmla="*/ 0 h 50"/>
                <a:gd name="T12" fmla="*/ 0 w 144"/>
                <a:gd name="T13" fmla="*/ 0 h 50"/>
                <a:gd name="T14" fmla="*/ 0 w 144"/>
                <a:gd name="T15" fmla="*/ 0 h 50"/>
                <a:gd name="T16" fmla="*/ 0 w 144"/>
                <a:gd name="T17" fmla="*/ 0 h 50"/>
                <a:gd name="T18" fmla="*/ 0 w 144"/>
                <a:gd name="T19" fmla="*/ 0 h 50"/>
                <a:gd name="T20" fmla="*/ 0 w 144"/>
                <a:gd name="T21" fmla="*/ 0 h 50"/>
                <a:gd name="T22" fmla="*/ 0 w 144"/>
                <a:gd name="T23" fmla="*/ 0 h 50"/>
                <a:gd name="T24" fmla="*/ 0 w 144"/>
                <a:gd name="T25" fmla="*/ 0 h 50"/>
                <a:gd name="T26" fmla="*/ 0 w 144"/>
                <a:gd name="T27" fmla="*/ 0 h 50"/>
                <a:gd name="T28" fmla="*/ 1 w 144"/>
                <a:gd name="T29" fmla="*/ 0 h 50"/>
                <a:gd name="T30" fmla="*/ 1 w 144"/>
                <a:gd name="T31" fmla="*/ 0 h 50"/>
                <a:gd name="T32" fmla="*/ 1 w 144"/>
                <a:gd name="T33" fmla="*/ 0 h 50"/>
                <a:gd name="T34" fmla="*/ 1 w 144"/>
                <a:gd name="T35" fmla="*/ 0 h 50"/>
                <a:gd name="T36" fmla="*/ 1 w 144"/>
                <a:gd name="T37" fmla="*/ 0 h 50"/>
                <a:gd name="T38" fmla="*/ 0 w 144"/>
                <a:gd name="T39" fmla="*/ 0 h 50"/>
                <a:gd name="T40" fmla="*/ 0 w 144"/>
                <a:gd name="T41" fmla="*/ 0 h 50"/>
                <a:gd name="T42" fmla="*/ 0 w 144"/>
                <a:gd name="T43" fmla="*/ 0 h 50"/>
                <a:gd name="T44" fmla="*/ 0 w 144"/>
                <a:gd name="T45" fmla="*/ 0 h 50"/>
                <a:gd name="T46" fmla="*/ 0 w 144"/>
                <a:gd name="T47" fmla="*/ 0 h 50"/>
                <a:gd name="T48" fmla="*/ 0 w 144"/>
                <a:gd name="T49" fmla="*/ 0 h 50"/>
                <a:gd name="T50" fmla="*/ 0 w 144"/>
                <a:gd name="T51" fmla="*/ 0 h 50"/>
                <a:gd name="T52" fmla="*/ 0 w 144"/>
                <a:gd name="T53" fmla="*/ 0 h 50"/>
                <a:gd name="T54" fmla="*/ 0 w 144"/>
                <a:gd name="T55" fmla="*/ 0 h 50"/>
                <a:gd name="T56" fmla="*/ 0 w 144"/>
                <a:gd name="T57" fmla="*/ 0 h 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50"/>
                <a:gd name="T89" fmla="*/ 144 w 144"/>
                <a:gd name="T90" fmla="*/ 50 h 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50">
                  <a:moveTo>
                    <a:pt x="7" y="24"/>
                  </a:moveTo>
                  <a:lnTo>
                    <a:pt x="1" y="27"/>
                  </a:lnTo>
                  <a:lnTo>
                    <a:pt x="0" y="31"/>
                  </a:lnTo>
                  <a:lnTo>
                    <a:pt x="2" y="34"/>
                  </a:lnTo>
                  <a:lnTo>
                    <a:pt x="8" y="36"/>
                  </a:lnTo>
                  <a:lnTo>
                    <a:pt x="51" y="47"/>
                  </a:lnTo>
                  <a:lnTo>
                    <a:pt x="55" y="49"/>
                  </a:lnTo>
                  <a:lnTo>
                    <a:pt x="60" y="50"/>
                  </a:lnTo>
                  <a:lnTo>
                    <a:pt x="64" y="50"/>
                  </a:lnTo>
                  <a:lnTo>
                    <a:pt x="70" y="50"/>
                  </a:lnTo>
                  <a:lnTo>
                    <a:pt x="74" y="49"/>
                  </a:lnTo>
                  <a:lnTo>
                    <a:pt x="79" y="47"/>
                  </a:lnTo>
                  <a:lnTo>
                    <a:pt x="83" y="46"/>
                  </a:lnTo>
                  <a:lnTo>
                    <a:pt x="88" y="45"/>
                  </a:lnTo>
                  <a:lnTo>
                    <a:pt x="136" y="25"/>
                  </a:lnTo>
                  <a:lnTo>
                    <a:pt x="142" y="22"/>
                  </a:lnTo>
                  <a:lnTo>
                    <a:pt x="144" y="18"/>
                  </a:lnTo>
                  <a:lnTo>
                    <a:pt x="142" y="15"/>
                  </a:lnTo>
                  <a:lnTo>
                    <a:pt x="136" y="13"/>
                  </a:lnTo>
                  <a:lnTo>
                    <a:pt x="88" y="1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4" y="1"/>
                  </a:lnTo>
                  <a:lnTo>
                    <a:pt x="60" y="2"/>
                  </a:lnTo>
                  <a:lnTo>
                    <a:pt x="55" y="4"/>
                  </a:lnTo>
                  <a:lnTo>
                    <a:pt x="51" y="5"/>
                  </a:lnTo>
                  <a:lnTo>
                    <a:pt x="7" y="24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2" name="Freeform 288"/>
            <p:cNvSpPr>
              <a:spLocks/>
            </p:cNvSpPr>
            <p:nvPr/>
          </p:nvSpPr>
          <p:spPr bwMode="auto">
            <a:xfrm>
              <a:off x="1054" y="3290"/>
              <a:ext cx="224" cy="362"/>
            </a:xfrm>
            <a:custGeom>
              <a:avLst/>
              <a:gdLst>
                <a:gd name="T0" fmla="*/ 0 w 1346"/>
                <a:gd name="T1" fmla="*/ 1 h 2178"/>
                <a:gd name="T2" fmla="*/ 0 w 1346"/>
                <a:gd name="T3" fmla="*/ 1 h 2178"/>
                <a:gd name="T4" fmla="*/ 0 w 1346"/>
                <a:gd name="T5" fmla="*/ 1 h 2178"/>
                <a:gd name="T6" fmla="*/ 0 w 1346"/>
                <a:gd name="T7" fmla="*/ 2 h 2178"/>
                <a:gd name="T8" fmla="*/ 0 w 1346"/>
                <a:gd name="T9" fmla="*/ 9 h 2178"/>
                <a:gd name="T10" fmla="*/ 0 w 1346"/>
                <a:gd name="T11" fmla="*/ 9 h 2178"/>
                <a:gd name="T12" fmla="*/ 0 w 1346"/>
                <a:gd name="T13" fmla="*/ 10 h 2178"/>
                <a:gd name="T14" fmla="*/ 0 w 1346"/>
                <a:gd name="T15" fmla="*/ 10 h 2178"/>
                <a:gd name="T16" fmla="*/ 0 w 1346"/>
                <a:gd name="T17" fmla="*/ 10 h 2178"/>
                <a:gd name="T18" fmla="*/ 3 w 1346"/>
                <a:gd name="T19" fmla="*/ 10 h 2178"/>
                <a:gd name="T20" fmla="*/ 3 w 1346"/>
                <a:gd name="T21" fmla="*/ 10 h 2178"/>
                <a:gd name="T22" fmla="*/ 3 w 1346"/>
                <a:gd name="T23" fmla="*/ 10 h 2178"/>
                <a:gd name="T24" fmla="*/ 3 w 1346"/>
                <a:gd name="T25" fmla="*/ 10 h 2178"/>
                <a:gd name="T26" fmla="*/ 3 w 1346"/>
                <a:gd name="T27" fmla="*/ 10 h 2178"/>
                <a:gd name="T28" fmla="*/ 3 w 1346"/>
                <a:gd name="T29" fmla="*/ 10 h 2178"/>
                <a:gd name="T30" fmla="*/ 4 w 1346"/>
                <a:gd name="T31" fmla="*/ 10 h 2178"/>
                <a:gd name="T32" fmla="*/ 4 w 1346"/>
                <a:gd name="T33" fmla="*/ 9 h 2178"/>
                <a:gd name="T34" fmla="*/ 5 w 1346"/>
                <a:gd name="T35" fmla="*/ 9 h 2178"/>
                <a:gd name="T36" fmla="*/ 5 w 1346"/>
                <a:gd name="T37" fmla="*/ 9 h 2178"/>
                <a:gd name="T38" fmla="*/ 6 w 1346"/>
                <a:gd name="T39" fmla="*/ 9 h 2178"/>
                <a:gd name="T40" fmla="*/ 6 w 1346"/>
                <a:gd name="T41" fmla="*/ 8 h 2178"/>
                <a:gd name="T42" fmla="*/ 6 w 1346"/>
                <a:gd name="T43" fmla="*/ 8 h 2178"/>
                <a:gd name="T44" fmla="*/ 6 w 1346"/>
                <a:gd name="T45" fmla="*/ 8 h 2178"/>
                <a:gd name="T46" fmla="*/ 6 w 1346"/>
                <a:gd name="T47" fmla="*/ 8 h 2178"/>
                <a:gd name="T48" fmla="*/ 6 w 1346"/>
                <a:gd name="T49" fmla="*/ 8 h 2178"/>
                <a:gd name="T50" fmla="*/ 6 w 1346"/>
                <a:gd name="T51" fmla="*/ 1 h 2178"/>
                <a:gd name="T52" fmla="*/ 6 w 1346"/>
                <a:gd name="T53" fmla="*/ 0 h 2178"/>
                <a:gd name="T54" fmla="*/ 6 w 1346"/>
                <a:gd name="T55" fmla="*/ 0 h 2178"/>
                <a:gd name="T56" fmla="*/ 6 w 1346"/>
                <a:gd name="T57" fmla="*/ 0 h 2178"/>
                <a:gd name="T58" fmla="*/ 6 w 1346"/>
                <a:gd name="T59" fmla="*/ 0 h 2178"/>
                <a:gd name="T60" fmla="*/ 3 w 1346"/>
                <a:gd name="T61" fmla="*/ 0 h 2178"/>
                <a:gd name="T62" fmla="*/ 3 w 1346"/>
                <a:gd name="T63" fmla="*/ 0 h 2178"/>
                <a:gd name="T64" fmla="*/ 3 w 1346"/>
                <a:gd name="T65" fmla="*/ 0 h 2178"/>
                <a:gd name="T66" fmla="*/ 3 w 1346"/>
                <a:gd name="T67" fmla="*/ 0 h 2178"/>
                <a:gd name="T68" fmla="*/ 0 w 1346"/>
                <a:gd name="T69" fmla="*/ 1 h 217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346"/>
                <a:gd name="T106" fmla="*/ 0 h 2178"/>
                <a:gd name="T107" fmla="*/ 1346 w 1346"/>
                <a:gd name="T108" fmla="*/ 2178 h 217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346" h="2178">
                  <a:moveTo>
                    <a:pt x="59" y="276"/>
                  </a:moveTo>
                  <a:lnTo>
                    <a:pt x="46" y="283"/>
                  </a:lnTo>
                  <a:lnTo>
                    <a:pt x="36" y="291"/>
                  </a:lnTo>
                  <a:lnTo>
                    <a:pt x="26" y="301"/>
                  </a:lnTo>
                  <a:lnTo>
                    <a:pt x="17" y="312"/>
                  </a:lnTo>
                  <a:lnTo>
                    <a:pt x="10" y="324"/>
                  </a:lnTo>
                  <a:lnTo>
                    <a:pt x="5" y="338"/>
                  </a:lnTo>
                  <a:lnTo>
                    <a:pt x="1" y="351"/>
                  </a:lnTo>
                  <a:lnTo>
                    <a:pt x="0" y="365"/>
                  </a:lnTo>
                  <a:lnTo>
                    <a:pt x="10" y="2038"/>
                  </a:lnTo>
                  <a:lnTo>
                    <a:pt x="11" y="2052"/>
                  </a:lnTo>
                  <a:lnTo>
                    <a:pt x="16" y="2064"/>
                  </a:lnTo>
                  <a:lnTo>
                    <a:pt x="21" y="2076"/>
                  </a:lnTo>
                  <a:lnTo>
                    <a:pt x="29" y="2086"/>
                  </a:lnTo>
                  <a:lnTo>
                    <a:pt x="40" y="2095"/>
                  </a:lnTo>
                  <a:lnTo>
                    <a:pt x="50" y="2103"/>
                  </a:lnTo>
                  <a:lnTo>
                    <a:pt x="62" y="2108"/>
                  </a:lnTo>
                  <a:lnTo>
                    <a:pt x="76" y="2111"/>
                  </a:lnTo>
                  <a:lnTo>
                    <a:pt x="585" y="2176"/>
                  </a:lnTo>
                  <a:lnTo>
                    <a:pt x="598" y="2178"/>
                  </a:lnTo>
                  <a:lnTo>
                    <a:pt x="613" y="2178"/>
                  </a:lnTo>
                  <a:lnTo>
                    <a:pt x="629" y="2176"/>
                  </a:lnTo>
                  <a:lnTo>
                    <a:pt x="645" y="2174"/>
                  </a:lnTo>
                  <a:lnTo>
                    <a:pt x="659" y="2171"/>
                  </a:lnTo>
                  <a:lnTo>
                    <a:pt x="675" y="2166"/>
                  </a:lnTo>
                  <a:lnTo>
                    <a:pt x="689" y="2162"/>
                  </a:lnTo>
                  <a:lnTo>
                    <a:pt x="701" y="2156"/>
                  </a:lnTo>
                  <a:lnTo>
                    <a:pt x="708" y="2153"/>
                  </a:lnTo>
                  <a:lnTo>
                    <a:pt x="726" y="2143"/>
                  </a:lnTo>
                  <a:lnTo>
                    <a:pt x="755" y="2128"/>
                  </a:lnTo>
                  <a:lnTo>
                    <a:pt x="792" y="2108"/>
                  </a:lnTo>
                  <a:lnTo>
                    <a:pt x="836" y="2085"/>
                  </a:lnTo>
                  <a:lnTo>
                    <a:pt x="886" y="2059"/>
                  </a:lnTo>
                  <a:lnTo>
                    <a:pt x="939" y="2031"/>
                  </a:lnTo>
                  <a:lnTo>
                    <a:pt x="995" y="2003"/>
                  </a:lnTo>
                  <a:lnTo>
                    <a:pt x="1049" y="1975"/>
                  </a:lnTo>
                  <a:lnTo>
                    <a:pt x="1102" y="1947"/>
                  </a:lnTo>
                  <a:lnTo>
                    <a:pt x="1151" y="1921"/>
                  </a:lnTo>
                  <a:lnTo>
                    <a:pt x="1195" y="1897"/>
                  </a:lnTo>
                  <a:lnTo>
                    <a:pt x="1233" y="1878"/>
                  </a:lnTo>
                  <a:lnTo>
                    <a:pt x="1262" y="1864"/>
                  </a:lnTo>
                  <a:lnTo>
                    <a:pt x="1280" y="1854"/>
                  </a:lnTo>
                  <a:lnTo>
                    <a:pt x="1287" y="1850"/>
                  </a:lnTo>
                  <a:lnTo>
                    <a:pt x="1298" y="1842"/>
                  </a:lnTo>
                  <a:lnTo>
                    <a:pt x="1309" y="1833"/>
                  </a:lnTo>
                  <a:lnTo>
                    <a:pt x="1319" y="1822"/>
                  </a:lnTo>
                  <a:lnTo>
                    <a:pt x="1328" y="1810"/>
                  </a:lnTo>
                  <a:lnTo>
                    <a:pt x="1334" y="1797"/>
                  </a:lnTo>
                  <a:lnTo>
                    <a:pt x="1339" y="1784"/>
                  </a:lnTo>
                  <a:lnTo>
                    <a:pt x="1342" y="1770"/>
                  </a:lnTo>
                  <a:lnTo>
                    <a:pt x="1343" y="1757"/>
                  </a:lnTo>
                  <a:lnTo>
                    <a:pt x="1346" y="147"/>
                  </a:lnTo>
                  <a:lnTo>
                    <a:pt x="1344" y="133"/>
                  </a:lnTo>
                  <a:lnTo>
                    <a:pt x="1340" y="121"/>
                  </a:lnTo>
                  <a:lnTo>
                    <a:pt x="1334" y="108"/>
                  </a:lnTo>
                  <a:lnTo>
                    <a:pt x="1326" y="98"/>
                  </a:lnTo>
                  <a:lnTo>
                    <a:pt x="1316" y="89"/>
                  </a:lnTo>
                  <a:lnTo>
                    <a:pt x="1306" y="81"/>
                  </a:lnTo>
                  <a:lnTo>
                    <a:pt x="1294" y="76"/>
                  </a:lnTo>
                  <a:lnTo>
                    <a:pt x="1280" y="72"/>
                  </a:lnTo>
                  <a:lnTo>
                    <a:pt x="782" y="3"/>
                  </a:lnTo>
                  <a:lnTo>
                    <a:pt x="769" y="2"/>
                  </a:lnTo>
                  <a:lnTo>
                    <a:pt x="754" y="0"/>
                  </a:lnTo>
                  <a:lnTo>
                    <a:pt x="738" y="2"/>
                  </a:lnTo>
                  <a:lnTo>
                    <a:pt x="722" y="3"/>
                  </a:lnTo>
                  <a:lnTo>
                    <a:pt x="707" y="6"/>
                  </a:lnTo>
                  <a:lnTo>
                    <a:pt x="691" y="9"/>
                  </a:lnTo>
                  <a:lnTo>
                    <a:pt x="677" y="13"/>
                  </a:lnTo>
                  <a:lnTo>
                    <a:pt x="665" y="17"/>
                  </a:lnTo>
                  <a:lnTo>
                    <a:pt x="59" y="27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3" name="Freeform 289"/>
            <p:cNvSpPr>
              <a:spLocks/>
            </p:cNvSpPr>
            <p:nvPr/>
          </p:nvSpPr>
          <p:spPr bwMode="auto">
            <a:xfrm>
              <a:off x="1055" y="3291"/>
              <a:ext cx="222" cy="360"/>
            </a:xfrm>
            <a:custGeom>
              <a:avLst/>
              <a:gdLst>
                <a:gd name="T0" fmla="*/ 0 w 1332"/>
                <a:gd name="T1" fmla="*/ 1 h 2163"/>
                <a:gd name="T2" fmla="*/ 0 w 1332"/>
                <a:gd name="T3" fmla="*/ 1 h 2163"/>
                <a:gd name="T4" fmla="*/ 0 w 1332"/>
                <a:gd name="T5" fmla="*/ 1 h 2163"/>
                <a:gd name="T6" fmla="*/ 0 w 1332"/>
                <a:gd name="T7" fmla="*/ 1 h 2163"/>
                <a:gd name="T8" fmla="*/ 0 w 1332"/>
                <a:gd name="T9" fmla="*/ 1 h 2163"/>
                <a:gd name="T10" fmla="*/ 0 w 1332"/>
                <a:gd name="T11" fmla="*/ 1 h 2163"/>
                <a:gd name="T12" fmla="*/ 0 w 1332"/>
                <a:gd name="T13" fmla="*/ 1 h 2163"/>
                <a:gd name="T14" fmla="*/ 0 w 1332"/>
                <a:gd name="T15" fmla="*/ 1 h 2163"/>
                <a:gd name="T16" fmla="*/ 0 w 1332"/>
                <a:gd name="T17" fmla="*/ 2 h 2163"/>
                <a:gd name="T18" fmla="*/ 0 w 1332"/>
                <a:gd name="T19" fmla="*/ 9 h 2163"/>
                <a:gd name="T20" fmla="*/ 0 w 1332"/>
                <a:gd name="T21" fmla="*/ 9 h 2163"/>
                <a:gd name="T22" fmla="*/ 0 w 1332"/>
                <a:gd name="T23" fmla="*/ 9 h 2163"/>
                <a:gd name="T24" fmla="*/ 0 w 1332"/>
                <a:gd name="T25" fmla="*/ 9 h 2163"/>
                <a:gd name="T26" fmla="*/ 0 w 1332"/>
                <a:gd name="T27" fmla="*/ 9 h 2163"/>
                <a:gd name="T28" fmla="*/ 0 w 1332"/>
                <a:gd name="T29" fmla="*/ 10 h 2163"/>
                <a:gd name="T30" fmla="*/ 0 w 1332"/>
                <a:gd name="T31" fmla="*/ 10 h 2163"/>
                <a:gd name="T32" fmla="*/ 0 w 1332"/>
                <a:gd name="T33" fmla="*/ 10 h 2163"/>
                <a:gd name="T34" fmla="*/ 0 w 1332"/>
                <a:gd name="T35" fmla="*/ 10 h 2163"/>
                <a:gd name="T36" fmla="*/ 3 w 1332"/>
                <a:gd name="T37" fmla="*/ 10 h 2163"/>
                <a:gd name="T38" fmla="*/ 3 w 1332"/>
                <a:gd name="T39" fmla="*/ 10 h 2163"/>
                <a:gd name="T40" fmla="*/ 3 w 1332"/>
                <a:gd name="T41" fmla="*/ 10 h 2163"/>
                <a:gd name="T42" fmla="*/ 3 w 1332"/>
                <a:gd name="T43" fmla="*/ 10 h 2163"/>
                <a:gd name="T44" fmla="*/ 3 w 1332"/>
                <a:gd name="T45" fmla="*/ 10 h 2163"/>
                <a:gd name="T46" fmla="*/ 3 w 1332"/>
                <a:gd name="T47" fmla="*/ 10 h 2163"/>
                <a:gd name="T48" fmla="*/ 3 w 1332"/>
                <a:gd name="T49" fmla="*/ 10 h 2163"/>
                <a:gd name="T50" fmla="*/ 3 w 1332"/>
                <a:gd name="T51" fmla="*/ 10 h 2163"/>
                <a:gd name="T52" fmla="*/ 3 w 1332"/>
                <a:gd name="T53" fmla="*/ 10 h 2163"/>
                <a:gd name="T54" fmla="*/ 6 w 1332"/>
                <a:gd name="T55" fmla="*/ 8 h 2163"/>
                <a:gd name="T56" fmla="*/ 6 w 1332"/>
                <a:gd name="T57" fmla="*/ 8 h 2163"/>
                <a:gd name="T58" fmla="*/ 6 w 1332"/>
                <a:gd name="T59" fmla="*/ 8 h 2163"/>
                <a:gd name="T60" fmla="*/ 6 w 1332"/>
                <a:gd name="T61" fmla="*/ 8 h 2163"/>
                <a:gd name="T62" fmla="*/ 6 w 1332"/>
                <a:gd name="T63" fmla="*/ 8 h 2163"/>
                <a:gd name="T64" fmla="*/ 6 w 1332"/>
                <a:gd name="T65" fmla="*/ 8 h 2163"/>
                <a:gd name="T66" fmla="*/ 6 w 1332"/>
                <a:gd name="T67" fmla="*/ 8 h 2163"/>
                <a:gd name="T68" fmla="*/ 6 w 1332"/>
                <a:gd name="T69" fmla="*/ 8 h 2163"/>
                <a:gd name="T70" fmla="*/ 6 w 1332"/>
                <a:gd name="T71" fmla="*/ 8 h 2163"/>
                <a:gd name="T72" fmla="*/ 6 w 1332"/>
                <a:gd name="T73" fmla="*/ 1 h 2163"/>
                <a:gd name="T74" fmla="*/ 6 w 1332"/>
                <a:gd name="T75" fmla="*/ 0 h 2163"/>
                <a:gd name="T76" fmla="*/ 6 w 1332"/>
                <a:gd name="T77" fmla="*/ 0 h 2163"/>
                <a:gd name="T78" fmla="*/ 6 w 1332"/>
                <a:gd name="T79" fmla="*/ 0 h 2163"/>
                <a:gd name="T80" fmla="*/ 6 w 1332"/>
                <a:gd name="T81" fmla="*/ 0 h 2163"/>
                <a:gd name="T82" fmla="*/ 6 w 1332"/>
                <a:gd name="T83" fmla="*/ 0 h 2163"/>
                <a:gd name="T84" fmla="*/ 6 w 1332"/>
                <a:gd name="T85" fmla="*/ 0 h 2163"/>
                <a:gd name="T86" fmla="*/ 6 w 1332"/>
                <a:gd name="T87" fmla="*/ 0 h 2163"/>
                <a:gd name="T88" fmla="*/ 6 w 1332"/>
                <a:gd name="T89" fmla="*/ 0 h 2163"/>
                <a:gd name="T90" fmla="*/ 4 w 1332"/>
                <a:gd name="T91" fmla="*/ 0 h 2163"/>
                <a:gd name="T92" fmla="*/ 3 w 1332"/>
                <a:gd name="T93" fmla="*/ 0 h 2163"/>
                <a:gd name="T94" fmla="*/ 3 w 1332"/>
                <a:gd name="T95" fmla="*/ 0 h 2163"/>
                <a:gd name="T96" fmla="*/ 3 w 1332"/>
                <a:gd name="T97" fmla="*/ 0 h 2163"/>
                <a:gd name="T98" fmla="*/ 3 w 1332"/>
                <a:gd name="T99" fmla="*/ 0 h 2163"/>
                <a:gd name="T100" fmla="*/ 3 w 1332"/>
                <a:gd name="T101" fmla="*/ 0 h 2163"/>
                <a:gd name="T102" fmla="*/ 3 w 1332"/>
                <a:gd name="T103" fmla="*/ 0 h 2163"/>
                <a:gd name="T104" fmla="*/ 3 w 1332"/>
                <a:gd name="T105" fmla="*/ 0 h 2163"/>
                <a:gd name="T106" fmla="*/ 3 w 1332"/>
                <a:gd name="T107" fmla="*/ 0 h 2163"/>
                <a:gd name="T108" fmla="*/ 0 w 1332"/>
                <a:gd name="T109" fmla="*/ 1 h 216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332"/>
                <a:gd name="T166" fmla="*/ 0 h 2163"/>
                <a:gd name="T167" fmla="*/ 1332 w 1332"/>
                <a:gd name="T168" fmla="*/ 2163 h 216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332" h="2163">
                  <a:moveTo>
                    <a:pt x="55" y="274"/>
                  </a:moveTo>
                  <a:lnTo>
                    <a:pt x="44" y="279"/>
                  </a:lnTo>
                  <a:lnTo>
                    <a:pt x="34" y="288"/>
                  </a:lnTo>
                  <a:lnTo>
                    <a:pt x="25" y="297"/>
                  </a:lnTo>
                  <a:lnTo>
                    <a:pt x="16" y="307"/>
                  </a:lnTo>
                  <a:lnTo>
                    <a:pt x="9" y="320"/>
                  </a:lnTo>
                  <a:lnTo>
                    <a:pt x="4" y="331"/>
                  </a:lnTo>
                  <a:lnTo>
                    <a:pt x="1" y="343"/>
                  </a:lnTo>
                  <a:lnTo>
                    <a:pt x="0" y="356"/>
                  </a:lnTo>
                  <a:lnTo>
                    <a:pt x="10" y="2030"/>
                  </a:lnTo>
                  <a:lnTo>
                    <a:pt x="11" y="2042"/>
                  </a:lnTo>
                  <a:lnTo>
                    <a:pt x="14" y="2054"/>
                  </a:lnTo>
                  <a:lnTo>
                    <a:pt x="20" y="2065"/>
                  </a:lnTo>
                  <a:lnTo>
                    <a:pt x="28" y="2074"/>
                  </a:lnTo>
                  <a:lnTo>
                    <a:pt x="36" y="2083"/>
                  </a:lnTo>
                  <a:lnTo>
                    <a:pt x="46" y="2090"/>
                  </a:lnTo>
                  <a:lnTo>
                    <a:pt x="57" y="2094"/>
                  </a:lnTo>
                  <a:lnTo>
                    <a:pt x="69" y="2096"/>
                  </a:lnTo>
                  <a:lnTo>
                    <a:pt x="579" y="2162"/>
                  </a:lnTo>
                  <a:lnTo>
                    <a:pt x="592" y="2163"/>
                  </a:lnTo>
                  <a:lnTo>
                    <a:pt x="606" y="2163"/>
                  </a:lnTo>
                  <a:lnTo>
                    <a:pt x="621" y="2162"/>
                  </a:lnTo>
                  <a:lnTo>
                    <a:pt x="636" y="2159"/>
                  </a:lnTo>
                  <a:lnTo>
                    <a:pt x="651" y="2156"/>
                  </a:lnTo>
                  <a:lnTo>
                    <a:pt x="666" y="2152"/>
                  </a:lnTo>
                  <a:lnTo>
                    <a:pt x="679" y="2147"/>
                  </a:lnTo>
                  <a:lnTo>
                    <a:pt x="691" y="2141"/>
                  </a:lnTo>
                  <a:lnTo>
                    <a:pt x="1277" y="1835"/>
                  </a:lnTo>
                  <a:lnTo>
                    <a:pt x="1287" y="1829"/>
                  </a:lnTo>
                  <a:lnTo>
                    <a:pt x="1297" y="1821"/>
                  </a:lnTo>
                  <a:lnTo>
                    <a:pt x="1306" y="1811"/>
                  </a:lnTo>
                  <a:lnTo>
                    <a:pt x="1314" y="1798"/>
                  </a:lnTo>
                  <a:lnTo>
                    <a:pt x="1321" y="1787"/>
                  </a:lnTo>
                  <a:lnTo>
                    <a:pt x="1325" y="1774"/>
                  </a:lnTo>
                  <a:lnTo>
                    <a:pt x="1328" y="1761"/>
                  </a:lnTo>
                  <a:lnTo>
                    <a:pt x="1330" y="1749"/>
                  </a:lnTo>
                  <a:lnTo>
                    <a:pt x="1332" y="139"/>
                  </a:lnTo>
                  <a:lnTo>
                    <a:pt x="1331" y="126"/>
                  </a:lnTo>
                  <a:lnTo>
                    <a:pt x="1327" y="115"/>
                  </a:lnTo>
                  <a:lnTo>
                    <a:pt x="1322" y="104"/>
                  </a:lnTo>
                  <a:lnTo>
                    <a:pt x="1314" y="95"/>
                  </a:lnTo>
                  <a:lnTo>
                    <a:pt x="1306" y="86"/>
                  </a:lnTo>
                  <a:lnTo>
                    <a:pt x="1296" y="79"/>
                  </a:lnTo>
                  <a:lnTo>
                    <a:pt x="1284" y="75"/>
                  </a:lnTo>
                  <a:lnTo>
                    <a:pt x="1272" y="71"/>
                  </a:lnTo>
                  <a:lnTo>
                    <a:pt x="774" y="1"/>
                  </a:lnTo>
                  <a:lnTo>
                    <a:pt x="761" y="0"/>
                  </a:lnTo>
                  <a:lnTo>
                    <a:pt x="747" y="0"/>
                  </a:lnTo>
                  <a:lnTo>
                    <a:pt x="731" y="0"/>
                  </a:lnTo>
                  <a:lnTo>
                    <a:pt x="717" y="3"/>
                  </a:lnTo>
                  <a:lnTo>
                    <a:pt x="701" y="5"/>
                  </a:lnTo>
                  <a:lnTo>
                    <a:pt x="686" y="8"/>
                  </a:lnTo>
                  <a:lnTo>
                    <a:pt x="673" y="12"/>
                  </a:lnTo>
                  <a:lnTo>
                    <a:pt x="660" y="16"/>
                  </a:lnTo>
                  <a:lnTo>
                    <a:pt x="55" y="27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4" name="Freeform 290"/>
            <p:cNvSpPr>
              <a:spLocks/>
            </p:cNvSpPr>
            <p:nvPr/>
          </p:nvSpPr>
          <p:spPr bwMode="auto">
            <a:xfrm>
              <a:off x="1163" y="3311"/>
              <a:ext cx="111" cy="334"/>
            </a:xfrm>
            <a:custGeom>
              <a:avLst/>
              <a:gdLst>
                <a:gd name="T0" fmla="*/ 3 w 662"/>
                <a:gd name="T1" fmla="*/ 7 h 2007"/>
                <a:gd name="T2" fmla="*/ 3 w 662"/>
                <a:gd name="T3" fmla="*/ 7 h 2007"/>
                <a:gd name="T4" fmla="*/ 3 w 662"/>
                <a:gd name="T5" fmla="*/ 8 h 2007"/>
                <a:gd name="T6" fmla="*/ 3 w 662"/>
                <a:gd name="T7" fmla="*/ 8 h 2007"/>
                <a:gd name="T8" fmla="*/ 3 w 662"/>
                <a:gd name="T9" fmla="*/ 8 h 2007"/>
                <a:gd name="T10" fmla="*/ 3 w 662"/>
                <a:gd name="T11" fmla="*/ 8 h 2007"/>
                <a:gd name="T12" fmla="*/ 3 w 662"/>
                <a:gd name="T13" fmla="*/ 8 h 2007"/>
                <a:gd name="T14" fmla="*/ 3 w 662"/>
                <a:gd name="T15" fmla="*/ 8 h 2007"/>
                <a:gd name="T16" fmla="*/ 3 w 662"/>
                <a:gd name="T17" fmla="*/ 8 h 2007"/>
                <a:gd name="T18" fmla="*/ 0 w 662"/>
                <a:gd name="T19" fmla="*/ 9 h 2007"/>
                <a:gd name="T20" fmla="*/ 0 w 662"/>
                <a:gd name="T21" fmla="*/ 9 h 2007"/>
                <a:gd name="T22" fmla="*/ 0 w 662"/>
                <a:gd name="T23" fmla="*/ 9 h 2007"/>
                <a:gd name="T24" fmla="*/ 0 w 662"/>
                <a:gd name="T25" fmla="*/ 9 h 2007"/>
                <a:gd name="T26" fmla="*/ 0 w 662"/>
                <a:gd name="T27" fmla="*/ 9 h 2007"/>
                <a:gd name="T28" fmla="*/ 0 w 662"/>
                <a:gd name="T29" fmla="*/ 9 h 2007"/>
                <a:gd name="T30" fmla="*/ 0 w 662"/>
                <a:gd name="T31" fmla="*/ 9 h 2007"/>
                <a:gd name="T32" fmla="*/ 0 w 662"/>
                <a:gd name="T33" fmla="*/ 9 h 2007"/>
                <a:gd name="T34" fmla="*/ 0 w 662"/>
                <a:gd name="T35" fmla="*/ 9 h 2007"/>
                <a:gd name="T36" fmla="*/ 0 w 662"/>
                <a:gd name="T37" fmla="*/ 1 h 2007"/>
                <a:gd name="T38" fmla="*/ 0 w 662"/>
                <a:gd name="T39" fmla="*/ 1 h 2007"/>
                <a:gd name="T40" fmla="*/ 0 w 662"/>
                <a:gd name="T41" fmla="*/ 1 h 2007"/>
                <a:gd name="T42" fmla="*/ 0 w 662"/>
                <a:gd name="T43" fmla="*/ 1 h 2007"/>
                <a:gd name="T44" fmla="*/ 0 w 662"/>
                <a:gd name="T45" fmla="*/ 1 h 2007"/>
                <a:gd name="T46" fmla="*/ 0 w 662"/>
                <a:gd name="T47" fmla="*/ 1 h 2007"/>
                <a:gd name="T48" fmla="*/ 0 w 662"/>
                <a:gd name="T49" fmla="*/ 1 h 2007"/>
                <a:gd name="T50" fmla="*/ 0 w 662"/>
                <a:gd name="T51" fmla="*/ 1 h 2007"/>
                <a:gd name="T52" fmla="*/ 0 w 662"/>
                <a:gd name="T53" fmla="*/ 1 h 2007"/>
                <a:gd name="T54" fmla="*/ 0 w 662"/>
                <a:gd name="T55" fmla="*/ 1 h 2007"/>
                <a:gd name="T56" fmla="*/ 0 w 662"/>
                <a:gd name="T57" fmla="*/ 1 h 2007"/>
                <a:gd name="T58" fmla="*/ 1 w 662"/>
                <a:gd name="T59" fmla="*/ 1 h 2007"/>
                <a:gd name="T60" fmla="*/ 1 w 662"/>
                <a:gd name="T61" fmla="*/ 1 h 2007"/>
                <a:gd name="T62" fmla="*/ 1 w 662"/>
                <a:gd name="T63" fmla="*/ 1 h 2007"/>
                <a:gd name="T64" fmla="*/ 1 w 662"/>
                <a:gd name="T65" fmla="*/ 1 h 2007"/>
                <a:gd name="T66" fmla="*/ 1 w 662"/>
                <a:gd name="T67" fmla="*/ 1 h 2007"/>
                <a:gd name="T68" fmla="*/ 2 w 662"/>
                <a:gd name="T69" fmla="*/ 1 h 2007"/>
                <a:gd name="T70" fmla="*/ 2 w 662"/>
                <a:gd name="T71" fmla="*/ 0 h 2007"/>
                <a:gd name="T72" fmla="*/ 2 w 662"/>
                <a:gd name="T73" fmla="*/ 0 h 2007"/>
                <a:gd name="T74" fmla="*/ 2 w 662"/>
                <a:gd name="T75" fmla="*/ 0 h 2007"/>
                <a:gd name="T76" fmla="*/ 3 w 662"/>
                <a:gd name="T77" fmla="*/ 0 h 2007"/>
                <a:gd name="T78" fmla="*/ 3 w 662"/>
                <a:gd name="T79" fmla="*/ 0 h 2007"/>
                <a:gd name="T80" fmla="*/ 3 w 662"/>
                <a:gd name="T81" fmla="*/ 0 h 2007"/>
                <a:gd name="T82" fmla="*/ 3 w 662"/>
                <a:gd name="T83" fmla="*/ 0 h 2007"/>
                <a:gd name="T84" fmla="*/ 3 w 662"/>
                <a:gd name="T85" fmla="*/ 0 h 2007"/>
                <a:gd name="T86" fmla="*/ 3 w 662"/>
                <a:gd name="T87" fmla="*/ 0 h 2007"/>
                <a:gd name="T88" fmla="*/ 3 w 662"/>
                <a:gd name="T89" fmla="*/ 0 h 2007"/>
                <a:gd name="T90" fmla="*/ 3 w 662"/>
                <a:gd name="T91" fmla="*/ 0 h 2007"/>
                <a:gd name="T92" fmla="*/ 3 w 662"/>
                <a:gd name="T93" fmla="*/ 0 h 2007"/>
                <a:gd name="T94" fmla="*/ 3 w 662"/>
                <a:gd name="T95" fmla="*/ 0 h 2007"/>
                <a:gd name="T96" fmla="*/ 3 w 662"/>
                <a:gd name="T97" fmla="*/ 0 h 2007"/>
                <a:gd name="T98" fmla="*/ 3 w 662"/>
                <a:gd name="T99" fmla="*/ 0 h 2007"/>
                <a:gd name="T100" fmla="*/ 3 w 662"/>
                <a:gd name="T101" fmla="*/ 0 h 2007"/>
                <a:gd name="T102" fmla="*/ 3 w 662"/>
                <a:gd name="T103" fmla="*/ 7 h 20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62"/>
                <a:gd name="T157" fmla="*/ 0 h 2007"/>
                <a:gd name="T158" fmla="*/ 662 w 662"/>
                <a:gd name="T159" fmla="*/ 2007 h 20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62" h="2007">
                  <a:moveTo>
                    <a:pt x="661" y="1629"/>
                  </a:moveTo>
                  <a:lnTo>
                    <a:pt x="660" y="1639"/>
                  </a:lnTo>
                  <a:lnTo>
                    <a:pt x="658" y="1648"/>
                  </a:lnTo>
                  <a:lnTo>
                    <a:pt x="653" y="1658"/>
                  </a:lnTo>
                  <a:lnTo>
                    <a:pt x="649" y="1668"/>
                  </a:lnTo>
                  <a:lnTo>
                    <a:pt x="642" y="1677"/>
                  </a:lnTo>
                  <a:lnTo>
                    <a:pt x="635" y="1685"/>
                  </a:lnTo>
                  <a:lnTo>
                    <a:pt x="627" y="1692"/>
                  </a:lnTo>
                  <a:lnTo>
                    <a:pt x="619" y="1697"/>
                  </a:lnTo>
                  <a:lnTo>
                    <a:pt x="34" y="2003"/>
                  </a:lnTo>
                  <a:lnTo>
                    <a:pt x="28" y="2006"/>
                  </a:lnTo>
                  <a:lnTo>
                    <a:pt x="23" y="2007"/>
                  </a:lnTo>
                  <a:lnTo>
                    <a:pt x="20" y="2007"/>
                  </a:lnTo>
                  <a:lnTo>
                    <a:pt x="17" y="2006"/>
                  </a:lnTo>
                  <a:lnTo>
                    <a:pt x="14" y="2003"/>
                  </a:lnTo>
                  <a:lnTo>
                    <a:pt x="12" y="2000"/>
                  </a:lnTo>
                  <a:lnTo>
                    <a:pt x="11" y="1996"/>
                  </a:lnTo>
                  <a:lnTo>
                    <a:pt x="11" y="1990"/>
                  </a:lnTo>
                  <a:lnTo>
                    <a:pt x="0" y="324"/>
                  </a:lnTo>
                  <a:lnTo>
                    <a:pt x="0" y="315"/>
                  </a:lnTo>
                  <a:lnTo>
                    <a:pt x="3" y="304"/>
                  </a:lnTo>
                  <a:lnTo>
                    <a:pt x="7" y="295"/>
                  </a:lnTo>
                  <a:lnTo>
                    <a:pt x="12" y="286"/>
                  </a:lnTo>
                  <a:lnTo>
                    <a:pt x="18" y="277"/>
                  </a:lnTo>
                  <a:lnTo>
                    <a:pt x="25" y="271"/>
                  </a:lnTo>
                  <a:lnTo>
                    <a:pt x="32" y="264"/>
                  </a:lnTo>
                  <a:lnTo>
                    <a:pt x="40" y="259"/>
                  </a:lnTo>
                  <a:lnTo>
                    <a:pt x="47" y="256"/>
                  </a:lnTo>
                  <a:lnTo>
                    <a:pt x="66" y="248"/>
                  </a:lnTo>
                  <a:lnTo>
                    <a:pt x="96" y="236"/>
                  </a:lnTo>
                  <a:lnTo>
                    <a:pt x="134" y="219"/>
                  </a:lnTo>
                  <a:lnTo>
                    <a:pt x="179" y="200"/>
                  </a:lnTo>
                  <a:lnTo>
                    <a:pt x="229" y="178"/>
                  </a:lnTo>
                  <a:lnTo>
                    <a:pt x="283" y="155"/>
                  </a:lnTo>
                  <a:lnTo>
                    <a:pt x="340" y="131"/>
                  </a:lnTo>
                  <a:lnTo>
                    <a:pt x="395" y="108"/>
                  </a:lnTo>
                  <a:lnTo>
                    <a:pt x="449" y="84"/>
                  </a:lnTo>
                  <a:lnTo>
                    <a:pt x="499" y="63"/>
                  </a:lnTo>
                  <a:lnTo>
                    <a:pt x="544" y="43"/>
                  </a:lnTo>
                  <a:lnTo>
                    <a:pt x="582" y="27"/>
                  </a:lnTo>
                  <a:lnTo>
                    <a:pt x="612" y="14"/>
                  </a:lnTo>
                  <a:lnTo>
                    <a:pt x="631" y="6"/>
                  </a:lnTo>
                  <a:lnTo>
                    <a:pt x="638" y="3"/>
                  </a:lnTo>
                  <a:lnTo>
                    <a:pt x="643" y="1"/>
                  </a:lnTo>
                  <a:lnTo>
                    <a:pt x="649" y="0"/>
                  </a:lnTo>
                  <a:lnTo>
                    <a:pt x="652" y="0"/>
                  </a:lnTo>
                  <a:lnTo>
                    <a:pt x="656" y="2"/>
                  </a:lnTo>
                  <a:lnTo>
                    <a:pt x="659" y="4"/>
                  </a:lnTo>
                  <a:lnTo>
                    <a:pt x="661" y="9"/>
                  </a:lnTo>
                  <a:lnTo>
                    <a:pt x="662" y="13"/>
                  </a:lnTo>
                  <a:lnTo>
                    <a:pt x="662" y="19"/>
                  </a:lnTo>
                  <a:lnTo>
                    <a:pt x="661" y="16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5" name="Freeform 291"/>
            <p:cNvSpPr>
              <a:spLocks/>
            </p:cNvSpPr>
            <p:nvPr/>
          </p:nvSpPr>
          <p:spPr bwMode="auto">
            <a:xfrm>
              <a:off x="1068" y="3294"/>
              <a:ext cx="196" cy="56"/>
            </a:xfrm>
            <a:custGeom>
              <a:avLst/>
              <a:gdLst>
                <a:gd name="T0" fmla="*/ 3 w 1178"/>
                <a:gd name="T1" fmla="*/ 0 h 336"/>
                <a:gd name="T2" fmla="*/ 2 w 1178"/>
                <a:gd name="T3" fmla="*/ 0 h 336"/>
                <a:gd name="T4" fmla="*/ 2 w 1178"/>
                <a:gd name="T5" fmla="*/ 0 h 336"/>
                <a:gd name="T6" fmla="*/ 2 w 1178"/>
                <a:gd name="T7" fmla="*/ 0 h 336"/>
                <a:gd name="T8" fmla="*/ 1 w 1178"/>
                <a:gd name="T9" fmla="*/ 1 h 336"/>
                <a:gd name="T10" fmla="*/ 1 w 1178"/>
                <a:gd name="T11" fmla="*/ 1 h 336"/>
                <a:gd name="T12" fmla="*/ 0 w 1178"/>
                <a:gd name="T13" fmla="*/ 1 h 336"/>
                <a:gd name="T14" fmla="*/ 0 w 1178"/>
                <a:gd name="T15" fmla="*/ 1 h 336"/>
                <a:gd name="T16" fmla="*/ 0 w 1178"/>
                <a:gd name="T17" fmla="*/ 1 h 336"/>
                <a:gd name="T18" fmla="*/ 0 w 1178"/>
                <a:gd name="T19" fmla="*/ 1 h 336"/>
                <a:gd name="T20" fmla="*/ 0 w 1178"/>
                <a:gd name="T21" fmla="*/ 1 h 336"/>
                <a:gd name="T22" fmla="*/ 1 w 1178"/>
                <a:gd name="T23" fmla="*/ 1 h 336"/>
                <a:gd name="T24" fmla="*/ 1 w 1178"/>
                <a:gd name="T25" fmla="*/ 1 h 336"/>
                <a:gd name="T26" fmla="*/ 2 w 1178"/>
                <a:gd name="T27" fmla="*/ 2 h 336"/>
                <a:gd name="T28" fmla="*/ 2 w 1178"/>
                <a:gd name="T29" fmla="*/ 2 h 336"/>
                <a:gd name="T30" fmla="*/ 2 w 1178"/>
                <a:gd name="T31" fmla="*/ 2 h 336"/>
                <a:gd name="T32" fmla="*/ 2 w 1178"/>
                <a:gd name="T33" fmla="*/ 2 h 336"/>
                <a:gd name="T34" fmla="*/ 2 w 1178"/>
                <a:gd name="T35" fmla="*/ 2 h 336"/>
                <a:gd name="T36" fmla="*/ 2 w 1178"/>
                <a:gd name="T37" fmla="*/ 2 h 336"/>
                <a:gd name="T38" fmla="*/ 3 w 1178"/>
                <a:gd name="T39" fmla="*/ 2 h 336"/>
                <a:gd name="T40" fmla="*/ 3 w 1178"/>
                <a:gd name="T41" fmla="*/ 2 h 336"/>
                <a:gd name="T42" fmla="*/ 3 w 1178"/>
                <a:gd name="T43" fmla="*/ 1 h 336"/>
                <a:gd name="T44" fmla="*/ 3 w 1178"/>
                <a:gd name="T45" fmla="*/ 1 h 336"/>
                <a:gd name="T46" fmla="*/ 4 w 1178"/>
                <a:gd name="T47" fmla="*/ 1 h 336"/>
                <a:gd name="T48" fmla="*/ 4 w 1178"/>
                <a:gd name="T49" fmla="*/ 1 h 336"/>
                <a:gd name="T50" fmla="*/ 5 w 1178"/>
                <a:gd name="T51" fmla="*/ 1 h 336"/>
                <a:gd name="T52" fmla="*/ 5 w 1178"/>
                <a:gd name="T53" fmla="*/ 0 h 336"/>
                <a:gd name="T54" fmla="*/ 5 w 1178"/>
                <a:gd name="T55" fmla="*/ 0 h 336"/>
                <a:gd name="T56" fmla="*/ 3 w 1178"/>
                <a:gd name="T57" fmla="*/ 0 h 336"/>
                <a:gd name="T58" fmla="*/ 3 w 1178"/>
                <a:gd name="T59" fmla="*/ 0 h 336"/>
                <a:gd name="T60" fmla="*/ 3 w 1178"/>
                <a:gd name="T61" fmla="*/ 0 h 336"/>
                <a:gd name="T62" fmla="*/ 3 w 1178"/>
                <a:gd name="T63" fmla="*/ 0 h 336"/>
                <a:gd name="T64" fmla="*/ 3 w 1178"/>
                <a:gd name="T65" fmla="*/ 0 h 3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8"/>
                <a:gd name="T100" fmla="*/ 0 h 336"/>
                <a:gd name="T101" fmla="*/ 1178 w 1178"/>
                <a:gd name="T102" fmla="*/ 336 h 3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8" h="336">
                  <a:moveTo>
                    <a:pt x="591" y="14"/>
                  </a:moveTo>
                  <a:lnTo>
                    <a:pt x="584" y="16"/>
                  </a:lnTo>
                  <a:lnTo>
                    <a:pt x="566" y="24"/>
                  </a:lnTo>
                  <a:lnTo>
                    <a:pt x="539" y="37"/>
                  </a:lnTo>
                  <a:lnTo>
                    <a:pt x="503" y="52"/>
                  </a:lnTo>
                  <a:lnTo>
                    <a:pt x="459" y="70"/>
                  </a:lnTo>
                  <a:lnTo>
                    <a:pt x="412" y="91"/>
                  </a:lnTo>
                  <a:lnTo>
                    <a:pt x="360" y="113"/>
                  </a:lnTo>
                  <a:lnTo>
                    <a:pt x="305" y="136"/>
                  </a:lnTo>
                  <a:lnTo>
                    <a:pt x="251" y="159"/>
                  </a:lnTo>
                  <a:lnTo>
                    <a:pt x="198" y="182"/>
                  </a:lnTo>
                  <a:lnTo>
                    <a:pt x="149" y="203"/>
                  </a:lnTo>
                  <a:lnTo>
                    <a:pt x="103" y="222"/>
                  </a:lnTo>
                  <a:lnTo>
                    <a:pt x="64" y="239"/>
                  </a:lnTo>
                  <a:lnTo>
                    <a:pt x="32" y="253"/>
                  </a:lnTo>
                  <a:lnTo>
                    <a:pt x="11" y="262"/>
                  </a:lnTo>
                  <a:lnTo>
                    <a:pt x="0" y="266"/>
                  </a:lnTo>
                  <a:lnTo>
                    <a:pt x="10" y="267"/>
                  </a:lnTo>
                  <a:lnTo>
                    <a:pt x="29" y="271"/>
                  </a:lnTo>
                  <a:lnTo>
                    <a:pt x="56" y="274"/>
                  </a:lnTo>
                  <a:lnTo>
                    <a:pt x="89" y="279"/>
                  </a:lnTo>
                  <a:lnTo>
                    <a:pt x="127" y="284"/>
                  </a:lnTo>
                  <a:lnTo>
                    <a:pt x="169" y="290"/>
                  </a:lnTo>
                  <a:lnTo>
                    <a:pt x="213" y="295"/>
                  </a:lnTo>
                  <a:lnTo>
                    <a:pt x="257" y="302"/>
                  </a:lnTo>
                  <a:lnTo>
                    <a:pt x="302" y="308"/>
                  </a:lnTo>
                  <a:lnTo>
                    <a:pt x="345" y="315"/>
                  </a:lnTo>
                  <a:lnTo>
                    <a:pt x="384" y="320"/>
                  </a:lnTo>
                  <a:lnTo>
                    <a:pt x="419" y="325"/>
                  </a:lnTo>
                  <a:lnTo>
                    <a:pt x="450" y="329"/>
                  </a:lnTo>
                  <a:lnTo>
                    <a:pt x="473" y="333"/>
                  </a:lnTo>
                  <a:lnTo>
                    <a:pt x="487" y="334"/>
                  </a:lnTo>
                  <a:lnTo>
                    <a:pt x="493" y="335"/>
                  </a:lnTo>
                  <a:lnTo>
                    <a:pt x="504" y="336"/>
                  </a:lnTo>
                  <a:lnTo>
                    <a:pt x="517" y="336"/>
                  </a:lnTo>
                  <a:lnTo>
                    <a:pt x="530" y="335"/>
                  </a:lnTo>
                  <a:lnTo>
                    <a:pt x="545" y="334"/>
                  </a:lnTo>
                  <a:lnTo>
                    <a:pt x="558" y="331"/>
                  </a:lnTo>
                  <a:lnTo>
                    <a:pt x="572" y="329"/>
                  </a:lnTo>
                  <a:lnTo>
                    <a:pt x="584" y="326"/>
                  </a:lnTo>
                  <a:lnTo>
                    <a:pt x="596" y="321"/>
                  </a:lnTo>
                  <a:lnTo>
                    <a:pt x="601" y="319"/>
                  </a:lnTo>
                  <a:lnTo>
                    <a:pt x="617" y="312"/>
                  </a:lnTo>
                  <a:lnTo>
                    <a:pt x="642" y="301"/>
                  </a:lnTo>
                  <a:lnTo>
                    <a:pt x="675" y="288"/>
                  </a:lnTo>
                  <a:lnTo>
                    <a:pt x="713" y="271"/>
                  </a:lnTo>
                  <a:lnTo>
                    <a:pt x="757" y="252"/>
                  </a:lnTo>
                  <a:lnTo>
                    <a:pt x="804" y="231"/>
                  </a:lnTo>
                  <a:lnTo>
                    <a:pt x="854" y="209"/>
                  </a:lnTo>
                  <a:lnTo>
                    <a:pt x="905" y="187"/>
                  </a:lnTo>
                  <a:lnTo>
                    <a:pt x="955" y="165"/>
                  </a:lnTo>
                  <a:lnTo>
                    <a:pt x="1004" y="145"/>
                  </a:lnTo>
                  <a:lnTo>
                    <a:pt x="1049" y="124"/>
                  </a:lnTo>
                  <a:lnTo>
                    <a:pt x="1091" y="106"/>
                  </a:lnTo>
                  <a:lnTo>
                    <a:pt x="1127" y="91"/>
                  </a:lnTo>
                  <a:lnTo>
                    <a:pt x="1157" y="78"/>
                  </a:lnTo>
                  <a:lnTo>
                    <a:pt x="1178" y="69"/>
                  </a:lnTo>
                  <a:lnTo>
                    <a:pt x="694" y="1"/>
                  </a:lnTo>
                  <a:lnTo>
                    <a:pt x="682" y="0"/>
                  </a:lnTo>
                  <a:lnTo>
                    <a:pt x="670" y="0"/>
                  </a:lnTo>
                  <a:lnTo>
                    <a:pt x="657" y="0"/>
                  </a:lnTo>
                  <a:lnTo>
                    <a:pt x="642" y="2"/>
                  </a:lnTo>
                  <a:lnTo>
                    <a:pt x="628" y="4"/>
                  </a:lnTo>
                  <a:lnTo>
                    <a:pt x="615" y="6"/>
                  </a:lnTo>
                  <a:lnTo>
                    <a:pt x="602" y="10"/>
                  </a:lnTo>
                  <a:lnTo>
                    <a:pt x="591" y="1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6" name="Freeform 292"/>
            <p:cNvSpPr>
              <a:spLocks/>
            </p:cNvSpPr>
            <p:nvPr/>
          </p:nvSpPr>
          <p:spPr bwMode="auto">
            <a:xfrm>
              <a:off x="1059" y="3345"/>
              <a:ext cx="99" cy="303"/>
            </a:xfrm>
            <a:custGeom>
              <a:avLst/>
              <a:gdLst>
                <a:gd name="T0" fmla="*/ 0 w 596"/>
                <a:gd name="T1" fmla="*/ 0 h 1814"/>
                <a:gd name="T2" fmla="*/ 0 w 596"/>
                <a:gd name="T3" fmla="*/ 0 h 1814"/>
                <a:gd name="T4" fmla="*/ 0 w 596"/>
                <a:gd name="T5" fmla="*/ 0 h 1814"/>
                <a:gd name="T6" fmla="*/ 0 w 596"/>
                <a:gd name="T7" fmla="*/ 0 h 1814"/>
                <a:gd name="T8" fmla="*/ 0 w 596"/>
                <a:gd name="T9" fmla="*/ 0 h 1814"/>
                <a:gd name="T10" fmla="*/ 0 w 596"/>
                <a:gd name="T11" fmla="*/ 0 h 1814"/>
                <a:gd name="T12" fmla="*/ 0 w 596"/>
                <a:gd name="T13" fmla="*/ 0 h 1814"/>
                <a:gd name="T14" fmla="*/ 0 w 596"/>
                <a:gd name="T15" fmla="*/ 0 h 1814"/>
                <a:gd name="T16" fmla="*/ 0 w 596"/>
                <a:gd name="T17" fmla="*/ 0 h 1814"/>
                <a:gd name="T18" fmla="*/ 2 w 596"/>
                <a:gd name="T19" fmla="*/ 0 h 1814"/>
                <a:gd name="T20" fmla="*/ 2 w 596"/>
                <a:gd name="T21" fmla="*/ 0 h 1814"/>
                <a:gd name="T22" fmla="*/ 2 w 596"/>
                <a:gd name="T23" fmla="*/ 0 h 1814"/>
                <a:gd name="T24" fmla="*/ 3 w 596"/>
                <a:gd name="T25" fmla="*/ 0 h 1814"/>
                <a:gd name="T26" fmla="*/ 3 w 596"/>
                <a:gd name="T27" fmla="*/ 0 h 1814"/>
                <a:gd name="T28" fmla="*/ 3 w 596"/>
                <a:gd name="T29" fmla="*/ 1 h 1814"/>
                <a:gd name="T30" fmla="*/ 3 w 596"/>
                <a:gd name="T31" fmla="*/ 1 h 1814"/>
                <a:gd name="T32" fmla="*/ 3 w 596"/>
                <a:gd name="T33" fmla="*/ 1 h 1814"/>
                <a:gd name="T34" fmla="*/ 3 w 596"/>
                <a:gd name="T35" fmla="*/ 1 h 1814"/>
                <a:gd name="T36" fmla="*/ 3 w 596"/>
                <a:gd name="T37" fmla="*/ 8 h 1814"/>
                <a:gd name="T38" fmla="*/ 3 w 596"/>
                <a:gd name="T39" fmla="*/ 8 h 1814"/>
                <a:gd name="T40" fmla="*/ 3 w 596"/>
                <a:gd name="T41" fmla="*/ 8 h 1814"/>
                <a:gd name="T42" fmla="*/ 3 w 596"/>
                <a:gd name="T43" fmla="*/ 8 h 1814"/>
                <a:gd name="T44" fmla="*/ 3 w 596"/>
                <a:gd name="T45" fmla="*/ 8 h 1814"/>
                <a:gd name="T46" fmla="*/ 3 w 596"/>
                <a:gd name="T47" fmla="*/ 8 h 1814"/>
                <a:gd name="T48" fmla="*/ 3 w 596"/>
                <a:gd name="T49" fmla="*/ 9 h 1814"/>
                <a:gd name="T50" fmla="*/ 3 w 596"/>
                <a:gd name="T51" fmla="*/ 9 h 1814"/>
                <a:gd name="T52" fmla="*/ 2 w 596"/>
                <a:gd name="T53" fmla="*/ 9 h 1814"/>
                <a:gd name="T54" fmla="*/ 0 w 596"/>
                <a:gd name="T55" fmla="*/ 8 h 1814"/>
                <a:gd name="T56" fmla="*/ 0 w 596"/>
                <a:gd name="T57" fmla="*/ 8 h 1814"/>
                <a:gd name="T58" fmla="*/ 0 w 596"/>
                <a:gd name="T59" fmla="*/ 8 h 1814"/>
                <a:gd name="T60" fmla="*/ 0 w 596"/>
                <a:gd name="T61" fmla="*/ 8 h 1814"/>
                <a:gd name="T62" fmla="*/ 0 w 596"/>
                <a:gd name="T63" fmla="*/ 8 h 1814"/>
                <a:gd name="T64" fmla="*/ 0 w 596"/>
                <a:gd name="T65" fmla="*/ 8 h 1814"/>
                <a:gd name="T66" fmla="*/ 0 w 596"/>
                <a:gd name="T67" fmla="*/ 8 h 1814"/>
                <a:gd name="T68" fmla="*/ 0 w 596"/>
                <a:gd name="T69" fmla="*/ 8 h 1814"/>
                <a:gd name="T70" fmla="*/ 0 w 596"/>
                <a:gd name="T71" fmla="*/ 8 h 1814"/>
                <a:gd name="T72" fmla="*/ 0 w 596"/>
                <a:gd name="T73" fmla="*/ 0 h 18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96"/>
                <a:gd name="T112" fmla="*/ 0 h 1814"/>
                <a:gd name="T113" fmla="*/ 596 w 596"/>
                <a:gd name="T114" fmla="*/ 1814 h 181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96" h="1814">
                  <a:moveTo>
                    <a:pt x="0" y="29"/>
                  </a:moveTo>
                  <a:lnTo>
                    <a:pt x="1" y="22"/>
                  </a:lnTo>
                  <a:lnTo>
                    <a:pt x="2" y="16"/>
                  </a:lnTo>
                  <a:lnTo>
                    <a:pt x="6" y="11"/>
                  </a:lnTo>
                  <a:lnTo>
                    <a:pt x="10" y="6"/>
                  </a:lnTo>
                  <a:lnTo>
                    <a:pt x="16" y="3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543" y="69"/>
                  </a:lnTo>
                  <a:lnTo>
                    <a:pt x="551" y="72"/>
                  </a:lnTo>
                  <a:lnTo>
                    <a:pt x="559" y="75"/>
                  </a:lnTo>
                  <a:lnTo>
                    <a:pt x="566" y="79"/>
                  </a:lnTo>
                  <a:lnTo>
                    <a:pt x="571" y="86"/>
                  </a:lnTo>
                  <a:lnTo>
                    <a:pt x="577" y="93"/>
                  </a:lnTo>
                  <a:lnTo>
                    <a:pt x="580" y="100"/>
                  </a:lnTo>
                  <a:lnTo>
                    <a:pt x="583" y="109"/>
                  </a:lnTo>
                  <a:lnTo>
                    <a:pt x="584" y="117"/>
                  </a:lnTo>
                  <a:lnTo>
                    <a:pt x="596" y="1783"/>
                  </a:lnTo>
                  <a:lnTo>
                    <a:pt x="595" y="1790"/>
                  </a:lnTo>
                  <a:lnTo>
                    <a:pt x="593" y="1796"/>
                  </a:lnTo>
                  <a:lnTo>
                    <a:pt x="591" y="1802"/>
                  </a:lnTo>
                  <a:lnTo>
                    <a:pt x="586" y="1807"/>
                  </a:lnTo>
                  <a:lnTo>
                    <a:pt x="580" y="1811"/>
                  </a:lnTo>
                  <a:lnTo>
                    <a:pt x="575" y="1813"/>
                  </a:lnTo>
                  <a:lnTo>
                    <a:pt x="568" y="1814"/>
                  </a:lnTo>
                  <a:lnTo>
                    <a:pt x="561" y="1814"/>
                  </a:lnTo>
                  <a:lnTo>
                    <a:pt x="51" y="1749"/>
                  </a:lnTo>
                  <a:lnTo>
                    <a:pt x="43" y="1747"/>
                  </a:lnTo>
                  <a:lnTo>
                    <a:pt x="35" y="1744"/>
                  </a:lnTo>
                  <a:lnTo>
                    <a:pt x="28" y="1739"/>
                  </a:lnTo>
                  <a:lnTo>
                    <a:pt x="22" y="1733"/>
                  </a:lnTo>
                  <a:lnTo>
                    <a:pt x="17" y="1727"/>
                  </a:lnTo>
                  <a:lnTo>
                    <a:pt x="13" y="1719"/>
                  </a:lnTo>
                  <a:lnTo>
                    <a:pt x="10" y="1711"/>
                  </a:lnTo>
                  <a:lnTo>
                    <a:pt x="9" y="170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7" name="Freeform 293"/>
            <p:cNvSpPr>
              <a:spLocks/>
            </p:cNvSpPr>
            <p:nvPr/>
          </p:nvSpPr>
          <p:spPr bwMode="auto">
            <a:xfrm>
              <a:off x="1060" y="3358"/>
              <a:ext cx="28" cy="25"/>
            </a:xfrm>
            <a:custGeom>
              <a:avLst/>
              <a:gdLst>
                <a:gd name="T0" fmla="*/ 1 w 167"/>
                <a:gd name="T1" fmla="*/ 1 h 148"/>
                <a:gd name="T2" fmla="*/ 1 w 167"/>
                <a:gd name="T3" fmla="*/ 0 h 148"/>
                <a:gd name="T4" fmla="*/ 0 w 167"/>
                <a:gd name="T5" fmla="*/ 0 h 148"/>
                <a:gd name="T6" fmla="*/ 0 w 167"/>
                <a:gd name="T7" fmla="*/ 0 h 148"/>
                <a:gd name="T8" fmla="*/ 0 w 167"/>
                <a:gd name="T9" fmla="*/ 1 h 148"/>
                <a:gd name="T10" fmla="*/ 1 w 167"/>
                <a:gd name="T11" fmla="*/ 1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"/>
                <a:gd name="T19" fmla="*/ 0 h 148"/>
                <a:gd name="T20" fmla="*/ 167 w 167"/>
                <a:gd name="T21" fmla="*/ 148 h 1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" h="148">
                  <a:moveTo>
                    <a:pt x="167" y="148"/>
                  </a:moveTo>
                  <a:lnTo>
                    <a:pt x="165" y="24"/>
                  </a:lnTo>
                  <a:lnTo>
                    <a:pt x="5" y="0"/>
                  </a:lnTo>
                  <a:lnTo>
                    <a:pt x="1" y="10"/>
                  </a:lnTo>
                  <a:lnTo>
                    <a:pt x="0" y="126"/>
                  </a:lnTo>
                  <a:lnTo>
                    <a:pt x="167" y="1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8" name="Freeform 294"/>
            <p:cNvSpPr>
              <a:spLocks/>
            </p:cNvSpPr>
            <p:nvPr/>
          </p:nvSpPr>
          <p:spPr bwMode="auto">
            <a:xfrm>
              <a:off x="1059" y="3360"/>
              <a:ext cx="28" cy="22"/>
            </a:xfrm>
            <a:custGeom>
              <a:avLst/>
              <a:gdLst>
                <a:gd name="T0" fmla="*/ 1 w 166"/>
                <a:gd name="T1" fmla="*/ 1 h 133"/>
                <a:gd name="T2" fmla="*/ 1 w 166"/>
                <a:gd name="T3" fmla="*/ 0 h 133"/>
                <a:gd name="T4" fmla="*/ 1 w 166"/>
                <a:gd name="T5" fmla="*/ 0 h 133"/>
                <a:gd name="T6" fmla="*/ 0 w 166"/>
                <a:gd name="T7" fmla="*/ 0 h 133"/>
                <a:gd name="T8" fmla="*/ 0 w 166"/>
                <a:gd name="T9" fmla="*/ 0 h 133"/>
                <a:gd name="T10" fmla="*/ 0 w 166"/>
                <a:gd name="T11" fmla="*/ 0 h 133"/>
                <a:gd name="T12" fmla="*/ 1 w 166"/>
                <a:gd name="T13" fmla="*/ 1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33"/>
                <a:gd name="T23" fmla="*/ 166 w 166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33">
                  <a:moveTo>
                    <a:pt x="157" y="133"/>
                  </a:moveTo>
                  <a:lnTo>
                    <a:pt x="166" y="129"/>
                  </a:lnTo>
                  <a:lnTo>
                    <a:pt x="164" y="24"/>
                  </a:lnTo>
                  <a:lnTo>
                    <a:pt x="10" y="0"/>
                  </a:lnTo>
                  <a:lnTo>
                    <a:pt x="0" y="9"/>
                  </a:lnTo>
                  <a:lnTo>
                    <a:pt x="10" y="106"/>
                  </a:lnTo>
                  <a:lnTo>
                    <a:pt x="157" y="133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9" name="Freeform 295"/>
            <p:cNvSpPr>
              <a:spLocks/>
            </p:cNvSpPr>
            <p:nvPr/>
          </p:nvSpPr>
          <p:spPr bwMode="auto">
            <a:xfrm>
              <a:off x="1059" y="3361"/>
              <a:ext cx="26" cy="21"/>
            </a:xfrm>
            <a:custGeom>
              <a:avLst/>
              <a:gdLst>
                <a:gd name="T0" fmla="*/ 1 w 157"/>
                <a:gd name="T1" fmla="*/ 1 h 124"/>
                <a:gd name="T2" fmla="*/ 1 w 157"/>
                <a:gd name="T3" fmla="*/ 0 h 124"/>
                <a:gd name="T4" fmla="*/ 0 w 157"/>
                <a:gd name="T5" fmla="*/ 0 h 124"/>
                <a:gd name="T6" fmla="*/ 0 w 157"/>
                <a:gd name="T7" fmla="*/ 1 h 124"/>
                <a:gd name="T8" fmla="*/ 1 w 157"/>
                <a:gd name="T9" fmla="*/ 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24"/>
                <a:gd name="T17" fmla="*/ 157 w 157"/>
                <a:gd name="T18" fmla="*/ 124 h 1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24">
                  <a:moveTo>
                    <a:pt x="157" y="124"/>
                  </a:moveTo>
                  <a:lnTo>
                    <a:pt x="155" y="24"/>
                  </a:lnTo>
                  <a:lnTo>
                    <a:pt x="0" y="0"/>
                  </a:lnTo>
                  <a:lnTo>
                    <a:pt x="0" y="104"/>
                  </a:lnTo>
                  <a:lnTo>
                    <a:pt x="15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0" name="Freeform 296"/>
            <p:cNvSpPr>
              <a:spLocks/>
            </p:cNvSpPr>
            <p:nvPr/>
          </p:nvSpPr>
          <p:spPr bwMode="auto">
            <a:xfrm>
              <a:off x="1188" y="3358"/>
              <a:ext cx="86" cy="274"/>
            </a:xfrm>
            <a:custGeom>
              <a:avLst/>
              <a:gdLst>
                <a:gd name="T0" fmla="*/ 2 w 513"/>
                <a:gd name="T1" fmla="*/ 6 h 1646"/>
                <a:gd name="T2" fmla="*/ 2 w 513"/>
                <a:gd name="T3" fmla="*/ 0 h 1646"/>
                <a:gd name="T4" fmla="*/ 2 w 513"/>
                <a:gd name="T5" fmla="*/ 0 h 1646"/>
                <a:gd name="T6" fmla="*/ 2 w 513"/>
                <a:gd name="T7" fmla="*/ 0 h 1646"/>
                <a:gd name="T8" fmla="*/ 2 w 513"/>
                <a:gd name="T9" fmla="*/ 1 h 1646"/>
                <a:gd name="T10" fmla="*/ 2 w 513"/>
                <a:gd name="T11" fmla="*/ 1 h 1646"/>
                <a:gd name="T12" fmla="*/ 1 w 513"/>
                <a:gd name="T13" fmla="*/ 1 h 1646"/>
                <a:gd name="T14" fmla="*/ 1 w 513"/>
                <a:gd name="T15" fmla="*/ 1 h 1646"/>
                <a:gd name="T16" fmla="*/ 1 w 513"/>
                <a:gd name="T17" fmla="*/ 2 h 1646"/>
                <a:gd name="T18" fmla="*/ 1 w 513"/>
                <a:gd name="T19" fmla="*/ 2 h 1646"/>
                <a:gd name="T20" fmla="*/ 1 w 513"/>
                <a:gd name="T21" fmla="*/ 2 h 1646"/>
                <a:gd name="T22" fmla="*/ 0 w 513"/>
                <a:gd name="T23" fmla="*/ 3 h 1646"/>
                <a:gd name="T24" fmla="*/ 0 w 513"/>
                <a:gd name="T25" fmla="*/ 3 h 1646"/>
                <a:gd name="T26" fmla="*/ 0 w 513"/>
                <a:gd name="T27" fmla="*/ 4 h 1646"/>
                <a:gd name="T28" fmla="*/ 0 w 513"/>
                <a:gd name="T29" fmla="*/ 4 h 1646"/>
                <a:gd name="T30" fmla="*/ 0 w 513"/>
                <a:gd name="T31" fmla="*/ 4 h 1646"/>
                <a:gd name="T32" fmla="*/ 0 w 513"/>
                <a:gd name="T33" fmla="*/ 5 h 1646"/>
                <a:gd name="T34" fmla="*/ 0 w 513"/>
                <a:gd name="T35" fmla="*/ 5 h 1646"/>
                <a:gd name="T36" fmla="*/ 0 w 513"/>
                <a:gd name="T37" fmla="*/ 6 h 1646"/>
                <a:gd name="T38" fmla="*/ 0 w 513"/>
                <a:gd name="T39" fmla="*/ 6 h 1646"/>
                <a:gd name="T40" fmla="*/ 0 w 513"/>
                <a:gd name="T41" fmla="*/ 7 h 1646"/>
                <a:gd name="T42" fmla="*/ 0 w 513"/>
                <a:gd name="T43" fmla="*/ 8 h 1646"/>
                <a:gd name="T44" fmla="*/ 2 w 513"/>
                <a:gd name="T45" fmla="*/ 6 h 1646"/>
                <a:gd name="T46" fmla="*/ 2 w 513"/>
                <a:gd name="T47" fmla="*/ 6 h 1646"/>
                <a:gd name="T48" fmla="*/ 2 w 513"/>
                <a:gd name="T49" fmla="*/ 6 h 1646"/>
                <a:gd name="T50" fmla="*/ 2 w 513"/>
                <a:gd name="T51" fmla="*/ 6 h 1646"/>
                <a:gd name="T52" fmla="*/ 2 w 513"/>
                <a:gd name="T53" fmla="*/ 6 h 1646"/>
                <a:gd name="T54" fmla="*/ 2 w 513"/>
                <a:gd name="T55" fmla="*/ 6 h 1646"/>
                <a:gd name="T56" fmla="*/ 2 w 513"/>
                <a:gd name="T57" fmla="*/ 6 h 1646"/>
                <a:gd name="T58" fmla="*/ 2 w 513"/>
                <a:gd name="T59" fmla="*/ 6 h 1646"/>
                <a:gd name="T60" fmla="*/ 2 w 513"/>
                <a:gd name="T61" fmla="*/ 6 h 16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513"/>
                <a:gd name="T94" fmla="*/ 0 h 1646"/>
                <a:gd name="T95" fmla="*/ 513 w 513"/>
                <a:gd name="T96" fmla="*/ 1646 h 164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513" h="1646">
                  <a:moveTo>
                    <a:pt x="512" y="1346"/>
                  </a:moveTo>
                  <a:lnTo>
                    <a:pt x="513" y="0"/>
                  </a:lnTo>
                  <a:lnTo>
                    <a:pt x="457" y="41"/>
                  </a:lnTo>
                  <a:lnTo>
                    <a:pt x="404" y="87"/>
                  </a:lnTo>
                  <a:lnTo>
                    <a:pt x="353" y="138"/>
                  </a:lnTo>
                  <a:lnTo>
                    <a:pt x="305" y="194"/>
                  </a:lnTo>
                  <a:lnTo>
                    <a:pt x="259" y="254"/>
                  </a:lnTo>
                  <a:lnTo>
                    <a:pt x="216" y="320"/>
                  </a:lnTo>
                  <a:lnTo>
                    <a:pt x="178" y="388"/>
                  </a:lnTo>
                  <a:lnTo>
                    <a:pt x="142" y="461"/>
                  </a:lnTo>
                  <a:lnTo>
                    <a:pt x="110" y="538"/>
                  </a:lnTo>
                  <a:lnTo>
                    <a:pt x="82" y="617"/>
                  </a:lnTo>
                  <a:lnTo>
                    <a:pt x="57" y="700"/>
                  </a:lnTo>
                  <a:lnTo>
                    <a:pt x="37" y="785"/>
                  </a:lnTo>
                  <a:lnTo>
                    <a:pt x="21" y="874"/>
                  </a:lnTo>
                  <a:lnTo>
                    <a:pt x="9" y="964"/>
                  </a:lnTo>
                  <a:lnTo>
                    <a:pt x="2" y="1058"/>
                  </a:lnTo>
                  <a:lnTo>
                    <a:pt x="0" y="1152"/>
                  </a:lnTo>
                  <a:lnTo>
                    <a:pt x="1" y="1282"/>
                  </a:lnTo>
                  <a:lnTo>
                    <a:pt x="7" y="1408"/>
                  </a:lnTo>
                  <a:lnTo>
                    <a:pt x="14" y="1529"/>
                  </a:lnTo>
                  <a:lnTo>
                    <a:pt x="27" y="1646"/>
                  </a:lnTo>
                  <a:lnTo>
                    <a:pt x="470" y="1414"/>
                  </a:lnTo>
                  <a:lnTo>
                    <a:pt x="478" y="1409"/>
                  </a:lnTo>
                  <a:lnTo>
                    <a:pt x="486" y="1402"/>
                  </a:lnTo>
                  <a:lnTo>
                    <a:pt x="493" y="1394"/>
                  </a:lnTo>
                  <a:lnTo>
                    <a:pt x="500" y="1385"/>
                  </a:lnTo>
                  <a:lnTo>
                    <a:pt x="504" y="1375"/>
                  </a:lnTo>
                  <a:lnTo>
                    <a:pt x="509" y="1365"/>
                  </a:lnTo>
                  <a:lnTo>
                    <a:pt x="511" y="1356"/>
                  </a:lnTo>
                  <a:lnTo>
                    <a:pt x="512" y="134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1" name="Freeform 297"/>
            <p:cNvSpPr>
              <a:spLocks/>
            </p:cNvSpPr>
            <p:nvPr/>
          </p:nvSpPr>
          <p:spPr bwMode="auto">
            <a:xfrm>
              <a:off x="1202" y="3559"/>
              <a:ext cx="25" cy="26"/>
            </a:xfrm>
            <a:custGeom>
              <a:avLst/>
              <a:gdLst>
                <a:gd name="T0" fmla="*/ 1 w 154"/>
                <a:gd name="T1" fmla="*/ 1 h 155"/>
                <a:gd name="T2" fmla="*/ 1 w 154"/>
                <a:gd name="T3" fmla="*/ 1 h 155"/>
                <a:gd name="T4" fmla="*/ 1 w 154"/>
                <a:gd name="T5" fmla="*/ 1 h 155"/>
                <a:gd name="T6" fmla="*/ 1 w 154"/>
                <a:gd name="T7" fmla="*/ 0 h 155"/>
                <a:gd name="T8" fmla="*/ 1 w 154"/>
                <a:gd name="T9" fmla="*/ 0 h 155"/>
                <a:gd name="T10" fmla="*/ 1 w 154"/>
                <a:gd name="T11" fmla="*/ 0 h 155"/>
                <a:gd name="T12" fmla="*/ 1 w 154"/>
                <a:gd name="T13" fmla="*/ 0 h 155"/>
                <a:gd name="T14" fmla="*/ 1 w 154"/>
                <a:gd name="T15" fmla="*/ 0 h 155"/>
                <a:gd name="T16" fmla="*/ 1 w 154"/>
                <a:gd name="T17" fmla="*/ 0 h 155"/>
                <a:gd name="T18" fmla="*/ 1 w 154"/>
                <a:gd name="T19" fmla="*/ 0 h 155"/>
                <a:gd name="T20" fmla="*/ 1 w 154"/>
                <a:gd name="T21" fmla="*/ 0 h 155"/>
                <a:gd name="T22" fmla="*/ 1 w 154"/>
                <a:gd name="T23" fmla="*/ 0 h 155"/>
                <a:gd name="T24" fmla="*/ 1 w 154"/>
                <a:gd name="T25" fmla="*/ 0 h 155"/>
                <a:gd name="T26" fmla="*/ 0 w 154"/>
                <a:gd name="T27" fmla="*/ 0 h 155"/>
                <a:gd name="T28" fmla="*/ 0 w 154"/>
                <a:gd name="T29" fmla="*/ 0 h 155"/>
                <a:gd name="T30" fmla="*/ 0 w 154"/>
                <a:gd name="T31" fmla="*/ 0 h 155"/>
                <a:gd name="T32" fmla="*/ 0 w 154"/>
                <a:gd name="T33" fmla="*/ 0 h 155"/>
                <a:gd name="T34" fmla="*/ 0 w 154"/>
                <a:gd name="T35" fmla="*/ 0 h 155"/>
                <a:gd name="T36" fmla="*/ 0 w 154"/>
                <a:gd name="T37" fmla="*/ 0 h 155"/>
                <a:gd name="T38" fmla="*/ 0 w 154"/>
                <a:gd name="T39" fmla="*/ 1 h 155"/>
                <a:gd name="T40" fmla="*/ 0 w 154"/>
                <a:gd name="T41" fmla="*/ 1 h 155"/>
                <a:gd name="T42" fmla="*/ 0 w 154"/>
                <a:gd name="T43" fmla="*/ 1 h 155"/>
                <a:gd name="T44" fmla="*/ 0 w 154"/>
                <a:gd name="T45" fmla="*/ 1 h 155"/>
                <a:gd name="T46" fmla="*/ 0 w 154"/>
                <a:gd name="T47" fmla="*/ 1 h 155"/>
                <a:gd name="T48" fmla="*/ 1 w 154"/>
                <a:gd name="T49" fmla="*/ 1 h 15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4"/>
                <a:gd name="T76" fmla="*/ 0 h 155"/>
                <a:gd name="T77" fmla="*/ 154 w 154"/>
                <a:gd name="T78" fmla="*/ 155 h 15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4" h="155">
                  <a:moveTo>
                    <a:pt x="134" y="104"/>
                  </a:moveTo>
                  <a:lnTo>
                    <a:pt x="141" y="99"/>
                  </a:lnTo>
                  <a:lnTo>
                    <a:pt x="148" y="92"/>
                  </a:lnTo>
                  <a:lnTo>
                    <a:pt x="152" y="85"/>
                  </a:lnTo>
                  <a:lnTo>
                    <a:pt x="154" y="76"/>
                  </a:lnTo>
                  <a:lnTo>
                    <a:pt x="152" y="25"/>
                  </a:lnTo>
                  <a:lnTo>
                    <a:pt x="152" y="17"/>
                  </a:lnTo>
                  <a:lnTo>
                    <a:pt x="151" y="10"/>
                  </a:lnTo>
                  <a:lnTo>
                    <a:pt x="150" y="5"/>
                  </a:lnTo>
                  <a:lnTo>
                    <a:pt x="149" y="1"/>
                  </a:lnTo>
                  <a:lnTo>
                    <a:pt x="146" y="0"/>
                  </a:lnTo>
                  <a:lnTo>
                    <a:pt x="141" y="0"/>
                  </a:lnTo>
                  <a:lnTo>
                    <a:pt x="134" y="2"/>
                  </a:lnTo>
                  <a:lnTo>
                    <a:pt x="128" y="5"/>
                  </a:lnTo>
                  <a:lnTo>
                    <a:pt x="17" y="56"/>
                  </a:lnTo>
                  <a:lnTo>
                    <a:pt x="10" y="61"/>
                  </a:lnTo>
                  <a:lnTo>
                    <a:pt x="5" y="69"/>
                  </a:lnTo>
                  <a:lnTo>
                    <a:pt x="1" y="77"/>
                  </a:lnTo>
                  <a:lnTo>
                    <a:pt x="0" y="85"/>
                  </a:lnTo>
                  <a:lnTo>
                    <a:pt x="0" y="142"/>
                  </a:lnTo>
                  <a:lnTo>
                    <a:pt x="1" y="149"/>
                  </a:lnTo>
                  <a:lnTo>
                    <a:pt x="5" y="154"/>
                  </a:lnTo>
                  <a:lnTo>
                    <a:pt x="10" y="155"/>
                  </a:lnTo>
                  <a:lnTo>
                    <a:pt x="17" y="154"/>
                  </a:lnTo>
                  <a:lnTo>
                    <a:pt x="134" y="104"/>
                  </a:lnTo>
                  <a:close/>
                </a:path>
              </a:pathLst>
            </a:custGeom>
            <a:solidFill>
              <a:srgbClr val="DDDD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2" name="Freeform 298"/>
            <p:cNvSpPr>
              <a:spLocks/>
            </p:cNvSpPr>
            <p:nvPr/>
          </p:nvSpPr>
          <p:spPr bwMode="auto">
            <a:xfrm>
              <a:off x="1200" y="3559"/>
              <a:ext cx="26" cy="24"/>
            </a:xfrm>
            <a:custGeom>
              <a:avLst/>
              <a:gdLst>
                <a:gd name="T0" fmla="*/ 1 w 153"/>
                <a:gd name="T1" fmla="*/ 0 h 144"/>
                <a:gd name="T2" fmla="*/ 1 w 153"/>
                <a:gd name="T3" fmla="*/ 0 h 144"/>
                <a:gd name="T4" fmla="*/ 1 w 153"/>
                <a:gd name="T5" fmla="*/ 0 h 144"/>
                <a:gd name="T6" fmla="*/ 1 w 153"/>
                <a:gd name="T7" fmla="*/ 0 h 144"/>
                <a:gd name="T8" fmla="*/ 1 w 153"/>
                <a:gd name="T9" fmla="*/ 0 h 144"/>
                <a:gd name="T10" fmla="*/ 1 w 153"/>
                <a:gd name="T11" fmla="*/ 0 h 144"/>
                <a:gd name="T12" fmla="*/ 1 w 153"/>
                <a:gd name="T13" fmla="*/ 0 h 144"/>
                <a:gd name="T14" fmla="*/ 1 w 153"/>
                <a:gd name="T15" fmla="*/ 0 h 144"/>
                <a:gd name="T16" fmla="*/ 1 w 153"/>
                <a:gd name="T17" fmla="*/ 0 h 144"/>
                <a:gd name="T18" fmla="*/ 1 w 153"/>
                <a:gd name="T19" fmla="*/ 0 h 144"/>
                <a:gd name="T20" fmla="*/ 0 w 153"/>
                <a:gd name="T21" fmla="*/ 0 h 144"/>
                <a:gd name="T22" fmla="*/ 0 w 153"/>
                <a:gd name="T23" fmla="*/ 0 h 144"/>
                <a:gd name="T24" fmla="*/ 0 w 153"/>
                <a:gd name="T25" fmla="*/ 0 h 144"/>
                <a:gd name="T26" fmla="*/ 0 w 153"/>
                <a:gd name="T27" fmla="*/ 0 h 144"/>
                <a:gd name="T28" fmla="*/ 0 w 153"/>
                <a:gd name="T29" fmla="*/ 0 h 144"/>
                <a:gd name="T30" fmla="*/ 0 w 153"/>
                <a:gd name="T31" fmla="*/ 1 h 144"/>
                <a:gd name="T32" fmla="*/ 0 w 153"/>
                <a:gd name="T33" fmla="*/ 1 h 144"/>
                <a:gd name="T34" fmla="*/ 0 w 153"/>
                <a:gd name="T35" fmla="*/ 1 h 144"/>
                <a:gd name="T36" fmla="*/ 0 w 153"/>
                <a:gd name="T37" fmla="*/ 1 h 144"/>
                <a:gd name="T38" fmla="*/ 0 w 153"/>
                <a:gd name="T39" fmla="*/ 1 h 144"/>
                <a:gd name="T40" fmla="*/ 1 w 153"/>
                <a:gd name="T41" fmla="*/ 0 h 1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3"/>
                <a:gd name="T64" fmla="*/ 0 h 144"/>
                <a:gd name="T65" fmla="*/ 153 w 153"/>
                <a:gd name="T66" fmla="*/ 144 h 14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3" h="144">
                  <a:moveTo>
                    <a:pt x="135" y="93"/>
                  </a:moveTo>
                  <a:lnTo>
                    <a:pt x="141" y="88"/>
                  </a:lnTo>
                  <a:lnTo>
                    <a:pt x="147" y="81"/>
                  </a:lnTo>
                  <a:lnTo>
                    <a:pt x="152" y="74"/>
                  </a:lnTo>
                  <a:lnTo>
                    <a:pt x="153" y="66"/>
                  </a:lnTo>
                  <a:lnTo>
                    <a:pt x="153" y="15"/>
                  </a:lnTo>
                  <a:lnTo>
                    <a:pt x="152" y="7"/>
                  </a:lnTo>
                  <a:lnTo>
                    <a:pt x="147" y="3"/>
                  </a:lnTo>
                  <a:lnTo>
                    <a:pt x="141" y="0"/>
                  </a:lnTo>
                  <a:lnTo>
                    <a:pt x="135" y="2"/>
                  </a:lnTo>
                  <a:lnTo>
                    <a:pt x="17" y="48"/>
                  </a:lnTo>
                  <a:lnTo>
                    <a:pt x="10" y="52"/>
                  </a:lnTo>
                  <a:lnTo>
                    <a:pt x="6" y="58"/>
                  </a:lnTo>
                  <a:lnTo>
                    <a:pt x="1" y="66"/>
                  </a:lnTo>
                  <a:lnTo>
                    <a:pt x="0" y="74"/>
                  </a:lnTo>
                  <a:lnTo>
                    <a:pt x="0" y="132"/>
                  </a:lnTo>
                  <a:lnTo>
                    <a:pt x="1" y="139"/>
                  </a:lnTo>
                  <a:lnTo>
                    <a:pt x="6" y="143"/>
                  </a:lnTo>
                  <a:lnTo>
                    <a:pt x="10" y="144"/>
                  </a:lnTo>
                  <a:lnTo>
                    <a:pt x="17" y="143"/>
                  </a:lnTo>
                  <a:lnTo>
                    <a:pt x="135" y="9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3" name="Freeform 299"/>
            <p:cNvSpPr>
              <a:spLocks/>
            </p:cNvSpPr>
            <p:nvPr/>
          </p:nvSpPr>
          <p:spPr bwMode="auto">
            <a:xfrm>
              <a:off x="1084" y="3356"/>
              <a:ext cx="74" cy="292"/>
            </a:xfrm>
            <a:custGeom>
              <a:avLst/>
              <a:gdLst>
                <a:gd name="T0" fmla="*/ 2 w 445"/>
                <a:gd name="T1" fmla="*/ 8 h 1750"/>
                <a:gd name="T2" fmla="*/ 2 w 445"/>
                <a:gd name="T3" fmla="*/ 8 h 1750"/>
                <a:gd name="T4" fmla="*/ 2 w 445"/>
                <a:gd name="T5" fmla="*/ 8 h 1750"/>
                <a:gd name="T6" fmla="*/ 2 w 445"/>
                <a:gd name="T7" fmla="*/ 8 h 1750"/>
                <a:gd name="T8" fmla="*/ 2 w 445"/>
                <a:gd name="T9" fmla="*/ 8 h 1750"/>
                <a:gd name="T10" fmla="*/ 2 w 445"/>
                <a:gd name="T11" fmla="*/ 0 h 1750"/>
                <a:gd name="T12" fmla="*/ 2 w 445"/>
                <a:gd name="T13" fmla="*/ 0 h 1750"/>
                <a:gd name="T14" fmla="*/ 2 w 445"/>
                <a:gd name="T15" fmla="*/ 0 h 1750"/>
                <a:gd name="T16" fmla="*/ 2 w 445"/>
                <a:gd name="T17" fmla="*/ 0 h 1750"/>
                <a:gd name="T18" fmla="*/ 2 w 445"/>
                <a:gd name="T19" fmla="*/ 0 h 1750"/>
                <a:gd name="T20" fmla="*/ 2 w 445"/>
                <a:gd name="T21" fmla="*/ 0 h 1750"/>
                <a:gd name="T22" fmla="*/ 2 w 445"/>
                <a:gd name="T23" fmla="*/ 0 h 1750"/>
                <a:gd name="T24" fmla="*/ 2 w 445"/>
                <a:gd name="T25" fmla="*/ 0 h 1750"/>
                <a:gd name="T26" fmla="*/ 2 w 445"/>
                <a:gd name="T27" fmla="*/ 0 h 1750"/>
                <a:gd name="T28" fmla="*/ 2 w 445"/>
                <a:gd name="T29" fmla="*/ 0 h 1750"/>
                <a:gd name="T30" fmla="*/ 2 w 445"/>
                <a:gd name="T31" fmla="*/ 0 h 1750"/>
                <a:gd name="T32" fmla="*/ 2 w 445"/>
                <a:gd name="T33" fmla="*/ 0 h 1750"/>
                <a:gd name="T34" fmla="*/ 2 w 445"/>
                <a:gd name="T35" fmla="*/ 0 h 1750"/>
                <a:gd name="T36" fmla="*/ 2 w 445"/>
                <a:gd name="T37" fmla="*/ 0 h 1750"/>
                <a:gd name="T38" fmla="*/ 2 w 445"/>
                <a:gd name="T39" fmla="*/ 0 h 1750"/>
                <a:gd name="T40" fmla="*/ 2 w 445"/>
                <a:gd name="T41" fmla="*/ 0 h 1750"/>
                <a:gd name="T42" fmla="*/ 2 w 445"/>
                <a:gd name="T43" fmla="*/ 0 h 1750"/>
                <a:gd name="T44" fmla="*/ 1 w 445"/>
                <a:gd name="T45" fmla="*/ 0 h 1750"/>
                <a:gd name="T46" fmla="*/ 1 w 445"/>
                <a:gd name="T47" fmla="*/ 0 h 1750"/>
                <a:gd name="T48" fmla="*/ 1 w 445"/>
                <a:gd name="T49" fmla="*/ 1 h 1750"/>
                <a:gd name="T50" fmla="*/ 1 w 445"/>
                <a:gd name="T51" fmla="*/ 1 h 1750"/>
                <a:gd name="T52" fmla="*/ 1 w 445"/>
                <a:gd name="T53" fmla="*/ 1 h 1750"/>
                <a:gd name="T54" fmla="*/ 1 w 445"/>
                <a:gd name="T55" fmla="*/ 1 h 1750"/>
                <a:gd name="T56" fmla="*/ 0 w 445"/>
                <a:gd name="T57" fmla="*/ 2 h 1750"/>
                <a:gd name="T58" fmla="*/ 0 w 445"/>
                <a:gd name="T59" fmla="*/ 2 h 1750"/>
                <a:gd name="T60" fmla="*/ 0 w 445"/>
                <a:gd name="T61" fmla="*/ 2 h 1750"/>
                <a:gd name="T62" fmla="*/ 0 w 445"/>
                <a:gd name="T63" fmla="*/ 3 h 1750"/>
                <a:gd name="T64" fmla="*/ 0 w 445"/>
                <a:gd name="T65" fmla="*/ 3 h 1750"/>
                <a:gd name="T66" fmla="*/ 0 w 445"/>
                <a:gd name="T67" fmla="*/ 3 h 1750"/>
                <a:gd name="T68" fmla="*/ 0 w 445"/>
                <a:gd name="T69" fmla="*/ 4 h 1750"/>
                <a:gd name="T70" fmla="*/ 0 w 445"/>
                <a:gd name="T71" fmla="*/ 4 h 1750"/>
                <a:gd name="T72" fmla="*/ 0 w 445"/>
                <a:gd name="T73" fmla="*/ 5 h 1750"/>
                <a:gd name="T74" fmla="*/ 0 w 445"/>
                <a:gd name="T75" fmla="*/ 5 h 1750"/>
                <a:gd name="T76" fmla="*/ 0 w 445"/>
                <a:gd name="T77" fmla="*/ 6 h 1750"/>
                <a:gd name="T78" fmla="*/ 0 w 445"/>
                <a:gd name="T79" fmla="*/ 7 h 1750"/>
                <a:gd name="T80" fmla="*/ 0 w 445"/>
                <a:gd name="T81" fmla="*/ 7 h 1750"/>
                <a:gd name="T82" fmla="*/ 0 w 445"/>
                <a:gd name="T83" fmla="*/ 8 h 1750"/>
                <a:gd name="T84" fmla="*/ 0 w 445"/>
                <a:gd name="T85" fmla="*/ 8 h 1750"/>
                <a:gd name="T86" fmla="*/ 0 w 445"/>
                <a:gd name="T87" fmla="*/ 8 h 1750"/>
                <a:gd name="T88" fmla="*/ 0 w 445"/>
                <a:gd name="T89" fmla="*/ 8 h 1750"/>
                <a:gd name="T90" fmla="*/ 1 w 445"/>
                <a:gd name="T91" fmla="*/ 8 h 1750"/>
                <a:gd name="T92" fmla="*/ 1 w 445"/>
                <a:gd name="T93" fmla="*/ 8 h 1750"/>
                <a:gd name="T94" fmla="*/ 1 w 445"/>
                <a:gd name="T95" fmla="*/ 8 h 1750"/>
                <a:gd name="T96" fmla="*/ 1 w 445"/>
                <a:gd name="T97" fmla="*/ 8 h 1750"/>
                <a:gd name="T98" fmla="*/ 1 w 445"/>
                <a:gd name="T99" fmla="*/ 8 h 1750"/>
                <a:gd name="T100" fmla="*/ 1 w 445"/>
                <a:gd name="T101" fmla="*/ 8 h 1750"/>
                <a:gd name="T102" fmla="*/ 1 w 445"/>
                <a:gd name="T103" fmla="*/ 8 h 1750"/>
                <a:gd name="T104" fmla="*/ 2 w 445"/>
                <a:gd name="T105" fmla="*/ 8 h 1750"/>
                <a:gd name="T106" fmla="*/ 2 w 445"/>
                <a:gd name="T107" fmla="*/ 8 h 1750"/>
                <a:gd name="T108" fmla="*/ 2 w 445"/>
                <a:gd name="T109" fmla="*/ 8 h 1750"/>
                <a:gd name="T110" fmla="*/ 2 w 445"/>
                <a:gd name="T111" fmla="*/ 8 h 1750"/>
                <a:gd name="T112" fmla="*/ 2 w 445"/>
                <a:gd name="T113" fmla="*/ 8 h 1750"/>
                <a:gd name="T114" fmla="*/ 2 w 445"/>
                <a:gd name="T115" fmla="*/ 8 h 1750"/>
                <a:gd name="T116" fmla="*/ 2 w 445"/>
                <a:gd name="T117" fmla="*/ 8 h 1750"/>
                <a:gd name="T118" fmla="*/ 2 w 445"/>
                <a:gd name="T119" fmla="*/ 8 h 1750"/>
                <a:gd name="T120" fmla="*/ 2 w 445"/>
                <a:gd name="T121" fmla="*/ 8 h 1750"/>
                <a:gd name="T122" fmla="*/ 2 w 445"/>
                <a:gd name="T123" fmla="*/ 8 h 175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45"/>
                <a:gd name="T187" fmla="*/ 0 h 1750"/>
                <a:gd name="T188" fmla="*/ 445 w 445"/>
                <a:gd name="T189" fmla="*/ 1750 h 175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45" h="1750">
                  <a:moveTo>
                    <a:pt x="435" y="1743"/>
                  </a:moveTo>
                  <a:lnTo>
                    <a:pt x="440" y="1738"/>
                  </a:lnTo>
                  <a:lnTo>
                    <a:pt x="442" y="1732"/>
                  </a:lnTo>
                  <a:lnTo>
                    <a:pt x="444" y="1726"/>
                  </a:lnTo>
                  <a:lnTo>
                    <a:pt x="445" y="1719"/>
                  </a:lnTo>
                  <a:lnTo>
                    <a:pt x="433" y="53"/>
                  </a:lnTo>
                  <a:lnTo>
                    <a:pt x="432" y="45"/>
                  </a:lnTo>
                  <a:lnTo>
                    <a:pt x="429" y="36"/>
                  </a:lnTo>
                  <a:lnTo>
                    <a:pt x="426" y="29"/>
                  </a:lnTo>
                  <a:lnTo>
                    <a:pt x="420" y="22"/>
                  </a:lnTo>
                  <a:lnTo>
                    <a:pt x="415" y="15"/>
                  </a:lnTo>
                  <a:lnTo>
                    <a:pt x="408" y="11"/>
                  </a:lnTo>
                  <a:lnTo>
                    <a:pt x="400" y="8"/>
                  </a:lnTo>
                  <a:lnTo>
                    <a:pt x="392" y="5"/>
                  </a:lnTo>
                  <a:lnTo>
                    <a:pt x="391" y="5"/>
                  </a:lnTo>
                  <a:lnTo>
                    <a:pt x="387" y="4"/>
                  </a:lnTo>
                  <a:lnTo>
                    <a:pt x="380" y="4"/>
                  </a:lnTo>
                  <a:lnTo>
                    <a:pt x="372" y="3"/>
                  </a:lnTo>
                  <a:lnTo>
                    <a:pt x="364" y="2"/>
                  </a:lnTo>
                  <a:lnTo>
                    <a:pt x="356" y="1"/>
                  </a:lnTo>
                  <a:lnTo>
                    <a:pt x="350" y="1"/>
                  </a:lnTo>
                  <a:lnTo>
                    <a:pt x="346" y="0"/>
                  </a:lnTo>
                  <a:lnTo>
                    <a:pt x="309" y="35"/>
                  </a:lnTo>
                  <a:lnTo>
                    <a:pt x="274" y="74"/>
                  </a:lnTo>
                  <a:lnTo>
                    <a:pt x="239" y="119"/>
                  </a:lnTo>
                  <a:lnTo>
                    <a:pt x="207" y="168"/>
                  </a:lnTo>
                  <a:lnTo>
                    <a:pt x="177" y="222"/>
                  </a:lnTo>
                  <a:lnTo>
                    <a:pt x="148" y="281"/>
                  </a:lnTo>
                  <a:lnTo>
                    <a:pt x="122" y="343"/>
                  </a:lnTo>
                  <a:lnTo>
                    <a:pt x="98" y="408"/>
                  </a:lnTo>
                  <a:lnTo>
                    <a:pt x="76" y="478"/>
                  </a:lnTo>
                  <a:lnTo>
                    <a:pt x="57" y="550"/>
                  </a:lnTo>
                  <a:lnTo>
                    <a:pt x="41" y="625"/>
                  </a:lnTo>
                  <a:lnTo>
                    <a:pt x="26" y="704"/>
                  </a:lnTo>
                  <a:lnTo>
                    <a:pt x="16" y="785"/>
                  </a:lnTo>
                  <a:lnTo>
                    <a:pt x="8" y="867"/>
                  </a:lnTo>
                  <a:lnTo>
                    <a:pt x="3" y="953"/>
                  </a:lnTo>
                  <a:lnTo>
                    <a:pt x="2" y="1039"/>
                  </a:lnTo>
                  <a:lnTo>
                    <a:pt x="0" y="1228"/>
                  </a:lnTo>
                  <a:lnTo>
                    <a:pt x="0" y="1403"/>
                  </a:lnTo>
                  <a:lnTo>
                    <a:pt x="4" y="1559"/>
                  </a:lnTo>
                  <a:lnTo>
                    <a:pt x="15" y="1700"/>
                  </a:lnTo>
                  <a:lnTo>
                    <a:pt x="42" y="1703"/>
                  </a:lnTo>
                  <a:lnTo>
                    <a:pt x="72" y="1708"/>
                  </a:lnTo>
                  <a:lnTo>
                    <a:pt x="103" y="1711"/>
                  </a:lnTo>
                  <a:lnTo>
                    <a:pt x="135" y="1716"/>
                  </a:lnTo>
                  <a:lnTo>
                    <a:pt x="168" y="1720"/>
                  </a:lnTo>
                  <a:lnTo>
                    <a:pt x="200" y="1723"/>
                  </a:lnTo>
                  <a:lnTo>
                    <a:pt x="233" y="1728"/>
                  </a:lnTo>
                  <a:lnTo>
                    <a:pt x="265" y="1731"/>
                  </a:lnTo>
                  <a:lnTo>
                    <a:pt x="294" y="1736"/>
                  </a:lnTo>
                  <a:lnTo>
                    <a:pt x="321" y="1739"/>
                  </a:lnTo>
                  <a:lnTo>
                    <a:pt x="346" y="1743"/>
                  </a:lnTo>
                  <a:lnTo>
                    <a:pt x="367" y="1745"/>
                  </a:lnTo>
                  <a:lnTo>
                    <a:pt x="385" y="1747"/>
                  </a:lnTo>
                  <a:lnTo>
                    <a:pt x="399" y="1749"/>
                  </a:lnTo>
                  <a:lnTo>
                    <a:pt x="407" y="1750"/>
                  </a:lnTo>
                  <a:lnTo>
                    <a:pt x="410" y="1750"/>
                  </a:lnTo>
                  <a:lnTo>
                    <a:pt x="417" y="1750"/>
                  </a:lnTo>
                  <a:lnTo>
                    <a:pt x="424" y="1749"/>
                  </a:lnTo>
                  <a:lnTo>
                    <a:pt x="429" y="1747"/>
                  </a:lnTo>
                  <a:lnTo>
                    <a:pt x="435" y="17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4" name="Freeform 300"/>
            <p:cNvSpPr>
              <a:spLocks/>
            </p:cNvSpPr>
            <p:nvPr/>
          </p:nvSpPr>
          <p:spPr bwMode="auto">
            <a:xfrm>
              <a:off x="1065" y="3609"/>
              <a:ext cx="39" cy="28"/>
            </a:xfrm>
            <a:custGeom>
              <a:avLst/>
              <a:gdLst>
                <a:gd name="T0" fmla="*/ 1 w 235"/>
                <a:gd name="T1" fmla="*/ 1 h 172"/>
                <a:gd name="T2" fmla="*/ 1 w 235"/>
                <a:gd name="T3" fmla="*/ 1 h 172"/>
                <a:gd name="T4" fmla="*/ 1 w 235"/>
                <a:gd name="T5" fmla="*/ 1 h 172"/>
                <a:gd name="T6" fmla="*/ 1 w 235"/>
                <a:gd name="T7" fmla="*/ 1 h 172"/>
                <a:gd name="T8" fmla="*/ 1 w 235"/>
                <a:gd name="T9" fmla="*/ 1 h 172"/>
                <a:gd name="T10" fmla="*/ 1 w 235"/>
                <a:gd name="T11" fmla="*/ 0 h 172"/>
                <a:gd name="T12" fmla="*/ 1 w 235"/>
                <a:gd name="T13" fmla="*/ 0 h 172"/>
                <a:gd name="T14" fmla="*/ 1 w 235"/>
                <a:gd name="T15" fmla="*/ 0 h 172"/>
                <a:gd name="T16" fmla="*/ 1 w 235"/>
                <a:gd name="T17" fmla="*/ 0 h 172"/>
                <a:gd name="T18" fmla="*/ 1 w 235"/>
                <a:gd name="T19" fmla="*/ 0 h 172"/>
                <a:gd name="T20" fmla="*/ 0 w 235"/>
                <a:gd name="T21" fmla="*/ 0 h 172"/>
                <a:gd name="T22" fmla="*/ 0 w 235"/>
                <a:gd name="T23" fmla="*/ 0 h 172"/>
                <a:gd name="T24" fmla="*/ 0 w 235"/>
                <a:gd name="T25" fmla="*/ 0 h 172"/>
                <a:gd name="T26" fmla="*/ 0 w 235"/>
                <a:gd name="T27" fmla="*/ 0 h 172"/>
                <a:gd name="T28" fmla="*/ 0 w 235"/>
                <a:gd name="T29" fmla="*/ 0 h 172"/>
                <a:gd name="T30" fmla="*/ 0 w 235"/>
                <a:gd name="T31" fmla="*/ 0 h 172"/>
                <a:gd name="T32" fmla="*/ 0 w 235"/>
                <a:gd name="T33" fmla="*/ 1 h 172"/>
                <a:gd name="T34" fmla="*/ 0 w 235"/>
                <a:gd name="T35" fmla="*/ 1 h 172"/>
                <a:gd name="T36" fmla="*/ 0 w 235"/>
                <a:gd name="T37" fmla="*/ 1 h 172"/>
                <a:gd name="T38" fmla="*/ 0 w 235"/>
                <a:gd name="T39" fmla="*/ 1 h 172"/>
                <a:gd name="T40" fmla="*/ 1 w 235"/>
                <a:gd name="T41" fmla="*/ 1 h 1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5"/>
                <a:gd name="T64" fmla="*/ 0 h 172"/>
                <a:gd name="T65" fmla="*/ 235 w 235"/>
                <a:gd name="T66" fmla="*/ 172 h 1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5" h="172">
                  <a:moveTo>
                    <a:pt x="216" y="172"/>
                  </a:moveTo>
                  <a:lnTo>
                    <a:pt x="223" y="171"/>
                  </a:lnTo>
                  <a:lnTo>
                    <a:pt x="230" y="168"/>
                  </a:lnTo>
                  <a:lnTo>
                    <a:pt x="234" y="162"/>
                  </a:lnTo>
                  <a:lnTo>
                    <a:pt x="235" y="156"/>
                  </a:lnTo>
                  <a:lnTo>
                    <a:pt x="234" y="44"/>
                  </a:lnTo>
                  <a:lnTo>
                    <a:pt x="233" y="36"/>
                  </a:lnTo>
                  <a:lnTo>
                    <a:pt x="228" y="30"/>
                  </a:lnTo>
                  <a:lnTo>
                    <a:pt x="222" y="25"/>
                  </a:lnTo>
                  <a:lnTo>
                    <a:pt x="215" y="22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26"/>
                  </a:lnTo>
                  <a:lnTo>
                    <a:pt x="3" y="134"/>
                  </a:lnTo>
                  <a:lnTo>
                    <a:pt x="7" y="141"/>
                  </a:lnTo>
                  <a:lnTo>
                    <a:pt x="14" y="147"/>
                  </a:lnTo>
                  <a:lnTo>
                    <a:pt x="22" y="149"/>
                  </a:lnTo>
                  <a:lnTo>
                    <a:pt x="216" y="1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5" name="Freeform 301"/>
            <p:cNvSpPr>
              <a:spLocks/>
            </p:cNvSpPr>
            <p:nvPr/>
          </p:nvSpPr>
          <p:spPr bwMode="auto">
            <a:xfrm>
              <a:off x="1065" y="3610"/>
              <a:ext cx="37" cy="28"/>
            </a:xfrm>
            <a:custGeom>
              <a:avLst/>
              <a:gdLst>
                <a:gd name="T0" fmla="*/ 1 w 219"/>
                <a:gd name="T1" fmla="*/ 1 h 167"/>
                <a:gd name="T2" fmla="*/ 1 w 219"/>
                <a:gd name="T3" fmla="*/ 0 h 167"/>
                <a:gd name="T4" fmla="*/ 1 w 219"/>
                <a:gd name="T5" fmla="*/ 0 h 167"/>
                <a:gd name="T6" fmla="*/ 1 w 219"/>
                <a:gd name="T7" fmla="*/ 0 h 167"/>
                <a:gd name="T8" fmla="*/ 1 w 219"/>
                <a:gd name="T9" fmla="*/ 0 h 167"/>
                <a:gd name="T10" fmla="*/ 1 w 219"/>
                <a:gd name="T11" fmla="*/ 0 h 167"/>
                <a:gd name="T12" fmla="*/ 0 w 219"/>
                <a:gd name="T13" fmla="*/ 0 h 167"/>
                <a:gd name="T14" fmla="*/ 0 w 219"/>
                <a:gd name="T15" fmla="*/ 0 h 167"/>
                <a:gd name="T16" fmla="*/ 0 w 219"/>
                <a:gd name="T17" fmla="*/ 0 h 167"/>
                <a:gd name="T18" fmla="*/ 0 w 219"/>
                <a:gd name="T19" fmla="*/ 0 h 167"/>
                <a:gd name="T20" fmla="*/ 0 w 219"/>
                <a:gd name="T21" fmla="*/ 0 h 167"/>
                <a:gd name="T22" fmla="*/ 0 w 219"/>
                <a:gd name="T23" fmla="*/ 1 h 167"/>
                <a:gd name="T24" fmla="*/ 0 w 219"/>
                <a:gd name="T25" fmla="*/ 1 h 167"/>
                <a:gd name="T26" fmla="*/ 0 w 219"/>
                <a:gd name="T27" fmla="*/ 1 h 167"/>
                <a:gd name="T28" fmla="*/ 0 w 219"/>
                <a:gd name="T29" fmla="*/ 1 h 167"/>
                <a:gd name="T30" fmla="*/ 0 w 219"/>
                <a:gd name="T31" fmla="*/ 1 h 167"/>
                <a:gd name="T32" fmla="*/ 1 w 219"/>
                <a:gd name="T33" fmla="*/ 1 h 167"/>
                <a:gd name="T34" fmla="*/ 1 w 219"/>
                <a:gd name="T35" fmla="*/ 1 h 167"/>
                <a:gd name="T36" fmla="*/ 1 w 219"/>
                <a:gd name="T37" fmla="*/ 1 h 167"/>
                <a:gd name="T38" fmla="*/ 1 w 219"/>
                <a:gd name="T39" fmla="*/ 1 h 167"/>
                <a:gd name="T40" fmla="*/ 1 w 219"/>
                <a:gd name="T41" fmla="*/ 1 h 1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9"/>
                <a:gd name="T64" fmla="*/ 0 h 167"/>
                <a:gd name="T65" fmla="*/ 219 w 219"/>
                <a:gd name="T66" fmla="*/ 167 h 1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9" h="167">
                  <a:moveTo>
                    <a:pt x="219" y="152"/>
                  </a:moveTo>
                  <a:lnTo>
                    <a:pt x="219" y="41"/>
                  </a:lnTo>
                  <a:lnTo>
                    <a:pt x="218" y="33"/>
                  </a:lnTo>
                  <a:lnTo>
                    <a:pt x="213" y="26"/>
                  </a:lnTo>
                  <a:lnTo>
                    <a:pt x="206" y="22"/>
                  </a:lnTo>
                  <a:lnTo>
                    <a:pt x="199" y="2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6"/>
                  </a:lnTo>
                  <a:lnTo>
                    <a:pt x="1" y="123"/>
                  </a:lnTo>
                  <a:lnTo>
                    <a:pt x="2" y="131"/>
                  </a:lnTo>
                  <a:lnTo>
                    <a:pt x="7" y="138"/>
                  </a:lnTo>
                  <a:lnTo>
                    <a:pt x="13" y="143"/>
                  </a:lnTo>
                  <a:lnTo>
                    <a:pt x="21" y="146"/>
                  </a:lnTo>
                  <a:lnTo>
                    <a:pt x="188" y="167"/>
                  </a:lnTo>
                  <a:lnTo>
                    <a:pt x="197" y="167"/>
                  </a:lnTo>
                  <a:lnTo>
                    <a:pt x="208" y="166"/>
                  </a:lnTo>
                  <a:lnTo>
                    <a:pt x="215" y="161"/>
                  </a:lnTo>
                  <a:lnTo>
                    <a:pt x="219" y="152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6" name="Freeform 302"/>
            <p:cNvSpPr>
              <a:spLocks/>
            </p:cNvSpPr>
            <p:nvPr/>
          </p:nvSpPr>
          <p:spPr bwMode="auto">
            <a:xfrm>
              <a:off x="1065" y="3612"/>
              <a:ext cx="35" cy="26"/>
            </a:xfrm>
            <a:custGeom>
              <a:avLst/>
              <a:gdLst>
                <a:gd name="T0" fmla="*/ 1 w 208"/>
                <a:gd name="T1" fmla="*/ 1 h 159"/>
                <a:gd name="T2" fmla="*/ 1 w 208"/>
                <a:gd name="T3" fmla="*/ 1 h 159"/>
                <a:gd name="T4" fmla="*/ 1 w 208"/>
                <a:gd name="T5" fmla="*/ 1 h 159"/>
                <a:gd name="T6" fmla="*/ 1 w 208"/>
                <a:gd name="T7" fmla="*/ 1 h 159"/>
                <a:gd name="T8" fmla="*/ 1 w 208"/>
                <a:gd name="T9" fmla="*/ 1 h 159"/>
                <a:gd name="T10" fmla="*/ 1 w 208"/>
                <a:gd name="T11" fmla="*/ 0 h 159"/>
                <a:gd name="T12" fmla="*/ 1 w 208"/>
                <a:gd name="T13" fmla="*/ 0 h 159"/>
                <a:gd name="T14" fmla="*/ 1 w 208"/>
                <a:gd name="T15" fmla="*/ 0 h 159"/>
                <a:gd name="T16" fmla="*/ 1 w 208"/>
                <a:gd name="T17" fmla="*/ 0 h 159"/>
                <a:gd name="T18" fmla="*/ 1 w 208"/>
                <a:gd name="T19" fmla="*/ 0 h 159"/>
                <a:gd name="T20" fmla="*/ 0 w 208"/>
                <a:gd name="T21" fmla="*/ 0 h 159"/>
                <a:gd name="T22" fmla="*/ 0 w 208"/>
                <a:gd name="T23" fmla="*/ 0 h 159"/>
                <a:gd name="T24" fmla="*/ 0 w 208"/>
                <a:gd name="T25" fmla="*/ 0 h 159"/>
                <a:gd name="T26" fmla="*/ 0 w 208"/>
                <a:gd name="T27" fmla="*/ 0 h 159"/>
                <a:gd name="T28" fmla="*/ 0 w 208"/>
                <a:gd name="T29" fmla="*/ 0 h 159"/>
                <a:gd name="T30" fmla="*/ 0 w 208"/>
                <a:gd name="T31" fmla="*/ 0 h 159"/>
                <a:gd name="T32" fmla="*/ 0 w 208"/>
                <a:gd name="T33" fmla="*/ 0 h 159"/>
                <a:gd name="T34" fmla="*/ 0 w 208"/>
                <a:gd name="T35" fmla="*/ 0 h 159"/>
                <a:gd name="T36" fmla="*/ 0 w 208"/>
                <a:gd name="T37" fmla="*/ 1 h 159"/>
                <a:gd name="T38" fmla="*/ 0 w 208"/>
                <a:gd name="T39" fmla="*/ 1 h 159"/>
                <a:gd name="T40" fmla="*/ 1 w 208"/>
                <a:gd name="T41" fmla="*/ 1 h 15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8"/>
                <a:gd name="T64" fmla="*/ 0 h 159"/>
                <a:gd name="T65" fmla="*/ 208 w 208"/>
                <a:gd name="T66" fmla="*/ 159 h 15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8" h="159">
                  <a:moveTo>
                    <a:pt x="188" y="159"/>
                  </a:moveTo>
                  <a:lnTo>
                    <a:pt x="196" y="158"/>
                  </a:lnTo>
                  <a:lnTo>
                    <a:pt x="203" y="154"/>
                  </a:lnTo>
                  <a:lnTo>
                    <a:pt x="206" y="149"/>
                  </a:lnTo>
                  <a:lnTo>
                    <a:pt x="208" y="142"/>
                  </a:lnTo>
                  <a:lnTo>
                    <a:pt x="208" y="42"/>
                  </a:lnTo>
                  <a:lnTo>
                    <a:pt x="206" y="34"/>
                  </a:lnTo>
                  <a:lnTo>
                    <a:pt x="202" y="27"/>
                  </a:lnTo>
                  <a:lnTo>
                    <a:pt x="195" y="22"/>
                  </a:lnTo>
                  <a:lnTo>
                    <a:pt x="187" y="19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15"/>
                  </a:lnTo>
                  <a:lnTo>
                    <a:pt x="2" y="123"/>
                  </a:lnTo>
                  <a:lnTo>
                    <a:pt x="7" y="130"/>
                  </a:lnTo>
                  <a:lnTo>
                    <a:pt x="13" y="135"/>
                  </a:lnTo>
                  <a:lnTo>
                    <a:pt x="21" y="138"/>
                  </a:lnTo>
                  <a:lnTo>
                    <a:pt x="188" y="15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7" name="Freeform 303"/>
            <p:cNvSpPr>
              <a:spLocks/>
            </p:cNvSpPr>
            <p:nvPr/>
          </p:nvSpPr>
          <p:spPr bwMode="auto">
            <a:xfrm>
              <a:off x="1130" y="3302"/>
              <a:ext cx="124" cy="349"/>
            </a:xfrm>
            <a:custGeom>
              <a:avLst/>
              <a:gdLst>
                <a:gd name="T0" fmla="*/ 0 w 746"/>
                <a:gd name="T1" fmla="*/ 1 h 2092"/>
                <a:gd name="T2" fmla="*/ 3 w 746"/>
                <a:gd name="T3" fmla="*/ 0 h 2092"/>
                <a:gd name="T4" fmla="*/ 3 w 746"/>
                <a:gd name="T5" fmla="*/ 0 h 2092"/>
                <a:gd name="T6" fmla="*/ 0 w 746"/>
                <a:gd name="T7" fmla="*/ 1 h 2092"/>
                <a:gd name="T8" fmla="*/ 0 w 746"/>
                <a:gd name="T9" fmla="*/ 2 h 2092"/>
                <a:gd name="T10" fmla="*/ 0 w 746"/>
                <a:gd name="T11" fmla="*/ 10 h 2092"/>
                <a:gd name="T12" fmla="*/ 0 w 746"/>
                <a:gd name="T13" fmla="*/ 10 h 2092"/>
                <a:gd name="T14" fmla="*/ 0 w 746"/>
                <a:gd name="T15" fmla="*/ 10 h 2092"/>
                <a:gd name="T16" fmla="*/ 0 w 746"/>
                <a:gd name="T17" fmla="*/ 10 h 2092"/>
                <a:gd name="T18" fmla="*/ 0 w 746"/>
                <a:gd name="T19" fmla="*/ 2 h 2092"/>
                <a:gd name="T20" fmla="*/ 0 w 746"/>
                <a:gd name="T21" fmla="*/ 1 h 20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46"/>
                <a:gd name="T34" fmla="*/ 0 h 2092"/>
                <a:gd name="T35" fmla="*/ 746 w 746"/>
                <a:gd name="T36" fmla="*/ 2092 h 209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46" h="2092">
                  <a:moveTo>
                    <a:pt x="106" y="290"/>
                  </a:moveTo>
                  <a:lnTo>
                    <a:pt x="746" y="0"/>
                  </a:lnTo>
                  <a:lnTo>
                    <a:pt x="662" y="1"/>
                  </a:lnTo>
                  <a:lnTo>
                    <a:pt x="22" y="274"/>
                  </a:lnTo>
                  <a:lnTo>
                    <a:pt x="0" y="311"/>
                  </a:lnTo>
                  <a:lnTo>
                    <a:pt x="0" y="2052"/>
                  </a:lnTo>
                  <a:lnTo>
                    <a:pt x="17" y="2080"/>
                  </a:lnTo>
                  <a:lnTo>
                    <a:pt x="112" y="2092"/>
                  </a:lnTo>
                  <a:lnTo>
                    <a:pt x="96" y="2071"/>
                  </a:lnTo>
                  <a:lnTo>
                    <a:pt x="85" y="323"/>
                  </a:lnTo>
                  <a:lnTo>
                    <a:pt x="106" y="2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8" name="Freeform 304"/>
            <p:cNvSpPr>
              <a:spLocks/>
            </p:cNvSpPr>
            <p:nvPr/>
          </p:nvSpPr>
          <p:spPr bwMode="auto">
            <a:xfrm>
              <a:off x="1124" y="3300"/>
              <a:ext cx="130" cy="344"/>
            </a:xfrm>
            <a:custGeom>
              <a:avLst/>
              <a:gdLst>
                <a:gd name="T0" fmla="*/ 3 w 781"/>
                <a:gd name="T1" fmla="*/ 0 h 2066"/>
                <a:gd name="T2" fmla="*/ 4 w 781"/>
                <a:gd name="T3" fmla="*/ 0 h 2066"/>
                <a:gd name="T4" fmla="*/ 3 w 781"/>
                <a:gd name="T5" fmla="*/ 0 h 2066"/>
                <a:gd name="T6" fmla="*/ 0 w 781"/>
                <a:gd name="T7" fmla="*/ 1 h 2066"/>
                <a:gd name="T8" fmla="*/ 0 w 781"/>
                <a:gd name="T9" fmla="*/ 1 h 2066"/>
                <a:gd name="T10" fmla="*/ 0 w 781"/>
                <a:gd name="T11" fmla="*/ 9 h 2066"/>
                <a:gd name="T12" fmla="*/ 0 w 781"/>
                <a:gd name="T13" fmla="*/ 9 h 2066"/>
                <a:gd name="T14" fmla="*/ 0 w 781"/>
                <a:gd name="T15" fmla="*/ 1 h 2066"/>
                <a:gd name="T16" fmla="*/ 0 w 781"/>
                <a:gd name="T17" fmla="*/ 1 h 2066"/>
                <a:gd name="T18" fmla="*/ 3 w 781"/>
                <a:gd name="T19" fmla="*/ 0 h 2066"/>
                <a:gd name="T20" fmla="*/ 3 w 781"/>
                <a:gd name="T21" fmla="*/ 0 h 20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81"/>
                <a:gd name="T34" fmla="*/ 0 h 2066"/>
                <a:gd name="T35" fmla="*/ 781 w 781"/>
                <a:gd name="T36" fmla="*/ 2066 h 20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81" h="2066">
                  <a:moveTo>
                    <a:pt x="758" y="24"/>
                  </a:moveTo>
                  <a:lnTo>
                    <a:pt x="781" y="14"/>
                  </a:lnTo>
                  <a:lnTo>
                    <a:pt x="686" y="0"/>
                  </a:lnTo>
                  <a:lnTo>
                    <a:pt x="23" y="280"/>
                  </a:lnTo>
                  <a:lnTo>
                    <a:pt x="0" y="315"/>
                  </a:lnTo>
                  <a:lnTo>
                    <a:pt x="9" y="2055"/>
                  </a:lnTo>
                  <a:lnTo>
                    <a:pt x="35" y="2066"/>
                  </a:lnTo>
                  <a:lnTo>
                    <a:pt x="35" y="325"/>
                  </a:lnTo>
                  <a:lnTo>
                    <a:pt x="57" y="288"/>
                  </a:lnTo>
                  <a:lnTo>
                    <a:pt x="697" y="15"/>
                  </a:lnTo>
                  <a:lnTo>
                    <a:pt x="758" y="2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9" name="Freeform 305"/>
            <p:cNvSpPr>
              <a:spLocks/>
            </p:cNvSpPr>
            <p:nvPr/>
          </p:nvSpPr>
          <p:spPr bwMode="auto">
            <a:xfrm>
              <a:off x="1126" y="3373"/>
              <a:ext cx="16" cy="27"/>
            </a:xfrm>
            <a:custGeom>
              <a:avLst/>
              <a:gdLst>
                <a:gd name="T0" fmla="*/ 0 w 97"/>
                <a:gd name="T1" fmla="*/ 1 h 162"/>
                <a:gd name="T2" fmla="*/ 0 w 97"/>
                <a:gd name="T3" fmla="*/ 1 h 162"/>
                <a:gd name="T4" fmla="*/ 0 w 97"/>
                <a:gd name="T5" fmla="*/ 0 h 162"/>
                <a:gd name="T6" fmla="*/ 0 w 97"/>
                <a:gd name="T7" fmla="*/ 0 h 162"/>
                <a:gd name="T8" fmla="*/ 0 w 97"/>
                <a:gd name="T9" fmla="*/ 0 h 162"/>
                <a:gd name="T10" fmla="*/ 0 w 97"/>
                <a:gd name="T11" fmla="*/ 1 h 162"/>
                <a:gd name="T12" fmla="*/ 0 w 97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2"/>
                <a:gd name="T23" fmla="*/ 97 w 97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2">
                  <a:moveTo>
                    <a:pt x="80" y="162"/>
                  </a:moveTo>
                  <a:lnTo>
                    <a:pt x="97" y="151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39"/>
                  </a:lnTo>
                  <a:lnTo>
                    <a:pt x="80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0" name="Freeform 306"/>
            <p:cNvSpPr>
              <a:spLocks/>
            </p:cNvSpPr>
            <p:nvPr/>
          </p:nvSpPr>
          <p:spPr bwMode="auto">
            <a:xfrm>
              <a:off x="1126" y="3418"/>
              <a:ext cx="16" cy="28"/>
            </a:xfrm>
            <a:custGeom>
              <a:avLst/>
              <a:gdLst>
                <a:gd name="T0" fmla="*/ 0 w 97"/>
                <a:gd name="T1" fmla="*/ 1 h 164"/>
                <a:gd name="T2" fmla="*/ 0 w 97"/>
                <a:gd name="T3" fmla="*/ 1 h 164"/>
                <a:gd name="T4" fmla="*/ 0 w 97"/>
                <a:gd name="T5" fmla="*/ 0 h 164"/>
                <a:gd name="T6" fmla="*/ 0 w 97"/>
                <a:gd name="T7" fmla="*/ 0 h 164"/>
                <a:gd name="T8" fmla="*/ 0 w 97"/>
                <a:gd name="T9" fmla="*/ 0 h 164"/>
                <a:gd name="T10" fmla="*/ 0 w 97"/>
                <a:gd name="T11" fmla="*/ 1 h 164"/>
                <a:gd name="T12" fmla="*/ 0 w 97"/>
                <a:gd name="T13" fmla="*/ 1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4"/>
                <a:gd name="T23" fmla="*/ 97 w 9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4">
                  <a:moveTo>
                    <a:pt x="80" y="164"/>
                  </a:moveTo>
                  <a:lnTo>
                    <a:pt x="97" y="152"/>
                  </a:lnTo>
                  <a:lnTo>
                    <a:pt x="96" y="12"/>
                  </a:lnTo>
                  <a:lnTo>
                    <a:pt x="17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1" name="Freeform 307"/>
            <p:cNvSpPr>
              <a:spLocks/>
            </p:cNvSpPr>
            <p:nvPr/>
          </p:nvSpPr>
          <p:spPr bwMode="auto">
            <a:xfrm>
              <a:off x="1126" y="3464"/>
              <a:ext cx="16" cy="27"/>
            </a:xfrm>
            <a:custGeom>
              <a:avLst/>
              <a:gdLst>
                <a:gd name="T0" fmla="*/ 0 w 98"/>
                <a:gd name="T1" fmla="*/ 1 h 162"/>
                <a:gd name="T2" fmla="*/ 0 w 98"/>
                <a:gd name="T3" fmla="*/ 1 h 162"/>
                <a:gd name="T4" fmla="*/ 0 w 98"/>
                <a:gd name="T5" fmla="*/ 0 h 162"/>
                <a:gd name="T6" fmla="*/ 0 w 98"/>
                <a:gd name="T7" fmla="*/ 0 h 162"/>
                <a:gd name="T8" fmla="*/ 0 w 98"/>
                <a:gd name="T9" fmla="*/ 0 h 162"/>
                <a:gd name="T10" fmla="*/ 0 w 98"/>
                <a:gd name="T11" fmla="*/ 1 h 162"/>
                <a:gd name="T12" fmla="*/ 0 w 98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"/>
                <a:gd name="T22" fmla="*/ 0 h 162"/>
                <a:gd name="T23" fmla="*/ 98 w 98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" h="162">
                  <a:moveTo>
                    <a:pt x="81" y="162"/>
                  </a:moveTo>
                  <a:lnTo>
                    <a:pt x="98" y="151"/>
                  </a:lnTo>
                  <a:lnTo>
                    <a:pt x="96" y="10"/>
                  </a:lnTo>
                  <a:lnTo>
                    <a:pt x="17" y="0"/>
                  </a:lnTo>
                  <a:lnTo>
                    <a:pt x="0" y="11"/>
                  </a:lnTo>
                  <a:lnTo>
                    <a:pt x="19" y="140"/>
                  </a:lnTo>
                  <a:lnTo>
                    <a:pt x="81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2" name="Freeform 308"/>
            <p:cNvSpPr>
              <a:spLocks/>
            </p:cNvSpPr>
            <p:nvPr/>
          </p:nvSpPr>
          <p:spPr bwMode="auto">
            <a:xfrm>
              <a:off x="1127" y="3510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40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3" name="Freeform 309"/>
            <p:cNvSpPr>
              <a:spLocks/>
            </p:cNvSpPr>
            <p:nvPr/>
          </p:nvSpPr>
          <p:spPr bwMode="auto">
            <a:xfrm>
              <a:off x="1127" y="3556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2"/>
                  </a:lnTo>
                  <a:lnTo>
                    <a:pt x="16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4" name="Freeform 310"/>
            <p:cNvSpPr>
              <a:spLocks/>
            </p:cNvSpPr>
            <p:nvPr/>
          </p:nvSpPr>
          <p:spPr bwMode="auto">
            <a:xfrm>
              <a:off x="1126" y="3375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5" name="Freeform 311"/>
            <p:cNvSpPr>
              <a:spLocks/>
            </p:cNvSpPr>
            <p:nvPr/>
          </p:nvSpPr>
          <p:spPr bwMode="auto">
            <a:xfrm>
              <a:off x="1126" y="3420"/>
              <a:ext cx="13" cy="26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80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6" name="Freeform 312"/>
            <p:cNvSpPr>
              <a:spLocks/>
            </p:cNvSpPr>
            <p:nvPr/>
          </p:nvSpPr>
          <p:spPr bwMode="auto">
            <a:xfrm>
              <a:off x="1126" y="3466"/>
              <a:ext cx="14" cy="25"/>
            </a:xfrm>
            <a:custGeom>
              <a:avLst/>
              <a:gdLst>
                <a:gd name="T0" fmla="*/ 0 w 81"/>
                <a:gd name="T1" fmla="*/ 1 h 151"/>
                <a:gd name="T2" fmla="*/ 0 w 81"/>
                <a:gd name="T3" fmla="*/ 0 h 151"/>
                <a:gd name="T4" fmla="*/ 0 w 81"/>
                <a:gd name="T5" fmla="*/ 0 h 151"/>
                <a:gd name="T6" fmla="*/ 0 w 81"/>
                <a:gd name="T7" fmla="*/ 1 h 151"/>
                <a:gd name="T8" fmla="*/ 0 w 81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151"/>
                <a:gd name="T17" fmla="*/ 81 w 81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151">
                  <a:moveTo>
                    <a:pt x="81" y="151"/>
                  </a:moveTo>
                  <a:lnTo>
                    <a:pt x="81" y="10"/>
                  </a:lnTo>
                  <a:lnTo>
                    <a:pt x="0" y="0"/>
                  </a:lnTo>
                  <a:lnTo>
                    <a:pt x="2" y="141"/>
                  </a:lnTo>
                  <a:lnTo>
                    <a:pt x="81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7" name="Freeform 313"/>
            <p:cNvSpPr>
              <a:spLocks/>
            </p:cNvSpPr>
            <p:nvPr/>
          </p:nvSpPr>
          <p:spPr bwMode="auto">
            <a:xfrm>
              <a:off x="1127" y="3512"/>
              <a:ext cx="13" cy="25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1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8" name="Freeform 314"/>
            <p:cNvSpPr>
              <a:spLocks/>
            </p:cNvSpPr>
            <p:nvPr/>
          </p:nvSpPr>
          <p:spPr bwMode="auto">
            <a:xfrm>
              <a:off x="1127" y="3558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9" name="Freeform 315"/>
            <p:cNvSpPr>
              <a:spLocks/>
            </p:cNvSpPr>
            <p:nvPr/>
          </p:nvSpPr>
          <p:spPr bwMode="auto">
            <a:xfrm>
              <a:off x="1127" y="3377"/>
              <a:ext cx="11" cy="19"/>
            </a:xfrm>
            <a:custGeom>
              <a:avLst/>
              <a:gdLst>
                <a:gd name="T0" fmla="*/ 0 w 65"/>
                <a:gd name="T1" fmla="*/ 0 h 117"/>
                <a:gd name="T2" fmla="*/ 0 w 65"/>
                <a:gd name="T3" fmla="*/ 0 h 117"/>
                <a:gd name="T4" fmla="*/ 0 w 65"/>
                <a:gd name="T5" fmla="*/ 0 h 117"/>
                <a:gd name="T6" fmla="*/ 0 w 65"/>
                <a:gd name="T7" fmla="*/ 0 h 117"/>
                <a:gd name="T8" fmla="*/ 0 w 65"/>
                <a:gd name="T9" fmla="*/ 0 h 117"/>
                <a:gd name="T10" fmla="*/ 0 w 65"/>
                <a:gd name="T11" fmla="*/ 0 h 117"/>
                <a:gd name="T12" fmla="*/ 0 w 6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7"/>
                <a:gd name="T23" fmla="*/ 65 w 65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7">
                  <a:moveTo>
                    <a:pt x="65" y="40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3"/>
                  </a:lnTo>
                  <a:lnTo>
                    <a:pt x="26" y="117"/>
                  </a:lnTo>
                  <a:lnTo>
                    <a:pt x="26" y="30"/>
                  </a:lnTo>
                  <a:lnTo>
                    <a:pt x="65" y="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0" name="Freeform 316"/>
            <p:cNvSpPr>
              <a:spLocks/>
            </p:cNvSpPr>
            <p:nvPr/>
          </p:nvSpPr>
          <p:spPr bwMode="auto">
            <a:xfrm>
              <a:off x="1127" y="3423"/>
              <a:ext cx="11" cy="19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0 h 118"/>
                <a:gd name="T8" fmla="*/ 0 w 65"/>
                <a:gd name="T9" fmla="*/ 0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5"/>
                  </a:lnTo>
                  <a:lnTo>
                    <a:pt x="25" y="118"/>
                  </a:lnTo>
                  <a:lnTo>
                    <a:pt x="25" y="31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1" name="Freeform 317"/>
            <p:cNvSpPr>
              <a:spLocks/>
            </p:cNvSpPr>
            <p:nvPr/>
          </p:nvSpPr>
          <p:spPr bwMode="auto">
            <a:xfrm>
              <a:off x="1128" y="3468"/>
              <a:ext cx="10" cy="20"/>
            </a:xfrm>
            <a:custGeom>
              <a:avLst/>
              <a:gdLst>
                <a:gd name="T0" fmla="*/ 0 w 66"/>
                <a:gd name="T1" fmla="*/ 0 h 119"/>
                <a:gd name="T2" fmla="*/ 0 w 66"/>
                <a:gd name="T3" fmla="*/ 0 h 119"/>
                <a:gd name="T4" fmla="*/ 0 w 66"/>
                <a:gd name="T5" fmla="*/ 0 h 119"/>
                <a:gd name="T6" fmla="*/ 0 w 66"/>
                <a:gd name="T7" fmla="*/ 1 h 119"/>
                <a:gd name="T8" fmla="*/ 0 w 66"/>
                <a:gd name="T9" fmla="*/ 1 h 119"/>
                <a:gd name="T10" fmla="*/ 0 w 66"/>
                <a:gd name="T11" fmla="*/ 0 h 119"/>
                <a:gd name="T12" fmla="*/ 0 w 66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"/>
                <a:gd name="T22" fmla="*/ 0 h 119"/>
                <a:gd name="T23" fmla="*/ 66 w 6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" h="119">
                  <a:moveTo>
                    <a:pt x="66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25" y="119"/>
                  </a:lnTo>
                  <a:lnTo>
                    <a:pt x="25" y="31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2" name="Freeform 318"/>
            <p:cNvSpPr>
              <a:spLocks/>
            </p:cNvSpPr>
            <p:nvPr/>
          </p:nvSpPr>
          <p:spPr bwMode="auto">
            <a:xfrm>
              <a:off x="1128" y="3514"/>
              <a:ext cx="11" cy="20"/>
            </a:xfrm>
            <a:custGeom>
              <a:avLst/>
              <a:gdLst>
                <a:gd name="T0" fmla="*/ 0 w 65"/>
                <a:gd name="T1" fmla="*/ 0 h 119"/>
                <a:gd name="T2" fmla="*/ 0 w 65"/>
                <a:gd name="T3" fmla="*/ 0 h 119"/>
                <a:gd name="T4" fmla="*/ 0 w 65"/>
                <a:gd name="T5" fmla="*/ 0 h 119"/>
                <a:gd name="T6" fmla="*/ 0 w 65"/>
                <a:gd name="T7" fmla="*/ 1 h 119"/>
                <a:gd name="T8" fmla="*/ 0 w 65"/>
                <a:gd name="T9" fmla="*/ 1 h 119"/>
                <a:gd name="T10" fmla="*/ 0 w 65"/>
                <a:gd name="T11" fmla="*/ 0 h 119"/>
                <a:gd name="T12" fmla="*/ 0 w 65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9"/>
                <a:gd name="T23" fmla="*/ 65 w 65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9">
                  <a:moveTo>
                    <a:pt x="65" y="43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5" y="119"/>
                  </a:lnTo>
                  <a:lnTo>
                    <a:pt x="24" y="32"/>
                  </a:lnTo>
                  <a:lnTo>
                    <a:pt x="65" y="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3" name="Freeform 319"/>
            <p:cNvSpPr>
              <a:spLocks/>
            </p:cNvSpPr>
            <p:nvPr/>
          </p:nvSpPr>
          <p:spPr bwMode="auto">
            <a:xfrm>
              <a:off x="1128" y="3560"/>
              <a:ext cx="11" cy="20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1 h 118"/>
                <a:gd name="T8" fmla="*/ 0 w 65"/>
                <a:gd name="T9" fmla="*/ 1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6" y="118"/>
                  </a:lnTo>
                  <a:lnTo>
                    <a:pt x="26" y="32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4" name="Freeform 320"/>
            <p:cNvSpPr>
              <a:spLocks/>
            </p:cNvSpPr>
            <p:nvPr/>
          </p:nvSpPr>
          <p:spPr bwMode="auto">
            <a:xfrm>
              <a:off x="1132" y="3383"/>
              <a:ext cx="6" cy="15"/>
            </a:xfrm>
            <a:custGeom>
              <a:avLst/>
              <a:gdLst>
                <a:gd name="T0" fmla="*/ 0 w 41"/>
                <a:gd name="T1" fmla="*/ 0 h 93"/>
                <a:gd name="T2" fmla="*/ 0 w 41"/>
                <a:gd name="T3" fmla="*/ 0 h 93"/>
                <a:gd name="T4" fmla="*/ 0 w 41"/>
                <a:gd name="T5" fmla="*/ 0 h 93"/>
                <a:gd name="T6" fmla="*/ 0 w 41"/>
                <a:gd name="T7" fmla="*/ 0 h 93"/>
                <a:gd name="T8" fmla="*/ 0 w 41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3"/>
                <a:gd name="T17" fmla="*/ 41 w 41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3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3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5" name="Freeform 321"/>
            <p:cNvSpPr>
              <a:spLocks/>
            </p:cNvSpPr>
            <p:nvPr/>
          </p:nvSpPr>
          <p:spPr bwMode="auto">
            <a:xfrm>
              <a:off x="1132" y="3428"/>
              <a:ext cx="7" cy="16"/>
            </a:xfrm>
            <a:custGeom>
              <a:avLst/>
              <a:gdLst>
                <a:gd name="T0" fmla="*/ 0 w 41"/>
                <a:gd name="T1" fmla="*/ 0 h 92"/>
                <a:gd name="T2" fmla="*/ 0 w 41"/>
                <a:gd name="T3" fmla="*/ 0 h 92"/>
                <a:gd name="T4" fmla="*/ 0 w 41"/>
                <a:gd name="T5" fmla="*/ 1 h 92"/>
                <a:gd name="T6" fmla="*/ 0 w 41"/>
                <a:gd name="T7" fmla="*/ 1 h 92"/>
                <a:gd name="T8" fmla="*/ 0 w 41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2"/>
                <a:gd name="T17" fmla="*/ 41 w 41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2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2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6" name="Freeform 322"/>
            <p:cNvSpPr>
              <a:spLocks/>
            </p:cNvSpPr>
            <p:nvPr/>
          </p:nvSpPr>
          <p:spPr bwMode="auto">
            <a:xfrm>
              <a:off x="1132" y="3474"/>
              <a:ext cx="7" cy="16"/>
            </a:xfrm>
            <a:custGeom>
              <a:avLst/>
              <a:gdLst>
                <a:gd name="T0" fmla="*/ 0 w 39"/>
                <a:gd name="T1" fmla="*/ 0 h 92"/>
                <a:gd name="T2" fmla="*/ 0 w 39"/>
                <a:gd name="T3" fmla="*/ 0 h 92"/>
                <a:gd name="T4" fmla="*/ 0 w 39"/>
                <a:gd name="T5" fmla="*/ 1 h 92"/>
                <a:gd name="T6" fmla="*/ 0 w 39"/>
                <a:gd name="T7" fmla="*/ 1 h 92"/>
                <a:gd name="T8" fmla="*/ 0 w 39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92"/>
                <a:gd name="T17" fmla="*/ 39 w 39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92">
                  <a:moveTo>
                    <a:pt x="39" y="1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39" y="92"/>
                  </a:lnTo>
                  <a:lnTo>
                    <a:pt x="39" y="1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7" name="Freeform 323"/>
            <p:cNvSpPr>
              <a:spLocks/>
            </p:cNvSpPr>
            <p:nvPr/>
          </p:nvSpPr>
          <p:spPr bwMode="auto">
            <a:xfrm>
              <a:off x="1132" y="3520"/>
              <a:ext cx="7" cy="16"/>
            </a:xfrm>
            <a:custGeom>
              <a:avLst/>
              <a:gdLst>
                <a:gd name="T0" fmla="*/ 0 w 40"/>
                <a:gd name="T1" fmla="*/ 0 h 94"/>
                <a:gd name="T2" fmla="*/ 0 w 40"/>
                <a:gd name="T3" fmla="*/ 0 h 94"/>
                <a:gd name="T4" fmla="*/ 0 w 40"/>
                <a:gd name="T5" fmla="*/ 1 h 94"/>
                <a:gd name="T6" fmla="*/ 0 w 40"/>
                <a:gd name="T7" fmla="*/ 1 h 94"/>
                <a:gd name="T8" fmla="*/ 0 w 4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4"/>
                <a:gd name="T17" fmla="*/ 40 w 40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4">
                  <a:moveTo>
                    <a:pt x="39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4"/>
                  </a:lnTo>
                  <a:lnTo>
                    <a:pt x="39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8" name="Freeform 324"/>
            <p:cNvSpPr>
              <a:spLocks/>
            </p:cNvSpPr>
            <p:nvPr/>
          </p:nvSpPr>
          <p:spPr bwMode="auto">
            <a:xfrm>
              <a:off x="1133" y="3566"/>
              <a:ext cx="6" cy="16"/>
            </a:xfrm>
            <a:custGeom>
              <a:avLst/>
              <a:gdLst>
                <a:gd name="T0" fmla="*/ 0 w 40"/>
                <a:gd name="T1" fmla="*/ 0 h 93"/>
                <a:gd name="T2" fmla="*/ 0 w 40"/>
                <a:gd name="T3" fmla="*/ 0 h 93"/>
                <a:gd name="T4" fmla="*/ 0 w 40"/>
                <a:gd name="T5" fmla="*/ 1 h 93"/>
                <a:gd name="T6" fmla="*/ 0 w 40"/>
                <a:gd name="T7" fmla="*/ 1 h 93"/>
                <a:gd name="T8" fmla="*/ 0 w 40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3"/>
                <a:gd name="T17" fmla="*/ 40 w 40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3">
                  <a:moveTo>
                    <a:pt x="40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3"/>
                  </a:lnTo>
                  <a:lnTo>
                    <a:pt x="40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9" name="Freeform 325"/>
            <p:cNvSpPr>
              <a:spLocks/>
            </p:cNvSpPr>
            <p:nvPr/>
          </p:nvSpPr>
          <p:spPr bwMode="auto">
            <a:xfrm>
              <a:off x="1126" y="3588"/>
              <a:ext cx="19" cy="66"/>
            </a:xfrm>
            <a:custGeom>
              <a:avLst/>
              <a:gdLst>
                <a:gd name="T0" fmla="*/ 0 w 115"/>
                <a:gd name="T1" fmla="*/ 0 h 390"/>
                <a:gd name="T2" fmla="*/ 0 w 115"/>
                <a:gd name="T3" fmla="*/ 0 h 390"/>
                <a:gd name="T4" fmla="*/ 0 w 115"/>
                <a:gd name="T5" fmla="*/ 0 h 390"/>
                <a:gd name="T6" fmla="*/ 0 w 115"/>
                <a:gd name="T7" fmla="*/ 0 h 390"/>
                <a:gd name="T8" fmla="*/ 0 w 115"/>
                <a:gd name="T9" fmla="*/ 0 h 390"/>
                <a:gd name="T10" fmla="*/ 0 w 115"/>
                <a:gd name="T11" fmla="*/ 0 h 390"/>
                <a:gd name="T12" fmla="*/ 0 w 115"/>
                <a:gd name="T13" fmla="*/ 0 h 390"/>
                <a:gd name="T14" fmla="*/ 0 w 115"/>
                <a:gd name="T15" fmla="*/ 0 h 390"/>
                <a:gd name="T16" fmla="*/ 0 w 115"/>
                <a:gd name="T17" fmla="*/ 0 h 390"/>
                <a:gd name="T18" fmla="*/ 0 w 115"/>
                <a:gd name="T19" fmla="*/ 0 h 390"/>
                <a:gd name="T20" fmla="*/ 0 w 115"/>
                <a:gd name="T21" fmla="*/ 0 h 390"/>
                <a:gd name="T22" fmla="*/ 0 w 115"/>
                <a:gd name="T23" fmla="*/ 0 h 390"/>
                <a:gd name="T24" fmla="*/ 0 w 115"/>
                <a:gd name="T25" fmla="*/ 0 h 390"/>
                <a:gd name="T26" fmla="*/ 0 w 115"/>
                <a:gd name="T27" fmla="*/ 0 h 390"/>
                <a:gd name="T28" fmla="*/ 0 w 115"/>
                <a:gd name="T29" fmla="*/ 0 h 390"/>
                <a:gd name="T30" fmla="*/ 0 w 115"/>
                <a:gd name="T31" fmla="*/ 0 h 390"/>
                <a:gd name="T32" fmla="*/ 0 w 115"/>
                <a:gd name="T33" fmla="*/ 0 h 390"/>
                <a:gd name="T34" fmla="*/ 0 w 115"/>
                <a:gd name="T35" fmla="*/ 0 h 390"/>
                <a:gd name="T36" fmla="*/ 0 w 115"/>
                <a:gd name="T37" fmla="*/ 2 h 390"/>
                <a:gd name="T38" fmla="*/ 0 w 115"/>
                <a:gd name="T39" fmla="*/ 2 h 390"/>
                <a:gd name="T40" fmla="*/ 0 w 115"/>
                <a:gd name="T41" fmla="*/ 2 h 390"/>
                <a:gd name="T42" fmla="*/ 0 w 115"/>
                <a:gd name="T43" fmla="*/ 2 h 390"/>
                <a:gd name="T44" fmla="*/ 0 w 115"/>
                <a:gd name="T45" fmla="*/ 2 h 390"/>
                <a:gd name="T46" fmla="*/ 0 w 115"/>
                <a:gd name="T47" fmla="*/ 2 h 390"/>
                <a:gd name="T48" fmla="*/ 0 w 115"/>
                <a:gd name="T49" fmla="*/ 2 h 390"/>
                <a:gd name="T50" fmla="*/ 0 w 115"/>
                <a:gd name="T51" fmla="*/ 2 h 390"/>
                <a:gd name="T52" fmla="*/ 0 w 115"/>
                <a:gd name="T53" fmla="*/ 2 h 390"/>
                <a:gd name="T54" fmla="*/ 0 w 115"/>
                <a:gd name="T55" fmla="*/ 2 h 390"/>
                <a:gd name="T56" fmla="*/ 0 w 115"/>
                <a:gd name="T57" fmla="*/ 2 h 390"/>
                <a:gd name="T58" fmla="*/ 0 w 115"/>
                <a:gd name="T59" fmla="*/ 2 h 390"/>
                <a:gd name="T60" fmla="*/ 0 w 115"/>
                <a:gd name="T61" fmla="*/ 2 h 390"/>
                <a:gd name="T62" fmla="*/ 0 w 115"/>
                <a:gd name="T63" fmla="*/ 2 h 390"/>
                <a:gd name="T64" fmla="*/ 0 w 115"/>
                <a:gd name="T65" fmla="*/ 2 h 390"/>
                <a:gd name="T66" fmla="*/ 0 w 115"/>
                <a:gd name="T67" fmla="*/ 2 h 390"/>
                <a:gd name="T68" fmla="*/ 0 w 115"/>
                <a:gd name="T69" fmla="*/ 2 h 390"/>
                <a:gd name="T70" fmla="*/ 0 w 115"/>
                <a:gd name="T71" fmla="*/ 2 h 390"/>
                <a:gd name="T72" fmla="*/ 0 w 115"/>
                <a:gd name="T73" fmla="*/ 0 h 3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5"/>
                <a:gd name="T112" fmla="*/ 0 h 390"/>
                <a:gd name="T113" fmla="*/ 115 w 115"/>
                <a:gd name="T114" fmla="*/ 390 h 3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5" h="390">
                  <a:moveTo>
                    <a:pt x="114" y="28"/>
                  </a:moveTo>
                  <a:lnTo>
                    <a:pt x="113" y="20"/>
                  </a:lnTo>
                  <a:lnTo>
                    <a:pt x="109" y="13"/>
                  </a:lnTo>
                  <a:lnTo>
                    <a:pt x="102" y="9"/>
                  </a:lnTo>
                  <a:lnTo>
                    <a:pt x="94" y="6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7"/>
                  </a:lnTo>
                  <a:lnTo>
                    <a:pt x="10" y="11"/>
                  </a:lnTo>
                  <a:lnTo>
                    <a:pt x="5" y="18"/>
                  </a:lnTo>
                  <a:lnTo>
                    <a:pt x="1" y="26"/>
                  </a:lnTo>
                  <a:lnTo>
                    <a:pt x="0" y="35"/>
                  </a:lnTo>
                  <a:lnTo>
                    <a:pt x="1" y="362"/>
                  </a:lnTo>
                  <a:lnTo>
                    <a:pt x="2" y="370"/>
                  </a:lnTo>
                  <a:lnTo>
                    <a:pt x="7" y="377"/>
                  </a:lnTo>
                  <a:lnTo>
                    <a:pt x="14" y="382"/>
                  </a:lnTo>
                  <a:lnTo>
                    <a:pt x="22" y="385"/>
                  </a:lnTo>
                  <a:lnTo>
                    <a:pt x="61" y="390"/>
                  </a:lnTo>
                  <a:lnTo>
                    <a:pt x="66" y="390"/>
                  </a:lnTo>
                  <a:lnTo>
                    <a:pt x="70" y="390"/>
                  </a:lnTo>
                  <a:lnTo>
                    <a:pt x="76" y="390"/>
                  </a:lnTo>
                  <a:lnTo>
                    <a:pt x="80" y="389"/>
                  </a:lnTo>
                  <a:lnTo>
                    <a:pt x="86" y="389"/>
                  </a:lnTo>
                  <a:lnTo>
                    <a:pt x="91" y="388"/>
                  </a:lnTo>
                  <a:lnTo>
                    <a:pt x="95" y="386"/>
                  </a:lnTo>
                  <a:lnTo>
                    <a:pt x="98" y="385"/>
                  </a:lnTo>
                  <a:lnTo>
                    <a:pt x="105" y="379"/>
                  </a:lnTo>
                  <a:lnTo>
                    <a:pt x="111" y="372"/>
                  </a:lnTo>
                  <a:lnTo>
                    <a:pt x="114" y="364"/>
                  </a:lnTo>
                  <a:lnTo>
                    <a:pt x="115" y="355"/>
                  </a:lnTo>
                  <a:lnTo>
                    <a:pt x="114" y="2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0" name="Freeform 326"/>
            <p:cNvSpPr>
              <a:spLocks/>
            </p:cNvSpPr>
            <p:nvPr/>
          </p:nvSpPr>
          <p:spPr bwMode="auto">
            <a:xfrm>
              <a:off x="1126" y="3591"/>
              <a:ext cx="13" cy="63"/>
            </a:xfrm>
            <a:custGeom>
              <a:avLst/>
              <a:gdLst>
                <a:gd name="T0" fmla="*/ 0 w 80"/>
                <a:gd name="T1" fmla="*/ 2 h 372"/>
                <a:gd name="T2" fmla="*/ 0 w 80"/>
                <a:gd name="T3" fmla="*/ 2 h 372"/>
                <a:gd name="T4" fmla="*/ 0 w 80"/>
                <a:gd name="T5" fmla="*/ 2 h 372"/>
                <a:gd name="T6" fmla="*/ 0 w 80"/>
                <a:gd name="T7" fmla="*/ 2 h 372"/>
                <a:gd name="T8" fmla="*/ 0 w 80"/>
                <a:gd name="T9" fmla="*/ 2 h 372"/>
                <a:gd name="T10" fmla="*/ 0 w 80"/>
                <a:gd name="T11" fmla="*/ 0 h 372"/>
                <a:gd name="T12" fmla="*/ 0 w 80"/>
                <a:gd name="T13" fmla="*/ 0 h 372"/>
                <a:gd name="T14" fmla="*/ 0 w 80"/>
                <a:gd name="T15" fmla="*/ 0 h 372"/>
                <a:gd name="T16" fmla="*/ 0 w 80"/>
                <a:gd name="T17" fmla="*/ 0 h 372"/>
                <a:gd name="T18" fmla="*/ 0 w 80"/>
                <a:gd name="T19" fmla="*/ 0 h 372"/>
                <a:gd name="T20" fmla="*/ 0 w 80"/>
                <a:gd name="T21" fmla="*/ 0 h 372"/>
                <a:gd name="T22" fmla="*/ 0 w 80"/>
                <a:gd name="T23" fmla="*/ 0 h 372"/>
                <a:gd name="T24" fmla="*/ 0 w 80"/>
                <a:gd name="T25" fmla="*/ 0 h 372"/>
                <a:gd name="T26" fmla="*/ 0 w 80"/>
                <a:gd name="T27" fmla="*/ 0 h 372"/>
                <a:gd name="T28" fmla="*/ 0 w 80"/>
                <a:gd name="T29" fmla="*/ 0 h 372"/>
                <a:gd name="T30" fmla="*/ 0 w 80"/>
                <a:gd name="T31" fmla="*/ 2 h 372"/>
                <a:gd name="T32" fmla="*/ 0 w 80"/>
                <a:gd name="T33" fmla="*/ 2 h 372"/>
                <a:gd name="T34" fmla="*/ 0 w 80"/>
                <a:gd name="T35" fmla="*/ 2 h 372"/>
                <a:gd name="T36" fmla="*/ 0 w 80"/>
                <a:gd name="T37" fmla="*/ 2 h 372"/>
                <a:gd name="T38" fmla="*/ 0 w 80"/>
                <a:gd name="T39" fmla="*/ 2 h 372"/>
                <a:gd name="T40" fmla="*/ 0 w 80"/>
                <a:gd name="T41" fmla="*/ 2 h 3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372"/>
                <a:gd name="T65" fmla="*/ 80 w 80"/>
                <a:gd name="T66" fmla="*/ 372 h 3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372">
                  <a:moveTo>
                    <a:pt x="61" y="372"/>
                  </a:moveTo>
                  <a:lnTo>
                    <a:pt x="69" y="371"/>
                  </a:lnTo>
                  <a:lnTo>
                    <a:pt x="76" y="369"/>
                  </a:lnTo>
                  <a:lnTo>
                    <a:pt x="79" y="363"/>
                  </a:lnTo>
                  <a:lnTo>
                    <a:pt x="80" y="355"/>
                  </a:lnTo>
                  <a:lnTo>
                    <a:pt x="79" y="28"/>
                  </a:lnTo>
                  <a:lnTo>
                    <a:pt x="78" y="20"/>
                  </a:lnTo>
                  <a:lnTo>
                    <a:pt x="74" y="13"/>
                  </a:lnTo>
                  <a:lnTo>
                    <a:pt x="67" y="8"/>
                  </a:lnTo>
                  <a:lnTo>
                    <a:pt x="59" y="6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5" y="3"/>
                  </a:lnTo>
                  <a:lnTo>
                    <a:pt x="1" y="9"/>
                  </a:lnTo>
                  <a:lnTo>
                    <a:pt x="0" y="17"/>
                  </a:lnTo>
                  <a:lnTo>
                    <a:pt x="1" y="344"/>
                  </a:lnTo>
                  <a:lnTo>
                    <a:pt x="2" y="352"/>
                  </a:lnTo>
                  <a:lnTo>
                    <a:pt x="7" y="359"/>
                  </a:lnTo>
                  <a:lnTo>
                    <a:pt x="14" y="364"/>
                  </a:lnTo>
                  <a:lnTo>
                    <a:pt x="22" y="367"/>
                  </a:lnTo>
                  <a:lnTo>
                    <a:pt x="61" y="37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29" name="Group 327"/>
          <p:cNvGrpSpPr>
            <a:grpSpLocks/>
          </p:cNvGrpSpPr>
          <p:nvPr/>
        </p:nvGrpSpPr>
        <p:grpSpPr bwMode="auto">
          <a:xfrm>
            <a:off x="9521826" y="5248276"/>
            <a:ext cx="314325" cy="542925"/>
            <a:chOff x="1054" y="3290"/>
            <a:chExt cx="238" cy="366"/>
          </a:xfrm>
        </p:grpSpPr>
        <p:sp>
          <p:nvSpPr>
            <p:cNvPr id="3153" name="Freeform 328"/>
            <p:cNvSpPr>
              <a:spLocks/>
            </p:cNvSpPr>
            <p:nvPr/>
          </p:nvSpPr>
          <p:spPr bwMode="auto">
            <a:xfrm>
              <a:off x="1172" y="3574"/>
              <a:ext cx="120" cy="82"/>
            </a:xfrm>
            <a:custGeom>
              <a:avLst/>
              <a:gdLst>
                <a:gd name="T0" fmla="*/ 0 w 720"/>
                <a:gd name="T1" fmla="*/ 2 h 490"/>
                <a:gd name="T2" fmla="*/ 0 w 720"/>
                <a:gd name="T3" fmla="*/ 2 h 490"/>
                <a:gd name="T4" fmla="*/ 0 w 720"/>
                <a:gd name="T5" fmla="*/ 2 h 490"/>
                <a:gd name="T6" fmla="*/ 0 w 720"/>
                <a:gd name="T7" fmla="*/ 2 h 490"/>
                <a:gd name="T8" fmla="*/ 0 w 720"/>
                <a:gd name="T9" fmla="*/ 2 h 490"/>
                <a:gd name="T10" fmla="*/ 1 w 720"/>
                <a:gd name="T11" fmla="*/ 2 h 490"/>
                <a:gd name="T12" fmla="*/ 1 w 720"/>
                <a:gd name="T13" fmla="*/ 2 h 490"/>
                <a:gd name="T14" fmla="*/ 1 w 720"/>
                <a:gd name="T15" fmla="*/ 2 h 490"/>
                <a:gd name="T16" fmla="*/ 1 w 720"/>
                <a:gd name="T17" fmla="*/ 2 h 490"/>
                <a:gd name="T18" fmla="*/ 2 w 720"/>
                <a:gd name="T19" fmla="*/ 2 h 490"/>
                <a:gd name="T20" fmla="*/ 2 w 720"/>
                <a:gd name="T21" fmla="*/ 2 h 490"/>
                <a:gd name="T22" fmla="*/ 3 w 720"/>
                <a:gd name="T23" fmla="*/ 2 h 490"/>
                <a:gd name="T24" fmla="*/ 3 w 720"/>
                <a:gd name="T25" fmla="*/ 1 h 490"/>
                <a:gd name="T26" fmla="*/ 3 w 720"/>
                <a:gd name="T27" fmla="*/ 1 h 490"/>
                <a:gd name="T28" fmla="*/ 3 w 720"/>
                <a:gd name="T29" fmla="*/ 1 h 490"/>
                <a:gd name="T30" fmla="*/ 3 w 720"/>
                <a:gd name="T31" fmla="*/ 1 h 490"/>
                <a:gd name="T32" fmla="*/ 3 w 720"/>
                <a:gd name="T33" fmla="*/ 1 h 490"/>
                <a:gd name="T34" fmla="*/ 3 w 720"/>
                <a:gd name="T35" fmla="*/ 1 h 490"/>
                <a:gd name="T36" fmla="*/ 3 w 720"/>
                <a:gd name="T37" fmla="*/ 1 h 490"/>
                <a:gd name="T38" fmla="*/ 3 w 720"/>
                <a:gd name="T39" fmla="*/ 1 h 490"/>
                <a:gd name="T40" fmla="*/ 3 w 720"/>
                <a:gd name="T41" fmla="*/ 1 h 490"/>
                <a:gd name="T42" fmla="*/ 3 w 720"/>
                <a:gd name="T43" fmla="*/ 1 h 490"/>
                <a:gd name="T44" fmla="*/ 3 w 720"/>
                <a:gd name="T45" fmla="*/ 1 h 490"/>
                <a:gd name="T46" fmla="*/ 2 w 720"/>
                <a:gd name="T47" fmla="*/ 0 h 490"/>
                <a:gd name="T48" fmla="*/ 2 w 720"/>
                <a:gd name="T49" fmla="*/ 0 h 490"/>
                <a:gd name="T50" fmla="*/ 2 w 720"/>
                <a:gd name="T51" fmla="*/ 0 h 490"/>
                <a:gd name="T52" fmla="*/ 2 w 720"/>
                <a:gd name="T53" fmla="*/ 0 h 490"/>
                <a:gd name="T54" fmla="*/ 2 w 720"/>
                <a:gd name="T55" fmla="*/ 0 h 490"/>
                <a:gd name="T56" fmla="*/ 2 w 720"/>
                <a:gd name="T57" fmla="*/ 0 h 490"/>
                <a:gd name="T58" fmla="*/ 2 w 720"/>
                <a:gd name="T59" fmla="*/ 0 h 490"/>
                <a:gd name="T60" fmla="*/ 2 w 720"/>
                <a:gd name="T61" fmla="*/ 0 h 490"/>
                <a:gd name="T62" fmla="*/ 2 w 720"/>
                <a:gd name="T63" fmla="*/ 0 h 490"/>
                <a:gd name="T64" fmla="*/ 2 w 720"/>
                <a:gd name="T65" fmla="*/ 0 h 490"/>
                <a:gd name="T66" fmla="*/ 2 w 720"/>
                <a:gd name="T67" fmla="*/ 0 h 490"/>
                <a:gd name="T68" fmla="*/ 2 w 720"/>
                <a:gd name="T69" fmla="*/ 0 h 490"/>
                <a:gd name="T70" fmla="*/ 1 w 720"/>
                <a:gd name="T71" fmla="*/ 1 h 490"/>
                <a:gd name="T72" fmla="*/ 1 w 720"/>
                <a:gd name="T73" fmla="*/ 1 h 490"/>
                <a:gd name="T74" fmla="*/ 1 w 720"/>
                <a:gd name="T75" fmla="*/ 1 h 490"/>
                <a:gd name="T76" fmla="*/ 1 w 720"/>
                <a:gd name="T77" fmla="*/ 1 h 490"/>
                <a:gd name="T78" fmla="*/ 0 w 720"/>
                <a:gd name="T79" fmla="*/ 1 h 490"/>
                <a:gd name="T80" fmla="*/ 0 w 720"/>
                <a:gd name="T81" fmla="*/ 1 h 490"/>
                <a:gd name="T82" fmla="*/ 0 w 720"/>
                <a:gd name="T83" fmla="*/ 1 h 490"/>
                <a:gd name="T84" fmla="*/ 0 w 720"/>
                <a:gd name="T85" fmla="*/ 1 h 490"/>
                <a:gd name="T86" fmla="*/ 0 w 720"/>
                <a:gd name="T87" fmla="*/ 2 h 49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20"/>
                <a:gd name="T133" fmla="*/ 0 h 490"/>
                <a:gd name="T134" fmla="*/ 720 w 720"/>
                <a:gd name="T135" fmla="*/ 490 h 49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20" h="490">
                  <a:moveTo>
                    <a:pt x="55" y="382"/>
                  </a:moveTo>
                  <a:lnTo>
                    <a:pt x="54" y="389"/>
                  </a:lnTo>
                  <a:lnTo>
                    <a:pt x="52" y="395"/>
                  </a:lnTo>
                  <a:lnTo>
                    <a:pt x="47" y="401"/>
                  </a:lnTo>
                  <a:lnTo>
                    <a:pt x="41" y="405"/>
                  </a:lnTo>
                  <a:lnTo>
                    <a:pt x="37" y="409"/>
                  </a:lnTo>
                  <a:lnTo>
                    <a:pt x="26" y="414"/>
                  </a:lnTo>
                  <a:lnTo>
                    <a:pt x="14" y="421"/>
                  </a:lnTo>
                  <a:lnTo>
                    <a:pt x="10" y="425"/>
                  </a:lnTo>
                  <a:lnTo>
                    <a:pt x="4" y="429"/>
                  </a:lnTo>
                  <a:lnTo>
                    <a:pt x="1" y="434"/>
                  </a:lnTo>
                  <a:lnTo>
                    <a:pt x="0" y="437"/>
                  </a:lnTo>
                  <a:lnTo>
                    <a:pt x="0" y="440"/>
                  </a:lnTo>
                  <a:lnTo>
                    <a:pt x="1" y="444"/>
                  </a:lnTo>
                  <a:lnTo>
                    <a:pt x="3" y="446"/>
                  </a:lnTo>
                  <a:lnTo>
                    <a:pt x="8" y="449"/>
                  </a:lnTo>
                  <a:lnTo>
                    <a:pt x="14" y="450"/>
                  </a:lnTo>
                  <a:lnTo>
                    <a:pt x="254" y="489"/>
                  </a:lnTo>
                  <a:lnTo>
                    <a:pt x="258" y="490"/>
                  </a:lnTo>
                  <a:lnTo>
                    <a:pt x="264" y="490"/>
                  </a:lnTo>
                  <a:lnTo>
                    <a:pt x="269" y="489"/>
                  </a:lnTo>
                  <a:lnTo>
                    <a:pt x="275" y="489"/>
                  </a:lnTo>
                  <a:lnTo>
                    <a:pt x="281" y="488"/>
                  </a:lnTo>
                  <a:lnTo>
                    <a:pt x="286" y="485"/>
                  </a:lnTo>
                  <a:lnTo>
                    <a:pt x="291" y="484"/>
                  </a:lnTo>
                  <a:lnTo>
                    <a:pt x="295" y="482"/>
                  </a:lnTo>
                  <a:lnTo>
                    <a:pt x="300" y="480"/>
                  </a:lnTo>
                  <a:lnTo>
                    <a:pt x="312" y="473"/>
                  </a:lnTo>
                  <a:lnTo>
                    <a:pt x="333" y="463"/>
                  </a:lnTo>
                  <a:lnTo>
                    <a:pt x="359" y="448"/>
                  </a:lnTo>
                  <a:lnTo>
                    <a:pt x="389" y="432"/>
                  </a:lnTo>
                  <a:lnTo>
                    <a:pt x="423" y="414"/>
                  </a:lnTo>
                  <a:lnTo>
                    <a:pt x="460" y="395"/>
                  </a:lnTo>
                  <a:lnTo>
                    <a:pt x="497" y="375"/>
                  </a:lnTo>
                  <a:lnTo>
                    <a:pt x="535" y="356"/>
                  </a:lnTo>
                  <a:lnTo>
                    <a:pt x="572" y="337"/>
                  </a:lnTo>
                  <a:lnTo>
                    <a:pt x="606" y="319"/>
                  </a:lnTo>
                  <a:lnTo>
                    <a:pt x="636" y="303"/>
                  </a:lnTo>
                  <a:lnTo>
                    <a:pt x="662" y="288"/>
                  </a:lnTo>
                  <a:lnTo>
                    <a:pt x="683" y="278"/>
                  </a:lnTo>
                  <a:lnTo>
                    <a:pt x="695" y="272"/>
                  </a:lnTo>
                  <a:lnTo>
                    <a:pt x="700" y="269"/>
                  </a:lnTo>
                  <a:lnTo>
                    <a:pt x="709" y="263"/>
                  </a:lnTo>
                  <a:lnTo>
                    <a:pt x="715" y="254"/>
                  </a:lnTo>
                  <a:lnTo>
                    <a:pt x="719" y="243"/>
                  </a:lnTo>
                  <a:lnTo>
                    <a:pt x="720" y="233"/>
                  </a:lnTo>
                  <a:lnTo>
                    <a:pt x="720" y="230"/>
                  </a:lnTo>
                  <a:lnTo>
                    <a:pt x="720" y="224"/>
                  </a:lnTo>
                  <a:lnTo>
                    <a:pt x="720" y="218"/>
                  </a:lnTo>
                  <a:lnTo>
                    <a:pt x="720" y="215"/>
                  </a:lnTo>
                  <a:lnTo>
                    <a:pt x="718" y="205"/>
                  </a:lnTo>
                  <a:lnTo>
                    <a:pt x="712" y="196"/>
                  </a:lnTo>
                  <a:lnTo>
                    <a:pt x="704" y="189"/>
                  </a:lnTo>
                  <a:lnTo>
                    <a:pt x="694" y="186"/>
                  </a:lnTo>
                  <a:lnTo>
                    <a:pt x="692" y="186"/>
                  </a:lnTo>
                  <a:lnTo>
                    <a:pt x="686" y="185"/>
                  </a:lnTo>
                  <a:lnTo>
                    <a:pt x="677" y="183"/>
                  </a:lnTo>
                  <a:lnTo>
                    <a:pt x="668" y="182"/>
                  </a:lnTo>
                  <a:lnTo>
                    <a:pt x="658" y="180"/>
                  </a:lnTo>
                  <a:lnTo>
                    <a:pt x="649" y="178"/>
                  </a:lnTo>
                  <a:lnTo>
                    <a:pt x="643" y="177"/>
                  </a:lnTo>
                  <a:lnTo>
                    <a:pt x="641" y="177"/>
                  </a:lnTo>
                  <a:lnTo>
                    <a:pt x="634" y="175"/>
                  </a:lnTo>
                  <a:lnTo>
                    <a:pt x="627" y="170"/>
                  </a:lnTo>
                  <a:lnTo>
                    <a:pt x="622" y="166"/>
                  </a:lnTo>
                  <a:lnTo>
                    <a:pt x="617" y="160"/>
                  </a:lnTo>
                  <a:lnTo>
                    <a:pt x="614" y="155"/>
                  </a:lnTo>
                  <a:lnTo>
                    <a:pt x="607" y="141"/>
                  </a:lnTo>
                  <a:lnTo>
                    <a:pt x="596" y="122"/>
                  </a:lnTo>
                  <a:lnTo>
                    <a:pt x="583" y="98"/>
                  </a:lnTo>
                  <a:lnTo>
                    <a:pt x="571" y="76"/>
                  </a:lnTo>
                  <a:lnTo>
                    <a:pt x="560" y="57"/>
                  </a:lnTo>
                  <a:lnTo>
                    <a:pt x="553" y="43"/>
                  </a:lnTo>
                  <a:lnTo>
                    <a:pt x="549" y="38"/>
                  </a:lnTo>
                  <a:lnTo>
                    <a:pt x="546" y="33"/>
                  </a:lnTo>
                  <a:lnTo>
                    <a:pt x="543" y="30"/>
                  </a:lnTo>
                  <a:lnTo>
                    <a:pt x="539" y="25"/>
                  </a:lnTo>
                  <a:lnTo>
                    <a:pt x="535" y="22"/>
                  </a:lnTo>
                  <a:lnTo>
                    <a:pt x="530" y="18"/>
                  </a:lnTo>
                  <a:lnTo>
                    <a:pt x="525" y="16"/>
                  </a:lnTo>
                  <a:lnTo>
                    <a:pt x="520" y="14"/>
                  </a:lnTo>
                  <a:lnTo>
                    <a:pt x="516" y="13"/>
                  </a:lnTo>
                  <a:lnTo>
                    <a:pt x="513" y="13"/>
                  </a:lnTo>
                  <a:lnTo>
                    <a:pt x="508" y="11"/>
                  </a:lnTo>
                  <a:lnTo>
                    <a:pt x="500" y="9"/>
                  </a:lnTo>
                  <a:lnTo>
                    <a:pt x="492" y="7"/>
                  </a:lnTo>
                  <a:lnTo>
                    <a:pt x="483" y="5"/>
                  </a:lnTo>
                  <a:lnTo>
                    <a:pt x="475" y="4"/>
                  </a:lnTo>
                  <a:lnTo>
                    <a:pt x="469" y="2"/>
                  </a:lnTo>
                  <a:lnTo>
                    <a:pt x="467" y="2"/>
                  </a:lnTo>
                  <a:lnTo>
                    <a:pt x="462" y="0"/>
                  </a:lnTo>
                  <a:lnTo>
                    <a:pt x="457" y="0"/>
                  </a:lnTo>
                  <a:lnTo>
                    <a:pt x="452" y="0"/>
                  </a:lnTo>
                  <a:lnTo>
                    <a:pt x="447" y="0"/>
                  </a:lnTo>
                  <a:lnTo>
                    <a:pt x="440" y="2"/>
                  </a:lnTo>
                  <a:lnTo>
                    <a:pt x="435" y="2"/>
                  </a:lnTo>
                  <a:lnTo>
                    <a:pt x="430" y="4"/>
                  </a:lnTo>
                  <a:lnTo>
                    <a:pt x="425" y="5"/>
                  </a:lnTo>
                  <a:lnTo>
                    <a:pt x="382" y="24"/>
                  </a:lnTo>
                  <a:lnTo>
                    <a:pt x="381" y="25"/>
                  </a:lnTo>
                  <a:lnTo>
                    <a:pt x="377" y="26"/>
                  </a:lnTo>
                  <a:lnTo>
                    <a:pt x="371" y="29"/>
                  </a:lnTo>
                  <a:lnTo>
                    <a:pt x="364" y="32"/>
                  </a:lnTo>
                  <a:lnTo>
                    <a:pt x="356" y="35"/>
                  </a:lnTo>
                  <a:lnTo>
                    <a:pt x="351" y="38"/>
                  </a:lnTo>
                  <a:lnTo>
                    <a:pt x="346" y="39"/>
                  </a:lnTo>
                  <a:lnTo>
                    <a:pt x="345" y="40"/>
                  </a:lnTo>
                  <a:lnTo>
                    <a:pt x="177" y="114"/>
                  </a:lnTo>
                  <a:lnTo>
                    <a:pt x="176" y="115"/>
                  </a:lnTo>
                  <a:lnTo>
                    <a:pt x="171" y="116"/>
                  </a:lnTo>
                  <a:lnTo>
                    <a:pt x="166" y="120"/>
                  </a:lnTo>
                  <a:lnTo>
                    <a:pt x="159" y="122"/>
                  </a:lnTo>
                  <a:lnTo>
                    <a:pt x="151" y="125"/>
                  </a:lnTo>
                  <a:lnTo>
                    <a:pt x="145" y="129"/>
                  </a:lnTo>
                  <a:lnTo>
                    <a:pt x="141" y="130"/>
                  </a:lnTo>
                  <a:lnTo>
                    <a:pt x="140" y="131"/>
                  </a:lnTo>
                  <a:lnTo>
                    <a:pt x="137" y="132"/>
                  </a:lnTo>
                  <a:lnTo>
                    <a:pt x="129" y="135"/>
                  </a:lnTo>
                  <a:lnTo>
                    <a:pt x="119" y="140"/>
                  </a:lnTo>
                  <a:lnTo>
                    <a:pt x="108" y="144"/>
                  </a:lnTo>
                  <a:lnTo>
                    <a:pt x="97" y="149"/>
                  </a:lnTo>
                  <a:lnTo>
                    <a:pt x="87" y="153"/>
                  </a:lnTo>
                  <a:lnTo>
                    <a:pt x="79" y="157"/>
                  </a:lnTo>
                  <a:lnTo>
                    <a:pt x="76" y="158"/>
                  </a:lnTo>
                  <a:lnTo>
                    <a:pt x="67" y="164"/>
                  </a:lnTo>
                  <a:lnTo>
                    <a:pt x="61" y="171"/>
                  </a:lnTo>
                  <a:lnTo>
                    <a:pt x="56" y="182"/>
                  </a:lnTo>
                  <a:lnTo>
                    <a:pt x="55" y="192"/>
                  </a:lnTo>
                  <a:lnTo>
                    <a:pt x="55" y="221"/>
                  </a:lnTo>
                  <a:lnTo>
                    <a:pt x="55" y="286"/>
                  </a:lnTo>
                  <a:lnTo>
                    <a:pt x="55" y="353"/>
                  </a:lnTo>
                  <a:lnTo>
                    <a:pt x="55" y="3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4" name="Freeform 329"/>
            <p:cNvSpPr>
              <a:spLocks/>
            </p:cNvSpPr>
            <p:nvPr/>
          </p:nvSpPr>
          <p:spPr bwMode="auto">
            <a:xfrm>
              <a:off x="1173" y="3575"/>
              <a:ext cx="118" cy="79"/>
            </a:xfrm>
            <a:custGeom>
              <a:avLst/>
              <a:gdLst>
                <a:gd name="T0" fmla="*/ 0 w 705"/>
                <a:gd name="T1" fmla="*/ 1 h 475"/>
                <a:gd name="T2" fmla="*/ 0 w 705"/>
                <a:gd name="T3" fmla="*/ 1 h 475"/>
                <a:gd name="T4" fmla="*/ 1 w 705"/>
                <a:gd name="T5" fmla="*/ 1 h 475"/>
                <a:gd name="T6" fmla="*/ 1 w 705"/>
                <a:gd name="T7" fmla="*/ 0 h 475"/>
                <a:gd name="T8" fmla="*/ 1 w 705"/>
                <a:gd name="T9" fmla="*/ 0 h 475"/>
                <a:gd name="T10" fmla="*/ 1 w 705"/>
                <a:gd name="T11" fmla="*/ 0 h 475"/>
                <a:gd name="T12" fmla="*/ 1 w 705"/>
                <a:gd name="T13" fmla="*/ 0 h 475"/>
                <a:gd name="T14" fmla="*/ 2 w 705"/>
                <a:gd name="T15" fmla="*/ 0 h 475"/>
                <a:gd name="T16" fmla="*/ 2 w 705"/>
                <a:gd name="T17" fmla="*/ 0 h 475"/>
                <a:gd name="T18" fmla="*/ 2 w 705"/>
                <a:gd name="T19" fmla="*/ 0 h 475"/>
                <a:gd name="T20" fmla="*/ 2 w 705"/>
                <a:gd name="T21" fmla="*/ 0 h 475"/>
                <a:gd name="T22" fmla="*/ 2 w 705"/>
                <a:gd name="T23" fmla="*/ 0 h 475"/>
                <a:gd name="T24" fmla="*/ 2 w 705"/>
                <a:gd name="T25" fmla="*/ 0 h 475"/>
                <a:gd name="T26" fmla="*/ 2 w 705"/>
                <a:gd name="T27" fmla="*/ 0 h 475"/>
                <a:gd name="T28" fmla="*/ 2 w 705"/>
                <a:gd name="T29" fmla="*/ 0 h 475"/>
                <a:gd name="T30" fmla="*/ 2 w 705"/>
                <a:gd name="T31" fmla="*/ 0 h 475"/>
                <a:gd name="T32" fmla="*/ 2 w 705"/>
                <a:gd name="T33" fmla="*/ 0 h 475"/>
                <a:gd name="T34" fmla="*/ 3 w 705"/>
                <a:gd name="T35" fmla="*/ 0 h 475"/>
                <a:gd name="T36" fmla="*/ 3 w 705"/>
                <a:gd name="T37" fmla="*/ 1 h 475"/>
                <a:gd name="T38" fmla="*/ 3 w 705"/>
                <a:gd name="T39" fmla="*/ 1 h 475"/>
                <a:gd name="T40" fmla="*/ 3 w 705"/>
                <a:gd name="T41" fmla="*/ 1 h 475"/>
                <a:gd name="T42" fmla="*/ 3 w 705"/>
                <a:gd name="T43" fmla="*/ 1 h 475"/>
                <a:gd name="T44" fmla="*/ 3 w 705"/>
                <a:gd name="T45" fmla="*/ 1 h 475"/>
                <a:gd name="T46" fmla="*/ 3 w 705"/>
                <a:gd name="T47" fmla="*/ 1 h 475"/>
                <a:gd name="T48" fmla="*/ 3 w 705"/>
                <a:gd name="T49" fmla="*/ 1 h 475"/>
                <a:gd name="T50" fmla="*/ 3 w 705"/>
                <a:gd name="T51" fmla="*/ 1 h 475"/>
                <a:gd name="T52" fmla="*/ 1 w 705"/>
                <a:gd name="T53" fmla="*/ 2 h 475"/>
                <a:gd name="T54" fmla="*/ 1 w 705"/>
                <a:gd name="T55" fmla="*/ 2 h 475"/>
                <a:gd name="T56" fmla="*/ 1 w 705"/>
                <a:gd name="T57" fmla="*/ 2 h 475"/>
                <a:gd name="T58" fmla="*/ 1 w 705"/>
                <a:gd name="T59" fmla="*/ 2 h 475"/>
                <a:gd name="T60" fmla="*/ 0 w 705"/>
                <a:gd name="T61" fmla="*/ 2 h 475"/>
                <a:gd name="T62" fmla="*/ 0 w 705"/>
                <a:gd name="T63" fmla="*/ 2 h 475"/>
                <a:gd name="T64" fmla="*/ 0 w 705"/>
                <a:gd name="T65" fmla="*/ 2 h 475"/>
                <a:gd name="T66" fmla="*/ 0 w 705"/>
                <a:gd name="T67" fmla="*/ 2 h 475"/>
                <a:gd name="T68" fmla="*/ 0 w 705"/>
                <a:gd name="T69" fmla="*/ 2 h 475"/>
                <a:gd name="T70" fmla="*/ 0 w 705"/>
                <a:gd name="T71" fmla="*/ 1 h 47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5"/>
                <a:gd name="T109" fmla="*/ 0 h 475"/>
                <a:gd name="T110" fmla="*/ 705 w 705"/>
                <a:gd name="T111" fmla="*/ 475 h 47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5" h="475">
                  <a:moveTo>
                    <a:pt x="54" y="185"/>
                  </a:moveTo>
                  <a:lnTo>
                    <a:pt x="55" y="177"/>
                  </a:lnTo>
                  <a:lnTo>
                    <a:pt x="59" y="169"/>
                  </a:lnTo>
                  <a:lnTo>
                    <a:pt x="65" y="162"/>
                  </a:lnTo>
                  <a:lnTo>
                    <a:pt x="72" y="158"/>
                  </a:lnTo>
                  <a:lnTo>
                    <a:pt x="135" y="130"/>
                  </a:lnTo>
                  <a:lnTo>
                    <a:pt x="140" y="127"/>
                  </a:lnTo>
                  <a:lnTo>
                    <a:pt x="144" y="126"/>
                  </a:lnTo>
                  <a:lnTo>
                    <a:pt x="149" y="124"/>
                  </a:lnTo>
                  <a:lnTo>
                    <a:pt x="153" y="122"/>
                  </a:lnTo>
                  <a:lnTo>
                    <a:pt x="158" y="119"/>
                  </a:lnTo>
                  <a:lnTo>
                    <a:pt x="162" y="117"/>
                  </a:lnTo>
                  <a:lnTo>
                    <a:pt x="167" y="116"/>
                  </a:lnTo>
                  <a:lnTo>
                    <a:pt x="171" y="114"/>
                  </a:lnTo>
                  <a:lnTo>
                    <a:pt x="340" y="40"/>
                  </a:lnTo>
                  <a:lnTo>
                    <a:pt x="345" y="37"/>
                  </a:lnTo>
                  <a:lnTo>
                    <a:pt x="350" y="36"/>
                  </a:lnTo>
                  <a:lnTo>
                    <a:pt x="354" y="34"/>
                  </a:lnTo>
                  <a:lnTo>
                    <a:pt x="359" y="32"/>
                  </a:lnTo>
                  <a:lnTo>
                    <a:pt x="363" y="29"/>
                  </a:lnTo>
                  <a:lnTo>
                    <a:pt x="368" y="27"/>
                  </a:lnTo>
                  <a:lnTo>
                    <a:pt x="372" y="26"/>
                  </a:lnTo>
                  <a:lnTo>
                    <a:pt x="377" y="24"/>
                  </a:lnTo>
                  <a:lnTo>
                    <a:pt x="421" y="5"/>
                  </a:lnTo>
                  <a:lnTo>
                    <a:pt x="425" y="4"/>
                  </a:lnTo>
                  <a:lnTo>
                    <a:pt x="430" y="2"/>
                  </a:lnTo>
                  <a:lnTo>
                    <a:pt x="434" y="1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9" y="0"/>
                  </a:lnTo>
                  <a:lnTo>
                    <a:pt x="453" y="0"/>
                  </a:lnTo>
                  <a:lnTo>
                    <a:pt x="458" y="1"/>
                  </a:lnTo>
                  <a:lnTo>
                    <a:pt x="506" y="13"/>
                  </a:lnTo>
                  <a:lnTo>
                    <a:pt x="514" y="16"/>
                  </a:lnTo>
                  <a:lnTo>
                    <a:pt x="522" y="20"/>
                  </a:lnTo>
                  <a:lnTo>
                    <a:pt x="529" y="27"/>
                  </a:lnTo>
                  <a:lnTo>
                    <a:pt x="535" y="34"/>
                  </a:lnTo>
                  <a:lnTo>
                    <a:pt x="602" y="157"/>
                  </a:lnTo>
                  <a:lnTo>
                    <a:pt x="608" y="163"/>
                  </a:lnTo>
                  <a:lnTo>
                    <a:pt x="616" y="169"/>
                  </a:lnTo>
                  <a:lnTo>
                    <a:pt x="624" y="173"/>
                  </a:lnTo>
                  <a:lnTo>
                    <a:pt x="632" y="177"/>
                  </a:lnTo>
                  <a:lnTo>
                    <a:pt x="685" y="186"/>
                  </a:lnTo>
                  <a:lnTo>
                    <a:pt x="693" y="189"/>
                  </a:lnTo>
                  <a:lnTo>
                    <a:pt x="699" y="194"/>
                  </a:lnTo>
                  <a:lnTo>
                    <a:pt x="704" y="200"/>
                  </a:lnTo>
                  <a:lnTo>
                    <a:pt x="705" y="208"/>
                  </a:lnTo>
                  <a:lnTo>
                    <a:pt x="705" y="226"/>
                  </a:lnTo>
                  <a:lnTo>
                    <a:pt x="704" y="235"/>
                  </a:lnTo>
                  <a:lnTo>
                    <a:pt x="701" y="243"/>
                  </a:lnTo>
                  <a:lnTo>
                    <a:pt x="695" y="251"/>
                  </a:lnTo>
                  <a:lnTo>
                    <a:pt x="688" y="256"/>
                  </a:lnTo>
                  <a:lnTo>
                    <a:pt x="284" y="469"/>
                  </a:lnTo>
                  <a:lnTo>
                    <a:pt x="280" y="470"/>
                  </a:lnTo>
                  <a:lnTo>
                    <a:pt x="275" y="473"/>
                  </a:lnTo>
                  <a:lnTo>
                    <a:pt x="270" y="474"/>
                  </a:lnTo>
                  <a:lnTo>
                    <a:pt x="266" y="474"/>
                  </a:lnTo>
                  <a:lnTo>
                    <a:pt x="260" y="475"/>
                  </a:lnTo>
                  <a:lnTo>
                    <a:pt x="256" y="475"/>
                  </a:lnTo>
                  <a:lnTo>
                    <a:pt x="251" y="475"/>
                  </a:lnTo>
                  <a:lnTo>
                    <a:pt x="247" y="475"/>
                  </a:lnTo>
                  <a:lnTo>
                    <a:pt x="7" y="437"/>
                  </a:lnTo>
                  <a:lnTo>
                    <a:pt x="2" y="434"/>
                  </a:lnTo>
                  <a:lnTo>
                    <a:pt x="0" y="431"/>
                  </a:lnTo>
                  <a:lnTo>
                    <a:pt x="1" y="428"/>
                  </a:lnTo>
                  <a:lnTo>
                    <a:pt x="5" y="423"/>
                  </a:lnTo>
                  <a:lnTo>
                    <a:pt x="37" y="405"/>
                  </a:lnTo>
                  <a:lnTo>
                    <a:pt x="44" y="400"/>
                  </a:lnTo>
                  <a:lnTo>
                    <a:pt x="49" y="392"/>
                  </a:lnTo>
                  <a:lnTo>
                    <a:pt x="53" y="384"/>
                  </a:lnTo>
                  <a:lnTo>
                    <a:pt x="54" y="375"/>
                  </a:lnTo>
                  <a:lnTo>
                    <a:pt x="54" y="185"/>
                  </a:lnTo>
                  <a:close/>
                </a:path>
              </a:pathLst>
            </a:custGeom>
            <a:solidFill>
              <a:srgbClr val="B5B5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5" name="Freeform 330"/>
            <p:cNvSpPr>
              <a:spLocks/>
            </p:cNvSpPr>
            <p:nvPr/>
          </p:nvSpPr>
          <p:spPr bwMode="auto">
            <a:xfrm>
              <a:off x="1173" y="3604"/>
              <a:ext cx="44" cy="50"/>
            </a:xfrm>
            <a:custGeom>
              <a:avLst/>
              <a:gdLst>
                <a:gd name="T0" fmla="*/ 0 w 265"/>
                <a:gd name="T1" fmla="*/ 0 h 305"/>
                <a:gd name="T2" fmla="*/ 0 w 265"/>
                <a:gd name="T3" fmla="*/ 0 h 305"/>
                <a:gd name="T4" fmla="*/ 0 w 265"/>
                <a:gd name="T5" fmla="*/ 0 h 305"/>
                <a:gd name="T6" fmla="*/ 0 w 265"/>
                <a:gd name="T7" fmla="*/ 0 h 305"/>
                <a:gd name="T8" fmla="*/ 0 w 265"/>
                <a:gd name="T9" fmla="*/ 0 h 305"/>
                <a:gd name="T10" fmla="*/ 0 w 265"/>
                <a:gd name="T11" fmla="*/ 0 h 305"/>
                <a:gd name="T12" fmla="*/ 1 w 265"/>
                <a:gd name="T13" fmla="*/ 0 h 305"/>
                <a:gd name="T14" fmla="*/ 1 w 265"/>
                <a:gd name="T15" fmla="*/ 0 h 305"/>
                <a:gd name="T16" fmla="*/ 1 w 265"/>
                <a:gd name="T17" fmla="*/ 0 h 305"/>
                <a:gd name="T18" fmla="*/ 1 w 265"/>
                <a:gd name="T19" fmla="*/ 0 h 305"/>
                <a:gd name="T20" fmla="*/ 1 w 265"/>
                <a:gd name="T21" fmla="*/ 1 h 305"/>
                <a:gd name="T22" fmla="*/ 1 w 265"/>
                <a:gd name="T23" fmla="*/ 1 h 305"/>
                <a:gd name="T24" fmla="*/ 1 w 265"/>
                <a:gd name="T25" fmla="*/ 1 h 305"/>
                <a:gd name="T26" fmla="*/ 1 w 265"/>
                <a:gd name="T27" fmla="*/ 1 h 305"/>
                <a:gd name="T28" fmla="*/ 1 w 265"/>
                <a:gd name="T29" fmla="*/ 1 h 305"/>
                <a:gd name="T30" fmla="*/ 1 w 265"/>
                <a:gd name="T31" fmla="*/ 1 h 305"/>
                <a:gd name="T32" fmla="*/ 1 w 265"/>
                <a:gd name="T33" fmla="*/ 1 h 305"/>
                <a:gd name="T34" fmla="*/ 1 w 265"/>
                <a:gd name="T35" fmla="*/ 1 h 305"/>
                <a:gd name="T36" fmla="*/ 1 w 265"/>
                <a:gd name="T37" fmla="*/ 1 h 305"/>
                <a:gd name="T38" fmla="*/ 1 w 265"/>
                <a:gd name="T39" fmla="*/ 1 h 305"/>
                <a:gd name="T40" fmla="*/ 1 w 265"/>
                <a:gd name="T41" fmla="*/ 1 h 305"/>
                <a:gd name="T42" fmla="*/ 1 w 265"/>
                <a:gd name="T43" fmla="*/ 1 h 305"/>
                <a:gd name="T44" fmla="*/ 1 w 265"/>
                <a:gd name="T45" fmla="*/ 1 h 305"/>
                <a:gd name="T46" fmla="*/ 1 w 265"/>
                <a:gd name="T47" fmla="*/ 1 h 305"/>
                <a:gd name="T48" fmla="*/ 1 w 265"/>
                <a:gd name="T49" fmla="*/ 1 h 305"/>
                <a:gd name="T50" fmla="*/ 0 w 265"/>
                <a:gd name="T51" fmla="*/ 1 h 305"/>
                <a:gd name="T52" fmla="*/ 0 w 265"/>
                <a:gd name="T53" fmla="*/ 1 h 305"/>
                <a:gd name="T54" fmla="*/ 0 w 265"/>
                <a:gd name="T55" fmla="*/ 1 h 305"/>
                <a:gd name="T56" fmla="*/ 0 w 265"/>
                <a:gd name="T57" fmla="*/ 1 h 305"/>
                <a:gd name="T58" fmla="*/ 0 w 265"/>
                <a:gd name="T59" fmla="*/ 1 h 305"/>
                <a:gd name="T60" fmla="*/ 0 w 265"/>
                <a:gd name="T61" fmla="*/ 1 h 305"/>
                <a:gd name="T62" fmla="*/ 0 w 265"/>
                <a:gd name="T63" fmla="*/ 1 h 305"/>
                <a:gd name="T64" fmla="*/ 0 w 265"/>
                <a:gd name="T65" fmla="*/ 1 h 305"/>
                <a:gd name="T66" fmla="*/ 0 w 265"/>
                <a:gd name="T67" fmla="*/ 1 h 305"/>
                <a:gd name="T68" fmla="*/ 0 w 265"/>
                <a:gd name="T69" fmla="*/ 1 h 305"/>
                <a:gd name="T70" fmla="*/ 0 w 265"/>
                <a:gd name="T71" fmla="*/ 0 h 3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5"/>
                <a:gd name="T109" fmla="*/ 0 h 305"/>
                <a:gd name="T110" fmla="*/ 265 w 265"/>
                <a:gd name="T111" fmla="*/ 305 h 30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5" h="305">
                  <a:moveTo>
                    <a:pt x="54" y="15"/>
                  </a:moveTo>
                  <a:lnTo>
                    <a:pt x="55" y="8"/>
                  </a:lnTo>
                  <a:lnTo>
                    <a:pt x="59" y="2"/>
                  </a:lnTo>
                  <a:lnTo>
                    <a:pt x="65" y="0"/>
                  </a:lnTo>
                  <a:lnTo>
                    <a:pt x="73" y="0"/>
                  </a:lnTo>
                  <a:lnTo>
                    <a:pt x="129" y="16"/>
                  </a:lnTo>
                  <a:lnTo>
                    <a:pt x="137" y="19"/>
                  </a:lnTo>
                  <a:lnTo>
                    <a:pt x="144" y="25"/>
                  </a:lnTo>
                  <a:lnTo>
                    <a:pt x="151" y="32"/>
                  </a:lnTo>
                  <a:lnTo>
                    <a:pt x="154" y="39"/>
                  </a:lnTo>
                  <a:lnTo>
                    <a:pt x="195" y="190"/>
                  </a:lnTo>
                  <a:lnTo>
                    <a:pt x="198" y="199"/>
                  </a:lnTo>
                  <a:lnTo>
                    <a:pt x="203" y="207"/>
                  </a:lnTo>
                  <a:lnTo>
                    <a:pt x="210" y="214"/>
                  </a:lnTo>
                  <a:lnTo>
                    <a:pt x="217" y="218"/>
                  </a:lnTo>
                  <a:lnTo>
                    <a:pt x="245" y="233"/>
                  </a:lnTo>
                  <a:lnTo>
                    <a:pt x="251" y="237"/>
                  </a:lnTo>
                  <a:lnTo>
                    <a:pt x="257" y="245"/>
                  </a:lnTo>
                  <a:lnTo>
                    <a:pt x="261" y="253"/>
                  </a:lnTo>
                  <a:lnTo>
                    <a:pt x="263" y="262"/>
                  </a:lnTo>
                  <a:lnTo>
                    <a:pt x="265" y="288"/>
                  </a:lnTo>
                  <a:lnTo>
                    <a:pt x="264" y="296"/>
                  </a:lnTo>
                  <a:lnTo>
                    <a:pt x="260" y="302"/>
                  </a:lnTo>
                  <a:lnTo>
                    <a:pt x="254" y="304"/>
                  </a:lnTo>
                  <a:lnTo>
                    <a:pt x="247" y="305"/>
                  </a:lnTo>
                  <a:lnTo>
                    <a:pt x="7" y="267"/>
                  </a:lnTo>
                  <a:lnTo>
                    <a:pt x="2" y="264"/>
                  </a:lnTo>
                  <a:lnTo>
                    <a:pt x="0" y="261"/>
                  </a:lnTo>
                  <a:lnTo>
                    <a:pt x="1" y="258"/>
                  </a:lnTo>
                  <a:lnTo>
                    <a:pt x="5" y="253"/>
                  </a:lnTo>
                  <a:lnTo>
                    <a:pt x="37" y="235"/>
                  </a:lnTo>
                  <a:lnTo>
                    <a:pt x="44" y="230"/>
                  </a:lnTo>
                  <a:lnTo>
                    <a:pt x="49" y="222"/>
                  </a:lnTo>
                  <a:lnTo>
                    <a:pt x="53" y="214"/>
                  </a:lnTo>
                  <a:lnTo>
                    <a:pt x="54" y="205"/>
                  </a:lnTo>
                  <a:lnTo>
                    <a:pt x="54" y="15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6" name="Freeform 331"/>
            <p:cNvSpPr>
              <a:spLocks/>
            </p:cNvSpPr>
            <p:nvPr/>
          </p:nvSpPr>
          <p:spPr bwMode="auto">
            <a:xfrm>
              <a:off x="1217" y="3608"/>
              <a:ext cx="74" cy="46"/>
            </a:xfrm>
            <a:custGeom>
              <a:avLst/>
              <a:gdLst>
                <a:gd name="T0" fmla="*/ 0 w 442"/>
                <a:gd name="T1" fmla="*/ 1 h 276"/>
                <a:gd name="T2" fmla="*/ 0 w 442"/>
                <a:gd name="T3" fmla="*/ 1 h 276"/>
                <a:gd name="T4" fmla="*/ 0 w 442"/>
                <a:gd name="T5" fmla="*/ 1 h 276"/>
                <a:gd name="T6" fmla="*/ 0 w 442"/>
                <a:gd name="T7" fmla="*/ 1 h 276"/>
                <a:gd name="T8" fmla="*/ 0 w 442"/>
                <a:gd name="T9" fmla="*/ 1 h 276"/>
                <a:gd name="T10" fmla="*/ 2 w 442"/>
                <a:gd name="T11" fmla="*/ 0 h 276"/>
                <a:gd name="T12" fmla="*/ 2 w 442"/>
                <a:gd name="T13" fmla="*/ 0 h 276"/>
                <a:gd name="T14" fmla="*/ 2 w 442"/>
                <a:gd name="T15" fmla="*/ 0 h 276"/>
                <a:gd name="T16" fmla="*/ 2 w 442"/>
                <a:gd name="T17" fmla="*/ 0 h 276"/>
                <a:gd name="T18" fmla="*/ 2 w 442"/>
                <a:gd name="T19" fmla="*/ 0 h 276"/>
                <a:gd name="T20" fmla="*/ 2 w 442"/>
                <a:gd name="T21" fmla="*/ 0 h 276"/>
                <a:gd name="T22" fmla="*/ 2 w 442"/>
                <a:gd name="T23" fmla="*/ 0 h 276"/>
                <a:gd name="T24" fmla="*/ 2 w 442"/>
                <a:gd name="T25" fmla="*/ 0 h 276"/>
                <a:gd name="T26" fmla="*/ 2 w 442"/>
                <a:gd name="T27" fmla="*/ 0 h 276"/>
                <a:gd name="T28" fmla="*/ 2 w 442"/>
                <a:gd name="T29" fmla="*/ 0 h 276"/>
                <a:gd name="T30" fmla="*/ 0 w 442"/>
                <a:gd name="T31" fmla="*/ 1 h 276"/>
                <a:gd name="T32" fmla="*/ 0 w 442"/>
                <a:gd name="T33" fmla="*/ 1 h 276"/>
                <a:gd name="T34" fmla="*/ 0 w 442"/>
                <a:gd name="T35" fmla="*/ 1 h 276"/>
                <a:gd name="T36" fmla="*/ 0 w 442"/>
                <a:gd name="T37" fmla="*/ 1 h 276"/>
                <a:gd name="T38" fmla="*/ 0 w 442"/>
                <a:gd name="T39" fmla="*/ 1 h 276"/>
                <a:gd name="T40" fmla="*/ 0 w 442"/>
                <a:gd name="T41" fmla="*/ 1 h 2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2"/>
                <a:gd name="T64" fmla="*/ 0 h 276"/>
                <a:gd name="T65" fmla="*/ 442 w 442"/>
                <a:gd name="T66" fmla="*/ 276 h 2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2" h="276">
                  <a:moveTo>
                    <a:pt x="0" y="236"/>
                  </a:moveTo>
                  <a:lnTo>
                    <a:pt x="1" y="227"/>
                  </a:lnTo>
                  <a:lnTo>
                    <a:pt x="4" y="219"/>
                  </a:lnTo>
                  <a:lnTo>
                    <a:pt x="10" y="213"/>
                  </a:lnTo>
                  <a:lnTo>
                    <a:pt x="17" y="207"/>
                  </a:lnTo>
                  <a:lnTo>
                    <a:pt x="424" y="2"/>
                  </a:lnTo>
                  <a:lnTo>
                    <a:pt x="431" y="0"/>
                  </a:lnTo>
                  <a:lnTo>
                    <a:pt x="436" y="1"/>
                  </a:lnTo>
                  <a:lnTo>
                    <a:pt x="441" y="6"/>
                  </a:lnTo>
                  <a:lnTo>
                    <a:pt x="442" y="12"/>
                  </a:lnTo>
                  <a:lnTo>
                    <a:pt x="442" y="30"/>
                  </a:lnTo>
                  <a:lnTo>
                    <a:pt x="441" y="39"/>
                  </a:lnTo>
                  <a:lnTo>
                    <a:pt x="438" y="47"/>
                  </a:lnTo>
                  <a:lnTo>
                    <a:pt x="432" y="55"/>
                  </a:lnTo>
                  <a:lnTo>
                    <a:pt x="425" y="60"/>
                  </a:lnTo>
                  <a:lnTo>
                    <a:pt x="21" y="273"/>
                  </a:lnTo>
                  <a:lnTo>
                    <a:pt x="14" y="276"/>
                  </a:lnTo>
                  <a:lnTo>
                    <a:pt x="9" y="273"/>
                  </a:lnTo>
                  <a:lnTo>
                    <a:pt x="4" y="269"/>
                  </a:lnTo>
                  <a:lnTo>
                    <a:pt x="2" y="262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7" name="Freeform 332"/>
            <p:cNvSpPr>
              <a:spLocks/>
            </p:cNvSpPr>
            <p:nvPr/>
          </p:nvSpPr>
          <p:spPr bwMode="auto">
            <a:xfrm>
              <a:off x="1233" y="3575"/>
              <a:ext cx="41" cy="38"/>
            </a:xfrm>
            <a:custGeom>
              <a:avLst/>
              <a:gdLst>
                <a:gd name="T0" fmla="*/ 1 w 244"/>
                <a:gd name="T1" fmla="*/ 1 h 227"/>
                <a:gd name="T2" fmla="*/ 1 w 244"/>
                <a:gd name="T3" fmla="*/ 1 h 227"/>
                <a:gd name="T4" fmla="*/ 1 w 244"/>
                <a:gd name="T5" fmla="*/ 1 h 227"/>
                <a:gd name="T6" fmla="*/ 1 w 244"/>
                <a:gd name="T7" fmla="*/ 1 h 227"/>
                <a:gd name="T8" fmla="*/ 1 w 244"/>
                <a:gd name="T9" fmla="*/ 1 h 227"/>
                <a:gd name="T10" fmla="*/ 1 w 244"/>
                <a:gd name="T11" fmla="*/ 1 h 227"/>
                <a:gd name="T12" fmla="*/ 1 w 244"/>
                <a:gd name="T13" fmla="*/ 1 h 227"/>
                <a:gd name="T14" fmla="*/ 1 w 244"/>
                <a:gd name="T15" fmla="*/ 1 h 227"/>
                <a:gd name="T16" fmla="*/ 1 w 244"/>
                <a:gd name="T17" fmla="*/ 1 h 227"/>
                <a:gd name="T18" fmla="*/ 0 w 244"/>
                <a:gd name="T19" fmla="*/ 1 h 227"/>
                <a:gd name="T20" fmla="*/ 0 w 244"/>
                <a:gd name="T21" fmla="*/ 1 h 227"/>
                <a:gd name="T22" fmla="*/ 0 w 244"/>
                <a:gd name="T23" fmla="*/ 1 h 227"/>
                <a:gd name="T24" fmla="*/ 0 w 244"/>
                <a:gd name="T25" fmla="*/ 1 h 227"/>
                <a:gd name="T26" fmla="*/ 0 w 244"/>
                <a:gd name="T27" fmla="*/ 1 h 227"/>
                <a:gd name="T28" fmla="*/ 0 w 244"/>
                <a:gd name="T29" fmla="*/ 0 h 227"/>
                <a:gd name="T30" fmla="*/ 0 w 244"/>
                <a:gd name="T31" fmla="*/ 0 h 227"/>
                <a:gd name="T32" fmla="*/ 0 w 244"/>
                <a:gd name="T33" fmla="*/ 0 h 227"/>
                <a:gd name="T34" fmla="*/ 0 w 244"/>
                <a:gd name="T35" fmla="*/ 0 h 227"/>
                <a:gd name="T36" fmla="*/ 0 w 244"/>
                <a:gd name="T37" fmla="*/ 0 h 227"/>
                <a:gd name="T38" fmla="*/ 0 w 244"/>
                <a:gd name="T39" fmla="*/ 0 h 227"/>
                <a:gd name="T40" fmla="*/ 0 w 244"/>
                <a:gd name="T41" fmla="*/ 0 h 227"/>
                <a:gd name="T42" fmla="*/ 0 w 244"/>
                <a:gd name="T43" fmla="*/ 0 h 227"/>
                <a:gd name="T44" fmla="*/ 0 w 244"/>
                <a:gd name="T45" fmla="*/ 0 h 227"/>
                <a:gd name="T46" fmla="*/ 0 w 244"/>
                <a:gd name="T47" fmla="*/ 0 h 227"/>
                <a:gd name="T48" fmla="*/ 0 w 244"/>
                <a:gd name="T49" fmla="*/ 0 h 227"/>
                <a:gd name="T50" fmla="*/ 1 w 244"/>
                <a:gd name="T51" fmla="*/ 0 h 227"/>
                <a:gd name="T52" fmla="*/ 1 w 244"/>
                <a:gd name="T53" fmla="*/ 0 h 227"/>
                <a:gd name="T54" fmla="*/ 1 w 244"/>
                <a:gd name="T55" fmla="*/ 0 h 227"/>
                <a:gd name="T56" fmla="*/ 1 w 244"/>
                <a:gd name="T57" fmla="*/ 0 h 227"/>
                <a:gd name="T58" fmla="*/ 1 w 244"/>
                <a:gd name="T59" fmla="*/ 0 h 227"/>
                <a:gd name="T60" fmla="*/ 1 w 244"/>
                <a:gd name="T61" fmla="*/ 0 h 227"/>
                <a:gd name="T62" fmla="*/ 1 w 244"/>
                <a:gd name="T63" fmla="*/ 0 h 227"/>
                <a:gd name="T64" fmla="*/ 1 w 244"/>
                <a:gd name="T65" fmla="*/ 0 h 227"/>
                <a:gd name="T66" fmla="*/ 1 w 244"/>
                <a:gd name="T67" fmla="*/ 1 h 227"/>
                <a:gd name="T68" fmla="*/ 1 w 244"/>
                <a:gd name="T69" fmla="*/ 1 h 227"/>
                <a:gd name="T70" fmla="*/ 1 w 244"/>
                <a:gd name="T71" fmla="*/ 1 h 227"/>
                <a:gd name="T72" fmla="*/ 1 w 244"/>
                <a:gd name="T73" fmla="*/ 1 h 227"/>
                <a:gd name="T74" fmla="*/ 1 w 244"/>
                <a:gd name="T75" fmla="*/ 1 h 227"/>
                <a:gd name="T76" fmla="*/ 1 w 244"/>
                <a:gd name="T77" fmla="*/ 1 h 2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44"/>
                <a:gd name="T118" fmla="*/ 0 h 227"/>
                <a:gd name="T119" fmla="*/ 244 w 244"/>
                <a:gd name="T120" fmla="*/ 227 h 22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44" h="227">
                  <a:moveTo>
                    <a:pt x="141" y="223"/>
                  </a:moveTo>
                  <a:lnTo>
                    <a:pt x="138" y="224"/>
                  </a:lnTo>
                  <a:lnTo>
                    <a:pt x="133" y="226"/>
                  </a:lnTo>
                  <a:lnTo>
                    <a:pt x="128" y="226"/>
                  </a:lnTo>
                  <a:lnTo>
                    <a:pt x="123" y="227"/>
                  </a:lnTo>
                  <a:lnTo>
                    <a:pt x="118" y="227"/>
                  </a:lnTo>
                  <a:lnTo>
                    <a:pt x="113" y="227"/>
                  </a:lnTo>
                  <a:lnTo>
                    <a:pt x="108" y="227"/>
                  </a:lnTo>
                  <a:lnTo>
                    <a:pt x="104" y="226"/>
                  </a:lnTo>
                  <a:lnTo>
                    <a:pt x="33" y="205"/>
                  </a:lnTo>
                  <a:lnTo>
                    <a:pt x="25" y="202"/>
                  </a:lnTo>
                  <a:lnTo>
                    <a:pt x="18" y="196"/>
                  </a:lnTo>
                  <a:lnTo>
                    <a:pt x="13" y="188"/>
                  </a:lnTo>
                  <a:lnTo>
                    <a:pt x="11" y="180"/>
                  </a:lnTo>
                  <a:lnTo>
                    <a:pt x="0" y="51"/>
                  </a:lnTo>
                  <a:lnTo>
                    <a:pt x="1" y="43"/>
                  </a:lnTo>
                  <a:lnTo>
                    <a:pt x="3" y="35"/>
                  </a:lnTo>
                  <a:lnTo>
                    <a:pt x="9" y="28"/>
                  </a:lnTo>
                  <a:lnTo>
                    <a:pt x="16" y="24"/>
                  </a:lnTo>
                  <a:lnTo>
                    <a:pt x="60" y="5"/>
                  </a:lnTo>
                  <a:lnTo>
                    <a:pt x="64" y="4"/>
                  </a:lnTo>
                  <a:lnTo>
                    <a:pt x="69" y="2"/>
                  </a:lnTo>
                  <a:lnTo>
                    <a:pt x="73" y="1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7" y="1"/>
                  </a:lnTo>
                  <a:lnTo>
                    <a:pt x="145" y="13"/>
                  </a:lnTo>
                  <a:lnTo>
                    <a:pt x="153" y="16"/>
                  </a:lnTo>
                  <a:lnTo>
                    <a:pt x="161" y="20"/>
                  </a:lnTo>
                  <a:lnTo>
                    <a:pt x="168" y="27"/>
                  </a:lnTo>
                  <a:lnTo>
                    <a:pt x="174" y="34"/>
                  </a:lnTo>
                  <a:lnTo>
                    <a:pt x="241" y="157"/>
                  </a:lnTo>
                  <a:lnTo>
                    <a:pt x="244" y="163"/>
                  </a:lnTo>
                  <a:lnTo>
                    <a:pt x="244" y="170"/>
                  </a:lnTo>
                  <a:lnTo>
                    <a:pt x="240" y="177"/>
                  </a:lnTo>
                  <a:lnTo>
                    <a:pt x="233" y="181"/>
                  </a:lnTo>
                  <a:lnTo>
                    <a:pt x="141" y="22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8" name="Freeform 333"/>
            <p:cNvSpPr>
              <a:spLocks/>
            </p:cNvSpPr>
            <p:nvPr/>
          </p:nvSpPr>
          <p:spPr bwMode="auto">
            <a:xfrm>
              <a:off x="1233" y="3581"/>
              <a:ext cx="20" cy="32"/>
            </a:xfrm>
            <a:custGeom>
              <a:avLst/>
              <a:gdLst>
                <a:gd name="T0" fmla="*/ 1 w 118"/>
                <a:gd name="T1" fmla="*/ 1 h 191"/>
                <a:gd name="T2" fmla="*/ 1 w 118"/>
                <a:gd name="T3" fmla="*/ 1 h 191"/>
                <a:gd name="T4" fmla="*/ 1 w 118"/>
                <a:gd name="T5" fmla="*/ 1 h 191"/>
                <a:gd name="T6" fmla="*/ 1 w 118"/>
                <a:gd name="T7" fmla="*/ 1 h 191"/>
                <a:gd name="T8" fmla="*/ 1 w 118"/>
                <a:gd name="T9" fmla="*/ 1 h 191"/>
                <a:gd name="T10" fmla="*/ 0 w 118"/>
                <a:gd name="T11" fmla="*/ 0 h 191"/>
                <a:gd name="T12" fmla="*/ 0 w 118"/>
                <a:gd name="T13" fmla="*/ 0 h 191"/>
                <a:gd name="T14" fmla="*/ 0 w 118"/>
                <a:gd name="T15" fmla="*/ 0 h 191"/>
                <a:gd name="T16" fmla="*/ 0 w 118"/>
                <a:gd name="T17" fmla="*/ 0 h 191"/>
                <a:gd name="T18" fmla="*/ 0 w 118"/>
                <a:gd name="T19" fmla="*/ 0 h 191"/>
                <a:gd name="T20" fmla="*/ 0 w 118"/>
                <a:gd name="T21" fmla="*/ 0 h 191"/>
                <a:gd name="T22" fmla="*/ 0 w 118"/>
                <a:gd name="T23" fmla="*/ 0 h 191"/>
                <a:gd name="T24" fmla="*/ 0 w 118"/>
                <a:gd name="T25" fmla="*/ 0 h 191"/>
                <a:gd name="T26" fmla="*/ 0 w 118"/>
                <a:gd name="T27" fmla="*/ 0 h 191"/>
                <a:gd name="T28" fmla="*/ 0 w 118"/>
                <a:gd name="T29" fmla="*/ 0 h 191"/>
                <a:gd name="T30" fmla="*/ 0 w 118"/>
                <a:gd name="T31" fmla="*/ 1 h 191"/>
                <a:gd name="T32" fmla="*/ 0 w 118"/>
                <a:gd name="T33" fmla="*/ 1 h 191"/>
                <a:gd name="T34" fmla="*/ 0 w 118"/>
                <a:gd name="T35" fmla="*/ 1 h 191"/>
                <a:gd name="T36" fmla="*/ 0 w 118"/>
                <a:gd name="T37" fmla="*/ 1 h 191"/>
                <a:gd name="T38" fmla="*/ 0 w 118"/>
                <a:gd name="T39" fmla="*/ 1 h 191"/>
                <a:gd name="T40" fmla="*/ 1 w 118"/>
                <a:gd name="T41" fmla="*/ 1 h 1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8"/>
                <a:gd name="T64" fmla="*/ 0 h 191"/>
                <a:gd name="T65" fmla="*/ 118 w 118"/>
                <a:gd name="T66" fmla="*/ 191 h 1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8" h="191">
                  <a:moveTo>
                    <a:pt x="104" y="190"/>
                  </a:moveTo>
                  <a:lnTo>
                    <a:pt x="112" y="191"/>
                  </a:lnTo>
                  <a:lnTo>
                    <a:pt x="116" y="188"/>
                  </a:lnTo>
                  <a:lnTo>
                    <a:pt x="118" y="184"/>
                  </a:lnTo>
                  <a:lnTo>
                    <a:pt x="118" y="177"/>
                  </a:lnTo>
                  <a:lnTo>
                    <a:pt x="83" y="36"/>
                  </a:lnTo>
                  <a:lnTo>
                    <a:pt x="80" y="28"/>
                  </a:lnTo>
                  <a:lnTo>
                    <a:pt x="74" y="22"/>
                  </a:lnTo>
                  <a:lnTo>
                    <a:pt x="68" y="15"/>
                  </a:lnTo>
                  <a:lnTo>
                    <a:pt x="60" y="11"/>
                  </a:lnTo>
                  <a:lnTo>
                    <a:pt x="17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1" y="8"/>
                  </a:lnTo>
                  <a:lnTo>
                    <a:pt x="0" y="15"/>
                  </a:lnTo>
                  <a:lnTo>
                    <a:pt x="11" y="144"/>
                  </a:lnTo>
                  <a:lnTo>
                    <a:pt x="13" y="152"/>
                  </a:lnTo>
                  <a:lnTo>
                    <a:pt x="18" y="160"/>
                  </a:lnTo>
                  <a:lnTo>
                    <a:pt x="25" y="166"/>
                  </a:lnTo>
                  <a:lnTo>
                    <a:pt x="33" y="169"/>
                  </a:lnTo>
                  <a:lnTo>
                    <a:pt x="104" y="190"/>
                  </a:lnTo>
                  <a:close/>
                </a:path>
              </a:pathLst>
            </a:custGeom>
            <a:solidFill>
              <a:srgbClr val="EDED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9" name="Freeform 334"/>
            <p:cNvSpPr>
              <a:spLocks/>
            </p:cNvSpPr>
            <p:nvPr/>
          </p:nvSpPr>
          <p:spPr bwMode="auto">
            <a:xfrm>
              <a:off x="1208" y="3605"/>
              <a:ext cx="81" cy="38"/>
            </a:xfrm>
            <a:custGeom>
              <a:avLst/>
              <a:gdLst>
                <a:gd name="T0" fmla="*/ 1 w 484"/>
                <a:gd name="T1" fmla="*/ 1 h 230"/>
                <a:gd name="T2" fmla="*/ 1 w 484"/>
                <a:gd name="T3" fmla="*/ 0 h 230"/>
                <a:gd name="T4" fmla="*/ 0 w 484"/>
                <a:gd name="T5" fmla="*/ 0 h 230"/>
                <a:gd name="T6" fmla="*/ 0 w 484"/>
                <a:gd name="T7" fmla="*/ 0 h 230"/>
                <a:gd name="T8" fmla="*/ 1 w 484"/>
                <a:gd name="T9" fmla="*/ 0 h 230"/>
                <a:gd name="T10" fmla="*/ 1 w 484"/>
                <a:gd name="T11" fmla="*/ 0 h 230"/>
                <a:gd name="T12" fmla="*/ 1 w 484"/>
                <a:gd name="T13" fmla="*/ 0 h 230"/>
                <a:gd name="T14" fmla="*/ 1 w 484"/>
                <a:gd name="T15" fmla="*/ 0 h 230"/>
                <a:gd name="T16" fmla="*/ 1 w 484"/>
                <a:gd name="T17" fmla="*/ 0 h 230"/>
                <a:gd name="T18" fmla="*/ 1 w 484"/>
                <a:gd name="T19" fmla="*/ 0 h 230"/>
                <a:gd name="T20" fmla="*/ 1 w 484"/>
                <a:gd name="T21" fmla="*/ 0 h 230"/>
                <a:gd name="T22" fmla="*/ 1 w 484"/>
                <a:gd name="T23" fmla="*/ 0 h 230"/>
                <a:gd name="T24" fmla="*/ 1 w 484"/>
                <a:gd name="T25" fmla="*/ 0 h 230"/>
                <a:gd name="T26" fmla="*/ 1 w 484"/>
                <a:gd name="T27" fmla="*/ 0 h 230"/>
                <a:gd name="T28" fmla="*/ 1 w 484"/>
                <a:gd name="T29" fmla="*/ 0 h 230"/>
                <a:gd name="T30" fmla="*/ 1 w 484"/>
                <a:gd name="T31" fmla="*/ 0 h 230"/>
                <a:gd name="T32" fmla="*/ 1 w 484"/>
                <a:gd name="T33" fmla="*/ 0 h 230"/>
                <a:gd name="T34" fmla="*/ 1 w 484"/>
                <a:gd name="T35" fmla="*/ 0 h 230"/>
                <a:gd name="T36" fmla="*/ 1 w 484"/>
                <a:gd name="T37" fmla="*/ 0 h 230"/>
                <a:gd name="T38" fmla="*/ 1 w 484"/>
                <a:gd name="T39" fmla="*/ 0 h 230"/>
                <a:gd name="T40" fmla="*/ 1 w 484"/>
                <a:gd name="T41" fmla="*/ 0 h 230"/>
                <a:gd name="T42" fmla="*/ 1 w 484"/>
                <a:gd name="T43" fmla="*/ 0 h 230"/>
                <a:gd name="T44" fmla="*/ 1 w 484"/>
                <a:gd name="T45" fmla="*/ 0 h 230"/>
                <a:gd name="T46" fmla="*/ 1 w 484"/>
                <a:gd name="T47" fmla="*/ 0 h 230"/>
                <a:gd name="T48" fmla="*/ 2 w 484"/>
                <a:gd name="T49" fmla="*/ 0 h 230"/>
                <a:gd name="T50" fmla="*/ 2 w 484"/>
                <a:gd name="T51" fmla="*/ 0 h 230"/>
                <a:gd name="T52" fmla="*/ 2 w 484"/>
                <a:gd name="T53" fmla="*/ 0 h 230"/>
                <a:gd name="T54" fmla="*/ 2 w 484"/>
                <a:gd name="T55" fmla="*/ 0 h 230"/>
                <a:gd name="T56" fmla="*/ 2 w 484"/>
                <a:gd name="T57" fmla="*/ 0 h 230"/>
                <a:gd name="T58" fmla="*/ 2 w 484"/>
                <a:gd name="T59" fmla="*/ 0 h 230"/>
                <a:gd name="T60" fmla="*/ 2 w 484"/>
                <a:gd name="T61" fmla="*/ 0 h 230"/>
                <a:gd name="T62" fmla="*/ 2 w 484"/>
                <a:gd name="T63" fmla="*/ 0 h 230"/>
                <a:gd name="T64" fmla="*/ 2 w 484"/>
                <a:gd name="T65" fmla="*/ 0 h 230"/>
                <a:gd name="T66" fmla="*/ 2 w 484"/>
                <a:gd name="T67" fmla="*/ 0 h 230"/>
                <a:gd name="T68" fmla="*/ 2 w 484"/>
                <a:gd name="T69" fmla="*/ 0 h 230"/>
                <a:gd name="T70" fmla="*/ 2 w 484"/>
                <a:gd name="T71" fmla="*/ 0 h 230"/>
                <a:gd name="T72" fmla="*/ 2 w 484"/>
                <a:gd name="T73" fmla="*/ 0 h 230"/>
                <a:gd name="T74" fmla="*/ 2 w 484"/>
                <a:gd name="T75" fmla="*/ 0 h 230"/>
                <a:gd name="T76" fmla="*/ 0 w 484"/>
                <a:gd name="T77" fmla="*/ 1 h 230"/>
                <a:gd name="T78" fmla="*/ 0 w 484"/>
                <a:gd name="T79" fmla="*/ 1 h 230"/>
                <a:gd name="T80" fmla="*/ 0 w 484"/>
                <a:gd name="T81" fmla="*/ 1 h 230"/>
                <a:gd name="T82" fmla="*/ 0 w 484"/>
                <a:gd name="T83" fmla="*/ 1 h 230"/>
                <a:gd name="T84" fmla="*/ 0 w 484"/>
                <a:gd name="T85" fmla="*/ 1 h 230"/>
                <a:gd name="T86" fmla="*/ 0 w 484"/>
                <a:gd name="T87" fmla="*/ 1 h 230"/>
                <a:gd name="T88" fmla="*/ 0 w 484"/>
                <a:gd name="T89" fmla="*/ 1 h 230"/>
                <a:gd name="T90" fmla="*/ 0 w 484"/>
                <a:gd name="T91" fmla="*/ 1 h 230"/>
                <a:gd name="T92" fmla="*/ 0 w 484"/>
                <a:gd name="T93" fmla="*/ 1 h 230"/>
                <a:gd name="T94" fmla="*/ 0 w 484"/>
                <a:gd name="T95" fmla="*/ 1 h 230"/>
                <a:gd name="T96" fmla="*/ 0 w 484"/>
                <a:gd name="T97" fmla="*/ 1 h 230"/>
                <a:gd name="T98" fmla="*/ 0 w 484"/>
                <a:gd name="T99" fmla="*/ 1 h 230"/>
                <a:gd name="T100" fmla="*/ 0 w 484"/>
                <a:gd name="T101" fmla="*/ 1 h 230"/>
                <a:gd name="T102" fmla="*/ 0 w 484"/>
                <a:gd name="T103" fmla="*/ 1 h 230"/>
                <a:gd name="T104" fmla="*/ 1 w 484"/>
                <a:gd name="T105" fmla="*/ 1 h 23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4"/>
                <a:gd name="T160" fmla="*/ 0 h 230"/>
                <a:gd name="T161" fmla="*/ 484 w 484"/>
                <a:gd name="T162" fmla="*/ 230 h 23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4" h="230">
                  <a:moveTo>
                    <a:pt x="118" y="132"/>
                  </a:moveTo>
                  <a:lnTo>
                    <a:pt x="88" y="82"/>
                  </a:lnTo>
                  <a:lnTo>
                    <a:pt x="85" y="75"/>
                  </a:lnTo>
                  <a:lnTo>
                    <a:pt x="85" y="67"/>
                  </a:lnTo>
                  <a:lnTo>
                    <a:pt x="89" y="60"/>
                  </a:lnTo>
                  <a:lnTo>
                    <a:pt x="95" y="56"/>
                  </a:lnTo>
                  <a:lnTo>
                    <a:pt x="146" y="32"/>
                  </a:lnTo>
                  <a:lnTo>
                    <a:pt x="151" y="31"/>
                  </a:lnTo>
                  <a:lnTo>
                    <a:pt x="155" y="30"/>
                  </a:lnTo>
                  <a:lnTo>
                    <a:pt x="160" y="29"/>
                  </a:lnTo>
                  <a:lnTo>
                    <a:pt x="164" y="28"/>
                  </a:lnTo>
                  <a:lnTo>
                    <a:pt x="170" y="28"/>
                  </a:lnTo>
                  <a:lnTo>
                    <a:pt x="175" y="28"/>
                  </a:lnTo>
                  <a:lnTo>
                    <a:pt x="179" y="28"/>
                  </a:lnTo>
                  <a:lnTo>
                    <a:pt x="184" y="29"/>
                  </a:lnTo>
                  <a:lnTo>
                    <a:pt x="255" y="50"/>
                  </a:lnTo>
                  <a:lnTo>
                    <a:pt x="259" y="51"/>
                  </a:lnTo>
                  <a:lnTo>
                    <a:pt x="264" y="51"/>
                  </a:lnTo>
                  <a:lnTo>
                    <a:pt x="269" y="51"/>
                  </a:lnTo>
                  <a:lnTo>
                    <a:pt x="274" y="51"/>
                  </a:lnTo>
                  <a:lnTo>
                    <a:pt x="279" y="50"/>
                  </a:lnTo>
                  <a:lnTo>
                    <a:pt x="284" y="50"/>
                  </a:lnTo>
                  <a:lnTo>
                    <a:pt x="289" y="48"/>
                  </a:lnTo>
                  <a:lnTo>
                    <a:pt x="292" y="47"/>
                  </a:lnTo>
                  <a:lnTo>
                    <a:pt x="384" y="5"/>
                  </a:lnTo>
                  <a:lnTo>
                    <a:pt x="389" y="4"/>
                  </a:lnTo>
                  <a:lnTo>
                    <a:pt x="394" y="2"/>
                  </a:lnTo>
                  <a:lnTo>
                    <a:pt x="398" y="1"/>
                  </a:lnTo>
                  <a:lnTo>
                    <a:pt x="404" y="1"/>
                  </a:lnTo>
                  <a:lnTo>
                    <a:pt x="408" y="0"/>
                  </a:lnTo>
                  <a:lnTo>
                    <a:pt x="413" y="0"/>
                  </a:lnTo>
                  <a:lnTo>
                    <a:pt x="417" y="0"/>
                  </a:lnTo>
                  <a:lnTo>
                    <a:pt x="422" y="1"/>
                  </a:lnTo>
                  <a:lnTo>
                    <a:pt x="475" y="10"/>
                  </a:lnTo>
                  <a:lnTo>
                    <a:pt x="482" y="12"/>
                  </a:lnTo>
                  <a:lnTo>
                    <a:pt x="484" y="14"/>
                  </a:lnTo>
                  <a:lnTo>
                    <a:pt x="483" y="18"/>
                  </a:lnTo>
                  <a:lnTo>
                    <a:pt x="477" y="22"/>
                  </a:lnTo>
                  <a:lnTo>
                    <a:pt x="70" y="227"/>
                  </a:lnTo>
                  <a:lnTo>
                    <a:pt x="65" y="229"/>
                  </a:lnTo>
                  <a:lnTo>
                    <a:pt x="60" y="230"/>
                  </a:lnTo>
                  <a:lnTo>
                    <a:pt x="56" y="230"/>
                  </a:lnTo>
                  <a:lnTo>
                    <a:pt x="51" y="230"/>
                  </a:lnTo>
                  <a:lnTo>
                    <a:pt x="47" y="230"/>
                  </a:lnTo>
                  <a:lnTo>
                    <a:pt x="42" y="229"/>
                  </a:lnTo>
                  <a:lnTo>
                    <a:pt x="38" y="228"/>
                  </a:lnTo>
                  <a:lnTo>
                    <a:pt x="35" y="227"/>
                  </a:lnTo>
                  <a:lnTo>
                    <a:pt x="7" y="212"/>
                  </a:lnTo>
                  <a:lnTo>
                    <a:pt x="2" y="208"/>
                  </a:lnTo>
                  <a:lnTo>
                    <a:pt x="0" y="203"/>
                  </a:lnTo>
                  <a:lnTo>
                    <a:pt x="2" y="199"/>
                  </a:lnTo>
                  <a:lnTo>
                    <a:pt x="7" y="194"/>
                  </a:lnTo>
                  <a:lnTo>
                    <a:pt x="118" y="132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0" name="Freeform 335"/>
            <p:cNvSpPr>
              <a:spLocks/>
            </p:cNvSpPr>
            <p:nvPr/>
          </p:nvSpPr>
          <p:spPr bwMode="auto">
            <a:xfrm>
              <a:off x="1184" y="3596"/>
              <a:ext cx="43" cy="41"/>
            </a:xfrm>
            <a:custGeom>
              <a:avLst/>
              <a:gdLst>
                <a:gd name="T0" fmla="*/ 0 w 256"/>
                <a:gd name="T1" fmla="*/ 0 h 247"/>
                <a:gd name="T2" fmla="*/ 0 w 256"/>
                <a:gd name="T3" fmla="*/ 0 h 247"/>
                <a:gd name="T4" fmla="*/ 0 w 256"/>
                <a:gd name="T5" fmla="*/ 0 h 247"/>
                <a:gd name="T6" fmla="*/ 0 w 256"/>
                <a:gd name="T7" fmla="*/ 0 h 247"/>
                <a:gd name="T8" fmla="*/ 0 w 256"/>
                <a:gd name="T9" fmla="*/ 0 h 247"/>
                <a:gd name="T10" fmla="*/ 0 w 256"/>
                <a:gd name="T11" fmla="*/ 0 h 247"/>
                <a:gd name="T12" fmla="*/ 0 w 256"/>
                <a:gd name="T13" fmla="*/ 0 h 247"/>
                <a:gd name="T14" fmla="*/ 0 w 256"/>
                <a:gd name="T15" fmla="*/ 0 h 247"/>
                <a:gd name="T16" fmla="*/ 0 w 256"/>
                <a:gd name="T17" fmla="*/ 0 h 247"/>
                <a:gd name="T18" fmla="*/ 1 w 256"/>
                <a:gd name="T19" fmla="*/ 0 h 247"/>
                <a:gd name="T20" fmla="*/ 1 w 256"/>
                <a:gd name="T21" fmla="*/ 0 h 247"/>
                <a:gd name="T22" fmla="*/ 1 w 256"/>
                <a:gd name="T23" fmla="*/ 0 h 247"/>
                <a:gd name="T24" fmla="*/ 1 w 256"/>
                <a:gd name="T25" fmla="*/ 0 h 247"/>
                <a:gd name="T26" fmla="*/ 1 w 256"/>
                <a:gd name="T27" fmla="*/ 0 h 247"/>
                <a:gd name="T28" fmla="*/ 1 w 256"/>
                <a:gd name="T29" fmla="*/ 0 h 247"/>
                <a:gd name="T30" fmla="*/ 1 w 256"/>
                <a:gd name="T31" fmla="*/ 0 h 247"/>
                <a:gd name="T32" fmla="*/ 1 w 256"/>
                <a:gd name="T33" fmla="*/ 0 h 247"/>
                <a:gd name="T34" fmla="*/ 1 w 256"/>
                <a:gd name="T35" fmla="*/ 0 h 247"/>
                <a:gd name="T36" fmla="*/ 1 w 256"/>
                <a:gd name="T37" fmla="*/ 0 h 247"/>
                <a:gd name="T38" fmla="*/ 1 w 256"/>
                <a:gd name="T39" fmla="*/ 0 h 247"/>
                <a:gd name="T40" fmla="*/ 1 w 256"/>
                <a:gd name="T41" fmla="*/ 0 h 247"/>
                <a:gd name="T42" fmla="*/ 1 w 256"/>
                <a:gd name="T43" fmla="*/ 0 h 247"/>
                <a:gd name="T44" fmla="*/ 1 w 256"/>
                <a:gd name="T45" fmla="*/ 0 h 247"/>
                <a:gd name="T46" fmla="*/ 1 w 256"/>
                <a:gd name="T47" fmla="*/ 1 h 247"/>
                <a:gd name="T48" fmla="*/ 1 w 256"/>
                <a:gd name="T49" fmla="*/ 1 h 247"/>
                <a:gd name="T50" fmla="*/ 1 w 256"/>
                <a:gd name="T51" fmla="*/ 1 h 247"/>
                <a:gd name="T52" fmla="*/ 1 w 256"/>
                <a:gd name="T53" fmla="*/ 1 h 247"/>
                <a:gd name="T54" fmla="*/ 1 w 256"/>
                <a:gd name="T55" fmla="*/ 1 h 247"/>
                <a:gd name="T56" fmla="*/ 1 w 256"/>
                <a:gd name="T57" fmla="*/ 1 h 247"/>
                <a:gd name="T58" fmla="*/ 1 w 256"/>
                <a:gd name="T59" fmla="*/ 1 h 247"/>
                <a:gd name="T60" fmla="*/ 1 w 256"/>
                <a:gd name="T61" fmla="*/ 1 h 247"/>
                <a:gd name="T62" fmla="*/ 1 w 256"/>
                <a:gd name="T63" fmla="*/ 1 h 247"/>
                <a:gd name="T64" fmla="*/ 1 w 256"/>
                <a:gd name="T65" fmla="*/ 1 h 247"/>
                <a:gd name="T66" fmla="*/ 1 w 256"/>
                <a:gd name="T67" fmla="*/ 1 h 247"/>
                <a:gd name="T68" fmla="*/ 1 w 256"/>
                <a:gd name="T69" fmla="*/ 0 h 247"/>
                <a:gd name="T70" fmla="*/ 1 w 256"/>
                <a:gd name="T71" fmla="*/ 0 h 247"/>
                <a:gd name="T72" fmla="*/ 0 w 256"/>
                <a:gd name="T73" fmla="*/ 0 h 247"/>
                <a:gd name="T74" fmla="*/ 0 w 256"/>
                <a:gd name="T75" fmla="*/ 0 h 247"/>
                <a:gd name="T76" fmla="*/ 0 w 256"/>
                <a:gd name="T77" fmla="*/ 0 h 247"/>
                <a:gd name="T78" fmla="*/ 0 w 256"/>
                <a:gd name="T79" fmla="*/ 0 h 24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6"/>
                <a:gd name="T121" fmla="*/ 0 h 247"/>
                <a:gd name="T122" fmla="*/ 256 w 256"/>
                <a:gd name="T123" fmla="*/ 247 h 24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6" h="247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2" y="26"/>
                  </a:lnTo>
                  <a:lnTo>
                    <a:pt x="171" y="33"/>
                  </a:lnTo>
                  <a:lnTo>
                    <a:pt x="178" y="40"/>
                  </a:lnTo>
                  <a:lnTo>
                    <a:pt x="184" y="46"/>
                  </a:lnTo>
                  <a:lnTo>
                    <a:pt x="213" y="98"/>
                  </a:lnTo>
                  <a:lnTo>
                    <a:pt x="218" y="106"/>
                  </a:lnTo>
                  <a:lnTo>
                    <a:pt x="223" y="115"/>
                  </a:lnTo>
                  <a:lnTo>
                    <a:pt x="229" y="124"/>
                  </a:lnTo>
                  <a:lnTo>
                    <a:pt x="234" y="132"/>
                  </a:lnTo>
                  <a:lnTo>
                    <a:pt x="254" y="166"/>
                  </a:lnTo>
                  <a:lnTo>
                    <a:pt x="256" y="172"/>
                  </a:lnTo>
                  <a:lnTo>
                    <a:pt x="256" y="180"/>
                  </a:lnTo>
                  <a:lnTo>
                    <a:pt x="253" y="187"/>
                  </a:lnTo>
                  <a:lnTo>
                    <a:pt x="247" y="193"/>
                  </a:lnTo>
                  <a:lnTo>
                    <a:pt x="153" y="244"/>
                  </a:lnTo>
                  <a:lnTo>
                    <a:pt x="146" y="247"/>
                  </a:lnTo>
                  <a:lnTo>
                    <a:pt x="139" y="245"/>
                  </a:lnTo>
                  <a:lnTo>
                    <a:pt x="134" y="241"/>
                  </a:lnTo>
                  <a:lnTo>
                    <a:pt x="131" y="234"/>
                  </a:lnTo>
                  <a:lnTo>
                    <a:pt x="90" y="83"/>
                  </a:lnTo>
                  <a:lnTo>
                    <a:pt x="87" y="76"/>
                  </a:lnTo>
                  <a:lnTo>
                    <a:pt x="80" y="69"/>
                  </a:lnTo>
                  <a:lnTo>
                    <a:pt x="73" y="63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1" name="Freeform 336"/>
            <p:cNvSpPr>
              <a:spLocks/>
            </p:cNvSpPr>
            <p:nvPr/>
          </p:nvSpPr>
          <p:spPr bwMode="auto">
            <a:xfrm>
              <a:off x="1184" y="3596"/>
              <a:ext cx="27" cy="10"/>
            </a:xfrm>
            <a:custGeom>
              <a:avLst/>
              <a:gdLst>
                <a:gd name="T0" fmla="*/ 0 w 162"/>
                <a:gd name="T1" fmla="*/ 0 h 61"/>
                <a:gd name="T2" fmla="*/ 0 w 162"/>
                <a:gd name="T3" fmla="*/ 0 h 61"/>
                <a:gd name="T4" fmla="*/ 0 w 162"/>
                <a:gd name="T5" fmla="*/ 0 h 61"/>
                <a:gd name="T6" fmla="*/ 0 w 162"/>
                <a:gd name="T7" fmla="*/ 0 h 61"/>
                <a:gd name="T8" fmla="*/ 0 w 162"/>
                <a:gd name="T9" fmla="*/ 0 h 61"/>
                <a:gd name="T10" fmla="*/ 0 w 162"/>
                <a:gd name="T11" fmla="*/ 0 h 61"/>
                <a:gd name="T12" fmla="*/ 0 w 162"/>
                <a:gd name="T13" fmla="*/ 0 h 61"/>
                <a:gd name="T14" fmla="*/ 0 w 162"/>
                <a:gd name="T15" fmla="*/ 0 h 61"/>
                <a:gd name="T16" fmla="*/ 0 w 162"/>
                <a:gd name="T17" fmla="*/ 0 h 61"/>
                <a:gd name="T18" fmla="*/ 0 w 162"/>
                <a:gd name="T19" fmla="*/ 0 h 61"/>
                <a:gd name="T20" fmla="*/ 0 w 162"/>
                <a:gd name="T21" fmla="*/ 0 h 61"/>
                <a:gd name="T22" fmla="*/ 0 w 162"/>
                <a:gd name="T23" fmla="*/ 0 h 61"/>
                <a:gd name="T24" fmla="*/ 0 w 162"/>
                <a:gd name="T25" fmla="*/ 0 h 61"/>
                <a:gd name="T26" fmla="*/ 0 w 162"/>
                <a:gd name="T27" fmla="*/ 0 h 61"/>
                <a:gd name="T28" fmla="*/ 1 w 162"/>
                <a:gd name="T29" fmla="*/ 0 h 61"/>
                <a:gd name="T30" fmla="*/ 1 w 162"/>
                <a:gd name="T31" fmla="*/ 0 h 61"/>
                <a:gd name="T32" fmla="*/ 1 w 162"/>
                <a:gd name="T33" fmla="*/ 0 h 61"/>
                <a:gd name="T34" fmla="*/ 1 w 162"/>
                <a:gd name="T35" fmla="*/ 0 h 61"/>
                <a:gd name="T36" fmla="*/ 1 w 162"/>
                <a:gd name="T37" fmla="*/ 0 h 61"/>
                <a:gd name="T38" fmla="*/ 0 w 162"/>
                <a:gd name="T39" fmla="*/ 0 h 61"/>
                <a:gd name="T40" fmla="*/ 0 w 162"/>
                <a:gd name="T41" fmla="*/ 0 h 61"/>
                <a:gd name="T42" fmla="*/ 0 w 162"/>
                <a:gd name="T43" fmla="*/ 0 h 61"/>
                <a:gd name="T44" fmla="*/ 0 w 162"/>
                <a:gd name="T45" fmla="*/ 0 h 61"/>
                <a:gd name="T46" fmla="*/ 0 w 162"/>
                <a:gd name="T47" fmla="*/ 0 h 61"/>
                <a:gd name="T48" fmla="*/ 0 w 162"/>
                <a:gd name="T49" fmla="*/ 0 h 61"/>
                <a:gd name="T50" fmla="*/ 0 w 162"/>
                <a:gd name="T51" fmla="*/ 0 h 61"/>
                <a:gd name="T52" fmla="*/ 0 w 162"/>
                <a:gd name="T53" fmla="*/ 0 h 61"/>
                <a:gd name="T54" fmla="*/ 0 w 162"/>
                <a:gd name="T55" fmla="*/ 0 h 61"/>
                <a:gd name="T56" fmla="*/ 0 w 162"/>
                <a:gd name="T57" fmla="*/ 0 h 6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2"/>
                <a:gd name="T88" fmla="*/ 0 h 61"/>
                <a:gd name="T89" fmla="*/ 162 w 162"/>
                <a:gd name="T90" fmla="*/ 61 h 6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2" h="61">
                  <a:moveTo>
                    <a:pt x="9" y="44"/>
                  </a:moveTo>
                  <a:lnTo>
                    <a:pt x="2" y="42"/>
                  </a:lnTo>
                  <a:lnTo>
                    <a:pt x="0" y="38"/>
                  </a:lnTo>
                  <a:lnTo>
                    <a:pt x="2" y="35"/>
                  </a:lnTo>
                  <a:lnTo>
                    <a:pt x="8" y="32"/>
                  </a:lnTo>
                  <a:lnTo>
                    <a:pt x="71" y="4"/>
                  </a:lnTo>
                  <a:lnTo>
                    <a:pt x="76" y="2"/>
                  </a:lnTo>
                  <a:lnTo>
                    <a:pt x="80" y="1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98" y="1"/>
                  </a:lnTo>
                  <a:lnTo>
                    <a:pt x="103" y="2"/>
                  </a:lnTo>
                  <a:lnTo>
                    <a:pt x="107" y="4"/>
                  </a:lnTo>
                  <a:lnTo>
                    <a:pt x="155" y="23"/>
                  </a:lnTo>
                  <a:lnTo>
                    <a:pt x="160" y="26"/>
                  </a:lnTo>
                  <a:lnTo>
                    <a:pt x="162" y="29"/>
                  </a:lnTo>
                  <a:lnTo>
                    <a:pt x="160" y="34"/>
                  </a:lnTo>
                  <a:lnTo>
                    <a:pt x="155" y="37"/>
                  </a:lnTo>
                  <a:lnTo>
                    <a:pt x="103" y="58"/>
                  </a:lnTo>
                  <a:lnTo>
                    <a:pt x="98" y="59"/>
                  </a:lnTo>
                  <a:lnTo>
                    <a:pt x="94" y="60"/>
                  </a:lnTo>
                  <a:lnTo>
                    <a:pt x="89" y="60"/>
                  </a:lnTo>
                  <a:lnTo>
                    <a:pt x="85" y="61"/>
                  </a:lnTo>
                  <a:lnTo>
                    <a:pt x="79" y="61"/>
                  </a:lnTo>
                  <a:lnTo>
                    <a:pt x="74" y="61"/>
                  </a:lnTo>
                  <a:lnTo>
                    <a:pt x="70" y="61"/>
                  </a:lnTo>
                  <a:lnTo>
                    <a:pt x="65" y="60"/>
                  </a:lnTo>
                  <a:lnTo>
                    <a:pt x="9" y="4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2" name="Freeform 337"/>
            <p:cNvSpPr>
              <a:spLocks/>
            </p:cNvSpPr>
            <p:nvPr/>
          </p:nvSpPr>
          <p:spPr bwMode="auto">
            <a:xfrm>
              <a:off x="1235" y="3575"/>
              <a:ext cx="24" cy="9"/>
            </a:xfrm>
            <a:custGeom>
              <a:avLst/>
              <a:gdLst>
                <a:gd name="T0" fmla="*/ 0 w 144"/>
                <a:gd name="T1" fmla="*/ 0 h 50"/>
                <a:gd name="T2" fmla="*/ 0 w 144"/>
                <a:gd name="T3" fmla="*/ 0 h 50"/>
                <a:gd name="T4" fmla="*/ 0 w 144"/>
                <a:gd name="T5" fmla="*/ 0 h 50"/>
                <a:gd name="T6" fmla="*/ 0 w 144"/>
                <a:gd name="T7" fmla="*/ 0 h 50"/>
                <a:gd name="T8" fmla="*/ 0 w 144"/>
                <a:gd name="T9" fmla="*/ 0 h 50"/>
                <a:gd name="T10" fmla="*/ 0 w 144"/>
                <a:gd name="T11" fmla="*/ 0 h 50"/>
                <a:gd name="T12" fmla="*/ 0 w 144"/>
                <a:gd name="T13" fmla="*/ 0 h 50"/>
                <a:gd name="T14" fmla="*/ 0 w 144"/>
                <a:gd name="T15" fmla="*/ 0 h 50"/>
                <a:gd name="T16" fmla="*/ 0 w 144"/>
                <a:gd name="T17" fmla="*/ 0 h 50"/>
                <a:gd name="T18" fmla="*/ 0 w 144"/>
                <a:gd name="T19" fmla="*/ 0 h 50"/>
                <a:gd name="T20" fmla="*/ 0 w 144"/>
                <a:gd name="T21" fmla="*/ 0 h 50"/>
                <a:gd name="T22" fmla="*/ 0 w 144"/>
                <a:gd name="T23" fmla="*/ 0 h 50"/>
                <a:gd name="T24" fmla="*/ 0 w 144"/>
                <a:gd name="T25" fmla="*/ 0 h 50"/>
                <a:gd name="T26" fmla="*/ 0 w 144"/>
                <a:gd name="T27" fmla="*/ 0 h 50"/>
                <a:gd name="T28" fmla="*/ 1 w 144"/>
                <a:gd name="T29" fmla="*/ 0 h 50"/>
                <a:gd name="T30" fmla="*/ 1 w 144"/>
                <a:gd name="T31" fmla="*/ 0 h 50"/>
                <a:gd name="T32" fmla="*/ 1 w 144"/>
                <a:gd name="T33" fmla="*/ 0 h 50"/>
                <a:gd name="T34" fmla="*/ 1 w 144"/>
                <a:gd name="T35" fmla="*/ 0 h 50"/>
                <a:gd name="T36" fmla="*/ 1 w 144"/>
                <a:gd name="T37" fmla="*/ 0 h 50"/>
                <a:gd name="T38" fmla="*/ 0 w 144"/>
                <a:gd name="T39" fmla="*/ 0 h 50"/>
                <a:gd name="T40" fmla="*/ 0 w 144"/>
                <a:gd name="T41" fmla="*/ 0 h 50"/>
                <a:gd name="T42" fmla="*/ 0 w 144"/>
                <a:gd name="T43" fmla="*/ 0 h 50"/>
                <a:gd name="T44" fmla="*/ 0 w 144"/>
                <a:gd name="T45" fmla="*/ 0 h 50"/>
                <a:gd name="T46" fmla="*/ 0 w 144"/>
                <a:gd name="T47" fmla="*/ 0 h 50"/>
                <a:gd name="T48" fmla="*/ 0 w 144"/>
                <a:gd name="T49" fmla="*/ 0 h 50"/>
                <a:gd name="T50" fmla="*/ 0 w 144"/>
                <a:gd name="T51" fmla="*/ 0 h 50"/>
                <a:gd name="T52" fmla="*/ 0 w 144"/>
                <a:gd name="T53" fmla="*/ 0 h 50"/>
                <a:gd name="T54" fmla="*/ 0 w 144"/>
                <a:gd name="T55" fmla="*/ 0 h 50"/>
                <a:gd name="T56" fmla="*/ 0 w 144"/>
                <a:gd name="T57" fmla="*/ 0 h 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50"/>
                <a:gd name="T89" fmla="*/ 144 w 144"/>
                <a:gd name="T90" fmla="*/ 50 h 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50">
                  <a:moveTo>
                    <a:pt x="7" y="24"/>
                  </a:moveTo>
                  <a:lnTo>
                    <a:pt x="1" y="27"/>
                  </a:lnTo>
                  <a:lnTo>
                    <a:pt x="0" y="31"/>
                  </a:lnTo>
                  <a:lnTo>
                    <a:pt x="2" y="34"/>
                  </a:lnTo>
                  <a:lnTo>
                    <a:pt x="8" y="36"/>
                  </a:lnTo>
                  <a:lnTo>
                    <a:pt x="51" y="47"/>
                  </a:lnTo>
                  <a:lnTo>
                    <a:pt x="55" y="49"/>
                  </a:lnTo>
                  <a:lnTo>
                    <a:pt x="60" y="50"/>
                  </a:lnTo>
                  <a:lnTo>
                    <a:pt x="64" y="50"/>
                  </a:lnTo>
                  <a:lnTo>
                    <a:pt x="70" y="50"/>
                  </a:lnTo>
                  <a:lnTo>
                    <a:pt x="74" y="49"/>
                  </a:lnTo>
                  <a:lnTo>
                    <a:pt x="79" y="47"/>
                  </a:lnTo>
                  <a:lnTo>
                    <a:pt x="83" y="46"/>
                  </a:lnTo>
                  <a:lnTo>
                    <a:pt x="88" y="45"/>
                  </a:lnTo>
                  <a:lnTo>
                    <a:pt x="136" y="25"/>
                  </a:lnTo>
                  <a:lnTo>
                    <a:pt x="142" y="22"/>
                  </a:lnTo>
                  <a:lnTo>
                    <a:pt x="144" y="18"/>
                  </a:lnTo>
                  <a:lnTo>
                    <a:pt x="142" y="15"/>
                  </a:lnTo>
                  <a:lnTo>
                    <a:pt x="136" y="13"/>
                  </a:lnTo>
                  <a:lnTo>
                    <a:pt x="88" y="1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4" y="1"/>
                  </a:lnTo>
                  <a:lnTo>
                    <a:pt x="60" y="2"/>
                  </a:lnTo>
                  <a:lnTo>
                    <a:pt x="55" y="4"/>
                  </a:lnTo>
                  <a:lnTo>
                    <a:pt x="51" y="5"/>
                  </a:lnTo>
                  <a:lnTo>
                    <a:pt x="7" y="24"/>
                  </a:lnTo>
                  <a:close/>
                </a:path>
              </a:pathLst>
            </a:custGeom>
            <a:solidFill>
              <a:srgbClr val="F9F9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3" name="Freeform 338"/>
            <p:cNvSpPr>
              <a:spLocks/>
            </p:cNvSpPr>
            <p:nvPr/>
          </p:nvSpPr>
          <p:spPr bwMode="auto">
            <a:xfrm>
              <a:off x="1054" y="3290"/>
              <a:ext cx="224" cy="362"/>
            </a:xfrm>
            <a:custGeom>
              <a:avLst/>
              <a:gdLst>
                <a:gd name="T0" fmla="*/ 0 w 1346"/>
                <a:gd name="T1" fmla="*/ 1 h 2178"/>
                <a:gd name="T2" fmla="*/ 0 w 1346"/>
                <a:gd name="T3" fmla="*/ 1 h 2178"/>
                <a:gd name="T4" fmla="*/ 0 w 1346"/>
                <a:gd name="T5" fmla="*/ 1 h 2178"/>
                <a:gd name="T6" fmla="*/ 0 w 1346"/>
                <a:gd name="T7" fmla="*/ 2 h 2178"/>
                <a:gd name="T8" fmla="*/ 0 w 1346"/>
                <a:gd name="T9" fmla="*/ 9 h 2178"/>
                <a:gd name="T10" fmla="*/ 0 w 1346"/>
                <a:gd name="T11" fmla="*/ 9 h 2178"/>
                <a:gd name="T12" fmla="*/ 0 w 1346"/>
                <a:gd name="T13" fmla="*/ 10 h 2178"/>
                <a:gd name="T14" fmla="*/ 0 w 1346"/>
                <a:gd name="T15" fmla="*/ 10 h 2178"/>
                <a:gd name="T16" fmla="*/ 0 w 1346"/>
                <a:gd name="T17" fmla="*/ 10 h 2178"/>
                <a:gd name="T18" fmla="*/ 3 w 1346"/>
                <a:gd name="T19" fmla="*/ 10 h 2178"/>
                <a:gd name="T20" fmla="*/ 3 w 1346"/>
                <a:gd name="T21" fmla="*/ 10 h 2178"/>
                <a:gd name="T22" fmla="*/ 3 w 1346"/>
                <a:gd name="T23" fmla="*/ 10 h 2178"/>
                <a:gd name="T24" fmla="*/ 3 w 1346"/>
                <a:gd name="T25" fmla="*/ 10 h 2178"/>
                <a:gd name="T26" fmla="*/ 3 w 1346"/>
                <a:gd name="T27" fmla="*/ 10 h 2178"/>
                <a:gd name="T28" fmla="*/ 3 w 1346"/>
                <a:gd name="T29" fmla="*/ 10 h 2178"/>
                <a:gd name="T30" fmla="*/ 4 w 1346"/>
                <a:gd name="T31" fmla="*/ 10 h 2178"/>
                <a:gd name="T32" fmla="*/ 4 w 1346"/>
                <a:gd name="T33" fmla="*/ 9 h 2178"/>
                <a:gd name="T34" fmla="*/ 5 w 1346"/>
                <a:gd name="T35" fmla="*/ 9 h 2178"/>
                <a:gd name="T36" fmla="*/ 5 w 1346"/>
                <a:gd name="T37" fmla="*/ 9 h 2178"/>
                <a:gd name="T38" fmla="*/ 6 w 1346"/>
                <a:gd name="T39" fmla="*/ 9 h 2178"/>
                <a:gd name="T40" fmla="*/ 6 w 1346"/>
                <a:gd name="T41" fmla="*/ 8 h 2178"/>
                <a:gd name="T42" fmla="*/ 6 w 1346"/>
                <a:gd name="T43" fmla="*/ 8 h 2178"/>
                <a:gd name="T44" fmla="*/ 6 w 1346"/>
                <a:gd name="T45" fmla="*/ 8 h 2178"/>
                <a:gd name="T46" fmla="*/ 6 w 1346"/>
                <a:gd name="T47" fmla="*/ 8 h 2178"/>
                <a:gd name="T48" fmla="*/ 6 w 1346"/>
                <a:gd name="T49" fmla="*/ 8 h 2178"/>
                <a:gd name="T50" fmla="*/ 6 w 1346"/>
                <a:gd name="T51" fmla="*/ 1 h 2178"/>
                <a:gd name="T52" fmla="*/ 6 w 1346"/>
                <a:gd name="T53" fmla="*/ 0 h 2178"/>
                <a:gd name="T54" fmla="*/ 6 w 1346"/>
                <a:gd name="T55" fmla="*/ 0 h 2178"/>
                <a:gd name="T56" fmla="*/ 6 w 1346"/>
                <a:gd name="T57" fmla="*/ 0 h 2178"/>
                <a:gd name="T58" fmla="*/ 6 w 1346"/>
                <a:gd name="T59" fmla="*/ 0 h 2178"/>
                <a:gd name="T60" fmla="*/ 3 w 1346"/>
                <a:gd name="T61" fmla="*/ 0 h 2178"/>
                <a:gd name="T62" fmla="*/ 3 w 1346"/>
                <a:gd name="T63" fmla="*/ 0 h 2178"/>
                <a:gd name="T64" fmla="*/ 3 w 1346"/>
                <a:gd name="T65" fmla="*/ 0 h 2178"/>
                <a:gd name="T66" fmla="*/ 3 w 1346"/>
                <a:gd name="T67" fmla="*/ 0 h 2178"/>
                <a:gd name="T68" fmla="*/ 0 w 1346"/>
                <a:gd name="T69" fmla="*/ 1 h 217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346"/>
                <a:gd name="T106" fmla="*/ 0 h 2178"/>
                <a:gd name="T107" fmla="*/ 1346 w 1346"/>
                <a:gd name="T108" fmla="*/ 2178 h 217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346" h="2178">
                  <a:moveTo>
                    <a:pt x="59" y="276"/>
                  </a:moveTo>
                  <a:lnTo>
                    <a:pt x="46" y="283"/>
                  </a:lnTo>
                  <a:lnTo>
                    <a:pt x="36" y="291"/>
                  </a:lnTo>
                  <a:lnTo>
                    <a:pt x="26" y="301"/>
                  </a:lnTo>
                  <a:lnTo>
                    <a:pt x="17" y="312"/>
                  </a:lnTo>
                  <a:lnTo>
                    <a:pt x="10" y="324"/>
                  </a:lnTo>
                  <a:lnTo>
                    <a:pt x="5" y="338"/>
                  </a:lnTo>
                  <a:lnTo>
                    <a:pt x="1" y="351"/>
                  </a:lnTo>
                  <a:lnTo>
                    <a:pt x="0" y="365"/>
                  </a:lnTo>
                  <a:lnTo>
                    <a:pt x="10" y="2038"/>
                  </a:lnTo>
                  <a:lnTo>
                    <a:pt x="11" y="2052"/>
                  </a:lnTo>
                  <a:lnTo>
                    <a:pt x="16" y="2064"/>
                  </a:lnTo>
                  <a:lnTo>
                    <a:pt x="21" y="2076"/>
                  </a:lnTo>
                  <a:lnTo>
                    <a:pt x="29" y="2086"/>
                  </a:lnTo>
                  <a:lnTo>
                    <a:pt x="40" y="2095"/>
                  </a:lnTo>
                  <a:lnTo>
                    <a:pt x="50" y="2103"/>
                  </a:lnTo>
                  <a:lnTo>
                    <a:pt x="62" y="2108"/>
                  </a:lnTo>
                  <a:lnTo>
                    <a:pt x="76" y="2111"/>
                  </a:lnTo>
                  <a:lnTo>
                    <a:pt x="585" y="2176"/>
                  </a:lnTo>
                  <a:lnTo>
                    <a:pt x="598" y="2178"/>
                  </a:lnTo>
                  <a:lnTo>
                    <a:pt x="613" y="2178"/>
                  </a:lnTo>
                  <a:lnTo>
                    <a:pt x="629" y="2176"/>
                  </a:lnTo>
                  <a:lnTo>
                    <a:pt x="645" y="2174"/>
                  </a:lnTo>
                  <a:lnTo>
                    <a:pt x="659" y="2171"/>
                  </a:lnTo>
                  <a:lnTo>
                    <a:pt x="675" y="2166"/>
                  </a:lnTo>
                  <a:lnTo>
                    <a:pt x="689" y="2162"/>
                  </a:lnTo>
                  <a:lnTo>
                    <a:pt x="701" y="2156"/>
                  </a:lnTo>
                  <a:lnTo>
                    <a:pt x="708" y="2153"/>
                  </a:lnTo>
                  <a:lnTo>
                    <a:pt x="726" y="2143"/>
                  </a:lnTo>
                  <a:lnTo>
                    <a:pt x="755" y="2128"/>
                  </a:lnTo>
                  <a:lnTo>
                    <a:pt x="792" y="2108"/>
                  </a:lnTo>
                  <a:lnTo>
                    <a:pt x="836" y="2085"/>
                  </a:lnTo>
                  <a:lnTo>
                    <a:pt x="886" y="2059"/>
                  </a:lnTo>
                  <a:lnTo>
                    <a:pt x="939" y="2031"/>
                  </a:lnTo>
                  <a:lnTo>
                    <a:pt x="995" y="2003"/>
                  </a:lnTo>
                  <a:lnTo>
                    <a:pt x="1049" y="1975"/>
                  </a:lnTo>
                  <a:lnTo>
                    <a:pt x="1102" y="1947"/>
                  </a:lnTo>
                  <a:lnTo>
                    <a:pt x="1151" y="1921"/>
                  </a:lnTo>
                  <a:lnTo>
                    <a:pt x="1195" y="1897"/>
                  </a:lnTo>
                  <a:lnTo>
                    <a:pt x="1233" y="1878"/>
                  </a:lnTo>
                  <a:lnTo>
                    <a:pt x="1262" y="1864"/>
                  </a:lnTo>
                  <a:lnTo>
                    <a:pt x="1280" y="1854"/>
                  </a:lnTo>
                  <a:lnTo>
                    <a:pt x="1287" y="1850"/>
                  </a:lnTo>
                  <a:lnTo>
                    <a:pt x="1298" y="1842"/>
                  </a:lnTo>
                  <a:lnTo>
                    <a:pt x="1309" y="1833"/>
                  </a:lnTo>
                  <a:lnTo>
                    <a:pt x="1319" y="1822"/>
                  </a:lnTo>
                  <a:lnTo>
                    <a:pt x="1328" y="1810"/>
                  </a:lnTo>
                  <a:lnTo>
                    <a:pt x="1334" y="1797"/>
                  </a:lnTo>
                  <a:lnTo>
                    <a:pt x="1339" y="1784"/>
                  </a:lnTo>
                  <a:lnTo>
                    <a:pt x="1342" y="1770"/>
                  </a:lnTo>
                  <a:lnTo>
                    <a:pt x="1343" y="1757"/>
                  </a:lnTo>
                  <a:lnTo>
                    <a:pt x="1346" y="147"/>
                  </a:lnTo>
                  <a:lnTo>
                    <a:pt x="1344" y="133"/>
                  </a:lnTo>
                  <a:lnTo>
                    <a:pt x="1340" y="121"/>
                  </a:lnTo>
                  <a:lnTo>
                    <a:pt x="1334" y="108"/>
                  </a:lnTo>
                  <a:lnTo>
                    <a:pt x="1326" y="98"/>
                  </a:lnTo>
                  <a:lnTo>
                    <a:pt x="1316" y="89"/>
                  </a:lnTo>
                  <a:lnTo>
                    <a:pt x="1306" y="81"/>
                  </a:lnTo>
                  <a:lnTo>
                    <a:pt x="1294" y="76"/>
                  </a:lnTo>
                  <a:lnTo>
                    <a:pt x="1280" y="72"/>
                  </a:lnTo>
                  <a:lnTo>
                    <a:pt x="782" y="3"/>
                  </a:lnTo>
                  <a:lnTo>
                    <a:pt x="769" y="2"/>
                  </a:lnTo>
                  <a:lnTo>
                    <a:pt x="754" y="0"/>
                  </a:lnTo>
                  <a:lnTo>
                    <a:pt x="738" y="2"/>
                  </a:lnTo>
                  <a:lnTo>
                    <a:pt x="722" y="3"/>
                  </a:lnTo>
                  <a:lnTo>
                    <a:pt x="707" y="6"/>
                  </a:lnTo>
                  <a:lnTo>
                    <a:pt x="691" y="9"/>
                  </a:lnTo>
                  <a:lnTo>
                    <a:pt x="677" y="13"/>
                  </a:lnTo>
                  <a:lnTo>
                    <a:pt x="665" y="17"/>
                  </a:lnTo>
                  <a:lnTo>
                    <a:pt x="59" y="27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" name="Freeform 339"/>
            <p:cNvSpPr>
              <a:spLocks/>
            </p:cNvSpPr>
            <p:nvPr/>
          </p:nvSpPr>
          <p:spPr bwMode="auto">
            <a:xfrm>
              <a:off x="1055" y="3291"/>
              <a:ext cx="222" cy="360"/>
            </a:xfrm>
            <a:custGeom>
              <a:avLst/>
              <a:gdLst>
                <a:gd name="T0" fmla="*/ 0 w 1332"/>
                <a:gd name="T1" fmla="*/ 1 h 2163"/>
                <a:gd name="T2" fmla="*/ 0 w 1332"/>
                <a:gd name="T3" fmla="*/ 1 h 2163"/>
                <a:gd name="T4" fmla="*/ 0 w 1332"/>
                <a:gd name="T5" fmla="*/ 1 h 2163"/>
                <a:gd name="T6" fmla="*/ 0 w 1332"/>
                <a:gd name="T7" fmla="*/ 1 h 2163"/>
                <a:gd name="T8" fmla="*/ 0 w 1332"/>
                <a:gd name="T9" fmla="*/ 1 h 2163"/>
                <a:gd name="T10" fmla="*/ 0 w 1332"/>
                <a:gd name="T11" fmla="*/ 1 h 2163"/>
                <a:gd name="T12" fmla="*/ 0 w 1332"/>
                <a:gd name="T13" fmla="*/ 1 h 2163"/>
                <a:gd name="T14" fmla="*/ 0 w 1332"/>
                <a:gd name="T15" fmla="*/ 1 h 2163"/>
                <a:gd name="T16" fmla="*/ 0 w 1332"/>
                <a:gd name="T17" fmla="*/ 2 h 2163"/>
                <a:gd name="T18" fmla="*/ 0 w 1332"/>
                <a:gd name="T19" fmla="*/ 9 h 2163"/>
                <a:gd name="T20" fmla="*/ 0 w 1332"/>
                <a:gd name="T21" fmla="*/ 9 h 2163"/>
                <a:gd name="T22" fmla="*/ 0 w 1332"/>
                <a:gd name="T23" fmla="*/ 9 h 2163"/>
                <a:gd name="T24" fmla="*/ 0 w 1332"/>
                <a:gd name="T25" fmla="*/ 9 h 2163"/>
                <a:gd name="T26" fmla="*/ 0 w 1332"/>
                <a:gd name="T27" fmla="*/ 9 h 2163"/>
                <a:gd name="T28" fmla="*/ 0 w 1332"/>
                <a:gd name="T29" fmla="*/ 10 h 2163"/>
                <a:gd name="T30" fmla="*/ 0 w 1332"/>
                <a:gd name="T31" fmla="*/ 10 h 2163"/>
                <a:gd name="T32" fmla="*/ 0 w 1332"/>
                <a:gd name="T33" fmla="*/ 10 h 2163"/>
                <a:gd name="T34" fmla="*/ 0 w 1332"/>
                <a:gd name="T35" fmla="*/ 10 h 2163"/>
                <a:gd name="T36" fmla="*/ 3 w 1332"/>
                <a:gd name="T37" fmla="*/ 10 h 2163"/>
                <a:gd name="T38" fmla="*/ 3 w 1332"/>
                <a:gd name="T39" fmla="*/ 10 h 2163"/>
                <a:gd name="T40" fmla="*/ 3 w 1332"/>
                <a:gd name="T41" fmla="*/ 10 h 2163"/>
                <a:gd name="T42" fmla="*/ 3 w 1332"/>
                <a:gd name="T43" fmla="*/ 10 h 2163"/>
                <a:gd name="T44" fmla="*/ 3 w 1332"/>
                <a:gd name="T45" fmla="*/ 10 h 2163"/>
                <a:gd name="T46" fmla="*/ 3 w 1332"/>
                <a:gd name="T47" fmla="*/ 10 h 2163"/>
                <a:gd name="T48" fmla="*/ 3 w 1332"/>
                <a:gd name="T49" fmla="*/ 10 h 2163"/>
                <a:gd name="T50" fmla="*/ 3 w 1332"/>
                <a:gd name="T51" fmla="*/ 10 h 2163"/>
                <a:gd name="T52" fmla="*/ 3 w 1332"/>
                <a:gd name="T53" fmla="*/ 10 h 2163"/>
                <a:gd name="T54" fmla="*/ 6 w 1332"/>
                <a:gd name="T55" fmla="*/ 8 h 2163"/>
                <a:gd name="T56" fmla="*/ 6 w 1332"/>
                <a:gd name="T57" fmla="*/ 8 h 2163"/>
                <a:gd name="T58" fmla="*/ 6 w 1332"/>
                <a:gd name="T59" fmla="*/ 8 h 2163"/>
                <a:gd name="T60" fmla="*/ 6 w 1332"/>
                <a:gd name="T61" fmla="*/ 8 h 2163"/>
                <a:gd name="T62" fmla="*/ 6 w 1332"/>
                <a:gd name="T63" fmla="*/ 8 h 2163"/>
                <a:gd name="T64" fmla="*/ 6 w 1332"/>
                <a:gd name="T65" fmla="*/ 8 h 2163"/>
                <a:gd name="T66" fmla="*/ 6 w 1332"/>
                <a:gd name="T67" fmla="*/ 8 h 2163"/>
                <a:gd name="T68" fmla="*/ 6 w 1332"/>
                <a:gd name="T69" fmla="*/ 8 h 2163"/>
                <a:gd name="T70" fmla="*/ 6 w 1332"/>
                <a:gd name="T71" fmla="*/ 8 h 2163"/>
                <a:gd name="T72" fmla="*/ 6 w 1332"/>
                <a:gd name="T73" fmla="*/ 1 h 2163"/>
                <a:gd name="T74" fmla="*/ 6 w 1332"/>
                <a:gd name="T75" fmla="*/ 0 h 2163"/>
                <a:gd name="T76" fmla="*/ 6 w 1332"/>
                <a:gd name="T77" fmla="*/ 0 h 2163"/>
                <a:gd name="T78" fmla="*/ 6 w 1332"/>
                <a:gd name="T79" fmla="*/ 0 h 2163"/>
                <a:gd name="T80" fmla="*/ 6 w 1332"/>
                <a:gd name="T81" fmla="*/ 0 h 2163"/>
                <a:gd name="T82" fmla="*/ 6 w 1332"/>
                <a:gd name="T83" fmla="*/ 0 h 2163"/>
                <a:gd name="T84" fmla="*/ 6 w 1332"/>
                <a:gd name="T85" fmla="*/ 0 h 2163"/>
                <a:gd name="T86" fmla="*/ 6 w 1332"/>
                <a:gd name="T87" fmla="*/ 0 h 2163"/>
                <a:gd name="T88" fmla="*/ 6 w 1332"/>
                <a:gd name="T89" fmla="*/ 0 h 2163"/>
                <a:gd name="T90" fmla="*/ 4 w 1332"/>
                <a:gd name="T91" fmla="*/ 0 h 2163"/>
                <a:gd name="T92" fmla="*/ 3 w 1332"/>
                <a:gd name="T93" fmla="*/ 0 h 2163"/>
                <a:gd name="T94" fmla="*/ 3 w 1332"/>
                <a:gd name="T95" fmla="*/ 0 h 2163"/>
                <a:gd name="T96" fmla="*/ 3 w 1332"/>
                <a:gd name="T97" fmla="*/ 0 h 2163"/>
                <a:gd name="T98" fmla="*/ 3 w 1332"/>
                <a:gd name="T99" fmla="*/ 0 h 2163"/>
                <a:gd name="T100" fmla="*/ 3 w 1332"/>
                <a:gd name="T101" fmla="*/ 0 h 2163"/>
                <a:gd name="T102" fmla="*/ 3 w 1332"/>
                <a:gd name="T103" fmla="*/ 0 h 2163"/>
                <a:gd name="T104" fmla="*/ 3 w 1332"/>
                <a:gd name="T105" fmla="*/ 0 h 2163"/>
                <a:gd name="T106" fmla="*/ 3 w 1332"/>
                <a:gd name="T107" fmla="*/ 0 h 2163"/>
                <a:gd name="T108" fmla="*/ 0 w 1332"/>
                <a:gd name="T109" fmla="*/ 1 h 216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332"/>
                <a:gd name="T166" fmla="*/ 0 h 2163"/>
                <a:gd name="T167" fmla="*/ 1332 w 1332"/>
                <a:gd name="T168" fmla="*/ 2163 h 216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332" h="2163">
                  <a:moveTo>
                    <a:pt x="55" y="274"/>
                  </a:moveTo>
                  <a:lnTo>
                    <a:pt x="44" y="279"/>
                  </a:lnTo>
                  <a:lnTo>
                    <a:pt x="34" y="288"/>
                  </a:lnTo>
                  <a:lnTo>
                    <a:pt x="25" y="297"/>
                  </a:lnTo>
                  <a:lnTo>
                    <a:pt x="16" y="307"/>
                  </a:lnTo>
                  <a:lnTo>
                    <a:pt x="9" y="320"/>
                  </a:lnTo>
                  <a:lnTo>
                    <a:pt x="4" y="331"/>
                  </a:lnTo>
                  <a:lnTo>
                    <a:pt x="1" y="343"/>
                  </a:lnTo>
                  <a:lnTo>
                    <a:pt x="0" y="356"/>
                  </a:lnTo>
                  <a:lnTo>
                    <a:pt x="10" y="2030"/>
                  </a:lnTo>
                  <a:lnTo>
                    <a:pt x="11" y="2042"/>
                  </a:lnTo>
                  <a:lnTo>
                    <a:pt x="14" y="2054"/>
                  </a:lnTo>
                  <a:lnTo>
                    <a:pt x="20" y="2065"/>
                  </a:lnTo>
                  <a:lnTo>
                    <a:pt x="28" y="2074"/>
                  </a:lnTo>
                  <a:lnTo>
                    <a:pt x="36" y="2083"/>
                  </a:lnTo>
                  <a:lnTo>
                    <a:pt x="46" y="2090"/>
                  </a:lnTo>
                  <a:lnTo>
                    <a:pt x="57" y="2094"/>
                  </a:lnTo>
                  <a:lnTo>
                    <a:pt x="69" y="2096"/>
                  </a:lnTo>
                  <a:lnTo>
                    <a:pt x="579" y="2162"/>
                  </a:lnTo>
                  <a:lnTo>
                    <a:pt x="592" y="2163"/>
                  </a:lnTo>
                  <a:lnTo>
                    <a:pt x="606" y="2163"/>
                  </a:lnTo>
                  <a:lnTo>
                    <a:pt x="621" y="2162"/>
                  </a:lnTo>
                  <a:lnTo>
                    <a:pt x="636" y="2159"/>
                  </a:lnTo>
                  <a:lnTo>
                    <a:pt x="651" y="2156"/>
                  </a:lnTo>
                  <a:lnTo>
                    <a:pt x="666" y="2152"/>
                  </a:lnTo>
                  <a:lnTo>
                    <a:pt x="679" y="2147"/>
                  </a:lnTo>
                  <a:lnTo>
                    <a:pt x="691" y="2141"/>
                  </a:lnTo>
                  <a:lnTo>
                    <a:pt x="1277" y="1835"/>
                  </a:lnTo>
                  <a:lnTo>
                    <a:pt x="1287" y="1829"/>
                  </a:lnTo>
                  <a:lnTo>
                    <a:pt x="1297" y="1821"/>
                  </a:lnTo>
                  <a:lnTo>
                    <a:pt x="1306" y="1811"/>
                  </a:lnTo>
                  <a:lnTo>
                    <a:pt x="1314" y="1798"/>
                  </a:lnTo>
                  <a:lnTo>
                    <a:pt x="1321" y="1787"/>
                  </a:lnTo>
                  <a:lnTo>
                    <a:pt x="1325" y="1774"/>
                  </a:lnTo>
                  <a:lnTo>
                    <a:pt x="1328" y="1761"/>
                  </a:lnTo>
                  <a:lnTo>
                    <a:pt x="1330" y="1749"/>
                  </a:lnTo>
                  <a:lnTo>
                    <a:pt x="1332" y="139"/>
                  </a:lnTo>
                  <a:lnTo>
                    <a:pt x="1331" y="126"/>
                  </a:lnTo>
                  <a:lnTo>
                    <a:pt x="1327" y="115"/>
                  </a:lnTo>
                  <a:lnTo>
                    <a:pt x="1322" y="104"/>
                  </a:lnTo>
                  <a:lnTo>
                    <a:pt x="1314" y="95"/>
                  </a:lnTo>
                  <a:lnTo>
                    <a:pt x="1306" y="86"/>
                  </a:lnTo>
                  <a:lnTo>
                    <a:pt x="1296" y="79"/>
                  </a:lnTo>
                  <a:lnTo>
                    <a:pt x="1284" y="75"/>
                  </a:lnTo>
                  <a:lnTo>
                    <a:pt x="1272" y="71"/>
                  </a:lnTo>
                  <a:lnTo>
                    <a:pt x="774" y="1"/>
                  </a:lnTo>
                  <a:lnTo>
                    <a:pt x="761" y="0"/>
                  </a:lnTo>
                  <a:lnTo>
                    <a:pt x="747" y="0"/>
                  </a:lnTo>
                  <a:lnTo>
                    <a:pt x="731" y="0"/>
                  </a:lnTo>
                  <a:lnTo>
                    <a:pt x="717" y="3"/>
                  </a:lnTo>
                  <a:lnTo>
                    <a:pt x="701" y="5"/>
                  </a:lnTo>
                  <a:lnTo>
                    <a:pt x="686" y="8"/>
                  </a:lnTo>
                  <a:lnTo>
                    <a:pt x="673" y="12"/>
                  </a:lnTo>
                  <a:lnTo>
                    <a:pt x="660" y="16"/>
                  </a:lnTo>
                  <a:lnTo>
                    <a:pt x="55" y="27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5" name="Freeform 340"/>
            <p:cNvSpPr>
              <a:spLocks/>
            </p:cNvSpPr>
            <p:nvPr/>
          </p:nvSpPr>
          <p:spPr bwMode="auto">
            <a:xfrm>
              <a:off x="1163" y="3311"/>
              <a:ext cx="111" cy="334"/>
            </a:xfrm>
            <a:custGeom>
              <a:avLst/>
              <a:gdLst>
                <a:gd name="T0" fmla="*/ 3 w 662"/>
                <a:gd name="T1" fmla="*/ 7 h 2007"/>
                <a:gd name="T2" fmla="*/ 3 w 662"/>
                <a:gd name="T3" fmla="*/ 7 h 2007"/>
                <a:gd name="T4" fmla="*/ 3 w 662"/>
                <a:gd name="T5" fmla="*/ 8 h 2007"/>
                <a:gd name="T6" fmla="*/ 3 w 662"/>
                <a:gd name="T7" fmla="*/ 8 h 2007"/>
                <a:gd name="T8" fmla="*/ 3 w 662"/>
                <a:gd name="T9" fmla="*/ 8 h 2007"/>
                <a:gd name="T10" fmla="*/ 3 w 662"/>
                <a:gd name="T11" fmla="*/ 8 h 2007"/>
                <a:gd name="T12" fmla="*/ 3 w 662"/>
                <a:gd name="T13" fmla="*/ 8 h 2007"/>
                <a:gd name="T14" fmla="*/ 3 w 662"/>
                <a:gd name="T15" fmla="*/ 8 h 2007"/>
                <a:gd name="T16" fmla="*/ 3 w 662"/>
                <a:gd name="T17" fmla="*/ 8 h 2007"/>
                <a:gd name="T18" fmla="*/ 0 w 662"/>
                <a:gd name="T19" fmla="*/ 9 h 2007"/>
                <a:gd name="T20" fmla="*/ 0 w 662"/>
                <a:gd name="T21" fmla="*/ 9 h 2007"/>
                <a:gd name="T22" fmla="*/ 0 w 662"/>
                <a:gd name="T23" fmla="*/ 9 h 2007"/>
                <a:gd name="T24" fmla="*/ 0 w 662"/>
                <a:gd name="T25" fmla="*/ 9 h 2007"/>
                <a:gd name="T26" fmla="*/ 0 w 662"/>
                <a:gd name="T27" fmla="*/ 9 h 2007"/>
                <a:gd name="T28" fmla="*/ 0 w 662"/>
                <a:gd name="T29" fmla="*/ 9 h 2007"/>
                <a:gd name="T30" fmla="*/ 0 w 662"/>
                <a:gd name="T31" fmla="*/ 9 h 2007"/>
                <a:gd name="T32" fmla="*/ 0 w 662"/>
                <a:gd name="T33" fmla="*/ 9 h 2007"/>
                <a:gd name="T34" fmla="*/ 0 w 662"/>
                <a:gd name="T35" fmla="*/ 9 h 2007"/>
                <a:gd name="T36" fmla="*/ 0 w 662"/>
                <a:gd name="T37" fmla="*/ 1 h 2007"/>
                <a:gd name="T38" fmla="*/ 0 w 662"/>
                <a:gd name="T39" fmla="*/ 1 h 2007"/>
                <a:gd name="T40" fmla="*/ 0 w 662"/>
                <a:gd name="T41" fmla="*/ 1 h 2007"/>
                <a:gd name="T42" fmla="*/ 0 w 662"/>
                <a:gd name="T43" fmla="*/ 1 h 2007"/>
                <a:gd name="T44" fmla="*/ 0 w 662"/>
                <a:gd name="T45" fmla="*/ 1 h 2007"/>
                <a:gd name="T46" fmla="*/ 0 w 662"/>
                <a:gd name="T47" fmla="*/ 1 h 2007"/>
                <a:gd name="T48" fmla="*/ 0 w 662"/>
                <a:gd name="T49" fmla="*/ 1 h 2007"/>
                <a:gd name="T50" fmla="*/ 0 w 662"/>
                <a:gd name="T51" fmla="*/ 1 h 2007"/>
                <a:gd name="T52" fmla="*/ 0 w 662"/>
                <a:gd name="T53" fmla="*/ 1 h 2007"/>
                <a:gd name="T54" fmla="*/ 0 w 662"/>
                <a:gd name="T55" fmla="*/ 1 h 2007"/>
                <a:gd name="T56" fmla="*/ 0 w 662"/>
                <a:gd name="T57" fmla="*/ 1 h 2007"/>
                <a:gd name="T58" fmla="*/ 1 w 662"/>
                <a:gd name="T59" fmla="*/ 1 h 2007"/>
                <a:gd name="T60" fmla="*/ 1 w 662"/>
                <a:gd name="T61" fmla="*/ 1 h 2007"/>
                <a:gd name="T62" fmla="*/ 1 w 662"/>
                <a:gd name="T63" fmla="*/ 1 h 2007"/>
                <a:gd name="T64" fmla="*/ 1 w 662"/>
                <a:gd name="T65" fmla="*/ 1 h 2007"/>
                <a:gd name="T66" fmla="*/ 1 w 662"/>
                <a:gd name="T67" fmla="*/ 1 h 2007"/>
                <a:gd name="T68" fmla="*/ 2 w 662"/>
                <a:gd name="T69" fmla="*/ 1 h 2007"/>
                <a:gd name="T70" fmla="*/ 2 w 662"/>
                <a:gd name="T71" fmla="*/ 0 h 2007"/>
                <a:gd name="T72" fmla="*/ 2 w 662"/>
                <a:gd name="T73" fmla="*/ 0 h 2007"/>
                <a:gd name="T74" fmla="*/ 2 w 662"/>
                <a:gd name="T75" fmla="*/ 0 h 2007"/>
                <a:gd name="T76" fmla="*/ 3 w 662"/>
                <a:gd name="T77" fmla="*/ 0 h 2007"/>
                <a:gd name="T78" fmla="*/ 3 w 662"/>
                <a:gd name="T79" fmla="*/ 0 h 2007"/>
                <a:gd name="T80" fmla="*/ 3 w 662"/>
                <a:gd name="T81" fmla="*/ 0 h 2007"/>
                <a:gd name="T82" fmla="*/ 3 w 662"/>
                <a:gd name="T83" fmla="*/ 0 h 2007"/>
                <a:gd name="T84" fmla="*/ 3 w 662"/>
                <a:gd name="T85" fmla="*/ 0 h 2007"/>
                <a:gd name="T86" fmla="*/ 3 w 662"/>
                <a:gd name="T87" fmla="*/ 0 h 2007"/>
                <a:gd name="T88" fmla="*/ 3 w 662"/>
                <a:gd name="T89" fmla="*/ 0 h 2007"/>
                <a:gd name="T90" fmla="*/ 3 w 662"/>
                <a:gd name="T91" fmla="*/ 0 h 2007"/>
                <a:gd name="T92" fmla="*/ 3 w 662"/>
                <a:gd name="T93" fmla="*/ 0 h 2007"/>
                <a:gd name="T94" fmla="*/ 3 w 662"/>
                <a:gd name="T95" fmla="*/ 0 h 2007"/>
                <a:gd name="T96" fmla="*/ 3 w 662"/>
                <a:gd name="T97" fmla="*/ 0 h 2007"/>
                <a:gd name="T98" fmla="*/ 3 w 662"/>
                <a:gd name="T99" fmla="*/ 0 h 2007"/>
                <a:gd name="T100" fmla="*/ 3 w 662"/>
                <a:gd name="T101" fmla="*/ 0 h 2007"/>
                <a:gd name="T102" fmla="*/ 3 w 662"/>
                <a:gd name="T103" fmla="*/ 7 h 20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62"/>
                <a:gd name="T157" fmla="*/ 0 h 2007"/>
                <a:gd name="T158" fmla="*/ 662 w 662"/>
                <a:gd name="T159" fmla="*/ 2007 h 20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62" h="2007">
                  <a:moveTo>
                    <a:pt x="661" y="1629"/>
                  </a:moveTo>
                  <a:lnTo>
                    <a:pt x="660" y="1639"/>
                  </a:lnTo>
                  <a:lnTo>
                    <a:pt x="658" y="1648"/>
                  </a:lnTo>
                  <a:lnTo>
                    <a:pt x="653" y="1658"/>
                  </a:lnTo>
                  <a:lnTo>
                    <a:pt x="649" y="1668"/>
                  </a:lnTo>
                  <a:lnTo>
                    <a:pt x="642" y="1677"/>
                  </a:lnTo>
                  <a:lnTo>
                    <a:pt x="635" y="1685"/>
                  </a:lnTo>
                  <a:lnTo>
                    <a:pt x="627" y="1692"/>
                  </a:lnTo>
                  <a:lnTo>
                    <a:pt x="619" y="1697"/>
                  </a:lnTo>
                  <a:lnTo>
                    <a:pt x="34" y="2003"/>
                  </a:lnTo>
                  <a:lnTo>
                    <a:pt x="28" y="2006"/>
                  </a:lnTo>
                  <a:lnTo>
                    <a:pt x="23" y="2007"/>
                  </a:lnTo>
                  <a:lnTo>
                    <a:pt x="20" y="2007"/>
                  </a:lnTo>
                  <a:lnTo>
                    <a:pt x="17" y="2006"/>
                  </a:lnTo>
                  <a:lnTo>
                    <a:pt x="14" y="2003"/>
                  </a:lnTo>
                  <a:lnTo>
                    <a:pt x="12" y="2000"/>
                  </a:lnTo>
                  <a:lnTo>
                    <a:pt x="11" y="1996"/>
                  </a:lnTo>
                  <a:lnTo>
                    <a:pt x="11" y="1990"/>
                  </a:lnTo>
                  <a:lnTo>
                    <a:pt x="0" y="324"/>
                  </a:lnTo>
                  <a:lnTo>
                    <a:pt x="0" y="315"/>
                  </a:lnTo>
                  <a:lnTo>
                    <a:pt x="3" y="304"/>
                  </a:lnTo>
                  <a:lnTo>
                    <a:pt x="7" y="295"/>
                  </a:lnTo>
                  <a:lnTo>
                    <a:pt x="12" y="286"/>
                  </a:lnTo>
                  <a:lnTo>
                    <a:pt x="18" y="277"/>
                  </a:lnTo>
                  <a:lnTo>
                    <a:pt x="25" y="271"/>
                  </a:lnTo>
                  <a:lnTo>
                    <a:pt x="32" y="264"/>
                  </a:lnTo>
                  <a:lnTo>
                    <a:pt x="40" y="259"/>
                  </a:lnTo>
                  <a:lnTo>
                    <a:pt x="47" y="256"/>
                  </a:lnTo>
                  <a:lnTo>
                    <a:pt x="66" y="248"/>
                  </a:lnTo>
                  <a:lnTo>
                    <a:pt x="96" y="236"/>
                  </a:lnTo>
                  <a:lnTo>
                    <a:pt x="134" y="219"/>
                  </a:lnTo>
                  <a:lnTo>
                    <a:pt x="179" y="200"/>
                  </a:lnTo>
                  <a:lnTo>
                    <a:pt x="229" y="178"/>
                  </a:lnTo>
                  <a:lnTo>
                    <a:pt x="283" y="155"/>
                  </a:lnTo>
                  <a:lnTo>
                    <a:pt x="340" y="131"/>
                  </a:lnTo>
                  <a:lnTo>
                    <a:pt x="395" y="108"/>
                  </a:lnTo>
                  <a:lnTo>
                    <a:pt x="449" y="84"/>
                  </a:lnTo>
                  <a:lnTo>
                    <a:pt x="499" y="63"/>
                  </a:lnTo>
                  <a:lnTo>
                    <a:pt x="544" y="43"/>
                  </a:lnTo>
                  <a:lnTo>
                    <a:pt x="582" y="27"/>
                  </a:lnTo>
                  <a:lnTo>
                    <a:pt x="612" y="14"/>
                  </a:lnTo>
                  <a:lnTo>
                    <a:pt x="631" y="6"/>
                  </a:lnTo>
                  <a:lnTo>
                    <a:pt x="638" y="3"/>
                  </a:lnTo>
                  <a:lnTo>
                    <a:pt x="643" y="1"/>
                  </a:lnTo>
                  <a:lnTo>
                    <a:pt x="649" y="0"/>
                  </a:lnTo>
                  <a:lnTo>
                    <a:pt x="652" y="0"/>
                  </a:lnTo>
                  <a:lnTo>
                    <a:pt x="656" y="2"/>
                  </a:lnTo>
                  <a:lnTo>
                    <a:pt x="659" y="4"/>
                  </a:lnTo>
                  <a:lnTo>
                    <a:pt x="661" y="9"/>
                  </a:lnTo>
                  <a:lnTo>
                    <a:pt x="662" y="13"/>
                  </a:lnTo>
                  <a:lnTo>
                    <a:pt x="662" y="19"/>
                  </a:lnTo>
                  <a:lnTo>
                    <a:pt x="661" y="16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6" name="Freeform 341"/>
            <p:cNvSpPr>
              <a:spLocks/>
            </p:cNvSpPr>
            <p:nvPr/>
          </p:nvSpPr>
          <p:spPr bwMode="auto">
            <a:xfrm>
              <a:off x="1068" y="3294"/>
              <a:ext cx="196" cy="56"/>
            </a:xfrm>
            <a:custGeom>
              <a:avLst/>
              <a:gdLst>
                <a:gd name="T0" fmla="*/ 3 w 1178"/>
                <a:gd name="T1" fmla="*/ 0 h 336"/>
                <a:gd name="T2" fmla="*/ 2 w 1178"/>
                <a:gd name="T3" fmla="*/ 0 h 336"/>
                <a:gd name="T4" fmla="*/ 2 w 1178"/>
                <a:gd name="T5" fmla="*/ 0 h 336"/>
                <a:gd name="T6" fmla="*/ 2 w 1178"/>
                <a:gd name="T7" fmla="*/ 0 h 336"/>
                <a:gd name="T8" fmla="*/ 1 w 1178"/>
                <a:gd name="T9" fmla="*/ 1 h 336"/>
                <a:gd name="T10" fmla="*/ 1 w 1178"/>
                <a:gd name="T11" fmla="*/ 1 h 336"/>
                <a:gd name="T12" fmla="*/ 0 w 1178"/>
                <a:gd name="T13" fmla="*/ 1 h 336"/>
                <a:gd name="T14" fmla="*/ 0 w 1178"/>
                <a:gd name="T15" fmla="*/ 1 h 336"/>
                <a:gd name="T16" fmla="*/ 0 w 1178"/>
                <a:gd name="T17" fmla="*/ 1 h 336"/>
                <a:gd name="T18" fmla="*/ 0 w 1178"/>
                <a:gd name="T19" fmla="*/ 1 h 336"/>
                <a:gd name="T20" fmla="*/ 0 w 1178"/>
                <a:gd name="T21" fmla="*/ 1 h 336"/>
                <a:gd name="T22" fmla="*/ 1 w 1178"/>
                <a:gd name="T23" fmla="*/ 1 h 336"/>
                <a:gd name="T24" fmla="*/ 1 w 1178"/>
                <a:gd name="T25" fmla="*/ 1 h 336"/>
                <a:gd name="T26" fmla="*/ 2 w 1178"/>
                <a:gd name="T27" fmla="*/ 2 h 336"/>
                <a:gd name="T28" fmla="*/ 2 w 1178"/>
                <a:gd name="T29" fmla="*/ 2 h 336"/>
                <a:gd name="T30" fmla="*/ 2 w 1178"/>
                <a:gd name="T31" fmla="*/ 2 h 336"/>
                <a:gd name="T32" fmla="*/ 2 w 1178"/>
                <a:gd name="T33" fmla="*/ 2 h 336"/>
                <a:gd name="T34" fmla="*/ 2 w 1178"/>
                <a:gd name="T35" fmla="*/ 2 h 336"/>
                <a:gd name="T36" fmla="*/ 2 w 1178"/>
                <a:gd name="T37" fmla="*/ 2 h 336"/>
                <a:gd name="T38" fmla="*/ 3 w 1178"/>
                <a:gd name="T39" fmla="*/ 2 h 336"/>
                <a:gd name="T40" fmla="*/ 3 w 1178"/>
                <a:gd name="T41" fmla="*/ 2 h 336"/>
                <a:gd name="T42" fmla="*/ 3 w 1178"/>
                <a:gd name="T43" fmla="*/ 1 h 336"/>
                <a:gd name="T44" fmla="*/ 3 w 1178"/>
                <a:gd name="T45" fmla="*/ 1 h 336"/>
                <a:gd name="T46" fmla="*/ 4 w 1178"/>
                <a:gd name="T47" fmla="*/ 1 h 336"/>
                <a:gd name="T48" fmla="*/ 4 w 1178"/>
                <a:gd name="T49" fmla="*/ 1 h 336"/>
                <a:gd name="T50" fmla="*/ 5 w 1178"/>
                <a:gd name="T51" fmla="*/ 1 h 336"/>
                <a:gd name="T52" fmla="*/ 5 w 1178"/>
                <a:gd name="T53" fmla="*/ 0 h 336"/>
                <a:gd name="T54" fmla="*/ 5 w 1178"/>
                <a:gd name="T55" fmla="*/ 0 h 336"/>
                <a:gd name="T56" fmla="*/ 3 w 1178"/>
                <a:gd name="T57" fmla="*/ 0 h 336"/>
                <a:gd name="T58" fmla="*/ 3 w 1178"/>
                <a:gd name="T59" fmla="*/ 0 h 336"/>
                <a:gd name="T60" fmla="*/ 3 w 1178"/>
                <a:gd name="T61" fmla="*/ 0 h 336"/>
                <a:gd name="T62" fmla="*/ 3 w 1178"/>
                <a:gd name="T63" fmla="*/ 0 h 336"/>
                <a:gd name="T64" fmla="*/ 3 w 1178"/>
                <a:gd name="T65" fmla="*/ 0 h 3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8"/>
                <a:gd name="T100" fmla="*/ 0 h 336"/>
                <a:gd name="T101" fmla="*/ 1178 w 1178"/>
                <a:gd name="T102" fmla="*/ 336 h 3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8" h="336">
                  <a:moveTo>
                    <a:pt x="591" y="14"/>
                  </a:moveTo>
                  <a:lnTo>
                    <a:pt x="584" y="16"/>
                  </a:lnTo>
                  <a:lnTo>
                    <a:pt x="566" y="24"/>
                  </a:lnTo>
                  <a:lnTo>
                    <a:pt x="539" y="37"/>
                  </a:lnTo>
                  <a:lnTo>
                    <a:pt x="503" y="52"/>
                  </a:lnTo>
                  <a:lnTo>
                    <a:pt x="459" y="70"/>
                  </a:lnTo>
                  <a:lnTo>
                    <a:pt x="412" y="91"/>
                  </a:lnTo>
                  <a:lnTo>
                    <a:pt x="360" y="113"/>
                  </a:lnTo>
                  <a:lnTo>
                    <a:pt x="305" y="136"/>
                  </a:lnTo>
                  <a:lnTo>
                    <a:pt x="251" y="159"/>
                  </a:lnTo>
                  <a:lnTo>
                    <a:pt x="198" y="182"/>
                  </a:lnTo>
                  <a:lnTo>
                    <a:pt x="149" y="203"/>
                  </a:lnTo>
                  <a:lnTo>
                    <a:pt x="103" y="222"/>
                  </a:lnTo>
                  <a:lnTo>
                    <a:pt x="64" y="239"/>
                  </a:lnTo>
                  <a:lnTo>
                    <a:pt x="32" y="253"/>
                  </a:lnTo>
                  <a:lnTo>
                    <a:pt x="11" y="262"/>
                  </a:lnTo>
                  <a:lnTo>
                    <a:pt x="0" y="266"/>
                  </a:lnTo>
                  <a:lnTo>
                    <a:pt x="10" y="267"/>
                  </a:lnTo>
                  <a:lnTo>
                    <a:pt x="29" y="271"/>
                  </a:lnTo>
                  <a:lnTo>
                    <a:pt x="56" y="274"/>
                  </a:lnTo>
                  <a:lnTo>
                    <a:pt x="89" y="279"/>
                  </a:lnTo>
                  <a:lnTo>
                    <a:pt x="127" y="284"/>
                  </a:lnTo>
                  <a:lnTo>
                    <a:pt x="169" y="290"/>
                  </a:lnTo>
                  <a:lnTo>
                    <a:pt x="213" y="295"/>
                  </a:lnTo>
                  <a:lnTo>
                    <a:pt x="257" y="302"/>
                  </a:lnTo>
                  <a:lnTo>
                    <a:pt x="302" y="308"/>
                  </a:lnTo>
                  <a:lnTo>
                    <a:pt x="345" y="315"/>
                  </a:lnTo>
                  <a:lnTo>
                    <a:pt x="384" y="320"/>
                  </a:lnTo>
                  <a:lnTo>
                    <a:pt x="419" y="325"/>
                  </a:lnTo>
                  <a:lnTo>
                    <a:pt x="450" y="329"/>
                  </a:lnTo>
                  <a:lnTo>
                    <a:pt x="473" y="333"/>
                  </a:lnTo>
                  <a:lnTo>
                    <a:pt x="487" y="334"/>
                  </a:lnTo>
                  <a:lnTo>
                    <a:pt x="493" y="335"/>
                  </a:lnTo>
                  <a:lnTo>
                    <a:pt x="504" y="336"/>
                  </a:lnTo>
                  <a:lnTo>
                    <a:pt x="517" y="336"/>
                  </a:lnTo>
                  <a:lnTo>
                    <a:pt x="530" y="335"/>
                  </a:lnTo>
                  <a:lnTo>
                    <a:pt x="545" y="334"/>
                  </a:lnTo>
                  <a:lnTo>
                    <a:pt x="558" y="331"/>
                  </a:lnTo>
                  <a:lnTo>
                    <a:pt x="572" y="329"/>
                  </a:lnTo>
                  <a:lnTo>
                    <a:pt x="584" y="326"/>
                  </a:lnTo>
                  <a:lnTo>
                    <a:pt x="596" y="321"/>
                  </a:lnTo>
                  <a:lnTo>
                    <a:pt x="601" y="319"/>
                  </a:lnTo>
                  <a:lnTo>
                    <a:pt x="617" y="312"/>
                  </a:lnTo>
                  <a:lnTo>
                    <a:pt x="642" y="301"/>
                  </a:lnTo>
                  <a:lnTo>
                    <a:pt x="675" y="288"/>
                  </a:lnTo>
                  <a:lnTo>
                    <a:pt x="713" y="271"/>
                  </a:lnTo>
                  <a:lnTo>
                    <a:pt x="757" y="252"/>
                  </a:lnTo>
                  <a:lnTo>
                    <a:pt x="804" y="231"/>
                  </a:lnTo>
                  <a:lnTo>
                    <a:pt x="854" y="209"/>
                  </a:lnTo>
                  <a:lnTo>
                    <a:pt x="905" y="187"/>
                  </a:lnTo>
                  <a:lnTo>
                    <a:pt x="955" y="165"/>
                  </a:lnTo>
                  <a:lnTo>
                    <a:pt x="1004" y="145"/>
                  </a:lnTo>
                  <a:lnTo>
                    <a:pt x="1049" y="124"/>
                  </a:lnTo>
                  <a:lnTo>
                    <a:pt x="1091" y="106"/>
                  </a:lnTo>
                  <a:lnTo>
                    <a:pt x="1127" y="91"/>
                  </a:lnTo>
                  <a:lnTo>
                    <a:pt x="1157" y="78"/>
                  </a:lnTo>
                  <a:lnTo>
                    <a:pt x="1178" y="69"/>
                  </a:lnTo>
                  <a:lnTo>
                    <a:pt x="694" y="1"/>
                  </a:lnTo>
                  <a:lnTo>
                    <a:pt x="682" y="0"/>
                  </a:lnTo>
                  <a:lnTo>
                    <a:pt x="670" y="0"/>
                  </a:lnTo>
                  <a:lnTo>
                    <a:pt x="657" y="0"/>
                  </a:lnTo>
                  <a:lnTo>
                    <a:pt x="642" y="2"/>
                  </a:lnTo>
                  <a:lnTo>
                    <a:pt x="628" y="4"/>
                  </a:lnTo>
                  <a:lnTo>
                    <a:pt x="615" y="6"/>
                  </a:lnTo>
                  <a:lnTo>
                    <a:pt x="602" y="10"/>
                  </a:lnTo>
                  <a:lnTo>
                    <a:pt x="591" y="1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7" name="Freeform 342"/>
            <p:cNvSpPr>
              <a:spLocks/>
            </p:cNvSpPr>
            <p:nvPr/>
          </p:nvSpPr>
          <p:spPr bwMode="auto">
            <a:xfrm>
              <a:off x="1059" y="3345"/>
              <a:ext cx="99" cy="303"/>
            </a:xfrm>
            <a:custGeom>
              <a:avLst/>
              <a:gdLst>
                <a:gd name="T0" fmla="*/ 0 w 596"/>
                <a:gd name="T1" fmla="*/ 0 h 1814"/>
                <a:gd name="T2" fmla="*/ 0 w 596"/>
                <a:gd name="T3" fmla="*/ 0 h 1814"/>
                <a:gd name="T4" fmla="*/ 0 w 596"/>
                <a:gd name="T5" fmla="*/ 0 h 1814"/>
                <a:gd name="T6" fmla="*/ 0 w 596"/>
                <a:gd name="T7" fmla="*/ 0 h 1814"/>
                <a:gd name="T8" fmla="*/ 0 w 596"/>
                <a:gd name="T9" fmla="*/ 0 h 1814"/>
                <a:gd name="T10" fmla="*/ 0 w 596"/>
                <a:gd name="T11" fmla="*/ 0 h 1814"/>
                <a:gd name="T12" fmla="*/ 0 w 596"/>
                <a:gd name="T13" fmla="*/ 0 h 1814"/>
                <a:gd name="T14" fmla="*/ 0 w 596"/>
                <a:gd name="T15" fmla="*/ 0 h 1814"/>
                <a:gd name="T16" fmla="*/ 0 w 596"/>
                <a:gd name="T17" fmla="*/ 0 h 1814"/>
                <a:gd name="T18" fmla="*/ 2 w 596"/>
                <a:gd name="T19" fmla="*/ 0 h 1814"/>
                <a:gd name="T20" fmla="*/ 2 w 596"/>
                <a:gd name="T21" fmla="*/ 0 h 1814"/>
                <a:gd name="T22" fmla="*/ 2 w 596"/>
                <a:gd name="T23" fmla="*/ 0 h 1814"/>
                <a:gd name="T24" fmla="*/ 3 w 596"/>
                <a:gd name="T25" fmla="*/ 0 h 1814"/>
                <a:gd name="T26" fmla="*/ 3 w 596"/>
                <a:gd name="T27" fmla="*/ 0 h 1814"/>
                <a:gd name="T28" fmla="*/ 3 w 596"/>
                <a:gd name="T29" fmla="*/ 1 h 1814"/>
                <a:gd name="T30" fmla="*/ 3 w 596"/>
                <a:gd name="T31" fmla="*/ 1 h 1814"/>
                <a:gd name="T32" fmla="*/ 3 w 596"/>
                <a:gd name="T33" fmla="*/ 1 h 1814"/>
                <a:gd name="T34" fmla="*/ 3 w 596"/>
                <a:gd name="T35" fmla="*/ 1 h 1814"/>
                <a:gd name="T36" fmla="*/ 3 w 596"/>
                <a:gd name="T37" fmla="*/ 8 h 1814"/>
                <a:gd name="T38" fmla="*/ 3 w 596"/>
                <a:gd name="T39" fmla="*/ 8 h 1814"/>
                <a:gd name="T40" fmla="*/ 3 w 596"/>
                <a:gd name="T41" fmla="*/ 8 h 1814"/>
                <a:gd name="T42" fmla="*/ 3 w 596"/>
                <a:gd name="T43" fmla="*/ 8 h 1814"/>
                <a:gd name="T44" fmla="*/ 3 w 596"/>
                <a:gd name="T45" fmla="*/ 8 h 1814"/>
                <a:gd name="T46" fmla="*/ 3 w 596"/>
                <a:gd name="T47" fmla="*/ 8 h 1814"/>
                <a:gd name="T48" fmla="*/ 3 w 596"/>
                <a:gd name="T49" fmla="*/ 9 h 1814"/>
                <a:gd name="T50" fmla="*/ 3 w 596"/>
                <a:gd name="T51" fmla="*/ 9 h 1814"/>
                <a:gd name="T52" fmla="*/ 2 w 596"/>
                <a:gd name="T53" fmla="*/ 9 h 1814"/>
                <a:gd name="T54" fmla="*/ 0 w 596"/>
                <a:gd name="T55" fmla="*/ 8 h 1814"/>
                <a:gd name="T56" fmla="*/ 0 w 596"/>
                <a:gd name="T57" fmla="*/ 8 h 1814"/>
                <a:gd name="T58" fmla="*/ 0 w 596"/>
                <a:gd name="T59" fmla="*/ 8 h 1814"/>
                <a:gd name="T60" fmla="*/ 0 w 596"/>
                <a:gd name="T61" fmla="*/ 8 h 1814"/>
                <a:gd name="T62" fmla="*/ 0 w 596"/>
                <a:gd name="T63" fmla="*/ 8 h 1814"/>
                <a:gd name="T64" fmla="*/ 0 w 596"/>
                <a:gd name="T65" fmla="*/ 8 h 1814"/>
                <a:gd name="T66" fmla="*/ 0 w 596"/>
                <a:gd name="T67" fmla="*/ 8 h 1814"/>
                <a:gd name="T68" fmla="*/ 0 w 596"/>
                <a:gd name="T69" fmla="*/ 8 h 1814"/>
                <a:gd name="T70" fmla="*/ 0 w 596"/>
                <a:gd name="T71" fmla="*/ 8 h 1814"/>
                <a:gd name="T72" fmla="*/ 0 w 596"/>
                <a:gd name="T73" fmla="*/ 0 h 18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96"/>
                <a:gd name="T112" fmla="*/ 0 h 1814"/>
                <a:gd name="T113" fmla="*/ 596 w 596"/>
                <a:gd name="T114" fmla="*/ 1814 h 181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96" h="1814">
                  <a:moveTo>
                    <a:pt x="0" y="29"/>
                  </a:moveTo>
                  <a:lnTo>
                    <a:pt x="1" y="22"/>
                  </a:lnTo>
                  <a:lnTo>
                    <a:pt x="2" y="16"/>
                  </a:lnTo>
                  <a:lnTo>
                    <a:pt x="6" y="11"/>
                  </a:lnTo>
                  <a:lnTo>
                    <a:pt x="10" y="6"/>
                  </a:lnTo>
                  <a:lnTo>
                    <a:pt x="16" y="3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543" y="69"/>
                  </a:lnTo>
                  <a:lnTo>
                    <a:pt x="551" y="72"/>
                  </a:lnTo>
                  <a:lnTo>
                    <a:pt x="559" y="75"/>
                  </a:lnTo>
                  <a:lnTo>
                    <a:pt x="566" y="79"/>
                  </a:lnTo>
                  <a:lnTo>
                    <a:pt x="571" y="86"/>
                  </a:lnTo>
                  <a:lnTo>
                    <a:pt x="577" y="93"/>
                  </a:lnTo>
                  <a:lnTo>
                    <a:pt x="580" y="100"/>
                  </a:lnTo>
                  <a:lnTo>
                    <a:pt x="583" y="109"/>
                  </a:lnTo>
                  <a:lnTo>
                    <a:pt x="584" y="117"/>
                  </a:lnTo>
                  <a:lnTo>
                    <a:pt x="596" y="1783"/>
                  </a:lnTo>
                  <a:lnTo>
                    <a:pt x="595" y="1790"/>
                  </a:lnTo>
                  <a:lnTo>
                    <a:pt x="593" y="1796"/>
                  </a:lnTo>
                  <a:lnTo>
                    <a:pt x="591" y="1802"/>
                  </a:lnTo>
                  <a:lnTo>
                    <a:pt x="586" y="1807"/>
                  </a:lnTo>
                  <a:lnTo>
                    <a:pt x="580" y="1811"/>
                  </a:lnTo>
                  <a:lnTo>
                    <a:pt x="575" y="1813"/>
                  </a:lnTo>
                  <a:lnTo>
                    <a:pt x="568" y="1814"/>
                  </a:lnTo>
                  <a:lnTo>
                    <a:pt x="561" y="1814"/>
                  </a:lnTo>
                  <a:lnTo>
                    <a:pt x="51" y="1749"/>
                  </a:lnTo>
                  <a:lnTo>
                    <a:pt x="43" y="1747"/>
                  </a:lnTo>
                  <a:lnTo>
                    <a:pt x="35" y="1744"/>
                  </a:lnTo>
                  <a:lnTo>
                    <a:pt x="28" y="1739"/>
                  </a:lnTo>
                  <a:lnTo>
                    <a:pt x="22" y="1733"/>
                  </a:lnTo>
                  <a:lnTo>
                    <a:pt x="17" y="1727"/>
                  </a:lnTo>
                  <a:lnTo>
                    <a:pt x="13" y="1719"/>
                  </a:lnTo>
                  <a:lnTo>
                    <a:pt x="10" y="1711"/>
                  </a:lnTo>
                  <a:lnTo>
                    <a:pt x="9" y="170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8" name="Freeform 343"/>
            <p:cNvSpPr>
              <a:spLocks/>
            </p:cNvSpPr>
            <p:nvPr/>
          </p:nvSpPr>
          <p:spPr bwMode="auto">
            <a:xfrm>
              <a:off x="1060" y="3358"/>
              <a:ext cx="28" cy="25"/>
            </a:xfrm>
            <a:custGeom>
              <a:avLst/>
              <a:gdLst>
                <a:gd name="T0" fmla="*/ 1 w 167"/>
                <a:gd name="T1" fmla="*/ 1 h 148"/>
                <a:gd name="T2" fmla="*/ 1 w 167"/>
                <a:gd name="T3" fmla="*/ 0 h 148"/>
                <a:gd name="T4" fmla="*/ 0 w 167"/>
                <a:gd name="T5" fmla="*/ 0 h 148"/>
                <a:gd name="T6" fmla="*/ 0 w 167"/>
                <a:gd name="T7" fmla="*/ 0 h 148"/>
                <a:gd name="T8" fmla="*/ 0 w 167"/>
                <a:gd name="T9" fmla="*/ 1 h 148"/>
                <a:gd name="T10" fmla="*/ 1 w 167"/>
                <a:gd name="T11" fmla="*/ 1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"/>
                <a:gd name="T19" fmla="*/ 0 h 148"/>
                <a:gd name="T20" fmla="*/ 167 w 167"/>
                <a:gd name="T21" fmla="*/ 148 h 1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" h="148">
                  <a:moveTo>
                    <a:pt x="167" y="148"/>
                  </a:moveTo>
                  <a:lnTo>
                    <a:pt x="165" y="24"/>
                  </a:lnTo>
                  <a:lnTo>
                    <a:pt x="5" y="0"/>
                  </a:lnTo>
                  <a:lnTo>
                    <a:pt x="1" y="10"/>
                  </a:lnTo>
                  <a:lnTo>
                    <a:pt x="0" y="126"/>
                  </a:lnTo>
                  <a:lnTo>
                    <a:pt x="167" y="1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9" name="Freeform 344"/>
            <p:cNvSpPr>
              <a:spLocks/>
            </p:cNvSpPr>
            <p:nvPr/>
          </p:nvSpPr>
          <p:spPr bwMode="auto">
            <a:xfrm>
              <a:off x="1059" y="3360"/>
              <a:ext cx="28" cy="22"/>
            </a:xfrm>
            <a:custGeom>
              <a:avLst/>
              <a:gdLst>
                <a:gd name="T0" fmla="*/ 1 w 166"/>
                <a:gd name="T1" fmla="*/ 1 h 133"/>
                <a:gd name="T2" fmla="*/ 1 w 166"/>
                <a:gd name="T3" fmla="*/ 0 h 133"/>
                <a:gd name="T4" fmla="*/ 1 w 166"/>
                <a:gd name="T5" fmla="*/ 0 h 133"/>
                <a:gd name="T6" fmla="*/ 0 w 166"/>
                <a:gd name="T7" fmla="*/ 0 h 133"/>
                <a:gd name="T8" fmla="*/ 0 w 166"/>
                <a:gd name="T9" fmla="*/ 0 h 133"/>
                <a:gd name="T10" fmla="*/ 0 w 166"/>
                <a:gd name="T11" fmla="*/ 0 h 133"/>
                <a:gd name="T12" fmla="*/ 1 w 166"/>
                <a:gd name="T13" fmla="*/ 1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33"/>
                <a:gd name="T23" fmla="*/ 166 w 166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33">
                  <a:moveTo>
                    <a:pt x="157" y="133"/>
                  </a:moveTo>
                  <a:lnTo>
                    <a:pt x="166" y="129"/>
                  </a:lnTo>
                  <a:lnTo>
                    <a:pt x="164" y="24"/>
                  </a:lnTo>
                  <a:lnTo>
                    <a:pt x="10" y="0"/>
                  </a:lnTo>
                  <a:lnTo>
                    <a:pt x="0" y="9"/>
                  </a:lnTo>
                  <a:lnTo>
                    <a:pt x="10" y="106"/>
                  </a:lnTo>
                  <a:lnTo>
                    <a:pt x="157" y="133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0" name="Freeform 345"/>
            <p:cNvSpPr>
              <a:spLocks/>
            </p:cNvSpPr>
            <p:nvPr/>
          </p:nvSpPr>
          <p:spPr bwMode="auto">
            <a:xfrm>
              <a:off x="1059" y="3361"/>
              <a:ext cx="26" cy="21"/>
            </a:xfrm>
            <a:custGeom>
              <a:avLst/>
              <a:gdLst>
                <a:gd name="T0" fmla="*/ 1 w 157"/>
                <a:gd name="T1" fmla="*/ 1 h 124"/>
                <a:gd name="T2" fmla="*/ 1 w 157"/>
                <a:gd name="T3" fmla="*/ 0 h 124"/>
                <a:gd name="T4" fmla="*/ 0 w 157"/>
                <a:gd name="T5" fmla="*/ 0 h 124"/>
                <a:gd name="T6" fmla="*/ 0 w 157"/>
                <a:gd name="T7" fmla="*/ 1 h 124"/>
                <a:gd name="T8" fmla="*/ 1 w 157"/>
                <a:gd name="T9" fmla="*/ 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24"/>
                <a:gd name="T17" fmla="*/ 157 w 157"/>
                <a:gd name="T18" fmla="*/ 124 h 1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24">
                  <a:moveTo>
                    <a:pt x="157" y="124"/>
                  </a:moveTo>
                  <a:lnTo>
                    <a:pt x="155" y="24"/>
                  </a:lnTo>
                  <a:lnTo>
                    <a:pt x="0" y="0"/>
                  </a:lnTo>
                  <a:lnTo>
                    <a:pt x="0" y="104"/>
                  </a:lnTo>
                  <a:lnTo>
                    <a:pt x="15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1" name="Freeform 346"/>
            <p:cNvSpPr>
              <a:spLocks/>
            </p:cNvSpPr>
            <p:nvPr/>
          </p:nvSpPr>
          <p:spPr bwMode="auto">
            <a:xfrm>
              <a:off x="1188" y="3358"/>
              <a:ext cx="86" cy="274"/>
            </a:xfrm>
            <a:custGeom>
              <a:avLst/>
              <a:gdLst>
                <a:gd name="T0" fmla="*/ 2 w 513"/>
                <a:gd name="T1" fmla="*/ 6 h 1646"/>
                <a:gd name="T2" fmla="*/ 2 w 513"/>
                <a:gd name="T3" fmla="*/ 0 h 1646"/>
                <a:gd name="T4" fmla="*/ 2 w 513"/>
                <a:gd name="T5" fmla="*/ 0 h 1646"/>
                <a:gd name="T6" fmla="*/ 2 w 513"/>
                <a:gd name="T7" fmla="*/ 0 h 1646"/>
                <a:gd name="T8" fmla="*/ 2 w 513"/>
                <a:gd name="T9" fmla="*/ 1 h 1646"/>
                <a:gd name="T10" fmla="*/ 2 w 513"/>
                <a:gd name="T11" fmla="*/ 1 h 1646"/>
                <a:gd name="T12" fmla="*/ 1 w 513"/>
                <a:gd name="T13" fmla="*/ 1 h 1646"/>
                <a:gd name="T14" fmla="*/ 1 w 513"/>
                <a:gd name="T15" fmla="*/ 1 h 1646"/>
                <a:gd name="T16" fmla="*/ 1 w 513"/>
                <a:gd name="T17" fmla="*/ 2 h 1646"/>
                <a:gd name="T18" fmla="*/ 1 w 513"/>
                <a:gd name="T19" fmla="*/ 2 h 1646"/>
                <a:gd name="T20" fmla="*/ 1 w 513"/>
                <a:gd name="T21" fmla="*/ 2 h 1646"/>
                <a:gd name="T22" fmla="*/ 0 w 513"/>
                <a:gd name="T23" fmla="*/ 3 h 1646"/>
                <a:gd name="T24" fmla="*/ 0 w 513"/>
                <a:gd name="T25" fmla="*/ 3 h 1646"/>
                <a:gd name="T26" fmla="*/ 0 w 513"/>
                <a:gd name="T27" fmla="*/ 4 h 1646"/>
                <a:gd name="T28" fmla="*/ 0 w 513"/>
                <a:gd name="T29" fmla="*/ 4 h 1646"/>
                <a:gd name="T30" fmla="*/ 0 w 513"/>
                <a:gd name="T31" fmla="*/ 4 h 1646"/>
                <a:gd name="T32" fmla="*/ 0 w 513"/>
                <a:gd name="T33" fmla="*/ 5 h 1646"/>
                <a:gd name="T34" fmla="*/ 0 w 513"/>
                <a:gd name="T35" fmla="*/ 5 h 1646"/>
                <a:gd name="T36" fmla="*/ 0 w 513"/>
                <a:gd name="T37" fmla="*/ 6 h 1646"/>
                <a:gd name="T38" fmla="*/ 0 w 513"/>
                <a:gd name="T39" fmla="*/ 6 h 1646"/>
                <a:gd name="T40" fmla="*/ 0 w 513"/>
                <a:gd name="T41" fmla="*/ 7 h 1646"/>
                <a:gd name="T42" fmla="*/ 0 w 513"/>
                <a:gd name="T43" fmla="*/ 8 h 1646"/>
                <a:gd name="T44" fmla="*/ 2 w 513"/>
                <a:gd name="T45" fmla="*/ 6 h 1646"/>
                <a:gd name="T46" fmla="*/ 2 w 513"/>
                <a:gd name="T47" fmla="*/ 6 h 1646"/>
                <a:gd name="T48" fmla="*/ 2 w 513"/>
                <a:gd name="T49" fmla="*/ 6 h 1646"/>
                <a:gd name="T50" fmla="*/ 2 w 513"/>
                <a:gd name="T51" fmla="*/ 6 h 1646"/>
                <a:gd name="T52" fmla="*/ 2 w 513"/>
                <a:gd name="T53" fmla="*/ 6 h 1646"/>
                <a:gd name="T54" fmla="*/ 2 w 513"/>
                <a:gd name="T55" fmla="*/ 6 h 1646"/>
                <a:gd name="T56" fmla="*/ 2 w 513"/>
                <a:gd name="T57" fmla="*/ 6 h 1646"/>
                <a:gd name="T58" fmla="*/ 2 w 513"/>
                <a:gd name="T59" fmla="*/ 6 h 1646"/>
                <a:gd name="T60" fmla="*/ 2 w 513"/>
                <a:gd name="T61" fmla="*/ 6 h 16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513"/>
                <a:gd name="T94" fmla="*/ 0 h 1646"/>
                <a:gd name="T95" fmla="*/ 513 w 513"/>
                <a:gd name="T96" fmla="*/ 1646 h 164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513" h="1646">
                  <a:moveTo>
                    <a:pt x="512" y="1346"/>
                  </a:moveTo>
                  <a:lnTo>
                    <a:pt x="513" y="0"/>
                  </a:lnTo>
                  <a:lnTo>
                    <a:pt x="457" y="41"/>
                  </a:lnTo>
                  <a:lnTo>
                    <a:pt x="404" y="87"/>
                  </a:lnTo>
                  <a:lnTo>
                    <a:pt x="353" y="138"/>
                  </a:lnTo>
                  <a:lnTo>
                    <a:pt x="305" y="194"/>
                  </a:lnTo>
                  <a:lnTo>
                    <a:pt x="259" y="254"/>
                  </a:lnTo>
                  <a:lnTo>
                    <a:pt x="216" y="320"/>
                  </a:lnTo>
                  <a:lnTo>
                    <a:pt x="178" y="388"/>
                  </a:lnTo>
                  <a:lnTo>
                    <a:pt x="142" y="461"/>
                  </a:lnTo>
                  <a:lnTo>
                    <a:pt x="110" y="538"/>
                  </a:lnTo>
                  <a:lnTo>
                    <a:pt x="82" y="617"/>
                  </a:lnTo>
                  <a:lnTo>
                    <a:pt x="57" y="700"/>
                  </a:lnTo>
                  <a:lnTo>
                    <a:pt x="37" y="785"/>
                  </a:lnTo>
                  <a:lnTo>
                    <a:pt x="21" y="874"/>
                  </a:lnTo>
                  <a:lnTo>
                    <a:pt x="9" y="964"/>
                  </a:lnTo>
                  <a:lnTo>
                    <a:pt x="2" y="1058"/>
                  </a:lnTo>
                  <a:lnTo>
                    <a:pt x="0" y="1152"/>
                  </a:lnTo>
                  <a:lnTo>
                    <a:pt x="1" y="1282"/>
                  </a:lnTo>
                  <a:lnTo>
                    <a:pt x="7" y="1408"/>
                  </a:lnTo>
                  <a:lnTo>
                    <a:pt x="14" y="1529"/>
                  </a:lnTo>
                  <a:lnTo>
                    <a:pt x="27" y="1646"/>
                  </a:lnTo>
                  <a:lnTo>
                    <a:pt x="470" y="1414"/>
                  </a:lnTo>
                  <a:lnTo>
                    <a:pt x="478" y="1409"/>
                  </a:lnTo>
                  <a:lnTo>
                    <a:pt x="486" y="1402"/>
                  </a:lnTo>
                  <a:lnTo>
                    <a:pt x="493" y="1394"/>
                  </a:lnTo>
                  <a:lnTo>
                    <a:pt x="500" y="1385"/>
                  </a:lnTo>
                  <a:lnTo>
                    <a:pt x="504" y="1375"/>
                  </a:lnTo>
                  <a:lnTo>
                    <a:pt x="509" y="1365"/>
                  </a:lnTo>
                  <a:lnTo>
                    <a:pt x="511" y="1356"/>
                  </a:lnTo>
                  <a:lnTo>
                    <a:pt x="512" y="134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2" name="Freeform 347"/>
            <p:cNvSpPr>
              <a:spLocks/>
            </p:cNvSpPr>
            <p:nvPr/>
          </p:nvSpPr>
          <p:spPr bwMode="auto">
            <a:xfrm>
              <a:off x="1202" y="3559"/>
              <a:ext cx="25" cy="26"/>
            </a:xfrm>
            <a:custGeom>
              <a:avLst/>
              <a:gdLst>
                <a:gd name="T0" fmla="*/ 1 w 154"/>
                <a:gd name="T1" fmla="*/ 1 h 155"/>
                <a:gd name="T2" fmla="*/ 1 w 154"/>
                <a:gd name="T3" fmla="*/ 1 h 155"/>
                <a:gd name="T4" fmla="*/ 1 w 154"/>
                <a:gd name="T5" fmla="*/ 1 h 155"/>
                <a:gd name="T6" fmla="*/ 1 w 154"/>
                <a:gd name="T7" fmla="*/ 0 h 155"/>
                <a:gd name="T8" fmla="*/ 1 w 154"/>
                <a:gd name="T9" fmla="*/ 0 h 155"/>
                <a:gd name="T10" fmla="*/ 1 w 154"/>
                <a:gd name="T11" fmla="*/ 0 h 155"/>
                <a:gd name="T12" fmla="*/ 1 w 154"/>
                <a:gd name="T13" fmla="*/ 0 h 155"/>
                <a:gd name="T14" fmla="*/ 1 w 154"/>
                <a:gd name="T15" fmla="*/ 0 h 155"/>
                <a:gd name="T16" fmla="*/ 1 w 154"/>
                <a:gd name="T17" fmla="*/ 0 h 155"/>
                <a:gd name="T18" fmla="*/ 1 w 154"/>
                <a:gd name="T19" fmla="*/ 0 h 155"/>
                <a:gd name="T20" fmla="*/ 1 w 154"/>
                <a:gd name="T21" fmla="*/ 0 h 155"/>
                <a:gd name="T22" fmla="*/ 1 w 154"/>
                <a:gd name="T23" fmla="*/ 0 h 155"/>
                <a:gd name="T24" fmla="*/ 1 w 154"/>
                <a:gd name="T25" fmla="*/ 0 h 155"/>
                <a:gd name="T26" fmla="*/ 0 w 154"/>
                <a:gd name="T27" fmla="*/ 0 h 155"/>
                <a:gd name="T28" fmla="*/ 0 w 154"/>
                <a:gd name="T29" fmla="*/ 0 h 155"/>
                <a:gd name="T30" fmla="*/ 0 w 154"/>
                <a:gd name="T31" fmla="*/ 0 h 155"/>
                <a:gd name="T32" fmla="*/ 0 w 154"/>
                <a:gd name="T33" fmla="*/ 0 h 155"/>
                <a:gd name="T34" fmla="*/ 0 w 154"/>
                <a:gd name="T35" fmla="*/ 0 h 155"/>
                <a:gd name="T36" fmla="*/ 0 w 154"/>
                <a:gd name="T37" fmla="*/ 0 h 155"/>
                <a:gd name="T38" fmla="*/ 0 w 154"/>
                <a:gd name="T39" fmla="*/ 1 h 155"/>
                <a:gd name="T40" fmla="*/ 0 w 154"/>
                <a:gd name="T41" fmla="*/ 1 h 155"/>
                <a:gd name="T42" fmla="*/ 0 w 154"/>
                <a:gd name="T43" fmla="*/ 1 h 155"/>
                <a:gd name="T44" fmla="*/ 0 w 154"/>
                <a:gd name="T45" fmla="*/ 1 h 155"/>
                <a:gd name="T46" fmla="*/ 0 w 154"/>
                <a:gd name="T47" fmla="*/ 1 h 155"/>
                <a:gd name="T48" fmla="*/ 1 w 154"/>
                <a:gd name="T49" fmla="*/ 1 h 15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4"/>
                <a:gd name="T76" fmla="*/ 0 h 155"/>
                <a:gd name="T77" fmla="*/ 154 w 154"/>
                <a:gd name="T78" fmla="*/ 155 h 15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4" h="155">
                  <a:moveTo>
                    <a:pt x="134" y="104"/>
                  </a:moveTo>
                  <a:lnTo>
                    <a:pt x="141" y="99"/>
                  </a:lnTo>
                  <a:lnTo>
                    <a:pt x="148" y="92"/>
                  </a:lnTo>
                  <a:lnTo>
                    <a:pt x="152" y="85"/>
                  </a:lnTo>
                  <a:lnTo>
                    <a:pt x="154" y="76"/>
                  </a:lnTo>
                  <a:lnTo>
                    <a:pt x="152" y="25"/>
                  </a:lnTo>
                  <a:lnTo>
                    <a:pt x="152" y="17"/>
                  </a:lnTo>
                  <a:lnTo>
                    <a:pt x="151" y="10"/>
                  </a:lnTo>
                  <a:lnTo>
                    <a:pt x="150" y="5"/>
                  </a:lnTo>
                  <a:lnTo>
                    <a:pt x="149" y="1"/>
                  </a:lnTo>
                  <a:lnTo>
                    <a:pt x="146" y="0"/>
                  </a:lnTo>
                  <a:lnTo>
                    <a:pt x="141" y="0"/>
                  </a:lnTo>
                  <a:lnTo>
                    <a:pt x="134" y="2"/>
                  </a:lnTo>
                  <a:lnTo>
                    <a:pt x="128" y="5"/>
                  </a:lnTo>
                  <a:lnTo>
                    <a:pt x="17" y="56"/>
                  </a:lnTo>
                  <a:lnTo>
                    <a:pt x="10" y="61"/>
                  </a:lnTo>
                  <a:lnTo>
                    <a:pt x="5" y="69"/>
                  </a:lnTo>
                  <a:lnTo>
                    <a:pt x="1" y="77"/>
                  </a:lnTo>
                  <a:lnTo>
                    <a:pt x="0" y="85"/>
                  </a:lnTo>
                  <a:lnTo>
                    <a:pt x="0" y="142"/>
                  </a:lnTo>
                  <a:lnTo>
                    <a:pt x="1" y="149"/>
                  </a:lnTo>
                  <a:lnTo>
                    <a:pt x="5" y="154"/>
                  </a:lnTo>
                  <a:lnTo>
                    <a:pt x="10" y="155"/>
                  </a:lnTo>
                  <a:lnTo>
                    <a:pt x="17" y="154"/>
                  </a:lnTo>
                  <a:lnTo>
                    <a:pt x="134" y="104"/>
                  </a:lnTo>
                  <a:close/>
                </a:path>
              </a:pathLst>
            </a:custGeom>
            <a:solidFill>
              <a:srgbClr val="DDDD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3" name="Freeform 348"/>
            <p:cNvSpPr>
              <a:spLocks/>
            </p:cNvSpPr>
            <p:nvPr/>
          </p:nvSpPr>
          <p:spPr bwMode="auto">
            <a:xfrm>
              <a:off x="1200" y="3559"/>
              <a:ext cx="26" cy="24"/>
            </a:xfrm>
            <a:custGeom>
              <a:avLst/>
              <a:gdLst>
                <a:gd name="T0" fmla="*/ 1 w 153"/>
                <a:gd name="T1" fmla="*/ 0 h 144"/>
                <a:gd name="T2" fmla="*/ 1 w 153"/>
                <a:gd name="T3" fmla="*/ 0 h 144"/>
                <a:gd name="T4" fmla="*/ 1 w 153"/>
                <a:gd name="T5" fmla="*/ 0 h 144"/>
                <a:gd name="T6" fmla="*/ 1 w 153"/>
                <a:gd name="T7" fmla="*/ 0 h 144"/>
                <a:gd name="T8" fmla="*/ 1 w 153"/>
                <a:gd name="T9" fmla="*/ 0 h 144"/>
                <a:gd name="T10" fmla="*/ 1 w 153"/>
                <a:gd name="T11" fmla="*/ 0 h 144"/>
                <a:gd name="T12" fmla="*/ 1 w 153"/>
                <a:gd name="T13" fmla="*/ 0 h 144"/>
                <a:gd name="T14" fmla="*/ 1 w 153"/>
                <a:gd name="T15" fmla="*/ 0 h 144"/>
                <a:gd name="T16" fmla="*/ 1 w 153"/>
                <a:gd name="T17" fmla="*/ 0 h 144"/>
                <a:gd name="T18" fmla="*/ 1 w 153"/>
                <a:gd name="T19" fmla="*/ 0 h 144"/>
                <a:gd name="T20" fmla="*/ 0 w 153"/>
                <a:gd name="T21" fmla="*/ 0 h 144"/>
                <a:gd name="T22" fmla="*/ 0 w 153"/>
                <a:gd name="T23" fmla="*/ 0 h 144"/>
                <a:gd name="T24" fmla="*/ 0 w 153"/>
                <a:gd name="T25" fmla="*/ 0 h 144"/>
                <a:gd name="T26" fmla="*/ 0 w 153"/>
                <a:gd name="T27" fmla="*/ 0 h 144"/>
                <a:gd name="T28" fmla="*/ 0 w 153"/>
                <a:gd name="T29" fmla="*/ 0 h 144"/>
                <a:gd name="T30" fmla="*/ 0 w 153"/>
                <a:gd name="T31" fmla="*/ 1 h 144"/>
                <a:gd name="T32" fmla="*/ 0 w 153"/>
                <a:gd name="T33" fmla="*/ 1 h 144"/>
                <a:gd name="T34" fmla="*/ 0 w 153"/>
                <a:gd name="T35" fmla="*/ 1 h 144"/>
                <a:gd name="T36" fmla="*/ 0 w 153"/>
                <a:gd name="T37" fmla="*/ 1 h 144"/>
                <a:gd name="T38" fmla="*/ 0 w 153"/>
                <a:gd name="T39" fmla="*/ 1 h 144"/>
                <a:gd name="T40" fmla="*/ 1 w 153"/>
                <a:gd name="T41" fmla="*/ 0 h 1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3"/>
                <a:gd name="T64" fmla="*/ 0 h 144"/>
                <a:gd name="T65" fmla="*/ 153 w 153"/>
                <a:gd name="T66" fmla="*/ 144 h 14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3" h="144">
                  <a:moveTo>
                    <a:pt x="135" y="93"/>
                  </a:moveTo>
                  <a:lnTo>
                    <a:pt x="141" y="88"/>
                  </a:lnTo>
                  <a:lnTo>
                    <a:pt x="147" y="81"/>
                  </a:lnTo>
                  <a:lnTo>
                    <a:pt x="152" y="74"/>
                  </a:lnTo>
                  <a:lnTo>
                    <a:pt x="153" y="66"/>
                  </a:lnTo>
                  <a:lnTo>
                    <a:pt x="153" y="15"/>
                  </a:lnTo>
                  <a:lnTo>
                    <a:pt x="152" y="7"/>
                  </a:lnTo>
                  <a:lnTo>
                    <a:pt x="147" y="3"/>
                  </a:lnTo>
                  <a:lnTo>
                    <a:pt x="141" y="0"/>
                  </a:lnTo>
                  <a:lnTo>
                    <a:pt x="135" y="2"/>
                  </a:lnTo>
                  <a:lnTo>
                    <a:pt x="17" y="48"/>
                  </a:lnTo>
                  <a:lnTo>
                    <a:pt x="10" y="52"/>
                  </a:lnTo>
                  <a:lnTo>
                    <a:pt x="6" y="58"/>
                  </a:lnTo>
                  <a:lnTo>
                    <a:pt x="1" y="66"/>
                  </a:lnTo>
                  <a:lnTo>
                    <a:pt x="0" y="74"/>
                  </a:lnTo>
                  <a:lnTo>
                    <a:pt x="0" y="132"/>
                  </a:lnTo>
                  <a:lnTo>
                    <a:pt x="1" y="139"/>
                  </a:lnTo>
                  <a:lnTo>
                    <a:pt x="6" y="143"/>
                  </a:lnTo>
                  <a:lnTo>
                    <a:pt x="10" y="144"/>
                  </a:lnTo>
                  <a:lnTo>
                    <a:pt x="17" y="143"/>
                  </a:lnTo>
                  <a:lnTo>
                    <a:pt x="135" y="9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4" name="Freeform 349"/>
            <p:cNvSpPr>
              <a:spLocks/>
            </p:cNvSpPr>
            <p:nvPr/>
          </p:nvSpPr>
          <p:spPr bwMode="auto">
            <a:xfrm>
              <a:off x="1084" y="3356"/>
              <a:ext cx="74" cy="292"/>
            </a:xfrm>
            <a:custGeom>
              <a:avLst/>
              <a:gdLst>
                <a:gd name="T0" fmla="*/ 2 w 445"/>
                <a:gd name="T1" fmla="*/ 8 h 1750"/>
                <a:gd name="T2" fmla="*/ 2 w 445"/>
                <a:gd name="T3" fmla="*/ 8 h 1750"/>
                <a:gd name="T4" fmla="*/ 2 w 445"/>
                <a:gd name="T5" fmla="*/ 8 h 1750"/>
                <a:gd name="T6" fmla="*/ 2 w 445"/>
                <a:gd name="T7" fmla="*/ 8 h 1750"/>
                <a:gd name="T8" fmla="*/ 2 w 445"/>
                <a:gd name="T9" fmla="*/ 8 h 1750"/>
                <a:gd name="T10" fmla="*/ 2 w 445"/>
                <a:gd name="T11" fmla="*/ 0 h 1750"/>
                <a:gd name="T12" fmla="*/ 2 w 445"/>
                <a:gd name="T13" fmla="*/ 0 h 1750"/>
                <a:gd name="T14" fmla="*/ 2 w 445"/>
                <a:gd name="T15" fmla="*/ 0 h 1750"/>
                <a:gd name="T16" fmla="*/ 2 w 445"/>
                <a:gd name="T17" fmla="*/ 0 h 1750"/>
                <a:gd name="T18" fmla="*/ 2 w 445"/>
                <a:gd name="T19" fmla="*/ 0 h 1750"/>
                <a:gd name="T20" fmla="*/ 2 w 445"/>
                <a:gd name="T21" fmla="*/ 0 h 1750"/>
                <a:gd name="T22" fmla="*/ 2 w 445"/>
                <a:gd name="T23" fmla="*/ 0 h 1750"/>
                <a:gd name="T24" fmla="*/ 2 w 445"/>
                <a:gd name="T25" fmla="*/ 0 h 1750"/>
                <a:gd name="T26" fmla="*/ 2 w 445"/>
                <a:gd name="T27" fmla="*/ 0 h 1750"/>
                <a:gd name="T28" fmla="*/ 2 w 445"/>
                <a:gd name="T29" fmla="*/ 0 h 1750"/>
                <a:gd name="T30" fmla="*/ 2 w 445"/>
                <a:gd name="T31" fmla="*/ 0 h 1750"/>
                <a:gd name="T32" fmla="*/ 2 w 445"/>
                <a:gd name="T33" fmla="*/ 0 h 1750"/>
                <a:gd name="T34" fmla="*/ 2 w 445"/>
                <a:gd name="T35" fmla="*/ 0 h 1750"/>
                <a:gd name="T36" fmla="*/ 2 w 445"/>
                <a:gd name="T37" fmla="*/ 0 h 1750"/>
                <a:gd name="T38" fmla="*/ 2 w 445"/>
                <a:gd name="T39" fmla="*/ 0 h 1750"/>
                <a:gd name="T40" fmla="*/ 2 w 445"/>
                <a:gd name="T41" fmla="*/ 0 h 1750"/>
                <a:gd name="T42" fmla="*/ 2 w 445"/>
                <a:gd name="T43" fmla="*/ 0 h 1750"/>
                <a:gd name="T44" fmla="*/ 1 w 445"/>
                <a:gd name="T45" fmla="*/ 0 h 1750"/>
                <a:gd name="T46" fmla="*/ 1 w 445"/>
                <a:gd name="T47" fmla="*/ 0 h 1750"/>
                <a:gd name="T48" fmla="*/ 1 w 445"/>
                <a:gd name="T49" fmla="*/ 1 h 1750"/>
                <a:gd name="T50" fmla="*/ 1 w 445"/>
                <a:gd name="T51" fmla="*/ 1 h 1750"/>
                <a:gd name="T52" fmla="*/ 1 w 445"/>
                <a:gd name="T53" fmla="*/ 1 h 1750"/>
                <a:gd name="T54" fmla="*/ 1 w 445"/>
                <a:gd name="T55" fmla="*/ 1 h 1750"/>
                <a:gd name="T56" fmla="*/ 0 w 445"/>
                <a:gd name="T57" fmla="*/ 2 h 1750"/>
                <a:gd name="T58" fmla="*/ 0 w 445"/>
                <a:gd name="T59" fmla="*/ 2 h 1750"/>
                <a:gd name="T60" fmla="*/ 0 w 445"/>
                <a:gd name="T61" fmla="*/ 2 h 1750"/>
                <a:gd name="T62" fmla="*/ 0 w 445"/>
                <a:gd name="T63" fmla="*/ 3 h 1750"/>
                <a:gd name="T64" fmla="*/ 0 w 445"/>
                <a:gd name="T65" fmla="*/ 3 h 1750"/>
                <a:gd name="T66" fmla="*/ 0 w 445"/>
                <a:gd name="T67" fmla="*/ 3 h 1750"/>
                <a:gd name="T68" fmla="*/ 0 w 445"/>
                <a:gd name="T69" fmla="*/ 4 h 1750"/>
                <a:gd name="T70" fmla="*/ 0 w 445"/>
                <a:gd name="T71" fmla="*/ 4 h 1750"/>
                <a:gd name="T72" fmla="*/ 0 w 445"/>
                <a:gd name="T73" fmla="*/ 5 h 1750"/>
                <a:gd name="T74" fmla="*/ 0 w 445"/>
                <a:gd name="T75" fmla="*/ 5 h 1750"/>
                <a:gd name="T76" fmla="*/ 0 w 445"/>
                <a:gd name="T77" fmla="*/ 6 h 1750"/>
                <a:gd name="T78" fmla="*/ 0 w 445"/>
                <a:gd name="T79" fmla="*/ 7 h 1750"/>
                <a:gd name="T80" fmla="*/ 0 w 445"/>
                <a:gd name="T81" fmla="*/ 7 h 1750"/>
                <a:gd name="T82" fmla="*/ 0 w 445"/>
                <a:gd name="T83" fmla="*/ 8 h 1750"/>
                <a:gd name="T84" fmla="*/ 0 w 445"/>
                <a:gd name="T85" fmla="*/ 8 h 1750"/>
                <a:gd name="T86" fmla="*/ 0 w 445"/>
                <a:gd name="T87" fmla="*/ 8 h 1750"/>
                <a:gd name="T88" fmla="*/ 0 w 445"/>
                <a:gd name="T89" fmla="*/ 8 h 1750"/>
                <a:gd name="T90" fmla="*/ 1 w 445"/>
                <a:gd name="T91" fmla="*/ 8 h 1750"/>
                <a:gd name="T92" fmla="*/ 1 w 445"/>
                <a:gd name="T93" fmla="*/ 8 h 1750"/>
                <a:gd name="T94" fmla="*/ 1 w 445"/>
                <a:gd name="T95" fmla="*/ 8 h 1750"/>
                <a:gd name="T96" fmla="*/ 1 w 445"/>
                <a:gd name="T97" fmla="*/ 8 h 1750"/>
                <a:gd name="T98" fmla="*/ 1 w 445"/>
                <a:gd name="T99" fmla="*/ 8 h 1750"/>
                <a:gd name="T100" fmla="*/ 1 w 445"/>
                <a:gd name="T101" fmla="*/ 8 h 1750"/>
                <a:gd name="T102" fmla="*/ 1 w 445"/>
                <a:gd name="T103" fmla="*/ 8 h 1750"/>
                <a:gd name="T104" fmla="*/ 2 w 445"/>
                <a:gd name="T105" fmla="*/ 8 h 1750"/>
                <a:gd name="T106" fmla="*/ 2 w 445"/>
                <a:gd name="T107" fmla="*/ 8 h 1750"/>
                <a:gd name="T108" fmla="*/ 2 w 445"/>
                <a:gd name="T109" fmla="*/ 8 h 1750"/>
                <a:gd name="T110" fmla="*/ 2 w 445"/>
                <a:gd name="T111" fmla="*/ 8 h 1750"/>
                <a:gd name="T112" fmla="*/ 2 w 445"/>
                <a:gd name="T113" fmla="*/ 8 h 1750"/>
                <a:gd name="T114" fmla="*/ 2 w 445"/>
                <a:gd name="T115" fmla="*/ 8 h 1750"/>
                <a:gd name="T116" fmla="*/ 2 w 445"/>
                <a:gd name="T117" fmla="*/ 8 h 1750"/>
                <a:gd name="T118" fmla="*/ 2 w 445"/>
                <a:gd name="T119" fmla="*/ 8 h 1750"/>
                <a:gd name="T120" fmla="*/ 2 w 445"/>
                <a:gd name="T121" fmla="*/ 8 h 1750"/>
                <a:gd name="T122" fmla="*/ 2 w 445"/>
                <a:gd name="T123" fmla="*/ 8 h 175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45"/>
                <a:gd name="T187" fmla="*/ 0 h 1750"/>
                <a:gd name="T188" fmla="*/ 445 w 445"/>
                <a:gd name="T189" fmla="*/ 1750 h 175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45" h="1750">
                  <a:moveTo>
                    <a:pt x="435" y="1743"/>
                  </a:moveTo>
                  <a:lnTo>
                    <a:pt x="440" y="1738"/>
                  </a:lnTo>
                  <a:lnTo>
                    <a:pt x="442" y="1732"/>
                  </a:lnTo>
                  <a:lnTo>
                    <a:pt x="444" y="1726"/>
                  </a:lnTo>
                  <a:lnTo>
                    <a:pt x="445" y="1719"/>
                  </a:lnTo>
                  <a:lnTo>
                    <a:pt x="433" y="53"/>
                  </a:lnTo>
                  <a:lnTo>
                    <a:pt x="432" y="45"/>
                  </a:lnTo>
                  <a:lnTo>
                    <a:pt x="429" y="36"/>
                  </a:lnTo>
                  <a:lnTo>
                    <a:pt x="426" y="29"/>
                  </a:lnTo>
                  <a:lnTo>
                    <a:pt x="420" y="22"/>
                  </a:lnTo>
                  <a:lnTo>
                    <a:pt x="415" y="15"/>
                  </a:lnTo>
                  <a:lnTo>
                    <a:pt x="408" y="11"/>
                  </a:lnTo>
                  <a:lnTo>
                    <a:pt x="400" y="8"/>
                  </a:lnTo>
                  <a:lnTo>
                    <a:pt x="392" y="5"/>
                  </a:lnTo>
                  <a:lnTo>
                    <a:pt x="391" y="5"/>
                  </a:lnTo>
                  <a:lnTo>
                    <a:pt x="387" y="4"/>
                  </a:lnTo>
                  <a:lnTo>
                    <a:pt x="380" y="4"/>
                  </a:lnTo>
                  <a:lnTo>
                    <a:pt x="372" y="3"/>
                  </a:lnTo>
                  <a:lnTo>
                    <a:pt x="364" y="2"/>
                  </a:lnTo>
                  <a:lnTo>
                    <a:pt x="356" y="1"/>
                  </a:lnTo>
                  <a:lnTo>
                    <a:pt x="350" y="1"/>
                  </a:lnTo>
                  <a:lnTo>
                    <a:pt x="346" y="0"/>
                  </a:lnTo>
                  <a:lnTo>
                    <a:pt x="309" y="35"/>
                  </a:lnTo>
                  <a:lnTo>
                    <a:pt x="274" y="74"/>
                  </a:lnTo>
                  <a:lnTo>
                    <a:pt x="239" y="119"/>
                  </a:lnTo>
                  <a:lnTo>
                    <a:pt x="207" y="168"/>
                  </a:lnTo>
                  <a:lnTo>
                    <a:pt x="177" y="222"/>
                  </a:lnTo>
                  <a:lnTo>
                    <a:pt x="148" y="281"/>
                  </a:lnTo>
                  <a:lnTo>
                    <a:pt x="122" y="343"/>
                  </a:lnTo>
                  <a:lnTo>
                    <a:pt x="98" y="408"/>
                  </a:lnTo>
                  <a:lnTo>
                    <a:pt x="76" y="478"/>
                  </a:lnTo>
                  <a:lnTo>
                    <a:pt x="57" y="550"/>
                  </a:lnTo>
                  <a:lnTo>
                    <a:pt x="41" y="625"/>
                  </a:lnTo>
                  <a:lnTo>
                    <a:pt x="26" y="704"/>
                  </a:lnTo>
                  <a:lnTo>
                    <a:pt x="16" y="785"/>
                  </a:lnTo>
                  <a:lnTo>
                    <a:pt x="8" y="867"/>
                  </a:lnTo>
                  <a:lnTo>
                    <a:pt x="3" y="953"/>
                  </a:lnTo>
                  <a:lnTo>
                    <a:pt x="2" y="1039"/>
                  </a:lnTo>
                  <a:lnTo>
                    <a:pt x="0" y="1228"/>
                  </a:lnTo>
                  <a:lnTo>
                    <a:pt x="0" y="1403"/>
                  </a:lnTo>
                  <a:lnTo>
                    <a:pt x="4" y="1559"/>
                  </a:lnTo>
                  <a:lnTo>
                    <a:pt x="15" y="1700"/>
                  </a:lnTo>
                  <a:lnTo>
                    <a:pt x="42" y="1703"/>
                  </a:lnTo>
                  <a:lnTo>
                    <a:pt x="72" y="1708"/>
                  </a:lnTo>
                  <a:lnTo>
                    <a:pt x="103" y="1711"/>
                  </a:lnTo>
                  <a:lnTo>
                    <a:pt x="135" y="1716"/>
                  </a:lnTo>
                  <a:lnTo>
                    <a:pt x="168" y="1720"/>
                  </a:lnTo>
                  <a:lnTo>
                    <a:pt x="200" y="1723"/>
                  </a:lnTo>
                  <a:lnTo>
                    <a:pt x="233" y="1728"/>
                  </a:lnTo>
                  <a:lnTo>
                    <a:pt x="265" y="1731"/>
                  </a:lnTo>
                  <a:lnTo>
                    <a:pt x="294" y="1736"/>
                  </a:lnTo>
                  <a:lnTo>
                    <a:pt x="321" y="1739"/>
                  </a:lnTo>
                  <a:lnTo>
                    <a:pt x="346" y="1743"/>
                  </a:lnTo>
                  <a:lnTo>
                    <a:pt x="367" y="1745"/>
                  </a:lnTo>
                  <a:lnTo>
                    <a:pt x="385" y="1747"/>
                  </a:lnTo>
                  <a:lnTo>
                    <a:pt x="399" y="1749"/>
                  </a:lnTo>
                  <a:lnTo>
                    <a:pt x="407" y="1750"/>
                  </a:lnTo>
                  <a:lnTo>
                    <a:pt x="410" y="1750"/>
                  </a:lnTo>
                  <a:lnTo>
                    <a:pt x="417" y="1750"/>
                  </a:lnTo>
                  <a:lnTo>
                    <a:pt x="424" y="1749"/>
                  </a:lnTo>
                  <a:lnTo>
                    <a:pt x="429" y="1747"/>
                  </a:lnTo>
                  <a:lnTo>
                    <a:pt x="435" y="17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5" name="Freeform 350"/>
            <p:cNvSpPr>
              <a:spLocks/>
            </p:cNvSpPr>
            <p:nvPr/>
          </p:nvSpPr>
          <p:spPr bwMode="auto">
            <a:xfrm>
              <a:off x="1065" y="3609"/>
              <a:ext cx="39" cy="28"/>
            </a:xfrm>
            <a:custGeom>
              <a:avLst/>
              <a:gdLst>
                <a:gd name="T0" fmla="*/ 1 w 235"/>
                <a:gd name="T1" fmla="*/ 1 h 172"/>
                <a:gd name="T2" fmla="*/ 1 w 235"/>
                <a:gd name="T3" fmla="*/ 1 h 172"/>
                <a:gd name="T4" fmla="*/ 1 w 235"/>
                <a:gd name="T5" fmla="*/ 1 h 172"/>
                <a:gd name="T6" fmla="*/ 1 w 235"/>
                <a:gd name="T7" fmla="*/ 1 h 172"/>
                <a:gd name="T8" fmla="*/ 1 w 235"/>
                <a:gd name="T9" fmla="*/ 1 h 172"/>
                <a:gd name="T10" fmla="*/ 1 w 235"/>
                <a:gd name="T11" fmla="*/ 0 h 172"/>
                <a:gd name="T12" fmla="*/ 1 w 235"/>
                <a:gd name="T13" fmla="*/ 0 h 172"/>
                <a:gd name="T14" fmla="*/ 1 w 235"/>
                <a:gd name="T15" fmla="*/ 0 h 172"/>
                <a:gd name="T16" fmla="*/ 1 w 235"/>
                <a:gd name="T17" fmla="*/ 0 h 172"/>
                <a:gd name="T18" fmla="*/ 1 w 235"/>
                <a:gd name="T19" fmla="*/ 0 h 172"/>
                <a:gd name="T20" fmla="*/ 0 w 235"/>
                <a:gd name="T21" fmla="*/ 0 h 172"/>
                <a:gd name="T22" fmla="*/ 0 w 235"/>
                <a:gd name="T23" fmla="*/ 0 h 172"/>
                <a:gd name="T24" fmla="*/ 0 w 235"/>
                <a:gd name="T25" fmla="*/ 0 h 172"/>
                <a:gd name="T26" fmla="*/ 0 w 235"/>
                <a:gd name="T27" fmla="*/ 0 h 172"/>
                <a:gd name="T28" fmla="*/ 0 w 235"/>
                <a:gd name="T29" fmla="*/ 0 h 172"/>
                <a:gd name="T30" fmla="*/ 0 w 235"/>
                <a:gd name="T31" fmla="*/ 0 h 172"/>
                <a:gd name="T32" fmla="*/ 0 w 235"/>
                <a:gd name="T33" fmla="*/ 1 h 172"/>
                <a:gd name="T34" fmla="*/ 0 w 235"/>
                <a:gd name="T35" fmla="*/ 1 h 172"/>
                <a:gd name="T36" fmla="*/ 0 w 235"/>
                <a:gd name="T37" fmla="*/ 1 h 172"/>
                <a:gd name="T38" fmla="*/ 0 w 235"/>
                <a:gd name="T39" fmla="*/ 1 h 172"/>
                <a:gd name="T40" fmla="*/ 1 w 235"/>
                <a:gd name="T41" fmla="*/ 1 h 1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5"/>
                <a:gd name="T64" fmla="*/ 0 h 172"/>
                <a:gd name="T65" fmla="*/ 235 w 235"/>
                <a:gd name="T66" fmla="*/ 172 h 1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5" h="172">
                  <a:moveTo>
                    <a:pt x="216" y="172"/>
                  </a:moveTo>
                  <a:lnTo>
                    <a:pt x="223" y="171"/>
                  </a:lnTo>
                  <a:lnTo>
                    <a:pt x="230" y="168"/>
                  </a:lnTo>
                  <a:lnTo>
                    <a:pt x="234" y="162"/>
                  </a:lnTo>
                  <a:lnTo>
                    <a:pt x="235" y="156"/>
                  </a:lnTo>
                  <a:lnTo>
                    <a:pt x="234" y="44"/>
                  </a:lnTo>
                  <a:lnTo>
                    <a:pt x="233" y="36"/>
                  </a:lnTo>
                  <a:lnTo>
                    <a:pt x="228" y="30"/>
                  </a:lnTo>
                  <a:lnTo>
                    <a:pt x="222" y="25"/>
                  </a:lnTo>
                  <a:lnTo>
                    <a:pt x="215" y="22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26"/>
                  </a:lnTo>
                  <a:lnTo>
                    <a:pt x="3" y="134"/>
                  </a:lnTo>
                  <a:lnTo>
                    <a:pt x="7" y="141"/>
                  </a:lnTo>
                  <a:lnTo>
                    <a:pt x="14" y="147"/>
                  </a:lnTo>
                  <a:lnTo>
                    <a:pt x="22" y="149"/>
                  </a:lnTo>
                  <a:lnTo>
                    <a:pt x="216" y="1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" name="Freeform 351"/>
            <p:cNvSpPr>
              <a:spLocks/>
            </p:cNvSpPr>
            <p:nvPr/>
          </p:nvSpPr>
          <p:spPr bwMode="auto">
            <a:xfrm>
              <a:off x="1065" y="3610"/>
              <a:ext cx="37" cy="28"/>
            </a:xfrm>
            <a:custGeom>
              <a:avLst/>
              <a:gdLst>
                <a:gd name="T0" fmla="*/ 1 w 219"/>
                <a:gd name="T1" fmla="*/ 1 h 167"/>
                <a:gd name="T2" fmla="*/ 1 w 219"/>
                <a:gd name="T3" fmla="*/ 0 h 167"/>
                <a:gd name="T4" fmla="*/ 1 w 219"/>
                <a:gd name="T5" fmla="*/ 0 h 167"/>
                <a:gd name="T6" fmla="*/ 1 w 219"/>
                <a:gd name="T7" fmla="*/ 0 h 167"/>
                <a:gd name="T8" fmla="*/ 1 w 219"/>
                <a:gd name="T9" fmla="*/ 0 h 167"/>
                <a:gd name="T10" fmla="*/ 1 w 219"/>
                <a:gd name="T11" fmla="*/ 0 h 167"/>
                <a:gd name="T12" fmla="*/ 0 w 219"/>
                <a:gd name="T13" fmla="*/ 0 h 167"/>
                <a:gd name="T14" fmla="*/ 0 w 219"/>
                <a:gd name="T15" fmla="*/ 0 h 167"/>
                <a:gd name="T16" fmla="*/ 0 w 219"/>
                <a:gd name="T17" fmla="*/ 0 h 167"/>
                <a:gd name="T18" fmla="*/ 0 w 219"/>
                <a:gd name="T19" fmla="*/ 0 h 167"/>
                <a:gd name="T20" fmla="*/ 0 w 219"/>
                <a:gd name="T21" fmla="*/ 0 h 167"/>
                <a:gd name="T22" fmla="*/ 0 w 219"/>
                <a:gd name="T23" fmla="*/ 1 h 167"/>
                <a:gd name="T24" fmla="*/ 0 w 219"/>
                <a:gd name="T25" fmla="*/ 1 h 167"/>
                <a:gd name="T26" fmla="*/ 0 w 219"/>
                <a:gd name="T27" fmla="*/ 1 h 167"/>
                <a:gd name="T28" fmla="*/ 0 w 219"/>
                <a:gd name="T29" fmla="*/ 1 h 167"/>
                <a:gd name="T30" fmla="*/ 0 w 219"/>
                <a:gd name="T31" fmla="*/ 1 h 167"/>
                <a:gd name="T32" fmla="*/ 1 w 219"/>
                <a:gd name="T33" fmla="*/ 1 h 167"/>
                <a:gd name="T34" fmla="*/ 1 w 219"/>
                <a:gd name="T35" fmla="*/ 1 h 167"/>
                <a:gd name="T36" fmla="*/ 1 w 219"/>
                <a:gd name="T37" fmla="*/ 1 h 167"/>
                <a:gd name="T38" fmla="*/ 1 w 219"/>
                <a:gd name="T39" fmla="*/ 1 h 167"/>
                <a:gd name="T40" fmla="*/ 1 w 219"/>
                <a:gd name="T41" fmla="*/ 1 h 1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9"/>
                <a:gd name="T64" fmla="*/ 0 h 167"/>
                <a:gd name="T65" fmla="*/ 219 w 219"/>
                <a:gd name="T66" fmla="*/ 167 h 1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9" h="167">
                  <a:moveTo>
                    <a:pt x="219" y="152"/>
                  </a:moveTo>
                  <a:lnTo>
                    <a:pt x="219" y="41"/>
                  </a:lnTo>
                  <a:lnTo>
                    <a:pt x="218" y="33"/>
                  </a:lnTo>
                  <a:lnTo>
                    <a:pt x="213" y="26"/>
                  </a:lnTo>
                  <a:lnTo>
                    <a:pt x="206" y="22"/>
                  </a:lnTo>
                  <a:lnTo>
                    <a:pt x="199" y="2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6"/>
                  </a:lnTo>
                  <a:lnTo>
                    <a:pt x="1" y="123"/>
                  </a:lnTo>
                  <a:lnTo>
                    <a:pt x="2" y="131"/>
                  </a:lnTo>
                  <a:lnTo>
                    <a:pt x="7" y="138"/>
                  </a:lnTo>
                  <a:lnTo>
                    <a:pt x="13" y="143"/>
                  </a:lnTo>
                  <a:lnTo>
                    <a:pt x="21" y="146"/>
                  </a:lnTo>
                  <a:lnTo>
                    <a:pt x="188" y="167"/>
                  </a:lnTo>
                  <a:lnTo>
                    <a:pt x="197" y="167"/>
                  </a:lnTo>
                  <a:lnTo>
                    <a:pt x="208" y="166"/>
                  </a:lnTo>
                  <a:lnTo>
                    <a:pt x="215" y="161"/>
                  </a:lnTo>
                  <a:lnTo>
                    <a:pt x="219" y="152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" name="Freeform 352"/>
            <p:cNvSpPr>
              <a:spLocks/>
            </p:cNvSpPr>
            <p:nvPr/>
          </p:nvSpPr>
          <p:spPr bwMode="auto">
            <a:xfrm>
              <a:off x="1065" y="3612"/>
              <a:ext cx="35" cy="26"/>
            </a:xfrm>
            <a:custGeom>
              <a:avLst/>
              <a:gdLst>
                <a:gd name="T0" fmla="*/ 1 w 208"/>
                <a:gd name="T1" fmla="*/ 1 h 159"/>
                <a:gd name="T2" fmla="*/ 1 w 208"/>
                <a:gd name="T3" fmla="*/ 1 h 159"/>
                <a:gd name="T4" fmla="*/ 1 w 208"/>
                <a:gd name="T5" fmla="*/ 1 h 159"/>
                <a:gd name="T6" fmla="*/ 1 w 208"/>
                <a:gd name="T7" fmla="*/ 1 h 159"/>
                <a:gd name="T8" fmla="*/ 1 w 208"/>
                <a:gd name="T9" fmla="*/ 1 h 159"/>
                <a:gd name="T10" fmla="*/ 1 w 208"/>
                <a:gd name="T11" fmla="*/ 0 h 159"/>
                <a:gd name="T12" fmla="*/ 1 w 208"/>
                <a:gd name="T13" fmla="*/ 0 h 159"/>
                <a:gd name="T14" fmla="*/ 1 w 208"/>
                <a:gd name="T15" fmla="*/ 0 h 159"/>
                <a:gd name="T16" fmla="*/ 1 w 208"/>
                <a:gd name="T17" fmla="*/ 0 h 159"/>
                <a:gd name="T18" fmla="*/ 1 w 208"/>
                <a:gd name="T19" fmla="*/ 0 h 159"/>
                <a:gd name="T20" fmla="*/ 0 w 208"/>
                <a:gd name="T21" fmla="*/ 0 h 159"/>
                <a:gd name="T22" fmla="*/ 0 w 208"/>
                <a:gd name="T23" fmla="*/ 0 h 159"/>
                <a:gd name="T24" fmla="*/ 0 w 208"/>
                <a:gd name="T25" fmla="*/ 0 h 159"/>
                <a:gd name="T26" fmla="*/ 0 w 208"/>
                <a:gd name="T27" fmla="*/ 0 h 159"/>
                <a:gd name="T28" fmla="*/ 0 w 208"/>
                <a:gd name="T29" fmla="*/ 0 h 159"/>
                <a:gd name="T30" fmla="*/ 0 w 208"/>
                <a:gd name="T31" fmla="*/ 0 h 159"/>
                <a:gd name="T32" fmla="*/ 0 w 208"/>
                <a:gd name="T33" fmla="*/ 0 h 159"/>
                <a:gd name="T34" fmla="*/ 0 w 208"/>
                <a:gd name="T35" fmla="*/ 0 h 159"/>
                <a:gd name="T36" fmla="*/ 0 w 208"/>
                <a:gd name="T37" fmla="*/ 1 h 159"/>
                <a:gd name="T38" fmla="*/ 0 w 208"/>
                <a:gd name="T39" fmla="*/ 1 h 159"/>
                <a:gd name="T40" fmla="*/ 1 w 208"/>
                <a:gd name="T41" fmla="*/ 1 h 15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8"/>
                <a:gd name="T64" fmla="*/ 0 h 159"/>
                <a:gd name="T65" fmla="*/ 208 w 208"/>
                <a:gd name="T66" fmla="*/ 159 h 15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8" h="159">
                  <a:moveTo>
                    <a:pt x="188" y="159"/>
                  </a:moveTo>
                  <a:lnTo>
                    <a:pt x="196" y="158"/>
                  </a:lnTo>
                  <a:lnTo>
                    <a:pt x="203" y="154"/>
                  </a:lnTo>
                  <a:lnTo>
                    <a:pt x="206" y="149"/>
                  </a:lnTo>
                  <a:lnTo>
                    <a:pt x="208" y="142"/>
                  </a:lnTo>
                  <a:lnTo>
                    <a:pt x="208" y="42"/>
                  </a:lnTo>
                  <a:lnTo>
                    <a:pt x="206" y="34"/>
                  </a:lnTo>
                  <a:lnTo>
                    <a:pt x="202" y="27"/>
                  </a:lnTo>
                  <a:lnTo>
                    <a:pt x="195" y="22"/>
                  </a:lnTo>
                  <a:lnTo>
                    <a:pt x="187" y="19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6" y="5"/>
                  </a:lnTo>
                  <a:lnTo>
                    <a:pt x="1" y="10"/>
                  </a:lnTo>
                  <a:lnTo>
                    <a:pt x="0" y="18"/>
                  </a:lnTo>
                  <a:lnTo>
                    <a:pt x="1" y="115"/>
                  </a:lnTo>
                  <a:lnTo>
                    <a:pt x="2" y="123"/>
                  </a:lnTo>
                  <a:lnTo>
                    <a:pt x="7" y="130"/>
                  </a:lnTo>
                  <a:lnTo>
                    <a:pt x="13" y="135"/>
                  </a:lnTo>
                  <a:lnTo>
                    <a:pt x="21" y="138"/>
                  </a:lnTo>
                  <a:lnTo>
                    <a:pt x="188" y="159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" name="Freeform 353"/>
            <p:cNvSpPr>
              <a:spLocks/>
            </p:cNvSpPr>
            <p:nvPr/>
          </p:nvSpPr>
          <p:spPr bwMode="auto">
            <a:xfrm>
              <a:off x="1130" y="3302"/>
              <a:ext cx="124" cy="349"/>
            </a:xfrm>
            <a:custGeom>
              <a:avLst/>
              <a:gdLst>
                <a:gd name="T0" fmla="*/ 0 w 746"/>
                <a:gd name="T1" fmla="*/ 1 h 2092"/>
                <a:gd name="T2" fmla="*/ 3 w 746"/>
                <a:gd name="T3" fmla="*/ 0 h 2092"/>
                <a:gd name="T4" fmla="*/ 3 w 746"/>
                <a:gd name="T5" fmla="*/ 0 h 2092"/>
                <a:gd name="T6" fmla="*/ 0 w 746"/>
                <a:gd name="T7" fmla="*/ 1 h 2092"/>
                <a:gd name="T8" fmla="*/ 0 w 746"/>
                <a:gd name="T9" fmla="*/ 2 h 2092"/>
                <a:gd name="T10" fmla="*/ 0 w 746"/>
                <a:gd name="T11" fmla="*/ 10 h 2092"/>
                <a:gd name="T12" fmla="*/ 0 w 746"/>
                <a:gd name="T13" fmla="*/ 10 h 2092"/>
                <a:gd name="T14" fmla="*/ 0 w 746"/>
                <a:gd name="T15" fmla="*/ 10 h 2092"/>
                <a:gd name="T16" fmla="*/ 0 w 746"/>
                <a:gd name="T17" fmla="*/ 10 h 2092"/>
                <a:gd name="T18" fmla="*/ 0 w 746"/>
                <a:gd name="T19" fmla="*/ 2 h 2092"/>
                <a:gd name="T20" fmla="*/ 0 w 746"/>
                <a:gd name="T21" fmla="*/ 1 h 20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46"/>
                <a:gd name="T34" fmla="*/ 0 h 2092"/>
                <a:gd name="T35" fmla="*/ 746 w 746"/>
                <a:gd name="T36" fmla="*/ 2092 h 209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46" h="2092">
                  <a:moveTo>
                    <a:pt x="106" y="290"/>
                  </a:moveTo>
                  <a:lnTo>
                    <a:pt x="746" y="0"/>
                  </a:lnTo>
                  <a:lnTo>
                    <a:pt x="662" y="1"/>
                  </a:lnTo>
                  <a:lnTo>
                    <a:pt x="22" y="274"/>
                  </a:lnTo>
                  <a:lnTo>
                    <a:pt x="0" y="311"/>
                  </a:lnTo>
                  <a:lnTo>
                    <a:pt x="0" y="2052"/>
                  </a:lnTo>
                  <a:lnTo>
                    <a:pt x="17" y="2080"/>
                  </a:lnTo>
                  <a:lnTo>
                    <a:pt x="112" y="2092"/>
                  </a:lnTo>
                  <a:lnTo>
                    <a:pt x="96" y="2071"/>
                  </a:lnTo>
                  <a:lnTo>
                    <a:pt x="85" y="323"/>
                  </a:lnTo>
                  <a:lnTo>
                    <a:pt x="106" y="2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9" name="Freeform 354"/>
            <p:cNvSpPr>
              <a:spLocks/>
            </p:cNvSpPr>
            <p:nvPr/>
          </p:nvSpPr>
          <p:spPr bwMode="auto">
            <a:xfrm>
              <a:off x="1124" y="3300"/>
              <a:ext cx="130" cy="344"/>
            </a:xfrm>
            <a:custGeom>
              <a:avLst/>
              <a:gdLst>
                <a:gd name="T0" fmla="*/ 3 w 781"/>
                <a:gd name="T1" fmla="*/ 0 h 2066"/>
                <a:gd name="T2" fmla="*/ 4 w 781"/>
                <a:gd name="T3" fmla="*/ 0 h 2066"/>
                <a:gd name="T4" fmla="*/ 3 w 781"/>
                <a:gd name="T5" fmla="*/ 0 h 2066"/>
                <a:gd name="T6" fmla="*/ 0 w 781"/>
                <a:gd name="T7" fmla="*/ 1 h 2066"/>
                <a:gd name="T8" fmla="*/ 0 w 781"/>
                <a:gd name="T9" fmla="*/ 1 h 2066"/>
                <a:gd name="T10" fmla="*/ 0 w 781"/>
                <a:gd name="T11" fmla="*/ 9 h 2066"/>
                <a:gd name="T12" fmla="*/ 0 w 781"/>
                <a:gd name="T13" fmla="*/ 9 h 2066"/>
                <a:gd name="T14" fmla="*/ 0 w 781"/>
                <a:gd name="T15" fmla="*/ 1 h 2066"/>
                <a:gd name="T16" fmla="*/ 0 w 781"/>
                <a:gd name="T17" fmla="*/ 1 h 2066"/>
                <a:gd name="T18" fmla="*/ 3 w 781"/>
                <a:gd name="T19" fmla="*/ 0 h 2066"/>
                <a:gd name="T20" fmla="*/ 3 w 781"/>
                <a:gd name="T21" fmla="*/ 0 h 20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81"/>
                <a:gd name="T34" fmla="*/ 0 h 2066"/>
                <a:gd name="T35" fmla="*/ 781 w 781"/>
                <a:gd name="T36" fmla="*/ 2066 h 20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81" h="2066">
                  <a:moveTo>
                    <a:pt x="758" y="24"/>
                  </a:moveTo>
                  <a:lnTo>
                    <a:pt x="781" y="14"/>
                  </a:lnTo>
                  <a:lnTo>
                    <a:pt x="686" y="0"/>
                  </a:lnTo>
                  <a:lnTo>
                    <a:pt x="23" y="280"/>
                  </a:lnTo>
                  <a:lnTo>
                    <a:pt x="0" y="315"/>
                  </a:lnTo>
                  <a:lnTo>
                    <a:pt x="9" y="2055"/>
                  </a:lnTo>
                  <a:lnTo>
                    <a:pt x="35" y="2066"/>
                  </a:lnTo>
                  <a:lnTo>
                    <a:pt x="35" y="325"/>
                  </a:lnTo>
                  <a:lnTo>
                    <a:pt x="57" y="288"/>
                  </a:lnTo>
                  <a:lnTo>
                    <a:pt x="697" y="15"/>
                  </a:lnTo>
                  <a:lnTo>
                    <a:pt x="758" y="2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0" name="Freeform 355"/>
            <p:cNvSpPr>
              <a:spLocks/>
            </p:cNvSpPr>
            <p:nvPr/>
          </p:nvSpPr>
          <p:spPr bwMode="auto">
            <a:xfrm>
              <a:off x="1126" y="3373"/>
              <a:ext cx="16" cy="27"/>
            </a:xfrm>
            <a:custGeom>
              <a:avLst/>
              <a:gdLst>
                <a:gd name="T0" fmla="*/ 0 w 97"/>
                <a:gd name="T1" fmla="*/ 1 h 162"/>
                <a:gd name="T2" fmla="*/ 0 w 97"/>
                <a:gd name="T3" fmla="*/ 1 h 162"/>
                <a:gd name="T4" fmla="*/ 0 w 97"/>
                <a:gd name="T5" fmla="*/ 0 h 162"/>
                <a:gd name="T6" fmla="*/ 0 w 97"/>
                <a:gd name="T7" fmla="*/ 0 h 162"/>
                <a:gd name="T8" fmla="*/ 0 w 97"/>
                <a:gd name="T9" fmla="*/ 0 h 162"/>
                <a:gd name="T10" fmla="*/ 0 w 97"/>
                <a:gd name="T11" fmla="*/ 1 h 162"/>
                <a:gd name="T12" fmla="*/ 0 w 97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2"/>
                <a:gd name="T23" fmla="*/ 97 w 97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2">
                  <a:moveTo>
                    <a:pt x="80" y="162"/>
                  </a:moveTo>
                  <a:lnTo>
                    <a:pt x="97" y="151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39"/>
                  </a:lnTo>
                  <a:lnTo>
                    <a:pt x="80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" name="Freeform 356"/>
            <p:cNvSpPr>
              <a:spLocks/>
            </p:cNvSpPr>
            <p:nvPr/>
          </p:nvSpPr>
          <p:spPr bwMode="auto">
            <a:xfrm>
              <a:off x="1126" y="3418"/>
              <a:ext cx="16" cy="28"/>
            </a:xfrm>
            <a:custGeom>
              <a:avLst/>
              <a:gdLst>
                <a:gd name="T0" fmla="*/ 0 w 97"/>
                <a:gd name="T1" fmla="*/ 1 h 164"/>
                <a:gd name="T2" fmla="*/ 0 w 97"/>
                <a:gd name="T3" fmla="*/ 1 h 164"/>
                <a:gd name="T4" fmla="*/ 0 w 97"/>
                <a:gd name="T5" fmla="*/ 0 h 164"/>
                <a:gd name="T6" fmla="*/ 0 w 97"/>
                <a:gd name="T7" fmla="*/ 0 h 164"/>
                <a:gd name="T8" fmla="*/ 0 w 97"/>
                <a:gd name="T9" fmla="*/ 0 h 164"/>
                <a:gd name="T10" fmla="*/ 0 w 97"/>
                <a:gd name="T11" fmla="*/ 1 h 164"/>
                <a:gd name="T12" fmla="*/ 0 w 97"/>
                <a:gd name="T13" fmla="*/ 1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"/>
                <a:gd name="T22" fmla="*/ 0 h 164"/>
                <a:gd name="T23" fmla="*/ 97 w 9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" h="164">
                  <a:moveTo>
                    <a:pt x="80" y="164"/>
                  </a:moveTo>
                  <a:lnTo>
                    <a:pt x="97" y="152"/>
                  </a:lnTo>
                  <a:lnTo>
                    <a:pt x="96" y="12"/>
                  </a:lnTo>
                  <a:lnTo>
                    <a:pt x="17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" name="Freeform 357"/>
            <p:cNvSpPr>
              <a:spLocks/>
            </p:cNvSpPr>
            <p:nvPr/>
          </p:nvSpPr>
          <p:spPr bwMode="auto">
            <a:xfrm>
              <a:off x="1126" y="3464"/>
              <a:ext cx="16" cy="27"/>
            </a:xfrm>
            <a:custGeom>
              <a:avLst/>
              <a:gdLst>
                <a:gd name="T0" fmla="*/ 0 w 98"/>
                <a:gd name="T1" fmla="*/ 1 h 162"/>
                <a:gd name="T2" fmla="*/ 0 w 98"/>
                <a:gd name="T3" fmla="*/ 1 h 162"/>
                <a:gd name="T4" fmla="*/ 0 w 98"/>
                <a:gd name="T5" fmla="*/ 0 h 162"/>
                <a:gd name="T6" fmla="*/ 0 w 98"/>
                <a:gd name="T7" fmla="*/ 0 h 162"/>
                <a:gd name="T8" fmla="*/ 0 w 98"/>
                <a:gd name="T9" fmla="*/ 0 h 162"/>
                <a:gd name="T10" fmla="*/ 0 w 98"/>
                <a:gd name="T11" fmla="*/ 1 h 162"/>
                <a:gd name="T12" fmla="*/ 0 w 98"/>
                <a:gd name="T13" fmla="*/ 1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"/>
                <a:gd name="T22" fmla="*/ 0 h 162"/>
                <a:gd name="T23" fmla="*/ 98 w 98"/>
                <a:gd name="T24" fmla="*/ 162 h 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" h="162">
                  <a:moveTo>
                    <a:pt x="81" y="162"/>
                  </a:moveTo>
                  <a:lnTo>
                    <a:pt x="98" y="151"/>
                  </a:lnTo>
                  <a:lnTo>
                    <a:pt x="96" y="10"/>
                  </a:lnTo>
                  <a:lnTo>
                    <a:pt x="17" y="0"/>
                  </a:lnTo>
                  <a:lnTo>
                    <a:pt x="0" y="11"/>
                  </a:lnTo>
                  <a:lnTo>
                    <a:pt x="19" y="140"/>
                  </a:lnTo>
                  <a:lnTo>
                    <a:pt x="81" y="16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3" name="Freeform 358"/>
            <p:cNvSpPr>
              <a:spLocks/>
            </p:cNvSpPr>
            <p:nvPr/>
          </p:nvSpPr>
          <p:spPr bwMode="auto">
            <a:xfrm>
              <a:off x="1127" y="3510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1"/>
                  </a:lnTo>
                  <a:lnTo>
                    <a:pt x="16" y="0"/>
                  </a:lnTo>
                  <a:lnTo>
                    <a:pt x="0" y="11"/>
                  </a:lnTo>
                  <a:lnTo>
                    <a:pt x="17" y="140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4" name="Freeform 359"/>
            <p:cNvSpPr>
              <a:spLocks/>
            </p:cNvSpPr>
            <p:nvPr/>
          </p:nvSpPr>
          <p:spPr bwMode="auto">
            <a:xfrm>
              <a:off x="1127" y="3556"/>
              <a:ext cx="16" cy="27"/>
            </a:xfrm>
            <a:custGeom>
              <a:avLst/>
              <a:gdLst>
                <a:gd name="T0" fmla="*/ 0 w 96"/>
                <a:gd name="T1" fmla="*/ 1 h 163"/>
                <a:gd name="T2" fmla="*/ 1 w 96"/>
                <a:gd name="T3" fmla="*/ 1 h 163"/>
                <a:gd name="T4" fmla="*/ 1 w 96"/>
                <a:gd name="T5" fmla="*/ 0 h 163"/>
                <a:gd name="T6" fmla="*/ 0 w 96"/>
                <a:gd name="T7" fmla="*/ 0 h 163"/>
                <a:gd name="T8" fmla="*/ 0 w 96"/>
                <a:gd name="T9" fmla="*/ 0 h 163"/>
                <a:gd name="T10" fmla="*/ 0 w 96"/>
                <a:gd name="T11" fmla="*/ 1 h 163"/>
                <a:gd name="T12" fmla="*/ 0 w 96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63"/>
                <a:gd name="T23" fmla="*/ 96 w 96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63">
                  <a:moveTo>
                    <a:pt x="80" y="163"/>
                  </a:moveTo>
                  <a:lnTo>
                    <a:pt x="96" y="152"/>
                  </a:lnTo>
                  <a:lnTo>
                    <a:pt x="96" y="12"/>
                  </a:lnTo>
                  <a:lnTo>
                    <a:pt x="16" y="0"/>
                  </a:lnTo>
                  <a:lnTo>
                    <a:pt x="0" y="12"/>
                  </a:lnTo>
                  <a:lnTo>
                    <a:pt x="17" y="141"/>
                  </a:lnTo>
                  <a:lnTo>
                    <a:pt x="80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5" name="Freeform 360"/>
            <p:cNvSpPr>
              <a:spLocks/>
            </p:cNvSpPr>
            <p:nvPr/>
          </p:nvSpPr>
          <p:spPr bwMode="auto">
            <a:xfrm>
              <a:off x="1126" y="3375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6" name="Freeform 361"/>
            <p:cNvSpPr>
              <a:spLocks/>
            </p:cNvSpPr>
            <p:nvPr/>
          </p:nvSpPr>
          <p:spPr bwMode="auto">
            <a:xfrm>
              <a:off x="1126" y="3420"/>
              <a:ext cx="13" cy="26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80" y="11"/>
                  </a:lnTo>
                  <a:lnTo>
                    <a:pt x="0" y="0"/>
                  </a:lnTo>
                  <a:lnTo>
                    <a:pt x="1" y="140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7" name="Freeform 362"/>
            <p:cNvSpPr>
              <a:spLocks/>
            </p:cNvSpPr>
            <p:nvPr/>
          </p:nvSpPr>
          <p:spPr bwMode="auto">
            <a:xfrm>
              <a:off x="1126" y="3466"/>
              <a:ext cx="14" cy="25"/>
            </a:xfrm>
            <a:custGeom>
              <a:avLst/>
              <a:gdLst>
                <a:gd name="T0" fmla="*/ 0 w 81"/>
                <a:gd name="T1" fmla="*/ 1 h 151"/>
                <a:gd name="T2" fmla="*/ 0 w 81"/>
                <a:gd name="T3" fmla="*/ 0 h 151"/>
                <a:gd name="T4" fmla="*/ 0 w 81"/>
                <a:gd name="T5" fmla="*/ 0 h 151"/>
                <a:gd name="T6" fmla="*/ 0 w 81"/>
                <a:gd name="T7" fmla="*/ 1 h 151"/>
                <a:gd name="T8" fmla="*/ 0 w 81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151"/>
                <a:gd name="T17" fmla="*/ 81 w 81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151">
                  <a:moveTo>
                    <a:pt x="81" y="151"/>
                  </a:moveTo>
                  <a:lnTo>
                    <a:pt x="81" y="10"/>
                  </a:lnTo>
                  <a:lnTo>
                    <a:pt x="0" y="0"/>
                  </a:lnTo>
                  <a:lnTo>
                    <a:pt x="2" y="141"/>
                  </a:lnTo>
                  <a:lnTo>
                    <a:pt x="81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8" name="Freeform 363"/>
            <p:cNvSpPr>
              <a:spLocks/>
            </p:cNvSpPr>
            <p:nvPr/>
          </p:nvSpPr>
          <p:spPr bwMode="auto">
            <a:xfrm>
              <a:off x="1127" y="3512"/>
              <a:ext cx="13" cy="25"/>
            </a:xfrm>
            <a:custGeom>
              <a:avLst/>
              <a:gdLst>
                <a:gd name="T0" fmla="*/ 0 w 80"/>
                <a:gd name="T1" fmla="*/ 1 h 152"/>
                <a:gd name="T2" fmla="*/ 0 w 80"/>
                <a:gd name="T3" fmla="*/ 0 h 152"/>
                <a:gd name="T4" fmla="*/ 0 w 80"/>
                <a:gd name="T5" fmla="*/ 0 h 152"/>
                <a:gd name="T6" fmla="*/ 0 w 80"/>
                <a:gd name="T7" fmla="*/ 1 h 152"/>
                <a:gd name="T8" fmla="*/ 0 w 80"/>
                <a:gd name="T9" fmla="*/ 1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80" y="152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1"/>
                  </a:lnTo>
                  <a:lnTo>
                    <a:pt x="80" y="15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9" name="Freeform 364"/>
            <p:cNvSpPr>
              <a:spLocks/>
            </p:cNvSpPr>
            <p:nvPr/>
          </p:nvSpPr>
          <p:spPr bwMode="auto">
            <a:xfrm>
              <a:off x="1127" y="3558"/>
              <a:ext cx="13" cy="25"/>
            </a:xfrm>
            <a:custGeom>
              <a:avLst/>
              <a:gdLst>
                <a:gd name="T0" fmla="*/ 0 w 80"/>
                <a:gd name="T1" fmla="*/ 1 h 151"/>
                <a:gd name="T2" fmla="*/ 0 w 80"/>
                <a:gd name="T3" fmla="*/ 0 h 151"/>
                <a:gd name="T4" fmla="*/ 0 w 80"/>
                <a:gd name="T5" fmla="*/ 0 h 151"/>
                <a:gd name="T6" fmla="*/ 0 w 80"/>
                <a:gd name="T7" fmla="*/ 1 h 151"/>
                <a:gd name="T8" fmla="*/ 0 w 80"/>
                <a:gd name="T9" fmla="*/ 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1"/>
                <a:gd name="T17" fmla="*/ 80 w 80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1">
                  <a:moveTo>
                    <a:pt x="80" y="151"/>
                  </a:moveTo>
                  <a:lnTo>
                    <a:pt x="79" y="11"/>
                  </a:lnTo>
                  <a:lnTo>
                    <a:pt x="0" y="0"/>
                  </a:lnTo>
                  <a:lnTo>
                    <a:pt x="0" y="140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0" name="Freeform 365"/>
            <p:cNvSpPr>
              <a:spLocks/>
            </p:cNvSpPr>
            <p:nvPr/>
          </p:nvSpPr>
          <p:spPr bwMode="auto">
            <a:xfrm>
              <a:off x="1127" y="3377"/>
              <a:ext cx="11" cy="19"/>
            </a:xfrm>
            <a:custGeom>
              <a:avLst/>
              <a:gdLst>
                <a:gd name="T0" fmla="*/ 0 w 65"/>
                <a:gd name="T1" fmla="*/ 0 h 117"/>
                <a:gd name="T2" fmla="*/ 0 w 65"/>
                <a:gd name="T3" fmla="*/ 0 h 117"/>
                <a:gd name="T4" fmla="*/ 0 w 65"/>
                <a:gd name="T5" fmla="*/ 0 h 117"/>
                <a:gd name="T6" fmla="*/ 0 w 65"/>
                <a:gd name="T7" fmla="*/ 0 h 117"/>
                <a:gd name="T8" fmla="*/ 0 w 65"/>
                <a:gd name="T9" fmla="*/ 0 h 117"/>
                <a:gd name="T10" fmla="*/ 0 w 65"/>
                <a:gd name="T11" fmla="*/ 0 h 117"/>
                <a:gd name="T12" fmla="*/ 0 w 6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7"/>
                <a:gd name="T23" fmla="*/ 65 w 65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7">
                  <a:moveTo>
                    <a:pt x="65" y="40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3"/>
                  </a:lnTo>
                  <a:lnTo>
                    <a:pt x="26" y="117"/>
                  </a:lnTo>
                  <a:lnTo>
                    <a:pt x="26" y="30"/>
                  </a:lnTo>
                  <a:lnTo>
                    <a:pt x="65" y="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1" name="Freeform 366"/>
            <p:cNvSpPr>
              <a:spLocks/>
            </p:cNvSpPr>
            <p:nvPr/>
          </p:nvSpPr>
          <p:spPr bwMode="auto">
            <a:xfrm>
              <a:off x="1127" y="3423"/>
              <a:ext cx="11" cy="19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0 h 118"/>
                <a:gd name="T8" fmla="*/ 0 w 65"/>
                <a:gd name="T9" fmla="*/ 0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5"/>
                  </a:lnTo>
                  <a:lnTo>
                    <a:pt x="25" y="118"/>
                  </a:lnTo>
                  <a:lnTo>
                    <a:pt x="25" y="31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2" name="Freeform 367"/>
            <p:cNvSpPr>
              <a:spLocks/>
            </p:cNvSpPr>
            <p:nvPr/>
          </p:nvSpPr>
          <p:spPr bwMode="auto">
            <a:xfrm>
              <a:off x="1128" y="3468"/>
              <a:ext cx="10" cy="20"/>
            </a:xfrm>
            <a:custGeom>
              <a:avLst/>
              <a:gdLst>
                <a:gd name="T0" fmla="*/ 0 w 66"/>
                <a:gd name="T1" fmla="*/ 0 h 119"/>
                <a:gd name="T2" fmla="*/ 0 w 66"/>
                <a:gd name="T3" fmla="*/ 0 h 119"/>
                <a:gd name="T4" fmla="*/ 0 w 66"/>
                <a:gd name="T5" fmla="*/ 0 h 119"/>
                <a:gd name="T6" fmla="*/ 0 w 66"/>
                <a:gd name="T7" fmla="*/ 1 h 119"/>
                <a:gd name="T8" fmla="*/ 0 w 66"/>
                <a:gd name="T9" fmla="*/ 1 h 119"/>
                <a:gd name="T10" fmla="*/ 0 w 66"/>
                <a:gd name="T11" fmla="*/ 0 h 119"/>
                <a:gd name="T12" fmla="*/ 0 w 66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"/>
                <a:gd name="T22" fmla="*/ 0 h 119"/>
                <a:gd name="T23" fmla="*/ 66 w 6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" h="119">
                  <a:moveTo>
                    <a:pt x="66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25" y="119"/>
                  </a:lnTo>
                  <a:lnTo>
                    <a:pt x="25" y="31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3" name="Freeform 368"/>
            <p:cNvSpPr>
              <a:spLocks/>
            </p:cNvSpPr>
            <p:nvPr/>
          </p:nvSpPr>
          <p:spPr bwMode="auto">
            <a:xfrm>
              <a:off x="1128" y="3514"/>
              <a:ext cx="11" cy="20"/>
            </a:xfrm>
            <a:custGeom>
              <a:avLst/>
              <a:gdLst>
                <a:gd name="T0" fmla="*/ 0 w 65"/>
                <a:gd name="T1" fmla="*/ 0 h 119"/>
                <a:gd name="T2" fmla="*/ 0 w 65"/>
                <a:gd name="T3" fmla="*/ 0 h 119"/>
                <a:gd name="T4" fmla="*/ 0 w 65"/>
                <a:gd name="T5" fmla="*/ 0 h 119"/>
                <a:gd name="T6" fmla="*/ 0 w 65"/>
                <a:gd name="T7" fmla="*/ 1 h 119"/>
                <a:gd name="T8" fmla="*/ 0 w 65"/>
                <a:gd name="T9" fmla="*/ 1 h 119"/>
                <a:gd name="T10" fmla="*/ 0 w 65"/>
                <a:gd name="T11" fmla="*/ 0 h 119"/>
                <a:gd name="T12" fmla="*/ 0 w 65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9"/>
                <a:gd name="T23" fmla="*/ 65 w 65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9">
                  <a:moveTo>
                    <a:pt x="65" y="43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5" y="119"/>
                  </a:lnTo>
                  <a:lnTo>
                    <a:pt x="24" y="32"/>
                  </a:lnTo>
                  <a:lnTo>
                    <a:pt x="65" y="4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4" name="Freeform 369"/>
            <p:cNvSpPr>
              <a:spLocks/>
            </p:cNvSpPr>
            <p:nvPr/>
          </p:nvSpPr>
          <p:spPr bwMode="auto">
            <a:xfrm>
              <a:off x="1128" y="3560"/>
              <a:ext cx="11" cy="20"/>
            </a:xfrm>
            <a:custGeom>
              <a:avLst/>
              <a:gdLst>
                <a:gd name="T0" fmla="*/ 0 w 65"/>
                <a:gd name="T1" fmla="*/ 0 h 118"/>
                <a:gd name="T2" fmla="*/ 0 w 65"/>
                <a:gd name="T3" fmla="*/ 0 h 118"/>
                <a:gd name="T4" fmla="*/ 0 w 65"/>
                <a:gd name="T5" fmla="*/ 0 h 118"/>
                <a:gd name="T6" fmla="*/ 0 w 65"/>
                <a:gd name="T7" fmla="*/ 1 h 118"/>
                <a:gd name="T8" fmla="*/ 0 w 65"/>
                <a:gd name="T9" fmla="*/ 1 h 118"/>
                <a:gd name="T10" fmla="*/ 0 w 65"/>
                <a:gd name="T11" fmla="*/ 0 h 118"/>
                <a:gd name="T12" fmla="*/ 0 w 65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118"/>
                <a:gd name="T23" fmla="*/ 65 w 65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118">
                  <a:moveTo>
                    <a:pt x="65" y="42"/>
                  </a:moveTo>
                  <a:lnTo>
                    <a:pt x="65" y="9"/>
                  </a:lnTo>
                  <a:lnTo>
                    <a:pt x="0" y="0"/>
                  </a:lnTo>
                  <a:lnTo>
                    <a:pt x="1" y="115"/>
                  </a:lnTo>
                  <a:lnTo>
                    <a:pt x="26" y="118"/>
                  </a:lnTo>
                  <a:lnTo>
                    <a:pt x="26" y="32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5" name="Freeform 370"/>
            <p:cNvSpPr>
              <a:spLocks/>
            </p:cNvSpPr>
            <p:nvPr/>
          </p:nvSpPr>
          <p:spPr bwMode="auto">
            <a:xfrm>
              <a:off x="1132" y="3383"/>
              <a:ext cx="6" cy="15"/>
            </a:xfrm>
            <a:custGeom>
              <a:avLst/>
              <a:gdLst>
                <a:gd name="T0" fmla="*/ 0 w 41"/>
                <a:gd name="T1" fmla="*/ 0 h 93"/>
                <a:gd name="T2" fmla="*/ 0 w 41"/>
                <a:gd name="T3" fmla="*/ 0 h 93"/>
                <a:gd name="T4" fmla="*/ 0 w 41"/>
                <a:gd name="T5" fmla="*/ 0 h 93"/>
                <a:gd name="T6" fmla="*/ 0 w 41"/>
                <a:gd name="T7" fmla="*/ 0 h 93"/>
                <a:gd name="T8" fmla="*/ 0 w 41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3"/>
                <a:gd name="T17" fmla="*/ 41 w 41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3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3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6" name="Freeform 371"/>
            <p:cNvSpPr>
              <a:spLocks/>
            </p:cNvSpPr>
            <p:nvPr/>
          </p:nvSpPr>
          <p:spPr bwMode="auto">
            <a:xfrm>
              <a:off x="1132" y="3428"/>
              <a:ext cx="7" cy="16"/>
            </a:xfrm>
            <a:custGeom>
              <a:avLst/>
              <a:gdLst>
                <a:gd name="T0" fmla="*/ 0 w 41"/>
                <a:gd name="T1" fmla="*/ 0 h 92"/>
                <a:gd name="T2" fmla="*/ 0 w 41"/>
                <a:gd name="T3" fmla="*/ 0 h 92"/>
                <a:gd name="T4" fmla="*/ 0 w 41"/>
                <a:gd name="T5" fmla="*/ 1 h 92"/>
                <a:gd name="T6" fmla="*/ 0 w 41"/>
                <a:gd name="T7" fmla="*/ 1 h 92"/>
                <a:gd name="T8" fmla="*/ 0 w 41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92"/>
                <a:gd name="T17" fmla="*/ 41 w 41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92">
                  <a:moveTo>
                    <a:pt x="41" y="11"/>
                  </a:moveTo>
                  <a:lnTo>
                    <a:pt x="0" y="0"/>
                  </a:lnTo>
                  <a:lnTo>
                    <a:pt x="1" y="87"/>
                  </a:lnTo>
                  <a:lnTo>
                    <a:pt x="41" y="92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7" name="Freeform 372"/>
            <p:cNvSpPr>
              <a:spLocks/>
            </p:cNvSpPr>
            <p:nvPr/>
          </p:nvSpPr>
          <p:spPr bwMode="auto">
            <a:xfrm>
              <a:off x="1132" y="3474"/>
              <a:ext cx="7" cy="16"/>
            </a:xfrm>
            <a:custGeom>
              <a:avLst/>
              <a:gdLst>
                <a:gd name="T0" fmla="*/ 0 w 39"/>
                <a:gd name="T1" fmla="*/ 0 h 92"/>
                <a:gd name="T2" fmla="*/ 0 w 39"/>
                <a:gd name="T3" fmla="*/ 0 h 92"/>
                <a:gd name="T4" fmla="*/ 0 w 39"/>
                <a:gd name="T5" fmla="*/ 1 h 92"/>
                <a:gd name="T6" fmla="*/ 0 w 39"/>
                <a:gd name="T7" fmla="*/ 1 h 92"/>
                <a:gd name="T8" fmla="*/ 0 w 39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92"/>
                <a:gd name="T17" fmla="*/ 39 w 39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92">
                  <a:moveTo>
                    <a:pt x="39" y="1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39" y="92"/>
                  </a:lnTo>
                  <a:lnTo>
                    <a:pt x="39" y="1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8" name="Freeform 373"/>
            <p:cNvSpPr>
              <a:spLocks/>
            </p:cNvSpPr>
            <p:nvPr/>
          </p:nvSpPr>
          <p:spPr bwMode="auto">
            <a:xfrm>
              <a:off x="1132" y="3520"/>
              <a:ext cx="7" cy="16"/>
            </a:xfrm>
            <a:custGeom>
              <a:avLst/>
              <a:gdLst>
                <a:gd name="T0" fmla="*/ 0 w 40"/>
                <a:gd name="T1" fmla="*/ 0 h 94"/>
                <a:gd name="T2" fmla="*/ 0 w 40"/>
                <a:gd name="T3" fmla="*/ 0 h 94"/>
                <a:gd name="T4" fmla="*/ 0 w 40"/>
                <a:gd name="T5" fmla="*/ 1 h 94"/>
                <a:gd name="T6" fmla="*/ 0 w 40"/>
                <a:gd name="T7" fmla="*/ 1 h 94"/>
                <a:gd name="T8" fmla="*/ 0 w 4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4"/>
                <a:gd name="T17" fmla="*/ 40 w 40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4">
                  <a:moveTo>
                    <a:pt x="39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4"/>
                  </a:lnTo>
                  <a:lnTo>
                    <a:pt x="39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9" name="Freeform 374"/>
            <p:cNvSpPr>
              <a:spLocks/>
            </p:cNvSpPr>
            <p:nvPr/>
          </p:nvSpPr>
          <p:spPr bwMode="auto">
            <a:xfrm>
              <a:off x="1133" y="3566"/>
              <a:ext cx="6" cy="16"/>
            </a:xfrm>
            <a:custGeom>
              <a:avLst/>
              <a:gdLst>
                <a:gd name="T0" fmla="*/ 0 w 40"/>
                <a:gd name="T1" fmla="*/ 0 h 93"/>
                <a:gd name="T2" fmla="*/ 0 w 40"/>
                <a:gd name="T3" fmla="*/ 0 h 93"/>
                <a:gd name="T4" fmla="*/ 0 w 40"/>
                <a:gd name="T5" fmla="*/ 1 h 93"/>
                <a:gd name="T6" fmla="*/ 0 w 40"/>
                <a:gd name="T7" fmla="*/ 1 h 93"/>
                <a:gd name="T8" fmla="*/ 0 w 40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93"/>
                <a:gd name="T17" fmla="*/ 40 w 40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93">
                  <a:moveTo>
                    <a:pt x="40" y="11"/>
                  </a:moveTo>
                  <a:lnTo>
                    <a:pt x="0" y="0"/>
                  </a:lnTo>
                  <a:lnTo>
                    <a:pt x="0" y="88"/>
                  </a:lnTo>
                  <a:lnTo>
                    <a:pt x="40" y="93"/>
                  </a:lnTo>
                  <a:lnTo>
                    <a:pt x="40" y="11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0" name="Freeform 375"/>
            <p:cNvSpPr>
              <a:spLocks/>
            </p:cNvSpPr>
            <p:nvPr/>
          </p:nvSpPr>
          <p:spPr bwMode="auto">
            <a:xfrm>
              <a:off x="1126" y="3588"/>
              <a:ext cx="19" cy="66"/>
            </a:xfrm>
            <a:custGeom>
              <a:avLst/>
              <a:gdLst>
                <a:gd name="T0" fmla="*/ 0 w 115"/>
                <a:gd name="T1" fmla="*/ 0 h 390"/>
                <a:gd name="T2" fmla="*/ 0 w 115"/>
                <a:gd name="T3" fmla="*/ 0 h 390"/>
                <a:gd name="T4" fmla="*/ 0 w 115"/>
                <a:gd name="T5" fmla="*/ 0 h 390"/>
                <a:gd name="T6" fmla="*/ 0 w 115"/>
                <a:gd name="T7" fmla="*/ 0 h 390"/>
                <a:gd name="T8" fmla="*/ 0 w 115"/>
                <a:gd name="T9" fmla="*/ 0 h 390"/>
                <a:gd name="T10" fmla="*/ 0 w 115"/>
                <a:gd name="T11" fmla="*/ 0 h 390"/>
                <a:gd name="T12" fmla="*/ 0 w 115"/>
                <a:gd name="T13" fmla="*/ 0 h 390"/>
                <a:gd name="T14" fmla="*/ 0 w 115"/>
                <a:gd name="T15" fmla="*/ 0 h 390"/>
                <a:gd name="T16" fmla="*/ 0 w 115"/>
                <a:gd name="T17" fmla="*/ 0 h 390"/>
                <a:gd name="T18" fmla="*/ 0 w 115"/>
                <a:gd name="T19" fmla="*/ 0 h 390"/>
                <a:gd name="T20" fmla="*/ 0 w 115"/>
                <a:gd name="T21" fmla="*/ 0 h 390"/>
                <a:gd name="T22" fmla="*/ 0 w 115"/>
                <a:gd name="T23" fmla="*/ 0 h 390"/>
                <a:gd name="T24" fmla="*/ 0 w 115"/>
                <a:gd name="T25" fmla="*/ 0 h 390"/>
                <a:gd name="T26" fmla="*/ 0 w 115"/>
                <a:gd name="T27" fmla="*/ 0 h 390"/>
                <a:gd name="T28" fmla="*/ 0 w 115"/>
                <a:gd name="T29" fmla="*/ 0 h 390"/>
                <a:gd name="T30" fmla="*/ 0 w 115"/>
                <a:gd name="T31" fmla="*/ 0 h 390"/>
                <a:gd name="T32" fmla="*/ 0 w 115"/>
                <a:gd name="T33" fmla="*/ 0 h 390"/>
                <a:gd name="T34" fmla="*/ 0 w 115"/>
                <a:gd name="T35" fmla="*/ 0 h 390"/>
                <a:gd name="T36" fmla="*/ 0 w 115"/>
                <a:gd name="T37" fmla="*/ 2 h 390"/>
                <a:gd name="T38" fmla="*/ 0 w 115"/>
                <a:gd name="T39" fmla="*/ 2 h 390"/>
                <a:gd name="T40" fmla="*/ 0 w 115"/>
                <a:gd name="T41" fmla="*/ 2 h 390"/>
                <a:gd name="T42" fmla="*/ 0 w 115"/>
                <a:gd name="T43" fmla="*/ 2 h 390"/>
                <a:gd name="T44" fmla="*/ 0 w 115"/>
                <a:gd name="T45" fmla="*/ 2 h 390"/>
                <a:gd name="T46" fmla="*/ 0 w 115"/>
                <a:gd name="T47" fmla="*/ 2 h 390"/>
                <a:gd name="T48" fmla="*/ 0 w 115"/>
                <a:gd name="T49" fmla="*/ 2 h 390"/>
                <a:gd name="T50" fmla="*/ 0 w 115"/>
                <a:gd name="T51" fmla="*/ 2 h 390"/>
                <a:gd name="T52" fmla="*/ 0 w 115"/>
                <a:gd name="T53" fmla="*/ 2 h 390"/>
                <a:gd name="T54" fmla="*/ 0 w 115"/>
                <a:gd name="T55" fmla="*/ 2 h 390"/>
                <a:gd name="T56" fmla="*/ 0 w 115"/>
                <a:gd name="T57" fmla="*/ 2 h 390"/>
                <a:gd name="T58" fmla="*/ 0 w 115"/>
                <a:gd name="T59" fmla="*/ 2 h 390"/>
                <a:gd name="T60" fmla="*/ 0 w 115"/>
                <a:gd name="T61" fmla="*/ 2 h 390"/>
                <a:gd name="T62" fmla="*/ 0 w 115"/>
                <a:gd name="T63" fmla="*/ 2 h 390"/>
                <a:gd name="T64" fmla="*/ 0 w 115"/>
                <a:gd name="T65" fmla="*/ 2 h 390"/>
                <a:gd name="T66" fmla="*/ 0 w 115"/>
                <a:gd name="T67" fmla="*/ 2 h 390"/>
                <a:gd name="T68" fmla="*/ 0 w 115"/>
                <a:gd name="T69" fmla="*/ 2 h 390"/>
                <a:gd name="T70" fmla="*/ 0 w 115"/>
                <a:gd name="T71" fmla="*/ 2 h 390"/>
                <a:gd name="T72" fmla="*/ 0 w 115"/>
                <a:gd name="T73" fmla="*/ 0 h 3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5"/>
                <a:gd name="T112" fmla="*/ 0 h 390"/>
                <a:gd name="T113" fmla="*/ 115 w 115"/>
                <a:gd name="T114" fmla="*/ 390 h 3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5" h="390">
                  <a:moveTo>
                    <a:pt x="114" y="28"/>
                  </a:moveTo>
                  <a:lnTo>
                    <a:pt x="113" y="20"/>
                  </a:lnTo>
                  <a:lnTo>
                    <a:pt x="109" y="13"/>
                  </a:lnTo>
                  <a:lnTo>
                    <a:pt x="102" y="9"/>
                  </a:lnTo>
                  <a:lnTo>
                    <a:pt x="94" y="6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7"/>
                  </a:lnTo>
                  <a:lnTo>
                    <a:pt x="10" y="11"/>
                  </a:lnTo>
                  <a:lnTo>
                    <a:pt x="5" y="18"/>
                  </a:lnTo>
                  <a:lnTo>
                    <a:pt x="1" y="26"/>
                  </a:lnTo>
                  <a:lnTo>
                    <a:pt x="0" y="35"/>
                  </a:lnTo>
                  <a:lnTo>
                    <a:pt x="1" y="362"/>
                  </a:lnTo>
                  <a:lnTo>
                    <a:pt x="2" y="370"/>
                  </a:lnTo>
                  <a:lnTo>
                    <a:pt x="7" y="377"/>
                  </a:lnTo>
                  <a:lnTo>
                    <a:pt x="14" y="382"/>
                  </a:lnTo>
                  <a:lnTo>
                    <a:pt x="22" y="385"/>
                  </a:lnTo>
                  <a:lnTo>
                    <a:pt x="61" y="390"/>
                  </a:lnTo>
                  <a:lnTo>
                    <a:pt x="66" y="390"/>
                  </a:lnTo>
                  <a:lnTo>
                    <a:pt x="70" y="390"/>
                  </a:lnTo>
                  <a:lnTo>
                    <a:pt x="76" y="390"/>
                  </a:lnTo>
                  <a:lnTo>
                    <a:pt x="80" y="389"/>
                  </a:lnTo>
                  <a:lnTo>
                    <a:pt x="86" y="389"/>
                  </a:lnTo>
                  <a:lnTo>
                    <a:pt x="91" y="388"/>
                  </a:lnTo>
                  <a:lnTo>
                    <a:pt x="95" y="386"/>
                  </a:lnTo>
                  <a:lnTo>
                    <a:pt x="98" y="385"/>
                  </a:lnTo>
                  <a:lnTo>
                    <a:pt x="105" y="379"/>
                  </a:lnTo>
                  <a:lnTo>
                    <a:pt x="111" y="372"/>
                  </a:lnTo>
                  <a:lnTo>
                    <a:pt x="114" y="364"/>
                  </a:lnTo>
                  <a:lnTo>
                    <a:pt x="115" y="355"/>
                  </a:lnTo>
                  <a:lnTo>
                    <a:pt x="114" y="2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1" name="Freeform 376"/>
            <p:cNvSpPr>
              <a:spLocks/>
            </p:cNvSpPr>
            <p:nvPr/>
          </p:nvSpPr>
          <p:spPr bwMode="auto">
            <a:xfrm>
              <a:off x="1126" y="3591"/>
              <a:ext cx="13" cy="63"/>
            </a:xfrm>
            <a:custGeom>
              <a:avLst/>
              <a:gdLst>
                <a:gd name="T0" fmla="*/ 0 w 80"/>
                <a:gd name="T1" fmla="*/ 2 h 372"/>
                <a:gd name="T2" fmla="*/ 0 w 80"/>
                <a:gd name="T3" fmla="*/ 2 h 372"/>
                <a:gd name="T4" fmla="*/ 0 w 80"/>
                <a:gd name="T5" fmla="*/ 2 h 372"/>
                <a:gd name="T6" fmla="*/ 0 w 80"/>
                <a:gd name="T7" fmla="*/ 2 h 372"/>
                <a:gd name="T8" fmla="*/ 0 w 80"/>
                <a:gd name="T9" fmla="*/ 2 h 372"/>
                <a:gd name="T10" fmla="*/ 0 w 80"/>
                <a:gd name="T11" fmla="*/ 0 h 372"/>
                <a:gd name="T12" fmla="*/ 0 w 80"/>
                <a:gd name="T13" fmla="*/ 0 h 372"/>
                <a:gd name="T14" fmla="*/ 0 w 80"/>
                <a:gd name="T15" fmla="*/ 0 h 372"/>
                <a:gd name="T16" fmla="*/ 0 w 80"/>
                <a:gd name="T17" fmla="*/ 0 h 372"/>
                <a:gd name="T18" fmla="*/ 0 w 80"/>
                <a:gd name="T19" fmla="*/ 0 h 372"/>
                <a:gd name="T20" fmla="*/ 0 w 80"/>
                <a:gd name="T21" fmla="*/ 0 h 372"/>
                <a:gd name="T22" fmla="*/ 0 w 80"/>
                <a:gd name="T23" fmla="*/ 0 h 372"/>
                <a:gd name="T24" fmla="*/ 0 w 80"/>
                <a:gd name="T25" fmla="*/ 0 h 372"/>
                <a:gd name="T26" fmla="*/ 0 w 80"/>
                <a:gd name="T27" fmla="*/ 0 h 372"/>
                <a:gd name="T28" fmla="*/ 0 w 80"/>
                <a:gd name="T29" fmla="*/ 0 h 372"/>
                <a:gd name="T30" fmla="*/ 0 w 80"/>
                <a:gd name="T31" fmla="*/ 2 h 372"/>
                <a:gd name="T32" fmla="*/ 0 w 80"/>
                <a:gd name="T33" fmla="*/ 2 h 372"/>
                <a:gd name="T34" fmla="*/ 0 w 80"/>
                <a:gd name="T35" fmla="*/ 2 h 372"/>
                <a:gd name="T36" fmla="*/ 0 w 80"/>
                <a:gd name="T37" fmla="*/ 2 h 372"/>
                <a:gd name="T38" fmla="*/ 0 w 80"/>
                <a:gd name="T39" fmla="*/ 2 h 372"/>
                <a:gd name="T40" fmla="*/ 0 w 80"/>
                <a:gd name="T41" fmla="*/ 2 h 3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372"/>
                <a:gd name="T65" fmla="*/ 80 w 80"/>
                <a:gd name="T66" fmla="*/ 372 h 3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372">
                  <a:moveTo>
                    <a:pt x="61" y="372"/>
                  </a:moveTo>
                  <a:lnTo>
                    <a:pt x="69" y="371"/>
                  </a:lnTo>
                  <a:lnTo>
                    <a:pt x="76" y="369"/>
                  </a:lnTo>
                  <a:lnTo>
                    <a:pt x="79" y="363"/>
                  </a:lnTo>
                  <a:lnTo>
                    <a:pt x="80" y="355"/>
                  </a:lnTo>
                  <a:lnTo>
                    <a:pt x="79" y="28"/>
                  </a:lnTo>
                  <a:lnTo>
                    <a:pt x="78" y="20"/>
                  </a:lnTo>
                  <a:lnTo>
                    <a:pt x="74" y="13"/>
                  </a:lnTo>
                  <a:lnTo>
                    <a:pt x="67" y="8"/>
                  </a:lnTo>
                  <a:lnTo>
                    <a:pt x="59" y="6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5" y="3"/>
                  </a:lnTo>
                  <a:lnTo>
                    <a:pt x="1" y="9"/>
                  </a:lnTo>
                  <a:lnTo>
                    <a:pt x="0" y="17"/>
                  </a:lnTo>
                  <a:lnTo>
                    <a:pt x="1" y="344"/>
                  </a:lnTo>
                  <a:lnTo>
                    <a:pt x="2" y="352"/>
                  </a:lnTo>
                  <a:lnTo>
                    <a:pt x="7" y="359"/>
                  </a:lnTo>
                  <a:lnTo>
                    <a:pt x="14" y="364"/>
                  </a:lnTo>
                  <a:lnTo>
                    <a:pt x="22" y="367"/>
                  </a:lnTo>
                  <a:lnTo>
                    <a:pt x="61" y="37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30" name="Group 377"/>
          <p:cNvGrpSpPr>
            <a:grpSpLocks/>
          </p:cNvGrpSpPr>
          <p:nvPr/>
        </p:nvGrpSpPr>
        <p:grpSpPr bwMode="auto">
          <a:xfrm>
            <a:off x="8756650" y="5618163"/>
            <a:ext cx="590550" cy="582612"/>
            <a:chOff x="4550" y="3770"/>
            <a:chExt cx="372" cy="367"/>
          </a:xfrm>
        </p:grpSpPr>
        <p:sp>
          <p:nvSpPr>
            <p:cNvPr id="3148" name="Rectangle 378"/>
            <p:cNvSpPr>
              <a:spLocks noChangeArrowheads="1"/>
            </p:cNvSpPr>
            <p:nvPr/>
          </p:nvSpPr>
          <p:spPr bwMode="auto">
            <a:xfrm>
              <a:off x="4553" y="3774"/>
              <a:ext cx="367" cy="303"/>
            </a:xfrm>
            <a:prstGeom prst="rect">
              <a:avLst/>
            </a:pr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2857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9" name="Rectangle 379"/>
            <p:cNvSpPr>
              <a:spLocks noChangeArrowheads="1"/>
            </p:cNvSpPr>
            <p:nvPr/>
          </p:nvSpPr>
          <p:spPr bwMode="auto">
            <a:xfrm>
              <a:off x="4668" y="4071"/>
              <a:ext cx="156" cy="47"/>
            </a:xfrm>
            <a:prstGeom prst="rect">
              <a:avLst/>
            </a:prstGeom>
            <a:solidFill>
              <a:srgbClr val="5F5F5F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0" name="Rectangle 380"/>
            <p:cNvSpPr>
              <a:spLocks noChangeArrowheads="1"/>
            </p:cNvSpPr>
            <p:nvPr/>
          </p:nvSpPr>
          <p:spPr bwMode="auto">
            <a:xfrm>
              <a:off x="4553" y="3770"/>
              <a:ext cx="369" cy="31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151" name="Picture 381" descr="video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550" y="3787"/>
              <a:ext cx="363" cy="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52" name="Line 382"/>
            <p:cNvSpPr>
              <a:spLocks noChangeShapeType="1"/>
            </p:cNvSpPr>
            <p:nvPr/>
          </p:nvSpPr>
          <p:spPr bwMode="auto">
            <a:xfrm>
              <a:off x="4579" y="4136"/>
              <a:ext cx="325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3131" name="Group 383"/>
          <p:cNvGrpSpPr>
            <a:grpSpLocks/>
          </p:cNvGrpSpPr>
          <p:nvPr/>
        </p:nvGrpSpPr>
        <p:grpSpPr bwMode="auto">
          <a:xfrm>
            <a:off x="2649539" y="3190876"/>
            <a:ext cx="365125" cy="403225"/>
            <a:chOff x="557" y="2482"/>
            <a:chExt cx="270" cy="262"/>
          </a:xfrm>
        </p:grpSpPr>
        <p:sp>
          <p:nvSpPr>
            <p:cNvPr id="3145" name="Rectangle 384"/>
            <p:cNvSpPr>
              <a:spLocks noChangeArrowheads="1"/>
            </p:cNvSpPr>
            <p:nvPr/>
          </p:nvSpPr>
          <p:spPr bwMode="auto">
            <a:xfrm>
              <a:off x="628" y="2680"/>
              <a:ext cx="114" cy="47"/>
            </a:xfrm>
            <a:prstGeom prst="rect">
              <a:avLst/>
            </a:prstGeom>
            <a:solidFill>
              <a:srgbClr val="5F5F5F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6" name="Rectangle 385"/>
            <p:cNvSpPr>
              <a:spLocks noChangeArrowheads="1"/>
            </p:cNvSpPr>
            <p:nvPr/>
          </p:nvSpPr>
          <p:spPr bwMode="auto">
            <a:xfrm>
              <a:off x="557" y="2482"/>
              <a:ext cx="270" cy="207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7" name="Line 386"/>
            <p:cNvSpPr>
              <a:spLocks noChangeShapeType="1"/>
            </p:cNvSpPr>
            <p:nvPr/>
          </p:nvSpPr>
          <p:spPr bwMode="auto">
            <a:xfrm>
              <a:off x="568" y="2743"/>
              <a:ext cx="238" cy="1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3132" name="Group 387"/>
          <p:cNvGrpSpPr>
            <a:grpSpLocks/>
          </p:cNvGrpSpPr>
          <p:nvPr/>
        </p:nvGrpSpPr>
        <p:grpSpPr bwMode="auto">
          <a:xfrm>
            <a:off x="7208839" y="5235576"/>
            <a:ext cx="365125" cy="403225"/>
            <a:chOff x="557" y="2482"/>
            <a:chExt cx="270" cy="262"/>
          </a:xfrm>
        </p:grpSpPr>
        <p:sp>
          <p:nvSpPr>
            <p:cNvPr id="3142" name="Rectangle 388"/>
            <p:cNvSpPr>
              <a:spLocks noChangeArrowheads="1"/>
            </p:cNvSpPr>
            <p:nvPr/>
          </p:nvSpPr>
          <p:spPr bwMode="auto">
            <a:xfrm>
              <a:off x="628" y="2680"/>
              <a:ext cx="114" cy="47"/>
            </a:xfrm>
            <a:prstGeom prst="rect">
              <a:avLst/>
            </a:prstGeom>
            <a:solidFill>
              <a:srgbClr val="5F5F5F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" name="Rectangle 389"/>
            <p:cNvSpPr>
              <a:spLocks noChangeArrowheads="1"/>
            </p:cNvSpPr>
            <p:nvPr/>
          </p:nvSpPr>
          <p:spPr bwMode="auto">
            <a:xfrm>
              <a:off x="557" y="2482"/>
              <a:ext cx="270" cy="207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4" name="Line 390"/>
            <p:cNvSpPr>
              <a:spLocks noChangeShapeType="1"/>
            </p:cNvSpPr>
            <p:nvPr/>
          </p:nvSpPr>
          <p:spPr bwMode="auto">
            <a:xfrm>
              <a:off x="568" y="2743"/>
              <a:ext cx="238" cy="1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3133" name="Group 391"/>
          <p:cNvGrpSpPr>
            <a:grpSpLocks/>
          </p:cNvGrpSpPr>
          <p:nvPr/>
        </p:nvGrpSpPr>
        <p:grpSpPr bwMode="auto">
          <a:xfrm>
            <a:off x="7920039" y="5248276"/>
            <a:ext cx="365125" cy="403225"/>
            <a:chOff x="557" y="2482"/>
            <a:chExt cx="270" cy="262"/>
          </a:xfrm>
        </p:grpSpPr>
        <p:sp>
          <p:nvSpPr>
            <p:cNvPr id="3139" name="Rectangle 392"/>
            <p:cNvSpPr>
              <a:spLocks noChangeArrowheads="1"/>
            </p:cNvSpPr>
            <p:nvPr/>
          </p:nvSpPr>
          <p:spPr bwMode="auto">
            <a:xfrm>
              <a:off x="628" y="2680"/>
              <a:ext cx="114" cy="47"/>
            </a:xfrm>
            <a:prstGeom prst="rect">
              <a:avLst/>
            </a:prstGeom>
            <a:solidFill>
              <a:srgbClr val="5F5F5F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0" name="Rectangle 393"/>
            <p:cNvSpPr>
              <a:spLocks noChangeArrowheads="1"/>
            </p:cNvSpPr>
            <p:nvPr/>
          </p:nvSpPr>
          <p:spPr bwMode="auto">
            <a:xfrm>
              <a:off x="557" y="2482"/>
              <a:ext cx="270" cy="207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1" name="Line 394"/>
            <p:cNvSpPr>
              <a:spLocks noChangeShapeType="1"/>
            </p:cNvSpPr>
            <p:nvPr/>
          </p:nvSpPr>
          <p:spPr bwMode="auto">
            <a:xfrm>
              <a:off x="568" y="2743"/>
              <a:ext cx="238" cy="1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3134" name="Group 395"/>
          <p:cNvGrpSpPr>
            <a:grpSpLocks/>
          </p:cNvGrpSpPr>
          <p:nvPr/>
        </p:nvGrpSpPr>
        <p:grpSpPr bwMode="auto">
          <a:xfrm>
            <a:off x="8199439" y="5616576"/>
            <a:ext cx="365125" cy="403225"/>
            <a:chOff x="557" y="2482"/>
            <a:chExt cx="270" cy="262"/>
          </a:xfrm>
        </p:grpSpPr>
        <p:sp>
          <p:nvSpPr>
            <p:cNvPr id="3136" name="Rectangle 396"/>
            <p:cNvSpPr>
              <a:spLocks noChangeArrowheads="1"/>
            </p:cNvSpPr>
            <p:nvPr/>
          </p:nvSpPr>
          <p:spPr bwMode="auto">
            <a:xfrm>
              <a:off x="628" y="2680"/>
              <a:ext cx="114" cy="47"/>
            </a:xfrm>
            <a:prstGeom prst="rect">
              <a:avLst/>
            </a:prstGeom>
            <a:solidFill>
              <a:srgbClr val="5F5F5F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7" name="Rectangle 397"/>
            <p:cNvSpPr>
              <a:spLocks noChangeArrowheads="1"/>
            </p:cNvSpPr>
            <p:nvPr/>
          </p:nvSpPr>
          <p:spPr bwMode="auto">
            <a:xfrm>
              <a:off x="557" y="2482"/>
              <a:ext cx="270" cy="207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8" name="Line 398"/>
            <p:cNvSpPr>
              <a:spLocks noChangeShapeType="1"/>
            </p:cNvSpPr>
            <p:nvPr/>
          </p:nvSpPr>
          <p:spPr bwMode="auto">
            <a:xfrm>
              <a:off x="568" y="2743"/>
              <a:ext cx="238" cy="1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247183" name="Text Box 399"/>
          <p:cNvSpPr txBox="1">
            <a:spLocks noChangeArrowheads="1"/>
          </p:cNvSpPr>
          <p:nvPr/>
        </p:nvSpPr>
        <p:spPr bwMode="auto">
          <a:xfrm>
            <a:off x="6697664" y="4068764"/>
            <a:ext cx="12223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</a:rPr>
              <a:t>request/</a:t>
            </a:r>
          </a:p>
          <a:p>
            <a:pPr algn="ctr"/>
            <a:r>
              <a:rPr lang="en-US" sz="2000">
                <a:solidFill>
                  <a:schemeClr val="accent2"/>
                </a:solidFill>
              </a:rPr>
              <a:t>reply</a:t>
            </a:r>
            <a:endParaRPr lang="en-US" sz="2400">
              <a:latin typeface="Times New Roman" pitchFamily="18" charset="0"/>
            </a:endParaRP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6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6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6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6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6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6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41" grpId="0" build="p" autoUpdateAnimBg="0"/>
      <p:bldP spid="24718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/>
              <a:t>Call Admission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914608"/>
            <a:ext cx="10562542" cy="5300662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3200" dirty="0"/>
              <a:t>Arriving session must: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Declare its QoS requirement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Reservation Specification (</a:t>
            </a:r>
            <a:r>
              <a:rPr lang="en-US" sz="2800" dirty="0" err="1">
                <a:solidFill>
                  <a:srgbClr val="0070C0"/>
                </a:solidFill>
              </a:rPr>
              <a:t>Rspec</a:t>
            </a:r>
            <a:r>
              <a:rPr lang="en-US" sz="2800" dirty="0">
                <a:solidFill>
                  <a:srgbClr val="0070C0"/>
                </a:solidFill>
              </a:rPr>
              <a:t>):</a:t>
            </a:r>
            <a:r>
              <a:rPr lang="en-US" sz="2800" dirty="0"/>
              <a:t> defines the QoS being requested, e.g., bandwidth needed (</a:t>
            </a:r>
            <a:r>
              <a:rPr lang="en-US" sz="2800" i="1" dirty="0"/>
              <a:t>rate r</a:t>
            </a:r>
            <a:r>
              <a:rPr lang="en-US" sz="2800" dirty="0"/>
              <a:t>)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Characterize traffic it will send into network</a:t>
            </a:r>
            <a:endParaRPr lang="en-US" sz="2800" b="1" dirty="0"/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Traffic Specification (</a:t>
            </a:r>
            <a:r>
              <a:rPr lang="en-US" sz="2800" dirty="0" err="1">
                <a:solidFill>
                  <a:srgbClr val="0070C0"/>
                </a:solidFill>
              </a:rPr>
              <a:t>Tspec</a:t>
            </a:r>
            <a:r>
              <a:rPr lang="en-US" sz="2800" dirty="0">
                <a:solidFill>
                  <a:srgbClr val="0070C0"/>
                </a:solidFill>
              </a:rPr>
              <a:t>):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/>
              <a:t>defines traffic characteristics, e.g., average bit rate and maximum burst size </a:t>
            </a:r>
            <a:r>
              <a:rPr lang="en-US" sz="2400" dirty="0"/>
              <a:t>(</a:t>
            </a:r>
            <a:r>
              <a:rPr lang="en-US" sz="2400" i="1" dirty="0"/>
              <a:t>leaky bucket with rate r and buffer size b</a:t>
            </a:r>
            <a:r>
              <a:rPr lang="en-US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Signaling protocol: needed to carry R-spec and T-spec to routers (where reservation is required)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RSVP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984F-697F-4CE9-388E-65C713EF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E5E0CAD4-DAA1-F38E-DA23-50C785898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5862E96-31F9-A83C-C03B-E7D854C21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/>
              <a:t>Packet Scheduling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F2104E3-AC6C-7BD8-D37B-59603BB80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1010652"/>
            <a:ext cx="10562542" cy="5204617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Guarantee Service</a:t>
            </a:r>
          </a:p>
          <a:p>
            <a:pPr lvl="1">
              <a:spcBef>
                <a:spcPts val="180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3600" dirty="0"/>
              <a:t>Use token bucket filter to characterize traffic</a:t>
            </a:r>
          </a:p>
          <a:p>
            <a:pPr lvl="2">
              <a:spcBef>
                <a:spcPts val="1800"/>
              </a:spcBef>
              <a:spcAft>
                <a:spcPts val="1200"/>
              </a:spcAft>
              <a:buSzPct val="80000"/>
              <a:buFont typeface="Wingdings" pitchFamily="2" charset="2"/>
              <a:buChar char="ü"/>
            </a:pPr>
            <a:r>
              <a:rPr lang="en-US" sz="3200" dirty="0"/>
              <a:t>Described by rate r and bucket depth b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Use WFQ at the routers</a:t>
            </a:r>
          </a:p>
        </p:txBody>
      </p:sp>
    </p:spTree>
    <p:extLst>
      <p:ext uri="{BB962C8B-B14F-4D97-AF65-F5344CB8AC3E}">
        <p14:creationId xmlns:p14="http://schemas.microsoft.com/office/powerpoint/2010/main" val="2223918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CAC8-C884-45A4-9706-0D3AF54E6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257248DD-93B9-E022-D080-44D4A17C6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D85BE27-3D9E-5AE4-CA1B-A53FC8DD4C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/>
              <a:t>Call Admission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64CB8-43E7-C66C-E525-F75596E383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5289" y="2829399"/>
            <a:ext cx="8214360" cy="36873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CD65B98-E8AE-FFEE-37C5-397BF0635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10653"/>
            <a:ext cx="10562542" cy="18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CA: routers admit call based on their R-Spec and T-Spec and the current resource allocated at the routers to other call.</a:t>
            </a:r>
          </a:p>
        </p:txBody>
      </p:sp>
    </p:spTree>
    <p:extLst>
      <p:ext uri="{BB962C8B-B14F-4D97-AF65-F5344CB8AC3E}">
        <p14:creationId xmlns:p14="http://schemas.microsoft.com/office/powerpoint/2010/main" val="2386625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3DE4-D3E4-DC5F-7176-917E6DEB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AEF7DF26-32A9-334D-2E4F-1B1E71C8A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863200C-6308-9FAB-9FA5-6A6541E17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Mechanisms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2C9E9F-2229-446A-6ECC-339A5A47C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10652"/>
            <a:ext cx="10562542" cy="5390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kern="0" dirty="0" err="1"/>
              <a:t>Flowspecs</a:t>
            </a:r>
            <a:endParaRPr lang="en-US" sz="4000" kern="0" dirty="0"/>
          </a:p>
          <a:p>
            <a:pPr lvl="1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600" kern="0" dirty="0"/>
              <a:t>Set of information provided to the network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kern="0" dirty="0"/>
              <a:t>Resource Reservation (RSVP)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600" kern="0" dirty="0"/>
              <a:t>Used to exchange information such as</a:t>
            </a:r>
          </a:p>
          <a:p>
            <a:pPr lvl="2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3600" kern="0" dirty="0"/>
              <a:t>Requests for service, </a:t>
            </a:r>
          </a:p>
          <a:p>
            <a:pPr lvl="2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3600" kern="0" dirty="0" err="1"/>
              <a:t>flowspecs</a:t>
            </a:r>
            <a:r>
              <a:rPr lang="en-US" sz="3600" kern="0" dirty="0"/>
              <a:t>, </a:t>
            </a:r>
          </a:p>
          <a:p>
            <a:pPr lvl="2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3600" kern="0" dirty="0"/>
              <a:t>and admission control decisions.  </a:t>
            </a:r>
          </a:p>
        </p:txBody>
      </p:sp>
    </p:spTree>
    <p:extLst>
      <p:ext uri="{BB962C8B-B14F-4D97-AF65-F5344CB8AC3E}">
        <p14:creationId xmlns:p14="http://schemas.microsoft.com/office/powerpoint/2010/main" val="230501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FBA9-EA06-46AF-7AAE-11C34ECC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37819A60-77CD-69BD-9124-ED6580F3D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C52D3D7-6309-4F71-A984-CE6C25B21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- </a:t>
            </a:r>
            <a:r>
              <a:rPr lang="en-US" sz="4000" b="1" dirty="0" err="1"/>
              <a:t>Flowspecs</a:t>
            </a:r>
            <a:endParaRPr lang="en-US" sz="4000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5ED1BFA-0DE2-A464-A543-26563F3EB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10653"/>
            <a:ext cx="10562542" cy="395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 err="1"/>
              <a:t>Tspec</a:t>
            </a:r>
            <a:r>
              <a:rPr lang="en-US" sz="3600" kern="0" dirty="0"/>
              <a:t>: describes the flow’s traffic characteristics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0" dirty="0"/>
              <a:t>The </a:t>
            </a:r>
            <a:r>
              <a:rPr lang="en-US" sz="3600" kern="0" dirty="0" err="1"/>
              <a:t>TSpec</a:t>
            </a:r>
            <a:r>
              <a:rPr lang="en-US" sz="3600" kern="0" dirty="0"/>
              <a:t> is often modeled using a token bucket:</a:t>
            </a:r>
          </a:p>
          <a:p>
            <a:pPr marL="1822450" indent="0">
              <a:buNone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b(t) ≤ b +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</a:rPr>
              <a:t>r×t</a:t>
            </a:r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pPr marL="381000" indent="0">
              <a:buNone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where: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b(t) = number of bits sent in time 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tt</a:t>
            </a:r>
            <a:endParaRPr lang="en-US" sz="2400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b = bucket size (burst)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r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 = token rate (average rate)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301B6-B90F-66D4-9F25-8797464B4B1D}"/>
              </a:ext>
            </a:extLst>
          </p:cNvPr>
          <p:cNvSpPr txBox="1"/>
          <p:nvPr/>
        </p:nvSpPr>
        <p:spPr>
          <a:xfrm>
            <a:off x="7472614" y="3348990"/>
            <a:ext cx="36696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B" i="1" dirty="0">
                <a:solidFill>
                  <a:schemeClr val="bg1"/>
                </a:solidFill>
              </a:rPr>
              <a:t>TSpec {</a:t>
            </a:r>
          </a:p>
          <a:p>
            <a:r>
              <a:rPr lang="en-LB" i="1" dirty="0">
                <a:solidFill>
                  <a:schemeClr val="bg1"/>
                </a:solidFill>
              </a:rPr>
              <a:t>  token_rate = 1 Mbps,</a:t>
            </a:r>
          </a:p>
          <a:p>
            <a:r>
              <a:rPr lang="en-LB" i="1" dirty="0">
                <a:solidFill>
                  <a:schemeClr val="bg1"/>
                </a:solidFill>
              </a:rPr>
              <a:t>  bucket_size = 5000 bytes,</a:t>
            </a:r>
          </a:p>
          <a:p>
            <a:r>
              <a:rPr lang="en-LB" i="1" dirty="0">
                <a:solidFill>
                  <a:schemeClr val="bg1"/>
                </a:solidFill>
              </a:rPr>
              <a:t>  peak_rate = 2 Mbps,</a:t>
            </a:r>
          </a:p>
          <a:p>
            <a:r>
              <a:rPr lang="en-LB" i="1" dirty="0">
                <a:solidFill>
                  <a:schemeClr val="bg1"/>
                </a:solidFill>
              </a:rPr>
              <a:t>  min_policed_unit = 64 bytes,</a:t>
            </a:r>
          </a:p>
          <a:p>
            <a:r>
              <a:rPr lang="en-LB" i="1" dirty="0">
                <a:solidFill>
                  <a:schemeClr val="bg1"/>
                </a:solidFill>
              </a:rPr>
              <a:t>  max_packet_size = 1500 bytes</a:t>
            </a:r>
          </a:p>
          <a:p>
            <a:r>
              <a:rPr lang="en-LB" i="1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89D19-910C-051D-6C4A-54D3346C559F}"/>
              </a:ext>
            </a:extLst>
          </p:cNvPr>
          <p:cNvSpPr txBox="1"/>
          <p:nvPr/>
        </p:nvSpPr>
        <p:spPr>
          <a:xfrm>
            <a:off x="7472613" y="2883613"/>
            <a:ext cx="3669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u="sng" strike="noStrike" dirty="0">
                <a:solidFill>
                  <a:schemeClr val="bg1"/>
                </a:solidFill>
                <a:effectLst/>
                <a:latin typeface="-webkit-standard"/>
              </a:rPr>
              <a:t>RSVP-style </a:t>
            </a:r>
            <a:r>
              <a:rPr lang="en-US" sz="2000" b="1" i="0" u="sng" strike="noStrike" dirty="0" err="1">
                <a:solidFill>
                  <a:schemeClr val="bg1"/>
                </a:solidFill>
                <a:effectLst/>
                <a:latin typeface="-webkit-standard"/>
              </a:rPr>
              <a:t>TSpec</a:t>
            </a:r>
            <a:endParaRPr lang="en-LB" sz="20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06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4E33-33A2-382C-F16A-4D0B093E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47253094-6DEC-CE1A-D1DC-70DE42E64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6E5CBD6-9836-0FAB-24E7-5D9576FC3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- </a:t>
            </a:r>
            <a:r>
              <a:rPr lang="en-US" sz="4000" b="1" dirty="0" err="1"/>
              <a:t>Flowspecs</a:t>
            </a:r>
            <a:endParaRPr lang="en-US" sz="4000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9EE39F-2D3A-F30A-D6BB-110ACFB9B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10653"/>
            <a:ext cx="10562542" cy="2177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kern="0" dirty="0" err="1"/>
              <a:t>Rspec</a:t>
            </a:r>
            <a:r>
              <a:rPr lang="en-US" sz="3200" kern="0" dirty="0"/>
              <a:t>: describe the service required from the network</a:t>
            </a:r>
          </a:p>
          <a:p>
            <a:pPr marL="1289050" lvl="2" indent="-374650">
              <a:spcBef>
                <a:spcPts val="600"/>
              </a:spcBef>
              <a:spcAft>
                <a:spcPts val="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2800" kern="0" dirty="0"/>
              <a:t>Is service specific &amp; easy to describe</a:t>
            </a:r>
          </a:p>
          <a:p>
            <a:pPr marL="1289050" lvl="2" indent="-374650">
              <a:spcBef>
                <a:spcPts val="600"/>
              </a:spcBef>
              <a:spcAft>
                <a:spcPts val="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2800" kern="0" dirty="0" err="1">
                <a:solidFill>
                  <a:srgbClr val="0070C0"/>
                </a:solidFill>
              </a:rPr>
              <a:t>Contolled</a:t>
            </a:r>
            <a:r>
              <a:rPr lang="en-US" sz="2800" kern="0" dirty="0">
                <a:solidFill>
                  <a:srgbClr val="0070C0"/>
                </a:solidFill>
              </a:rPr>
              <a:t> load service -&gt; no parameters</a:t>
            </a:r>
          </a:p>
          <a:p>
            <a:pPr marL="1289050" lvl="2" indent="-374650">
              <a:spcBef>
                <a:spcPts val="600"/>
              </a:spcBef>
              <a:spcAft>
                <a:spcPts val="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2800" kern="0" dirty="0"/>
              <a:t>Guaranteed service -&gt; delay target or bound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3C983D-7042-D1EA-2C15-4D65A376C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75894"/>
              </p:ext>
            </p:extLst>
          </p:nvPr>
        </p:nvGraphicFramePr>
        <p:xfrm>
          <a:off x="711199" y="3320714"/>
          <a:ext cx="10363200" cy="36576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93764892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10927596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540439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19454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53C1E0-13FA-C0CD-375C-03C0B17A8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73149"/>
              </p:ext>
            </p:extLst>
          </p:nvPr>
        </p:nvGraphicFramePr>
        <p:xfrm>
          <a:off x="711199" y="3676217"/>
          <a:ext cx="10363200" cy="9144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35562357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93281286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826509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Reserved Rate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rate (bandwidth) the network must reserve for this flow.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3277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EF011-B103-DE62-A9AF-8FE43819C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252931"/>
              </p:ext>
            </p:extLst>
          </p:nvPr>
        </p:nvGraphicFramePr>
        <p:xfrm>
          <a:off x="711199" y="4595432"/>
          <a:ext cx="10363200" cy="9144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545492285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787914957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05001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Slack Term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 delay allowance (margin) beyond the minimum delay — used in Guaranteed Service.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7847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6C8681-C877-69D0-7233-2EE6B8A5E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475377"/>
              </p:ext>
            </p:extLst>
          </p:nvPr>
        </p:nvGraphicFramePr>
        <p:xfrm>
          <a:off x="711199" y="5509830"/>
          <a:ext cx="10363200" cy="118872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196226472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79347349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759718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Service Type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Indicates the type of </a:t>
                      </a:r>
                      <a:r>
                        <a:rPr lang="en-US" dirty="0" err="1"/>
                        <a:t>IntServ</a:t>
                      </a:r>
                      <a:r>
                        <a:rPr lang="en-US" dirty="0"/>
                        <a:t> service requested (e.g., </a:t>
                      </a:r>
                      <a:r>
                        <a:rPr lang="en-US" i="1" dirty="0"/>
                        <a:t>Guaranteed</a:t>
                      </a:r>
                      <a:r>
                        <a:rPr lang="en-US" dirty="0"/>
                        <a:t> or </a:t>
                      </a:r>
                      <a:r>
                        <a:rPr lang="en-US" i="1" dirty="0"/>
                        <a:t>Controlled Load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1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862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F3EF5-FAC1-61E2-BA4F-59A2E0AA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E3EA4356-5B52-1B7F-8978-E08142B7AC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A0C81E6-A1A8-8B4C-8D58-562BB915E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- </a:t>
            </a:r>
            <a:r>
              <a:rPr lang="en-US" sz="4000" b="1" dirty="0" err="1"/>
              <a:t>Flowspecs</a:t>
            </a:r>
            <a:endParaRPr 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4461D-51D0-4631-BB3B-D3853707C5EF}"/>
              </a:ext>
            </a:extLst>
          </p:cNvPr>
          <p:cNvSpPr txBox="1"/>
          <p:nvPr/>
        </p:nvSpPr>
        <p:spPr>
          <a:xfrm>
            <a:off x="711199" y="1790628"/>
            <a:ext cx="6093994" cy="193899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RSpec {</a:t>
            </a:r>
          </a:p>
          <a:p>
            <a:r>
              <a:rPr lang="en-LB" sz="2400" dirty="0">
                <a:solidFill>
                  <a:schemeClr val="bg1"/>
                </a:solidFill>
              </a:rPr>
              <a:t>  service_type = Guaranteed,</a:t>
            </a:r>
          </a:p>
          <a:p>
            <a:r>
              <a:rPr lang="en-LB" sz="2400" dirty="0">
                <a:solidFill>
                  <a:schemeClr val="bg1"/>
                </a:solidFill>
              </a:rPr>
              <a:t>  reserved_rate = 1 Mbps,</a:t>
            </a:r>
          </a:p>
          <a:p>
            <a:r>
              <a:rPr lang="en-LB" sz="2400" dirty="0">
                <a:solidFill>
                  <a:schemeClr val="bg1"/>
                </a:solidFill>
              </a:rPr>
              <a:t>  slack_term = 10 ms</a:t>
            </a:r>
          </a:p>
          <a:p>
            <a:r>
              <a:rPr lang="en-LB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2A232-CF59-5E9C-2F8E-F76494BEAFA7}"/>
              </a:ext>
            </a:extLst>
          </p:cNvPr>
          <p:cNvSpPr txBox="1"/>
          <p:nvPr/>
        </p:nvSpPr>
        <p:spPr>
          <a:xfrm>
            <a:off x="711199" y="4660860"/>
            <a:ext cx="6093994" cy="15696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RSpec {</a:t>
            </a:r>
          </a:p>
          <a:p>
            <a:r>
              <a:rPr lang="en-LB" sz="2400" dirty="0">
                <a:solidFill>
                  <a:schemeClr val="bg1"/>
                </a:solidFill>
              </a:rPr>
              <a:t>  service_type = Controlled Load,</a:t>
            </a:r>
          </a:p>
          <a:p>
            <a:r>
              <a:rPr lang="en-LB" sz="2400" dirty="0">
                <a:solidFill>
                  <a:schemeClr val="bg1"/>
                </a:solidFill>
              </a:rPr>
              <a:t>  reserved_rate = 800 Kbps</a:t>
            </a:r>
          </a:p>
          <a:p>
            <a:r>
              <a:rPr lang="en-LB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FCBAC-24BA-B142-D229-F384001F59A8}"/>
              </a:ext>
            </a:extLst>
          </p:cNvPr>
          <p:cNvSpPr txBox="1"/>
          <p:nvPr/>
        </p:nvSpPr>
        <p:spPr>
          <a:xfrm>
            <a:off x="711199" y="1256567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Guaranteed Service flow</a:t>
            </a:r>
            <a:endParaRPr lang="en-L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40FBFF-6E33-1027-7585-703F83E1BA40}"/>
              </a:ext>
            </a:extLst>
          </p:cNvPr>
          <p:cNvSpPr txBox="1"/>
          <p:nvPr/>
        </p:nvSpPr>
        <p:spPr>
          <a:xfrm>
            <a:off x="711199" y="4183243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0" i="0" u="none" strike="noStrike">
                <a:solidFill>
                  <a:srgbClr val="000000"/>
                </a:solidFill>
                <a:effectLst/>
                <a:latin typeface="-webkit-standard"/>
              </a:defRPr>
            </a:lvl1pPr>
          </a:lstStyle>
          <a:p>
            <a:r>
              <a:rPr lang="en-US" dirty="0"/>
              <a:t>Controlled Load service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27887704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FE11-3775-91D7-933B-B3825ED8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2D53AF5C-8BC2-9662-26B6-C4465023D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6EE5B3-16EE-D944-B09D-6E0C6CC1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10652"/>
            <a:ext cx="10562542" cy="5390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 baseline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kern="0" dirty="0">
                <a:solidFill>
                  <a:srgbClr val="0070C0"/>
                </a:solidFill>
              </a:rPr>
              <a:t>Requirements</a:t>
            </a:r>
            <a:r>
              <a:rPr lang="en-US" sz="4000" kern="0" dirty="0"/>
              <a:t>: Connection must be connectionless (end-to-end connectivity should be maintained)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Operates </a:t>
            </a:r>
            <a:r>
              <a:rPr lang="en-US" sz="3200" i="1" u="none" strike="noStrike" dirty="0">
                <a:solidFill>
                  <a:srgbClr val="0070C0"/>
                </a:solidFill>
                <a:effectLst/>
              </a:rPr>
              <a:t>at the Transport Layer 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but interacts closely with the </a:t>
            </a:r>
            <a:r>
              <a:rPr lang="en-US" sz="3200" i="1" u="none" strike="noStrike" dirty="0">
                <a:solidFill>
                  <a:srgbClr val="0070C0"/>
                </a:solidFill>
                <a:effectLst/>
              </a:rPr>
              <a:t>Network Layer</a:t>
            </a:r>
            <a:r>
              <a:rPr lang="en-US" sz="3200" b="0" i="1" u="none" strike="noStrike" dirty="0">
                <a:solidFill>
                  <a:srgbClr val="0070C0"/>
                </a:solidFill>
                <a:effectLst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Full form: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 Resource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</a:rPr>
              <a:t>ReSerVation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 Protocol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RFC: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 Defined in 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RFC 2205</a:t>
            </a:r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Type: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 Signaling protocol (not a routing protocol)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Purpose: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 To request and maintain QoS for IP data flows.</a:t>
            </a:r>
            <a:r>
              <a:rPr lang="en-US" sz="3600" kern="0" dirty="0"/>
              <a:t> </a:t>
            </a:r>
            <a:endParaRPr lang="en-US" sz="3200" kern="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DC1751-00E4-C864-FED4-25D277163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– </a:t>
            </a:r>
            <a:r>
              <a:rPr lang="en-US" sz="4000" b="1" dirty="0" err="1"/>
              <a:t>Flowspecs</a:t>
            </a:r>
            <a:r>
              <a:rPr lang="en-US" sz="4000" b="1" dirty="0"/>
              <a:t> - RSVP</a:t>
            </a:r>
          </a:p>
        </p:txBody>
      </p:sp>
    </p:spTree>
    <p:extLst>
      <p:ext uri="{BB962C8B-B14F-4D97-AF65-F5344CB8AC3E}">
        <p14:creationId xmlns:p14="http://schemas.microsoft.com/office/powerpoint/2010/main" val="1073070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E478-CE53-F91C-7F24-A143A183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214C11DE-B505-7931-2B69-A17EA9A89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8232FD6-286E-70D1-D831-E9A354098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– </a:t>
            </a:r>
            <a:r>
              <a:rPr lang="en-US" sz="4000" b="1" dirty="0" err="1"/>
              <a:t>Flowspecs</a:t>
            </a:r>
            <a:r>
              <a:rPr lang="en-US" sz="4000" b="1" dirty="0"/>
              <a:t> - RSVP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121CA-2036-E0EF-F86F-3DDE6050D73B}"/>
              </a:ext>
            </a:extLst>
          </p:cNvPr>
          <p:cNvSpPr txBox="1"/>
          <p:nvPr/>
        </p:nvSpPr>
        <p:spPr>
          <a:xfrm>
            <a:off x="7869153" y="1382937"/>
            <a:ext cx="4256858" cy="440120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LB" sz="2000" dirty="0">
                <a:solidFill>
                  <a:schemeClr val="bg1"/>
                </a:solidFill>
              </a:rPr>
              <a:t>FlowSpec {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TSpec {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token_rate = 1 Mbps,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bucket_size = 5000 bytes,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peak_rate = 2 Mbps,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min_policed_unit = 64 bytes,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max_packet_size = 1500 bytes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}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RSpec {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service_type = Guaranteed,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reserved_rate = 1 Mbps,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  slack_term = 10 ms</a:t>
            </a:r>
          </a:p>
          <a:p>
            <a:r>
              <a:rPr lang="en-LB" sz="2000" dirty="0">
                <a:solidFill>
                  <a:schemeClr val="bg1"/>
                </a:solidFill>
              </a:rPr>
              <a:t>  }</a:t>
            </a:r>
          </a:p>
          <a:p>
            <a:r>
              <a:rPr lang="en-LB" sz="20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8B0F8-C550-A08C-7C29-A167DA18AF11}"/>
              </a:ext>
            </a:extLst>
          </p:cNvPr>
          <p:cNvSpPr txBox="1"/>
          <p:nvPr/>
        </p:nvSpPr>
        <p:spPr>
          <a:xfrm>
            <a:off x="633952" y="1136715"/>
            <a:ext cx="719972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 </a:t>
            </a:r>
            <a:r>
              <a:rPr lang="en-US" sz="2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RSVP is used to:</a:t>
            </a:r>
          </a:p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 </a:t>
            </a:r>
            <a:r>
              <a:rPr lang="en-US" sz="2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TSpec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(Traffic Specification) from sender to receiver.</a:t>
            </a:r>
          </a:p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 </a:t>
            </a:r>
            <a:r>
              <a:rPr lang="en-US" sz="2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RSpec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(Reservation Specification) from receiver to routers.</a:t>
            </a:r>
          </a:p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routers along the path to reserve bandwidth and buffer space.</a:t>
            </a:r>
          </a:p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the reservation state as long as the application is active.</a:t>
            </a:r>
          </a:p>
        </p:txBody>
      </p:sp>
    </p:spTree>
    <p:extLst>
      <p:ext uri="{BB962C8B-B14F-4D97-AF65-F5344CB8AC3E}">
        <p14:creationId xmlns:p14="http://schemas.microsoft.com/office/powerpoint/2010/main" val="3061468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5D023-90A3-9300-45D0-352DF652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84182740-48E6-CC65-D6D7-AA6EB42AE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CEAF537-CC8F-36C3-B271-4B20258A7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– </a:t>
            </a:r>
            <a:r>
              <a:rPr lang="en-US" sz="4000" b="1" dirty="0" err="1"/>
              <a:t>Flowspecs</a:t>
            </a:r>
            <a:r>
              <a:rPr lang="en-US" sz="4000" b="1" dirty="0"/>
              <a:t> – RSVP: how it works?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C9818-33D4-B4EB-DDA2-86864376C1FD}"/>
              </a:ext>
            </a:extLst>
          </p:cNvPr>
          <p:cNvSpPr txBox="1"/>
          <p:nvPr/>
        </p:nvSpPr>
        <p:spPr>
          <a:xfrm>
            <a:off x="633952" y="1136715"/>
            <a:ext cx="1115164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ts val="1200"/>
              </a:spcBef>
              <a:spcAft>
                <a:spcPts val="600"/>
              </a:spcAft>
              <a:defRPr sz="2800" ker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Step 1 — PATH Message (from Sender → Receiver)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sender sends an RSVP PATH message downstream.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PATH message carries the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TSpec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(traffic characteristics).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along the path stores path information for reverse communication.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Step 2 — RESV Message (from Receiver → Sender)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receiver, after receiving the PATH message, decides what QoS is needed.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sends a RESV (Reservation) message upstream.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RESV message carries the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RSpec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(resource requirements).</a:t>
            </a:r>
          </a:p>
          <a:p>
            <a: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checks if it has enough resources to satisfy the request:</a:t>
            </a:r>
          </a:p>
          <a:p>
            <a:pPr marL="1200150" lvl="2" indent="-28575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yes, it reserves them.</a:t>
            </a:r>
          </a:p>
          <a:p>
            <a:pPr marL="1200150" lvl="2" indent="-28575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no, it rejects the request and sends an error message.</a:t>
            </a:r>
          </a:p>
        </p:txBody>
      </p:sp>
    </p:spTree>
    <p:extLst>
      <p:ext uri="{BB962C8B-B14F-4D97-AF65-F5344CB8AC3E}">
        <p14:creationId xmlns:p14="http://schemas.microsoft.com/office/powerpoint/2010/main" val="34519738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19CE8-BDF2-2F48-875C-6CA61812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00CD7D7D-EA68-2552-72FB-42AACCB06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4E023-3F8D-79A6-0831-CC61143B8AB1}"/>
              </a:ext>
            </a:extLst>
          </p:cNvPr>
          <p:cNvSpPr txBox="1"/>
          <p:nvPr/>
        </p:nvSpPr>
        <p:spPr>
          <a:xfrm>
            <a:off x="633952" y="1136715"/>
            <a:ext cx="1115164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ker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800100" lvl="1" indent="-34290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lvl="2" indent="-28575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dirty="0"/>
              <a:t>Step 3 — Data Flow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the reservation is successful, data packets can flow through the path with guaranteed QoS.</a:t>
            </a:r>
          </a:p>
          <a:p>
            <a:r>
              <a:rPr lang="en-US" dirty="0"/>
              <a:t>Step 4 — Refresh and Tear Down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RSVP is soft state — reservations expire if not refreshed.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Periodic PATH and RESV messages refresh the reservation.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PATH TEAR and RESV TEAR messages are used to remove reservations.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4295D58-0F70-E047-0A35-34BAB7A08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562541" cy="6860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4000" b="1" dirty="0" err="1"/>
              <a:t>Intserv</a:t>
            </a:r>
            <a:r>
              <a:rPr lang="en-US" sz="4000" b="1" dirty="0"/>
              <a:t> – </a:t>
            </a:r>
            <a:r>
              <a:rPr lang="en-US" sz="4000" b="1" dirty="0" err="1"/>
              <a:t>Flowspecs</a:t>
            </a:r>
            <a:r>
              <a:rPr lang="en-US" sz="4000" b="1" dirty="0"/>
              <a:t> – RSVP: how it works?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9E022-2365-8E97-1F99-828012642783}"/>
              </a:ext>
            </a:extLst>
          </p:cNvPr>
          <p:cNvSpPr txBox="1"/>
          <p:nvPr/>
        </p:nvSpPr>
        <p:spPr>
          <a:xfrm>
            <a:off x="2865748" y="4129631"/>
            <a:ext cx="66081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B" sz="1600" dirty="0">
                <a:solidFill>
                  <a:schemeClr val="bg1"/>
                </a:solidFill>
              </a:rPr>
              <a:t>+-----------------------------------------------------------------+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Common Header (Version, Message Type, Length)        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+-----------------------------------------------------------------+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SESSION Object   → identifies the data flow            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RSVP_HOP Object  → previous RSVP hop (IP address)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TIME_VALUES      → refresh period, timeout             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SENDER_TSPEC     → traffic specification (TSpec)    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FLOW_SPEC        → reservation specification (RSpec)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| STYLE            → reservation style (fixed/filter)              |</a:t>
            </a:r>
          </a:p>
          <a:p>
            <a:r>
              <a:rPr lang="en-LB" sz="1600" dirty="0">
                <a:solidFill>
                  <a:schemeClr val="bg1"/>
                </a:solidFill>
              </a:rPr>
              <a:t>+-----------------------------------------------------------------+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8435349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112B-A0A9-009D-9D20-0DB210C0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418E15DB-59F7-F6E4-F9CA-0C4D592BF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61336D-5CFD-48E3-B493-8880A18E6544}" type="slidenum">
              <a:rPr lang="en-US" smtClean="0"/>
              <a:pPr/>
              <a:t>47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B23512-2FE7-3845-FEF5-AA00E8934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914604"/>
              </p:ext>
            </p:extLst>
          </p:nvPr>
        </p:nvGraphicFramePr>
        <p:xfrm>
          <a:off x="711199" y="599581"/>
          <a:ext cx="10363200" cy="640080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640099132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2944817746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171365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OSI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in </a:t>
                      </a:r>
                      <a:r>
                        <a:rPr lang="en-US" dirty="0" err="1"/>
                        <a:t>IntServ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Involvement of </a:t>
                      </a:r>
                      <a:r>
                        <a:rPr lang="en-US" dirty="0" err="1"/>
                        <a:t>TSpec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RSpec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1839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0CAAD4-8EAC-CFA9-6D35-7CCEF3C58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063471"/>
              </p:ext>
            </p:extLst>
          </p:nvPr>
        </p:nvGraphicFramePr>
        <p:xfrm>
          <a:off x="711199" y="1246485"/>
          <a:ext cx="10363200" cy="822960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1531316418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327342609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677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7 – Application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Application requests QoS for a specific data flow (e.g., video streaming, VoIP).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Applications define </a:t>
                      </a:r>
                      <a:r>
                        <a:rPr lang="en-US" sz="1600" b="1" dirty="0" err="1"/>
                        <a:t>TSpec</a:t>
                      </a:r>
                      <a:r>
                        <a:rPr lang="en-US" sz="1600" b="1" dirty="0"/>
                        <a:t> and </a:t>
                      </a:r>
                      <a:r>
                        <a:rPr lang="en-US" sz="1600" b="1" dirty="0" err="1"/>
                        <a:t>RSpec</a:t>
                      </a:r>
                      <a:r>
                        <a:rPr lang="en-US" sz="1600" dirty="0" err="1"/>
                        <a:t>parameters</a:t>
                      </a:r>
                      <a:r>
                        <a:rPr lang="en-US" sz="1600" dirty="0"/>
                        <a:t> and pass them to RSVP.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37846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50069E-E622-275C-C43F-70FD493C8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110946"/>
              </p:ext>
            </p:extLst>
          </p:nvPr>
        </p:nvGraphicFramePr>
        <p:xfrm>
          <a:off x="711199" y="2071873"/>
          <a:ext cx="10363200" cy="443396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1891506925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189081773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4148971820"/>
                    </a:ext>
                  </a:extLst>
                </a:gridCol>
              </a:tblGrid>
              <a:tr h="443396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6 – Presentation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direct involvement.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LB" sz="16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5549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952331-8411-2AF1-186C-67F90FB5C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508867"/>
              </p:ext>
            </p:extLst>
          </p:nvPr>
        </p:nvGraphicFramePr>
        <p:xfrm>
          <a:off x="711199" y="2520037"/>
          <a:ext cx="10363200" cy="822960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284757283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71305413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815718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5 – Session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Manages the session and may request resource reservation for that session.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RSVP operates here conceptually to </a:t>
                      </a:r>
                      <a:r>
                        <a:rPr lang="en-US" sz="1600" b="1" dirty="0"/>
                        <a:t>establish and maintain reservations</a:t>
                      </a:r>
                      <a:r>
                        <a:rPr lang="en-US" sz="16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0328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510451-15DD-E58F-A54E-8AA318838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1973"/>
              </p:ext>
            </p:extLst>
          </p:nvPr>
        </p:nvGraphicFramePr>
        <p:xfrm>
          <a:off x="711199" y="3346647"/>
          <a:ext cx="10363200" cy="579120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3596869857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356073246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096146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4 – Transport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Works with RSVP to map QoS needs to transport flows (TCP/UDP ports).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RSVP messages carry </a:t>
                      </a:r>
                      <a:r>
                        <a:rPr lang="en-US" sz="1600" dirty="0" err="1"/>
                        <a:t>TSpec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RSpec</a:t>
                      </a:r>
                      <a:r>
                        <a:rPr lang="en-US" sz="1600" dirty="0"/>
                        <a:t> between endpoints.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868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A123B7-6FA1-3BFE-4985-72DD50834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80032"/>
              </p:ext>
            </p:extLst>
          </p:nvPr>
        </p:nvGraphicFramePr>
        <p:xfrm>
          <a:off x="711199" y="3928970"/>
          <a:ext cx="10363200" cy="1066800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176750729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1735082795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625339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3 – Network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Main layer for </a:t>
                      </a:r>
                      <a:r>
                        <a:rPr lang="en-US" sz="1600" b="1" dirty="0" err="1"/>
                        <a:t>IntServ</a:t>
                      </a:r>
                      <a:r>
                        <a:rPr lang="en-US" sz="1600" b="1" dirty="0"/>
                        <a:t> and RSVP.</a:t>
                      </a:r>
                      <a:r>
                        <a:rPr lang="en-US" sz="1600" dirty="0"/>
                        <a:t> Routers use </a:t>
                      </a:r>
                      <a:r>
                        <a:rPr lang="en-US" sz="1600" dirty="0" err="1"/>
                        <a:t>TSpec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RSpec</a:t>
                      </a:r>
                      <a:r>
                        <a:rPr lang="en-US" sz="1600" dirty="0"/>
                        <a:t> to allocate bandwidth, schedule packets, and enforce QoS.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Core layer where </a:t>
                      </a:r>
                      <a:r>
                        <a:rPr lang="en-US" sz="1600" b="1" dirty="0" err="1"/>
                        <a:t>TSpec</a:t>
                      </a:r>
                      <a:r>
                        <a:rPr lang="en-US" sz="1600" b="1" dirty="0"/>
                        <a:t>/</a:t>
                      </a:r>
                      <a:r>
                        <a:rPr lang="en-US" sz="1600" b="1" dirty="0" err="1"/>
                        <a:t>RSpec</a:t>
                      </a:r>
                      <a:r>
                        <a:rPr lang="en-US" sz="1600" b="1" dirty="0"/>
                        <a:t> are interpreted and enforced.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18801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6414D5-653B-6320-A9E9-75BC401B7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020478"/>
              </p:ext>
            </p:extLst>
          </p:nvPr>
        </p:nvGraphicFramePr>
        <p:xfrm>
          <a:off x="711199" y="4993989"/>
          <a:ext cx="10363200" cy="822960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743679368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205050132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205246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2 – Data Link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Provides lower-level QoS mechanisms (e.g., priority queues, MAC scheduling).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May support the network layer’s QoS but doesn’t process </a:t>
                      </a:r>
                      <a:r>
                        <a:rPr lang="en-US" sz="1600" dirty="0" err="1"/>
                        <a:t>TSpec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RSpec</a:t>
                      </a:r>
                      <a:r>
                        <a:rPr lang="en-US" sz="1600" dirty="0"/>
                        <a:t> directly.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32174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288235C-4474-F844-EDB9-D03376940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011049"/>
              </p:ext>
            </p:extLst>
          </p:nvPr>
        </p:nvGraphicFramePr>
        <p:xfrm>
          <a:off x="711199" y="5816950"/>
          <a:ext cx="10363200" cy="789041"/>
        </p:xfrm>
        <a:graphic>
          <a:graphicData uri="http://schemas.openxmlformats.org/drawingml/2006/table">
            <a:tbl>
              <a:tblPr/>
              <a:tblGrid>
                <a:gridCol w="2886243">
                  <a:extLst>
                    <a:ext uri="{9D8B030D-6E8A-4147-A177-3AD203B41FA5}">
                      <a16:colId xmlns:a16="http://schemas.microsoft.com/office/drawing/2014/main" val="4132492188"/>
                    </a:ext>
                  </a:extLst>
                </a:gridCol>
                <a:gridCol w="4022557">
                  <a:extLst>
                    <a:ext uri="{9D8B030D-6E8A-4147-A177-3AD203B41FA5}">
                      <a16:colId xmlns:a16="http://schemas.microsoft.com/office/drawing/2014/main" val="81306448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21952736"/>
                    </a:ext>
                  </a:extLst>
                </a:gridCol>
              </a:tblGrid>
              <a:tr h="789041">
                <a:tc>
                  <a:txBody>
                    <a:bodyPr/>
                    <a:lstStyle/>
                    <a:p>
                      <a:r>
                        <a:rPr lang="en-US" sz="1600" b="1" dirty="0"/>
                        <a:t>Layer 1 – Physical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Provides transmission capacity (bit rate, delay, etc.).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Only indirectly affects achievable QoS.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98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943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EE7CC-2AFC-B204-805F-3B0D9787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A98E316F-375D-D2F0-D584-C6FB12EE3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C542018-8651-44E7-9B31-B7947C87D1B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B5F3C81-D489-CE30-1B98-9FBACA679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QoS</a:t>
            </a:r>
            <a:r>
              <a:rPr lang="en-US" sz="4000" dirty="0"/>
              <a:t> Support in IP Networks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4193C96-1ECB-AFD8-F9B4-EE6744634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63757"/>
            <a:ext cx="7772400" cy="3644851"/>
          </a:xfrm>
        </p:spPr>
        <p:txBody>
          <a:bodyPr/>
          <a:lstStyle/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Need for QoS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Principles</a:t>
            </a: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IntServ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pPr marL="496888" indent="-496888"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solidFill>
                  <a:srgbClr val="0070C0"/>
                </a:solidFill>
              </a:rPr>
              <a:t>DiffServ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775441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F71BBC0-21F2-4516-B3F4-FB2AA173E0C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794034" cy="871538"/>
          </a:xfrm>
        </p:spPr>
        <p:txBody>
          <a:bodyPr/>
          <a:lstStyle/>
          <a:p>
            <a:pPr algn="l"/>
            <a:r>
              <a:rPr lang="en-US" sz="4000" dirty="0"/>
              <a:t>IETF Differentiated Services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199" y="1100138"/>
            <a:ext cx="10794035" cy="5529261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2800" i="1" dirty="0"/>
              <a:t>Concerns with </a:t>
            </a:r>
            <a:r>
              <a:rPr lang="en-US" sz="2800" i="1" dirty="0" err="1"/>
              <a:t>IntServ</a:t>
            </a:r>
            <a:r>
              <a:rPr lang="en-US" sz="2800" i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Scalability: signaling, maintaining per-flow router state difficult with large number of 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Flexible Service Models: </a:t>
            </a:r>
            <a:r>
              <a:rPr lang="en-US" sz="2800" dirty="0" err="1"/>
              <a:t>Intserv</a:t>
            </a:r>
            <a:r>
              <a:rPr lang="en-US" sz="2800" dirty="0"/>
              <a:t> has only two classes. Also want “qualitative” service classes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relative service distinction: Platinum, Gold, Silver</a:t>
            </a:r>
          </a:p>
          <a:p>
            <a:pPr marL="0" indent="0">
              <a:buNone/>
            </a:pPr>
            <a:r>
              <a:rPr lang="en-US" sz="2800" i="1" dirty="0" err="1"/>
              <a:t>DiffServ</a:t>
            </a:r>
            <a:r>
              <a:rPr lang="en-US" sz="2800" i="1" dirty="0"/>
              <a:t> approach: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simple functions in network core, relatively complex functions at edge routers (or hosts)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Don’t define service classes, provide functional components to build service classes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A517D14-5635-4E4C-A950-6E1B8D483B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51133" name="Text Box 253"/>
          <p:cNvSpPr txBox="1">
            <a:spLocks noChangeArrowheads="1"/>
          </p:cNvSpPr>
          <p:nvPr/>
        </p:nvSpPr>
        <p:spPr bwMode="auto">
          <a:xfrm>
            <a:off x="868100" y="1111824"/>
            <a:ext cx="6167017" cy="291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0988" indent="-280988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sz="2800" u="sng" dirty="0"/>
              <a:t>Edge router:</a:t>
            </a:r>
          </a:p>
          <a:p>
            <a:pPr marL="342900" indent="-342900">
              <a:lnSpc>
                <a:spcPct val="60000"/>
              </a:lnSpc>
              <a:spcBef>
                <a:spcPct val="50000"/>
              </a:spcBef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400" dirty="0"/>
              <a:t>per-flow traffic ma	</a:t>
            </a:r>
            <a:r>
              <a:rPr lang="en-US" sz="2400" dirty="0" err="1"/>
              <a:t>nagement</a:t>
            </a:r>
            <a:endParaRPr lang="en-US" sz="2400" dirty="0"/>
          </a:p>
          <a:p>
            <a:pPr marL="342900" indent="-342900">
              <a:spcBef>
                <a:spcPct val="50000"/>
              </a:spcBef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400" dirty="0"/>
              <a:t>Classifies (marks) pkts</a:t>
            </a:r>
          </a:p>
          <a:p>
            <a:pPr marL="800100" lvl="1" indent="-342900">
              <a:spcBef>
                <a:spcPct val="50000"/>
              </a:spcBef>
              <a:buClr>
                <a:schemeClr val="tx1"/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2400" dirty="0"/>
              <a:t> different classes</a:t>
            </a:r>
          </a:p>
          <a:p>
            <a:pPr marL="800100" lvl="1" indent="-342900">
              <a:spcBef>
                <a:spcPct val="50000"/>
              </a:spcBef>
              <a:buClr>
                <a:schemeClr val="tx1"/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2400" dirty="0"/>
              <a:t> within a class:  in-profile and out-profile </a:t>
            </a:r>
          </a:p>
        </p:txBody>
      </p:sp>
      <p:sp>
        <p:nvSpPr>
          <p:cNvPr id="251134" name="Text Box 254"/>
          <p:cNvSpPr txBox="1">
            <a:spLocks noChangeArrowheads="1"/>
          </p:cNvSpPr>
          <p:nvPr/>
        </p:nvSpPr>
        <p:spPr bwMode="auto">
          <a:xfrm>
            <a:off x="868100" y="4207253"/>
            <a:ext cx="6574422" cy="230864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0988" indent="-280988">
              <a:spcBef>
                <a:spcPct val="50000"/>
              </a:spcBef>
              <a:buClr>
                <a:schemeClr val="tx1"/>
              </a:buClr>
            </a:pPr>
            <a:r>
              <a:rPr lang="en-US" sz="2800" u="sng" dirty="0"/>
              <a:t>Core router:</a:t>
            </a:r>
          </a:p>
          <a:p>
            <a:pPr marL="342900" indent="-342900">
              <a:spcBef>
                <a:spcPct val="50000"/>
              </a:spcBef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400" dirty="0"/>
              <a:t>per class traffic management</a:t>
            </a: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400" dirty="0"/>
              <a:t>buffering and scheduling based on marking at edge</a:t>
            </a:r>
          </a:p>
          <a:p>
            <a:pPr marL="342900" indent="-342900">
              <a:lnSpc>
                <a:spcPct val="70000"/>
              </a:lnSpc>
              <a:spcBef>
                <a:spcPct val="50000"/>
              </a:spcBef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400" dirty="0"/>
              <a:t>preference given to in-profile packets</a:t>
            </a:r>
          </a:p>
        </p:txBody>
      </p:sp>
      <p:grpSp>
        <p:nvGrpSpPr>
          <p:cNvPr id="36869" name="Group 2"/>
          <p:cNvGrpSpPr>
            <a:grpSpLocks/>
          </p:cNvGrpSpPr>
          <p:nvPr/>
        </p:nvGrpSpPr>
        <p:grpSpPr bwMode="auto">
          <a:xfrm>
            <a:off x="7052581" y="2647951"/>
            <a:ext cx="4691062" cy="3203575"/>
            <a:chOff x="2603" y="1673"/>
            <a:chExt cx="2955" cy="2018"/>
          </a:xfrm>
        </p:grpSpPr>
        <p:sp>
          <p:nvSpPr>
            <p:cNvPr id="36951" name="Line 3"/>
            <p:cNvSpPr>
              <a:spLocks noChangeShapeType="1"/>
            </p:cNvSpPr>
            <p:nvPr/>
          </p:nvSpPr>
          <p:spPr bwMode="auto">
            <a:xfrm flipV="1">
              <a:off x="5040" y="3552"/>
              <a:ext cx="298" cy="35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36952" name="Group 4"/>
            <p:cNvGrpSpPr>
              <a:grpSpLocks/>
            </p:cNvGrpSpPr>
            <p:nvPr/>
          </p:nvGrpSpPr>
          <p:grpSpPr bwMode="auto">
            <a:xfrm>
              <a:off x="2603" y="1673"/>
              <a:ext cx="2607" cy="1975"/>
              <a:chOff x="2603" y="1673"/>
              <a:chExt cx="2607" cy="1975"/>
            </a:xfrm>
          </p:grpSpPr>
          <p:sp>
            <p:nvSpPr>
              <p:cNvPr id="36954" name="Freeform 5"/>
              <p:cNvSpPr>
                <a:spLocks/>
              </p:cNvSpPr>
              <p:nvPr/>
            </p:nvSpPr>
            <p:spPr bwMode="auto">
              <a:xfrm>
                <a:off x="4223" y="2803"/>
                <a:ext cx="948" cy="845"/>
              </a:xfrm>
              <a:custGeom>
                <a:avLst/>
                <a:gdLst>
                  <a:gd name="T0" fmla="*/ 2 w 2135"/>
                  <a:gd name="T1" fmla="*/ 85 h 1662"/>
                  <a:gd name="T2" fmla="*/ 9 w 2135"/>
                  <a:gd name="T3" fmla="*/ 10 h 1662"/>
                  <a:gd name="T4" fmla="*/ 58 w 2135"/>
                  <a:gd name="T5" fmla="*/ 26 h 1662"/>
                  <a:gd name="T6" fmla="*/ 106 w 2135"/>
                  <a:gd name="T7" fmla="*/ 13 h 1662"/>
                  <a:gd name="T8" fmla="*/ 175 w 2135"/>
                  <a:gd name="T9" fmla="*/ 53 h 1662"/>
                  <a:gd name="T10" fmla="*/ 176 w 2135"/>
                  <a:gd name="T11" fmla="*/ 150 h 1662"/>
                  <a:gd name="T12" fmla="*/ 139 w 2135"/>
                  <a:gd name="T13" fmla="*/ 210 h 1662"/>
                  <a:gd name="T14" fmla="*/ 71 w 2135"/>
                  <a:gd name="T15" fmla="*/ 199 h 1662"/>
                  <a:gd name="T16" fmla="*/ 44 w 2135"/>
                  <a:gd name="T17" fmla="*/ 167 h 1662"/>
                  <a:gd name="T18" fmla="*/ 16 w 2135"/>
                  <a:gd name="T19" fmla="*/ 140 h 1662"/>
                  <a:gd name="T20" fmla="*/ 2 w 2135"/>
                  <a:gd name="T21" fmla="*/ 85 h 16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35"/>
                  <a:gd name="T34" fmla="*/ 0 h 1662"/>
                  <a:gd name="T35" fmla="*/ 2135 w 2135"/>
                  <a:gd name="T36" fmla="*/ 1662 h 166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35" h="1662">
                    <a:moveTo>
                      <a:pt x="27" y="652"/>
                    </a:moveTo>
                    <a:cubicBezTo>
                      <a:pt x="14" y="487"/>
                      <a:pt x="0" y="152"/>
                      <a:pt x="105" y="76"/>
                    </a:cubicBezTo>
                    <a:cubicBezTo>
                      <a:pt x="210" y="0"/>
                      <a:pt x="473" y="192"/>
                      <a:pt x="657" y="196"/>
                    </a:cubicBezTo>
                    <a:cubicBezTo>
                      <a:pt x="841" y="200"/>
                      <a:pt x="985" y="65"/>
                      <a:pt x="1209" y="100"/>
                    </a:cubicBezTo>
                    <a:cubicBezTo>
                      <a:pt x="1433" y="135"/>
                      <a:pt x="1867" y="232"/>
                      <a:pt x="2001" y="406"/>
                    </a:cubicBezTo>
                    <a:cubicBezTo>
                      <a:pt x="2135" y="580"/>
                      <a:pt x="2083" y="945"/>
                      <a:pt x="2013" y="1144"/>
                    </a:cubicBezTo>
                    <a:cubicBezTo>
                      <a:pt x="1943" y="1343"/>
                      <a:pt x="1781" y="1538"/>
                      <a:pt x="1581" y="1600"/>
                    </a:cubicBezTo>
                    <a:cubicBezTo>
                      <a:pt x="1381" y="1662"/>
                      <a:pt x="993" y="1571"/>
                      <a:pt x="813" y="1516"/>
                    </a:cubicBezTo>
                    <a:cubicBezTo>
                      <a:pt x="633" y="1461"/>
                      <a:pt x="606" y="1345"/>
                      <a:pt x="501" y="1270"/>
                    </a:cubicBezTo>
                    <a:cubicBezTo>
                      <a:pt x="396" y="1195"/>
                      <a:pt x="262" y="1169"/>
                      <a:pt x="183" y="1066"/>
                    </a:cubicBezTo>
                    <a:cubicBezTo>
                      <a:pt x="104" y="963"/>
                      <a:pt x="25" y="819"/>
                      <a:pt x="27" y="6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55" name="Freeform 6"/>
              <p:cNvSpPr>
                <a:spLocks/>
              </p:cNvSpPr>
              <p:nvPr/>
            </p:nvSpPr>
            <p:spPr bwMode="auto">
              <a:xfrm>
                <a:off x="4254" y="1781"/>
                <a:ext cx="734" cy="986"/>
              </a:xfrm>
              <a:custGeom>
                <a:avLst/>
                <a:gdLst>
                  <a:gd name="T0" fmla="*/ 44 w 1292"/>
                  <a:gd name="T1" fmla="*/ 3 h 1255"/>
                  <a:gd name="T2" fmla="*/ 6 w 1292"/>
                  <a:gd name="T3" fmla="*/ 76 h 1255"/>
                  <a:gd name="T4" fmla="*/ 5 w 1292"/>
                  <a:gd name="T5" fmla="*/ 254 h 1255"/>
                  <a:gd name="T6" fmla="*/ 10 w 1292"/>
                  <a:gd name="T7" fmla="*/ 401 h 1255"/>
                  <a:gd name="T8" fmla="*/ 45 w 1292"/>
                  <a:gd name="T9" fmla="*/ 422 h 1255"/>
                  <a:gd name="T10" fmla="*/ 119 w 1292"/>
                  <a:gd name="T11" fmla="*/ 548 h 1255"/>
                  <a:gd name="T12" fmla="*/ 182 w 1292"/>
                  <a:gd name="T13" fmla="*/ 600 h 1255"/>
                  <a:gd name="T14" fmla="*/ 220 w 1292"/>
                  <a:gd name="T15" fmla="*/ 495 h 1255"/>
                  <a:gd name="T16" fmla="*/ 233 w 1292"/>
                  <a:gd name="T17" fmla="*/ 216 h 1255"/>
                  <a:gd name="T18" fmla="*/ 221 w 1292"/>
                  <a:gd name="T19" fmla="*/ 102 h 1255"/>
                  <a:gd name="T20" fmla="*/ 137 w 1292"/>
                  <a:gd name="T21" fmla="*/ 56 h 1255"/>
                  <a:gd name="T22" fmla="*/ 44 w 1292"/>
                  <a:gd name="T23" fmla="*/ 3 h 12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92"/>
                  <a:gd name="T37" fmla="*/ 0 h 1255"/>
                  <a:gd name="T38" fmla="*/ 1292 w 1292"/>
                  <a:gd name="T39" fmla="*/ 1255 h 12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92" h="1255">
                    <a:moveTo>
                      <a:pt x="239" y="7"/>
                    </a:moveTo>
                    <a:cubicBezTo>
                      <a:pt x="120" y="14"/>
                      <a:pt x="70" y="71"/>
                      <a:pt x="35" y="157"/>
                    </a:cubicBezTo>
                    <a:cubicBezTo>
                      <a:pt x="0" y="243"/>
                      <a:pt x="26" y="411"/>
                      <a:pt x="29" y="523"/>
                    </a:cubicBezTo>
                    <a:cubicBezTo>
                      <a:pt x="32" y="635"/>
                      <a:pt x="17" y="771"/>
                      <a:pt x="53" y="829"/>
                    </a:cubicBezTo>
                    <a:cubicBezTo>
                      <a:pt x="89" y="887"/>
                      <a:pt x="146" y="821"/>
                      <a:pt x="245" y="871"/>
                    </a:cubicBezTo>
                    <a:cubicBezTo>
                      <a:pt x="344" y="921"/>
                      <a:pt x="522" y="1068"/>
                      <a:pt x="647" y="1129"/>
                    </a:cubicBezTo>
                    <a:cubicBezTo>
                      <a:pt x="772" y="1190"/>
                      <a:pt x="903" y="1255"/>
                      <a:pt x="995" y="1237"/>
                    </a:cubicBezTo>
                    <a:cubicBezTo>
                      <a:pt x="1087" y="1219"/>
                      <a:pt x="1153" y="1153"/>
                      <a:pt x="1199" y="1021"/>
                    </a:cubicBezTo>
                    <a:cubicBezTo>
                      <a:pt x="1245" y="889"/>
                      <a:pt x="1270" y="580"/>
                      <a:pt x="1271" y="445"/>
                    </a:cubicBezTo>
                    <a:cubicBezTo>
                      <a:pt x="1272" y="310"/>
                      <a:pt x="1292" y="266"/>
                      <a:pt x="1205" y="211"/>
                    </a:cubicBezTo>
                    <a:cubicBezTo>
                      <a:pt x="1118" y="156"/>
                      <a:pt x="908" y="150"/>
                      <a:pt x="749" y="115"/>
                    </a:cubicBezTo>
                    <a:cubicBezTo>
                      <a:pt x="590" y="80"/>
                      <a:pt x="358" y="0"/>
                      <a:pt x="239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56" name="Freeform 7"/>
              <p:cNvSpPr>
                <a:spLocks/>
              </p:cNvSpPr>
              <p:nvPr/>
            </p:nvSpPr>
            <p:spPr bwMode="auto">
              <a:xfrm>
                <a:off x="3106" y="1819"/>
                <a:ext cx="979" cy="1128"/>
              </a:xfrm>
              <a:custGeom>
                <a:avLst/>
                <a:gdLst>
                  <a:gd name="T0" fmla="*/ 215 w 1340"/>
                  <a:gd name="T1" fmla="*/ 36 h 1191"/>
                  <a:gd name="T2" fmla="*/ 32 w 1340"/>
                  <a:gd name="T3" fmla="*/ 51 h 1191"/>
                  <a:gd name="T4" fmla="*/ 23 w 1340"/>
                  <a:gd name="T5" fmla="*/ 342 h 1191"/>
                  <a:gd name="T6" fmla="*/ 11 w 1340"/>
                  <a:gd name="T7" fmla="*/ 612 h 1191"/>
                  <a:gd name="T8" fmla="*/ 44 w 1340"/>
                  <a:gd name="T9" fmla="*/ 739 h 1191"/>
                  <a:gd name="T10" fmla="*/ 210 w 1340"/>
                  <a:gd name="T11" fmla="*/ 744 h 1191"/>
                  <a:gd name="T12" fmla="*/ 250 w 1340"/>
                  <a:gd name="T13" fmla="*/ 958 h 1191"/>
                  <a:gd name="T14" fmla="*/ 481 w 1340"/>
                  <a:gd name="T15" fmla="*/ 933 h 1191"/>
                  <a:gd name="T16" fmla="*/ 498 w 1340"/>
                  <a:gd name="T17" fmla="*/ 484 h 1191"/>
                  <a:gd name="T18" fmla="*/ 470 w 1340"/>
                  <a:gd name="T19" fmla="*/ 291 h 1191"/>
                  <a:gd name="T20" fmla="*/ 296 w 1340"/>
                  <a:gd name="T21" fmla="*/ 245 h 1191"/>
                  <a:gd name="T22" fmla="*/ 215 w 1340"/>
                  <a:gd name="T23" fmla="*/ 36 h 11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40"/>
                  <a:gd name="T37" fmla="*/ 0 h 1191"/>
                  <a:gd name="T38" fmla="*/ 1340 w 1340"/>
                  <a:gd name="T39" fmla="*/ 1191 h 119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40" h="1191">
                    <a:moveTo>
                      <a:pt x="550" y="42"/>
                    </a:moveTo>
                    <a:cubicBezTo>
                      <a:pt x="437" y="4"/>
                      <a:pt x="164" y="0"/>
                      <a:pt x="82" y="60"/>
                    </a:cubicBezTo>
                    <a:cubicBezTo>
                      <a:pt x="0" y="120"/>
                      <a:pt x="67" y="292"/>
                      <a:pt x="58" y="402"/>
                    </a:cubicBezTo>
                    <a:cubicBezTo>
                      <a:pt x="49" y="512"/>
                      <a:pt x="19" y="642"/>
                      <a:pt x="28" y="720"/>
                    </a:cubicBezTo>
                    <a:cubicBezTo>
                      <a:pt x="37" y="798"/>
                      <a:pt x="27" y="844"/>
                      <a:pt x="112" y="870"/>
                    </a:cubicBezTo>
                    <a:cubicBezTo>
                      <a:pt x="197" y="896"/>
                      <a:pt x="450" y="833"/>
                      <a:pt x="538" y="876"/>
                    </a:cubicBezTo>
                    <a:cubicBezTo>
                      <a:pt x="626" y="919"/>
                      <a:pt x="524" y="1091"/>
                      <a:pt x="640" y="1128"/>
                    </a:cubicBezTo>
                    <a:cubicBezTo>
                      <a:pt x="756" y="1165"/>
                      <a:pt x="1128" y="1191"/>
                      <a:pt x="1234" y="1098"/>
                    </a:cubicBezTo>
                    <a:cubicBezTo>
                      <a:pt x="1340" y="1005"/>
                      <a:pt x="1281" y="696"/>
                      <a:pt x="1276" y="570"/>
                    </a:cubicBezTo>
                    <a:cubicBezTo>
                      <a:pt x="1271" y="444"/>
                      <a:pt x="1290" y="389"/>
                      <a:pt x="1204" y="342"/>
                    </a:cubicBezTo>
                    <a:cubicBezTo>
                      <a:pt x="1118" y="295"/>
                      <a:pt x="868" y="338"/>
                      <a:pt x="760" y="288"/>
                    </a:cubicBezTo>
                    <a:cubicBezTo>
                      <a:pt x="652" y="238"/>
                      <a:pt x="663" y="80"/>
                      <a:pt x="550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36957" name="Picture 8" descr="w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603" y="2551"/>
                <a:ext cx="231" cy="23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6958" name="Line 9"/>
              <p:cNvSpPr>
                <a:spLocks noChangeShapeType="1"/>
              </p:cNvSpPr>
              <p:nvPr/>
            </p:nvSpPr>
            <p:spPr bwMode="auto">
              <a:xfrm>
                <a:off x="4712" y="2697"/>
                <a:ext cx="0" cy="169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grpSp>
            <p:nvGrpSpPr>
              <p:cNvPr id="36959" name="Group 10"/>
              <p:cNvGrpSpPr>
                <a:grpSpLocks/>
              </p:cNvGrpSpPr>
              <p:nvPr/>
            </p:nvGrpSpPr>
            <p:grpSpPr bwMode="auto">
              <a:xfrm>
                <a:off x="3068" y="2587"/>
                <a:ext cx="217" cy="101"/>
                <a:chOff x="3600" y="219"/>
                <a:chExt cx="360" cy="175"/>
              </a:xfrm>
            </p:grpSpPr>
            <p:sp>
              <p:nvSpPr>
                <p:cNvPr id="37187" name="Oval 11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88" name="Line 12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89" name="Line 13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90" name="Rectangle 14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91" name="Oval 15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92" name="Group 16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97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9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9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93" name="Group 20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94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95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96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sp>
            <p:nvSpPr>
              <p:cNvPr id="36960" name="Line 24"/>
              <p:cNvSpPr>
                <a:spLocks noChangeShapeType="1"/>
              </p:cNvSpPr>
              <p:nvPr/>
            </p:nvSpPr>
            <p:spPr bwMode="auto">
              <a:xfrm flipV="1">
                <a:off x="3232" y="2386"/>
                <a:ext cx="132" cy="201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61" name="Line 25"/>
              <p:cNvSpPr>
                <a:spLocks noChangeShapeType="1"/>
              </p:cNvSpPr>
              <p:nvPr/>
            </p:nvSpPr>
            <p:spPr bwMode="auto">
              <a:xfrm flipV="1">
                <a:off x="3860" y="2184"/>
                <a:ext cx="66" cy="167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62" name="Line 26"/>
              <p:cNvSpPr>
                <a:spLocks noChangeShapeType="1"/>
              </p:cNvSpPr>
              <p:nvPr/>
            </p:nvSpPr>
            <p:spPr bwMode="auto">
              <a:xfrm>
                <a:off x="3860" y="2419"/>
                <a:ext cx="66" cy="202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63" name="Line 27"/>
              <p:cNvSpPr>
                <a:spLocks noChangeShapeType="1"/>
              </p:cNvSpPr>
              <p:nvPr/>
            </p:nvSpPr>
            <p:spPr bwMode="auto">
              <a:xfrm>
                <a:off x="3265" y="2116"/>
                <a:ext cx="99" cy="235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pic>
            <p:nvPicPr>
              <p:cNvPr id="36964" name="Picture 28" descr="w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603" y="2185"/>
                <a:ext cx="231" cy="2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36965" name="Group 29"/>
              <p:cNvGrpSpPr>
                <a:grpSpLocks/>
              </p:cNvGrpSpPr>
              <p:nvPr/>
            </p:nvGrpSpPr>
            <p:grpSpPr bwMode="auto">
              <a:xfrm>
                <a:off x="4591" y="2627"/>
                <a:ext cx="216" cy="103"/>
                <a:chOff x="3600" y="219"/>
                <a:chExt cx="360" cy="175"/>
              </a:xfrm>
            </p:grpSpPr>
            <p:sp>
              <p:nvSpPr>
                <p:cNvPr id="37174" name="Oval 30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75" name="Line 31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76" name="Line 32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77" name="Rectangle 33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78" name="Oval 34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79" name="Group 35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84" name="Line 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85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8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80" name="Group 39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81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82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83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66" name="Group 43"/>
              <p:cNvGrpSpPr>
                <a:grpSpLocks/>
              </p:cNvGrpSpPr>
              <p:nvPr/>
            </p:nvGrpSpPr>
            <p:grpSpPr bwMode="auto">
              <a:xfrm>
                <a:off x="4621" y="2838"/>
                <a:ext cx="218" cy="104"/>
                <a:chOff x="3600" y="219"/>
                <a:chExt cx="360" cy="175"/>
              </a:xfrm>
            </p:grpSpPr>
            <p:sp>
              <p:nvSpPr>
                <p:cNvPr id="37161" name="Oval 44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62" name="Line 45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63" name="Line 46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64" name="Rectangle 47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65" name="Oval 48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66" name="Group 49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71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7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7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67" name="Group 53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68" name="Line 5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69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70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67" name="Group 57"/>
              <p:cNvGrpSpPr>
                <a:grpSpLocks/>
              </p:cNvGrpSpPr>
              <p:nvPr/>
            </p:nvGrpSpPr>
            <p:grpSpPr bwMode="auto">
              <a:xfrm>
                <a:off x="4865" y="3507"/>
                <a:ext cx="218" cy="101"/>
                <a:chOff x="3600" y="219"/>
                <a:chExt cx="360" cy="175"/>
              </a:xfrm>
            </p:grpSpPr>
            <p:sp>
              <p:nvSpPr>
                <p:cNvPr id="37148" name="Oval 58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49" name="Line 59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50" name="Line 60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51" name="Rectangle 61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52" name="Oval 62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53" name="Group 63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58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59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60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54" name="Group 67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55" name="Line 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56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57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sp>
            <p:nvSpPr>
              <p:cNvPr id="36968" name="Line 71"/>
              <p:cNvSpPr>
                <a:spLocks noChangeShapeType="1"/>
              </p:cNvSpPr>
              <p:nvPr/>
            </p:nvSpPr>
            <p:spPr bwMode="auto">
              <a:xfrm>
                <a:off x="4040" y="2133"/>
                <a:ext cx="264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grpSp>
            <p:nvGrpSpPr>
              <p:cNvPr id="36969" name="Group 72"/>
              <p:cNvGrpSpPr>
                <a:grpSpLocks/>
              </p:cNvGrpSpPr>
              <p:nvPr/>
            </p:nvGrpSpPr>
            <p:grpSpPr bwMode="auto">
              <a:xfrm>
                <a:off x="4193" y="2098"/>
                <a:ext cx="217" cy="105"/>
                <a:chOff x="3600" y="219"/>
                <a:chExt cx="360" cy="175"/>
              </a:xfrm>
            </p:grpSpPr>
            <p:sp>
              <p:nvSpPr>
                <p:cNvPr id="37135" name="Oval 73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36" name="Line 74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37" name="Line 75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38" name="Rectangle 76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39" name="Oval 77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40" name="Group 78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45" name="Line 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46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47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41" name="Group 82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42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43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44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70" name="Group 86"/>
              <p:cNvGrpSpPr>
                <a:grpSpLocks/>
              </p:cNvGrpSpPr>
              <p:nvPr/>
            </p:nvGrpSpPr>
            <p:grpSpPr bwMode="auto">
              <a:xfrm>
                <a:off x="3101" y="2050"/>
                <a:ext cx="217" cy="100"/>
                <a:chOff x="3600" y="219"/>
                <a:chExt cx="360" cy="175"/>
              </a:xfrm>
            </p:grpSpPr>
            <p:sp>
              <p:nvSpPr>
                <p:cNvPr id="37122" name="Oval 87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23" name="Line 88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24" name="Line 89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25" name="Rectangle 90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26" name="Oval 91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27" name="Group 92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32" name="Line 9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33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34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28" name="Group 96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29" name="Line 9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30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31" name="Line 99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71" name="Group 100"/>
              <p:cNvGrpSpPr>
                <a:grpSpLocks/>
              </p:cNvGrpSpPr>
              <p:nvPr/>
            </p:nvGrpSpPr>
            <p:grpSpPr bwMode="auto">
              <a:xfrm>
                <a:off x="3893" y="2587"/>
                <a:ext cx="217" cy="103"/>
                <a:chOff x="3600" y="219"/>
                <a:chExt cx="360" cy="175"/>
              </a:xfrm>
            </p:grpSpPr>
            <p:sp>
              <p:nvSpPr>
                <p:cNvPr id="37109" name="Oval 101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10" name="Line 102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11" name="Line 103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112" name="Rectangle 104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13" name="Oval 105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14" name="Group 106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19" name="Line 1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20" name="Line 108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21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15" name="Group 110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16" name="Line 1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17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18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72" name="Group 114"/>
              <p:cNvGrpSpPr>
                <a:grpSpLocks/>
              </p:cNvGrpSpPr>
              <p:nvPr/>
            </p:nvGrpSpPr>
            <p:grpSpPr bwMode="auto">
              <a:xfrm>
                <a:off x="3893" y="2082"/>
                <a:ext cx="217" cy="105"/>
                <a:chOff x="3600" y="219"/>
                <a:chExt cx="360" cy="175"/>
              </a:xfrm>
            </p:grpSpPr>
            <p:sp>
              <p:nvSpPr>
                <p:cNvPr id="37096" name="Oval 115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97" name="Line 116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98" name="Line 117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99" name="Rectangle 118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100" name="Oval 119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01" name="Group 120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106" name="Line 1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07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08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102" name="Group 124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103" name="Line 1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04" name="Line 126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105" name="Line 127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73" name="Group 128"/>
              <p:cNvGrpSpPr>
                <a:grpSpLocks/>
              </p:cNvGrpSpPr>
              <p:nvPr/>
            </p:nvGrpSpPr>
            <p:grpSpPr bwMode="auto">
              <a:xfrm>
                <a:off x="4896" y="2133"/>
                <a:ext cx="217" cy="104"/>
                <a:chOff x="3600" y="219"/>
                <a:chExt cx="360" cy="175"/>
              </a:xfrm>
            </p:grpSpPr>
            <p:sp>
              <p:nvSpPr>
                <p:cNvPr id="37083" name="Oval 129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84" name="Line 130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85" name="Line 131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86" name="Rectangle 132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87" name="Oval 133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88" name="Group 134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93" name="Line 1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94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95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89" name="Group 138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90" name="Line 1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91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92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sp>
            <p:nvSpPr>
              <p:cNvPr id="36974" name="Line 142"/>
              <p:cNvSpPr>
                <a:spLocks noChangeShapeType="1"/>
              </p:cNvSpPr>
              <p:nvPr/>
            </p:nvSpPr>
            <p:spPr bwMode="auto">
              <a:xfrm>
                <a:off x="3530" y="2386"/>
                <a:ext cx="165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grpSp>
            <p:nvGrpSpPr>
              <p:cNvPr id="36975" name="Group 143"/>
              <p:cNvGrpSpPr>
                <a:grpSpLocks/>
              </p:cNvGrpSpPr>
              <p:nvPr/>
            </p:nvGrpSpPr>
            <p:grpSpPr bwMode="auto">
              <a:xfrm>
                <a:off x="3332" y="2318"/>
                <a:ext cx="217" cy="104"/>
                <a:chOff x="3600" y="219"/>
                <a:chExt cx="360" cy="175"/>
              </a:xfrm>
            </p:grpSpPr>
            <p:sp>
              <p:nvSpPr>
                <p:cNvPr id="37070" name="Oval 144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1" name="Line 145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72" name="Line 146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73" name="Rectangle 147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74" name="Oval 148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75" name="Group 149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80" name="Line 1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81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82" name="Line 15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76" name="Group 153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77" name="Line 15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78" name="Line 15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79" name="Line 15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76" name="Group 157"/>
              <p:cNvGrpSpPr>
                <a:grpSpLocks/>
              </p:cNvGrpSpPr>
              <p:nvPr/>
            </p:nvGrpSpPr>
            <p:grpSpPr bwMode="auto">
              <a:xfrm>
                <a:off x="3662" y="2318"/>
                <a:ext cx="217" cy="104"/>
                <a:chOff x="3600" y="219"/>
                <a:chExt cx="360" cy="175"/>
              </a:xfrm>
            </p:grpSpPr>
            <p:sp>
              <p:nvSpPr>
                <p:cNvPr id="37057" name="Oval 158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58" name="Line 159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59" name="Line 160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60" name="Rectangle 161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61" name="Oval 162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62" name="Group 163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67" name="Line 1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68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69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63" name="Group 167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64" name="Line 1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65" name="Line 169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66" name="Line 170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pic>
            <p:nvPicPr>
              <p:cNvPr id="36977" name="Picture 171" descr="w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603" y="1673"/>
                <a:ext cx="231" cy="23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6978" name="Line 172"/>
              <p:cNvSpPr>
                <a:spLocks noChangeShapeType="1"/>
              </p:cNvSpPr>
              <p:nvPr/>
            </p:nvSpPr>
            <p:spPr bwMode="auto">
              <a:xfrm flipH="1">
                <a:off x="2949" y="2112"/>
                <a:ext cx="157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79" name="Line 173"/>
              <p:cNvSpPr>
                <a:spLocks noChangeShapeType="1"/>
              </p:cNvSpPr>
              <p:nvPr/>
            </p:nvSpPr>
            <p:spPr bwMode="auto">
              <a:xfrm>
                <a:off x="2949" y="1819"/>
                <a:ext cx="0" cy="512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80" name="Line 174"/>
              <p:cNvSpPr>
                <a:spLocks noChangeShapeType="1"/>
              </p:cNvSpPr>
              <p:nvPr/>
            </p:nvSpPr>
            <p:spPr bwMode="auto">
              <a:xfrm flipH="1">
                <a:off x="2792" y="1819"/>
                <a:ext cx="157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81" name="Line 175"/>
              <p:cNvSpPr>
                <a:spLocks noChangeShapeType="1"/>
              </p:cNvSpPr>
              <p:nvPr/>
            </p:nvSpPr>
            <p:spPr bwMode="auto">
              <a:xfrm>
                <a:off x="2949" y="2331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82" name="Line 176"/>
              <p:cNvSpPr>
                <a:spLocks noChangeShapeType="1"/>
              </p:cNvSpPr>
              <p:nvPr/>
            </p:nvSpPr>
            <p:spPr bwMode="auto">
              <a:xfrm flipH="1">
                <a:off x="2792" y="2331"/>
                <a:ext cx="157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83" name="Line 177"/>
              <p:cNvSpPr>
                <a:spLocks noChangeShapeType="1"/>
              </p:cNvSpPr>
              <p:nvPr/>
            </p:nvSpPr>
            <p:spPr bwMode="auto">
              <a:xfrm flipH="1">
                <a:off x="2949" y="2624"/>
                <a:ext cx="125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84" name="Line 178"/>
              <p:cNvSpPr>
                <a:spLocks noChangeShapeType="1"/>
              </p:cNvSpPr>
              <p:nvPr/>
            </p:nvSpPr>
            <p:spPr bwMode="auto">
              <a:xfrm>
                <a:off x="2949" y="2624"/>
                <a:ext cx="0" cy="11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85" name="Line 179"/>
              <p:cNvSpPr>
                <a:spLocks noChangeShapeType="1"/>
              </p:cNvSpPr>
              <p:nvPr/>
            </p:nvSpPr>
            <p:spPr bwMode="auto">
              <a:xfrm flipH="1">
                <a:off x="2792" y="2734"/>
                <a:ext cx="157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grpSp>
            <p:nvGrpSpPr>
              <p:cNvPr id="36986" name="Group 180"/>
              <p:cNvGrpSpPr>
                <a:grpSpLocks/>
              </p:cNvGrpSpPr>
              <p:nvPr/>
            </p:nvGrpSpPr>
            <p:grpSpPr bwMode="auto">
              <a:xfrm>
                <a:off x="4237" y="3282"/>
                <a:ext cx="217" cy="105"/>
                <a:chOff x="3600" y="219"/>
                <a:chExt cx="360" cy="175"/>
              </a:xfrm>
            </p:grpSpPr>
            <p:sp>
              <p:nvSpPr>
                <p:cNvPr id="37044" name="Oval 181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45" name="Line 182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46" name="Line 183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47" name="Rectangle 184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48" name="Oval 185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49" name="Group 186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54" name="Line 1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55" name="Line 188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56" name="Line 189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50" name="Group 190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51" name="Line 1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52" name="Line 19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53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87" name="Group 194"/>
              <p:cNvGrpSpPr>
                <a:grpSpLocks/>
              </p:cNvGrpSpPr>
              <p:nvPr/>
            </p:nvGrpSpPr>
            <p:grpSpPr bwMode="auto">
              <a:xfrm>
                <a:off x="4519" y="2112"/>
                <a:ext cx="217" cy="104"/>
                <a:chOff x="3600" y="219"/>
                <a:chExt cx="360" cy="175"/>
              </a:xfrm>
            </p:grpSpPr>
            <p:sp>
              <p:nvSpPr>
                <p:cNvPr id="37031" name="Oval 195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32" name="Line 196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33" name="Line 197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34" name="Rectangle 198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35" name="Oval 199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36" name="Group 200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41" name="Line 2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42" name="Line 202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43" name="Line 203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37" name="Group 204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38" name="Line 20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39" name="Line 206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40" name="Line 207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88" name="Group 208"/>
              <p:cNvGrpSpPr>
                <a:grpSpLocks/>
              </p:cNvGrpSpPr>
              <p:nvPr/>
            </p:nvGrpSpPr>
            <p:grpSpPr bwMode="auto">
              <a:xfrm>
                <a:off x="4551" y="1819"/>
                <a:ext cx="217" cy="105"/>
                <a:chOff x="3600" y="219"/>
                <a:chExt cx="360" cy="175"/>
              </a:xfrm>
            </p:grpSpPr>
            <p:sp>
              <p:nvSpPr>
                <p:cNvPr id="37018" name="Oval 209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19" name="Line 210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20" name="Line 211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21" name="Rectangle 212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22" name="Oval 213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23" name="Group 214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28" name="Line 2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29" name="Line 216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30" name="Line 217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24" name="Group 218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25" name="Line 2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26" name="Line 220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27" name="Line 221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grpSp>
            <p:nvGrpSpPr>
              <p:cNvPr id="36989" name="Group 222"/>
              <p:cNvGrpSpPr>
                <a:grpSpLocks/>
              </p:cNvGrpSpPr>
              <p:nvPr/>
            </p:nvGrpSpPr>
            <p:grpSpPr bwMode="auto">
              <a:xfrm>
                <a:off x="4645" y="3209"/>
                <a:ext cx="217" cy="105"/>
                <a:chOff x="3600" y="219"/>
                <a:chExt cx="360" cy="175"/>
              </a:xfrm>
            </p:grpSpPr>
            <p:sp>
              <p:nvSpPr>
                <p:cNvPr id="37005" name="Oval 223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06" name="Line 224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07" name="Line 225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7008" name="Rectangle 226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fr-FR" sz="2400">
                    <a:latin typeface="Times New Roman" pitchFamily="18" charset="0"/>
                  </a:endParaRPr>
                </a:p>
              </p:txBody>
            </p:sp>
            <p:sp>
              <p:nvSpPr>
                <p:cNvPr id="37009" name="Oval 227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010" name="Group 228"/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37015" name="Line 2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16" name="Line 230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17" name="Line 231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  <p:grpSp>
              <p:nvGrpSpPr>
                <p:cNvPr id="37011" name="Group 232"/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37012" name="Line 2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13" name="Line 234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  <p:sp>
                <p:nvSpPr>
                  <p:cNvPr id="37014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CA"/>
                  </a:p>
                </p:txBody>
              </p:sp>
            </p:grpSp>
          </p:grpSp>
          <p:sp>
            <p:nvSpPr>
              <p:cNvPr id="36990" name="Line 236"/>
              <p:cNvSpPr>
                <a:spLocks noChangeShapeType="1"/>
              </p:cNvSpPr>
              <p:nvPr/>
            </p:nvSpPr>
            <p:spPr bwMode="auto">
              <a:xfrm flipV="1">
                <a:off x="4394" y="1893"/>
                <a:ext cx="188" cy="219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1" name="Line 237"/>
              <p:cNvSpPr>
                <a:spLocks noChangeShapeType="1"/>
              </p:cNvSpPr>
              <p:nvPr/>
            </p:nvSpPr>
            <p:spPr bwMode="auto">
              <a:xfrm>
                <a:off x="4645" y="1893"/>
                <a:ext cx="0" cy="256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2" name="Line 238"/>
              <p:cNvSpPr>
                <a:spLocks noChangeShapeType="1"/>
              </p:cNvSpPr>
              <p:nvPr/>
            </p:nvSpPr>
            <p:spPr bwMode="auto">
              <a:xfrm>
                <a:off x="4394" y="2149"/>
                <a:ext cx="125" cy="0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3" name="Line 239"/>
              <p:cNvSpPr>
                <a:spLocks noChangeShapeType="1"/>
              </p:cNvSpPr>
              <p:nvPr/>
            </p:nvSpPr>
            <p:spPr bwMode="auto">
              <a:xfrm>
                <a:off x="4739" y="2149"/>
                <a:ext cx="189" cy="36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4" name="Line 240"/>
              <p:cNvSpPr>
                <a:spLocks noChangeShapeType="1"/>
              </p:cNvSpPr>
              <p:nvPr/>
            </p:nvSpPr>
            <p:spPr bwMode="auto">
              <a:xfrm>
                <a:off x="4645" y="2222"/>
                <a:ext cx="63" cy="402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5" name="Line 241"/>
              <p:cNvSpPr>
                <a:spLocks noChangeShapeType="1"/>
              </p:cNvSpPr>
              <p:nvPr/>
            </p:nvSpPr>
            <p:spPr bwMode="auto">
              <a:xfrm>
                <a:off x="4739" y="2917"/>
                <a:ext cx="0" cy="329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6" name="Line 242"/>
              <p:cNvSpPr>
                <a:spLocks noChangeShapeType="1"/>
              </p:cNvSpPr>
              <p:nvPr/>
            </p:nvSpPr>
            <p:spPr bwMode="auto">
              <a:xfrm flipH="1">
                <a:off x="4456" y="3282"/>
                <a:ext cx="189" cy="37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7" name="Line 243"/>
              <p:cNvSpPr>
                <a:spLocks noChangeShapeType="1"/>
              </p:cNvSpPr>
              <p:nvPr/>
            </p:nvSpPr>
            <p:spPr bwMode="auto">
              <a:xfrm>
                <a:off x="4739" y="3282"/>
                <a:ext cx="157" cy="256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8" name="Line 244"/>
              <p:cNvSpPr>
                <a:spLocks noChangeShapeType="1"/>
              </p:cNvSpPr>
              <p:nvPr/>
            </p:nvSpPr>
            <p:spPr bwMode="auto">
              <a:xfrm>
                <a:off x="4394" y="2149"/>
                <a:ext cx="282" cy="512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99" name="Line 245"/>
              <p:cNvSpPr>
                <a:spLocks noChangeShapeType="1"/>
              </p:cNvSpPr>
              <p:nvPr/>
            </p:nvSpPr>
            <p:spPr bwMode="auto">
              <a:xfrm flipH="1">
                <a:off x="3795" y="2688"/>
                <a:ext cx="189" cy="329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7000" name="Line 246"/>
              <p:cNvSpPr>
                <a:spLocks noChangeShapeType="1"/>
              </p:cNvSpPr>
              <p:nvPr/>
            </p:nvSpPr>
            <p:spPr bwMode="auto">
              <a:xfrm>
                <a:off x="3999" y="2686"/>
                <a:ext cx="94" cy="329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7001" name="Line 247"/>
              <p:cNvSpPr>
                <a:spLocks noChangeShapeType="1"/>
              </p:cNvSpPr>
              <p:nvPr/>
            </p:nvSpPr>
            <p:spPr bwMode="auto">
              <a:xfrm flipV="1">
                <a:off x="5116" y="1893"/>
                <a:ext cx="94" cy="292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7002" name="Line 248"/>
              <p:cNvSpPr>
                <a:spLocks noChangeShapeType="1"/>
              </p:cNvSpPr>
              <p:nvPr/>
            </p:nvSpPr>
            <p:spPr bwMode="auto">
              <a:xfrm>
                <a:off x="5116" y="2185"/>
                <a:ext cx="94" cy="293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7003" name="Line 249"/>
              <p:cNvSpPr>
                <a:spLocks noChangeShapeType="1"/>
              </p:cNvSpPr>
              <p:nvPr/>
            </p:nvSpPr>
            <p:spPr bwMode="auto">
              <a:xfrm flipH="1" flipV="1">
                <a:off x="4425" y="1673"/>
                <a:ext cx="220" cy="146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7004" name="Line 250"/>
              <p:cNvSpPr>
                <a:spLocks noChangeShapeType="1"/>
              </p:cNvSpPr>
              <p:nvPr/>
            </p:nvSpPr>
            <p:spPr bwMode="auto">
              <a:xfrm flipV="1">
                <a:off x="4645" y="1673"/>
                <a:ext cx="220" cy="146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pic>
          <p:nvPicPr>
            <p:cNvPr id="36953" name="Picture 251" descr="w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28" y="3456"/>
              <a:ext cx="230" cy="23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</p:pic>
      </p:grpSp>
      <p:sp>
        <p:nvSpPr>
          <p:cNvPr id="36870" name="Rectangle 252"/>
          <p:cNvSpPr>
            <a:spLocks noGrp="1" noChangeArrowheads="1"/>
          </p:cNvSpPr>
          <p:nvPr>
            <p:ph type="title"/>
          </p:nvPr>
        </p:nvSpPr>
        <p:spPr>
          <a:xfrm>
            <a:off x="868101" y="304800"/>
            <a:ext cx="10637134" cy="685800"/>
          </a:xfrm>
        </p:spPr>
        <p:txBody>
          <a:bodyPr/>
          <a:lstStyle/>
          <a:p>
            <a:pPr algn="l"/>
            <a:r>
              <a:rPr lang="en-US" sz="4000" dirty="0" err="1"/>
              <a:t>DiffServ</a:t>
            </a:r>
            <a:r>
              <a:rPr lang="en-US" sz="4000" dirty="0"/>
              <a:t> Architecture</a:t>
            </a:r>
            <a:endParaRPr lang="en-US" dirty="0">
              <a:solidFill>
                <a:srgbClr val="3333FF"/>
              </a:solidFill>
            </a:endParaRPr>
          </a:p>
        </p:txBody>
      </p:sp>
      <p:grpSp>
        <p:nvGrpSpPr>
          <p:cNvPr id="36871" name="Group 255"/>
          <p:cNvGrpSpPr>
            <a:grpSpLocks/>
          </p:cNvGrpSpPr>
          <p:nvPr/>
        </p:nvGrpSpPr>
        <p:grpSpPr bwMode="auto">
          <a:xfrm>
            <a:off x="3253510" y="1191992"/>
            <a:ext cx="501650" cy="233362"/>
            <a:chOff x="3600" y="219"/>
            <a:chExt cx="360" cy="175"/>
          </a:xfrm>
        </p:grpSpPr>
        <p:sp>
          <p:nvSpPr>
            <p:cNvPr id="36938" name="Oval 25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9" name="Line 25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40" name="Line 25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41" name="Rectangle 25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fr-FR" sz="2400">
                <a:latin typeface="Times New Roman" pitchFamily="18" charset="0"/>
              </a:endParaRPr>
            </a:p>
          </p:txBody>
        </p:sp>
        <p:sp>
          <p:nvSpPr>
            <p:cNvPr id="36942" name="Oval 26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943" name="Group 26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6948" name="Line 26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49" name="Line 26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50" name="Line 26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6944" name="Group 26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6945" name="Line 26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46" name="Line 26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47" name="Line 26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36872" name="Group 269"/>
          <p:cNvGrpSpPr>
            <a:grpSpLocks/>
          </p:cNvGrpSpPr>
          <p:nvPr/>
        </p:nvGrpSpPr>
        <p:grpSpPr bwMode="auto">
          <a:xfrm>
            <a:off x="3141581" y="4368205"/>
            <a:ext cx="501650" cy="233362"/>
            <a:chOff x="3600" y="219"/>
            <a:chExt cx="360" cy="175"/>
          </a:xfrm>
        </p:grpSpPr>
        <p:sp>
          <p:nvSpPr>
            <p:cNvPr id="36925" name="Oval 270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Line 271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27" name="Line 272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28" name="Rectangle 273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fr-FR" sz="2400">
                <a:latin typeface="Times New Roman" pitchFamily="18" charset="0"/>
              </a:endParaRPr>
            </a:p>
          </p:txBody>
        </p:sp>
        <p:sp>
          <p:nvSpPr>
            <p:cNvPr id="36929" name="Oval 274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930" name="Group 275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6935" name="Line 2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36" name="Line 2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37" name="Line 2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6931" name="Group 279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6932" name="Line 2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33" name="Line 2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34" name="Line 2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251109" name="Group 283"/>
          <p:cNvGrpSpPr>
            <a:grpSpLocks/>
          </p:cNvGrpSpPr>
          <p:nvPr/>
        </p:nvGrpSpPr>
        <p:grpSpPr bwMode="auto">
          <a:xfrm>
            <a:off x="8559118" y="1516063"/>
            <a:ext cx="3124200" cy="2362200"/>
            <a:chOff x="3552" y="1104"/>
            <a:chExt cx="1968" cy="1488"/>
          </a:xfrm>
        </p:grpSpPr>
        <p:sp>
          <p:nvSpPr>
            <p:cNvPr id="36905" name="AutoShape 284"/>
            <p:cNvSpPr>
              <a:spLocks noChangeArrowheads="1"/>
            </p:cNvSpPr>
            <p:nvPr/>
          </p:nvSpPr>
          <p:spPr bwMode="auto">
            <a:xfrm>
              <a:off x="3552" y="1104"/>
              <a:ext cx="1968" cy="1488"/>
            </a:xfrm>
            <a:prstGeom prst="wedgeEllipseCallout">
              <a:avLst>
                <a:gd name="adj1" fmla="val -27745"/>
                <a:gd name="adj2" fmla="val 61292"/>
              </a:avLst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36906" name="Oval 285"/>
            <p:cNvSpPr>
              <a:spLocks noChangeArrowheads="1"/>
            </p:cNvSpPr>
            <p:nvPr/>
          </p:nvSpPr>
          <p:spPr bwMode="auto">
            <a:xfrm>
              <a:off x="4933" y="1834"/>
              <a:ext cx="203" cy="182"/>
            </a:xfrm>
            <a:prstGeom prst="ellipse">
              <a:avLst/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907" name="Group 286"/>
            <p:cNvGrpSpPr>
              <a:grpSpLocks/>
            </p:cNvGrpSpPr>
            <p:nvPr/>
          </p:nvGrpSpPr>
          <p:grpSpPr bwMode="auto">
            <a:xfrm>
              <a:off x="3804" y="1536"/>
              <a:ext cx="948" cy="288"/>
              <a:chOff x="4080" y="1536"/>
              <a:chExt cx="948" cy="288"/>
            </a:xfrm>
          </p:grpSpPr>
          <p:sp>
            <p:nvSpPr>
              <p:cNvPr id="36918" name="Line 287"/>
              <p:cNvSpPr>
                <a:spLocks noChangeShapeType="1"/>
              </p:cNvSpPr>
              <p:nvPr/>
            </p:nvSpPr>
            <p:spPr bwMode="auto">
              <a:xfrm>
                <a:off x="4489" y="1568"/>
                <a:ext cx="5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19" name="Line 288"/>
              <p:cNvSpPr>
                <a:spLocks noChangeShapeType="1"/>
              </p:cNvSpPr>
              <p:nvPr/>
            </p:nvSpPr>
            <p:spPr bwMode="auto">
              <a:xfrm>
                <a:off x="5028" y="1568"/>
                <a:ext cx="0" cy="2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20" name="Line 289"/>
              <p:cNvSpPr>
                <a:spLocks noChangeShapeType="1"/>
              </p:cNvSpPr>
              <p:nvPr/>
            </p:nvSpPr>
            <p:spPr bwMode="auto">
              <a:xfrm flipH="1">
                <a:off x="4489" y="1776"/>
                <a:ext cx="5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21" name="Line 290"/>
              <p:cNvSpPr>
                <a:spLocks noChangeShapeType="1"/>
              </p:cNvSpPr>
              <p:nvPr/>
            </p:nvSpPr>
            <p:spPr bwMode="auto">
              <a:xfrm flipH="1">
                <a:off x="4608" y="158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22" name="Line 291"/>
              <p:cNvSpPr>
                <a:spLocks noChangeShapeType="1"/>
              </p:cNvSpPr>
              <p:nvPr/>
            </p:nvSpPr>
            <p:spPr bwMode="auto">
              <a:xfrm flipH="1">
                <a:off x="4896" y="158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23" name="Line 292"/>
              <p:cNvSpPr>
                <a:spLocks noChangeShapeType="1"/>
              </p:cNvSpPr>
              <p:nvPr/>
            </p:nvSpPr>
            <p:spPr bwMode="auto">
              <a:xfrm>
                <a:off x="4128" y="1536"/>
                <a:ext cx="336" cy="110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/>
                <a:tailEnd type="triangle" w="sm" len="med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24" name="Line 293"/>
              <p:cNvSpPr>
                <a:spLocks noChangeShapeType="1"/>
              </p:cNvSpPr>
              <p:nvPr/>
            </p:nvSpPr>
            <p:spPr bwMode="auto">
              <a:xfrm flipV="1">
                <a:off x="4080" y="1724"/>
                <a:ext cx="359" cy="1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36908" name="Text Box 294"/>
            <p:cNvSpPr txBox="1">
              <a:spLocks noChangeArrowheads="1"/>
            </p:cNvSpPr>
            <p:nvPr/>
          </p:nvSpPr>
          <p:spPr bwMode="auto">
            <a:xfrm>
              <a:off x="4128" y="1160"/>
              <a:ext cx="10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FF0000"/>
                  </a:solidFill>
                </a:rPr>
                <a:t>scheduling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6909" name="Group 295"/>
            <p:cNvGrpSpPr>
              <a:grpSpLocks/>
            </p:cNvGrpSpPr>
            <p:nvPr/>
          </p:nvGrpSpPr>
          <p:grpSpPr bwMode="auto">
            <a:xfrm>
              <a:off x="4224" y="2096"/>
              <a:ext cx="539" cy="208"/>
              <a:chOff x="4464" y="2000"/>
              <a:chExt cx="539" cy="208"/>
            </a:xfrm>
          </p:grpSpPr>
          <p:sp>
            <p:nvSpPr>
              <p:cNvPr id="36915" name="Line 296"/>
              <p:cNvSpPr>
                <a:spLocks noChangeShapeType="1"/>
              </p:cNvSpPr>
              <p:nvPr/>
            </p:nvSpPr>
            <p:spPr bwMode="auto">
              <a:xfrm>
                <a:off x="4464" y="2000"/>
                <a:ext cx="5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16" name="Line 297"/>
              <p:cNvSpPr>
                <a:spLocks noChangeShapeType="1"/>
              </p:cNvSpPr>
              <p:nvPr/>
            </p:nvSpPr>
            <p:spPr bwMode="auto">
              <a:xfrm>
                <a:off x="5003" y="2000"/>
                <a:ext cx="0" cy="2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917" name="Line 298"/>
              <p:cNvSpPr>
                <a:spLocks noChangeShapeType="1"/>
              </p:cNvSpPr>
              <p:nvPr/>
            </p:nvSpPr>
            <p:spPr bwMode="auto">
              <a:xfrm flipH="1">
                <a:off x="4464" y="2208"/>
                <a:ext cx="5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36910" name="Text Box 299"/>
            <p:cNvSpPr txBox="1">
              <a:spLocks noChangeArrowheads="1"/>
            </p:cNvSpPr>
            <p:nvPr/>
          </p:nvSpPr>
          <p:spPr bwMode="auto">
            <a:xfrm>
              <a:off x="4416" y="1536"/>
              <a:ext cx="188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latin typeface="Times New Roman" pitchFamily="18" charset="0"/>
                </a:rPr>
                <a:t>.</a:t>
              </a:r>
              <a:endParaRPr lang="en-US" sz="24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6911" name="Text Box 300"/>
            <p:cNvSpPr txBox="1">
              <a:spLocks noChangeArrowheads="1"/>
            </p:cNvSpPr>
            <p:nvPr/>
          </p:nvSpPr>
          <p:spPr bwMode="auto">
            <a:xfrm>
              <a:off x="4416" y="1632"/>
              <a:ext cx="188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latin typeface="Times New Roman" pitchFamily="18" charset="0"/>
                </a:rPr>
                <a:t>.</a:t>
              </a:r>
              <a:endParaRPr lang="en-US" sz="24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6912" name="Text Box 301"/>
            <p:cNvSpPr txBox="1">
              <a:spLocks noChangeArrowheads="1"/>
            </p:cNvSpPr>
            <p:nvPr/>
          </p:nvSpPr>
          <p:spPr bwMode="auto">
            <a:xfrm>
              <a:off x="4416" y="1728"/>
              <a:ext cx="188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latin typeface="Times New Roman" pitchFamily="18" charset="0"/>
                </a:rPr>
                <a:t>.</a:t>
              </a:r>
              <a:endParaRPr lang="en-US" sz="24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6913" name="Line 302"/>
            <p:cNvSpPr>
              <a:spLocks noChangeShapeType="1"/>
            </p:cNvSpPr>
            <p:nvPr/>
          </p:nvSpPr>
          <p:spPr bwMode="auto">
            <a:xfrm>
              <a:off x="5184" y="1920"/>
              <a:ext cx="24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14" name="Line 303"/>
            <p:cNvSpPr>
              <a:spLocks noChangeShapeType="1"/>
            </p:cNvSpPr>
            <p:nvPr/>
          </p:nvSpPr>
          <p:spPr bwMode="auto">
            <a:xfrm>
              <a:off x="4752" y="1728"/>
              <a:ext cx="192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251112" name="Group 304"/>
          <p:cNvGrpSpPr>
            <a:grpSpLocks/>
          </p:cNvGrpSpPr>
          <p:nvPr/>
        </p:nvGrpSpPr>
        <p:grpSpPr bwMode="auto">
          <a:xfrm>
            <a:off x="7949518" y="1439863"/>
            <a:ext cx="2590800" cy="2286000"/>
            <a:chOff x="3120" y="480"/>
            <a:chExt cx="1632" cy="1440"/>
          </a:xfrm>
        </p:grpSpPr>
        <p:sp>
          <p:nvSpPr>
            <p:cNvPr id="36875" name="AutoShape 305"/>
            <p:cNvSpPr>
              <a:spLocks noChangeArrowheads="1"/>
            </p:cNvSpPr>
            <p:nvPr/>
          </p:nvSpPr>
          <p:spPr bwMode="auto">
            <a:xfrm>
              <a:off x="3120" y="528"/>
              <a:ext cx="1632" cy="1392"/>
            </a:xfrm>
            <a:prstGeom prst="wedgeRoundRectCallout">
              <a:avLst>
                <a:gd name="adj1" fmla="val -44912"/>
                <a:gd name="adj2" fmla="val 69972"/>
                <a:gd name="adj3" fmla="val 16667"/>
              </a:avLst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36876" name="Oval 306"/>
            <p:cNvSpPr>
              <a:spLocks noChangeArrowheads="1"/>
            </p:cNvSpPr>
            <p:nvPr/>
          </p:nvSpPr>
          <p:spPr bwMode="auto">
            <a:xfrm>
              <a:off x="3796" y="1466"/>
              <a:ext cx="137" cy="105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877" name="Group 307"/>
            <p:cNvGrpSpPr>
              <a:grpSpLocks/>
            </p:cNvGrpSpPr>
            <p:nvPr/>
          </p:nvGrpSpPr>
          <p:grpSpPr bwMode="auto">
            <a:xfrm>
              <a:off x="3248" y="1519"/>
              <a:ext cx="515" cy="113"/>
              <a:chOff x="3248" y="1519"/>
              <a:chExt cx="515" cy="113"/>
            </a:xfrm>
          </p:grpSpPr>
          <p:sp>
            <p:nvSpPr>
              <p:cNvPr id="36901" name="Line 308"/>
              <p:cNvSpPr>
                <a:spLocks noChangeShapeType="1"/>
              </p:cNvSpPr>
              <p:nvPr/>
            </p:nvSpPr>
            <p:spPr bwMode="auto">
              <a:xfrm>
                <a:off x="3248" y="1519"/>
                <a:ext cx="515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triangl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grpSp>
            <p:nvGrpSpPr>
              <p:cNvPr id="36902" name="Group 309"/>
              <p:cNvGrpSpPr>
                <a:grpSpLocks/>
              </p:cNvGrpSpPr>
              <p:nvPr/>
            </p:nvGrpSpPr>
            <p:grpSpPr bwMode="auto">
              <a:xfrm>
                <a:off x="3259" y="1558"/>
                <a:ext cx="389" cy="74"/>
                <a:chOff x="3282" y="1414"/>
                <a:chExt cx="275" cy="52"/>
              </a:xfrm>
            </p:grpSpPr>
            <p:sp>
              <p:nvSpPr>
                <p:cNvPr id="36903" name="Rectangle 310"/>
                <p:cNvSpPr>
                  <a:spLocks noChangeArrowheads="1"/>
                </p:cNvSpPr>
                <p:nvPr/>
              </p:nvSpPr>
              <p:spPr bwMode="auto">
                <a:xfrm>
                  <a:off x="3282" y="1414"/>
                  <a:ext cx="103" cy="52"/>
                </a:xfrm>
                <a:prstGeom prst="rect">
                  <a:avLst/>
                </a:prstGeom>
                <a:solidFill>
                  <a:schemeClr val="bg2"/>
                </a:solidFill>
                <a:ln w="12700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904" name="Rectangle 311"/>
                <p:cNvSpPr>
                  <a:spLocks noChangeArrowheads="1"/>
                </p:cNvSpPr>
                <p:nvPr/>
              </p:nvSpPr>
              <p:spPr bwMode="auto">
                <a:xfrm>
                  <a:off x="3454" y="1414"/>
                  <a:ext cx="103" cy="52"/>
                </a:xfrm>
                <a:prstGeom prst="rect">
                  <a:avLst/>
                </a:prstGeom>
                <a:solidFill>
                  <a:schemeClr val="bg2"/>
                </a:solidFill>
                <a:ln w="12700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6878" name="Group 312"/>
            <p:cNvGrpSpPr>
              <a:grpSpLocks/>
            </p:cNvGrpSpPr>
            <p:nvPr/>
          </p:nvGrpSpPr>
          <p:grpSpPr bwMode="auto">
            <a:xfrm>
              <a:off x="3936" y="1571"/>
              <a:ext cx="624" cy="205"/>
              <a:chOff x="3936" y="1571"/>
              <a:chExt cx="624" cy="205"/>
            </a:xfrm>
          </p:grpSpPr>
          <p:grpSp>
            <p:nvGrpSpPr>
              <p:cNvPr id="36896" name="Group 313"/>
              <p:cNvGrpSpPr>
                <a:grpSpLocks/>
              </p:cNvGrpSpPr>
              <p:nvPr/>
            </p:nvGrpSpPr>
            <p:grpSpPr bwMode="auto">
              <a:xfrm>
                <a:off x="3936" y="1676"/>
                <a:ext cx="576" cy="100"/>
                <a:chOff x="4002" y="1676"/>
                <a:chExt cx="446" cy="52"/>
              </a:xfrm>
            </p:grpSpPr>
            <p:sp>
              <p:nvSpPr>
                <p:cNvPr id="36898" name="Rectangle 314"/>
                <p:cNvSpPr>
                  <a:spLocks noChangeArrowheads="1"/>
                </p:cNvSpPr>
                <p:nvPr/>
              </p:nvSpPr>
              <p:spPr bwMode="auto">
                <a:xfrm>
                  <a:off x="4345" y="1676"/>
                  <a:ext cx="103" cy="52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899" name="Rectangle 315"/>
                <p:cNvSpPr>
                  <a:spLocks noChangeArrowheads="1"/>
                </p:cNvSpPr>
                <p:nvPr/>
              </p:nvSpPr>
              <p:spPr bwMode="auto">
                <a:xfrm>
                  <a:off x="4174" y="1676"/>
                  <a:ext cx="102" cy="52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900" name="Rectangle 316"/>
                <p:cNvSpPr>
                  <a:spLocks noChangeArrowheads="1"/>
                </p:cNvSpPr>
                <p:nvPr/>
              </p:nvSpPr>
              <p:spPr bwMode="auto">
                <a:xfrm>
                  <a:off x="4002" y="1676"/>
                  <a:ext cx="103" cy="52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6897" name="Line 317"/>
              <p:cNvSpPr>
                <a:spLocks noChangeShapeType="1"/>
              </p:cNvSpPr>
              <p:nvPr/>
            </p:nvSpPr>
            <p:spPr bwMode="auto">
              <a:xfrm>
                <a:off x="4002" y="1571"/>
                <a:ext cx="558" cy="6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sm"/>
                <a:tailEnd type="triangl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6879" name="Group 318"/>
            <p:cNvGrpSpPr>
              <a:grpSpLocks/>
            </p:cNvGrpSpPr>
            <p:nvPr/>
          </p:nvGrpSpPr>
          <p:grpSpPr bwMode="auto">
            <a:xfrm>
              <a:off x="4002" y="1296"/>
              <a:ext cx="558" cy="223"/>
              <a:chOff x="4002" y="1296"/>
              <a:chExt cx="558" cy="223"/>
            </a:xfrm>
          </p:grpSpPr>
          <p:grpSp>
            <p:nvGrpSpPr>
              <p:cNvPr id="36892" name="Group 319"/>
              <p:cNvGrpSpPr>
                <a:grpSpLocks/>
              </p:cNvGrpSpPr>
              <p:nvPr/>
            </p:nvGrpSpPr>
            <p:grpSpPr bwMode="auto">
              <a:xfrm>
                <a:off x="4139" y="1296"/>
                <a:ext cx="421" cy="96"/>
                <a:chOff x="4139" y="1388"/>
                <a:chExt cx="275" cy="52"/>
              </a:xfrm>
            </p:grpSpPr>
            <p:sp>
              <p:nvSpPr>
                <p:cNvPr id="36894" name="Rectangle 320"/>
                <p:cNvSpPr>
                  <a:spLocks noChangeArrowheads="1"/>
                </p:cNvSpPr>
                <p:nvPr/>
              </p:nvSpPr>
              <p:spPr bwMode="auto">
                <a:xfrm>
                  <a:off x="4139" y="1388"/>
                  <a:ext cx="103" cy="52"/>
                </a:xfrm>
                <a:prstGeom prst="rect">
                  <a:avLst/>
                </a:prstGeom>
                <a:solidFill>
                  <a:srgbClr val="33CC33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895" name="Rectangle 321"/>
                <p:cNvSpPr>
                  <a:spLocks noChangeArrowheads="1"/>
                </p:cNvSpPr>
                <p:nvPr/>
              </p:nvSpPr>
              <p:spPr bwMode="auto">
                <a:xfrm>
                  <a:off x="4311" y="1388"/>
                  <a:ext cx="103" cy="52"/>
                </a:xfrm>
                <a:prstGeom prst="rect">
                  <a:avLst/>
                </a:prstGeom>
                <a:solidFill>
                  <a:srgbClr val="33CC33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6893" name="Line 322"/>
              <p:cNvSpPr>
                <a:spLocks noChangeShapeType="1"/>
              </p:cNvSpPr>
              <p:nvPr/>
            </p:nvSpPr>
            <p:spPr bwMode="auto">
              <a:xfrm flipV="1">
                <a:off x="4002" y="1440"/>
                <a:ext cx="558" cy="79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 type="none" w="sm" len="sm"/>
                <a:tailEnd type="triangl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36880" name="Group 323"/>
            <p:cNvGrpSpPr>
              <a:grpSpLocks/>
            </p:cNvGrpSpPr>
            <p:nvPr/>
          </p:nvGrpSpPr>
          <p:grpSpPr bwMode="auto">
            <a:xfrm>
              <a:off x="3504" y="576"/>
              <a:ext cx="464" cy="820"/>
              <a:chOff x="3504" y="576"/>
              <a:chExt cx="464" cy="820"/>
            </a:xfrm>
          </p:grpSpPr>
          <p:sp>
            <p:nvSpPr>
              <p:cNvPr id="36882" name="Line 324"/>
              <p:cNvSpPr>
                <a:spLocks noChangeShapeType="1"/>
              </p:cNvSpPr>
              <p:nvPr/>
            </p:nvSpPr>
            <p:spPr bwMode="auto">
              <a:xfrm>
                <a:off x="3763" y="1160"/>
                <a:ext cx="0" cy="2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883" name="Line 325"/>
              <p:cNvSpPr>
                <a:spLocks noChangeShapeType="1"/>
              </p:cNvSpPr>
              <p:nvPr/>
            </p:nvSpPr>
            <p:spPr bwMode="auto">
              <a:xfrm>
                <a:off x="3763" y="1396"/>
                <a:ext cx="2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884" name="Line 326"/>
              <p:cNvSpPr>
                <a:spLocks noChangeShapeType="1"/>
              </p:cNvSpPr>
              <p:nvPr/>
            </p:nvSpPr>
            <p:spPr bwMode="auto">
              <a:xfrm flipV="1">
                <a:off x="3968" y="1034"/>
                <a:ext cx="0" cy="3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885" name="Oval 327"/>
              <p:cNvSpPr>
                <a:spLocks noChangeArrowheads="1"/>
              </p:cNvSpPr>
              <p:nvPr/>
            </p:nvSpPr>
            <p:spPr bwMode="auto">
              <a:xfrm>
                <a:off x="3831" y="1134"/>
                <a:ext cx="69" cy="52"/>
              </a:xfrm>
              <a:prstGeom prst="ellipse">
                <a:avLst/>
              </a:prstGeom>
              <a:solidFill>
                <a:srgbClr val="33CC33"/>
              </a:solidFill>
              <a:ln w="12700">
                <a:noFill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endParaRPr lang="fr-FR" sz="2400">
                  <a:solidFill>
                    <a:srgbClr val="008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886" name="Oval 328"/>
              <p:cNvSpPr>
                <a:spLocks noChangeArrowheads="1"/>
              </p:cNvSpPr>
              <p:nvPr/>
            </p:nvSpPr>
            <p:spPr bwMode="auto">
              <a:xfrm>
                <a:off x="3831" y="1213"/>
                <a:ext cx="69" cy="52"/>
              </a:xfrm>
              <a:prstGeom prst="ellipse">
                <a:avLst/>
              </a:prstGeom>
              <a:solidFill>
                <a:srgbClr val="33CC33"/>
              </a:solidFill>
              <a:ln w="12700">
                <a:noFill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endParaRPr lang="fr-FR" sz="2400">
                  <a:solidFill>
                    <a:srgbClr val="008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887" name="Oval 329"/>
              <p:cNvSpPr>
                <a:spLocks noChangeArrowheads="1"/>
              </p:cNvSpPr>
              <p:nvPr/>
            </p:nvSpPr>
            <p:spPr bwMode="auto">
              <a:xfrm>
                <a:off x="3831" y="1317"/>
                <a:ext cx="69" cy="53"/>
              </a:xfrm>
              <a:prstGeom prst="ellipse">
                <a:avLst/>
              </a:prstGeom>
              <a:solidFill>
                <a:srgbClr val="33CC33"/>
              </a:solidFill>
              <a:ln w="12700">
                <a:noFill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endParaRPr lang="fr-FR" sz="2400">
                  <a:solidFill>
                    <a:srgbClr val="008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888" name="Line 330"/>
              <p:cNvSpPr>
                <a:spLocks noChangeShapeType="1"/>
              </p:cNvSpPr>
              <p:nvPr/>
            </p:nvSpPr>
            <p:spPr bwMode="auto">
              <a:xfrm flipV="1">
                <a:off x="3763" y="1029"/>
                <a:ext cx="0" cy="13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6889" name="AutoShape 331"/>
              <p:cNvSpPr>
                <a:spLocks noChangeArrowheads="1"/>
              </p:cNvSpPr>
              <p:nvPr/>
            </p:nvSpPr>
            <p:spPr bwMode="auto">
              <a:xfrm>
                <a:off x="3796" y="846"/>
                <a:ext cx="137" cy="209"/>
              </a:xfrm>
              <a:prstGeom prst="downArrow">
                <a:avLst>
                  <a:gd name="adj1" fmla="val 50000"/>
                  <a:gd name="adj2" fmla="val 38139"/>
                </a:avLst>
              </a:prstGeom>
              <a:solidFill>
                <a:srgbClr val="33CC3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0" name="Text Box 332"/>
              <p:cNvSpPr txBox="1">
                <a:spLocks noChangeArrowheads="1"/>
              </p:cNvSpPr>
              <p:nvPr/>
            </p:nvSpPr>
            <p:spPr bwMode="auto">
              <a:xfrm>
                <a:off x="3744" y="576"/>
                <a:ext cx="213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 i="1">
                    <a:solidFill>
                      <a:srgbClr val="33CC33"/>
                    </a:solidFill>
                  </a:rPr>
                  <a:t>r</a:t>
                </a:r>
                <a:endParaRPr lang="en-US" sz="2400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891" name="Text Box 333"/>
              <p:cNvSpPr txBox="1">
                <a:spLocks noChangeArrowheads="1"/>
              </p:cNvSpPr>
              <p:nvPr/>
            </p:nvSpPr>
            <p:spPr bwMode="auto">
              <a:xfrm>
                <a:off x="3504" y="1056"/>
                <a:ext cx="235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 i="1">
                    <a:solidFill>
                      <a:srgbClr val="33CC33"/>
                    </a:solidFill>
                  </a:rPr>
                  <a:t>b</a:t>
                </a:r>
                <a:endParaRPr lang="en-US" sz="2400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6881" name="Text Box 334"/>
            <p:cNvSpPr txBox="1">
              <a:spLocks noChangeArrowheads="1"/>
            </p:cNvSpPr>
            <p:nvPr/>
          </p:nvSpPr>
          <p:spPr bwMode="auto">
            <a:xfrm>
              <a:off x="3936" y="480"/>
              <a:ext cx="81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marking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1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1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5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1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1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1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88355A0-8B3C-4F3D-919D-70AC0699B17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659757" y="236538"/>
            <a:ext cx="1072973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Edge-router Packet Marking 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951947" y="5465973"/>
            <a:ext cx="10437516" cy="1369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5000"/>
              <a:buFont typeface="ZapfDingbats" pitchFamily="82" charset="2"/>
              <a:buChar char="r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class-based marking: packets of different classes marked differently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5000"/>
              <a:buFont typeface="ZapfDingbats" pitchFamily="82" charset="2"/>
              <a:buChar char="r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intra-class marking: conforming portion of flow marked differently than non-conforming one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659756" y="1029114"/>
            <a:ext cx="10729709" cy="1121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5000"/>
              <a:buFont typeface="ZapfDingbats" pitchFamily="82" charset="2"/>
              <a:buChar char="r"/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profile: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pre-negotiated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r, bucket size b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5000"/>
              <a:buFont typeface="ZapfDingbats" pitchFamily="82" charset="2"/>
              <a:buChar char="r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 marking at edge based on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per-flow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profile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4" name="Text Box 5"/>
          <p:cNvSpPr txBox="1">
            <a:spLocks noChangeArrowheads="1"/>
          </p:cNvSpPr>
          <p:nvPr/>
        </p:nvSpPr>
        <p:spPr bwMode="auto">
          <a:xfrm>
            <a:off x="951947" y="4864157"/>
            <a:ext cx="4495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usage of marking:</a:t>
            </a:r>
          </a:p>
        </p:txBody>
      </p:sp>
      <p:sp>
        <p:nvSpPr>
          <p:cNvPr id="37895" name="Text Box 6"/>
          <p:cNvSpPr txBox="1">
            <a:spLocks noChangeArrowheads="1"/>
          </p:cNvSpPr>
          <p:nvPr/>
        </p:nvSpPr>
        <p:spPr bwMode="auto">
          <a:xfrm>
            <a:off x="3353453" y="3960005"/>
            <a:ext cx="1943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User packets</a:t>
            </a:r>
            <a:endParaRPr lang="en-US" sz="2000" dirty="0">
              <a:solidFill>
                <a:schemeClr val="accent2"/>
              </a:solidFill>
            </a:endParaRPr>
          </a:p>
        </p:txBody>
      </p:sp>
      <p:grpSp>
        <p:nvGrpSpPr>
          <p:cNvPr id="37896" name="Group 7"/>
          <p:cNvGrpSpPr>
            <a:grpSpLocks/>
          </p:cNvGrpSpPr>
          <p:nvPr/>
        </p:nvGrpSpPr>
        <p:grpSpPr bwMode="auto">
          <a:xfrm>
            <a:off x="5180597" y="2302793"/>
            <a:ext cx="2667000" cy="2514600"/>
            <a:chOff x="2352" y="1680"/>
            <a:chExt cx="1680" cy="1584"/>
          </a:xfrm>
        </p:grpSpPr>
        <p:sp>
          <p:nvSpPr>
            <p:cNvPr id="37897" name="Rectangle 8"/>
            <p:cNvSpPr>
              <a:spLocks noChangeArrowheads="1"/>
            </p:cNvSpPr>
            <p:nvPr/>
          </p:nvSpPr>
          <p:spPr bwMode="auto">
            <a:xfrm>
              <a:off x="3600" y="2640"/>
              <a:ext cx="144" cy="96"/>
            </a:xfrm>
            <a:prstGeom prst="rect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8" name="Rectangle 9"/>
            <p:cNvSpPr>
              <a:spLocks noChangeArrowheads="1"/>
            </p:cNvSpPr>
            <p:nvPr/>
          </p:nvSpPr>
          <p:spPr bwMode="auto">
            <a:xfrm>
              <a:off x="3840" y="2640"/>
              <a:ext cx="144" cy="96"/>
            </a:xfrm>
            <a:prstGeom prst="rect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9" name="Rectangle 10"/>
            <p:cNvSpPr>
              <a:spLocks noChangeArrowheads="1"/>
            </p:cNvSpPr>
            <p:nvPr/>
          </p:nvSpPr>
          <p:spPr bwMode="auto">
            <a:xfrm>
              <a:off x="3888" y="3168"/>
              <a:ext cx="144" cy="9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0" name="Rectangle 11"/>
            <p:cNvSpPr>
              <a:spLocks noChangeArrowheads="1"/>
            </p:cNvSpPr>
            <p:nvPr/>
          </p:nvSpPr>
          <p:spPr bwMode="auto">
            <a:xfrm>
              <a:off x="3648" y="3168"/>
              <a:ext cx="144" cy="9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Rectangle 12"/>
            <p:cNvSpPr>
              <a:spLocks noChangeArrowheads="1"/>
            </p:cNvSpPr>
            <p:nvPr/>
          </p:nvSpPr>
          <p:spPr bwMode="auto">
            <a:xfrm>
              <a:off x="3408" y="3168"/>
              <a:ext cx="144" cy="9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2" name="Line 13"/>
            <p:cNvSpPr>
              <a:spLocks noChangeShapeType="1"/>
            </p:cNvSpPr>
            <p:nvPr/>
          </p:nvSpPr>
          <p:spPr bwMode="auto">
            <a:xfrm>
              <a:off x="3072" y="225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03" name="Line 14"/>
            <p:cNvSpPr>
              <a:spLocks noChangeShapeType="1"/>
            </p:cNvSpPr>
            <p:nvPr/>
          </p:nvSpPr>
          <p:spPr bwMode="auto">
            <a:xfrm>
              <a:off x="3072" y="268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04" name="Line 15"/>
            <p:cNvSpPr>
              <a:spLocks noChangeShapeType="1"/>
            </p:cNvSpPr>
            <p:nvPr/>
          </p:nvSpPr>
          <p:spPr bwMode="auto">
            <a:xfrm flipV="1">
              <a:off x="3360" y="225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05" name="Oval 16"/>
            <p:cNvSpPr>
              <a:spLocks noChangeArrowheads="1"/>
            </p:cNvSpPr>
            <p:nvPr/>
          </p:nvSpPr>
          <p:spPr bwMode="auto">
            <a:xfrm>
              <a:off x="3120" y="2784"/>
              <a:ext cx="192" cy="192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6" name="Line 17"/>
            <p:cNvSpPr>
              <a:spLocks noChangeShapeType="1"/>
            </p:cNvSpPr>
            <p:nvPr/>
          </p:nvSpPr>
          <p:spPr bwMode="auto">
            <a:xfrm>
              <a:off x="2352" y="288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07" name="Rectangle 18"/>
            <p:cNvSpPr>
              <a:spLocks noChangeArrowheads="1"/>
            </p:cNvSpPr>
            <p:nvPr/>
          </p:nvSpPr>
          <p:spPr bwMode="auto">
            <a:xfrm>
              <a:off x="2400" y="2688"/>
              <a:ext cx="144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8" name="Rectangle 19"/>
            <p:cNvSpPr>
              <a:spLocks noChangeArrowheads="1"/>
            </p:cNvSpPr>
            <p:nvPr/>
          </p:nvSpPr>
          <p:spPr bwMode="auto">
            <a:xfrm>
              <a:off x="2640" y="2688"/>
              <a:ext cx="144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9" name="Oval 20"/>
            <p:cNvSpPr>
              <a:spLocks noChangeArrowheads="1"/>
            </p:cNvSpPr>
            <p:nvPr/>
          </p:nvSpPr>
          <p:spPr bwMode="auto">
            <a:xfrm>
              <a:off x="3168" y="2208"/>
              <a:ext cx="96" cy="96"/>
            </a:xfrm>
            <a:prstGeom prst="ellipse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fr-FR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37910" name="Oval 21"/>
            <p:cNvSpPr>
              <a:spLocks noChangeArrowheads="1"/>
            </p:cNvSpPr>
            <p:nvPr/>
          </p:nvSpPr>
          <p:spPr bwMode="auto">
            <a:xfrm>
              <a:off x="3168" y="2352"/>
              <a:ext cx="96" cy="96"/>
            </a:xfrm>
            <a:prstGeom prst="ellipse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fr-FR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37911" name="Oval 22"/>
            <p:cNvSpPr>
              <a:spLocks noChangeArrowheads="1"/>
            </p:cNvSpPr>
            <p:nvPr/>
          </p:nvSpPr>
          <p:spPr bwMode="auto">
            <a:xfrm>
              <a:off x="3168" y="2544"/>
              <a:ext cx="96" cy="96"/>
            </a:xfrm>
            <a:prstGeom prst="ellipse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fr-FR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37912" name="Line 23"/>
            <p:cNvSpPr>
              <a:spLocks noChangeShapeType="1"/>
            </p:cNvSpPr>
            <p:nvPr/>
          </p:nvSpPr>
          <p:spPr bwMode="auto">
            <a:xfrm flipV="1">
              <a:off x="3072" y="2016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13" name="Line 24"/>
            <p:cNvSpPr>
              <a:spLocks noChangeShapeType="1"/>
            </p:cNvSpPr>
            <p:nvPr/>
          </p:nvSpPr>
          <p:spPr bwMode="auto">
            <a:xfrm flipV="1">
              <a:off x="3360" y="2016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14" name="Text Box 25"/>
            <p:cNvSpPr txBox="1">
              <a:spLocks noChangeArrowheads="1"/>
            </p:cNvSpPr>
            <p:nvPr/>
          </p:nvSpPr>
          <p:spPr bwMode="auto">
            <a:xfrm>
              <a:off x="2352" y="1776"/>
              <a:ext cx="72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chemeClr val="tx2"/>
                  </a:solidFill>
                </a:rPr>
                <a:t>Rate r</a:t>
              </a:r>
              <a:endParaRPr lang="en-US" sz="2400" dirty="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7915" name="Line 26"/>
            <p:cNvSpPr>
              <a:spLocks noChangeShapeType="1"/>
            </p:cNvSpPr>
            <p:nvPr/>
          </p:nvSpPr>
          <p:spPr bwMode="auto">
            <a:xfrm>
              <a:off x="3408" y="2976"/>
              <a:ext cx="624" cy="1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16" name="Line 27"/>
            <p:cNvSpPr>
              <a:spLocks noChangeShapeType="1"/>
            </p:cNvSpPr>
            <p:nvPr/>
          </p:nvSpPr>
          <p:spPr bwMode="auto">
            <a:xfrm flipV="1">
              <a:off x="3408" y="2784"/>
              <a:ext cx="624" cy="9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17" name="AutoShape 28"/>
            <p:cNvSpPr>
              <a:spLocks noChangeArrowheads="1"/>
            </p:cNvSpPr>
            <p:nvPr/>
          </p:nvSpPr>
          <p:spPr bwMode="auto">
            <a:xfrm>
              <a:off x="3120" y="1680"/>
              <a:ext cx="192" cy="384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8" name="Line 29"/>
            <p:cNvSpPr>
              <a:spLocks noChangeShapeType="1"/>
            </p:cNvSpPr>
            <p:nvPr/>
          </p:nvSpPr>
          <p:spPr bwMode="auto">
            <a:xfrm>
              <a:off x="2976" y="21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19" name="Text Box 30"/>
            <p:cNvSpPr txBox="1">
              <a:spLocks noChangeArrowheads="1"/>
            </p:cNvSpPr>
            <p:nvPr/>
          </p:nvSpPr>
          <p:spPr bwMode="auto">
            <a:xfrm>
              <a:off x="2640" y="2256"/>
              <a:ext cx="2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dirty="0">
                  <a:solidFill>
                    <a:schemeClr val="tx2"/>
                  </a:solidFill>
                </a:rPr>
                <a:t>b</a:t>
              </a:r>
            </a:p>
          </p:txBody>
        </p:sp>
        <p:sp>
          <p:nvSpPr>
            <p:cNvPr id="37920" name="Line 31"/>
            <p:cNvSpPr>
              <a:spLocks noChangeShapeType="1"/>
            </p:cNvSpPr>
            <p:nvPr/>
          </p:nvSpPr>
          <p:spPr bwMode="auto">
            <a:xfrm>
              <a:off x="2976" y="2160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8AE4FAB-AD3D-4223-ACF2-60934AA7A960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886633" cy="871538"/>
          </a:xfrm>
        </p:spPr>
        <p:txBody>
          <a:bodyPr/>
          <a:lstStyle/>
          <a:p>
            <a:pPr algn="l"/>
            <a:r>
              <a:rPr lang="en-US" sz="4000" dirty="0"/>
              <a:t>Edge-router: Classification and Conditioning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199" y="1339849"/>
            <a:ext cx="10886633" cy="3452069"/>
          </a:xfrm>
        </p:spPr>
        <p:txBody>
          <a:bodyPr/>
          <a:lstStyle/>
          <a:p>
            <a:pPr marL="668338" indent="-668338"/>
            <a:r>
              <a:rPr lang="en-US" sz="3200" dirty="0"/>
              <a:t>Packet is marked in the Type of Service (TOS) in IPv4, and Traffic Class in IPv6</a:t>
            </a:r>
          </a:p>
          <a:p>
            <a:pPr marL="668338" indent="-668338"/>
            <a:r>
              <a:rPr lang="en-US" sz="3200" dirty="0"/>
              <a:t>6 bits used for Differentiated Service Code Point (DSCP) and determine Per-Hop Behavior (PHB) that the packet will receive</a:t>
            </a:r>
          </a:p>
          <a:p>
            <a:pPr marL="668338" indent="-668338"/>
            <a:r>
              <a:rPr lang="en-US" sz="3200" dirty="0"/>
              <a:t>2 bits are currently unused</a:t>
            </a:r>
          </a:p>
          <a:p>
            <a:endParaRPr lang="en-US" sz="3200" dirty="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962549"/>
              </p:ext>
            </p:extLst>
          </p:nvPr>
        </p:nvGraphicFramePr>
        <p:xfrm>
          <a:off x="3368877" y="4905075"/>
          <a:ext cx="50149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6866667" imgH="3409524" progId="">
                  <p:embed/>
                </p:oleObj>
              </mc:Choice>
              <mc:Fallback>
                <p:oleObj name="Photo Editor Photo" r:id="rId2" imgW="16866667" imgH="3409524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877" y="4905075"/>
                        <a:ext cx="501491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4D44193-A46E-4A87-A62C-1A81D19E3D66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/>
              <a:t>Edge-router: Classification and Conditioning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3200" dirty="0"/>
              <a:t>may be desirable to limit traffic injection rate of some class:</a:t>
            </a:r>
          </a:p>
          <a:p>
            <a:pPr marL="668338" indent="-668338"/>
            <a:r>
              <a:rPr lang="en-US" sz="3200" dirty="0"/>
              <a:t>user declares traffic profile (e.g., rate, burst size)</a:t>
            </a:r>
          </a:p>
          <a:p>
            <a:pPr marL="668338" indent="-668338"/>
            <a:r>
              <a:rPr lang="en-US" sz="3200" dirty="0"/>
              <a:t>traffic metered, shaped if non-conforming </a:t>
            </a:r>
          </a:p>
        </p:txBody>
      </p:sp>
      <p:pic>
        <p:nvPicPr>
          <p:cNvPr id="38917" name="Picture 4" descr="694 diffserv metering classify mark shap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2150" y="3486150"/>
            <a:ext cx="5410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BF96287-70F1-478D-83D7-E885E85E6648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199" y="228600"/>
            <a:ext cx="10805609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339850"/>
            <a:ext cx="10805610" cy="4908550"/>
          </a:xfrm>
        </p:spPr>
        <p:txBody>
          <a:bodyPr/>
          <a:lstStyle/>
          <a:p>
            <a:pPr marL="541338" indent="-541338"/>
            <a:r>
              <a:rPr lang="en-US" sz="3200" dirty="0"/>
              <a:t>PHB result in a different observable (measurable) forwarding performance </a:t>
            </a:r>
            <a:r>
              <a:rPr lang="en-US" sz="3200" i="1" dirty="0"/>
              <a:t>behavior</a:t>
            </a:r>
          </a:p>
          <a:p>
            <a:pPr marL="541338" indent="-541338"/>
            <a:r>
              <a:rPr lang="en-US" sz="3200" dirty="0"/>
              <a:t>PHB does not specify what mechanisms to use to ensure required PHB performance behavior</a:t>
            </a:r>
          </a:p>
          <a:p>
            <a:pPr marL="541338" indent="-541338"/>
            <a:r>
              <a:rPr lang="en-US" sz="3200" dirty="0"/>
              <a:t>Examples: </a:t>
            </a:r>
          </a:p>
          <a:p>
            <a:pPr marL="981075" lvl="1" indent="-523875">
              <a:tabLst>
                <a:tab pos="1062038" algn="l"/>
              </a:tabLst>
            </a:pPr>
            <a:r>
              <a:rPr lang="en-US" sz="2800" dirty="0"/>
              <a:t>Class A gets x% of outgoing link bandwidth over time intervals of a specified length</a:t>
            </a:r>
          </a:p>
          <a:p>
            <a:pPr marL="981075" lvl="1" indent="-523875">
              <a:tabLst>
                <a:tab pos="1062038" algn="l"/>
              </a:tabLst>
            </a:pPr>
            <a:r>
              <a:rPr lang="en-US" sz="2800" dirty="0"/>
              <a:t>Class A packets leave first before packets from class B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199" y="1226038"/>
            <a:ext cx="10828759" cy="5510427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sz="3200" dirty="0"/>
              <a:t>PHBs being developed:</a:t>
            </a:r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</a:rPr>
              <a:t>Expedited Forwarding (EF): </a:t>
            </a:r>
            <a:r>
              <a:rPr lang="en-US" sz="2800" dirty="0" err="1"/>
              <a:t>pkt</a:t>
            </a:r>
            <a:r>
              <a:rPr lang="en-US" sz="2800" dirty="0"/>
              <a:t> departure rate of a class equals or exceeds specified rate </a:t>
            </a:r>
          </a:p>
          <a:p>
            <a:pPr lvl="1"/>
            <a:r>
              <a:rPr lang="en-US" sz="2400" dirty="0"/>
              <a:t>Logical link with a minimum guaranteed rate</a:t>
            </a:r>
          </a:p>
          <a:p>
            <a:pPr lvl="1"/>
            <a:r>
              <a:rPr lang="en-US" sz="2400" dirty="0"/>
              <a:t>May require edge routers to limit EF traffic rate</a:t>
            </a:r>
          </a:p>
          <a:p>
            <a:pPr lvl="1"/>
            <a:r>
              <a:rPr lang="en-US" sz="2400" dirty="0"/>
              <a:t>Could be implemented using strict priority scheduling or WFQ with higher weight for EF traffic</a:t>
            </a:r>
          </a:p>
          <a:p>
            <a:r>
              <a:rPr lang="en-US" sz="2800" dirty="0">
                <a:solidFill>
                  <a:srgbClr val="0070C0"/>
                </a:solidFill>
              </a:rPr>
              <a:t>Assured Forwarding (AF): </a:t>
            </a:r>
            <a:r>
              <a:rPr lang="en-US" sz="2800" dirty="0"/>
              <a:t>multiple traffic classes, treated  differently </a:t>
            </a:r>
          </a:p>
          <a:p>
            <a:pPr lvl="1"/>
            <a:r>
              <a:rPr lang="en-US" sz="2400" dirty="0"/>
              <a:t>Amount of bandwidth allocated, or drop priorities</a:t>
            </a:r>
          </a:p>
          <a:p>
            <a:pPr lvl="1"/>
            <a:r>
              <a:rPr lang="en-US" sz="2400" dirty="0"/>
              <a:t>Can be implemented using WFQ + leaky bucket or RED (Random Early Detection) with different threshold values.</a:t>
            </a:r>
          </a:p>
          <a:p>
            <a:pPr lvl="2"/>
            <a:r>
              <a:rPr lang="en-US" sz="2400" dirty="0"/>
              <a:t>See Sections 6.4.2 and 6.5.3 in [Peterson and Davie 07]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8333-93DF-B865-D89F-66D369CD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99942556-70E6-8FF9-F40C-EE3469B72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5BA49-B153-70FA-1A01-09B65934F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228FC0-F64E-A7DD-320F-6B4A7CD71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21536"/>
              </p:ext>
            </p:extLst>
          </p:nvPr>
        </p:nvGraphicFramePr>
        <p:xfrm>
          <a:off x="681621" y="890670"/>
          <a:ext cx="10828758" cy="12327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9586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656777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NAME (PHB)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Decimal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Binary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1260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EC798-A40B-4B77-570B-760AC824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BD2E2EC3-0137-C94F-66AF-E41A65685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6C3D944F-4415-BB2D-9457-470F5B5E3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4A05E9-1C62-1216-CA1E-246AE8A7F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4039"/>
              </p:ext>
            </p:extLst>
          </p:nvPr>
        </p:nvGraphicFramePr>
        <p:xfrm>
          <a:off x="681621" y="890670"/>
          <a:ext cx="10828758" cy="18087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9586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656777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NAME (PHB)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Decimal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Binary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Expedited Forwarding (EF)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101110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0083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26EF-481C-9F1F-D2BC-7DF33268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6001D43B-E8DA-C0B4-188C-F1C8CBEAA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9720667-F3D8-5382-CD45-C1B4CFF63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740CE6-3E29-1413-2F0A-0BF76C616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671923"/>
              </p:ext>
            </p:extLst>
          </p:nvPr>
        </p:nvGraphicFramePr>
        <p:xfrm>
          <a:off x="681621" y="890670"/>
          <a:ext cx="10828758" cy="18087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9586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656777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NAME (PHB)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Decimal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Binary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Expedited Forwarding (EF)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101</a:t>
                      </a:r>
                      <a:r>
                        <a:rPr lang="en-LB" sz="2000" b="1" spc="300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5149486-B4D5-C8E8-3215-782F95FF0141}"/>
              </a:ext>
            </a:extLst>
          </p:cNvPr>
          <p:cNvSpPr txBox="1"/>
          <p:nvPr/>
        </p:nvSpPr>
        <p:spPr>
          <a:xfrm>
            <a:off x="6096000" y="3244334"/>
            <a:ext cx="353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LB" dirty="0">
                <a:solidFill>
                  <a:schemeClr val="bg1"/>
                </a:solidFill>
              </a:rPr>
              <a:t>ame as IP precedence bits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70DF07-4887-E304-9D5D-005B12E8A659}"/>
              </a:ext>
            </a:extLst>
          </p:cNvPr>
          <p:cNvCxnSpPr/>
          <p:nvPr/>
        </p:nvCxnSpPr>
        <p:spPr bwMode="auto">
          <a:xfrm flipV="1">
            <a:off x="8637563" y="2537548"/>
            <a:ext cx="576775" cy="6980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8A36DF-24C8-6AC7-4C05-B025501BF4CE}"/>
              </a:ext>
            </a:extLst>
          </p:cNvPr>
          <p:cNvSpPr txBox="1"/>
          <p:nvPr/>
        </p:nvSpPr>
        <p:spPr>
          <a:xfrm>
            <a:off x="5404306" y="3780456"/>
            <a:ext cx="491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101 = 5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The highest precedence value in IPv4</a:t>
            </a:r>
            <a:endParaRPr lang="en-L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15DB-7770-AB19-B882-C7FEEFE0B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33817D2B-A301-1C74-CE62-14D80F9C0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71E8594-2FAB-3D3F-B718-571F8F426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E70E44-0FA7-763F-0947-72BAD6216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117031"/>
              </p:ext>
            </p:extLst>
          </p:nvPr>
        </p:nvGraphicFramePr>
        <p:xfrm>
          <a:off x="681621" y="890670"/>
          <a:ext cx="10828758" cy="23847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9586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656777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NAME (PHB)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Decimal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Binary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Expedited Forwarding (EF)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101110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LB" sz="2000" dirty="0"/>
                        <a:t> (CS1)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001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8692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3264-38C7-0973-BEEB-DB4859D80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DBD82A59-DAE0-3094-8E6C-797AE0262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7B3896A-A617-6F65-1813-9C7DA3A86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548C56-9BFC-EFFE-09EE-B4458883C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514624"/>
              </p:ext>
            </p:extLst>
          </p:nvPr>
        </p:nvGraphicFramePr>
        <p:xfrm>
          <a:off x="681621" y="890670"/>
          <a:ext cx="10828758" cy="29607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9586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656777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NAME (PHB)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Decimal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Binary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Expedited Forwarding (EF)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101110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LB" sz="2000" dirty="0"/>
                        <a:t> (CS1)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001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LB" sz="2000" dirty="0"/>
                        <a:t> (CS2)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010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667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2FFE-EE49-90F5-E0BC-1BC1A2E4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04EFC56C-C826-CE35-7969-3DE9248B4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56ED9C4-59B4-F89E-AB6E-D01B35A7A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Core-router: Forwarding (PHB)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CC5C9F-3962-18EB-8526-41154D9F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372278"/>
              </p:ext>
            </p:extLst>
          </p:nvPr>
        </p:nvGraphicFramePr>
        <p:xfrm>
          <a:off x="681621" y="890670"/>
          <a:ext cx="10828758" cy="58407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9586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3609586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656777"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NAME (PHB)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Decimal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Binary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Expedited Forwarding (EF)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/>
                        <a:t>101110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LB" sz="2000" dirty="0"/>
                        <a:t> (CS1)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001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LB" sz="2000" dirty="0"/>
                        <a:t> (CS2)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010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en-LB" sz="2000" dirty="0"/>
                        <a:t> (CS3)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011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12904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4</a:t>
                      </a:r>
                      <a:r>
                        <a:rPr lang="en-LB" sz="2000" dirty="0"/>
                        <a:t> (CS4)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100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822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5</a:t>
                      </a:r>
                      <a:r>
                        <a:rPr lang="en-LB" sz="2000" dirty="0"/>
                        <a:t> (CS5)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101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6988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6</a:t>
                      </a:r>
                      <a:r>
                        <a:rPr lang="en-LB" sz="2000" dirty="0"/>
                        <a:t> (CS6)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110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0145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000" dirty="0"/>
                        <a:t>Class Selector </a:t>
                      </a:r>
                      <a:r>
                        <a:rPr lang="en-LB" sz="2000" dirty="0">
                          <a:highlight>
                            <a:srgbClr val="FFFF00"/>
                          </a:highlight>
                        </a:rPr>
                        <a:t>7</a:t>
                      </a:r>
                      <a:r>
                        <a:rPr lang="en-LB" sz="2000" dirty="0"/>
                        <a:t> (CS7)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000" b="1" spc="300" dirty="0">
                          <a:highlight>
                            <a:srgbClr val="FFFF00"/>
                          </a:highlight>
                        </a:rPr>
                        <a:t>111</a:t>
                      </a:r>
                      <a:r>
                        <a:rPr lang="en-LB" sz="2000" b="1" spc="3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24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015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43E71-C8EF-AEEC-894E-3B7BD557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5ACC1A2D-0EB5-5BDD-9034-D04885053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60137742-010E-88AB-D69B-45EA701B3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DF8A21-3150-2541-1CDC-44A696316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445431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Low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Medium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High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AF11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AF12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AF13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AF21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AF22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AF23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AF31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AF32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AF33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AF41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AF42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AF43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892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36B6-BB4B-DF28-EB4B-82E17EC8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1E06F189-FCE6-C214-03E7-ED44372D6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988C3B3-8570-4AC5-296B-F068765AF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4ED9CF-7995-4DAF-1CF4-201D445C3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01968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Low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Medium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High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AF21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AF22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AF23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AF31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AF32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AF33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AF41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AF42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AF43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79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7B99-BE7E-F2BA-579D-A2981BF8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762671D7-A26C-9128-B45A-6B44996AA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8FF1AC1-31A5-9691-8799-3A3B845F7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00FA25-35AD-F101-43A7-102DD45B2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121041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Low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Medium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High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AF31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AF32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AF33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AF41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AF42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AF43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2110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B7FA-028F-E841-21BE-0F669BB24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209222B7-6380-EEF6-235C-B60982CC4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755D316-39E3-9BCE-F611-D9B98F942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FD201E-7EAC-270E-2D63-29C52D6EF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915825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Low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Medium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High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</a:t>
                      </a:r>
                      <a:r>
                        <a:rPr lang="en-LB" sz="2800" b="1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6757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E2ECD-3E81-6BFB-5B0F-0CD803D9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3DC56D22-0393-FF0D-752A-9577F1923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6F123FA-7039-8D31-EC4E-D5DC4CD05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0B50E8-252F-E44E-46B6-D4121B4FE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881539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Low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Medium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/>
                        <a:t>High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AF12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AF13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AF22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AF23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AF32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AF33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AF42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AF43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6003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4C50-AC00-9679-F920-211E22030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7BD821B1-F83B-8CFF-8DE0-E2FDB6886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6034085-4652-7546-71AD-2FCF4CB36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A33F52-FD58-CEA1-D379-DA726B21F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39828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Low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Medium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High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46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B3DA-374C-8BA9-A12C-0F06193B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6F9AFE63-288E-89EF-2686-CA6523DA3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0856F5-8B88-4538-B039-F63D9A66E75A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B52081D-234D-7023-F6B9-FD87DA31C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621" y="0"/>
            <a:ext cx="10828758" cy="871538"/>
          </a:xfrm>
        </p:spPr>
        <p:txBody>
          <a:bodyPr/>
          <a:lstStyle/>
          <a:p>
            <a:pPr algn="l"/>
            <a:r>
              <a:rPr lang="en-US" sz="4000" dirty="0"/>
              <a:t>DSCP Assured Forwarding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536E78-E19F-C457-FEF2-9F266D814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585968"/>
              </p:ext>
            </p:extLst>
          </p:nvPr>
        </p:nvGraphicFramePr>
        <p:xfrm>
          <a:off x="681621" y="906999"/>
          <a:ext cx="10828760" cy="5510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2593">
                  <a:extLst>
                    <a:ext uri="{9D8B030D-6E8A-4147-A177-3AD203B41FA5}">
                      <a16:colId xmlns:a16="http://schemas.microsoft.com/office/drawing/2014/main" val="2692599037"/>
                    </a:ext>
                  </a:extLst>
                </a:gridCol>
                <a:gridCol w="2824843">
                  <a:extLst>
                    <a:ext uri="{9D8B030D-6E8A-4147-A177-3AD203B41FA5}">
                      <a16:colId xmlns:a16="http://schemas.microsoft.com/office/drawing/2014/main" val="3559800172"/>
                    </a:ext>
                  </a:extLst>
                </a:gridCol>
                <a:gridCol w="3284134">
                  <a:extLst>
                    <a:ext uri="{9D8B030D-6E8A-4147-A177-3AD203B41FA5}">
                      <a16:colId xmlns:a16="http://schemas.microsoft.com/office/drawing/2014/main" val="40623704"/>
                    </a:ext>
                  </a:extLst>
                </a:gridCol>
                <a:gridCol w="2707190">
                  <a:extLst>
                    <a:ext uri="{9D8B030D-6E8A-4147-A177-3AD203B41FA5}">
                      <a16:colId xmlns:a16="http://schemas.microsoft.com/office/drawing/2014/main" val="3341524274"/>
                    </a:ext>
                  </a:extLst>
                </a:gridCol>
              </a:tblGrid>
              <a:tr h="1294835">
                <a:tc>
                  <a:txBody>
                    <a:bodyPr/>
                    <a:lstStyle/>
                    <a:p>
                      <a:pPr algn="ctr"/>
                      <a:endParaRPr lang="en-L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Low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Medium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dirty="0">
                          <a:highlight>
                            <a:srgbClr val="800080"/>
                          </a:highlight>
                        </a:rPr>
                        <a:t>High</a:t>
                      </a:r>
                      <a:r>
                        <a:rPr lang="en-LB" sz="2400" dirty="0"/>
                        <a:t> Drop 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688907"/>
                  </a:ext>
                </a:extLst>
              </a:tr>
              <a:tr h="90627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(14)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9145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(18)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(20)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(22)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356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(26)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011010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(28)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AF3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(30)</a:t>
                      </a:r>
                    </a:p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en-LB" sz="2400" kern="1200" spc="3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011110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24237"/>
                  </a:ext>
                </a:extLst>
              </a:tr>
              <a:tr h="1103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Class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AF4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highlight>
                            <a:srgbClr val="80008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B" sz="2400" kern="1200" spc="3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6373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48B5-9CA6-BA88-B647-BB48C118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636813"/>
            <a:ext cx="10363200" cy="1273629"/>
          </a:xfrm>
        </p:spPr>
        <p:txBody>
          <a:bodyPr/>
          <a:lstStyle/>
          <a:p>
            <a:r>
              <a:rPr lang="en-LB" sz="6000" b="1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DF76C-FFF7-FB79-2F5C-EC8AB7AD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08463"/>
            <a:ext cx="10363200" cy="2041073"/>
          </a:xfrm>
        </p:spPr>
        <p:txBody>
          <a:bodyPr/>
          <a:lstStyle/>
          <a:p>
            <a:pPr marL="0" indent="0" algn="ctr">
              <a:buNone/>
            </a:pPr>
            <a:r>
              <a:rPr lang="en-LB" sz="5400" b="1" dirty="0"/>
              <a:t>A DSCP PHB name of </a:t>
            </a:r>
            <a:r>
              <a:rPr lang="en-LB" sz="5400" b="1" dirty="0">
                <a:solidFill>
                  <a:schemeClr val="bg1"/>
                </a:solidFill>
              </a:rPr>
              <a:t>CS4</a:t>
            </a:r>
            <a:r>
              <a:rPr lang="en-LB" sz="5400" b="1" dirty="0"/>
              <a:t> has what equivalent decimal value?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6796-6D00-50F9-9157-B2C71C850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673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D4FB5-B56C-BAA8-C84E-DC9A3E0A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F760-9427-A322-7332-018B67B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0"/>
            <a:ext cx="10363200" cy="525419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FB17E-5F9A-6AEA-5043-81C0F153E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C06244-17E8-414F-9916-06A456626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175510"/>
              </p:ext>
            </p:extLst>
          </p:nvPr>
        </p:nvGraphicFramePr>
        <p:xfrm>
          <a:off x="437241" y="1140096"/>
          <a:ext cx="11348360" cy="1864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627008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B30B7A-848B-EBCA-87D9-612377078FEA}"/>
              </a:ext>
            </a:extLst>
          </p:cNvPr>
          <p:cNvSpPr txBox="1"/>
          <p:nvPr/>
        </p:nvSpPr>
        <p:spPr>
          <a:xfrm>
            <a:off x="5825671" y="3853543"/>
            <a:ext cx="1779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sz="4800" b="1" dirty="0"/>
              <a:t>CS</a:t>
            </a:r>
            <a:r>
              <a:rPr lang="en-LB" sz="48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476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ED0C-DE0E-7027-3D3F-EDCBCBCB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68EA-562C-664B-B1A3-8F2EF4AF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1"/>
            <a:ext cx="10363200" cy="558076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9B32-CDA3-4FCB-A9D0-81E3D27AC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29D5EF-3ADE-6E13-2DFE-3C1AC5FA5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075547"/>
              </p:ext>
            </p:extLst>
          </p:nvPr>
        </p:nvGraphicFramePr>
        <p:xfrm>
          <a:off x="437241" y="1140096"/>
          <a:ext cx="11348360" cy="170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572093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56449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564491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F60D70-A1EB-0EA4-93BB-464D2F7DF856}"/>
              </a:ext>
            </a:extLst>
          </p:cNvPr>
          <p:cNvSpPr txBox="1"/>
          <p:nvPr/>
        </p:nvSpPr>
        <p:spPr>
          <a:xfrm>
            <a:off x="5758546" y="3601331"/>
            <a:ext cx="1779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sz="4800" b="1" dirty="0"/>
              <a:t>CS</a:t>
            </a:r>
            <a:r>
              <a:rPr lang="en-LB" sz="4800" b="1" dirty="0">
                <a:solidFill>
                  <a:schemeClr val="bg1"/>
                </a:solidFill>
              </a:rPr>
              <a:t>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E6A5A4-0010-6B41-D0DC-5A0499ECF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00283"/>
              </p:ext>
            </p:extLst>
          </p:nvPr>
        </p:nvGraphicFramePr>
        <p:xfrm>
          <a:off x="437241" y="3142959"/>
          <a:ext cx="4216401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5467">
                  <a:extLst>
                    <a:ext uri="{9D8B030D-6E8A-4147-A177-3AD203B41FA5}">
                      <a16:colId xmlns:a16="http://schemas.microsoft.com/office/drawing/2014/main" val="4087127030"/>
                    </a:ext>
                  </a:extLst>
                </a:gridCol>
                <a:gridCol w="1405467">
                  <a:extLst>
                    <a:ext uri="{9D8B030D-6E8A-4147-A177-3AD203B41FA5}">
                      <a16:colId xmlns:a16="http://schemas.microsoft.com/office/drawing/2014/main" val="1555117245"/>
                    </a:ext>
                  </a:extLst>
                </a:gridCol>
                <a:gridCol w="1405467">
                  <a:extLst>
                    <a:ext uri="{9D8B030D-6E8A-4147-A177-3AD203B41FA5}">
                      <a16:colId xmlns:a16="http://schemas.microsoft.com/office/drawing/2014/main" val="1383360839"/>
                    </a:ext>
                  </a:extLst>
                </a:gridCol>
              </a:tblGrid>
              <a:tr h="503561">
                <a:tc gridSpan="3"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IP Precedence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19692"/>
                  </a:ext>
                </a:extLst>
              </a:tr>
              <a:tr h="503561"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661045"/>
                  </a:ext>
                </a:extLst>
              </a:tr>
              <a:tr h="503561"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472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4394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ECBF-4D2A-4CFD-F2D9-B4864F0A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8EEDE-8B8C-66B3-F5A0-C417C39F7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0C5E1-5B4F-E4BF-B980-132ED57043C6}"/>
              </a:ext>
            </a:extLst>
          </p:cNvPr>
          <p:cNvSpPr txBox="1"/>
          <p:nvPr/>
        </p:nvSpPr>
        <p:spPr>
          <a:xfrm>
            <a:off x="5951765" y="3789988"/>
            <a:ext cx="1779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sz="4800" b="1" dirty="0"/>
              <a:t>CS</a:t>
            </a:r>
            <a:r>
              <a:rPr lang="en-LB" sz="4800" b="1" dirty="0">
                <a:solidFill>
                  <a:schemeClr val="bg1"/>
                </a:solidFill>
              </a:rPr>
              <a:t>4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5196C20-3271-81D6-FF88-F2E909CD2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334082"/>
              </p:ext>
            </p:extLst>
          </p:nvPr>
        </p:nvGraphicFramePr>
        <p:xfrm>
          <a:off x="406399" y="4914900"/>
          <a:ext cx="8082642" cy="18451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7107">
                  <a:extLst>
                    <a:ext uri="{9D8B030D-6E8A-4147-A177-3AD203B41FA5}">
                      <a16:colId xmlns:a16="http://schemas.microsoft.com/office/drawing/2014/main" val="4087127030"/>
                    </a:ext>
                  </a:extLst>
                </a:gridCol>
                <a:gridCol w="1347107">
                  <a:extLst>
                    <a:ext uri="{9D8B030D-6E8A-4147-A177-3AD203B41FA5}">
                      <a16:colId xmlns:a16="http://schemas.microsoft.com/office/drawing/2014/main" val="1555117245"/>
                    </a:ext>
                  </a:extLst>
                </a:gridCol>
                <a:gridCol w="1347107">
                  <a:extLst>
                    <a:ext uri="{9D8B030D-6E8A-4147-A177-3AD203B41FA5}">
                      <a16:colId xmlns:a16="http://schemas.microsoft.com/office/drawing/2014/main" val="1383360839"/>
                    </a:ext>
                  </a:extLst>
                </a:gridCol>
                <a:gridCol w="1347107">
                  <a:extLst>
                    <a:ext uri="{9D8B030D-6E8A-4147-A177-3AD203B41FA5}">
                      <a16:colId xmlns:a16="http://schemas.microsoft.com/office/drawing/2014/main" val="3629640272"/>
                    </a:ext>
                  </a:extLst>
                </a:gridCol>
                <a:gridCol w="1347107">
                  <a:extLst>
                    <a:ext uri="{9D8B030D-6E8A-4147-A177-3AD203B41FA5}">
                      <a16:colId xmlns:a16="http://schemas.microsoft.com/office/drawing/2014/main" val="2990013260"/>
                    </a:ext>
                  </a:extLst>
                </a:gridCol>
                <a:gridCol w="1347107">
                  <a:extLst>
                    <a:ext uri="{9D8B030D-6E8A-4147-A177-3AD203B41FA5}">
                      <a16:colId xmlns:a16="http://schemas.microsoft.com/office/drawing/2014/main" val="3707567950"/>
                    </a:ext>
                  </a:extLst>
                </a:gridCol>
              </a:tblGrid>
              <a:tr h="615043">
                <a:tc gridSpan="6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DSCP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LB" sz="2800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2800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2800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19692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661045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47230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9B71FA4-6A7E-D21F-0913-AA16D6439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1"/>
            <a:ext cx="10363200" cy="558076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76F95E-5C04-EBA2-7C2B-CDA465280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36696"/>
              </p:ext>
            </p:extLst>
          </p:nvPr>
        </p:nvGraphicFramePr>
        <p:xfrm>
          <a:off x="437241" y="1140096"/>
          <a:ext cx="11348360" cy="170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572093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56449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564491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D7EFE2C-9039-CACF-EF5F-D8D98BA6C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82933"/>
              </p:ext>
            </p:extLst>
          </p:nvPr>
        </p:nvGraphicFramePr>
        <p:xfrm>
          <a:off x="437241" y="3142959"/>
          <a:ext cx="4216401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5467">
                  <a:extLst>
                    <a:ext uri="{9D8B030D-6E8A-4147-A177-3AD203B41FA5}">
                      <a16:colId xmlns:a16="http://schemas.microsoft.com/office/drawing/2014/main" val="4087127030"/>
                    </a:ext>
                  </a:extLst>
                </a:gridCol>
                <a:gridCol w="1405467">
                  <a:extLst>
                    <a:ext uri="{9D8B030D-6E8A-4147-A177-3AD203B41FA5}">
                      <a16:colId xmlns:a16="http://schemas.microsoft.com/office/drawing/2014/main" val="1555117245"/>
                    </a:ext>
                  </a:extLst>
                </a:gridCol>
                <a:gridCol w="1405467">
                  <a:extLst>
                    <a:ext uri="{9D8B030D-6E8A-4147-A177-3AD203B41FA5}">
                      <a16:colId xmlns:a16="http://schemas.microsoft.com/office/drawing/2014/main" val="1383360839"/>
                    </a:ext>
                  </a:extLst>
                </a:gridCol>
              </a:tblGrid>
              <a:tr h="503561">
                <a:tc gridSpan="3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IP Precedence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19692"/>
                  </a:ext>
                </a:extLst>
              </a:tr>
              <a:tr h="503561"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661045"/>
                  </a:ext>
                </a:extLst>
              </a:tr>
              <a:tr h="503561"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47230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613246C-D21B-9C9C-AEE9-DAB001D0EB7D}"/>
              </a:ext>
            </a:extLst>
          </p:cNvPr>
          <p:cNvSpPr txBox="1"/>
          <p:nvPr/>
        </p:nvSpPr>
        <p:spPr>
          <a:xfrm>
            <a:off x="9104087" y="5858528"/>
            <a:ext cx="1779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sz="4800" b="1" dirty="0"/>
              <a:t>= 32</a:t>
            </a:r>
            <a:endParaRPr lang="en-LB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75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F97A4-04CE-171C-BD90-E1C7A1CC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D141-BA2C-F7EB-3D29-D236FF71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636813"/>
            <a:ext cx="10363200" cy="1273629"/>
          </a:xfrm>
        </p:spPr>
        <p:txBody>
          <a:bodyPr/>
          <a:lstStyle/>
          <a:p>
            <a:r>
              <a:rPr lang="en-LB" sz="6000" b="1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7AE5-FAF1-0733-38E5-1DDFE4A79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08463"/>
            <a:ext cx="10363200" cy="2041073"/>
          </a:xfrm>
        </p:spPr>
        <p:txBody>
          <a:bodyPr/>
          <a:lstStyle/>
          <a:p>
            <a:pPr marL="0" indent="0" algn="ctr">
              <a:buNone/>
            </a:pPr>
            <a:r>
              <a:rPr lang="en-LB" sz="5400" b="1" dirty="0"/>
              <a:t>A DSCP decimal value of 20 has what equivalent PHB name?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3647E-339B-5145-C781-EE25694204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955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8A8A-6CFB-812E-1F94-FCAC5E1E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D216-62D8-F1E1-FE23-ACECA7199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0"/>
            <a:ext cx="10363200" cy="525419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A38BB-B2D8-DDB3-29D8-14E152D65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0C1238-5819-9D3B-E37B-C2FFEDAD3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50686"/>
              </p:ext>
            </p:extLst>
          </p:nvPr>
        </p:nvGraphicFramePr>
        <p:xfrm>
          <a:off x="437241" y="1140096"/>
          <a:ext cx="1134836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627008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53582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886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FFB3-588D-4356-293D-B88D473F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FED7-E2E8-8B21-49F5-584D23E8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0"/>
            <a:ext cx="10363200" cy="525419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DB9AF-FAB2-D82A-783A-7766C905B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541609-C9E6-A70A-8DD5-6541A4E0DC48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1140096"/>
          <a:ext cx="1134836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627008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53582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390B33-4795-ED22-47B5-C03369210DE2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3691037"/>
          <a:ext cx="851127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627008">
                <a:tc gridSpan="6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DSCP (Decimal Value = 20)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5759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7574-9649-D6E0-602F-26585D5A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F479-F234-AA44-9607-37CBB9C6C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0"/>
            <a:ext cx="10363200" cy="525419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EBC86-78F8-28EF-E9C9-60FED45FF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0F87BD-0A8F-AD2D-78E5-996627DA9EB8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1140096"/>
          <a:ext cx="1134836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627008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53582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A9D499-F309-D235-C554-5800525D66A1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3103207"/>
          <a:ext cx="851127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627008">
                <a:tc gridSpan="6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DSCP (Decimal Value = 20)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13DE40-4029-F841-FC03-70B42974B49B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5066318"/>
          <a:ext cx="8511270" cy="144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b="1" dirty="0"/>
                        <a:t>Always zero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3596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C112-3E4D-2C61-2707-464657A7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EA53-EC0E-C5FD-381F-8E8B92DD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0"/>
            <a:ext cx="10363200" cy="525419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FC951-34ED-BEE9-7F21-50B1A110C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8FFC75-CD45-F564-C667-E5B9E87CEA9A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1140096"/>
          <a:ext cx="1134836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627008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53582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2986EE-5F60-0804-FDE1-4C914AC58C4C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3103207"/>
          <a:ext cx="851127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627008">
                <a:tc gridSpan="6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DSCP (Decimal Value = 20)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6AAAE2-E443-5A5D-EDE3-F28612846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55673"/>
              </p:ext>
            </p:extLst>
          </p:nvPr>
        </p:nvGraphicFramePr>
        <p:xfrm>
          <a:off x="437241" y="5066318"/>
          <a:ext cx="8511270" cy="144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b="1" dirty="0"/>
                        <a:t>Always zero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7208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EAFC-10B2-F43D-E57E-853CBB24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A787-41E8-CF98-F048-2FAA49E8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291010"/>
            <a:ext cx="10363200" cy="525419"/>
          </a:xfrm>
        </p:spPr>
        <p:txBody>
          <a:bodyPr/>
          <a:lstStyle/>
          <a:p>
            <a:r>
              <a:rPr lang="en-LB" sz="4000" b="1" dirty="0"/>
              <a:t>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D11D7-F733-8E8C-0D13-671A90636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E69C2-16ED-48F0-8A57-8D7E4FD676C7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7D39F1-C1B5-5A87-17C0-BF4F3925B1E7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1140096"/>
          <a:ext cx="1134836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42796992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222975705"/>
                    </a:ext>
                  </a:extLst>
                </a:gridCol>
              </a:tblGrid>
              <a:tr h="627008">
                <a:tc gridSpan="8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Type of Service (ToS)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53582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D715B5-5560-7B93-072F-7EA15C73D93E}"/>
              </a:ext>
            </a:extLst>
          </p:cNvPr>
          <p:cNvGraphicFramePr>
            <a:graphicFrameLocks noGrp="1"/>
          </p:cNvGraphicFramePr>
          <p:nvPr/>
        </p:nvGraphicFramePr>
        <p:xfrm>
          <a:off x="437241" y="3103207"/>
          <a:ext cx="8511270" cy="176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627008">
                <a:tc gridSpan="6"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DSCP (Decimal Value = 20)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LB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84535"/>
                  </a:ext>
                </a:extLst>
              </a:tr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C00AB6-A708-6F87-ED20-1F6C366BA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474389"/>
              </p:ext>
            </p:extLst>
          </p:nvPr>
        </p:nvGraphicFramePr>
        <p:xfrm>
          <a:off x="437241" y="5066318"/>
          <a:ext cx="8511270" cy="144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545">
                  <a:extLst>
                    <a:ext uri="{9D8B030D-6E8A-4147-A177-3AD203B41FA5}">
                      <a16:colId xmlns:a16="http://schemas.microsoft.com/office/drawing/2014/main" val="157957383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3978077051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15354838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255001446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743201453"/>
                    </a:ext>
                  </a:extLst>
                </a:gridCol>
                <a:gridCol w="1418545">
                  <a:extLst>
                    <a:ext uri="{9D8B030D-6E8A-4147-A177-3AD203B41FA5}">
                      <a16:colId xmlns:a16="http://schemas.microsoft.com/office/drawing/2014/main" val="503579022"/>
                    </a:ext>
                  </a:extLst>
                </a:gridCol>
              </a:tblGrid>
              <a:tr h="433571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400" b="1" dirty="0"/>
                        <a:t>Always zero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229769"/>
                  </a:ext>
                </a:extLst>
              </a:tr>
              <a:tr h="618677"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B" sz="28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2881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CD9F68-13D4-7CAF-2058-8E2ABAB9CA88}"/>
              </a:ext>
            </a:extLst>
          </p:cNvPr>
          <p:cNvSpPr txBox="1"/>
          <p:nvPr/>
        </p:nvSpPr>
        <p:spPr>
          <a:xfrm>
            <a:off x="9127671" y="5210072"/>
            <a:ext cx="2873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sz="2400" dirty="0">
                <a:solidFill>
                  <a:schemeClr val="bg1"/>
                </a:solidFill>
              </a:rPr>
              <a:t>A Decimal Value of 20 has a DSCP Value of AF22</a:t>
            </a:r>
          </a:p>
        </p:txBody>
      </p:sp>
    </p:spTree>
    <p:extLst>
      <p:ext uri="{BB962C8B-B14F-4D97-AF65-F5344CB8AC3E}">
        <p14:creationId xmlns:p14="http://schemas.microsoft.com/office/powerpoint/2010/main" val="114312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19483</TotalTime>
  <Words>5041</Words>
  <Application>Microsoft Macintosh PowerPoint</Application>
  <PresentationFormat>Widescreen</PresentationFormat>
  <Paragraphs>1082</Paragraphs>
  <Slides>78</Slides>
  <Notes>17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9" baseType="lpstr">
      <vt:lpstr>-webkit-standard</vt:lpstr>
      <vt:lpstr>Arial</vt:lpstr>
      <vt:lpstr>Comic Sans MS</vt:lpstr>
      <vt:lpstr>Courier New</vt:lpstr>
      <vt:lpstr>Google Sans</vt:lpstr>
      <vt:lpstr>Times New Roman</vt:lpstr>
      <vt:lpstr>Wingdings</vt:lpstr>
      <vt:lpstr>ZapfDingbats</vt:lpstr>
      <vt:lpstr>Default Design</vt:lpstr>
      <vt:lpstr>Clip</vt:lpstr>
      <vt:lpstr>Photo Editor Photo</vt:lpstr>
      <vt:lpstr>PowerPoint Presentation</vt:lpstr>
      <vt:lpstr>QoS Support in IP Networks</vt:lpstr>
      <vt:lpstr>QoS Layers </vt:lpstr>
      <vt:lpstr>QoS Support in IP Networks</vt:lpstr>
      <vt:lpstr>The Need for QoS</vt:lpstr>
      <vt:lpstr>Causes and Results of Quality Issues</vt:lpstr>
      <vt:lpstr>Lack of Bandwidth</vt:lpstr>
      <vt:lpstr>Latency and Jitter</vt:lpstr>
      <vt:lpstr>Serialization Delay/Processing Delay</vt:lpstr>
      <vt:lpstr>Delay Variation/Packet Loss</vt:lpstr>
      <vt:lpstr>QoS Support in IP Networks</vt:lpstr>
      <vt:lpstr>Principles for QoS Guarantees</vt:lpstr>
      <vt:lpstr>Principles for QoS Guarantees (more)</vt:lpstr>
      <vt:lpstr>Principles for QoS Guarantees (more)</vt:lpstr>
      <vt:lpstr>Principles for QoS Guarantees (more)</vt:lpstr>
      <vt:lpstr>Summary of QoS Principles </vt:lpstr>
      <vt:lpstr>Scheduling And Policing Mechanisms</vt:lpstr>
      <vt:lpstr>Scheduling Policies</vt:lpstr>
      <vt:lpstr>Scheduling Policies</vt:lpstr>
      <vt:lpstr>Policing Mechanisms</vt:lpstr>
      <vt:lpstr>Policing Mechanisms</vt:lpstr>
      <vt:lpstr>Policing Mechanisms</vt:lpstr>
      <vt:lpstr>Policing Mechanisms</vt:lpstr>
      <vt:lpstr>QoS Models</vt:lpstr>
      <vt:lpstr>QoS Models</vt:lpstr>
      <vt:lpstr>Class of Service (CoS)</vt:lpstr>
      <vt:lpstr>Type of Service (ToS) byte Traffic Class in IPv6</vt:lpstr>
      <vt:lpstr>QoS Support in IP Networks</vt:lpstr>
      <vt:lpstr>IETF Integrated Services (IntServ)</vt:lpstr>
      <vt:lpstr>Components of IntServ</vt:lpstr>
      <vt:lpstr>Service Models Provided by IntServ</vt:lpstr>
      <vt:lpstr>IntServ – Guaranteed Service</vt:lpstr>
      <vt:lpstr>IntServ – Controlled Load</vt:lpstr>
      <vt:lpstr>Controlled Load vs Guaranteed Service</vt:lpstr>
      <vt:lpstr>IntServ: QoS guarantee scenario</vt:lpstr>
      <vt:lpstr>Call Admission</vt:lpstr>
      <vt:lpstr>Packet Scheduling</vt:lpstr>
      <vt:lpstr>Call Admission</vt:lpstr>
      <vt:lpstr>Intserv Mechanisms</vt:lpstr>
      <vt:lpstr>Intserv - Flowspecs</vt:lpstr>
      <vt:lpstr>Intserv - Flowspecs</vt:lpstr>
      <vt:lpstr>Intserv - Flowspecs</vt:lpstr>
      <vt:lpstr>Intserv – Flowspecs - RSVP</vt:lpstr>
      <vt:lpstr>Intserv – Flowspecs - RSVP</vt:lpstr>
      <vt:lpstr>Intserv – Flowspecs – RSVP: how it works?</vt:lpstr>
      <vt:lpstr>Intserv – Flowspecs – RSVP: how it works?</vt:lpstr>
      <vt:lpstr>PowerPoint Presentation</vt:lpstr>
      <vt:lpstr>QoS Support in IP Networks</vt:lpstr>
      <vt:lpstr>IETF Differentiated Services</vt:lpstr>
      <vt:lpstr>DiffServ Architecture</vt:lpstr>
      <vt:lpstr>PowerPoint Presentation</vt:lpstr>
      <vt:lpstr>Edge-router: Classification and Conditioning</vt:lpstr>
      <vt:lpstr>Edge-router: Classification and Conditioning</vt:lpstr>
      <vt:lpstr>Core-router: Forwarding (PHB)</vt:lpstr>
      <vt:lpstr>Core-router: Forwarding (PHB)</vt:lpstr>
      <vt:lpstr>Core-router: Forwarding (PHB)</vt:lpstr>
      <vt:lpstr>Core-router: Forwarding (PHB)</vt:lpstr>
      <vt:lpstr>Core-router: Forwarding (PHB)</vt:lpstr>
      <vt:lpstr>Core-router: Forwarding (PHB)</vt:lpstr>
      <vt:lpstr>Core-router: Forwarding (PHB)</vt:lpstr>
      <vt:lpstr>Core-router: Forwarding (PHB)</vt:lpstr>
      <vt:lpstr>DSCP Assured Forwarding</vt:lpstr>
      <vt:lpstr>DSCP Assured Forwarding</vt:lpstr>
      <vt:lpstr>DSCP Assured Forwarding</vt:lpstr>
      <vt:lpstr>DSCP Assured Forwarding</vt:lpstr>
      <vt:lpstr>DSCP Assured Forwarding</vt:lpstr>
      <vt:lpstr>DSCP Assured Forwarding</vt:lpstr>
      <vt:lpstr>DSCP Assured Forwarding</vt:lpstr>
      <vt:lpstr>Question</vt:lpstr>
      <vt:lpstr>Answer</vt:lpstr>
      <vt:lpstr>Answer</vt:lpstr>
      <vt:lpstr>Answer</vt:lpstr>
      <vt:lpstr>Question</vt:lpstr>
      <vt:lpstr>Answer</vt:lpstr>
      <vt:lpstr>Answer</vt:lpstr>
      <vt:lpstr>Answer</vt:lpstr>
      <vt:lpstr>Answer</vt:lpstr>
      <vt:lpstr>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5262</dc:title>
  <dc:subject>QoS Part 1</dc:subject>
  <dc:creator/>
  <cp:keywords/>
  <dc:description/>
  <cp:lastModifiedBy>Rami Tawil</cp:lastModifiedBy>
  <cp:revision>398</cp:revision>
  <cp:lastPrinted>2000-12-06T13:26:39Z</cp:lastPrinted>
  <dcterms:created xsi:type="dcterms:W3CDTF">1999-10-08T19:08:27Z</dcterms:created>
  <dcterms:modified xsi:type="dcterms:W3CDTF">2025-10-09T06:26:17Z</dcterms:modified>
  <cp:category/>
</cp:coreProperties>
</file>