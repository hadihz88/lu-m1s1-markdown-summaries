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355" r:id="rId23"/>
    <p:sldId id="280" r:id="rId24"/>
    <p:sldId id="281" r:id="rId25"/>
    <p:sldId id="282" r:id="rId26"/>
    <p:sldId id="283" r:id="rId27"/>
    <p:sldId id="284" r:id="rId28"/>
    <p:sldId id="285" r:id="rId29"/>
    <p:sldId id="286" r:id="rId30"/>
    <p:sldId id="287" r:id="rId31"/>
    <p:sldId id="288" r:id="rId32"/>
    <p:sldId id="289" r:id="rId33"/>
    <p:sldId id="291" r:id="rId34"/>
    <p:sldId id="293" r:id="rId35"/>
    <p:sldId id="295" r:id="rId36"/>
    <p:sldId id="296" r:id="rId37"/>
    <p:sldId id="297" r:id="rId38"/>
    <p:sldId id="298" r:id="rId39"/>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uFillTx/>
        <a:latin typeface="Gill Sans"/>
        <a:ea typeface="Gill Sans"/>
        <a:cs typeface="Gill Sans"/>
        <a:sym typeface="Gill Sans"/>
      </a:defRPr>
    </a:lvl1pPr>
    <a:lvl2pPr marL="0" marR="0" indent="3429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uFillTx/>
        <a:latin typeface="Gill Sans"/>
        <a:ea typeface="Gill Sans"/>
        <a:cs typeface="Gill Sans"/>
        <a:sym typeface="Gill Sans"/>
      </a:defRPr>
    </a:lvl2pPr>
    <a:lvl3pPr marL="0" marR="0" indent="6858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uFillTx/>
        <a:latin typeface="Gill Sans"/>
        <a:ea typeface="Gill Sans"/>
        <a:cs typeface="Gill Sans"/>
        <a:sym typeface="Gill Sans"/>
      </a:defRPr>
    </a:lvl3pPr>
    <a:lvl4pPr marL="0" marR="0" indent="10287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uFillTx/>
        <a:latin typeface="Gill Sans"/>
        <a:ea typeface="Gill Sans"/>
        <a:cs typeface="Gill Sans"/>
        <a:sym typeface="Gill Sans"/>
      </a:defRPr>
    </a:lvl4pPr>
    <a:lvl5pPr marL="0" marR="0" indent="13716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uFillTx/>
        <a:latin typeface="Gill Sans"/>
        <a:ea typeface="Gill Sans"/>
        <a:cs typeface="Gill Sans"/>
        <a:sym typeface="Gill Sans"/>
      </a:defRPr>
    </a:lvl5pPr>
    <a:lvl6pPr marL="0" marR="0" indent="17145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uFillTx/>
        <a:latin typeface="Gill Sans"/>
        <a:ea typeface="Gill Sans"/>
        <a:cs typeface="Gill Sans"/>
        <a:sym typeface="Gill Sans"/>
      </a:defRPr>
    </a:lvl6pPr>
    <a:lvl7pPr marL="0" marR="0" indent="20574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uFillTx/>
        <a:latin typeface="Gill Sans"/>
        <a:ea typeface="Gill Sans"/>
        <a:cs typeface="Gill Sans"/>
        <a:sym typeface="Gill Sans"/>
      </a:defRPr>
    </a:lvl7pPr>
    <a:lvl8pPr marL="0" marR="0" indent="24003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uFillTx/>
        <a:latin typeface="Gill Sans"/>
        <a:ea typeface="Gill Sans"/>
        <a:cs typeface="Gill Sans"/>
        <a:sym typeface="Gill Sans"/>
      </a:defRPr>
    </a:lvl8pPr>
    <a:lvl9pPr marL="0" marR="0" indent="27432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uFillTx/>
        <a:latin typeface="Gill Sans"/>
        <a:ea typeface="Gill Sans"/>
        <a:cs typeface="Gill Sans"/>
        <a:sym typeface="Gill San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8F44A2F1-9E1F-4B54-A3A2-5F16C0AD49E2}" styleName="">
    <a:tblBg/>
    <a:wholeTbl>
      <a:tcTxStyle b="off" i="off">
        <a:font>
          <a:latin typeface="Gill Sans"/>
          <a:ea typeface="Gill Sans"/>
          <a:cs typeface="Gill Sans"/>
        </a:font>
        <a:srgbClr val="FFFFFF"/>
      </a:tcTxStyle>
      <a:tcStyle>
        <a:tcBdr>
          <a:left>
            <a:ln w="25400" cap="flat">
              <a:solidFill>
                <a:srgbClr val="FFFFFF"/>
              </a:solidFill>
              <a:prstDash val="solid"/>
              <a:miter lim="400000"/>
            </a:ln>
          </a:left>
          <a:right>
            <a:ln w="25400" cap="flat">
              <a:solidFill>
                <a:srgbClr val="FFFFFF"/>
              </a:solidFill>
              <a:prstDash val="solid"/>
              <a:miter lim="400000"/>
            </a:ln>
          </a:right>
          <a:top>
            <a:ln w="25400" cap="flat">
              <a:solidFill>
                <a:srgbClr val="FFFFFF"/>
              </a:solidFill>
              <a:prstDash val="solid"/>
              <a:miter lim="400000"/>
            </a:ln>
          </a:top>
          <a:bottom>
            <a:ln w="25400" cap="flat">
              <a:solidFill>
                <a:srgbClr val="FFFFFF"/>
              </a:solidFill>
              <a:prstDash val="solid"/>
              <a:miter lim="400000"/>
            </a:ln>
          </a:bottom>
          <a:insideH>
            <a:ln w="25400" cap="flat">
              <a:solidFill>
                <a:srgbClr val="FFFFFF"/>
              </a:solidFill>
              <a:prstDash val="solid"/>
              <a:miter lim="400000"/>
            </a:ln>
          </a:insideH>
          <a:insideV>
            <a:ln w="25400" cap="flat">
              <a:solidFill>
                <a:srgbClr val="FFFFFF"/>
              </a:solidFill>
              <a:prstDash val="solid"/>
              <a:miter lim="400000"/>
            </a:ln>
          </a:insideV>
        </a:tcBdr>
        <a:fill>
          <a:noFill/>
        </a:fill>
      </a:tcStyle>
    </a:wholeTbl>
    <a:band2H>
      <a:tcTxStyle/>
      <a:tcStyle>
        <a:tcBdr/>
        <a:fill>
          <a:solidFill>
            <a:srgbClr val="797A7C">
              <a:alpha val="30000"/>
            </a:srgbClr>
          </a:solidFill>
        </a:fill>
      </a:tcStyle>
    </a:band2H>
    <a:firstCol>
      <a:tcTxStyle b="off" i="off">
        <a:font>
          <a:latin typeface="Gill Sans"/>
          <a:ea typeface="Gill Sans"/>
          <a:cs typeface="Gill Sans"/>
        </a:font>
        <a:srgbClr val="FFFFFF"/>
      </a:tcTxStyle>
      <a:tcStyle>
        <a:tcBdr>
          <a:left>
            <a:ln w="25400" cap="flat">
              <a:solidFill>
                <a:srgbClr val="FFFFFF"/>
              </a:solidFill>
              <a:prstDash val="solid"/>
              <a:miter lim="400000"/>
            </a:ln>
          </a:left>
          <a:right>
            <a:ln w="25400" cap="flat">
              <a:solidFill>
                <a:srgbClr val="FFFFFF"/>
              </a:solidFill>
              <a:prstDash val="solid"/>
              <a:miter lim="400000"/>
            </a:ln>
          </a:right>
          <a:top>
            <a:ln w="25400" cap="flat">
              <a:solidFill>
                <a:srgbClr val="FFFFFF"/>
              </a:solidFill>
              <a:prstDash val="solid"/>
              <a:miter lim="400000"/>
            </a:ln>
          </a:top>
          <a:bottom>
            <a:ln w="25400" cap="flat">
              <a:solidFill>
                <a:srgbClr val="FFFFFF"/>
              </a:solidFill>
              <a:prstDash val="solid"/>
              <a:miter lim="400000"/>
            </a:ln>
          </a:bottom>
          <a:insideH>
            <a:ln w="25400" cap="flat">
              <a:solidFill>
                <a:srgbClr val="FFFFFF"/>
              </a:solidFill>
              <a:prstDash val="solid"/>
              <a:miter lim="400000"/>
            </a:ln>
          </a:insideH>
          <a:insideV>
            <a:ln w="25400" cap="flat">
              <a:solidFill>
                <a:srgbClr val="FFFFFF"/>
              </a:solidFill>
              <a:prstDash val="solid"/>
              <a:miter lim="400000"/>
            </a:ln>
          </a:insideV>
        </a:tcBdr>
        <a:fill>
          <a:solidFill>
            <a:srgbClr val="1A610F"/>
          </a:solidFill>
        </a:fill>
      </a:tcStyle>
    </a:firstCol>
    <a:lastRow>
      <a:tcTxStyle b="off" i="off">
        <a:font>
          <a:latin typeface="Gill Sans"/>
          <a:ea typeface="Gill Sans"/>
          <a:cs typeface="Gill Sans"/>
        </a:font>
        <a:srgbClr val="FFFFFF"/>
      </a:tcTxStyle>
      <a:tcStyle>
        <a:tcBdr>
          <a:left>
            <a:ln w="25400" cap="flat">
              <a:solidFill>
                <a:srgbClr val="FFFFFF"/>
              </a:solidFill>
              <a:prstDash val="solid"/>
              <a:miter lim="400000"/>
            </a:ln>
          </a:left>
          <a:right>
            <a:ln w="25400" cap="flat">
              <a:solidFill>
                <a:srgbClr val="FFFFFF"/>
              </a:solidFill>
              <a:prstDash val="solid"/>
              <a:miter lim="400000"/>
            </a:ln>
          </a:right>
          <a:top>
            <a:ln w="25400" cap="flat">
              <a:solidFill>
                <a:srgbClr val="FFFFFF"/>
              </a:solidFill>
              <a:prstDash val="solid"/>
              <a:miter lim="400000"/>
            </a:ln>
          </a:top>
          <a:bottom>
            <a:ln w="25400" cap="flat">
              <a:solidFill>
                <a:srgbClr val="FFFFFF"/>
              </a:solidFill>
              <a:prstDash val="solid"/>
              <a:miter lim="400000"/>
            </a:ln>
          </a:bottom>
          <a:insideH>
            <a:ln w="25400" cap="flat">
              <a:solidFill>
                <a:srgbClr val="FFFFFF"/>
              </a:solidFill>
              <a:prstDash val="solid"/>
              <a:miter lim="400000"/>
            </a:ln>
          </a:insideH>
          <a:insideV>
            <a:ln w="25400" cap="flat">
              <a:solidFill>
                <a:srgbClr val="FFFFFF"/>
              </a:solidFill>
              <a:prstDash val="solid"/>
              <a:miter lim="400000"/>
            </a:ln>
          </a:insideV>
        </a:tcBdr>
        <a:fill>
          <a:gradFill>
            <a:gsLst>
              <a:gs pos="0">
                <a:srgbClr val="0066C1"/>
              </a:gs>
              <a:gs pos="100000">
                <a:srgbClr val="094593"/>
              </a:gs>
            </a:gsLst>
            <a:lin ang="5400000"/>
          </a:gradFill>
        </a:fill>
      </a:tcStyle>
    </a:lastRow>
    <a:firstRow>
      <a:tcTxStyle b="off" i="off">
        <a:font>
          <a:latin typeface="Gill Sans"/>
          <a:ea typeface="Gill Sans"/>
          <a:cs typeface="Gill Sans"/>
        </a:font>
        <a:srgbClr val="FFFFFF"/>
      </a:tcTxStyle>
      <a:tcStyle>
        <a:tcBdr>
          <a:left>
            <a:ln w="25400" cap="flat">
              <a:solidFill>
                <a:srgbClr val="FFFFFF"/>
              </a:solidFill>
              <a:prstDash val="solid"/>
              <a:miter lim="400000"/>
            </a:ln>
          </a:left>
          <a:right>
            <a:ln w="25400" cap="flat">
              <a:solidFill>
                <a:srgbClr val="FFFFFF"/>
              </a:solidFill>
              <a:prstDash val="solid"/>
              <a:miter lim="400000"/>
            </a:ln>
          </a:right>
          <a:top>
            <a:ln w="25400" cap="flat">
              <a:solidFill>
                <a:srgbClr val="FFFFFF"/>
              </a:solidFill>
              <a:prstDash val="solid"/>
              <a:miter lim="400000"/>
            </a:ln>
          </a:top>
          <a:bottom>
            <a:ln w="25400" cap="flat">
              <a:solidFill>
                <a:srgbClr val="FFFFFF"/>
              </a:solidFill>
              <a:prstDash val="solid"/>
              <a:miter lim="400000"/>
            </a:ln>
          </a:bottom>
          <a:insideH>
            <a:ln w="25400" cap="flat">
              <a:solidFill>
                <a:srgbClr val="FFFFFF"/>
              </a:solidFill>
              <a:prstDash val="solid"/>
              <a:miter lim="400000"/>
            </a:ln>
          </a:insideH>
          <a:insideV>
            <a:ln w="25400" cap="flat">
              <a:solidFill>
                <a:srgbClr val="FFFFFF"/>
              </a:solidFill>
              <a:prstDash val="solid"/>
              <a:miter lim="400000"/>
            </a:ln>
          </a:insideV>
        </a:tcBdr>
        <a:fill>
          <a:gradFill>
            <a:gsLst>
              <a:gs pos="0">
                <a:srgbClr val="0066C1"/>
              </a:gs>
              <a:gs pos="100000">
                <a:srgbClr val="094593"/>
              </a:gs>
            </a:gsLst>
            <a:lin ang="5400000"/>
          </a:gra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34"/>
    <p:restoredTop sz="88767"/>
  </p:normalViewPr>
  <p:slideViewPr>
    <p:cSldViewPr snapToGrid="0">
      <p:cViewPr varScale="1">
        <p:scale>
          <a:sx n="76" d="100"/>
          <a:sy n="76" d="100"/>
        </p:scale>
        <p:origin x="250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3" name="Shape 163"/>
          <p:cNvSpPr>
            <a:spLocks noGrp="1" noRot="1" noChangeAspect="1"/>
          </p:cNvSpPr>
          <p:nvPr>
            <p:ph type="sldImg"/>
          </p:nvPr>
        </p:nvSpPr>
        <p:spPr>
          <a:xfrm>
            <a:off x="1143000" y="685800"/>
            <a:ext cx="4572000" cy="3429000"/>
          </a:xfrm>
          <a:prstGeom prst="rect">
            <a:avLst/>
          </a:prstGeom>
        </p:spPr>
        <p:txBody>
          <a:bodyPr/>
          <a:lstStyle/>
          <a:p>
            <a:endParaRPr/>
          </a:p>
        </p:txBody>
      </p:sp>
      <p:sp>
        <p:nvSpPr>
          <p:cNvPr id="164" name="Shape 164"/>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584200" latinLnBrk="0">
      <a:defRPr sz="2200">
        <a:latin typeface="Lucida Grande"/>
        <a:ea typeface="Lucida Grande"/>
        <a:cs typeface="Lucida Grande"/>
        <a:sym typeface="Lucida Grande"/>
      </a:defRPr>
    </a:lvl1pPr>
    <a:lvl2pPr indent="228600" defTabSz="584200" latinLnBrk="0">
      <a:defRPr sz="2200">
        <a:latin typeface="Lucida Grande"/>
        <a:ea typeface="Lucida Grande"/>
        <a:cs typeface="Lucida Grande"/>
        <a:sym typeface="Lucida Grande"/>
      </a:defRPr>
    </a:lvl2pPr>
    <a:lvl3pPr indent="457200" defTabSz="584200" latinLnBrk="0">
      <a:defRPr sz="2200">
        <a:latin typeface="Lucida Grande"/>
        <a:ea typeface="Lucida Grande"/>
        <a:cs typeface="Lucida Grande"/>
        <a:sym typeface="Lucida Grande"/>
      </a:defRPr>
    </a:lvl3pPr>
    <a:lvl4pPr indent="685800" defTabSz="584200" latinLnBrk="0">
      <a:defRPr sz="2200">
        <a:latin typeface="Lucida Grande"/>
        <a:ea typeface="Lucida Grande"/>
        <a:cs typeface="Lucida Grande"/>
        <a:sym typeface="Lucida Grande"/>
      </a:defRPr>
    </a:lvl4pPr>
    <a:lvl5pPr indent="914400" defTabSz="584200" latinLnBrk="0">
      <a:defRPr sz="2200">
        <a:latin typeface="Lucida Grande"/>
        <a:ea typeface="Lucida Grande"/>
        <a:cs typeface="Lucida Grande"/>
        <a:sym typeface="Lucida Grande"/>
      </a:defRPr>
    </a:lvl5pPr>
    <a:lvl6pPr indent="1143000" defTabSz="584200" latinLnBrk="0">
      <a:defRPr sz="2200">
        <a:latin typeface="Lucida Grande"/>
        <a:ea typeface="Lucida Grande"/>
        <a:cs typeface="Lucida Grande"/>
        <a:sym typeface="Lucida Grande"/>
      </a:defRPr>
    </a:lvl6pPr>
    <a:lvl7pPr indent="1371600" defTabSz="584200" latinLnBrk="0">
      <a:defRPr sz="2200">
        <a:latin typeface="Lucida Grande"/>
        <a:ea typeface="Lucida Grande"/>
        <a:cs typeface="Lucida Grande"/>
        <a:sym typeface="Lucida Grande"/>
      </a:defRPr>
    </a:lvl7pPr>
    <a:lvl8pPr indent="1600200" defTabSz="584200" latinLnBrk="0">
      <a:defRPr sz="2200">
        <a:latin typeface="Lucida Grande"/>
        <a:ea typeface="Lucida Grande"/>
        <a:cs typeface="Lucida Grande"/>
        <a:sym typeface="Lucida Grande"/>
      </a:defRPr>
    </a:lvl8pPr>
    <a:lvl9pPr indent="1828800" defTabSz="584200" latinLnBrk="0">
      <a:defRPr sz="2200">
        <a:latin typeface="Lucida Grande"/>
        <a:ea typeface="Lucida Grande"/>
        <a:cs typeface="Lucida Grande"/>
        <a:sym typeface="Lucida Grand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defTabSz="584200" rtl="0" latinLnBrk="0"/>
            <a:r>
              <a:rPr lang="en-LB" dirty="0"/>
              <a:t>MSS: Maximum Segment Size</a:t>
            </a:r>
          </a:p>
        </p:txBody>
      </p:sp>
    </p:spTree>
    <p:extLst>
      <p:ext uri="{BB962C8B-B14F-4D97-AF65-F5344CB8AC3E}">
        <p14:creationId xmlns:p14="http://schemas.microsoft.com/office/powerpoint/2010/main" val="23066125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Shape 243"/>
          <p:cNvSpPr>
            <a:spLocks noGrp="1" noRot="1" noChangeAspect="1"/>
          </p:cNvSpPr>
          <p:nvPr>
            <p:ph type="sldImg"/>
          </p:nvPr>
        </p:nvSpPr>
        <p:spPr>
          <a:prstGeom prst="rect">
            <a:avLst/>
          </a:prstGeom>
        </p:spPr>
        <p:txBody>
          <a:bodyPr/>
          <a:lstStyle/>
          <a:p>
            <a:endParaRPr/>
          </a:p>
        </p:txBody>
      </p:sp>
      <p:sp>
        <p:nvSpPr>
          <p:cNvPr id="244" name="Shape 244"/>
          <p:cNvSpPr>
            <a:spLocks noGrp="1"/>
          </p:cNvSpPr>
          <p:nvPr>
            <p:ph type="body" sz="quarter" idx="1"/>
          </p:nvPr>
        </p:nvSpPr>
        <p:spPr>
          <a:prstGeom prst="rect">
            <a:avLst/>
          </a:prstGeom>
        </p:spPr>
        <p:txBody>
          <a:bodyPr/>
          <a:lstStyle/>
          <a:p>
            <a:r>
              <a:t>There are Path MTU discovery protocols (RFC 1191)</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defTabSz="584200" rtl="0" latinLnBrk="0"/>
            <a:r>
              <a:rPr lang="en-LB" dirty="0"/>
              <a:t>ISN: Initial Sequence Number</a:t>
            </a:r>
          </a:p>
        </p:txBody>
      </p:sp>
    </p:spTree>
    <p:extLst>
      <p:ext uri="{BB962C8B-B14F-4D97-AF65-F5344CB8AC3E}">
        <p14:creationId xmlns:p14="http://schemas.microsoft.com/office/powerpoint/2010/main" val="1307287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Shape 271"/>
          <p:cNvSpPr>
            <a:spLocks noGrp="1" noRot="1" noChangeAspect="1"/>
          </p:cNvSpPr>
          <p:nvPr>
            <p:ph type="sldImg"/>
          </p:nvPr>
        </p:nvSpPr>
        <p:spPr>
          <a:prstGeom prst="rect">
            <a:avLst/>
          </a:prstGeom>
        </p:spPr>
        <p:txBody>
          <a:bodyPr/>
          <a:lstStyle/>
          <a:p>
            <a:endParaRPr/>
          </a:p>
        </p:txBody>
      </p:sp>
      <p:sp>
        <p:nvSpPr>
          <p:cNvPr id="272" name="Shape 272"/>
          <p:cNvSpPr>
            <a:spLocks noGrp="1"/>
          </p:cNvSpPr>
          <p:nvPr>
            <p:ph type="body" sz="quarter" idx="1"/>
          </p:nvPr>
        </p:nvSpPr>
        <p:spPr>
          <a:prstGeom prst="rect">
            <a:avLst/>
          </a:prstGeom>
        </p:spPr>
        <p:txBody>
          <a:bodyPr/>
          <a:lstStyle/>
          <a:p>
            <a:r>
              <a:t>According to Stevens, page 232-3: RFC 793 states that the ISN should be viewed as a 32-bit counter that increments every 4 microseconds.  ... 4.4 BSD starts at 1, then increments at 8 microseconds.  It also is incremented by 64000 every time a connection is established.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Shape 278"/>
          <p:cNvSpPr>
            <a:spLocks noGrp="1" noRot="1" noChangeAspect="1"/>
          </p:cNvSpPr>
          <p:nvPr>
            <p:ph type="sldImg"/>
          </p:nvPr>
        </p:nvSpPr>
        <p:spPr>
          <a:prstGeom prst="rect">
            <a:avLst/>
          </a:prstGeom>
        </p:spPr>
        <p:txBody>
          <a:bodyPr/>
          <a:lstStyle/>
          <a:p>
            <a:endParaRPr/>
          </a:p>
        </p:txBody>
      </p:sp>
      <p:sp>
        <p:nvSpPr>
          <p:cNvPr id="279" name="Shape 279"/>
          <p:cNvSpPr>
            <a:spLocks noGrp="1"/>
          </p:cNvSpPr>
          <p:nvPr>
            <p:ph type="body" sz="quarter" idx="1"/>
          </p:nvPr>
        </p:nvSpPr>
        <p:spPr>
          <a:prstGeom prst="rect">
            <a:avLst/>
          </a:prstGeom>
        </p:spPr>
        <p:txBody>
          <a:bodyPr/>
          <a:lstStyle/>
          <a:p>
            <a:r>
              <a:rPr dirty="0"/>
              <a:t>According to Stevens, page 232-3: RFC 793 states that the ISN should be viewed as a 32-bit counter that increments every 4 microseconds.  ... </a:t>
            </a:r>
            <a:endParaRPr lang="en-US" dirty="0"/>
          </a:p>
          <a:p>
            <a:r>
              <a:rPr dirty="0"/>
              <a:t>4.4 BSD starts at 1, then increments at 8 microseconds.  It also is incremented by 64000 every time a connection is established.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BBD97-5A50-3EF0-8C33-C4E96262468B}"/>
            </a:ext>
          </a:extLst>
        </p:cNvPr>
        <p:cNvGrpSpPr/>
        <p:nvPr/>
      </p:nvGrpSpPr>
      <p:grpSpPr>
        <a:xfrm>
          <a:off x="0" y="0"/>
          <a:ext cx="0" cy="0"/>
          <a:chOff x="0" y="0"/>
          <a:chExt cx="0" cy="0"/>
        </a:xfrm>
      </p:grpSpPr>
      <p:sp>
        <p:nvSpPr>
          <p:cNvPr id="278" name="Shape 278">
            <a:extLst>
              <a:ext uri="{FF2B5EF4-FFF2-40B4-BE49-F238E27FC236}">
                <a16:creationId xmlns:a16="http://schemas.microsoft.com/office/drawing/2014/main" id="{5906BB4A-32C8-CC3C-EB2F-E11F470954E9}"/>
              </a:ext>
            </a:extLst>
          </p:cNvPr>
          <p:cNvSpPr>
            <a:spLocks noGrp="1" noRot="1" noChangeAspect="1"/>
          </p:cNvSpPr>
          <p:nvPr>
            <p:ph type="sldImg"/>
          </p:nvPr>
        </p:nvSpPr>
        <p:spPr>
          <a:prstGeom prst="rect">
            <a:avLst/>
          </a:prstGeom>
        </p:spPr>
        <p:txBody>
          <a:bodyPr/>
          <a:lstStyle/>
          <a:p>
            <a:endParaRPr/>
          </a:p>
        </p:txBody>
      </p:sp>
      <p:sp>
        <p:nvSpPr>
          <p:cNvPr id="279" name="Shape 279">
            <a:extLst>
              <a:ext uri="{FF2B5EF4-FFF2-40B4-BE49-F238E27FC236}">
                <a16:creationId xmlns:a16="http://schemas.microsoft.com/office/drawing/2014/main" id="{BDD7C40E-ECD0-EBAD-6A69-5BE895F27DB9}"/>
              </a:ext>
            </a:extLst>
          </p:cNvPr>
          <p:cNvSpPr>
            <a:spLocks noGrp="1"/>
          </p:cNvSpPr>
          <p:nvPr>
            <p:ph type="body" sz="quarter" idx="1"/>
          </p:nvPr>
        </p:nvSpPr>
        <p:spPr>
          <a:prstGeom prst="rect">
            <a:avLst/>
          </a:prstGeom>
        </p:spPr>
        <p:txBody>
          <a:bodyPr/>
          <a:lstStyle/>
          <a:p>
            <a:r>
              <a:t>According to Stevens, page 232-3: RFC 793 states that the ISN should be viewed as a 32-bit counter that increments every 4 microseconds.  ... 4.4 BSD starts at 1, then increments at 8 microseconds.  It also is incremented by 64000 every time a connection is established.</a:t>
            </a:r>
          </a:p>
        </p:txBody>
      </p:sp>
    </p:spTree>
    <p:extLst>
      <p:ext uri="{BB962C8B-B14F-4D97-AF65-F5344CB8AC3E}">
        <p14:creationId xmlns:p14="http://schemas.microsoft.com/office/powerpoint/2010/main" val="6522867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Shape 305"/>
          <p:cNvSpPr>
            <a:spLocks noGrp="1" noRot="1" noChangeAspect="1"/>
          </p:cNvSpPr>
          <p:nvPr>
            <p:ph type="sldImg"/>
          </p:nvPr>
        </p:nvSpPr>
        <p:spPr>
          <a:prstGeom prst="rect">
            <a:avLst/>
          </a:prstGeom>
        </p:spPr>
        <p:txBody>
          <a:bodyPr/>
          <a:lstStyle/>
          <a:p>
            <a:endParaRPr/>
          </a:p>
        </p:txBody>
      </p:sp>
      <p:sp>
        <p:nvSpPr>
          <p:cNvPr id="306" name="Shape 306"/>
          <p:cNvSpPr>
            <a:spLocks noGrp="1"/>
          </p:cNvSpPr>
          <p:nvPr>
            <p:ph type="body" sz="quarter" idx="1"/>
          </p:nvPr>
        </p:nvSpPr>
        <p:spPr>
          <a:prstGeom prst="rect">
            <a:avLst/>
          </a:prstGeom>
        </p:spPr>
        <p:txBody>
          <a:bodyPr/>
          <a:lstStyle/>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t>When TCP performs an active close, and sends the final ACK, that connection must stay in the TIME_WAIT state for twice the MSL (maximum segment lifetime, 2mins). This lets TCP resend the final ACK in case this ACK is lost (in which case the other end will timeout and retransmit its final FIN). </a:t>
            </a:r>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t>While the TCP connection is in the 2MSL wait, the socket pair defining that connection cannot be reused. </a:t>
            </a:r>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t>Any segments that arrived during the 2MSL wait is discarded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1. Ignore duplicate ACKs</a:t>
            </a:r>
          </a:p>
          <a:p>
            <a:pPr lvl="1" algn="l">
              <a:buFont typeface="Arial" panose="020B0604020202020204" pitchFamily="34" charset="0"/>
              <a:buChar char="•"/>
            </a:pPr>
            <a:r>
              <a:rPr lang="en-US" b="0" i="0" u="none" strike="noStrike" dirty="0">
                <a:solidFill>
                  <a:srgbClr val="000000"/>
                </a:solidFill>
                <a:effectLst/>
              </a:rPr>
              <a:t>In real TCP, duplicate ACKs are used for </a:t>
            </a:r>
            <a:r>
              <a:rPr lang="en-US" b="1" i="0" u="none" strike="noStrike" dirty="0">
                <a:solidFill>
                  <a:srgbClr val="000000"/>
                </a:solidFill>
                <a:effectLst/>
              </a:rPr>
              <a:t>fast retransmit</a:t>
            </a:r>
            <a:r>
              <a:rPr lang="en-US" b="0" i="0" u="none" strike="noStrike" dirty="0">
                <a:solidFill>
                  <a:srgbClr val="000000"/>
                </a:solidFill>
                <a:effectLst/>
              </a:rPr>
              <a:t> and congestion detection.</a:t>
            </a:r>
          </a:p>
          <a:p>
            <a:pPr lvl="1" algn="l">
              <a:buFont typeface="Arial" panose="020B0604020202020204" pitchFamily="34" charset="0"/>
              <a:buChar char="•"/>
            </a:pPr>
            <a:r>
              <a:rPr lang="en-US" b="0" i="0" u="none" strike="noStrike" dirty="0">
                <a:solidFill>
                  <a:srgbClr val="000000"/>
                </a:solidFill>
                <a:effectLst/>
              </a:rPr>
              <a:t>For a </a:t>
            </a:r>
            <a:r>
              <a:rPr lang="en-US" b="0" i="1" u="none" strike="noStrike" dirty="0">
                <a:solidFill>
                  <a:srgbClr val="000000"/>
                </a:solidFill>
                <a:effectLst/>
              </a:rPr>
              <a:t>first-step model</a:t>
            </a:r>
            <a:r>
              <a:rPr lang="en-US" b="0" i="0" u="none" strike="noStrike" dirty="0">
                <a:solidFill>
                  <a:srgbClr val="000000"/>
                </a:solidFill>
                <a:effectLst/>
              </a:rPr>
              <a:t>, we ignore them so we don’t get distracted by advanced loss recovery.</a:t>
            </a:r>
          </a:p>
          <a:p>
            <a:pPr lvl="1" algn="l">
              <a:buFont typeface="Arial" panose="020B0604020202020204" pitchFamily="34" charset="0"/>
              <a:buChar char="•"/>
            </a:pPr>
            <a:r>
              <a:rPr lang="en-US" b="0" i="0" u="none" strike="noStrike" dirty="0">
                <a:solidFill>
                  <a:srgbClr val="000000"/>
                </a:solidFill>
                <a:effectLst/>
              </a:rPr>
              <a:t>We only care about:</a:t>
            </a:r>
            <a:br>
              <a:rPr lang="en-US" b="0" i="0" u="none" strike="noStrike" dirty="0">
                <a:solidFill>
                  <a:srgbClr val="000000"/>
                </a:solidFill>
                <a:effectLst/>
              </a:rPr>
            </a:br>
            <a:r>
              <a:rPr lang="en-LB" b="0" i="0" u="none" strike="noStrike" dirty="0">
                <a:solidFill>
                  <a:srgbClr val="000000"/>
                </a:solidFill>
                <a:effectLst/>
              </a:rPr>
              <a:t>👉 “</a:t>
            </a:r>
            <a:r>
              <a:rPr lang="en-US" b="0" i="0" u="none" strike="noStrike" dirty="0">
                <a:solidFill>
                  <a:srgbClr val="000000"/>
                </a:solidFill>
                <a:effectLst/>
              </a:rPr>
              <a:t>Send data → wait for ACK → retransmit if timeout.”</a:t>
            </a:r>
          </a:p>
          <a:p>
            <a:pPr algn="l"/>
            <a:r>
              <a:rPr lang="en-US" b="1" i="0" u="none" strike="noStrike" dirty="0">
                <a:solidFill>
                  <a:srgbClr val="000000"/>
                </a:solidFill>
                <a:effectLst/>
              </a:rPr>
              <a:t>2. Ignore flow control</a:t>
            </a:r>
          </a:p>
          <a:p>
            <a:pPr lvl="1" algn="l">
              <a:buFont typeface="Arial" panose="020B0604020202020204" pitchFamily="34" charset="0"/>
              <a:buChar char="•"/>
            </a:pPr>
            <a:r>
              <a:rPr lang="en-US" b="0" i="0" u="none" strike="noStrike" dirty="0">
                <a:solidFill>
                  <a:srgbClr val="000000"/>
                </a:solidFill>
                <a:effectLst/>
              </a:rPr>
              <a:t>Flow control (receiver’s advertised window) prevents overwhelming the receiver’s buffer.</a:t>
            </a:r>
          </a:p>
          <a:p>
            <a:pPr lvl="1" algn="l">
              <a:buFont typeface="Arial" panose="020B0604020202020204" pitchFamily="34" charset="0"/>
              <a:buChar char="•"/>
            </a:pPr>
            <a:r>
              <a:rPr lang="en-US" b="0" i="0" u="none" strike="noStrike" dirty="0">
                <a:solidFill>
                  <a:srgbClr val="000000"/>
                </a:solidFill>
                <a:effectLst/>
              </a:rPr>
              <a:t>If we ignore it, we can assume:</a:t>
            </a:r>
            <a:br>
              <a:rPr lang="en-US" b="0" i="0" u="none" strike="noStrike" dirty="0">
                <a:solidFill>
                  <a:srgbClr val="000000"/>
                </a:solidFill>
                <a:effectLst/>
              </a:rPr>
            </a:br>
            <a:r>
              <a:rPr lang="en-LB" b="0" i="0" u="none" strike="noStrike" dirty="0">
                <a:solidFill>
                  <a:srgbClr val="000000"/>
                </a:solidFill>
                <a:effectLst/>
              </a:rPr>
              <a:t>👉 “</a:t>
            </a:r>
            <a:r>
              <a:rPr lang="en-US" b="0" i="0" u="none" strike="noStrike" dirty="0">
                <a:solidFill>
                  <a:srgbClr val="000000"/>
                </a:solidFill>
                <a:effectLst/>
              </a:rPr>
              <a:t>Receiver can always accept data.”</a:t>
            </a:r>
          </a:p>
          <a:p>
            <a:pPr lvl="1" algn="l">
              <a:buFont typeface="Arial" panose="020B0604020202020204" pitchFamily="34" charset="0"/>
              <a:buChar char="•"/>
            </a:pPr>
            <a:r>
              <a:rPr lang="en-US" b="0" i="0" u="none" strike="noStrike" dirty="0">
                <a:solidFill>
                  <a:srgbClr val="000000"/>
                </a:solidFill>
                <a:effectLst/>
              </a:rPr>
              <a:t>This removes receiver buffer limits from the picture, letting us focus only on reliability.</a:t>
            </a:r>
          </a:p>
          <a:p>
            <a:pPr algn="l"/>
            <a:r>
              <a:rPr lang="en-US" b="1" i="0" u="none" strike="noStrike" dirty="0">
                <a:solidFill>
                  <a:srgbClr val="000000"/>
                </a:solidFill>
                <a:effectLst/>
              </a:rPr>
              <a:t>3. Ignore congestion control</a:t>
            </a:r>
          </a:p>
          <a:p>
            <a:pPr lvl="1" algn="l">
              <a:buFont typeface="Arial" panose="020B0604020202020204" pitchFamily="34" charset="0"/>
              <a:buChar char="•"/>
            </a:pPr>
            <a:r>
              <a:rPr lang="en-US" b="0" i="0" u="none" strike="noStrike" dirty="0">
                <a:solidFill>
                  <a:srgbClr val="000000"/>
                </a:solidFill>
                <a:effectLst/>
              </a:rPr>
              <a:t>Congestion control adapts to network capacity to avoid overloading routers.</a:t>
            </a:r>
          </a:p>
          <a:p>
            <a:pPr lvl="1" algn="l">
              <a:buFont typeface="Arial" panose="020B0604020202020204" pitchFamily="34" charset="0"/>
              <a:buChar char="•"/>
            </a:pPr>
            <a:r>
              <a:rPr lang="en-US" b="0" i="0" u="none" strike="noStrike" dirty="0">
                <a:solidFill>
                  <a:srgbClr val="000000"/>
                </a:solidFill>
                <a:effectLst/>
              </a:rPr>
              <a:t>But that requires algorithms like slow start, AIMD, etc.</a:t>
            </a:r>
          </a:p>
          <a:p>
            <a:pPr lvl="1" algn="l">
              <a:buFont typeface="Arial" panose="020B0604020202020204" pitchFamily="34" charset="0"/>
              <a:buChar char="•"/>
            </a:pPr>
            <a:r>
              <a:rPr lang="en-US" b="0" i="0" u="none" strike="noStrike" dirty="0">
                <a:solidFill>
                  <a:srgbClr val="000000"/>
                </a:solidFill>
                <a:effectLst/>
              </a:rPr>
              <a:t>In a simplified model, we pretend:</a:t>
            </a:r>
            <a:br>
              <a:rPr lang="en-US" b="0" i="0" u="none" strike="noStrike" dirty="0">
                <a:solidFill>
                  <a:srgbClr val="000000"/>
                </a:solidFill>
                <a:effectLst/>
              </a:rPr>
            </a:br>
            <a:r>
              <a:rPr lang="en-LB" b="0" i="0" u="none" strike="noStrike" dirty="0">
                <a:solidFill>
                  <a:srgbClr val="000000"/>
                </a:solidFill>
                <a:effectLst/>
              </a:rPr>
              <a:t>👉 “</a:t>
            </a:r>
            <a:r>
              <a:rPr lang="en-US" b="0" i="0" u="none" strike="noStrike" dirty="0">
                <a:solidFill>
                  <a:srgbClr val="000000"/>
                </a:solidFill>
                <a:effectLst/>
              </a:rPr>
              <a:t>The network can carry whatever we send without congestion.”</a:t>
            </a:r>
          </a:p>
          <a:p>
            <a:pPr lvl="1" algn="l">
              <a:buFont typeface="Arial" panose="020B0604020202020204" pitchFamily="34" charset="0"/>
              <a:buChar char="•"/>
            </a:pPr>
            <a:r>
              <a:rPr lang="en-US" b="0" i="0" u="none" strike="noStrike" dirty="0">
                <a:solidFill>
                  <a:srgbClr val="000000"/>
                </a:solidFill>
                <a:effectLst/>
              </a:rPr>
              <a:t>Again, keeps the focus on basic send/ack/retransmit behavior.</a:t>
            </a:r>
          </a:p>
          <a:p>
            <a:pPr algn="l"/>
            <a:r>
              <a:rPr lang="en-US" b="1" i="0" u="none" strike="noStrike" dirty="0">
                <a:solidFill>
                  <a:srgbClr val="000000"/>
                </a:solidFill>
                <a:effectLst/>
              </a:rPr>
              <a:t>4. Assume RTT is estimated somehow</a:t>
            </a:r>
          </a:p>
          <a:p>
            <a:pPr lvl="1" algn="l">
              <a:buFont typeface="Arial" panose="020B0604020202020204" pitchFamily="34" charset="0"/>
              <a:buChar char="•"/>
            </a:pPr>
            <a:r>
              <a:rPr lang="en-US" b="0" i="0" u="none" strike="noStrike" dirty="0">
                <a:solidFill>
                  <a:srgbClr val="000000"/>
                </a:solidFill>
                <a:effectLst/>
              </a:rPr>
              <a:t>In real TCP, RTT estimation uses </a:t>
            </a:r>
            <a:r>
              <a:rPr lang="en-US" b="1" i="0" u="none" strike="noStrike" dirty="0">
                <a:solidFill>
                  <a:srgbClr val="000000"/>
                </a:solidFill>
                <a:effectLst/>
              </a:rPr>
              <a:t>exponential weighted averages</a:t>
            </a:r>
            <a:r>
              <a:rPr lang="en-US" b="0" i="0" u="none" strike="noStrike" dirty="0">
                <a:solidFill>
                  <a:srgbClr val="000000"/>
                </a:solidFill>
                <a:effectLst/>
              </a:rPr>
              <a:t> (Jacobson/Karels algorithm).</a:t>
            </a:r>
          </a:p>
          <a:p>
            <a:pPr lvl="1" algn="l">
              <a:buFont typeface="Arial" panose="020B0604020202020204" pitchFamily="34" charset="0"/>
              <a:buChar char="•"/>
            </a:pPr>
            <a:r>
              <a:rPr lang="en-US" b="0" i="0" u="none" strike="noStrike" dirty="0">
                <a:solidFill>
                  <a:srgbClr val="000000"/>
                </a:solidFill>
                <a:effectLst/>
              </a:rPr>
              <a:t>But if we assume “RTT magically known,” then:</a:t>
            </a:r>
            <a:br>
              <a:rPr lang="en-US" b="0" i="0" u="none" strike="noStrike" dirty="0">
                <a:solidFill>
                  <a:srgbClr val="000000"/>
                </a:solidFill>
                <a:effectLst/>
              </a:rPr>
            </a:br>
            <a:r>
              <a:rPr lang="en-LB" b="0" i="0" u="none" strike="noStrike" dirty="0">
                <a:solidFill>
                  <a:srgbClr val="000000"/>
                </a:solidFill>
                <a:effectLst/>
              </a:rPr>
              <a:t>👉 </a:t>
            </a:r>
            <a:r>
              <a:rPr lang="en-US" b="0" i="0" u="none" strike="noStrike" dirty="0">
                <a:solidFill>
                  <a:srgbClr val="000000"/>
                </a:solidFill>
                <a:effectLst/>
              </a:rPr>
              <a:t>We don’t have to model timing noise, just use the correct timeout value.</a:t>
            </a:r>
          </a:p>
          <a:p>
            <a:pPr lvl="1" algn="l">
              <a:buFont typeface="Arial" panose="020B0604020202020204" pitchFamily="34" charset="0"/>
              <a:buChar char="•"/>
            </a:pPr>
            <a:r>
              <a:rPr lang="en-US" b="0" i="0" u="none" strike="noStrike" dirty="0">
                <a:solidFill>
                  <a:srgbClr val="000000"/>
                </a:solidFill>
                <a:effectLst/>
              </a:rPr>
              <a:t>This simplifies retransmission logic — no need to build complex RTT estimators yet</a:t>
            </a:r>
          </a:p>
          <a:p>
            <a:pPr algn="l"/>
            <a:r>
              <a:rPr lang="en-US" b="1" i="0" u="none" strike="noStrike" dirty="0">
                <a:solidFill>
                  <a:srgbClr val="000000"/>
                </a:solidFill>
                <a:effectLst/>
              </a:rPr>
              <a:t>Summary</a:t>
            </a:r>
          </a:p>
          <a:p>
            <a:pPr algn="l"/>
            <a:r>
              <a:rPr lang="en-US" b="0" i="0" u="none" strike="noStrike" dirty="0">
                <a:solidFill>
                  <a:srgbClr val="000000"/>
                </a:solidFill>
                <a:effectLst/>
              </a:rPr>
              <a:t>We ignore duplicate ACKs, flow control, and congestion control, and assume RTT is known </a:t>
            </a:r>
            <a:r>
              <a:rPr lang="en-US" b="1" i="0" u="none" strike="noStrike" dirty="0">
                <a:solidFill>
                  <a:srgbClr val="000000"/>
                </a:solidFill>
                <a:effectLst/>
              </a:rPr>
              <a:t>to simplify the model</a:t>
            </a:r>
            <a:r>
              <a:rPr lang="en-US" b="0"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This way, we can </a:t>
            </a:r>
            <a:r>
              <a:rPr lang="en-US" b="1" i="0" u="none" strike="noStrike" dirty="0">
                <a:solidFill>
                  <a:srgbClr val="000000"/>
                </a:solidFill>
                <a:effectLst/>
              </a:rPr>
              <a:t>first understand TCP’s core mechanism of reliable delivery</a:t>
            </a:r>
            <a:r>
              <a:rPr lang="en-US" b="0" i="0" u="none" strike="noStrike" dirty="0">
                <a:solidFill>
                  <a:srgbClr val="000000"/>
                </a:solidFill>
                <a:effectLst/>
              </a:rPr>
              <a:t> (sequence numbers, ACKs, retransmissions).</a:t>
            </a:r>
            <a:br>
              <a:rPr lang="en-US" b="0" i="0" u="none" strike="noStrike" dirty="0">
                <a:solidFill>
                  <a:srgbClr val="000000"/>
                </a:solidFill>
                <a:effectLst/>
              </a:rPr>
            </a:br>
            <a:r>
              <a:rPr lang="en-US" b="0" i="0" u="none" strike="noStrike" dirty="0">
                <a:solidFill>
                  <a:srgbClr val="000000"/>
                </a:solidFill>
                <a:effectLst/>
              </a:rPr>
              <a:t>Later, the more advanced features (fast retransmit, flow control, congestion control, RTT estimation) are layered back in.</a:t>
            </a:r>
          </a:p>
          <a:p>
            <a:pPr algn="l" defTabSz="584200" rtl="0" latinLnBrk="0"/>
            <a:endParaRPr lang="en-LB" dirty="0"/>
          </a:p>
        </p:txBody>
      </p:sp>
    </p:spTree>
    <p:extLst>
      <p:ext uri="{BB962C8B-B14F-4D97-AF65-F5344CB8AC3E}">
        <p14:creationId xmlns:p14="http://schemas.microsoft.com/office/powerpoint/2010/main" val="22296077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What is Piggybacking?</a:t>
            </a:r>
          </a:p>
          <a:p>
            <a:pPr algn="l">
              <a:buFont typeface="Arial" panose="020B0604020202020204" pitchFamily="34" charset="0"/>
              <a:buChar char="•"/>
            </a:pPr>
            <a:r>
              <a:rPr lang="en-US" b="1" i="0" u="none" strike="noStrike" dirty="0">
                <a:solidFill>
                  <a:srgbClr val="000000"/>
                </a:solidFill>
                <a:effectLst/>
              </a:rPr>
              <a:t>Piggybacking</a:t>
            </a:r>
            <a:r>
              <a:rPr lang="en-US" b="0" i="0" u="none" strike="noStrike" dirty="0">
                <a:solidFill>
                  <a:srgbClr val="000000"/>
                </a:solidFill>
                <a:effectLst/>
              </a:rPr>
              <a:t> means combining an </a:t>
            </a:r>
            <a:r>
              <a:rPr lang="en-US" b="1" i="0" u="none" strike="noStrike" dirty="0">
                <a:solidFill>
                  <a:srgbClr val="000000"/>
                </a:solidFill>
                <a:effectLst/>
              </a:rPr>
              <a:t>ACK (acknowledgment)</a:t>
            </a:r>
            <a:r>
              <a:rPr lang="en-US" b="0" i="0" u="none" strike="noStrike" dirty="0">
                <a:solidFill>
                  <a:srgbClr val="000000"/>
                </a:solidFill>
                <a:effectLst/>
              </a:rPr>
              <a:t> with </a:t>
            </a:r>
            <a:r>
              <a:rPr lang="en-US" b="1" i="0" u="none" strike="noStrike" dirty="0">
                <a:solidFill>
                  <a:srgbClr val="000000"/>
                </a:solidFill>
                <a:effectLst/>
              </a:rPr>
              <a:t>outgoing data</a:t>
            </a:r>
            <a:r>
              <a:rPr lang="en-US" b="0" i="0" u="none" strike="noStrike" dirty="0">
                <a:solidFill>
                  <a:srgbClr val="000000"/>
                </a:solidFill>
                <a:effectLst/>
              </a:rPr>
              <a:t> in the </a:t>
            </a:r>
            <a:r>
              <a:rPr lang="en-US" b="1" i="0" u="none" strike="noStrike" dirty="0">
                <a:solidFill>
                  <a:srgbClr val="000000"/>
                </a:solidFill>
                <a:effectLst/>
              </a:rPr>
              <a:t>same TCP segment</a:t>
            </a:r>
            <a:r>
              <a:rPr lang="en-US" b="0" i="0" u="none" strike="noStrike" dirty="0">
                <a:solidFill>
                  <a:srgbClr val="000000"/>
                </a:solidFill>
                <a:effectLst/>
              </a:rPr>
              <a:t>, instead of sending a separate ACK packet.</a:t>
            </a:r>
          </a:p>
          <a:p>
            <a:pPr algn="l">
              <a:buFont typeface="Arial" panose="020B0604020202020204" pitchFamily="34" charset="0"/>
              <a:buChar char="•"/>
            </a:pPr>
            <a:r>
              <a:rPr lang="en-US" b="0" i="0" u="none" strike="noStrike" dirty="0">
                <a:solidFill>
                  <a:srgbClr val="000000"/>
                </a:solidFill>
                <a:effectLst/>
              </a:rPr>
              <a:t>This </a:t>
            </a:r>
            <a:r>
              <a:rPr lang="en-US" b="1" i="0" u="none" strike="noStrike" dirty="0">
                <a:solidFill>
                  <a:srgbClr val="000000"/>
                </a:solidFill>
                <a:effectLst/>
              </a:rPr>
              <a:t>reduces the number of packets</a:t>
            </a:r>
            <a:r>
              <a:rPr lang="en-US" b="0" i="0" u="none" strike="noStrike" dirty="0">
                <a:solidFill>
                  <a:srgbClr val="000000"/>
                </a:solidFill>
                <a:effectLst/>
              </a:rPr>
              <a:t> on the network → more efficient.</a:t>
            </a:r>
          </a:p>
          <a:p>
            <a:pPr algn="l" defTabSz="584200" rtl="0" latinLnBrk="0"/>
            <a:endParaRPr lang="en-LB" dirty="0"/>
          </a:p>
          <a:p>
            <a:pPr algn="l"/>
            <a:r>
              <a:rPr lang="en-US" b="1" i="0" u="none" strike="noStrike" dirty="0">
                <a:solidFill>
                  <a:srgbClr val="000000"/>
                </a:solidFill>
                <a:effectLst/>
              </a:rPr>
              <a:t>How it works</a:t>
            </a:r>
          </a:p>
          <a:p>
            <a:pPr algn="l">
              <a:buFont typeface="+mj-lt"/>
              <a:buAutoNum type="arabicPeriod"/>
            </a:pPr>
            <a:r>
              <a:rPr lang="en-US" b="0" i="0" u="none" strike="noStrike" dirty="0">
                <a:solidFill>
                  <a:srgbClr val="000000"/>
                </a:solidFill>
                <a:effectLst/>
              </a:rPr>
              <a:t>Normally, TCP must </a:t>
            </a:r>
            <a:r>
              <a:rPr lang="en-US" b="1" i="0" u="none" strike="noStrike" dirty="0">
                <a:solidFill>
                  <a:srgbClr val="000000"/>
                </a:solidFill>
                <a:effectLst/>
              </a:rPr>
              <a:t>acknowledge received data</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You can send a </a:t>
            </a:r>
            <a:r>
              <a:rPr lang="en-US" b="1" i="0" u="none" strike="noStrike" dirty="0">
                <a:solidFill>
                  <a:srgbClr val="000000"/>
                </a:solidFill>
                <a:effectLst/>
              </a:rPr>
              <a:t>standalone ACK</a:t>
            </a:r>
            <a:r>
              <a:rPr lang="en-US" b="0" i="0" u="none" strike="noStrike" dirty="0">
                <a:solidFill>
                  <a:srgbClr val="000000"/>
                </a:solidFill>
                <a:effectLst/>
              </a:rPr>
              <a:t> (just header, no data).</a:t>
            </a:r>
          </a:p>
          <a:p>
            <a:pPr algn="l">
              <a:buFont typeface="+mj-lt"/>
              <a:buAutoNum type="arabicPeriod"/>
            </a:pPr>
            <a:r>
              <a:rPr lang="en-US" b="0" i="0" u="none" strike="noStrike" dirty="0">
                <a:solidFill>
                  <a:srgbClr val="000000"/>
                </a:solidFill>
                <a:effectLst/>
              </a:rPr>
              <a:t>If the receiver also has </a:t>
            </a:r>
            <a:r>
              <a:rPr lang="en-US" b="1" i="0" u="none" strike="noStrike" dirty="0">
                <a:solidFill>
                  <a:srgbClr val="000000"/>
                </a:solidFill>
                <a:effectLst/>
              </a:rPr>
              <a:t>data to send back</a:t>
            </a:r>
            <a:r>
              <a:rPr lang="en-US" b="0" i="0" u="none" strike="noStrike" dirty="0">
                <a:solidFill>
                  <a:srgbClr val="000000"/>
                </a:solidFill>
                <a:effectLst/>
              </a:rPr>
              <a:t>, it can </a:t>
            </a:r>
            <a:r>
              <a:rPr lang="en-US" b="1" i="0" u="none" strike="noStrike" dirty="0">
                <a:solidFill>
                  <a:srgbClr val="000000"/>
                </a:solidFill>
                <a:effectLst/>
              </a:rPr>
              <a:t>attach that data to the ACK</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Header includes </a:t>
            </a:r>
            <a:r>
              <a:rPr lang="en-US" b="1" i="0" u="none" strike="noStrike" dirty="0">
                <a:solidFill>
                  <a:srgbClr val="000000"/>
                </a:solidFill>
                <a:effectLst/>
              </a:rPr>
              <a:t>ACK flag + ACK number</a:t>
            </a:r>
            <a:endParaRPr lang="en-US" b="0" i="0" u="none" strike="noStrike" dirty="0">
              <a:solidFill>
                <a:srgbClr val="000000"/>
              </a:solidFill>
              <a:effectLst/>
            </a:endParaRPr>
          </a:p>
          <a:p>
            <a:pPr marL="742950" lvl="1" indent="-285750" algn="l">
              <a:buFont typeface="+mj-lt"/>
              <a:buAutoNum type="arabicPeriod"/>
            </a:pPr>
            <a:r>
              <a:rPr lang="en-US" b="0" i="0" u="none" strike="noStrike" dirty="0">
                <a:solidFill>
                  <a:srgbClr val="000000"/>
                </a:solidFill>
                <a:effectLst/>
              </a:rPr>
              <a:t>Payload contains the </a:t>
            </a:r>
            <a:r>
              <a:rPr lang="en-US" b="1" i="0" u="none" strike="noStrike" dirty="0">
                <a:solidFill>
                  <a:srgbClr val="000000"/>
                </a:solidFill>
                <a:effectLst/>
              </a:rPr>
              <a:t>application data</a:t>
            </a:r>
            <a:endParaRPr lang="en-US" b="0" i="0" u="none" strike="noStrike" dirty="0">
              <a:solidFill>
                <a:srgbClr val="000000"/>
              </a:solidFill>
              <a:effectLst/>
            </a:endParaRPr>
          </a:p>
          <a:p>
            <a:pPr algn="l">
              <a:buFont typeface="+mj-lt"/>
              <a:buAutoNum type="arabicPeriod"/>
            </a:pPr>
            <a:r>
              <a:rPr lang="en-US" b="0" i="0" u="none" strike="noStrike" dirty="0">
                <a:solidFill>
                  <a:srgbClr val="000000"/>
                </a:solidFill>
                <a:effectLst/>
              </a:rPr>
              <a:t>Result: 1 segment serves </a:t>
            </a:r>
            <a:r>
              <a:rPr lang="en-US" b="1" i="0" u="none" strike="noStrike" dirty="0">
                <a:solidFill>
                  <a:srgbClr val="000000"/>
                </a:solidFill>
                <a:effectLst/>
              </a:rPr>
              <a:t>two purposes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Acknowledge received bytes</a:t>
            </a:r>
          </a:p>
          <a:p>
            <a:pPr marL="742950" lvl="1" indent="-285750" algn="l">
              <a:buFont typeface="+mj-lt"/>
              <a:buAutoNum type="arabicPeriod"/>
            </a:pPr>
            <a:r>
              <a:rPr lang="en-US" b="0" i="0" u="none" strike="noStrike" dirty="0">
                <a:solidFill>
                  <a:srgbClr val="000000"/>
                </a:solidFill>
                <a:effectLst/>
              </a:rPr>
              <a:t>Send new data</a:t>
            </a:r>
          </a:p>
          <a:p>
            <a:pPr algn="l"/>
            <a:r>
              <a:rPr lang="en-LB" b="1" i="0" u="none" strike="noStrike" dirty="0">
                <a:solidFill>
                  <a:srgbClr val="000000"/>
                </a:solidFill>
                <a:effectLst/>
              </a:rPr>
              <a:t>🔹 </a:t>
            </a:r>
            <a:r>
              <a:rPr lang="en-US" b="1" i="0" u="none" strike="noStrike" dirty="0">
                <a:solidFill>
                  <a:srgbClr val="000000"/>
                </a:solidFill>
                <a:effectLst/>
              </a:rPr>
              <a:t>Example</a:t>
            </a:r>
          </a:p>
          <a:p>
            <a:pPr algn="l">
              <a:buFont typeface="Arial" panose="020B0604020202020204" pitchFamily="34" charset="0"/>
              <a:buChar char="•"/>
            </a:pPr>
            <a:r>
              <a:rPr lang="en-US" b="0" i="0" u="none" strike="noStrike" dirty="0">
                <a:solidFill>
                  <a:srgbClr val="000000"/>
                </a:solidFill>
                <a:effectLst/>
              </a:rPr>
              <a:t>Step 1: Client → Server: sends "Hello" (Seq = 1001, 5 bytes)</a:t>
            </a:r>
          </a:p>
          <a:p>
            <a:pPr algn="l">
              <a:buFont typeface="Arial" panose="020B0604020202020204" pitchFamily="34" charset="0"/>
              <a:buChar char="•"/>
            </a:pPr>
            <a:r>
              <a:rPr lang="en-US" b="0" i="0" u="none" strike="noStrike" dirty="0">
                <a:solidFill>
                  <a:srgbClr val="000000"/>
                </a:solidFill>
                <a:effectLst/>
              </a:rPr>
              <a:t>Step 2: Server receives "Hello" and wants to reply "Hi"</a:t>
            </a:r>
          </a:p>
          <a:p>
            <a:pPr marL="742950" lvl="1" indent="-285750" algn="l">
              <a:buFont typeface="Arial" panose="020B0604020202020204" pitchFamily="34" charset="0"/>
              <a:buChar char="•"/>
            </a:pPr>
            <a:r>
              <a:rPr lang="en-US" b="0" i="0" u="none" strike="noStrike" dirty="0">
                <a:solidFill>
                  <a:srgbClr val="000000"/>
                </a:solidFill>
                <a:effectLst/>
              </a:rPr>
              <a:t>Instead of sending two packets:</a:t>
            </a:r>
          </a:p>
          <a:p>
            <a:pPr marL="1143000" lvl="2" indent="-228600" algn="l">
              <a:buFont typeface="Arial" panose="020B0604020202020204" pitchFamily="34" charset="0"/>
              <a:buChar char="•"/>
            </a:pPr>
            <a:r>
              <a:rPr lang="en-US" b="0" i="0" u="none" strike="noStrike" dirty="0">
                <a:solidFill>
                  <a:srgbClr val="000000"/>
                </a:solidFill>
                <a:effectLst/>
              </a:rPr>
              <a:t>Standalone ACK for "Hello"</a:t>
            </a:r>
          </a:p>
          <a:p>
            <a:pPr marL="1143000" lvl="2" indent="-228600" algn="l">
              <a:buFont typeface="Arial" panose="020B0604020202020204" pitchFamily="34" charset="0"/>
              <a:buChar char="•"/>
            </a:pPr>
            <a:r>
              <a:rPr lang="en-US" b="0" i="0" u="none" strike="noStrike" dirty="0">
                <a:solidFill>
                  <a:srgbClr val="000000"/>
                </a:solidFill>
                <a:effectLst/>
              </a:rPr>
              <a:t>Data "Hi"</a:t>
            </a:r>
          </a:p>
          <a:p>
            <a:pPr marL="742950" lvl="1" indent="-285750" algn="l">
              <a:buFont typeface="Arial" panose="020B0604020202020204" pitchFamily="34" charset="0"/>
              <a:buChar char="•"/>
            </a:pPr>
            <a:r>
              <a:rPr lang="en-US" b="0" i="0" u="none" strike="noStrike" dirty="0">
                <a:solidFill>
                  <a:srgbClr val="000000"/>
                </a:solidFill>
                <a:effectLst/>
              </a:rPr>
              <a:t>Server </a:t>
            </a:r>
            <a:r>
              <a:rPr lang="en-US" b="1" i="0" u="none" strike="noStrike" dirty="0">
                <a:solidFill>
                  <a:srgbClr val="000000"/>
                </a:solidFill>
                <a:effectLst/>
              </a:rPr>
              <a:t>piggybacks ACK with data</a:t>
            </a:r>
            <a:r>
              <a:rPr lang="en-US" b="0" i="0" u="none" strike="noStrike" dirty="0">
                <a:solidFill>
                  <a:srgbClr val="000000"/>
                </a:solidFill>
                <a:effectLst/>
              </a:rPr>
              <a:t> "Hi" in one packet:</a:t>
            </a:r>
          </a:p>
          <a:p>
            <a:pPr marL="742950" lvl="1" indent="-285750" algn="l" rtl="0">
              <a:buFont typeface="Arial" panose="020B0604020202020204" pitchFamily="34" charset="0"/>
              <a:buChar char="•"/>
            </a:pPr>
            <a:r>
              <a:rPr lang="en-US" b="0" i="0" u="none" strike="noStrike" dirty="0">
                <a:solidFill>
                  <a:srgbClr val="000000"/>
                </a:solidFill>
                <a:effectLst/>
              </a:rPr>
              <a:t>Seq = 5001 (server’s data) Ack = 1006 (next expected byte from client) Payload = "Hi"</a:t>
            </a:r>
          </a:p>
          <a:p>
            <a:pPr algn="l" defTabSz="584200" rtl="0" latinLnBrk="0"/>
            <a:endParaRPr lang="en-LB" dirty="0"/>
          </a:p>
        </p:txBody>
      </p:sp>
    </p:spTree>
    <p:extLst>
      <p:ext uri="{BB962C8B-B14F-4D97-AF65-F5344CB8AC3E}">
        <p14:creationId xmlns:p14="http://schemas.microsoft.com/office/powerpoint/2010/main" val="11769377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 name="Shape 343"/>
          <p:cNvSpPr>
            <a:spLocks noGrp="1" noRot="1" noChangeAspect="1"/>
          </p:cNvSpPr>
          <p:nvPr>
            <p:ph type="sldImg"/>
          </p:nvPr>
        </p:nvSpPr>
        <p:spPr>
          <a:prstGeom prst="rect">
            <a:avLst/>
          </a:prstGeom>
        </p:spPr>
        <p:txBody>
          <a:bodyPr/>
          <a:lstStyle/>
          <a:p>
            <a:endParaRPr/>
          </a:p>
        </p:txBody>
      </p:sp>
      <p:sp>
        <p:nvSpPr>
          <p:cNvPr id="344" name="Shape 344"/>
          <p:cNvSpPr>
            <a:spLocks noGrp="1"/>
          </p:cNvSpPr>
          <p:nvPr>
            <p:ph type="body" sz="quarter" idx="1"/>
          </p:nvPr>
        </p:nvSpPr>
        <p:spPr>
          <a:prstGeom prst="rect">
            <a:avLst/>
          </a:prstGeom>
        </p:spPr>
        <p:txBody>
          <a:bodyPr/>
          <a:lstStyle/>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t>In (b) Host A will retransmit second segment, why?	</a:t>
            </a:r>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t>	ACK is received before second timeout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Shape 370"/>
          <p:cNvSpPr>
            <a:spLocks noGrp="1" noRot="1" noChangeAspect="1"/>
          </p:cNvSpPr>
          <p:nvPr>
            <p:ph type="sldImg"/>
          </p:nvPr>
        </p:nvSpPr>
        <p:spPr>
          <a:prstGeom prst="rect">
            <a:avLst/>
          </a:prstGeom>
        </p:spPr>
        <p:txBody>
          <a:bodyPr/>
          <a:lstStyle/>
          <a:p>
            <a:endParaRPr/>
          </a:p>
        </p:txBody>
      </p:sp>
      <p:sp>
        <p:nvSpPr>
          <p:cNvPr id="371" name="Shape 371"/>
          <p:cNvSpPr>
            <a:spLocks noGrp="1"/>
          </p:cNvSpPr>
          <p:nvPr>
            <p:ph type="body" sz="quarter" idx="1"/>
          </p:nvPr>
        </p:nvSpPr>
        <p:spPr>
          <a:prstGeom prst="rect">
            <a:avLst/>
          </a:prstGeom>
        </p:spPr>
        <p:txBody>
          <a:bodyPr/>
          <a:lstStyle/>
          <a:p>
            <a:r>
              <a:rPr dirty="0"/>
              <a:t>Delayed ACK: Host Requirements RFC states that delay must be less than 500ms.  BSDI kernel had a 200ms timer going off, so delay could be 0 - 199ms.</a:t>
            </a:r>
            <a:endParaRPr lang="en-US" dirty="0"/>
          </a:p>
          <a:p>
            <a:endParaRPr lang="en-LB" dirty="0"/>
          </a:p>
          <a:p>
            <a:pPr algn="l"/>
            <a:r>
              <a:rPr lang="en-US" b="1" i="0" u="none" strike="noStrike" dirty="0">
                <a:solidFill>
                  <a:srgbClr val="000000"/>
                </a:solidFill>
                <a:effectLst/>
              </a:rPr>
              <a:t>1. In-Order Segment</a:t>
            </a:r>
          </a:p>
          <a:p>
            <a:pPr algn="l">
              <a:buFont typeface="Arial" panose="020B0604020202020204" pitchFamily="34" charset="0"/>
              <a:buChar char="•"/>
            </a:pPr>
            <a:r>
              <a:rPr lang="en-US" b="0" i="0" u="none" strike="noStrike" dirty="0">
                <a:solidFill>
                  <a:srgbClr val="000000"/>
                </a:solidFill>
                <a:effectLst/>
              </a:rPr>
              <a:t>A segment is </a:t>
            </a:r>
            <a:r>
              <a:rPr lang="en-US" b="1" i="0" u="none" strike="noStrike" dirty="0">
                <a:solidFill>
                  <a:srgbClr val="000000"/>
                </a:solidFill>
                <a:effectLst/>
              </a:rPr>
              <a:t>in order</a:t>
            </a:r>
            <a:r>
              <a:rPr lang="en-US" b="0" i="0" u="none" strike="noStrike" dirty="0">
                <a:solidFill>
                  <a:srgbClr val="000000"/>
                </a:solidFill>
                <a:effectLst/>
              </a:rPr>
              <a:t> if it </a:t>
            </a:r>
            <a:r>
              <a:rPr lang="en-US" b="1" i="0" u="none" strike="noStrike" dirty="0">
                <a:solidFill>
                  <a:srgbClr val="000000"/>
                </a:solidFill>
                <a:effectLst/>
              </a:rPr>
              <a:t>arrives at the receiver in the same sequence</a:t>
            </a:r>
            <a:r>
              <a:rPr lang="en-US" b="0" i="0" u="none" strike="noStrike" dirty="0">
                <a:solidFill>
                  <a:srgbClr val="000000"/>
                </a:solidFill>
                <a:effectLst/>
              </a:rPr>
              <a:t> as it was sent.</a:t>
            </a:r>
          </a:p>
          <a:p>
            <a:pPr algn="l">
              <a:buFont typeface="Arial" panose="020B0604020202020204" pitchFamily="34" charset="0"/>
              <a:buChar char="•"/>
            </a:pPr>
            <a:r>
              <a:rPr lang="en-US" b="0" i="0" u="none" strike="noStrike" dirty="0">
                <a:solidFill>
                  <a:srgbClr val="000000"/>
                </a:solidFill>
                <a:effectLst/>
              </a:rPr>
              <a:t>TCP guarantees that the </a:t>
            </a:r>
            <a:r>
              <a:rPr lang="en-US" b="1" i="0" u="none" strike="noStrike" dirty="0">
                <a:solidFill>
                  <a:srgbClr val="000000"/>
                </a:solidFill>
                <a:effectLst/>
              </a:rPr>
              <a:t>application sees data in order</a:t>
            </a:r>
            <a:r>
              <a:rPr lang="en-US" b="0" i="0" u="none" strike="noStrike" dirty="0">
                <a:solidFill>
                  <a:srgbClr val="000000"/>
                </a:solidFill>
                <a:effectLst/>
              </a:rPr>
              <a:t>.</a:t>
            </a:r>
          </a:p>
          <a:p>
            <a:pPr algn="l"/>
            <a:r>
              <a:rPr lang="en-US" b="1" i="0" u="none" strike="noStrike" dirty="0">
                <a:solidFill>
                  <a:srgbClr val="000000"/>
                </a:solidFill>
                <a:effectLst/>
              </a:rPr>
              <a:t>Example:</a:t>
            </a:r>
            <a:endParaRPr lang="en-US" b="0" i="0" u="none" strike="noStrike" dirty="0">
              <a:solidFill>
                <a:srgbClr val="000000"/>
              </a:solidFill>
              <a:effectLst/>
            </a:endParaRPr>
          </a:p>
          <a:p>
            <a:pPr algn="l">
              <a:buFont typeface="Arial" panose="020B0604020202020204" pitchFamily="34" charset="0"/>
              <a:buChar char="•"/>
            </a:pPr>
            <a:r>
              <a:rPr lang="en-US" b="0" i="0" u="none" strike="noStrike" dirty="0">
                <a:solidFill>
                  <a:srgbClr val="000000"/>
                </a:solidFill>
                <a:effectLst/>
              </a:rPr>
              <a:t>Sender transmits 3 segments:</a:t>
            </a:r>
          </a:p>
          <a:p>
            <a:pPr algn="l" rtl="0">
              <a:buFont typeface="Arial" panose="020B0604020202020204" pitchFamily="34" charset="0"/>
              <a:buChar char="•"/>
            </a:pPr>
            <a:r>
              <a:rPr lang="en-US" b="0" i="0" u="none" strike="noStrike" dirty="0">
                <a:solidFill>
                  <a:srgbClr val="000000"/>
                </a:solidFill>
                <a:effectLst/>
              </a:rPr>
              <a:t>Seq 1000: "H" Seq 1001: "e" Seq 1002: "l" </a:t>
            </a:r>
          </a:p>
          <a:p>
            <a:pPr algn="l">
              <a:buFont typeface="Arial" panose="020B0604020202020204" pitchFamily="34" charset="0"/>
              <a:buChar char="•"/>
            </a:pPr>
            <a:r>
              <a:rPr lang="en-US" b="0" i="0" u="none" strike="noStrike" dirty="0">
                <a:solidFill>
                  <a:srgbClr val="000000"/>
                </a:solidFill>
                <a:effectLst/>
              </a:rPr>
              <a:t>If the receiver gets them in this exact order: 1000 → 1001 → 1002</a:t>
            </a:r>
          </a:p>
          <a:p>
            <a:pPr marL="742950" lvl="1" indent="-285750" algn="l">
              <a:buFont typeface="Arial" panose="020B0604020202020204" pitchFamily="34" charset="0"/>
              <a:buChar char="•"/>
            </a:pPr>
            <a:r>
              <a:rPr lang="en-US" b="0" i="0" u="none" strike="noStrike" dirty="0">
                <a:solidFill>
                  <a:srgbClr val="000000"/>
                </a:solidFill>
                <a:effectLst/>
              </a:rPr>
              <a:t>This is </a:t>
            </a:r>
            <a:r>
              <a:rPr lang="en-US" b="1" i="0" u="none" strike="noStrike" dirty="0">
                <a:solidFill>
                  <a:srgbClr val="000000"/>
                </a:solidFill>
                <a:effectLst/>
              </a:rPr>
              <a:t>in-order</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a:solidFill>
                  <a:srgbClr val="000000"/>
                </a:solidFill>
                <a:effectLst/>
              </a:rPr>
              <a:t>TCP can </a:t>
            </a:r>
            <a:r>
              <a:rPr lang="en-US" b="1" i="0" u="none" strike="noStrike" dirty="0">
                <a:solidFill>
                  <a:srgbClr val="000000"/>
                </a:solidFill>
                <a:effectLst/>
              </a:rPr>
              <a:t>deliver immediately to the application</a:t>
            </a:r>
            <a:r>
              <a:rPr lang="en-US" b="0" i="0" u="none" strike="noStrike" dirty="0">
                <a:solidFill>
                  <a:srgbClr val="000000"/>
                </a:solidFill>
                <a:effectLst/>
              </a:rPr>
              <a:t>.</a:t>
            </a:r>
          </a:p>
          <a:p>
            <a:endParaRPr lang="en-US" dirty="0"/>
          </a:p>
          <a:p>
            <a:pPr algn="l"/>
            <a:r>
              <a:rPr lang="en-US" b="1" i="0" u="none" strike="noStrike" dirty="0">
                <a:solidFill>
                  <a:srgbClr val="000000"/>
                </a:solidFill>
                <a:effectLst/>
              </a:rPr>
              <a:t>Out-of-Order Segment</a:t>
            </a:r>
          </a:p>
          <a:p>
            <a:pPr algn="l">
              <a:buFont typeface="Arial" panose="020B0604020202020204" pitchFamily="34" charset="0"/>
              <a:buChar char="•"/>
            </a:pPr>
            <a:r>
              <a:rPr lang="en-US" b="0" i="0" u="none" strike="noStrike" dirty="0">
                <a:solidFill>
                  <a:srgbClr val="000000"/>
                </a:solidFill>
                <a:effectLst/>
              </a:rPr>
              <a:t>A segment is </a:t>
            </a:r>
            <a:r>
              <a:rPr lang="en-US" b="1" i="0" u="none" strike="noStrike" dirty="0">
                <a:solidFill>
                  <a:srgbClr val="000000"/>
                </a:solidFill>
                <a:effectLst/>
              </a:rPr>
              <a:t>out of order</a:t>
            </a:r>
            <a:r>
              <a:rPr lang="en-US" b="0" i="0" u="none" strike="noStrike" dirty="0">
                <a:solidFill>
                  <a:srgbClr val="000000"/>
                </a:solidFill>
                <a:effectLst/>
              </a:rPr>
              <a:t> if it </a:t>
            </a:r>
            <a:r>
              <a:rPr lang="en-US" b="1" i="0" u="none" strike="noStrike" dirty="0">
                <a:solidFill>
                  <a:srgbClr val="000000"/>
                </a:solidFill>
                <a:effectLst/>
              </a:rPr>
              <a:t>arrives before some earlier segment(s)</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a:solidFill>
                  <a:srgbClr val="000000"/>
                </a:solidFill>
                <a:effectLst/>
              </a:rPr>
              <a:t>TCP </a:t>
            </a:r>
            <a:r>
              <a:rPr lang="en-US" b="1" i="0" u="none" strike="noStrike" dirty="0">
                <a:solidFill>
                  <a:srgbClr val="000000"/>
                </a:solidFill>
                <a:effectLst/>
              </a:rPr>
              <a:t>cannot deliver it to the application yet</a:t>
            </a:r>
            <a:r>
              <a:rPr lang="en-US" b="0" i="0" u="none" strike="noStrike" dirty="0">
                <a:solidFill>
                  <a:srgbClr val="000000"/>
                </a:solidFill>
                <a:effectLst/>
              </a:rPr>
              <a:t> because the missing earlier bytes haven’t arrived.</a:t>
            </a:r>
          </a:p>
          <a:p>
            <a:pPr algn="l">
              <a:buFont typeface="Arial" panose="020B0604020202020204" pitchFamily="34" charset="0"/>
              <a:buChar char="•"/>
            </a:pPr>
            <a:r>
              <a:rPr lang="en-US" b="0" i="0" u="none" strike="noStrike" dirty="0">
                <a:solidFill>
                  <a:srgbClr val="000000"/>
                </a:solidFill>
                <a:effectLst/>
              </a:rPr>
              <a:t>The receiver </a:t>
            </a:r>
            <a:r>
              <a:rPr lang="en-US" b="1" i="0" u="none" strike="noStrike" dirty="0">
                <a:solidFill>
                  <a:srgbClr val="000000"/>
                </a:solidFill>
                <a:effectLst/>
              </a:rPr>
              <a:t>buffers</a:t>
            </a:r>
            <a:r>
              <a:rPr lang="en-US" b="0" i="0" u="none" strike="noStrike" dirty="0">
                <a:solidFill>
                  <a:srgbClr val="000000"/>
                </a:solidFill>
                <a:effectLst/>
              </a:rPr>
              <a:t> out-of-order segments until the missing ones come.</a:t>
            </a:r>
          </a:p>
          <a:p>
            <a:pPr algn="l"/>
            <a:r>
              <a:rPr lang="en-US" b="1" i="0" u="none" strike="noStrike" dirty="0">
                <a:solidFill>
                  <a:srgbClr val="000000"/>
                </a:solidFill>
                <a:effectLst/>
              </a:rPr>
              <a:t>Example:</a:t>
            </a:r>
            <a:endParaRPr lang="en-US" b="0" i="0" u="none" strike="noStrike" dirty="0">
              <a:solidFill>
                <a:srgbClr val="000000"/>
              </a:solidFill>
              <a:effectLst/>
            </a:endParaRPr>
          </a:p>
          <a:p>
            <a:pPr algn="l">
              <a:buFont typeface="Arial" panose="020B0604020202020204" pitchFamily="34" charset="0"/>
              <a:buChar char="•"/>
            </a:pPr>
            <a:r>
              <a:rPr lang="en-US" b="0" i="0" u="none" strike="noStrike" dirty="0">
                <a:solidFill>
                  <a:srgbClr val="000000"/>
                </a:solidFill>
                <a:effectLst/>
              </a:rPr>
              <a:t>Sender transmits: 1000 → 1001 → 1002</a:t>
            </a:r>
          </a:p>
          <a:p>
            <a:pPr algn="l">
              <a:buFont typeface="Arial" panose="020B0604020202020204" pitchFamily="34" charset="0"/>
              <a:buChar char="•"/>
            </a:pPr>
            <a:r>
              <a:rPr lang="en-US" b="0" i="0" u="none" strike="noStrike" dirty="0">
                <a:solidFill>
                  <a:srgbClr val="000000"/>
                </a:solidFill>
                <a:effectLst/>
              </a:rPr>
              <a:t>Receiver gets: 1000 → 1002 → 1001</a:t>
            </a:r>
          </a:p>
          <a:p>
            <a:pPr marL="742950" lvl="1" indent="-285750" algn="l">
              <a:buFont typeface="Arial" panose="020B0604020202020204" pitchFamily="34" charset="0"/>
              <a:buChar char="•"/>
            </a:pPr>
            <a:r>
              <a:rPr lang="en-US" b="0" i="0" u="none" strike="noStrike" dirty="0">
                <a:solidFill>
                  <a:srgbClr val="000000"/>
                </a:solidFill>
                <a:effectLst/>
              </a:rPr>
              <a:t>Segment 1002 is </a:t>
            </a:r>
            <a:r>
              <a:rPr lang="en-US" b="1" i="0" u="none" strike="noStrike" dirty="0">
                <a:solidFill>
                  <a:srgbClr val="000000"/>
                </a:solidFill>
                <a:effectLst/>
              </a:rPr>
              <a:t>out-of-order</a:t>
            </a:r>
            <a:r>
              <a:rPr lang="en-US" b="0" i="0" u="none" strike="noStrike" dirty="0">
                <a:solidFill>
                  <a:srgbClr val="000000"/>
                </a:solidFill>
                <a:effectLst/>
              </a:rPr>
              <a:t> (because 1001 hasn’t arrived yet).</a:t>
            </a:r>
          </a:p>
          <a:p>
            <a:pPr algn="l">
              <a:buFont typeface="Arial" panose="020B0604020202020204" pitchFamily="34" charset="0"/>
              <a:buChar char="•"/>
            </a:pPr>
            <a:r>
              <a:rPr lang="en-US" b="0" i="0" u="none" strike="noStrike" dirty="0">
                <a:solidFill>
                  <a:srgbClr val="000000"/>
                </a:solidFill>
                <a:effectLst/>
              </a:rPr>
              <a:t>TCP </a:t>
            </a:r>
            <a:r>
              <a:rPr lang="en-US" b="1" i="0" u="none" strike="noStrike" dirty="0">
                <a:solidFill>
                  <a:srgbClr val="000000"/>
                </a:solidFill>
                <a:effectLst/>
              </a:rPr>
              <a:t>stores 1002</a:t>
            </a:r>
            <a:r>
              <a:rPr lang="en-US" b="0" i="0" u="none" strike="noStrike" dirty="0">
                <a:solidFill>
                  <a:srgbClr val="000000"/>
                </a:solidFill>
                <a:effectLst/>
              </a:rPr>
              <a:t> in a buffer and waits for 1001.</a:t>
            </a:r>
          </a:p>
          <a:p>
            <a:endParaRPr lang="en-US" dirty="0"/>
          </a:p>
          <a:p>
            <a:endParaRPr lang="en-LB" dirty="0"/>
          </a:p>
          <a:p>
            <a:r>
              <a:rPr lang="en-LB" dirty="0"/>
              <a:t>Examples:</a:t>
            </a:r>
          </a:p>
          <a:p>
            <a:pPr algn="l"/>
            <a:r>
              <a:rPr lang="en-US" b="1" i="0" u="none" strike="noStrike" dirty="0">
                <a:solidFill>
                  <a:srgbClr val="000000"/>
                </a:solidFill>
                <a:effectLst/>
              </a:rPr>
              <a:t>1. Arrival of in-order segment with expected seq#. All data up to seq# already </a:t>
            </a:r>
            <a:r>
              <a:rPr lang="en-US" b="1" i="0" u="none" strike="noStrike" dirty="0" err="1">
                <a:solidFill>
                  <a:srgbClr val="000000"/>
                </a:solidFill>
                <a:effectLst/>
              </a:rPr>
              <a:t>ACKed</a:t>
            </a:r>
            <a:endParaRPr lang="en-US" b="1" i="0" u="none" strike="noStrike" dirty="0">
              <a:solidFill>
                <a:srgbClr val="000000"/>
              </a:solidFill>
              <a:effectLst/>
            </a:endParaRPr>
          </a:p>
          <a:p>
            <a:pPr lvl="1" algn="l"/>
            <a:r>
              <a:rPr lang="en-US" b="1" i="0" u="none" strike="noStrike" dirty="0">
                <a:solidFill>
                  <a:srgbClr val="000000"/>
                </a:solidFill>
                <a:effectLst/>
              </a:rPr>
              <a:t>Receiver Action:</a:t>
            </a:r>
            <a:r>
              <a:rPr lang="en-US" b="0" i="0" u="none" strike="noStrike" dirty="0">
                <a:solidFill>
                  <a:srgbClr val="000000"/>
                </a:solidFill>
                <a:effectLst/>
              </a:rPr>
              <a:t> Delayed ACK. Wait up to 500ms for next segment. If no next segment, send ACK.</a:t>
            </a:r>
          </a:p>
          <a:p>
            <a:pPr lvl="1" algn="l"/>
            <a:r>
              <a:rPr lang="en-US" b="1" i="0" u="none" strike="noStrike" dirty="0">
                <a:solidFill>
                  <a:srgbClr val="000000"/>
                </a:solidFill>
                <a:effectLst/>
              </a:rPr>
              <a:t>Example:</a:t>
            </a:r>
            <a:endParaRPr lang="en-US" b="0" i="0" u="none" strike="noStrike" dirty="0">
              <a:solidFill>
                <a:srgbClr val="000000"/>
              </a:solidFill>
              <a:effectLst/>
            </a:endParaRPr>
          </a:p>
          <a:p>
            <a:pPr lvl="2" algn="l">
              <a:buFont typeface="Arial" panose="020B0604020202020204" pitchFamily="34" charset="0"/>
              <a:buChar char="•"/>
            </a:pPr>
            <a:r>
              <a:rPr lang="en-US" b="1" i="0" u="none" strike="noStrike" dirty="0">
                <a:solidFill>
                  <a:srgbClr val="000000"/>
                </a:solidFill>
                <a:effectLst/>
              </a:rPr>
              <a:t>Expected seq#:</a:t>
            </a:r>
            <a:r>
              <a:rPr lang="en-US" b="0" i="0" u="none" strike="noStrike" dirty="0">
                <a:solidFill>
                  <a:srgbClr val="000000"/>
                </a:solidFill>
                <a:effectLst/>
              </a:rPr>
              <a:t> 101</a:t>
            </a:r>
          </a:p>
          <a:p>
            <a:pPr lvl="2" algn="l">
              <a:buFont typeface="Arial" panose="020B0604020202020204" pitchFamily="34" charset="0"/>
              <a:buChar char="•"/>
            </a:pPr>
            <a:r>
              <a:rPr lang="en-US" b="1" i="0" u="none" strike="noStrike" dirty="0">
                <a:solidFill>
                  <a:srgbClr val="000000"/>
                </a:solidFill>
                <a:effectLst/>
              </a:rPr>
              <a:t>Received segment seq#:</a:t>
            </a:r>
            <a:r>
              <a:rPr lang="en-US" b="0" i="0" u="none" strike="noStrike" dirty="0">
                <a:solidFill>
                  <a:srgbClr val="000000"/>
                </a:solidFill>
                <a:effectLst/>
              </a:rPr>
              <a:t> 101 (in-order)</a:t>
            </a:r>
          </a:p>
          <a:p>
            <a:pPr lvl="2" algn="l">
              <a:buFont typeface="Arial" panose="020B0604020202020204" pitchFamily="34" charset="0"/>
              <a:buChar char="•"/>
            </a:pPr>
            <a:r>
              <a:rPr lang="en-US" b="1" i="0" u="none" strike="noStrike" dirty="0" err="1">
                <a:solidFill>
                  <a:srgbClr val="000000"/>
                </a:solidFill>
                <a:effectLst/>
              </a:rPr>
              <a:t>ACKed</a:t>
            </a:r>
            <a:r>
              <a:rPr lang="en-US" b="1" i="0" u="none" strike="noStrike" dirty="0">
                <a:solidFill>
                  <a:srgbClr val="000000"/>
                </a:solidFill>
                <a:effectLst/>
              </a:rPr>
              <a:t> up to:</a:t>
            </a:r>
            <a:r>
              <a:rPr lang="en-US" b="0" i="0" u="none" strike="noStrike" dirty="0">
                <a:solidFill>
                  <a:srgbClr val="000000"/>
                </a:solidFill>
                <a:effectLst/>
              </a:rPr>
              <a:t> 100</a:t>
            </a:r>
          </a:p>
          <a:p>
            <a:pPr lvl="2" algn="l"/>
            <a:r>
              <a:rPr lang="en-US" b="1" i="0" u="none" strike="noStrike" dirty="0">
                <a:solidFill>
                  <a:srgbClr val="000000"/>
                </a:solidFill>
                <a:effectLst/>
              </a:rPr>
              <a:t>Action:</a:t>
            </a:r>
            <a:r>
              <a:rPr lang="en-US" b="0" i="0" u="none" strike="noStrike" dirty="0">
                <a:solidFill>
                  <a:srgbClr val="000000"/>
                </a:solidFill>
                <a:effectLst/>
              </a:rPr>
              <a:t> Receiver waits briefly to see if another segment arrives. If nothing comes in 500ms, it sends:</a:t>
            </a:r>
          </a:p>
          <a:p>
            <a:pPr lvl="2" algn="l">
              <a:buFont typeface="Arial" panose="020B0604020202020204" pitchFamily="34" charset="0"/>
              <a:buChar char="•"/>
            </a:pPr>
            <a:r>
              <a:rPr lang="en-US" b="1" i="0" u="none" strike="noStrike" dirty="0">
                <a:solidFill>
                  <a:srgbClr val="000000"/>
                </a:solidFill>
                <a:effectLst/>
              </a:rPr>
              <a:t>ACK 201</a:t>
            </a:r>
            <a:r>
              <a:rPr lang="en-US" b="0" i="0" u="none" strike="noStrike" dirty="0">
                <a:solidFill>
                  <a:srgbClr val="000000"/>
                </a:solidFill>
                <a:effectLst/>
              </a:rPr>
              <a:t> (assuming this segment had 100 bytes of data).</a:t>
            </a:r>
          </a:p>
          <a:p>
            <a:pPr lvl="2" algn="l"/>
            <a:r>
              <a:rPr lang="en-US" b="1" i="0" u="none" strike="noStrike" dirty="0">
                <a:solidFill>
                  <a:srgbClr val="000000"/>
                </a:solidFill>
                <a:effectLst/>
              </a:rPr>
              <a:t>Scenario:</a:t>
            </a:r>
            <a:r>
              <a:rPr lang="en-US" b="0" i="0" u="none" strike="noStrike" dirty="0">
                <a:solidFill>
                  <a:srgbClr val="000000"/>
                </a:solidFill>
                <a:effectLst/>
              </a:rPr>
              <a:t> This avoids sending too many ACKs when data is arriving quickly.</a:t>
            </a:r>
          </a:p>
          <a:p>
            <a:pPr algn="l"/>
            <a:r>
              <a:rPr lang="en-US" b="1" i="0" u="none" strike="noStrike" dirty="0">
                <a:solidFill>
                  <a:srgbClr val="000000"/>
                </a:solidFill>
                <a:effectLst/>
              </a:rPr>
              <a:t>2. Arrival of in-order segment with expected seq#. One other segment has ACK pending</a:t>
            </a:r>
          </a:p>
          <a:p>
            <a:pPr lvl="1" algn="l"/>
            <a:r>
              <a:rPr lang="en-US" b="1" i="0" u="none" strike="noStrike" dirty="0">
                <a:solidFill>
                  <a:srgbClr val="000000"/>
                </a:solidFill>
                <a:effectLst/>
              </a:rPr>
              <a:t>Receiver Action:</a:t>
            </a:r>
            <a:r>
              <a:rPr lang="en-US" b="0" i="0" u="none" strike="noStrike" dirty="0">
                <a:solidFill>
                  <a:srgbClr val="000000"/>
                </a:solidFill>
                <a:effectLst/>
              </a:rPr>
              <a:t> Immediately send single cumulative ACK for both in-order segments.</a:t>
            </a:r>
          </a:p>
          <a:p>
            <a:pPr lvl="1" algn="l"/>
            <a:r>
              <a:rPr lang="en-US" b="1" i="0" u="none" strike="noStrike" dirty="0">
                <a:solidFill>
                  <a:srgbClr val="000000"/>
                </a:solidFill>
                <a:effectLst/>
              </a:rPr>
              <a:t>Example:</a:t>
            </a:r>
            <a:endParaRPr lang="en-US" b="0" i="0" u="none" strike="noStrike" dirty="0">
              <a:solidFill>
                <a:srgbClr val="000000"/>
              </a:solidFill>
              <a:effectLst/>
            </a:endParaRPr>
          </a:p>
          <a:p>
            <a:pPr lvl="2" algn="l">
              <a:buFont typeface="Arial" panose="020B0604020202020204" pitchFamily="34" charset="0"/>
              <a:buChar char="•"/>
            </a:pPr>
            <a:r>
              <a:rPr lang="en-US" b="1" i="0" u="none" strike="noStrike" dirty="0">
                <a:solidFill>
                  <a:srgbClr val="000000"/>
                </a:solidFill>
                <a:effectLst/>
              </a:rPr>
              <a:t>Previously received in-order segment:</a:t>
            </a:r>
            <a:r>
              <a:rPr lang="en-US" b="0" i="0" u="none" strike="noStrike" dirty="0">
                <a:solidFill>
                  <a:srgbClr val="000000"/>
                </a:solidFill>
                <a:effectLst/>
              </a:rPr>
              <a:t> seq# 101–200 (ACK not sent yet, pending)</a:t>
            </a:r>
          </a:p>
          <a:p>
            <a:pPr lvl="2" algn="l">
              <a:buFont typeface="Arial" panose="020B0604020202020204" pitchFamily="34" charset="0"/>
              <a:buChar char="•"/>
            </a:pPr>
            <a:r>
              <a:rPr lang="en-US" b="1" i="0" u="none" strike="noStrike" dirty="0">
                <a:solidFill>
                  <a:srgbClr val="000000"/>
                </a:solidFill>
                <a:effectLst/>
              </a:rPr>
              <a:t>Now received next in-order segment:</a:t>
            </a:r>
            <a:r>
              <a:rPr lang="en-US" b="0" i="0" u="none" strike="noStrike" dirty="0">
                <a:solidFill>
                  <a:srgbClr val="000000"/>
                </a:solidFill>
                <a:effectLst/>
              </a:rPr>
              <a:t> seq# 201–300</a:t>
            </a:r>
          </a:p>
          <a:p>
            <a:pPr lvl="2" algn="l"/>
            <a:r>
              <a:rPr lang="en-US" b="1" i="0" u="none" strike="noStrike" dirty="0">
                <a:solidFill>
                  <a:srgbClr val="000000"/>
                </a:solidFill>
                <a:effectLst/>
              </a:rPr>
              <a:t>Action:</a:t>
            </a:r>
            <a:r>
              <a:rPr lang="en-US" b="0" i="0" u="none" strike="noStrike" dirty="0">
                <a:solidFill>
                  <a:srgbClr val="000000"/>
                </a:solidFill>
                <a:effectLst/>
              </a:rPr>
              <a:t> Receiver immediately sends </a:t>
            </a:r>
            <a:r>
              <a:rPr lang="en-US" b="1" i="0" u="none" strike="noStrike" dirty="0">
                <a:solidFill>
                  <a:srgbClr val="000000"/>
                </a:solidFill>
                <a:effectLst/>
              </a:rPr>
              <a:t>ACK 301</a:t>
            </a:r>
            <a:r>
              <a:rPr lang="en-US" b="0" i="0" u="none" strike="noStrike" dirty="0">
                <a:solidFill>
                  <a:srgbClr val="000000"/>
                </a:solidFill>
                <a:effectLst/>
              </a:rPr>
              <a:t> (cumulative ACK covering both segments).</a:t>
            </a:r>
          </a:p>
          <a:p>
            <a:pPr lvl="2" algn="l"/>
            <a:r>
              <a:rPr lang="en-US" b="1" i="0" u="none" strike="noStrike" dirty="0">
                <a:solidFill>
                  <a:srgbClr val="000000"/>
                </a:solidFill>
                <a:effectLst/>
              </a:rPr>
              <a:t>Scenario:</a:t>
            </a:r>
            <a:r>
              <a:rPr lang="en-US" b="0" i="0" u="none" strike="noStrike" dirty="0">
                <a:solidFill>
                  <a:srgbClr val="000000"/>
                </a:solidFill>
                <a:effectLst/>
              </a:rPr>
              <a:t> Combines ACKs to reduce network traffic.</a:t>
            </a:r>
          </a:p>
          <a:p>
            <a:pPr algn="l"/>
            <a:r>
              <a:rPr lang="en-US" b="1" i="0" u="none" strike="noStrike" dirty="0">
                <a:solidFill>
                  <a:srgbClr val="000000"/>
                </a:solidFill>
                <a:effectLst/>
              </a:rPr>
              <a:t>3. Arrival of out-of-order segment higher than expected seq#. Gap detected</a:t>
            </a:r>
          </a:p>
          <a:p>
            <a:pPr lvl="1" algn="l"/>
            <a:r>
              <a:rPr lang="en-US" b="1" i="0" u="none" strike="noStrike" dirty="0">
                <a:solidFill>
                  <a:srgbClr val="000000"/>
                </a:solidFill>
                <a:effectLst/>
              </a:rPr>
              <a:t>Receiver Action:</a:t>
            </a:r>
            <a:r>
              <a:rPr lang="en-US" b="0" i="0" u="none" strike="noStrike" dirty="0">
                <a:solidFill>
                  <a:srgbClr val="000000"/>
                </a:solidFill>
                <a:effectLst/>
              </a:rPr>
              <a:t> Immediately send duplicate ACK, indicating seq# of next expected byte.</a:t>
            </a:r>
          </a:p>
          <a:p>
            <a:pPr lvl="1" algn="l"/>
            <a:r>
              <a:rPr lang="en-US" b="1" i="0" u="none" strike="noStrike" dirty="0">
                <a:solidFill>
                  <a:srgbClr val="000000"/>
                </a:solidFill>
                <a:effectLst/>
              </a:rPr>
              <a:t>Example:</a:t>
            </a:r>
            <a:endParaRPr lang="en-US" b="0" i="0" u="none" strike="noStrike" dirty="0">
              <a:solidFill>
                <a:srgbClr val="000000"/>
              </a:solidFill>
              <a:effectLst/>
            </a:endParaRPr>
          </a:p>
          <a:p>
            <a:pPr lvl="2" algn="l">
              <a:buFont typeface="Arial" panose="020B0604020202020204" pitchFamily="34" charset="0"/>
              <a:buChar char="•"/>
            </a:pPr>
            <a:r>
              <a:rPr lang="en-US" b="1" i="0" u="none" strike="noStrike" dirty="0">
                <a:solidFill>
                  <a:srgbClr val="000000"/>
                </a:solidFill>
                <a:effectLst/>
              </a:rPr>
              <a:t>Expected seq#:</a:t>
            </a:r>
            <a:r>
              <a:rPr lang="en-US" b="0" i="0" u="none" strike="noStrike" dirty="0">
                <a:solidFill>
                  <a:srgbClr val="000000"/>
                </a:solidFill>
                <a:effectLst/>
              </a:rPr>
              <a:t> 101</a:t>
            </a:r>
          </a:p>
          <a:p>
            <a:pPr lvl="2" algn="l">
              <a:buFont typeface="Arial" panose="020B0604020202020204" pitchFamily="34" charset="0"/>
              <a:buChar char="•"/>
            </a:pPr>
            <a:r>
              <a:rPr lang="en-US" b="1" i="0" u="none" strike="noStrike" dirty="0">
                <a:solidFill>
                  <a:srgbClr val="000000"/>
                </a:solidFill>
                <a:effectLst/>
              </a:rPr>
              <a:t>Received out-of-order segment:</a:t>
            </a:r>
            <a:r>
              <a:rPr lang="en-US" b="0" i="0" u="none" strike="noStrike" dirty="0">
                <a:solidFill>
                  <a:srgbClr val="000000"/>
                </a:solidFill>
                <a:effectLst/>
              </a:rPr>
              <a:t> seq# 201–300</a:t>
            </a:r>
          </a:p>
          <a:p>
            <a:pPr lvl="2" algn="l">
              <a:buFont typeface="Arial" panose="020B0604020202020204" pitchFamily="34" charset="0"/>
              <a:buChar char="•"/>
            </a:pPr>
            <a:r>
              <a:rPr lang="en-US" b="1" i="0" u="none" strike="noStrike" dirty="0">
                <a:solidFill>
                  <a:srgbClr val="000000"/>
                </a:solidFill>
                <a:effectLst/>
              </a:rPr>
              <a:t>Gap detected:</a:t>
            </a:r>
            <a:r>
              <a:rPr lang="en-US" b="0" i="0" u="none" strike="noStrike" dirty="0">
                <a:solidFill>
                  <a:srgbClr val="000000"/>
                </a:solidFill>
                <a:effectLst/>
              </a:rPr>
              <a:t> missing bytes 101–200</a:t>
            </a:r>
          </a:p>
          <a:p>
            <a:pPr lvl="2" algn="l"/>
            <a:r>
              <a:rPr lang="en-US" b="1" i="0" u="none" strike="noStrike" dirty="0">
                <a:solidFill>
                  <a:srgbClr val="000000"/>
                </a:solidFill>
                <a:effectLst/>
              </a:rPr>
              <a:t>Action:</a:t>
            </a:r>
            <a:r>
              <a:rPr lang="en-US" b="0" i="0" u="none" strike="noStrike" dirty="0">
                <a:solidFill>
                  <a:srgbClr val="000000"/>
                </a:solidFill>
                <a:effectLst/>
              </a:rPr>
              <a:t> Receiver sends </a:t>
            </a:r>
            <a:r>
              <a:rPr lang="en-US" b="1" i="0" u="none" strike="noStrike" dirty="0">
                <a:solidFill>
                  <a:srgbClr val="000000"/>
                </a:solidFill>
                <a:effectLst/>
              </a:rPr>
              <a:t>duplicate ACK 101</a:t>
            </a:r>
            <a:r>
              <a:rPr lang="en-US" b="0" i="0" u="none" strike="noStrike" dirty="0">
                <a:solidFill>
                  <a:srgbClr val="000000"/>
                </a:solidFill>
                <a:effectLst/>
              </a:rPr>
              <a:t> to tell sender: “I’m still waiting for seq# 101.”</a:t>
            </a:r>
          </a:p>
          <a:p>
            <a:pPr lvl="2" algn="l"/>
            <a:r>
              <a:rPr lang="en-US" b="1" i="0" u="none" strike="noStrike" dirty="0">
                <a:solidFill>
                  <a:srgbClr val="000000"/>
                </a:solidFill>
                <a:effectLst/>
              </a:rPr>
              <a:t>Scenario:</a:t>
            </a:r>
            <a:r>
              <a:rPr lang="en-US" b="0" i="0" u="none" strike="noStrike" dirty="0">
                <a:solidFill>
                  <a:srgbClr val="000000"/>
                </a:solidFill>
                <a:effectLst/>
              </a:rPr>
              <a:t> Helps the sender know a segment was lost or delayed.</a:t>
            </a:r>
          </a:p>
          <a:p>
            <a:pPr algn="l"/>
            <a:r>
              <a:rPr lang="en-US" b="1" i="0" u="none" strike="noStrike" dirty="0">
                <a:solidFill>
                  <a:srgbClr val="000000"/>
                </a:solidFill>
                <a:effectLst/>
              </a:rPr>
              <a:t>4. Arrival of segment that partially or completely fills gap</a:t>
            </a:r>
          </a:p>
          <a:p>
            <a:pPr lvl="1" algn="l"/>
            <a:r>
              <a:rPr lang="en-US" b="1" i="0" u="none" strike="noStrike" dirty="0">
                <a:solidFill>
                  <a:srgbClr val="000000"/>
                </a:solidFill>
                <a:effectLst/>
              </a:rPr>
              <a:t>Receiver Action:</a:t>
            </a:r>
            <a:r>
              <a:rPr lang="en-US" b="0" i="0" u="none" strike="noStrike" dirty="0">
                <a:solidFill>
                  <a:srgbClr val="000000"/>
                </a:solidFill>
                <a:effectLst/>
              </a:rPr>
              <a:t> Immediately send ACK, provided that segment starts at lower end of gap.</a:t>
            </a:r>
          </a:p>
          <a:p>
            <a:pPr lvl="1" algn="l"/>
            <a:r>
              <a:rPr lang="en-US" b="1" i="0" u="none" strike="noStrike" dirty="0">
                <a:solidFill>
                  <a:srgbClr val="000000"/>
                </a:solidFill>
                <a:effectLst/>
              </a:rPr>
              <a:t>Example 1 (partial gap fill):</a:t>
            </a:r>
            <a:endParaRPr lang="en-US" b="0" i="0" u="none" strike="noStrike" dirty="0">
              <a:solidFill>
                <a:srgbClr val="000000"/>
              </a:solidFill>
              <a:effectLst/>
            </a:endParaRPr>
          </a:p>
          <a:p>
            <a:pPr lvl="2" algn="l">
              <a:buFont typeface="Arial" panose="020B0604020202020204" pitchFamily="34" charset="0"/>
              <a:buChar char="•"/>
            </a:pPr>
            <a:r>
              <a:rPr lang="en-US" b="1" i="0" u="none" strike="noStrike" dirty="0">
                <a:solidFill>
                  <a:srgbClr val="000000"/>
                </a:solidFill>
                <a:effectLst/>
              </a:rPr>
              <a:t>Expected seq#:</a:t>
            </a:r>
            <a:r>
              <a:rPr lang="en-US" b="0" i="0" u="none" strike="noStrike" dirty="0">
                <a:solidFill>
                  <a:srgbClr val="000000"/>
                </a:solidFill>
                <a:effectLst/>
              </a:rPr>
              <a:t> 101</a:t>
            </a:r>
          </a:p>
          <a:p>
            <a:pPr lvl="2" algn="l">
              <a:buFont typeface="Arial" panose="020B0604020202020204" pitchFamily="34" charset="0"/>
              <a:buChar char="•"/>
            </a:pPr>
            <a:r>
              <a:rPr lang="en-US" b="1" i="0" u="none" strike="noStrike" dirty="0">
                <a:solidFill>
                  <a:srgbClr val="000000"/>
                </a:solidFill>
                <a:effectLst/>
              </a:rPr>
              <a:t>Received segment:</a:t>
            </a:r>
            <a:r>
              <a:rPr lang="en-US" b="0" i="0" u="none" strike="noStrike" dirty="0">
                <a:solidFill>
                  <a:srgbClr val="000000"/>
                </a:solidFill>
                <a:effectLst/>
              </a:rPr>
              <a:t> seq# 101–150</a:t>
            </a:r>
          </a:p>
          <a:p>
            <a:pPr lvl="2" algn="l">
              <a:buFont typeface="Arial" panose="020B0604020202020204" pitchFamily="34" charset="0"/>
              <a:buChar char="•"/>
            </a:pPr>
            <a:r>
              <a:rPr lang="en-US" b="1" i="0" u="none" strike="noStrike" dirty="0">
                <a:solidFill>
                  <a:srgbClr val="000000"/>
                </a:solidFill>
                <a:effectLst/>
              </a:rPr>
              <a:t>Previous out-of-order segment:</a:t>
            </a:r>
            <a:r>
              <a:rPr lang="en-US" b="0" i="0" u="none" strike="noStrike" dirty="0">
                <a:solidFill>
                  <a:srgbClr val="000000"/>
                </a:solidFill>
                <a:effectLst/>
              </a:rPr>
              <a:t> seq# 201–300</a:t>
            </a:r>
          </a:p>
          <a:p>
            <a:pPr lvl="2" algn="l">
              <a:buFont typeface="Arial" panose="020B0604020202020204" pitchFamily="34" charset="0"/>
              <a:buChar char="•"/>
            </a:pPr>
            <a:r>
              <a:rPr lang="en-US" b="1" i="0" u="none" strike="noStrike" dirty="0">
                <a:solidFill>
                  <a:srgbClr val="000000"/>
                </a:solidFill>
                <a:effectLst/>
              </a:rPr>
              <a:t>Gap remaining:</a:t>
            </a:r>
            <a:r>
              <a:rPr lang="en-US" b="0" i="0" u="none" strike="noStrike" dirty="0">
                <a:solidFill>
                  <a:srgbClr val="000000"/>
                </a:solidFill>
                <a:effectLst/>
              </a:rPr>
              <a:t> 151–200</a:t>
            </a:r>
          </a:p>
          <a:p>
            <a:pPr lvl="2" algn="l"/>
            <a:r>
              <a:rPr lang="en-US" b="1" i="0" u="none" strike="noStrike" dirty="0">
                <a:solidFill>
                  <a:srgbClr val="000000"/>
                </a:solidFill>
                <a:effectLst/>
              </a:rPr>
              <a:t>Action:</a:t>
            </a:r>
            <a:r>
              <a:rPr lang="en-US" b="0" i="0" u="none" strike="noStrike" dirty="0">
                <a:solidFill>
                  <a:srgbClr val="000000"/>
                </a:solidFill>
                <a:effectLst/>
              </a:rPr>
              <a:t> Receiver sends </a:t>
            </a:r>
            <a:r>
              <a:rPr lang="en-US" b="1" i="0" u="none" strike="noStrike" dirty="0">
                <a:solidFill>
                  <a:srgbClr val="000000"/>
                </a:solidFill>
                <a:effectLst/>
              </a:rPr>
              <a:t>ACK 151</a:t>
            </a:r>
            <a:r>
              <a:rPr lang="en-US" b="0" i="0" u="none" strike="noStrike" dirty="0">
                <a:solidFill>
                  <a:srgbClr val="000000"/>
                </a:solidFill>
                <a:effectLst/>
              </a:rPr>
              <a:t> (next expected byte).</a:t>
            </a:r>
          </a:p>
          <a:p>
            <a:pPr algn="l"/>
            <a:r>
              <a:rPr lang="en-US" b="1" i="0" u="none" strike="noStrike" dirty="0">
                <a:solidFill>
                  <a:srgbClr val="000000"/>
                </a:solidFill>
                <a:effectLst/>
              </a:rPr>
              <a:t>      Example 2 (complete gap fill):</a:t>
            </a:r>
            <a:endParaRPr lang="en-US" b="0" i="0" u="none" strike="noStrike" dirty="0">
              <a:solidFill>
                <a:srgbClr val="000000"/>
              </a:solidFill>
              <a:effectLst/>
            </a:endParaRPr>
          </a:p>
          <a:p>
            <a:pPr lvl="2" algn="l">
              <a:buFont typeface="Arial" panose="020B0604020202020204" pitchFamily="34" charset="0"/>
              <a:buChar char="•"/>
            </a:pPr>
            <a:r>
              <a:rPr lang="en-US" b="1" i="0" u="none" strike="noStrike" dirty="0">
                <a:solidFill>
                  <a:srgbClr val="000000"/>
                </a:solidFill>
                <a:effectLst/>
              </a:rPr>
              <a:t>Now receive segment:</a:t>
            </a:r>
            <a:r>
              <a:rPr lang="en-US" b="0" i="0" u="none" strike="noStrike" dirty="0">
                <a:solidFill>
                  <a:srgbClr val="000000"/>
                </a:solidFill>
                <a:effectLst/>
              </a:rPr>
              <a:t> seq# 151–200</a:t>
            </a:r>
          </a:p>
          <a:p>
            <a:pPr lvl="2" algn="l">
              <a:buFont typeface="Arial" panose="020B0604020202020204" pitchFamily="34" charset="0"/>
              <a:buChar char="•"/>
            </a:pPr>
            <a:r>
              <a:rPr lang="en-US" b="1" i="0" u="none" strike="noStrike" dirty="0">
                <a:solidFill>
                  <a:srgbClr val="000000"/>
                </a:solidFill>
                <a:effectLst/>
              </a:rPr>
              <a:t>Previously received:</a:t>
            </a:r>
            <a:r>
              <a:rPr lang="en-US" b="0" i="0" u="none" strike="noStrike" dirty="0">
                <a:solidFill>
                  <a:srgbClr val="000000"/>
                </a:solidFill>
                <a:effectLst/>
              </a:rPr>
              <a:t> seq# 201–300</a:t>
            </a:r>
          </a:p>
          <a:p>
            <a:pPr lvl="2" algn="l"/>
            <a:r>
              <a:rPr lang="en-US" b="1" i="0" u="none" strike="noStrike" dirty="0">
                <a:solidFill>
                  <a:srgbClr val="000000"/>
                </a:solidFill>
                <a:effectLst/>
              </a:rPr>
              <a:t>Action:</a:t>
            </a:r>
            <a:r>
              <a:rPr lang="en-US" b="0" i="0" u="none" strike="noStrike" dirty="0">
                <a:solidFill>
                  <a:srgbClr val="000000"/>
                </a:solidFill>
                <a:effectLst/>
              </a:rPr>
              <a:t> Receiver sends </a:t>
            </a:r>
            <a:r>
              <a:rPr lang="en-US" b="1" i="0" u="none" strike="noStrike" dirty="0">
                <a:solidFill>
                  <a:srgbClr val="000000"/>
                </a:solidFill>
                <a:effectLst/>
              </a:rPr>
              <a:t>ACK 301</a:t>
            </a:r>
            <a:r>
              <a:rPr lang="en-US" b="0" i="0" u="none" strike="noStrike" dirty="0">
                <a:solidFill>
                  <a:srgbClr val="000000"/>
                </a:solidFill>
                <a:effectLst/>
              </a:rPr>
              <a:t> (cumulative ACK for all in-order bytes).</a:t>
            </a:r>
          </a:p>
          <a:p>
            <a:pPr lvl="2" algn="l"/>
            <a:r>
              <a:rPr lang="en-US" b="1" i="0" u="none" strike="noStrike" dirty="0">
                <a:solidFill>
                  <a:srgbClr val="000000"/>
                </a:solidFill>
                <a:effectLst/>
              </a:rPr>
              <a:t>Scenario:</a:t>
            </a:r>
            <a:r>
              <a:rPr lang="en-US" b="0" i="0" u="none" strike="noStrike" dirty="0">
                <a:solidFill>
                  <a:srgbClr val="000000"/>
                </a:solidFill>
                <a:effectLst/>
              </a:rPr>
              <a:t> Allows TCP to quickly acknowledge recovered segments and continue in-order delivery.</a:t>
            </a:r>
          </a:p>
          <a:p>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 name="Shape 375"/>
          <p:cNvSpPr>
            <a:spLocks noGrp="1" noRot="1" noChangeAspect="1"/>
          </p:cNvSpPr>
          <p:nvPr>
            <p:ph type="sldImg"/>
          </p:nvPr>
        </p:nvSpPr>
        <p:spPr>
          <a:prstGeom prst="rect">
            <a:avLst/>
          </a:prstGeom>
        </p:spPr>
        <p:txBody>
          <a:bodyPr/>
          <a:lstStyle/>
          <a:p>
            <a:endParaRPr/>
          </a:p>
        </p:txBody>
      </p:sp>
      <p:sp>
        <p:nvSpPr>
          <p:cNvPr id="376" name="Shape 376"/>
          <p:cNvSpPr>
            <a:spLocks noGrp="1"/>
          </p:cNvSpPr>
          <p:nvPr>
            <p:ph type="body" sz="quarter" idx="1"/>
          </p:nvPr>
        </p:nvSpPr>
        <p:spPr>
          <a:prstGeom prst="rect">
            <a:avLst/>
          </a:prstGeom>
        </p:spPr>
        <p:txBody>
          <a:bodyPr/>
          <a:lstStyle/>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t>Tradeoffs in setting the timeout period (i.e. estimating the RTT)</a:t>
            </a:r>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t>	Too long, have to wait, decreases throughput</a:t>
            </a:r>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t>	Too short, premature timeout, wasted bandwidth in unnecessary retransmissions</a:t>
            </a:r>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endParaRPr/>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t>How does sender detects lost packet?</a:t>
            </a:r>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t>	Timeout</a:t>
            </a:r>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t>	Duplicate ACK</a:t>
            </a:r>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t>	When does receiver send a duplicate ACK? </a:t>
            </a:r>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t>		When it receives a segment that is larger than the expected seq number</a:t>
            </a:r>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t>		Detects a missing segment</a:t>
            </a:r>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t>		ReACK the last byte received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Shape 388"/>
          <p:cNvSpPr>
            <a:spLocks noGrp="1" noRot="1" noChangeAspect="1"/>
          </p:cNvSpPr>
          <p:nvPr>
            <p:ph type="sldImg"/>
          </p:nvPr>
        </p:nvSpPr>
        <p:spPr>
          <a:prstGeom prst="rect">
            <a:avLst/>
          </a:prstGeom>
        </p:spPr>
        <p:txBody>
          <a:bodyPr/>
          <a:lstStyle/>
          <a:p>
            <a:endParaRPr/>
          </a:p>
        </p:txBody>
      </p:sp>
      <p:sp>
        <p:nvSpPr>
          <p:cNvPr id="389" name="Shape 389"/>
          <p:cNvSpPr>
            <a:spLocks noGrp="1"/>
          </p:cNvSpPr>
          <p:nvPr>
            <p:ph type="body" sz="quarter" idx="1"/>
          </p:nvPr>
        </p:nvSpPr>
        <p:spPr>
          <a:prstGeom prst="rect">
            <a:avLst/>
          </a:prstGeom>
        </p:spPr>
        <p:txBody>
          <a:bodyPr/>
          <a:lstStyle/>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rPr dirty="0"/>
              <a:t>When a receiver sends a duplicate ACK, two possible scenarios</a:t>
            </a:r>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rPr dirty="0"/>
              <a:t>	The missing segment is lost</a:t>
            </a:r>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rPr dirty="0"/>
              <a:t>	The missing segment gets reordered in transmission</a:t>
            </a:r>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endParaRPr dirty="0"/>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rPr dirty="0"/>
              <a:t>If it is just reordering, then sender should not send a retransmission</a:t>
            </a:r>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rPr dirty="0"/>
              <a:t>Otherwise, sender should send a retransmission</a:t>
            </a:r>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rPr dirty="0"/>
              <a:t>Sender:</a:t>
            </a:r>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rPr dirty="0"/>
              <a:t>	Guess that it is just reordering if only one or two duplicate ACKs</a:t>
            </a:r>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r>
              <a:rPr dirty="0"/>
              <a:t>	Guess that it is a lost segment if multiple subsequent segments were received</a:t>
            </a:r>
            <a:endParaRPr lang="en-US" dirty="0"/>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endParaRPr lang="en-LB" dirty="0"/>
          </a:p>
          <a:p>
            <a:pPr algn="l"/>
            <a:r>
              <a:rPr lang="en-US" b="1" i="0" u="none" strike="noStrike" dirty="0">
                <a:solidFill>
                  <a:srgbClr val="000000"/>
                </a:solidFill>
                <a:effectLst/>
              </a:rPr>
              <a:t>Why 3 duplicate ACKs trigger fast retransmit</a:t>
            </a:r>
          </a:p>
          <a:p>
            <a:pPr algn="l">
              <a:buFont typeface="+mj-lt"/>
              <a:buAutoNum type="arabicPeriod"/>
            </a:pPr>
            <a:r>
              <a:rPr lang="en-US" b="1" i="0" u="none" strike="noStrike" dirty="0">
                <a:solidFill>
                  <a:srgbClr val="000000"/>
                </a:solidFill>
                <a:effectLst/>
              </a:rPr>
              <a:t>Duplicate ACKs happen naturally in TCP</a:t>
            </a:r>
            <a:endParaRPr lang="en-US" b="0" i="0" u="none" strike="noStrike" dirty="0">
              <a:solidFill>
                <a:srgbClr val="000000"/>
              </a:solidFill>
              <a:effectLst/>
            </a:endParaRPr>
          </a:p>
          <a:p>
            <a:pPr marL="742950" lvl="1" indent="-285750" algn="l">
              <a:buFont typeface="+mj-lt"/>
              <a:buAutoNum type="arabicPeriod"/>
            </a:pPr>
            <a:r>
              <a:rPr lang="en-US" b="0" i="0" u="none" strike="noStrike" dirty="0">
                <a:solidFill>
                  <a:srgbClr val="000000"/>
                </a:solidFill>
                <a:effectLst/>
              </a:rPr>
              <a:t>A duplicate ACK is sent whenever the receiver </a:t>
            </a:r>
            <a:r>
              <a:rPr lang="en-US" b="1" i="0" u="none" strike="noStrike" dirty="0">
                <a:solidFill>
                  <a:srgbClr val="000000"/>
                </a:solidFill>
                <a:effectLst/>
              </a:rPr>
              <a:t>receives a segment out of order</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But sometimes, </a:t>
            </a:r>
            <a:r>
              <a:rPr lang="en-US" b="1" i="0" u="none" strike="noStrike" dirty="0">
                <a:solidFill>
                  <a:srgbClr val="000000"/>
                </a:solidFill>
                <a:effectLst/>
              </a:rPr>
              <a:t>one duplicate ACK can happen for normal network reordering</a:t>
            </a:r>
            <a:r>
              <a:rPr lang="en-US" b="0" i="0" u="none" strike="noStrike" dirty="0">
                <a:solidFill>
                  <a:srgbClr val="000000"/>
                </a:solidFill>
                <a:effectLst/>
              </a:rPr>
              <a:t>—it doesn’t always mean a segment is lost.</a:t>
            </a:r>
          </a:p>
          <a:p>
            <a:pPr algn="l">
              <a:buFont typeface="+mj-lt"/>
              <a:buAutoNum type="arabicPeriod"/>
            </a:pPr>
            <a:r>
              <a:rPr lang="en-US" b="1" i="0" u="none" strike="noStrike" dirty="0">
                <a:solidFill>
                  <a:srgbClr val="000000"/>
                </a:solidFill>
                <a:effectLst/>
              </a:rPr>
              <a:t>Using 3 as a threshold reduces false alarms</a:t>
            </a:r>
            <a:endParaRPr lang="en-US" b="0" i="0" u="none" strike="noStrike" dirty="0">
              <a:solidFill>
                <a:srgbClr val="000000"/>
              </a:solidFill>
              <a:effectLst/>
            </a:endParaRPr>
          </a:p>
          <a:p>
            <a:pPr marL="742950" lvl="1" indent="-285750" algn="l">
              <a:buFont typeface="+mj-lt"/>
              <a:buAutoNum type="arabicPeriod"/>
            </a:pPr>
            <a:r>
              <a:rPr lang="en-US" b="1" i="0" u="none" strike="noStrike" dirty="0">
                <a:solidFill>
                  <a:srgbClr val="000000"/>
                </a:solidFill>
                <a:effectLst/>
              </a:rPr>
              <a:t>1 or 2 duplicate ACKs</a:t>
            </a:r>
            <a:r>
              <a:rPr lang="en-US" b="0" i="0" u="none" strike="noStrike" dirty="0">
                <a:solidFill>
                  <a:srgbClr val="000000"/>
                </a:solidFill>
                <a:effectLst/>
              </a:rPr>
              <a:t> might just be caused by segments arriving slightly out of order.</a:t>
            </a:r>
          </a:p>
          <a:p>
            <a:pPr marL="742950" lvl="1" indent="-285750" algn="l">
              <a:buFont typeface="+mj-lt"/>
              <a:buAutoNum type="arabicPeriod"/>
            </a:pPr>
            <a:r>
              <a:rPr lang="en-US" b="0" i="0" u="none" strike="noStrike" dirty="0">
                <a:solidFill>
                  <a:srgbClr val="000000"/>
                </a:solidFill>
                <a:effectLst/>
              </a:rPr>
              <a:t>Waiting for </a:t>
            </a:r>
            <a:r>
              <a:rPr lang="en-US" b="1" i="0" u="none" strike="noStrike" dirty="0">
                <a:solidFill>
                  <a:srgbClr val="000000"/>
                </a:solidFill>
                <a:effectLst/>
              </a:rPr>
              <a:t>3 duplicate ACKs</a:t>
            </a:r>
            <a:r>
              <a:rPr lang="en-US" b="0" i="0" u="none" strike="noStrike" dirty="0">
                <a:solidFill>
                  <a:srgbClr val="000000"/>
                </a:solidFill>
                <a:effectLst/>
              </a:rPr>
              <a:t> makes TCP </a:t>
            </a:r>
            <a:r>
              <a:rPr lang="en-US" b="1" i="0" u="none" strike="noStrike" dirty="0">
                <a:solidFill>
                  <a:srgbClr val="000000"/>
                </a:solidFill>
                <a:effectLst/>
              </a:rPr>
              <a:t>confident that a segment is actually lost</a:t>
            </a:r>
            <a:r>
              <a:rPr lang="en-US" b="0" i="0" u="none" strike="noStrike" dirty="0">
                <a:solidFill>
                  <a:srgbClr val="000000"/>
                </a:solidFill>
                <a:effectLst/>
              </a:rPr>
              <a:t> rather than just delayed or reordered.</a:t>
            </a:r>
          </a:p>
          <a:p>
            <a:pPr algn="l">
              <a:buFont typeface="+mj-lt"/>
              <a:buAutoNum type="arabicPeriod"/>
            </a:pPr>
            <a:r>
              <a:rPr lang="en-US" b="1" i="0" u="none" strike="noStrike" dirty="0">
                <a:solidFill>
                  <a:srgbClr val="000000"/>
                </a:solidFill>
                <a:effectLst/>
              </a:rPr>
              <a:t>Mechanism:</a:t>
            </a:r>
            <a:endParaRPr lang="en-US" b="0" i="0" u="none" strike="noStrike" dirty="0">
              <a:solidFill>
                <a:srgbClr val="000000"/>
              </a:solidFill>
              <a:effectLst/>
            </a:endParaRPr>
          </a:p>
          <a:p>
            <a:pPr marL="742950" lvl="1" indent="-285750" algn="l">
              <a:buFont typeface="+mj-lt"/>
              <a:buAutoNum type="arabicPeriod"/>
            </a:pPr>
            <a:r>
              <a:rPr lang="en-US" b="0" i="0" u="none" strike="noStrike" dirty="0">
                <a:solidFill>
                  <a:srgbClr val="000000"/>
                </a:solidFill>
                <a:effectLst/>
              </a:rPr>
              <a:t>Suppose </a:t>
            </a:r>
            <a:r>
              <a:rPr lang="en-US" b="1" i="0" u="none" strike="noStrike" dirty="0">
                <a:solidFill>
                  <a:srgbClr val="000000"/>
                </a:solidFill>
                <a:effectLst/>
              </a:rPr>
              <a:t>expected seq# = 201</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Segment 201–300 is lost.</a:t>
            </a:r>
          </a:p>
          <a:p>
            <a:pPr marL="742950" lvl="1" indent="-285750" algn="l">
              <a:buFont typeface="+mj-lt"/>
              <a:buAutoNum type="arabicPeriod"/>
            </a:pPr>
            <a:r>
              <a:rPr lang="en-US" b="0" i="0" u="none" strike="noStrike" dirty="0">
                <a:solidFill>
                  <a:srgbClr val="000000"/>
                </a:solidFill>
                <a:effectLst/>
              </a:rPr>
              <a:t>Segments 301–400, 401–500 arrive.</a:t>
            </a:r>
          </a:p>
          <a:p>
            <a:pPr marL="742950" lvl="1" indent="-285750" algn="l">
              <a:buFont typeface="+mj-lt"/>
              <a:buAutoNum type="arabicPeriod"/>
            </a:pPr>
            <a:r>
              <a:rPr lang="en-US" b="0" i="0" u="none" strike="noStrike" dirty="0">
                <a:solidFill>
                  <a:srgbClr val="000000"/>
                </a:solidFill>
                <a:effectLst/>
              </a:rPr>
              <a:t>Receiver sends </a:t>
            </a:r>
            <a:r>
              <a:rPr lang="en-US" b="1" i="0" u="none" strike="noStrike" dirty="0">
                <a:solidFill>
                  <a:srgbClr val="000000"/>
                </a:solidFill>
                <a:effectLst/>
              </a:rPr>
              <a:t>duplicate ACK 201</a:t>
            </a:r>
            <a:r>
              <a:rPr lang="en-US" b="0" i="0" u="none" strike="noStrike" dirty="0">
                <a:solidFill>
                  <a:srgbClr val="000000"/>
                </a:solidFill>
                <a:effectLst/>
              </a:rPr>
              <a:t> for each out-of-order segment (3 times).</a:t>
            </a:r>
          </a:p>
          <a:p>
            <a:pPr marL="742950" lvl="1" indent="-285750" algn="l">
              <a:buFont typeface="+mj-lt"/>
              <a:buAutoNum type="arabicPeriod"/>
            </a:pPr>
            <a:r>
              <a:rPr lang="en-US" b="0" i="0" u="none" strike="noStrike" dirty="0">
                <a:solidFill>
                  <a:srgbClr val="000000"/>
                </a:solidFill>
                <a:effectLst/>
              </a:rPr>
              <a:t>Sender sees 3 duplicates → knows: “Segment 201–300 must be lost” → </a:t>
            </a:r>
            <a:r>
              <a:rPr lang="en-US" b="1" i="0" u="none" strike="noStrike" dirty="0">
                <a:solidFill>
                  <a:srgbClr val="000000"/>
                </a:solidFill>
                <a:effectLst/>
              </a:rPr>
              <a:t>fast retransmit</a:t>
            </a:r>
            <a:r>
              <a:rPr lang="en-US" b="0" i="0" u="none" strike="noStrike" dirty="0">
                <a:solidFill>
                  <a:srgbClr val="000000"/>
                </a:solidFill>
                <a:effectLst/>
              </a:rPr>
              <a:t>.</a:t>
            </a:r>
          </a:p>
          <a:p>
            <a:pPr marL="42366" marR="42366" defTabSz="914400">
              <a:spcBef>
                <a:spcPts val="400"/>
              </a:spcBef>
              <a:buClr>
                <a:srgbClr val="000000"/>
              </a:buClr>
              <a:buFont typeface="Times New Roman"/>
              <a:defRPr sz="1200">
                <a:uFill>
                  <a:solidFill>
                    <a:srgbClr val="000000"/>
                  </a:solidFill>
                </a:uFill>
                <a:latin typeface="Times New Roman"/>
                <a:ea typeface="Times New Roman"/>
                <a:cs typeface="Times New Roman"/>
                <a:sym typeface="Times New Roman"/>
              </a:defRPr>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p:spTree>
      <p:nvGrpSpPr>
        <p:cNvPr id="1" name=""/>
        <p:cNvGrpSpPr/>
        <p:nvPr/>
      </p:nvGrpSpPr>
      <p:grpSpPr>
        <a:xfrm>
          <a:off x="0" y="0"/>
          <a:ext cx="0" cy="0"/>
          <a:chOff x="0" y="0"/>
          <a:chExt cx="0" cy="0"/>
        </a:xfrm>
      </p:grpSpPr>
      <p:sp>
        <p:nvSpPr>
          <p:cNvPr id="12" name="Material from Computer Networking: A Top Down Approach, 6th edition.  J.F. Kurose and K.W. Ross"/>
          <p:cNvSpPr txBox="1"/>
          <p:nvPr/>
        </p:nvSpPr>
        <p:spPr>
          <a:xfrm>
            <a:off x="5410200" y="9424987"/>
            <a:ext cx="7569200" cy="279401"/>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spAutoFit/>
          </a:bodyPr>
          <a:lstStyle/>
          <a:p>
            <a:pPr marL="40639" marR="40639" algn="l" defTabSz="914400">
              <a:buClr>
                <a:srgbClr val="000000"/>
              </a:buClr>
              <a:buFont typeface="Arial"/>
              <a:defRPr sz="2400">
                <a:solidFill>
                  <a:srgbClr val="000000"/>
                </a:solidFill>
                <a:uFill>
                  <a:solidFill>
                    <a:srgbClr val="000000"/>
                  </a:solidFill>
                </a:uFill>
                <a:latin typeface="Times New Roman"/>
                <a:ea typeface="Times New Roman"/>
                <a:cs typeface="Times New Roman"/>
                <a:sym typeface="Times New Roman"/>
              </a:defRPr>
            </a:pPr>
            <a:r>
              <a:rPr sz="1200">
                <a:latin typeface="Arial"/>
                <a:ea typeface="Arial"/>
                <a:cs typeface="Arial"/>
                <a:sym typeface="Arial"/>
              </a:rPr>
              <a:t>Material from Computer Networking: A Top Down Approach, 6</a:t>
            </a:r>
            <a:r>
              <a:rPr sz="1200" baseline="29999">
                <a:latin typeface="Arial"/>
                <a:ea typeface="Arial"/>
                <a:cs typeface="Arial"/>
                <a:sym typeface="Arial"/>
              </a:rPr>
              <a:t>th</a:t>
            </a:r>
            <a:r>
              <a:rPr sz="1200">
                <a:latin typeface="Arial"/>
                <a:ea typeface="Arial"/>
                <a:cs typeface="Arial"/>
                <a:sym typeface="Arial"/>
              </a:rPr>
              <a:t> edition.  J.F. Kurose and K.W. Ross</a:t>
            </a:r>
          </a:p>
        </p:txBody>
      </p:sp>
      <p:sp>
        <p:nvSpPr>
          <p:cNvPr id="13" name="31 August 2009…"/>
          <p:cNvSpPr txBox="1">
            <a:spLocks noGrp="1"/>
          </p:cNvSpPr>
          <p:nvPr>
            <p:ph type="body" sz="quarter" idx="13"/>
          </p:nvPr>
        </p:nvSpPr>
        <p:spPr>
          <a:xfrm>
            <a:off x="1282700" y="4989056"/>
            <a:ext cx="10439400" cy="1210588"/>
          </a:xfrm>
          <a:prstGeom prst="rect">
            <a:avLst/>
          </a:prstGeom>
        </p:spPr>
        <p:txBody>
          <a:bodyPr>
            <a:spAutoFit/>
          </a:bodyPr>
          <a:lstStyle>
            <a:lvl1pPr>
              <a:defRPr>
                <a:solidFill>
                  <a:schemeClr val="bg2">
                    <a:lumMod val="10000"/>
                  </a:schemeClr>
                </a:solidFill>
              </a:defRPr>
            </a:lvl1pPr>
          </a:lstStyle>
          <a:p>
            <a:pPr marL="0" indent="0" algn="ctr">
              <a:spcBef>
                <a:spcPts val="0"/>
              </a:spcBef>
              <a:buSzTx/>
              <a:buNone/>
              <a:defRPr sz="3600">
                <a:latin typeface="Gill Sans"/>
                <a:ea typeface="Gill Sans"/>
                <a:cs typeface="Gill Sans"/>
                <a:sym typeface="Gill Sans"/>
              </a:defRPr>
            </a:pPr>
            <a:r>
              <a:t>31 August 2009</a:t>
            </a:r>
          </a:p>
          <a:p>
            <a:pPr marL="0" indent="0" algn="ctr">
              <a:spcBef>
                <a:spcPts val="0"/>
              </a:spcBef>
              <a:buSzTx/>
              <a:buNone/>
              <a:defRPr sz="3600">
                <a:latin typeface="Gill Sans"/>
                <a:ea typeface="Gill Sans"/>
                <a:cs typeface="Gill Sans"/>
                <a:sym typeface="Gill Sans"/>
              </a:defRPr>
            </a:pPr>
            <a:r>
              <a:t>Bill Nace</a:t>
            </a:r>
          </a:p>
        </p:txBody>
      </p:sp>
      <p:sp>
        <p:nvSpPr>
          <p:cNvPr id="14" name="Title Text"/>
          <p:cNvSpPr txBox="1">
            <a:spLocks noGrp="1"/>
          </p:cNvSpPr>
          <p:nvPr>
            <p:ph type="title"/>
          </p:nvPr>
        </p:nvSpPr>
        <p:spPr>
          <a:xfrm>
            <a:off x="1270000" y="1638300"/>
            <a:ext cx="10464800" cy="3302000"/>
          </a:xfrm>
          <a:prstGeom prst="rect">
            <a:avLst/>
          </a:prstGeom>
        </p:spPr>
        <p:txBody>
          <a:bodyPr anchor="b"/>
          <a:lstStyle>
            <a:lvl1pPr>
              <a:defRPr>
                <a:solidFill>
                  <a:schemeClr val="bg2">
                    <a:lumMod val="10000"/>
                  </a:schemeClr>
                </a:solidFill>
                <a:latin typeface="Gill Sans"/>
                <a:ea typeface="Gill Sans"/>
                <a:cs typeface="Gill Sans"/>
                <a:sym typeface="Gill Sans"/>
              </a:defRPr>
            </a:lvl1pPr>
          </a:lstStyle>
          <a:p>
            <a:r>
              <a:t>Title Text</a:t>
            </a:r>
          </a:p>
        </p:txBody>
      </p:sp>
    </p:spTree>
  </p:cSld>
  <p:clrMapOvr>
    <a:overrideClrMapping bg1="lt1" tx1="dk1" bg2="lt2" tx2="dk2" accent1="accent1" accent2="accent2" accent3="accent3" accent4="accent4" accent5="accent5" accent6="accent6" hlink="hlink" folHlink="folHlink"/>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Main">
    <p:spTree>
      <p:nvGrpSpPr>
        <p:cNvPr id="1" name=""/>
        <p:cNvGrpSpPr/>
        <p:nvPr/>
      </p:nvGrpSpPr>
      <p:grpSpPr>
        <a:xfrm>
          <a:off x="0" y="0"/>
          <a:ext cx="0" cy="0"/>
          <a:chOff x="0" y="0"/>
          <a:chExt cx="0" cy="0"/>
        </a:xfrm>
      </p:grpSpPr>
      <p:sp>
        <p:nvSpPr>
          <p:cNvPr id="22" name="Title Text"/>
          <p:cNvSpPr txBox="1">
            <a:spLocks noGrp="1"/>
          </p:cNvSpPr>
          <p:nvPr>
            <p:ph type="title"/>
          </p:nvPr>
        </p:nvSpPr>
        <p:spPr>
          <a:prstGeom prst="rect">
            <a:avLst/>
          </a:prstGeom>
        </p:spPr>
        <p:txBody>
          <a:bodyPr/>
          <a:lstStyle>
            <a:lvl1pPr>
              <a:defRPr>
                <a:solidFill>
                  <a:schemeClr val="bg2">
                    <a:lumMod val="10000"/>
                  </a:schemeClr>
                </a:solidFill>
              </a:defRPr>
            </a:lvl1pPr>
          </a:lstStyle>
          <a:p>
            <a:r>
              <a:t>Title Text</a:t>
            </a:r>
          </a:p>
        </p:txBody>
      </p:sp>
      <p:sp>
        <p:nvSpPr>
          <p:cNvPr id="23" name="Body Level One…"/>
          <p:cNvSpPr txBox="1">
            <a:spLocks noGrp="1"/>
          </p:cNvSpPr>
          <p:nvPr>
            <p:ph type="body" idx="1"/>
          </p:nvPr>
        </p:nvSpPr>
        <p:spPr>
          <a:prstGeom prst="rect">
            <a:avLst/>
          </a:prstGeom>
        </p:spPr>
        <p:txBody>
          <a:bodyPr/>
          <a:lstStyle>
            <a:lvl1pPr>
              <a:defRPr>
                <a:solidFill>
                  <a:schemeClr val="bg2">
                    <a:lumMod val="10000"/>
                  </a:schemeClr>
                </a:solidFill>
              </a:defRPr>
            </a:lvl1pPr>
            <a:lvl2pPr marL="762000" indent="-444500">
              <a:buSzPct val="100000"/>
              <a:buFont typeface="Courier New" panose="02070309020205020404" pitchFamily="49" charset="0"/>
              <a:buChar char="o"/>
              <a:defRPr>
                <a:solidFill>
                  <a:schemeClr val="bg2">
                    <a:lumMod val="10000"/>
                  </a:schemeClr>
                </a:solidFill>
              </a:defRPr>
            </a:lvl2pPr>
            <a:lvl3pPr marL="1079500" indent="-444500">
              <a:buSzPct val="100000"/>
              <a:buFont typeface="Wingdings" pitchFamily="2" charset="2"/>
              <a:buChar char="v"/>
              <a:defRPr>
                <a:solidFill>
                  <a:schemeClr val="bg2">
                    <a:lumMod val="10000"/>
                  </a:schemeClr>
                </a:solidFill>
              </a:defRPr>
            </a:lvl3pPr>
            <a:lvl4pPr marL="1397000" indent="-444500">
              <a:buSzPct val="100000"/>
              <a:buFont typeface="Wingdings" pitchFamily="2" charset="2"/>
              <a:buChar char="ü"/>
              <a:defRPr>
                <a:solidFill>
                  <a:schemeClr val="bg2">
                    <a:lumMod val="10000"/>
                  </a:schemeClr>
                </a:solidFill>
              </a:defRPr>
            </a:lvl4pPr>
            <a:lvl5pPr marL="1714500" indent="-444500">
              <a:buSzPct val="100000"/>
              <a:buFont typeface="Wingdings" pitchFamily="2" charset="2"/>
              <a:buChar char="q"/>
              <a:defRPr>
                <a:solidFill>
                  <a:schemeClr val="bg2">
                    <a:lumMod val="10000"/>
                  </a:schemeClr>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overrideClrMapping bg1="lt1" tx1="dk1" bg2="lt2" tx2="dk2" accent1="accent1" accent2="accent2" accent3="accent3" accent4="accent4" accent5="accent5" accent6="accent6" hlink="hlink" folHlink="folHlink"/>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Main: With Build">
    <p:spTree>
      <p:nvGrpSpPr>
        <p:cNvPr id="1" name=""/>
        <p:cNvGrpSpPr/>
        <p:nvPr/>
      </p:nvGrpSpPr>
      <p:grpSpPr>
        <a:xfrm>
          <a:off x="0" y="0"/>
          <a:ext cx="0" cy="0"/>
          <a:chOff x="0" y="0"/>
          <a:chExt cx="0" cy="0"/>
        </a:xfrm>
      </p:grpSpPr>
      <p:sp>
        <p:nvSpPr>
          <p:cNvPr id="36" name="Title Text"/>
          <p:cNvSpPr txBox="1">
            <a:spLocks noGrp="1"/>
          </p:cNvSpPr>
          <p:nvPr>
            <p:ph type="title"/>
          </p:nvPr>
        </p:nvSpPr>
        <p:spPr>
          <a:xfrm>
            <a:off x="1270000" y="317500"/>
            <a:ext cx="10464800" cy="1905000"/>
          </a:xfrm>
          <a:prstGeom prst="rect">
            <a:avLst/>
          </a:prstGeom>
        </p:spPr>
        <p:txBody>
          <a:bodyPr/>
          <a:lstStyle>
            <a:lvl1pPr>
              <a:defRPr>
                <a:solidFill>
                  <a:schemeClr val="bg2">
                    <a:lumMod val="10000"/>
                  </a:schemeClr>
                </a:solidFill>
              </a:defRPr>
            </a:lvl1pPr>
          </a:lstStyle>
          <a:p>
            <a:r>
              <a:t>Title Text</a:t>
            </a:r>
          </a:p>
        </p:txBody>
      </p:sp>
      <p:sp>
        <p:nvSpPr>
          <p:cNvPr id="37" name="Body Level One…"/>
          <p:cNvSpPr txBox="1">
            <a:spLocks noGrp="1"/>
          </p:cNvSpPr>
          <p:nvPr>
            <p:ph type="body" idx="1"/>
          </p:nvPr>
        </p:nvSpPr>
        <p:spPr>
          <a:prstGeom prst="rect">
            <a:avLst/>
          </a:prstGeom>
        </p:spPr>
        <p:txBody>
          <a:bodyPr/>
          <a:lstStyle>
            <a:lvl1pPr>
              <a:defRPr>
                <a:solidFill>
                  <a:schemeClr val="bg2">
                    <a:lumMod val="10000"/>
                  </a:schemeClr>
                </a:solidFill>
              </a:defRPr>
            </a:lvl1pPr>
            <a:lvl2pPr marL="762000" indent="-444500">
              <a:buFont typeface="Courier New" panose="02070309020205020404" pitchFamily="49" charset="0"/>
              <a:buChar char="o"/>
              <a:defRPr>
                <a:solidFill>
                  <a:schemeClr val="bg2">
                    <a:lumMod val="10000"/>
                  </a:schemeClr>
                </a:solidFill>
              </a:defRPr>
            </a:lvl2pPr>
            <a:lvl3pPr marL="1079500" indent="-444500">
              <a:buFont typeface="Wingdings" pitchFamily="2" charset="2"/>
              <a:buChar char="v"/>
              <a:defRPr>
                <a:solidFill>
                  <a:schemeClr val="bg2">
                    <a:lumMod val="10000"/>
                  </a:schemeClr>
                </a:solidFill>
              </a:defRPr>
            </a:lvl3pPr>
            <a:lvl4pPr marL="1397000" indent="-444500">
              <a:buFont typeface="Wingdings" pitchFamily="2" charset="2"/>
              <a:buChar char="ü"/>
              <a:defRPr>
                <a:solidFill>
                  <a:schemeClr val="bg2">
                    <a:lumMod val="10000"/>
                  </a:schemeClr>
                </a:solidFill>
              </a:defRPr>
            </a:lvl4pPr>
            <a:lvl5pPr marL="1714500" indent="-444500">
              <a:buFont typeface="Wingdings" pitchFamily="2" charset="2"/>
              <a:buChar char="q"/>
              <a:defRPr>
                <a:solidFill>
                  <a:schemeClr val="bg2">
                    <a:lumMod val="10000"/>
                  </a:schemeClr>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3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overrideClrMapping bg1="lt1" tx1="dk1" bg2="lt2" tx2="dk2" accent1="accent1" accent2="accent2" accent3="accent3" accent4="accent4" accent5="accent5" accent6="accent6" hlink="hlink" folHlink="folHlink"/>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62" name="Slide Number"/>
          <p:cNvSpPr txBox="1">
            <a:spLocks noGrp="1"/>
          </p:cNvSpPr>
          <p:nvPr>
            <p:ph type="sldNum" sz="quarter" idx="2"/>
          </p:nvPr>
        </p:nvSpPr>
        <p:spPr>
          <a:xfrm>
            <a:off x="6324600" y="9258300"/>
            <a:ext cx="342900" cy="368300"/>
          </a:xfrm>
          <a:prstGeom prst="rect">
            <a:avLst/>
          </a:prstGeom>
        </p:spPr>
        <p:txBody>
          <a:bodyPr/>
          <a:lstStyle/>
          <a:p>
            <a:fld id="{86CB4B4D-7CA3-9044-876B-883B54F8677D}" type="slidenum">
              <a:t>‹#›</a:t>
            </a:fld>
            <a:endParaRPr/>
          </a:p>
        </p:txBody>
      </p:sp>
    </p:spTree>
  </p:cSld>
  <p:clrMapOvr>
    <a:overrideClrMapping bg1="lt1" tx1="dk1" bg2="lt2" tx2="dk2" accent1="accent1" accent2="accent2" accent3="accent3" accent4="accent4" accent5="accent5" accent6="accent6" hlink="hlink" folHlink="folHlink"/>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Blank: With Build">
    <p:spTree>
      <p:nvGrpSpPr>
        <p:cNvPr id="1" name=""/>
        <p:cNvGrpSpPr/>
        <p:nvPr/>
      </p:nvGrpSpPr>
      <p:grpSpPr>
        <a:xfrm>
          <a:off x="0" y="0"/>
          <a:ext cx="0" cy="0"/>
          <a:chOff x="0" y="0"/>
          <a:chExt cx="0" cy="0"/>
        </a:xfrm>
      </p:grpSpPr>
      <p:grpSp>
        <p:nvGrpSpPr>
          <p:cNvPr id="72" name="Group"/>
          <p:cNvGrpSpPr/>
          <p:nvPr/>
        </p:nvGrpSpPr>
        <p:grpSpPr>
          <a:xfrm>
            <a:off x="12420600" y="25400"/>
            <a:ext cx="571500" cy="1333500"/>
            <a:chOff x="0" y="0"/>
            <a:chExt cx="571500" cy="1333500"/>
          </a:xfrm>
        </p:grpSpPr>
        <p:sp>
          <p:nvSpPr>
            <p:cNvPr id="69" name="Shape"/>
            <p:cNvSpPr/>
            <p:nvPr/>
          </p:nvSpPr>
          <p:spPr>
            <a:xfrm>
              <a:off x="0" y="0"/>
              <a:ext cx="571500" cy="571500"/>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gradFill flip="none" rotWithShape="1">
              <a:gsLst>
                <a:gs pos="0">
                  <a:srgbClr val="0066C1"/>
                </a:gs>
                <a:gs pos="100000">
                  <a:srgbClr val="094593"/>
                </a:gs>
              </a:gsLst>
              <a:lin ang="5400000" scaled="0"/>
            </a:gradFill>
            <a:ln w="12700" cap="flat">
              <a:noFill/>
              <a:miter lim="400000"/>
            </a:ln>
            <a:effectLst>
              <a:outerShdw blurRad="76200" dir="18900000" rotWithShape="0">
                <a:srgbClr val="000000">
                  <a:alpha val="80000"/>
                </a:srgbClr>
              </a:outerShdw>
            </a:effectLst>
          </p:spPr>
          <p:txBody>
            <a:bodyPr wrap="square" lIns="50800" tIns="50800" rIns="50800" bIns="50800" numCol="1" anchor="ctr">
              <a:noAutofit/>
            </a:bodyPr>
            <a:lstStyle/>
            <a:p>
              <a:pPr defTabSz="800100">
                <a:defRPr sz="2400">
                  <a:effectLst>
                    <a:outerShdw blurRad="25400" dist="23998" dir="2700000" rotWithShape="0">
                      <a:srgbClr val="000000">
                        <a:alpha val="31034"/>
                      </a:srgbClr>
                    </a:outerShdw>
                  </a:effectLst>
                </a:defRPr>
              </a:pPr>
              <a:endParaRPr/>
            </a:p>
          </p:txBody>
        </p:sp>
        <p:sp>
          <p:nvSpPr>
            <p:cNvPr id="70" name="Shape"/>
            <p:cNvSpPr/>
            <p:nvPr/>
          </p:nvSpPr>
          <p:spPr>
            <a:xfrm>
              <a:off x="0" y="381000"/>
              <a:ext cx="571500" cy="571500"/>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gradFill flip="none" rotWithShape="1">
              <a:gsLst>
                <a:gs pos="0">
                  <a:srgbClr val="0066C1"/>
                </a:gs>
                <a:gs pos="100000">
                  <a:srgbClr val="094593"/>
                </a:gs>
              </a:gsLst>
              <a:lin ang="5400000" scaled="0"/>
            </a:gradFill>
            <a:ln w="12700" cap="flat">
              <a:noFill/>
              <a:miter lim="400000"/>
            </a:ln>
            <a:effectLst>
              <a:outerShdw blurRad="76200" dir="18900000" rotWithShape="0">
                <a:srgbClr val="000000">
                  <a:alpha val="80000"/>
                </a:srgbClr>
              </a:outerShdw>
            </a:effectLst>
          </p:spPr>
          <p:txBody>
            <a:bodyPr wrap="square" lIns="50800" tIns="50800" rIns="50800" bIns="50800" numCol="1" anchor="ctr">
              <a:noAutofit/>
            </a:bodyPr>
            <a:lstStyle/>
            <a:p>
              <a:pPr defTabSz="800100">
                <a:defRPr sz="2400">
                  <a:effectLst>
                    <a:outerShdw blurRad="25400" dist="23998" dir="2700000" rotWithShape="0">
                      <a:srgbClr val="000000">
                        <a:alpha val="31034"/>
                      </a:srgbClr>
                    </a:outerShdw>
                  </a:effectLst>
                </a:defRPr>
              </a:pPr>
              <a:endParaRPr/>
            </a:p>
          </p:txBody>
        </p:sp>
        <p:sp>
          <p:nvSpPr>
            <p:cNvPr id="71" name="Shape"/>
            <p:cNvSpPr/>
            <p:nvPr/>
          </p:nvSpPr>
          <p:spPr>
            <a:xfrm>
              <a:off x="0" y="762000"/>
              <a:ext cx="571500" cy="571500"/>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gradFill flip="none" rotWithShape="1">
              <a:gsLst>
                <a:gs pos="0">
                  <a:srgbClr val="0066C1"/>
                </a:gs>
                <a:gs pos="100000">
                  <a:srgbClr val="094593"/>
                </a:gs>
              </a:gsLst>
              <a:lin ang="5400000" scaled="0"/>
            </a:gradFill>
            <a:ln w="12700" cap="flat">
              <a:noFill/>
              <a:miter lim="400000"/>
            </a:ln>
            <a:effectLst>
              <a:outerShdw blurRad="76200" dir="18900000" rotWithShape="0">
                <a:srgbClr val="000000">
                  <a:alpha val="80000"/>
                </a:srgbClr>
              </a:outerShdw>
            </a:effectLst>
          </p:spPr>
          <p:txBody>
            <a:bodyPr wrap="square" lIns="50800" tIns="50800" rIns="50800" bIns="50800" numCol="1" anchor="ctr">
              <a:noAutofit/>
            </a:bodyPr>
            <a:lstStyle/>
            <a:p>
              <a:pPr defTabSz="800100">
                <a:defRPr sz="2400">
                  <a:effectLst>
                    <a:outerShdw blurRad="25400" dist="23998" dir="2700000" rotWithShape="0">
                      <a:srgbClr val="000000">
                        <a:alpha val="31034"/>
                      </a:srgbClr>
                    </a:outerShdw>
                  </a:effectLst>
                </a:defRPr>
              </a:pPr>
              <a:endParaRPr/>
            </a:p>
          </p:txBody>
        </p:sp>
      </p:grpSp>
      <p:sp>
        <p:nvSpPr>
          <p:cNvPr id="73" name="Slide Number"/>
          <p:cNvSpPr txBox="1">
            <a:spLocks noGrp="1"/>
          </p:cNvSpPr>
          <p:nvPr>
            <p:ph type="sldNum" sz="quarter" idx="2"/>
          </p:nvPr>
        </p:nvSpPr>
        <p:spPr>
          <a:xfrm>
            <a:off x="6324600" y="9258300"/>
            <a:ext cx="342900" cy="368300"/>
          </a:xfrm>
          <a:prstGeom prst="rect">
            <a:avLst/>
          </a:prstGeom>
        </p:spPr>
        <p:txBody>
          <a:bodyPr/>
          <a:lstStyle/>
          <a:p>
            <a:fld id="{86CB4B4D-7CA3-9044-876B-883B54F8677D}" type="slidenum">
              <a:t>‹#›</a:t>
            </a:fld>
            <a:endParaRPr/>
          </a:p>
        </p:txBody>
      </p:sp>
    </p:spTree>
  </p:cSld>
  <p:clrMapOvr>
    <a:overrideClrMapping bg1="lt1" tx1="dk1" bg2="lt2" tx2="dk2" accent1="accent1" accent2="accent2" accent3="accent3" accent4="accent4" accent5="accent5" accent6="accent6" hlink="hlink" folHlink="folHlink"/>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Image Right">
    <p:spTree>
      <p:nvGrpSpPr>
        <p:cNvPr id="1" name=""/>
        <p:cNvGrpSpPr/>
        <p:nvPr/>
      </p:nvGrpSpPr>
      <p:grpSpPr>
        <a:xfrm>
          <a:off x="0" y="0"/>
          <a:ext cx="0" cy="0"/>
          <a:chOff x="0" y="0"/>
          <a:chExt cx="0" cy="0"/>
        </a:xfrm>
      </p:grpSpPr>
      <p:sp>
        <p:nvSpPr>
          <p:cNvPr id="80" name="Image"/>
          <p:cNvSpPr>
            <a:spLocks noGrp="1"/>
          </p:cNvSpPr>
          <p:nvPr>
            <p:ph type="pic" sz="half" idx="13"/>
          </p:nvPr>
        </p:nvSpPr>
        <p:spPr>
          <a:xfrm>
            <a:off x="7277100" y="2044700"/>
            <a:ext cx="5346700" cy="6959600"/>
          </a:xfrm>
          <a:prstGeom prst="rect">
            <a:avLst/>
          </a:prstGeom>
          <a:ln w="25400">
            <a:solidFill>
              <a:srgbClr val="FFFFFF"/>
            </a:solidFill>
          </a:ln>
        </p:spPr>
        <p:txBody>
          <a:bodyPr lIns="91439" tIns="45719" rIns="91439" bIns="45719" anchor="t"/>
          <a:lstStyle>
            <a:lvl1pPr>
              <a:defRPr>
                <a:solidFill>
                  <a:schemeClr val="bg2">
                    <a:lumMod val="10000"/>
                  </a:schemeClr>
                </a:solidFill>
              </a:defRPr>
            </a:lvl1pPr>
          </a:lstStyle>
          <a:p>
            <a:endParaRPr/>
          </a:p>
        </p:txBody>
      </p:sp>
      <p:sp>
        <p:nvSpPr>
          <p:cNvPr id="81" name="Title Text"/>
          <p:cNvSpPr txBox="1">
            <a:spLocks noGrp="1"/>
          </p:cNvSpPr>
          <p:nvPr>
            <p:ph type="title"/>
          </p:nvPr>
        </p:nvSpPr>
        <p:spPr>
          <a:xfrm>
            <a:off x="1270000" y="254000"/>
            <a:ext cx="10464800" cy="1587500"/>
          </a:xfrm>
          <a:prstGeom prst="rect">
            <a:avLst/>
          </a:prstGeom>
        </p:spPr>
        <p:txBody>
          <a:bodyPr/>
          <a:lstStyle>
            <a:lvl1pPr>
              <a:defRPr>
                <a:solidFill>
                  <a:schemeClr val="bg2">
                    <a:lumMod val="10000"/>
                  </a:schemeClr>
                </a:solidFill>
              </a:defRPr>
            </a:lvl1pPr>
          </a:lstStyle>
          <a:p>
            <a:r>
              <a:t>Title Text</a:t>
            </a:r>
          </a:p>
        </p:txBody>
      </p:sp>
      <p:sp>
        <p:nvSpPr>
          <p:cNvPr id="82" name="Body Level One…"/>
          <p:cNvSpPr txBox="1">
            <a:spLocks noGrp="1"/>
          </p:cNvSpPr>
          <p:nvPr>
            <p:ph type="body" sz="half" idx="1"/>
          </p:nvPr>
        </p:nvSpPr>
        <p:spPr>
          <a:xfrm>
            <a:off x="635000" y="2032000"/>
            <a:ext cx="6248400" cy="6985000"/>
          </a:xfrm>
          <a:prstGeom prst="rect">
            <a:avLst/>
          </a:prstGeom>
        </p:spPr>
        <p:txBody>
          <a:bodyPr/>
          <a:lstStyle>
            <a:lvl1pPr>
              <a:spcBef>
                <a:spcPts val="2600"/>
              </a:spcBef>
              <a:buSzPct val="171000"/>
              <a:defRPr sz="3200">
                <a:solidFill>
                  <a:schemeClr val="bg2">
                    <a:lumMod val="10000"/>
                  </a:schemeClr>
                </a:solidFill>
              </a:defRPr>
            </a:lvl1pPr>
            <a:lvl2pPr>
              <a:spcBef>
                <a:spcPts val="1800"/>
              </a:spcBef>
              <a:buSzPct val="171000"/>
              <a:defRPr sz="3200">
                <a:solidFill>
                  <a:schemeClr val="bg2">
                    <a:lumMod val="10000"/>
                  </a:schemeClr>
                </a:solidFill>
              </a:defRPr>
            </a:lvl2pPr>
            <a:lvl3pPr>
              <a:buSzPct val="171000"/>
              <a:defRPr sz="3200">
                <a:solidFill>
                  <a:schemeClr val="bg2">
                    <a:lumMod val="10000"/>
                  </a:schemeClr>
                </a:solidFill>
              </a:defRPr>
            </a:lvl3pPr>
            <a:lvl4pPr>
              <a:buSzPct val="171000"/>
              <a:defRPr sz="3200">
                <a:solidFill>
                  <a:schemeClr val="bg2">
                    <a:lumMod val="10000"/>
                  </a:schemeClr>
                </a:solidFill>
              </a:defRPr>
            </a:lvl4pPr>
            <a:lvl5pPr>
              <a:buSzPct val="171000"/>
              <a:defRPr sz="3200">
                <a:solidFill>
                  <a:schemeClr val="bg2">
                    <a:lumMod val="10000"/>
                  </a:schemeClr>
                </a:solidFill>
              </a:defRPr>
            </a:lvl5pPr>
          </a:lstStyle>
          <a:p>
            <a:r>
              <a:t>Body Level One</a:t>
            </a:r>
          </a:p>
          <a:p>
            <a:pPr lvl="1"/>
            <a:r>
              <a:t>Body Level Two</a:t>
            </a:r>
          </a:p>
          <a:p>
            <a:pPr lvl="2"/>
            <a:r>
              <a:t>Body Level Three</a:t>
            </a:r>
          </a:p>
          <a:p>
            <a:pPr lvl="3"/>
            <a:r>
              <a:t>Body Level Four</a:t>
            </a:r>
          </a:p>
          <a:p>
            <a:pPr lvl="4"/>
            <a:r>
              <a:t>Body Level Five</a:t>
            </a:r>
          </a:p>
        </p:txBody>
      </p:sp>
      <p:sp>
        <p:nvSpPr>
          <p:cNvPr id="83" name="Slide Number"/>
          <p:cNvSpPr txBox="1">
            <a:spLocks noGrp="1"/>
          </p:cNvSpPr>
          <p:nvPr>
            <p:ph type="sldNum" sz="quarter" idx="2"/>
          </p:nvPr>
        </p:nvSpPr>
        <p:spPr>
          <a:xfrm>
            <a:off x="6324600" y="9258300"/>
            <a:ext cx="342900" cy="368300"/>
          </a:xfrm>
          <a:prstGeom prst="rect">
            <a:avLst/>
          </a:prstGeom>
        </p:spPr>
        <p:txBody>
          <a:bodyPr/>
          <a:lstStyle/>
          <a:p>
            <a:fld id="{86CB4B4D-7CA3-9044-876B-883B54F8677D}" type="slidenum">
              <a:t>‹#›</a:t>
            </a:fld>
            <a:endParaRPr/>
          </a:p>
        </p:txBody>
      </p:sp>
    </p:spTree>
  </p:cSld>
  <p:clrMapOvr>
    <a:overrideClrMapping bg1="lt1" tx1="dk1" bg2="lt2" tx2="dk2" accent1="accent1" accent2="accent2" accent3="accent3" accent4="accent4" accent5="accent5" accent6="accent6" hlink="hlink" folHlink="folHlink"/>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Image Left">
    <p:spTree>
      <p:nvGrpSpPr>
        <p:cNvPr id="1" name=""/>
        <p:cNvGrpSpPr/>
        <p:nvPr/>
      </p:nvGrpSpPr>
      <p:grpSpPr>
        <a:xfrm>
          <a:off x="0" y="0"/>
          <a:ext cx="0" cy="0"/>
          <a:chOff x="0" y="0"/>
          <a:chExt cx="0" cy="0"/>
        </a:xfrm>
      </p:grpSpPr>
      <p:sp>
        <p:nvSpPr>
          <p:cNvPr id="104" name="Image"/>
          <p:cNvSpPr>
            <a:spLocks noGrp="1"/>
          </p:cNvSpPr>
          <p:nvPr>
            <p:ph type="pic" sz="half" idx="13"/>
          </p:nvPr>
        </p:nvSpPr>
        <p:spPr>
          <a:xfrm>
            <a:off x="647700" y="2044700"/>
            <a:ext cx="5346700" cy="6959600"/>
          </a:xfrm>
          <a:prstGeom prst="rect">
            <a:avLst/>
          </a:prstGeom>
          <a:ln w="25400">
            <a:solidFill>
              <a:srgbClr val="FFFFFF"/>
            </a:solidFill>
          </a:ln>
        </p:spPr>
        <p:txBody>
          <a:bodyPr lIns="91439" tIns="45719" rIns="91439" bIns="45719" anchor="t"/>
          <a:lstStyle>
            <a:lvl1pPr>
              <a:defRPr>
                <a:solidFill>
                  <a:schemeClr val="bg2">
                    <a:lumMod val="10000"/>
                  </a:schemeClr>
                </a:solidFill>
              </a:defRPr>
            </a:lvl1pPr>
          </a:lstStyle>
          <a:p>
            <a:endParaRPr/>
          </a:p>
        </p:txBody>
      </p:sp>
      <p:sp>
        <p:nvSpPr>
          <p:cNvPr id="105" name="Title Text"/>
          <p:cNvSpPr txBox="1">
            <a:spLocks noGrp="1"/>
          </p:cNvSpPr>
          <p:nvPr>
            <p:ph type="title"/>
          </p:nvPr>
        </p:nvSpPr>
        <p:spPr>
          <a:xfrm>
            <a:off x="1270000" y="254000"/>
            <a:ext cx="10464800" cy="1587500"/>
          </a:xfrm>
          <a:prstGeom prst="rect">
            <a:avLst/>
          </a:prstGeom>
        </p:spPr>
        <p:txBody>
          <a:bodyPr/>
          <a:lstStyle>
            <a:lvl1pPr>
              <a:defRPr>
                <a:solidFill>
                  <a:schemeClr val="bg2">
                    <a:lumMod val="10000"/>
                  </a:schemeClr>
                </a:solidFill>
              </a:defRPr>
            </a:lvl1pPr>
          </a:lstStyle>
          <a:p>
            <a:r>
              <a:t>Title Text</a:t>
            </a:r>
          </a:p>
        </p:txBody>
      </p:sp>
      <p:sp>
        <p:nvSpPr>
          <p:cNvPr id="106" name="Body Level One…"/>
          <p:cNvSpPr txBox="1">
            <a:spLocks noGrp="1"/>
          </p:cNvSpPr>
          <p:nvPr>
            <p:ph type="body" sz="half" idx="1"/>
          </p:nvPr>
        </p:nvSpPr>
        <p:spPr>
          <a:xfrm>
            <a:off x="6311900" y="2032000"/>
            <a:ext cx="6248400" cy="6985000"/>
          </a:xfrm>
          <a:prstGeom prst="rect">
            <a:avLst/>
          </a:prstGeom>
        </p:spPr>
        <p:txBody>
          <a:bodyPr/>
          <a:lstStyle>
            <a:lvl1pPr>
              <a:spcBef>
                <a:spcPts val="2600"/>
              </a:spcBef>
              <a:buSzPct val="171000"/>
              <a:defRPr sz="3200">
                <a:solidFill>
                  <a:schemeClr val="bg2">
                    <a:lumMod val="10000"/>
                  </a:schemeClr>
                </a:solidFill>
              </a:defRPr>
            </a:lvl1pPr>
            <a:lvl2pPr>
              <a:spcBef>
                <a:spcPts val="1800"/>
              </a:spcBef>
              <a:buSzPct val="171000"/>
              <a:defRPr sz="3200">
                <a:solidFill>
                  <a:schemeClr val="bg2">
                    <a:lumMod val="10000"/>
                  </a:schemeClr>
                </a:solidFill>
              </a:defRPr>
            </a:lvl2pPr>
            <a:lvl3pPr>
              <a:buSzPct val="171000"/>
              <a:defRPr sz="3200">
                <a:solidFill>
                  <a:schemeClr val="bg2">
                    <a:lumMod val="10000"/>
                  </a:schemeClr>
                </a:solidFill>
              </a:defRPr>
            </a:lvl3pPr>
            <a:lvl4pPr>
              <a:buSzPct val="171000"/>
              <a:defRPr sz="3200">
                <a:solidFill>
                  <a:schemeClr val="bg2">
                    <a:lumMod val="10000"/>
                  </a:schemeClr>
                </a:solidFill>
              </a:defRPr>
            </a:lvl4pPr>
            <a:lvl5pPr>
              <a:buSzPct val="171000"/>
              <a:defRPr sz="3200">
                <a:solidFill>
                  <a:schemeClr val="bg2">
                    <a:lumMod val="10000"/>
                  </a:schemeClr>
                </a:solidFill>
              </a:defRPr>
            </a:lvl5pPr>
          </a:lstStyle>
          <a:p>
            <a:r>
              <a:t>Body Level One</a:t>
            </a:r>
          </a:p>
          <a:p>
            <a:pPr lvl="1"/>
            <a:r>
              <a:t>Body Level Two</a:t>
            </a:r>
          </a:p>
          <a:p>
            <a:pPr lvl="2"/>
            <a:r>
              <a:t>Body Level Three</a:t>
            </a:r>
          </a:p>
          <a:p>
            <a:pPr lvl="3"/>
            <a:r>
              <a:t>Body Level Four</a:t>
            </a:r>
          </a:p>
          <a:p>
            <a:pPr lvl="4"/>
            <a:r>
              <a:t>Body Level Five</a:t>
            </a:r>
          </a:p>
        </p:txBody>
      </p:sp>
      <p:sp>
        <p:nvSpPr>
          <p:cNvPr id="107" name="Slide Number"/>
          <p:cNvSpPr txBox="1">
            <a:spLocks noGrp="1"/>
          </p:cNvSpPr>
          <p:nvPr>
            <p:ph type="sldNum" sz="quarter" idx="2"/>
          </p:nvPr>
        </p:nvSpPr>
        <p:spPr>
          <a:xfrm>
            <a:off x="6324600" y="9258300"/>
            <a:ext cx="342900" cy="368300"/>
          </a:xfrm>
          <a:prstGeom prst="rect">
            <a:avLst/>
          </a:prstGeom>
        </p:spPr>
        <p:txBody>
          <a:bodyPr/>
          <a:lstStyle/>
          <a:p>
            <a:fld id="{86CB4B4D-7CA3-9044-876B-883B54F8677D}" type="slidenum">
              <a:t>‹#›</a:t>
            </a:fld>
            <a:endParaRPr/>
          </a:p>
        </p:txBody>
      </p:sp>
    </p:spTree>
  </p:cSld>
  <p:clrMapOvr>
    <a:overrideClrMapping bg1="lt1" tx1="dk1" bg2="lt2" tx2="dk2" accent1="accent1" accent2="accent2" accent3="accent3" accent4="accent4" accent5="accent5" accent6="accent6" hlink="hlink" folHlink="folHlink"/>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Image Left: Build">
    <p:spTree>
      <p:nvGrpSpPr>
        <p:cNvPr id="1" name=""/>
        <p:cNvGrpSpPr/>
        <p:nvPr/>
      </p:nvGrpSpPr>
      <p:grpSpPr>
        <a:xfrm>
          <a:off x="0" y="0"/>
          <a:ext cx="0" cy="0"/>
          <a:chOff x="0" y="0"/>
          <a:chExt cx="0" cy="0"/>
        </a:xfrm>
      </p:grpSpPr>
      <p:grpSp>
        <p:nvGrpSpPr>
          <p:cNvPr id="117" name="Group"/>
          <p:cNvGrpSpPr/>
          <p:nvPr/>
        </p:nvGrpSpPr>
        <p:grpSpPr>
          <a:xfrm>
            <a:off x="12420600" y="25400"/>
            <a:ext cx="571500" cy="1333500"/>
            <a:chOff x="0" y="0"/>
            <a:chExt cx="571500" cy="1333500"/>
          </a:xfrm>
        </p:grpSpPr>
        <p:sp>
          <p:nvSpPr>
            <p:cNvPr id="114" name="Shape"/>
            <p:cNvSpPr/>
            <p:nvPr/>
          </p:nvSpPr>
          <p:spPr>
            <a:xfrm>
              <a:off x="0" y="0"/>
              <a:ext cx="571500" cy="571500"/>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gradFill flip="none" rotWithShape="1">
              <a:gsLst>
                <a:gs pos="0">
                  <a:srgbClr val="0066C1"/>
                </a:gs>
                <a:gs pos="100000">
                  <a:srgbClr val="094593"/>
                </a:gs>
              </a:gsLst>
              <a:lin ang="5400000" scaled="0"/>
            </a:gradFill>
            <a:ln w="12700" cap="flat">
              <a:noFill/>
              <a:miter lim="400000"/>
            </a:ln>
            <a:effectLst>
              <a:outerShdw blurRad="76200" dir="18900000" rotWithShape="0">
                <a:srgbClr val="000000">
                  <a:alpha val="80000"/>
                </a:srgbClr>
              </a:outerShdw>
            </a:effectLst>
          </p:spPr>
          <p:txBody>
            <a:bodyPr wrap="square" lIns="50800" tIns="50800" rIns="50800" bIns="50800" numCol="1" anchor="ctr">
              <a:noAutofit/>
            </a:bodyPr>
            <a:lstStyle/>
            <a:p>
              <a:pPr defTabSz="800100">
                <a:defRPr sz="2400">
                  <a:effectLst>
                    <a:outerShdw blurRad="25400" dist="23998" dir="2700000" rotWithShape="0">
                      <a:srgbClr val="000000">
                        <a:alpha val="31034"/>
                      </a:srgbClr>
                    </a:outerShdw>
                  </a:effectLst>
                </a:defRPr>
              </a:pPr>
              <a:endParaRPr/>
            </a:p>
          </p:txBody>
        </p:sp>
        <p:sp>
          <p:nvSpPr>
            <p:cNvPr id="115" name="Shape"/>
            <p:cNvSpPr/>
            <p:nvPr/>
          </p:nvSpPr>
          <p:spPr>
            <a:xfrm>
              <a:off x="0" y="381000"/>
              <a:ext cx="571500" cy="571500"/>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gradFill flip="none" rotWithShape="1">
              <a:gsLst>
                <a:gs pos="0">
                  <a:srgbClr val="0066C1"/>
                </a:gs>
                <a:gs pos="100000">
                  <a:srgbClr val="094593"/>
                </a:gs>
              </a:gsLst>
              <a:lin ang="5400000" scaled="0"/>
            </a:gradFill>
            <a:ln w="12700" cap="flat">
              <a:noFill/>
              <a:miter lim="400000"/>
            </a:ln>
            <a:effectLst>
              <a:outerShdw blurRad="76200" dir="18900000" rotWithShape="0">
                <a:srgbClr val="000000">
                  <a:alpha val="80000"/>
                </a:srgbClr>
              </a:outerShdw>
            </a:effectLst>
          </p:spPr>
          <p:txBody>
            <a:bodyPr wrap="square" lIns="50800" tIns="50800" rIns="50800" bIns="50800" numCol="1" anchor="ctr">
              <a:noAutofit/>
            </a:bodyPr>
            <a:lstStyle/>
            <a:p>
              <a:pPr defTabSz="800100">
                <a:defRPr sz="2400">
                  <a:effectLst>
                    <a:outerShdw blurRad="25400" dist="23998" dir="2700000" rotWithShape="0">
                      <a:srgbClr val="000000">
                        <a:alpha val="31034"/>
                      </a:srgbClr>
                    </a:outerShdw>
                  </a:effectLst>
                </a:defRPr>
              </a:pPr>
              <a:endParaRPr/>
            </a:p>
          </p:txBody>
        </p:sp>
        <p:sp>
          <p:nvSpPr>
            <p:cNvPr id="116" name="Shape"/>
            <p:cNvSpPr/>
            <p:nvPr/>
          </p:nvSpPr>
          <p:spPr>
            <a:xfrm>
              <a:off x="0" y="762000"/>
              <a:ext cx="571500" cy="571500"/>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gradFill flip="none" rotWithShape="1">
              <a:gsLst>
                <a:gs pos="0">
                  <a:srgbClr val="0066C1"/>
                </a:gs>
                <a:gs pos="100000">
                  <a:srgbClr val="094593"/>
                </a:gs>
              </a:gsLst>
              <a:lin ang="5400000" scaled="0"/>
            </a:gradFill>
            <a:ln w="12700" cap="flat">
              <a:noFill/>
              <a:miter lim="400000"/>
            </a:ln>
            <a:effectLst>
              <a:outerShdw blurRad="76200" dir="18900000" rotWithShape="0">
                <a:srgbClr val="000000">
                  <a:alpha val="80000"/>
                </a:srgbClr>
              </a:outerShdw>
            </a:effectLst>
          </p:spPr>
          <p:txBody>
            <a:bodyPr wrap="square" lIns="50800" tIns="50800" rIns="50800" bIns="50800" numCol="1" anchor="ctr">
              <a:noAutofit/>
            </a:bodyPr>
            <a:lstStyle/>
            <a:p>
              <a:pPr defTabSz="800100">
                <a:defRPr sz="2400">
                  <a:effectLst>
                    <a:outerShdw blurRad="25400" dist="23998" dir="2700000" rotWithShape="0">
                      <a:srgbClr val="000000">
                        <a:alpha val="31034"/>
                      </a:srgbClr>
                    </a:outerShdw>
                  </a:effectLst>
                </a:defRPr>
              </a:pPr>
              <a:endParaRPr/>
            </a:p>
          </p:txBody>
        </p:sp>
      </p:grpSp>
      <p:sp>
        <p:nvSpPr>
          <p:cNvPr id="118" name="Image"/>
          <p:cNvSpPr>
            <a:spLocks noGrp="1"/>
          </p:cNvSpPr>
          <p:nvPr>
            <p:ph type="pic" sz="half" idx="13"/>
          </p:nvPr>
        </p:nvSpPr>
        <p:spPr>
          <a:xfrm>
            <a:off x="647700" y="2044700"/>
            <a:ext cx="5346700" cy="6959600"/>
          </a:xfrm>
          <a:prstGeom prst="rect">
            <a:avLst/>
          </a:prstGeom>
          <a:ln w="25400">
            <a:solidFill>
              <a:srgbClr val="FFFFFF"/>
            </a:solidFill>
          </a:ln>
        </p:spPr>
        <p:txBody>
          <a:bodyPr lIns="91439" tIns="45719" rIns="91439" bIns="45719" anchor="t"/>
          <a:lstStyle>
            <a:lvl1pPr>
              <a:defRPr>
                <a:solidFill>
                  <a:schemeClr val="bg2">
                    <a:lumMod val="10000"/>
                  </a:schemeClr>
                </a:solidFill>
              </a:defRPr>
            </a:lvl1pPr>
          </a:lstStyle>
          <a:p>
            <a:endParaRPr/>
          </a:p>
        </p:txBody>
      </p:sp>
      <p:sp>
        <p:nvSpPr>
          <p:cNvPr id="119" name="Title Text"/>
          <p:cNvSpPr txBox="1">
            <a:spLocks noGrp="1"/>
          </p:cNvSpPr>
          <p:nvPr>
            <p:ph type="title"/>
          </p:nvPr>
        </p:nvSpPr>
        <p:spPr>
          <a:xfrm>
            <a:off x="1270000" y="254000"/>
            <a:ext cx="10464800" cy="1587500"/>
          </a:xfrm>
          <a:prstGeom prst="rect">
            <a:avLst/>
          </a:prstGeom>
        </p:spPr>
        <p:txBody>
          <a:bodyPr/>
          <a:lstStyle>
            <a:lvl1pPr>
              <a:defRPr>
                <a:solidFill>
                  <a:schemeClr val="bg2">
                    <a:lumMod val="10000"/>
                  </a:schemeClr>
                </a:solidFill>
              </a:defRPr>
            </a:lvl1pPr>
          </a:lstStyle>
          <a:p>
            <a:r>
              <a:t>Title Text</a:t>
            </a:r>
          </a:p>
        </p:txBody>
      </p:sp>
      <p:sp>
        <p:nvSpPr>
          <p:cNvPr id="120" name="Body Level One…"/>
          <p:cNvSpPr txBox="1">
            <a:spLocks noGrp="1"/>
          </p:cNvSpPr>
          <p:nvPr>
            <p:ph type="body" sz="half" idx="1"/>
          </p:nvPr>
        </p:nvSpPr>
        <p:spPr>
          <a:xfrm>
            <a:off x="6311900" y="2032000"/>
            <a:ext cx="6248400" cy="6985000"/>
          </a:xfrm>
          <a:prstGeom prst="rect">
            <a:avLst/>
          </a:prstGeom>
        </p:spPr>
        <p:txBody>
          <a:bodyPr/>
          <a:lstStyle>
            <a:lvl1pPr>
              <a:spcBef>
                <a:spcPts val="2600"/>
              </a:spcBef>
              <a:buSzPct val="171000"/>
              <a:defRPr sz="3200">
                <a:solidFill>
                  <a:schemeClr val="bg2">
                    <a:lumMod val="10000"/>
                  </a:schemeClr>
                </a:solidFill>
              </a:defRPr>
            </a:lvl1pPr>
            <a:lvl2pPr>
              <a:spcBef>
                <a:spcPts val="1800"/>
              </a:spcBef>
              <a:buSzPct val="171000"/>
              <a:defRPr sz="3200">
                <a:solidFill>
                  <a:schemeClr val="bg2">
                    <a:lumMod val="10000"/>
                  </a:schemeClr>
                </a:solidFill>
              </a:defRPr>
            </a:lvl2pPr>
            <a:lvl3pPr>
              <a:buSzPct val="171000"/>
              <a:defRPr sz="3200">
                <a:solidFill>
                  <a:schemeClr val="bg2">
                    <a:lumMod val="10000"/>
                  </a:schemeClr>
                </a:solidFill>
              </a:defRPr>
            </a:lvl3pPr>
            <a:lvl4pPr>
              <a:buSzPct val="171000"/>
              <a:defRPr sz="3200">
                <a:solidFill>
                  <a:schemeClr val="bg2">
                    <a:lumMod val="10000"/>
                  </a:schemeClr>
                </a:solidFill>
              </a:defRPr>
            </a:lvl4pPr>
            <a:lvl5pPr>
              <a:buSzPct val="171000"/>
              <a:defRPr sz="3200">
                <a:solidFill>
                  <a:schemeClr val="bg2">
                    <a:lumMod val="10000"/>
                  </a:schemeClr>
                </a:solidFill>
              </a:defRPr>
            </a:lvl5pPr>
          </a:lstStyle>
          <a:p>
            <a:r>
              <a:t>Body Level One</a:t>
            </a:r>
          </a:p>
          <a:p>
            <a:pPr lvl="1"/>
            <a:r>
              <a:t>Body Level Two</a:t>
            </a:r>
          </a:p>
          <a:p>
            <a:pPr lvl="2"/>
            <a:r>
              <a:t>Body Level Three</a:t>
            </a:r>
          </a:p>
          <a:p>
            <a:pPr lvl="3"/>
            <a:r>
              <a:t>Body Level Four</a:t>
            </a:r>
          </a:p>
          <a:p>
            <a:pPr lvl="4"/>
            <a:r>
              <a:t>Body Level Five</a:t>
            </a:r>
          </a:p>
        </p:txBody>
      </p:sp>
      <p:sp>
        <p:nvSpPr>
          <p:cNvPr id="121" name="Slide Number"/>
          <p:cNvSpPr txBox="1">
            <a:spLocks noGrp="1"/>
          </p:cNvSpPr>
          <p:nvPr>
            <p:ph type="sldNum" sz="quarter" idx="2"/>
          </p:nvPr>
        </p:nvSpPr>
        <p:spPr>
          <a:xfrm>
            <a:off x="6324600" y="9258300"/>
            <a:ext cx="342900" cy="368300"/>
          </a:xfrm>
          <a:prstGeom prst="rect">
            <a:avLst/>
          </a:prstGeom>
        </p:spPr>
        <p:txBody>
          <a:bodyPr/>
          <a:lstStyle/>
          <a:p>
            <a:fld id="{86CB4B4D-7CA3-9044-876B-883B54F8677D}" type="slidenum">
              <a:t>‹#›</a:t>
            </a:fld>
            <a:endParaRPr/>
          </a:p>
        </p:txBody>
      </p:sp>
    </p:spTree>
  </p:cSld>
  <p:clrMapOvr>
    <a:overrideClrMapping bg1="lt1" tx1="dk1" bg2="lt2" tx2="dk2" accent1="accent1" accent2="accent2" accent3="accent3" accent4="accent4" accent5="accent5" accent6="accent6" hlink="hlink" folHlink="folHlink"/>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Main: 2 columns">
    <p:spTree>
      <p:nvGrpSpPr>
        <p:cNvPr id="1" name=""/>
        <p:cNvGrpSpPr/>
        <p:nvPr/>
      </p:nvGrpSpPr>
      <p:grpSpPr>
        <a:xfrm>
          <a:off x="0" y="0"/>
          <a:ext cx="0" cy="0"/>
          <a:chOff x="0" y="0"/>
          <a:chExt cx="0" cy="0"/>
        </a:xfrm>
      </p:grpSpPr>
      <p:sp>
        <p:nvSpPr>
          <p:cNvPr id="128" name="Title Text"/>
          <p:cNvSpPr txBox="1">
            <a:spLocks noGrp="1"/>
          </p:cNvSpPr>
          <p:nvPr>
            <p:ph type="title"/>
          </p:nvPr>
        </p:nvSpPr>
        <p:spPr>
          <a:prstGeom prst="rect">
            <a:avLst/>
          </a:prstGeom>
        </p:spPr>
        <p:txBody>
          <a:bodyPr/>
          <a:lstStyle>
            <a:lvl1pPr>
              <a:defRPr>
                <a:solidFill>
                  <a:schemeClr val="bg2">
                    <a:lumMod val="10000"/>
                  </a:schemeClr>
                </a:solidFill>
              </a:defRPr>
            </a:lvl1pPr>
          </a:lstStyle>
          <a:p>
            <a:r>
              <a:t>Title Text</a:t>
            </a:r>
          </a:p>
        </p:txBody>
      </p:sp>
      <p:sp>
        <p:nvSpPr>
          <p:cNvPr id="129" name="Body Level One…"/>
          <p:cNvSpPr txBox="1">
            <a:spLocks noGrp="1"/>
          </p:cNvSpPr>
          <p:nvPr>
            <p:ph type="body" idx="1"/>
          </p:nvPr>
        </p:nvSpPr>
        <p:spPr>
          <a:xfrm>
            <a:off x="1270000" y="2413000"/>
            <a:ext cx="10464800" cy="6070600"/>
          </a:xfrm>
          <a:prstGeom prst="rect">
            <a:avLst/>
          </a:prstGeom>
        </p:spPr>
        <p:txBody>
          <a:bodyPr numCol="2" spcCol="523240" anchor="t"/>
          <a:lstStyle>
            <a:lvl1pPr>
              <a:spcBef>
                <a:spcPts val="2600"/>
              </a:spcBef>
              <a:buSzPct val="171000"/>
              <a:defRPr sz="3200">
                <a:solidFill>
                  <a:schemeClr val="bg2">
                    <a:lumMod val="10000"/>
                  </a:schemeClr>
                </a:solidFill>
              </a:defRPr>
            </a:lvl1pPr>
            <a:lvl2pPr>
              <a:spcBef>
                <a:spcPts val="1800"/>
              </a:spcBef>
              <a:buSzPct val="171000"/>
              <a:defRPr sz="3200">
                <a:solidFill>
                  <a:schemeClr val="bg2">
                    <a:lumMod val="10000"/>
                  </a:schemeClr>
                </a:solidFill>
              </a:defRPr>
            </a:lvl2pPr>
            <a:lvl3pPr>
              <a:buSzPct val="171000"/>
              <a:defRPr sz="3200">
                <a:solidFill>
                  <a:schemeClr val="bg2">
                    <a:lumMod val="10000"/>
                  </a:schemeClr>
                </a:solidFill>
              </a:defRPr>
            </a:lvl3pPr>
            <a:lvl4pPr>
              <a:buSzPct val="171000"/>
              <a:defRPr sz="3200">
                <a:solidFill>
                  <a:schemeClr val="bg2">
                    <a:lumMod val="10000"/>
                  </a:schemeClr>
                </a:solidFill>
              </a:defRPr>
            </a:lvl4pPr>
            <a:lvl5pPr>
              <a:buSzPct val="171000"/>
              <a:defRPr sz="3200">
                <a:solidFill>
                  <a:schemeClr val="bg2">
                    <a:lumMod val="10000"/>
                  </a:schemeClr>
                </a:solidFill>
              </a:defRPr>
            </a:lvl5pPr>
          </a:lstStyle>
          <a:p>
            <a:r>
              <a:t>Body Level One</a:t>
            </a:r>
          </a:p>
          <a:p>
            <a:pPr lvl="1"/>
            <a:r>
              <a:t>Body Level Two</a:t>
            </a:r>
          </a:p>
          <a:p>
            <a:pPr lvl="2"/>
            <a:r>
              <a:t>Body Level Three</a:t>
            </a:r>
          </a:p>
          <a:p>
            <a:pPr lvl="3"/>
            <a:r>
              <a:t>Body Level Four</a:t>
            </a:r>
          </a:p>
          <a:p>
            <a:pPr lvl="4"/>
            <a:r>
              <a:t>Body Level Five</a:t>
            </a:r>
          </a:p>
        </p:txBody>
      </p:sp>
      <p:sp>
        <p:nvSpPr>
          <p:cNvPr id="130" name="Slide Number"/>
          <p:cNvSpPr txBox="1">
            <a:spLocks noGrp="1"/>
          </p:cNvSpPr>
          <p:nvPr>
            <p:ph type="sldNum" sz="quarter" idx="2"/>
          </p:nvPr>
        </p:nvSpPr>
        <p:spPr>
          <a:xfrm>
            <a:off x="6324600" y="9258300"/>
            <a:ext cx="342900" cy="368300"/>
          </a:xfrm>
          <a:prstGeom prst="rect">
            <a:avLst/>
          </a:prstGeom>
        </p:spPr>
        <p:txBody>
          <a:bodyPr/>
          <a:lstStyle/>
          <a:p>
            <a:fld id="{86CB4B4D-7CA3-9044-876B-883B54F8677D}" type="slidenum">
              <a:t>‹#›</a:t>
            </a:fld>
            <a:endParaRPr/>
          </a:p>
        </p:txBody>
      </p:sp>
    </p:spTree>
  </p:cSld>
  <p:clrMapOvr>
    <a:overrideClrMapping bg1="lt1" tx1="dk1" bg2="lt2" tx2="dk2" accent1="accent1" accent2="accent2" accent3="accent3" accent4="accent4" accent5="accent5" accent6="accent6" hlink="hlink" folHlink="folHlink"/>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Photo - Horizontal Reflection">
    <p:spTree>
      <p:nvGrpSpPr>
        <p:cNvPr id="1" name=""/>
        <p:cNvGrpSpPr/>
        <p:nvPr/>
      </p:nvGrpSpPr>
      <p:grpSpPr>
        <a:xfrm>
          <a:off x="0" y="0"/>
          <a:ext cx="0" cy="0"/>
          <a:chOff x="0" y="0"/>
          <a:chExt cx="0" cy="0"/>
        </a:xfrm>
      </p:grpSpPr>
      <p:sp>
        <p:nvSpPr>
          <p:cNvPr id="145" name="Image"/>
          <p:cNvSpPr>
            <a:spLocks noGrp="1"/>
          </p:cNvSpPr>
          <p:nvPr>
            <p:ph type="pic" sz="half" idx="13"/>
          </p:nvPr>
        </p:nvSpPr>
        <p:spPr>
          <a:xfrm>
            <a:off x="3454400" y="2222500"/>
            <a:ext cx="6096000" cy="4572000"/>
          </a:xfrm>
          <a:prstGeom prst="rect">
            <a:avLst/>
          </a:prstGeom>
          <a:ln w="25400">
            <a:solidFill>
              <a:srgbClr val="FFFFFF"/>
            </a:solidFill>
          </a:ln>
          <a:effectLst>
            <a:reflection stA="50000" endPos="40000" dir="5400000" sy="-100000" algn="bl" rotWithShape="0"/>
          </a:effectLst>
        </p:spPr>
        <p:txBody>
          <a:bodyPr lIns="91439" tIns="45719" rIns="91439" bIns="45719" anchor="t"/>
          <a:lstStyle>
            <a:lvl1pPr>
              <a:defRPr>
                <a:solidFill>
                  <a:schemeClr val="bg2">
                    <a:lumMod val="10000"/>
                  </a:schemeClr>
                </a:solidFill>
              </a:defRPr>
            </a:lvl1pPr>
          </a:lstStyle>
          <a:p>
            <a:pPr marL="444500" marR="0" indent="-444500" algn="l" defTabSz="584200" rtl="0" latinLnBrk="0">
              <a:lnSpc>
                <a:spcPct val="100000"/>
              </a:lnSpc>
              <a:spcBef>
                <a:spcPts val="2400"/>
              </a:spcBef>
              <a:spcAft>
                <a:spcPts val="0"/>
              </a:spcAft>
              <a:buClrTx/>
              <a:buSzPct val="150000"/>
              <a:buFontTx/>
              <a:buChar char="•"/>
              <a:tabLst/>
            </a:pPr>
            <a:endParaRPr/>
          </a:p>
        </p:txBody>
      </p:sp>
      <p:sp>
        <p:nvSpPr>
          <p:cNvPr id="146" name="Title Text"/>
          <p:cNvSpPr txBox="1">
            <a:spLocks noGrp="1"/>
          </p:cNvSpPr>
          <p:nvPr>
            <p:ph type="title"/>
          </p:nvPr>
        </p:nvSpPr>
        <p:spPr>
          <a:xfrm>
            <a:off x="1270000" y="7366000"/>
            <a:ext cx="10464800" cy="1701800"/>
          </a:xfrm>
          <a:prstGeom prst="rect">
            <a:avLst/>
          </a:prstGeom>
        </p:spPr>
        <p:txBody>
          <a:bodyPr/>
          <a:lstStyle>
            <a:lvl1pPr>
              <a:defRPr>
                <a:solidFill>
                  <a:schemeClr val="bg2">
                    <a:lumMod val="10000"/>
                  </a:schemeClr>
                </a:solidFill>
              </a:defRPr>
            </a:lvl1pPr>
          </a:lstStyle>
          <a:p>
            <a:r>
              <a:t>Title Text</a:t>
            </a:r>
          </a:p>
        </p:txBody>
      </p:sp>
      <p:sp>
        <p:nvSpPr>
          <p:cNvPr id="147" name="Slide Number"/>
          <p:cNvSpPr txBox="1">
            <a:spLocks noGrp="1"/>
          </p:cNvSpPr>
          <p:nvPr>
            <p:ph type="sldNum" sz="quarter" idx="2"/>
          </p:nvPr>
        </p:nvSpPr>
        <p:spPr>
          <a:xfrm>
            <a:off x="6324600" y="9258300"/>
            <a:ext cx="342900" cy="368300"/>
          </a:xfrm>
          <a:prstGeom prst="rect">
            <a:avLst/>
          </a:prstGeom>
        </p:spPr>
        <p:txBody>
          <a:bodyPr/>
          <a:lstStyle/>
          <a:p>
            <a:fld id="{86CB4B4D-7CA3-9044-876B-883B54F8677D}" type="slidenum">
              <a:t>‹#›</a:t>
            </a:fld>
            <a:endParaRPr/>
          </a:p>
        </p:txBody>
      </p:sp>
    </p:spTree>
  </p:cSld>
  <p:clrMapOvr>
    <a:overrideClrMapping bg1="lt1" tx1="dk1" bg2="lt2" tx2="dk2" accent1="accent1" accent2="accent2" accent3="accent3" accent4="accent4" accent5="accent5" accent6="accent6" hlink="hlink" folHlink="folHlink"/>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2" name="14-740: Fall 2017"/>
          <p:cNvSpPr txBox="1"/>
          <p:nvPr/>
        </p:nvSpPr>
        <p:spPr>
          <a:xfrm>
            <a:off x="173465" y="9271000"/>
            <a:ext cx="1676215" cy="368300"/>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b">
            <a:spAutoFit/>
          </a:bodyPr>
          <a:lstStyle>
            <a:lvl1pPr algn="l">
              <a:defRPr sz="1800"/>
            </a:lvl1pPr>
          </a:lstStyle>
          <a:p>
            <a:r>
              <a:t>14-740: Fall 2017</a:t>
            </a:r>
          </a:p>
        </p:txBody>
      </p:sp>
      <p:sp>
        <p:nvSpPr>
          <p:cNvPr id="3" name="Title Text"/>
          <p:cNvSpPr txBox="1">
            <a:spLocks noGrp="1"/>
          </p:cNvSpPr>
          <p:nvPr>
            <p:ph type="title"/>
          </p:nvPr>
        </p:nvSpPr>
        <p:spPr>
          <a:xfrm>
            <a:off x="1270000" y="254000"/>
            <a:ext cx="10464800" cy="19050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lstStyle/>
          <a:p>
            <a:r>
              <a:t>Title Text</a:t>
            </a:r>
          </a:p>
        </p:txBody>
      </p:sp>
      <p:sp>
        <p:nvSpPr>
          <p:cNvPr id="4" name="Body Level One…"/>
          <p:cNvSpPr txBox="1">
            <a:spLocks noGrp="1"/>
          </p:cNvSpPr>
          <p:nvPr>
            <p:ph type="body" idx="1"/>
          </p:nvPr>
        </p:nvSpPr>
        <p:spPr>
          <a:xfrm>
            <a:off x="1270000" y="2298700"/>
            <a:ext cx="10464800" cy="61849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lstStyle>
            <a:lvl2pPr>
              <a:spcBef>
                <a:spcPts val="1600"/>
              </a:spcBef>
            </a:lvl2pPr>
            <a:lvl3pPr>
              <a:spcBef>
                <a:spcPts val="1200"/>
              </a:spcBef>
            </a:lvl3pPr>
            <a:lvl4pPr>
              <a:spcBef>
                <a:spcPts val="1200"/>
              </a:spcBef>
            </a:lvl4pPr>
            <a:lvl5pPr>
              <a:spcBef>
                <a:spcPts val="1200"/>
              </a:spcBef>
            </a:lvl5p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2573000" y="9271000"/>
            <a:ext cx="342900" cy="368300"/>
          </a:xfrm>
          <a:prstGeom prst="rect">
            <a:avLst/>
          </a:prstGeom>
          <a:ln w="12700">
            <a:miter lim="400000"/>
          </a:ln>
        </p:spPr>
        <p:txBody>
          <a:bodyPr wrap="none" lIns="50800" tIns="50800" rIns="50800" bIns="50800">
            <a:spAutoFit/>
          </a:bodyPr>
          <a:lstStyle>
            <a:lvl1pPr>
              <a:defRPr sz="1800"/>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 id="2147483655" r:id="rId5"/>
    <p:sldLayoutId id="2147483656" r:id="rId6"/>
    <p:sldLayoutId id="2147483658" r:id="rId7"/>
    <p:sldLayoutId id="2147483659" r:id="rId8"/>
    <p:sldLayoutId id="2147483660" r:id="rId9"/>
    <p:sldLayoutId id="2147483662" r:id="rId10"/>
  </p:sldLayoutIdLst>
  <p:transition spd="med"/>
  <p:hf hdr="0" ftr="0" dt="0"/>
  <p:txStyles>
    <p:titleStyle>
      <a:lvl1pPr marL="0" marR="0" indent="0" algn="ctr" defTabSz="584200" rtl="0" latinLnBrk="0">
        <a:lnSpc>
          <a:spcPct val="100000"/>
        </a:lnSpc>
        <a:spcBef>
          <a:spcPts val="0"/>
        </a:spcBef>
        <a:spcAft>
          <a:spcPts val="0"/>
        </a:spcAft>
        <a:buClrTx/>
        <a:buSzTx/>
        <a:buFontTx/>
        <a:buNone/>
        <a:tabLst/>
        <a:defRPr sz="8400" b="0" i="0" u="none" strike="noStrike" cap="none" spc="0" baseline="0">
          <a:ln>
            <a:noFill/>
          </a:ln>
          <a:solidFill>
            <a:srgbClr val="FFFFFF"/>
          </a:solidFill>
          <a:uFillTx/>
          <a:latin typeface="+mn-lt"/>
          <a:ea typeface="+mn-ea"/>
          <a:cs typeface="+mn-cs"/>
          <a:sym typeface="Helvetica Neue"/>
        </a:defRPr>
      </a:lvl1pPr>
      <a:lvl2pPr marL="0" marR="0" indent="228600" algn="ctr" defTabSz="584200" rtl="0" latinLnBrk="0">
        <a:lnSpc>
          <a:spcPct val="100000"/>
        </a:lnSpc>
        <a:spcBef>
          <a:spcPts val="0"/>
        </a:spcBef>
        <a:spcAft>
          <a:spcPts val="0"/>
        </a:spcAft>
        <a:buClrTx/>
        <a:buSzTx/>
        <a:buFontTx/>
        <a:buNone/>
        <a:tabLst/>
        <a:defRPr sz="8400" b="0" i="0" u="none" strike="noStrike" cap="none" spc="0" baseline="0">
          <a:ln>
            <a:noFill/>
          </a:ln>
          <a:solidFill>
            <a:srgbClr val="FFFFFF"/>
          </a:solidFill>
          <a:uFillTx/>
          <a:latin typeface="+mn-lt"/>
          <a:ea typeface="+mn-ea"/>
          <a:cs typeface="+mn-cs"/>
          <a:sym typeface="Helvetica Neue"/>
        </a:defRPr>
      </a:lvl2pPr>
      <a:lvl3pPr marL="0" marR="0" indent="457200" algn="ctr" defTabSz="584200" rtl="0" latinLnBrk="0">
        <a:lnSpc>
          <a:spcPct val="100000"/>
        </a:lnSpc>
        <a:spcBef>
          <a:spcPts val="0"/>
        </a:spcBef>
        <a:spcAft>
          <a:spcPts val="0"/>
        </a:spcAft>
        <a:buClrTx/>
        <a:buSzTx/>
        <a:buFontTx/>
        <a:buNone/>
        <a:tabLst/>
        <a:defRPr sz="8400" b="0" i="0" u="none" strike="noStrike" cap="none" spc="0" baseline="0">
          <a:ln>
            <a:noFill/>
          </a:ln>
          <a:solidFill>
            <a:srgbClr val="FFFFFF"/>
          </a:solidFill>
          <a:uFillTx/>
          <a:latin typeface="+mn-lt"/>
          <a:ea typeface="+mn-ea"/>
          <a:cs typeface="+mn-cs"/>
          <a:sym typeface="Helvetica Neue"/>
        </a:defRPr>
      </a:lvl3pPr>
      <a:lvl4pPr marL="0" marR="0" indent="685800" algn="ctr" defTabSz="584200" rtl="0" latinLnBrk="0">
        <a:lnSpc>
          <a:spcPct val="100000"/>
        </a:lnSpc>
        <a:spcBef>
          <a:spcPts val="0"/>
        </a:spcBef>
        <a:spcAft>
          <a:spcPts val="0"/>
        </a:spcAft>
        <a:buClrTx/>
        <a:buSzTx/>
        <a:buFontTx/>
        <a:buNone/>
        <a:tabLst/>
        <a:defRPr sz="8400" b="0" i="0" u="none" strike="noStrike" cap="none" spc="0" baseline="0">
          <a:ln>
            <a:noFill/>
          </a:ln>
          <a:solidFill>
            <a:srgbClr val="FFFFFF"/>
          </a:solidFill>
          <a:uFillTx/>
          <a:latin typeface="+mn-lt"/>
          <a:ea typeface="+mn-ea"/>
          <a:cs typeface="+mn-cs"/>
          <a:sym typeface="Helvetica Neue"/>
        </a:defRPr>
      </a:lvl4pPr>
      <a:lvl5pPr marL="0" marR="0" indent="914400" algn="ctr" defTabSz="584200" rtl="0" latinLnBrk="0">
        <a:lnSpc>
          <a:spcPct val="100000"/>
        </a:lnSpc>
        <a:spcBef>
          <a:spcPts val="0"/>
        </a:spcBef>
        <a:spcAft>
          <a:spcPts val="0"/>
        </a:spcAft>
        <a:buClrTx/>
        <a:buSzTx/>
        <a:buFontTx/>
        <a:buNone/>
        <a:tabLst/>
        <a:defRPr sz="8400" b="0" i="0" u="none" strike="noStrike" cap="none" spc="0" baseline="0">
          <a:ln>
            <a:noFill/>
          </a:ln>
          <a:solidFill>
            <a:srgbClr val="FFFFFF"/>
          </a:solidFill>
          <a:uFillTx/>
          <a:latin typeface="+mn-lt"/>
          <a:ea typeface="+mn-ea"/>
          <a:cs typeface="+mn-cs"/>
          <a:sym typeface="Helvetica Neue"/>
        </a:defRPr>
      </a:lvl5pPr>
      <a:lvl6pPr marL="0" marR="0" indent="1143000" algn="ctr" defTabSz="584200" rtl="0" latinLnBrk="0">
        <a:lnSpc>
          <a:spcPct val="100000"/>
        </a:lnSpc>
        <a:spcBef>
          <a:spcPts val="0"/>
        </a:spcBef>
        <a:spcAft>
          <a:spcPts val="0"/>
        </a:spcAft>
        <a:buClrTx/>
        <a:buSzTx/>
        <a:buFontTx/>
        <a:buNone/>
        <a:tabLst/>
        <a:defRPr sz="8400" b="0" i="0" u="none" strike="noStrike" cap="none" spc="0" baseline="0">
          <a:ln>
            <a:noFill/>
          </a:ln>
          <a:solidFill>
            <a:srgbClr val="FFFFFF"/>
          </a:solidFill>
          <a:uFillTx/>
          <a:latin typeface="+mn-lt"/>
          <a:ea typeface="+mn-ea"/>
          <a:cs typeface="+mn-cs"/>
          <a:sym typeface="Helvetica Neue"/>
        </a:defRPr>
      </a:lvl6pPr>
      <a:lvl7pPr marL="0" marR="0" indent="1371600" algn="ctr" defTabSz="584200" rtl="0" latinLnBrk="0">
        <a:lnSpc>
          <a:spcPct val="100000"/>
        </a:lnSpc>
        <a:spcBef>
          <a:spcPts val="0"/>
        </a:spcBef>
        <a:spcAft>
          <a:spcPts val="0"/>
        </a:spcAft>
        <a:buClrTx/>
        <a:buSzTx/>
        <a:buFontTx/>
        <a:buNone/>
        <a:tabLst/>
        <a:defRPr sz="8400" b="0" i="0" u="none" strike="noStrike" cap="none" spc="0" baseline="0">
          <a:ln>
            <a:noFill/>
          </a:ln>
          <a:solidFill>
            <a:srgbClr val="FFFFFF"/>
          </a:solidFill>
          <a:uFillTx/>
          <a:latin typeface="+mn-lt"/>
          <a:ea typeface="+mn-ea"/>
          <a:cs typeface="+mn-cs"/>
          <a:sym typeface="Helvetica Neue"/>
        </a:defRPr>
      </a:lvl7pPr>
      <a:lvl8pPr marL="0" marR="0" indent="1600200" algn="ctr" defTabSz="584200" rtl="0" latinLnBrk="0">
        <a:lnSpc>
          <a:spcPct val="100000"/>
        </a:lnSpc>
        <a:spcBef>
          <a:spcPts val="0"/>
        </a:spcBef>
        <a:spcAft>
          <a:spcPts val="0"/>
        </a:spcAft>
        <a:buClrTx/>
        <a:buSzTx/>
        <a:buFontTx/>
        <a:buNone/>
        <a:tabLst/>
        <a:defRPr sz="8400" b="0" i="0" u="none" strike="noStrike" cap="none" spc="0" baseline="0">
          <a:ln>
            <a:noFill/>
          </a:ln>
          <a:solidFill>
            <a:srgbClr val="FFFFFF"/>
          </a:solidFill>
          <a:uFillTx/>
          <a:latin typeface="+mn-lt"/>
          <a:ea typeface="+mn-ea"/>
          <a:cs typeface="+mn-cs"/>
          <a:sym typeface="Helvetica Neue"/>
        </a:defRPr>
      </a:lvl8pPr>
      <a:lvl9pPr marL="0" marR="0" indent="1828800" algn="ctr" defTabSz="584200" rtl="0" latinLnBrk="0">
        <a:lnSpc>
          <a:spcPct val="100000"/>
        </a:lnSpc>
        <a:spcBef>
          <a:spcPts val="0"/>
        </a:spcBef>
        <a:spcAft>
          <a:spcPts val="0"/>
        </a:spcAft>
        <a:buClrTx/>
        <a:buSzTx/>
        <a:buFontTx/>
        <a:buNone/>
        <a:tabLst/>
        <a:defRPr sz="8400" b="0" i="0" u="none" strike="noStrike" cap="none" spc="0" baseline="0">
          <a:ln>
            <a:noFill/>
          </a:ln>
          <a:solidFill>
            <a:srgbClr val="FFFFFF"/>
          </a:solidFill>
          <a:uFillTx/>
          <a:latin typeface="+mn-lt"/>
          <a:ea typeface="+mn-ea"/>
          <a:cs typeface="+mn-cs"/>
          <a:sym typeface="Helvetica Neue"/>
        </a:defRPr>
      </a:lvl9pPr>
    </p:titleStyle>
    <p:bodyStyle>
      <a:lvl1pPr marL="444500" marR="0" indent="-444500" algn="l" defTabSz="584200" latinLnBrk="0">
        <a:lnSpc>
          <a:spcPct val="100000"/>
        </a:lnSpc>
        <a:spcBef>
          <a:spcPts val="2400"/>
        </a:spcBef>
        <a:spcAft>
          <a:spcPts val="0"/>
        </a:spcAft>
        <a:buClrTx/>
        <a:buSzPct val="150000"/>
        <a:buFontTx/>
        <a:buChar char="•"/>
        <a:tabLst/>
        <a:defRPr sz="4200" b="0" i="0" u="none" strike="noStrike" cap="none" spc="0" baseline="0">
          <a:ln>
            <a:noFill/>
          </a:ln>
          <a:solidFill>
            <a:srgbClr val="FFFFFF"/>
          </a:solidFill>
          <a:uFillTx/>
          <a:latin typeface="+mn-lt"/>
          <a:ea typeface="+mn-ea"/>
          <a:cs typeface="+mn-cs"/>
          <a:sym typeface="Helvetica Neue"/>
        </a:defRPr>
      </a:lvl1pPr>
      <a:lvl2pPr marL="762000" marR="0" indent="-444500" algn="l" defTabSz="584200" latinLnBrk="0">
        <a:lnSpc>
          <a:spcPct val="100000"/>
        </a:lnSpc>
        <a:spcBef>
          <a:spcPts val="2400"/>
        </a:spcBef>
        <a:spcAft>
          <a:spcPts val="0"/>
        </a:spcAft>
        <a:buClrTx/>
        <a:buSzPct val="150000"/>
        <a:buFontTx/>
        <a:buChar char="•"/>
        <a:tabLst/>
        <a:defRPr sz="4200" b="0" i="0" u="none" strike="noStrike" cap="none" spc="0" baseline="0">
          <a:ln>
            <a:noFill/>
          </a:ln>
          <a:solidFill>
            <a:srgbClr val="FFFFFF"/>
          </a:solidFill>
          <a:uFillTx/>
          <a:latin typeface="+mn-lt"/>
          <a:ea typeface="+mn-ea"/>
          <a:cs typeface="+mn-cs"/>
          <a:sym typeface="Helvetica Neue"/>
        </a:defRPr>
      </a:lvl2pPr>
      <a:lvl3pPr marL="1079500" marR="0" indent="-444500" algn="l" defTabSz="584200" latinLnBrk="0">
        <a:lnSpc>
          <a:spcPct val="100000"/>
        </a:lnSpc>
        <a:spcBef>
          <a:spcPts val="2400"/>
        </a:spcBef>
        <a:spcAft>
          <a:spcPts val="0"/>
        </a:spcAft>
        <a:buClrTx/>
        <a:buSzPct val="150000"/>
        <a:buFontTx/>
        <a:buChar char="•"/>
        <a:tabLst/>
        <a:defRPr sz="4200" b="0" i="0" u="none" strike="noStrike" cap="none" spc="0" baseline="0">
          <a:ln>
            <a:noFill/>
          </a:ln>
          <a:solidFill>
            <a:srgbClr val="FFFFFF"/>
          </a:solidFill>
          <a:uFillTx/>
          <a:latin typeface="+mn-lt"/>
          <a:ea typeface="+mn-ea"/>
          <a:cs typeface="+mn-cs"/>
          <a:sym typeface="Helvetica Neue"/>
        </a:defRPr>
      </a:lvl3pPr>
      <a:lvl4pPr marL="1397000" marR="0" indent="-444500" algn="l" defTabSz="584200" latinLnBrk="0">
        <a:lnSpc>
          <a:spcPct val="100000"/>
        </a:lnSpc>
        <a:spcBef>
          <a:spcPts val="2400"/>
        </a:spcBef>
        <a:spcAft>
          <a:spcPts val="0"/>
        </a:spcAft>
        <a:buClrTx/>
        <a:buSzPct val="150000"/>
        <a:buFontTx/>
        <a:buChar char="•"/>
        <a:tabLst/>
        <a:defRPr sz="4200" b="0" i="0" u="none" strike="noStrike" cap="none" spc="0" baseline="0">
          <a:ln>
            <a:noFill/>
          </a:ln>
          <a:solidFill>
            <a:srgbClr val="FFFFFF"/>
          </a:solidFill>
          <a:uFillTx/>
          <a:latin typeface="+mn-lt"/>
          <a:ea typeface="+mn-ea"/>
          <a:cs typeface="+mn-cs"/>
          <a:sym typeface="Helvetica Neue"/>
        </a:defRPr>
      </a:lvl4pPr>
      <a:lvl5pPr marL="1714500" marR="0" indent="-444500" algn="l" defTabSz="584200" latinLnBrk="0">
        <a:lnSpc>
          <a:spcPct val="100000"/>
        </a:lnSpc>
        <a:spcBef>
          <a:spcPts val="2400"/>
        </a:spcBef>
        <a:spcAft>
          <a:spcPts val="0"/>
        </a:spcAft>
        <a:buClrTx/>
        <a:buSzPct val="150000"/>
        <a:buFontTx/>
        <a:buChar char="•"/>
        <a:tabLst/>
        <a:defRPr sz="4200" b="0" i="0" u="none" strike="noStrike" cap="none" spc="0" baseline="0">
          <a:ln>
            <a:noFill/>
          </a:ln>
          <a:solidFill>
            <a:srgbClr val="FFFFFF"/>
          </a:solidFill>
          <a:uFillTx/>
          <a:latin typeface="+mn-lt"/>
          <a:ea typeface="+mn-ea"/>
          <a:cs typeface="+mn-cs"/>
          <a:sym typeface="Helvetica Neue"/>
        </a:defRPr>
      </a:lvl5pPr>
      <a:lvl6pPr marL="2032000" marR="0" indent="-444500" algn="l" defTabSz="584200" latinLnBrk="0">
        <a:lnSpc>
          <a:spcPct val="100000"/>
        </a:lnSpc>
        <a:spcBef>
          <a:spcPts val="2400"/>
        </a:spcBef>
        <a:spcAft>
          <a:spcPts val="0"/>
        </a:spcAft>
        <a:buClrTx/>
        <a:buSzPct val="150000"/>
        <a:buFontTx/>
        <a:buChar char="•"/>
        <a:tabLst/>
        <a:defRPr sz="4200" b="0" i="0" u="none" strike="noStrike" cap="none" spc="0" baseline="0">
          <a:ln>
            <a:noFill/>
          </a:ln>
          <a:solidFill>
            <a:srgbClr val="FFFFFF"/>
          </a:solidFill>
          <a:uFillTx/>
          <a:latin typeface="+mn-lt"/>
          <a:ea typeface="+mn-ea"/>
          <a:cs typeface="+mn-cs"/>
          <a:sym typeface="Helvetica Neue"/>
        </a:defRPr>
      </a:lvl6pPr>
      <a:lvl7pPr marL="2349500" marR="0" indent="-444500" algn="l" defTabSz="584200" latinLnBrk="0">
        <a:lnSpc>
          <a:spcPct val="100000"/>
        </a:lnSpc>
        <a:spcBef>
          <a:spcPts val="2400"/>
        </a:spcBef>
        <a:spcAft>
          <a:spcPts val="0"/>
        </a:spcAft>
        <a:buClrTx/>
        <a:buSzPct val="150000"/>
        <a:buFontTx/>
        <a:buChar char="•"/>
        <a:tabLst/>
        <a:defRPr sz="4200" b="0" i="0" u="none" strike="noStrike" cap="none" spc="0" baseline="0">
          <a:ln>
            <a:noFill/>
          </a:ln>
          <a:solidFill>
            <a:srgbClr val="FFFFFF"/>
          </a:solidFill>
          <a:uFillTx/>
          <a:latin typeface="+mn-lt"/>
          <a:ea typeface="+mn-ea"/>
          <a:cs typeface="+mn-cs"/>
          <a:sym typeface="Helvetica Neue"/>
        </a:defRPr>
      </a:lvl7pPr>
      <a:lvl8pPr marL="2667000" marR="0" indent="-444500" algn="l" defTabSz="584200" latinLnBrk="0">
        <a:lnSpc>
          <a:spcPct val="100000"/>
        </a:lnSpc>
        <a:spcBef>
          <a:spcPts val="2400"/>
        </a:spcBef>
        <a:spcAft>
          <a:spcPts val="0"/>
        </a:spcAft>
        <a:buClrTx/>
        <a:buSzPct val="150000"/>
        <a:buFontTx/>
        <a:buChar char="•"/>
        <a:tabLst/>
        <a:defRPr sz="4200" b="0" i="0" u="none" strike="noStrike" cap="none" spc="0" baseline="0">
          <a:ln>
            <a:noFill/>
          </a:ln>
          <a:solidFill>
            <a:srgbClr val="FFFFFF"/>
          </a:solidFill>
          <a:uFillTx/>
          <a:latin typeface="+mn-lt"/>
          <a:ea typeface="+mn-ea"/>
          <a:cs typeface="+mn-cs"/>
          <a:sym typeface="Helvetica Neue"/>
        </a:defRPr>
      </a:lvl8pPr>
      <a:lvl9pPr marL="2984500" marR="0" indent="-444500" algn="l" defTabSz="584200" latinLnBrk="0">
        <a:lnSpc>
          <a:spcPct val="100000"/>
        </a:lnSpc>
        <a:spcBef>
          <a:spcPts val="2400"/>
        </a:spcBef>
        <a:spcAft>
          <a:spcPts val="0"/>
        </a:spcAft>
        <a:buClrTx/>
        <a:buSzPct val="150000"/>
        <a:buFontTx/>
        <a:buChar char="•"/>
        <a:tabLst/>
        <a:defRPr sz="4200" b="0" i="0" u="none" strike="noStrike" cap="none" spc="0" baseline="0">
          <a:ln>
            <a:noFill/>
          </a:ln>
          <a:solidFill>
            <a:srgbClr val="FFFFFF"/>
          </a:solidFill>
          <a:uFillTx/>
          <a:latin typeface="+mn-lt"/>
          <a:ea typeface="+mn-ea"/>
          <a:cs typeface="+mn-cs"/>
          <a:sym typeface="Helvetica Neue"/>
        </a:defRPr>
      </a:lvl9pPr>
    </p:bodyStyle>
    <p:otherStyle>
      <a:lvl1pPr marL="0" marR="0" indent="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1pPr>
      <a:lvl2pPr marL="0" marR="0" indent="2286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2pPr>
      <a:lvl3pPr marL="0" marR="0" indent="4572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3pPr>
      <a:lvl4pPr marL="0" marR="0" indent="6858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4pPr>
      <a:lvl5pPr marL="0" marR="0" indent="9144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5pPr>
      <a:lvl6pPr marL="0" marR="0" indent="11430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6pPr>
      <a:lvl7pPr marL="0" marR="0" indent="13716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7pPr>
      <a:lvl8pPr marL="0" marR="0" indent="16002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8pPr>
      <a:lvl9pPr marL="0" marR="0" indent="18288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6" name="TCP"/>
          <p:cNvSpPr txBox="1">
            <a:spLocks noGrp="1"/>
          </p:cNvSpPr>
          <p:nvPr>
            <p:ph type="ctrTitle"/>
          </p:nvPr>
        </p:nvSpPr>
        <p:spPr>
          <a:xfrm>
            <a:off x="1270000" y="1828800"/>
            <a:ext cx="10464800" cy="4506772"/>
          </a:xfrm>
          <a:prstGeom prst="rect">
            <a:avLst/>
          </a:prstGeom>
        </p:spPr>
        <p:txBody>
          <a:bodyPr/>
          <a:lstStyle/>
          <a:p>
            <a:r>
              <a:rPr lang="en-US" sz="5400" b="1" dirty="0"/>
              <a:t>Chapter 1</a:t>
            </a:r>
            <a:br>
              <a:rPr lang="en-US" sz="4400" b="1" dirty="0"/>
            </a:br>
            <a:br>
              <a:rPr lang="en-US" dirty="0"/>
            </a:br>
            <a:r>
              <a:rPr sz="7200" b="1" i="1" dirty="0"/>
              <a:t>TCP</a:t>
            </a:r>
            <a:br>
              <a:rPr lang="en-US" sz="7200" b="1" i="1" dirty="0"/>
            </a:br>
            <a:r>
              <a:rPr lang="en-US" sz="7200" b="1" i="1" dirty="0"/>
              <a:t>Congestion Control</a:t>
            </a:r>
            <a:endParaRPr b="1" i="1" dirty="0"/>
          </a:p>
        </p:txBody>
      </p:sp>
      <p:pic>
        <p:nvPicPr>
          <p:cNvPr id="2" name="Picture 2" descr="Lebanese University - Crunchbase School Profile &amp; Alumni">
            <a:extLst>
              <a:ext uri="{FF2B5EF4-FFF2-40B4-BE49-F238E27FC236}">
                <a16:creationId xmlns:a16="http://schemas.microsoft.com/office/drawing/2014/main" id="{C2E165EB-5F28-6D85-9D07-3741FC1632E4}"/>
              </a:ext>
            </a:extLst>
          </p:cNvPr>
          <p:cNvPicPr>
            <a:picLocks noChangeAspect="1" noChangeArrowheads="1"/>
          </p:cNvPicPr>
          <p:nvPr/>
        </p:nvPicPr>
        <p:blipFill>
          <a:blip r:embed="rId2" cstate="print">
            <a:alphaModFix amt="85000"/>
          </a:blip>
          <a:srcRect/>
          <a:stretch>
            <a:fillRect/>
          </a:stretch>
        </p:blipFill>
        <p:spPr bwMode="auto">
          <a:xfrm>
            <a:off x="152400" y="289070"/>
            <a:ext cx="3546764" cy="3546764"/>
          </a:xfrm>
          <a:prstGeom prst="ellipse">
            <a:avLst/>
          </a:prstGeom>
          <a:ln>
            <a:noFill/>
          </a:ln>
          <a:effectLst>
            <a:softEdge rad="112500"/>
          </a:effectLst>
        </p:spPr>
      </p:pic>
      <p:pic>
        <p:nvPicPr>
          <p:cNvPr id="3" name="Picture 4" descr="Lebanese University">
            <a:extLst>
              <a:ext uri="{FF2B5EF4-FFF2-40B4-BE49-F238E27FC236}">
                <a16:creationId xmlns:a16="http://schemas.microsoft.com/office/drawing/2014/main" id="{D3987DDC-AE40-AEE6-4516-9F9B2BC33281}"/>
              </a:ext>
            </a:extLst>
          </p:cNvPr>
          <p:cNvPicPr>
            <a:picLocks noChangeAspect="1" noChangeArrowheads="1"/>
          </p:cNvPicPr>
          <p:nvPr/>
        </p:nvPicPr>
        <p:blipFill>
          <a:blip r:embed="rId3" cstate="print">
            <a:alphaModFix amt="85000"/>
          </a:blip>
          <a:srcRect/>
          <a:stretch>
            <a:fillRect/>
          </a:stretch>
        </p:blipFill>
        <p:spPr bwMode="auto">
          <a:xfrm>
            <a:off x="8971546" y="289070"/>
            <a:ext cx="3880854" cy="3877572"/>
          </a:xfrm>
          <a:prstGeom prst="ellipse">
            <a:avLst/>
          </a:prstGeom>
          <a:ln>
            <a:noFill/>
          </a:ln>
          <a:effectLst>
            <a:softEdge rad="112500"/>
          </a:effectLst>
        </p:spPr>
      </p:pic>
      <p:sp>
        <p:nvSpPr>
          <p:cNvPr id="5" name="TextBox 4">
            <a:extLst>
              <a:ext uri="{FF2B5EF4-FFF2-40B4-BE49-F238E27FC236}">
                <a16:creationId xmlns:a16="http://schemas.microsoft.com/office/drawing/2014/main" id="{923505A9-5F28-F422-DD11-AF41B6613518}"/>
              </a:ext>
            </a:extLst>
          </p:cNvPr>
          <p:cNvSpPr txBox="1"/>
          <p:nvPr/>
        </p:nvSpPr>
        <p:spPr>
          <a:xfrm>
            <a:off x="-5648564" y="-2314097"/>
            <a:ext cx="102657" cy="748923"/>
          </a:xfrm>
          <a:prstGeom prst="rect">
            <a:avLst/>
          </a:prstGeom>
          <a:solidFill>
            <a:schemeClr val="tx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LB" sz="4200" b="0" i="0" u="none" strike="noStrike" cap="none" spc="0" normalizeH="0" baseline="0" dirty="0">
              <a:ln>
                <a:noFill/>
              </a:ln>
              <a:solidFill>
                <a:srgbClr val="FFFFFF"/>
              </a:solidFill>
              <a:effectLst/>
              <a:uFillTx/>
              <a:latin typeface="Gill Sans"/>
              <a:ea typeface="Gill Sans"/>
              <a:cs typeface="Gill Sans"/>
              <a:sym typeface="Gill Sans"/>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3" name="traceroute"/>
          <p:cNvSpPr txBox="1">
            <a:spLocks noGrp="1"/>
          </p:cNvSpPr>
          <p:nvPr>
            <p:ph type="title"/>
          </p:nvPr>
        </p:nvSpPr>
        <p:spPr>
          <a:xfrm>
            <a:off x="1270000" y="253999"/>
            <a:ext cx="10464800" cy="2406073"/>
          </a:xfrm>
          <a:prstGeom prst="rect">
            <a:avLst/>
          </a:prstGeom>
        </p:spPr>
        <p:txBody>
          <a:bodyPr/>
          <a:lstStyle/>
          <a:p>
            <a:r>
              <a:rPr lang="en-US" dirty="0"/>
              <a:t>Outline</a:t>
            </a:r>
            <a:endParaRPr dirty="0"/>
          </a:p>
        </p:txBody>
      </p:sp>
      <p:sp>
        <p:nvSpPr>
          <p:cNvPr id="184" name="Connection-oriented Transport: TCP…"/>
          <p:cNvSpPr txBox="1">
            <a:spLocks noGrp="1"/>
          </p:cNvSpPr>
          <p:nvPr>
            <p:ph type="body" idx="1"/>
          </p:nvPr>
        </p:nvSpPr>
        <p:spPr>
          <a:prstGeom prst="rect">
            <a:avLst/>
          </a:prstGeom>
        </p:spPr>
        <p:txBody>
          <a:bodyPr/>
          <a:lstStyle/>
          <a:p>
            <a:pPr>
              <a:defRPr>
                <a:solidFill>
                  <a:srgbClr val="F9E05E"/>
                </a:solidFill>
              </a:defRPr>
            </a:pPr>
            <a:r>
              <a:rPr dirty="0">
                <a:solidFill>
                  <a:srgbClr val="F9E05E"/>
                </a:solidFill>
              </a:rPr>
              <a:t>Connection-oriented Transport: TCP</a:t>
            </a:r>
          </a:p>
          <a:p>
            <a:r>
              <a:rPr sz="4400" dirty="0"/>
              <a:t>Segment Structure</a:t>
            </a:r>
          </a:p>
          <a:p>
            <a:r>
              <a:rPr sz="4400" dirty="0"/>
              <a:t>Connection Management</a:t>
            </a:r>
          </a:p>
          <a:p>
            <a:r>
              <a:rPr sz="4400" dirty="0"/>
              <a:t>Reliable Data Transfer</a:t>
            </a:r>
          </a:p>
        </p:txBody>
      </p:sp>
      <p:sp>
        <p:nvSpPr>
          <p:cNvPr id="18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2</a:t>
            </a:fld>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7" name="TCP Overview"/>
          <p:cNvSpPr txBox="1">
            <a:spLocks noGrp="1"/>
          </p:cNvSpPr>
          <p:nvPr>
            <p:ph type="title"/>
          </p:nvPr>
        </p:nvSpPr>
        <p:spPr>
          <a:prstGeom prst="rect">
            <a:avLst/>
          </a:prstGeom>
        </p:spPr>
        <p:txBody>
          <a:bodyPr/>
          <a:lstStyle/>
          <a:p>
            <a:r>
              <a:t>TCP Overview</a:t>
            </a:r>
          </a:p>
        </p:txBody>
      </p:sp>
      <p:sp>
        <p:nvSpPr>
          <p:cNvPr id="188" name="Point-to-point…"/>
          <p:cNvSpPr txBox="1">
            <a:spLocks noGrp="1"/>
          </p:cNvSpPr>
          <p:nvPr>
            <p:ph type="body" idx="1"/>
          </p:nvPr>
        </p:nvSpPr>
        <p:spPr>
          <a:prstGeom prst="rect">
            <a:avLst/>
          </a:prstGeom>
          <a:solidFill>
            <a:schemeClr val="bg2">
              <a:lumMod val="75000"/>
            </a:schemeClr>
          </a:solidFill>
        </p:spPr>
        <p:txBody>
          <a:bodyPr>
            <a:normAutofit/>
          </a:bodyPr>
          <a:lstStyle/>
          <a:p>
            <a:pPr marL="391159" indent="-391159" defTabSz="514095">
              <a:spcBef>
                <a:spcPts val="2100"/>
              </a:spcBef>
              <a:defRPr sz="3696">
                <a:solidFill>
                  <a:srgbClr val="F9E05E"/>
                </a:solidFill>
              </a:defRPr>
            </a:pPr>
            <a:r>
              <a:rPr dirty="0"/>
              <a:t>Point-to-point</a:t>
            </a:r>
          </a:p>
          <a:p>
            <a:pPr marL="670559" lvl="1" indent="-391159" defTabSz="514095">
              <a:spcBef>
                <a:spcPts val="1400"/>
              </a:spcBef>
              <a:defRPr sz="3696"/>
            </a:pPr>
            <a:r>
              <a:rPr dirty="0"/>
              <a:t>One sender, one receiver</a:t>
            </a:r>
          </a:p>
          <a:p>
            <a:pPr marL="391159" indent="-391159" defTabSz="514095">
              <a:spcBef>
                <a:spcPts val="2100"/>
              </a:spcBef>
              <a:defRPr sz="3696">
                <a:solidFill>
                  <a:srgbClr val="F9E05E"/>
                </a:solidFill>
              </a:defRPr>
            </a:pPr>
            <a:r>
              <a:rPr dirty="0"/>
              <a:t>Reliable</a:t>
            </a:r>
          </a:p>
          <a:p>
            <a:pPr marL="670559" lvl="1" indent="-391159" defTabSz="514095">
              <a:spcBef>
                <a:spcPts val="1400"/>
              </a:spcBef>
              <a:defRPr sz="3696"/>
            </a:pPr>
            <a:r>
              <a:rPr dirty="0"/>
              <a:t>Segments delivered in-order without loss</a:t>
            </a:r>
          </a:p>
          <a:p>
            <a:pPr marL="391159" indent="-391159" defTabSz="514095">
              <a:spcBef>
                <a:spcPts val="2100"/>
              </a:spcBef>
              <a:defRPr sz="3696">
                <a:solidFill>
                  <a:srgbClr val="F9E05E"/>
                </a:solidFill>
              </a:defRPr>
            </a:pPr>
            <a:r>
              <a:rPr dirty="0"/>
              <a:t>In-order byte stream</a:t>
            </a:r>
          </a:p>
          <a:p>
            <a:pPr marL="670559" lvl="1" indent="-391159" defTabSz="514095">
              <a:spcBef>
                <a:spcPts val="1400"/>
              </a:spcBef>
              <a:defRPr sz="3696"/>
            </a:pPr>
            <a:r>
              <a:rPr dirty="0"/>
              <a:t>No message / record boundaries</a:t>
            </a:r>
          </a:p>
          <a:p>
            <a:pPr marL="391159" indent="-391159" defTabSz="514095">
              <a:spcBef>
                <a:spcPts val="2100"/>
              </a:spcBef>
              <a:defRPr sz="3696">
                <a:solidFill>
                  <a:srgbClr val="F9E05E"/>
                </a:solidFill>
              </a:defRPr>
            </a:pPr>
            <a:r>
              <a:rPr dirty="0"/>
              <a:t>Pipelined</a:t>
            </a:r>
          </a:p>
          <a:p>
            <a:pPr marL="670559" lvl="1" indent="-391159" defTabSz="514095">
              <a:spcBef>
                <a:spcPts val="1400"/>
              </a:spcBef>
              <a:defRPr sz="3696"/>
            </a:pPr>
            <a:r>
              <a:rPr dirty="0"/>
              <a:t>Sliding-window type control algorithm</a:t>
            </a:r>
          </a:p>
        </p:txBody>
      </p:sp>
      <p:sp>
        <p:nvSpPr>
          <p:cNvPr id="18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3</a:t>
            </a:fld>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1" name="TCP Overview"/>
          <p:cNvSpPr txBox="1">
            <a:spLocks noGrp="1"/>
          </p:cNvSpPr>
          <p:nvPr>
            <p:ph type="title"/>
          </p:nvPr>
        </p:nvSpPr>
        <p:spPr>
          <a:prstGeom prst="rect">
            <a:avLst/>
          </a:prstGeom>
        </p:spPr>
        <p:txBody>
          <a:bodyPr/>
          <a:lstStyle/>
          <a:p>
            <a:r>
              <a:t>TCP Overview</a:t>
            </a:r>
          </a:p>
        </p:txBody>
      </p:sp>
      <p:sp>
        <p:nvSpPr>
          <p:cNvPr id="192" name="Full duplex data…"/>
          <p:cNvSpPr txBox="1">
            <a:spLocks noGrp="1"/>
          </p:cNvSpPr>
          <p:nvPr>
            <p:ph type="body" idx="1"/>
          </p:nvPr>
        </p:nvSpPr>
        <p:spPr>
          <a:prstGeom prst="rect">
            <a:avLst/>
          </a:prstGeom>
        </p:spPr>
        <p:txBody>
          <a:bodyPr/>
          <a:lstStyle/>
          <a:p>
            <a:pPr>
              <a:defRPr>
                <a:solidFill>
                  <a:srgbClr val="F9E05E"/>
                </a:solidFill>
              </a:defRPr>
            </a:pPr>
            <a:r>
              <a:rPr dirty="0"/>
              <a:t>Full duplex data</a:t>
            </a:r>
          </a:p>
          <a:p>
            <a:pPr lvl="1"/>
            <a:r>
              <a:rPr dirty="0"/>
              <a:t>bi-directional data flow in the same connection</a:t>
            </a:r>
          </a:p>
          <a:p>
            <a:pPr>
              <a:defRPr>
                <a:solidFill>
                  <a:srgbClr val="F9E05E"/>
                </a:solidFill>
              </a:defRPr>
            </a:pPr>
            <a:r>
              <a:rPr dirty="0"/>
              <a:t>Connection-oriented</a:t>
            </a:r>
          </a:p>
          <a:p>
            <a:pPr lvl="1"/>
            <a:r>
              <a:rPr dirty="0"/>
              <a:t>handshaking (exchange of control messages) initializes sender &amp; receiver state before data exchange</a:t>
            </a:r>
          </a:p>
        </p:txBody>
      </p:sp>
      <p:sp>
        <p:nvSpPr>
          <p:cNvPr id="19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4</a:t>
            </a:fld>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5" name="Rounded Rectangle"/>
          <p:cNvSpPr/>
          <p:nvPr/>
        </p:nvSpPr>
        <p:spPr>
          <a:xfrm>
            <a:off x="1054100" y="1358900"/>
            <a:ext cx="10896600" cy="4152900"/>
          </a:xfrm>
          <a:prstGeom prst="roundRect">
            <a:avLst>
              <a:gd name="adj" fmla="val 4587"/>
            </a:avLst>
          </a:prstGeom>
          <a:gradFill>
            <a:gsLst>
              <a:gs pos="0">
                <a:srgbClr val="FFFFFF"/>
              </a:gs>
              <a:gs pos="13471">
                <a:srgbClr val="DFADDB"/>
              </a:gs>
              <a:gs pos="100000">
                <a:srgbClr val="C05CB7"/>
              </a:gs>
            </a:gsLst>
            <a:lin ang="5400000"/>
          </a:gradFill>
          <a:ln w="12700">
            <a:miter lim="400000"/>
          </a:ln>
          <a:effectLst>
            <a:outerShdw blurRad="76200" dir="18900000" rotWithShape="0">
              <a:srgbClr val="000000">
                <a:alpha val="80000"/>
              </a:srgbClr>
            </a:outerShdw>
          </a:effectLst>
        </p:spPr>
        <p:txBody>
          <a:bodyPr lIns="50800" tIns="50800" rIns="50800" bIns="50800" anchor="ctr"/>
          <a:lstStyle/>
          <a:p>
            <a:pPr defTabSz="800100">
              <a:defRPr sz="2400">
                <a:effectLst>
                  <a:outerShdw blurRad="25400" dist="23998" dir="2700000" rotWithShape="0">
                    <a:srgbClr val="000000">
                      <a:alpha val="31034"/>
                    </a:srgbClr>
                  </a:outerShdw>
                </a:effectLst>
              </a:defRPr>
            </a:pPr>
            <a:endParaRPr/>
          </a:p>
        </p:txBody>
      </p:sp>
      <p:sp>
        <p:nvSpPr>
          <p:cNvPr id="196" name="Both sides have buffers…"/>
          <p:cNvSpPr txBox="1"/>
          <p:nvPr/>
        </p:nvSpPr>
        <p:spPr>
          <a:xfrm>
            <a:off x="1270000" y="5283200"/>
            <a:ext cx="10464800" cy="32766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lstStyle>
            <a:lvl1pPr marL="444500" indent="-444500" algn="l">
              <a:spcBef>
                <a:spcPts val="2400"/>
              </a:spcBef>
              <a:buSzPct val="150000"/>
              <a:buChar char="•"/>
              <a:defRPr>
                <a:solidFill>
                  <a:srgbClr val="F9E05E"/>
                </a:solidFill>
                <a:latin typeface="+mn-lt"/>
                <a:ea typeface="+mn-ea"/>
                <a:cs typeface="+mn-cs"/>
                <a:sym typeface="Helvetica Neue"/>
              </a:defRPr>
            </a:lvl1pPr>
            <a:lvl2pPr marL="889000" indent="-444500" algn="l">
              <a:spcBef>
                <a:spcPts val="2400"/>
              </a:spcBef>
              <a:buSzPct val="150000"/>
              <a:buChar char="•"/>
              <a:defRPr>
                <a:latin typeface="+mn-lt"/>
                <a:ea typeface="+mn-ea"/>
                <a:cs typeface="+mn-cs"/>
                <a:sym typeface="Helvetica Neue"/>
              </a:defRPr>
            </a:lvl2pPr>
          </a:lstStyle>
          <a:p>
            <a:r>
              <a:t>Both sides have buffers</a:t>
            </a:r>
          </a:p>
          <a:p>
            <a:pPr lvl="1"/>
            <a:r>
              <a:t>Lots of “Producer-Consumer” coordination problems to overcome</a:t>
            </a:r>
          </a:p>
        </p:txBody>
      </p:sp>
      <p:pic>
        <p:nvPicPr>
          <p:cNvPr id="197" name="droppedImage.pdf" descr="droppedImage.pdf"/>
          <p:cNvPicPr>
            <a:picLocks noChangeAspect="1"/>
          </p:cNvPicPr>
          <p:nvPr/>
        </p:nvPicPr>
        <p:blipFill>
          <a:blip r:embed="rId2"/>
          <a:stretch>
            <a:fillRect/>
          </a:stretch>
        </p:blipFill>
        <p:spPr>
          <a:xfrm>
            <a:off x="1295400" y="1511300"/>
            <a:ext cx="10414000" cy="3862938"/>
          </a:xfrm>
          <a:prstGeom prst="rect">
            <a:avLst/>
          </a:prstGeom>
          <a:ln w="12700">
            <a:miter lim="400000"/>
          </a:ln>
        </p:spPr>
      </p:pic>
      <p:sp>
        <p:nvSpPr>
          <p:cNvPr id="2" name="Slide Number Placeholder 1">
            <a:extLst>
              <a:ext uri="{FF2B5EF4-FFF2-40B4-BE49-F238E27FC236}">
                <a16:creationId xmlns:a16="http://schemas.microsoft.com/office/drawing/2014/main" id="{01368A1F-9A7D-8553-1D26-5EE86F920409}"/>
              </a:ext>
            </a:extLst>
          </p:cNvPr>
          <p:cNvSpPr>
            <a:spLocks noGrp="1"/>
          </p:cNvSpPr>
          <p:nvPr>
            <p:ph type="sldNum" sz="quarter" idx="2"/>
          </p:nvPr>
        </p:nvSpPr>
        <p:spPr/>
        <p:txBody>
          <a:bodyPr/>
          <a:lstStyle/>
          <a:p>
            <a:fld id="{86CB4B4D-7CA3-9044-876B-883B54F8677D}" type="slidenum">
              <a:rPr lang="en-LB" smtClean="0"/>
              <a:t>5</a:t>
            </a:fld>
            <a:endParaRPr lang="en-LB"/>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9" name="Transmission Control"/>
          <p:cNvSpPr txBox="1">
            <a:spLocks noGrp="1"/>
          </p:cNvSpPr>
          <p:nvPr>
            <p:ph type="title"/>
          </p:nvPr>
        </p:nvSpPr>
        <p:spPr>
          <a:prstGeom prst="rect">
            <a:avLst/>
          </a:prstGeom>
        </p:spPr>
        <p:txBody>
          <a:bodyPr/>
          <a:lstStyle/>
          <a:p>
            <a:r>
              <a:t>Transmission Control</a:t>
            </a:r>
          </a:p>
        </p:txBody>
      </p:sp>
      <p:sp>
        <p:nvSpPr>
          <p:cNvPr id="200" name="Flow Control…"/>
          <p:cNvSpPr txBox="1">
            <a:spLocks noGrp="1"/>
          </p:cNvSpPr>
          <p:nvPr>
            <p:ph type="body" idx="1"/>
          </p:nvPr>
        </p:nvSpPr>
        <p:spPr>
          <a:prstGeom prst="rect">
            <a:avLst/>
          </a:prstGeom>
        </p:spPr>
        <p:txBody>
          <a:bodyPr/>
          <a:lstStyle/>
          <a:p>
            <a:pPr>
              <a:defRPr>
                <a:solidFill>
                  <a:srgbClr val="F9E05E"/>
                </a:solidFill>
              </a:defRPr>
            </a:pPr>
            <a:r>
              <a:rPr dirty="0"/>
              <a:t>Flow Control</a:t>
            </a:r>
          </a:p>
          <a:p>
            <a:pPr lvl="1"/>
            <a:r>
              <a:rPr dirty="0"/>
              <a:t>Sender will not overwhelm receiver</a:t>
            </a:r>
          </a:p>
          <a:p>
            <a:pPr>
              <a:defRPr>
                <a:solidFill>
                  <a:srgbClr val="F9E05E"/>
                </a:solidFill>
              </a:defRPr>
            </a:pPr>
            <a:r>
              <a:rPr dirty="0"/>
              <a:t>Congestion Control</a:t>
            </a:r>
          </a:p>
          <a:p>
            <a:pPr lvl="1"/>
            <a:r>
              <a:rPr dirty="0"/>
              <a:t>Various algorithms employed to limit sending of segments</a:t>
            </a:r>
          </a:p>
          <a:p>
            <a:pPr lvl="1"/>
            <a:r>
              <a:rPr dirty="0"/>
              <a:t>Don’t want to overwhelm the network</a:t>
            </a:r>
          </a:p>
        </p:txBody>
      </p:sp>
      <p:sp>
        <p:nvSpPr>
          <p:cNvPr id="20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6</a:t>
            </a:fld>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3" name="traceroute"/>
          <p:cNvSpPr txBox="1">
            <a:spLocks noGrp="1"/>
          </p:cNvSpPr>
          <p:nvPr>
            <p:ph type="title"/>
          </p:nvPr>
        </p:nvSpPr>
        <p:spPr>
          <a:prstGeom prst="rect">
            <a:avLst/>
          </a:prstGeom>
        </p:spPr>
        <p:txBody>
          <a:bodyPr/>
          <a:lstStyle/>
          <a:p>
            <a:r>
              <a:rPr lang="en-US" dirty="0"/>
              <a:t>Outline</a:t>
            </a:r>
            <a:endParaRPr dirty="0"/>
          </a:p>
        </p:txBody>
      </p:sp>
      <p:sp>
        <p:nvSpPr>
          <p:cNvPr id="204" name="Connection-oriented Transport: TCP…"/>
          <p:cNvSpPr txBox="1">
            <a:spLocks noGrp="1"/>
          </p:cNvSpPr>
          <p:nvPr>
            <p:ph type="body" idx="1"/>
          </p:nvPr>
        </p:nvSpPr>
        <p:spPr>
          <a:prstGeom prst="rect">
            <a:avLst/>
          </a:prstGeom>
        </p:spPr>
        <p:txBody>
          <a:bodyPr/>
          <a:lstStyle/>
          <a:p>
            <a:r>
              <a:t>Connection-oriented Transport: TCP</a:t>
            </a:r>
          </a:p>
          <a:p>
            <a:pPr>
              <a:defRPr>
                <a:solidFill>
                  <a:srgbClr val="F9E05E"/>
                </a:solidFill>
              </a:defRPr>
            </a:pPr>
            <a:r>
              <a:t>Segment Structure</a:t>
            </a:r>
          </a:p>
          <a:p>
            <a:r>
              <a:t>Connection Management</a:t>
            </a:r>
          </a:p>
          <a:p>
            <a:r>
              <a:t>Reliable Data Transfer</a:t>
            </a:r>
          </a:p>
        </p:txBody>
      </p:sp>
      <p:sp>
        <p:nvSpPr>
          <p:cNvPr id="20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7</a:t>
            </a:fld>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7" name="Format"/>
          <p:cNvSpPr txBox="1">
            <a:spLocks noGrp="1"/>
          </p:cNvSpPr>
          <p:nvPr>
            <p:ph type="title"/>
          </p:nvPr>
        </p:nvSpPr>
        <p:spPr>
          <a:prstGeom prst="rect">
            <a:avLst/>
          </a:prstGeom>
        </p:spPr>
        <p:txBody>
          <a:bodyPr/>
          <a:lstStyle>
            <a:lvl1pPr algn="l"/>
          </a:lstStyle>
          <a:p>
            <a:r>
              <a:t>Format</a:t>
            </a:r>
          </a:p>
        </p:txBody>
      </p:sp>
      <p:sp>
        <p:nvSpPr>
          <p:cNvPr id="208" name="Port numbers…"/>
          <p:cNvSpPr txBox="1">
            <a:spLocks noGrp="1"/>
          </p:cNvSpPr>
          <p:nvPr>
            <p:ph type="body" sz="half" idx="1"/>
          </p:nvPr>
        </p:nvSpPr>
        <p:spPr>
          <a:xfrm>
            <a:off x="261230" y="2129884"/>
            <a:ext cx="6083300" cy="3201768"/>
          </a:xfrm>
          <a:prstGeom prst="rect">
            <a:avLst/>
          </a:prstGeom>
        </p:spPr>
        <p:txBody>
          <a:bodyPr>
            <a:normAutofit/>
          </a:bodyPr>
          <a:lstStyle/>
          <a:p>
            <a:r>
              <a:rPr lang="en-US" sz="3200" b="0" i="0" u="none" strike="noStrike" dirty="0">
                <a:solidFill>
                  <a:srgbClr val="000000"/>
                </a:solidFill>
                <a:effectLst/>
                <a:latin typeface="-webkit-standard"/>
              </a:rPr>
              <a:t>Source port </a:t>
            </a:r>
            <a:r>
              <a:rPr lang="en-US" sz="3200" dirty="0">
                <a:solidFill>
                  <a:srgbClr val="000000"/>
                </a:solidFill>
                <a:latin typeface="-webkit-standard"/>
              </a:rPr>
              <a:t>#</a:t>
            </a:r>
            <a:r>
              <a:rPr lang="en-US" sz="3200" b="0" i="0" u="none" strike="noStrike" dirty="0">
                <a:solidFill>
                  <a:srgbClr val="000000"/>
                </a:solidFill>
                <a:effectLst/>
                <a:latin typeface="-webkit-standard"/>
              </a:rPr>
              <a:t>: Identifies the </a:t>
            </a:r>
            <a:r>
              <a:rPr lang="en-US" sz="3200" b="1" i="0" u="none" strike="noStrike" dirty="0">
                <a:solidFill>
                  <a:srgbClr val="000000"/>
                </a:solidFill>
                <a:effectLst/>
              </a:rPr>
              <a:t>sending application</a:t>
            </a:r>
            <a:r>
              <a:rPr lang="en-US" sz="3200" dirty="0">
                <a:solidFill>
                  <a:srgbClr val="000000"/>
                </a:solidFill>
                <a:latin typeface="-webkit-standard"/>
              </a:rPr>
              <a:t> </a:t>
            </a:r>
            <a:r>
              <a:rPr lang="en-US" sz="3200" b="0" i="0" u="none" strike="noStrike" dirty="0">
                <a:solidFill>
                  <a:srgbClr val="000000"/>
                </a:solidFill>
                <a:effectLst/>
                <a:latin typeface="-webkit-standard"/>
              </a:rPr>
              <a:t>(process) on the source host.</a:t>
            </a:r>
          </a:p>
          <a:p>
            <a:r>
              <a:rPr lang="en-US" sz="3200" dirty="0">
                <a:solidFill>
                  <a:srgbClr val="000000"/>
                </a:solidFill>
                <a:latin typeface="-webkit-standard"/>
              </a:rPr>
              <a:t>Example: HTTP client might use port 49152.</a:t>
            </a:r>
          </a:p>
        </p:txBody>
      </p:sp>
      <p:sp>
        <p:nvSpPr>
          <p:cNvPr id="20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8</a:t>
            </a:fld>
            <a:endParaRPr/>
          </a:p>
        </p:txBody>
      </p:sp>
      <p:pic>
        <p:nvPicPr>
          <p:cNvPr id="210" name="droppedImage.pdf" descr="droppedImage.pdf"/>
          <p:cNvPicPr>
            <a:picLocks noChangeAspect="1"/>
          </p:cNvPicPr>
          <p:nvPr/>
        </p:nvPicPr>
        <p:blipFill>
          <a:blip r:embed="rId2"/>
          <a:stretch>
            <a:fillRect/>
          </a:stretch>
        </p:blipFill>
        <p:spPr>
          <a:xfrm>
            <a:off x="6172200" y="939800"/>
            <a:ext cx="6083300" cy="7869043"/>
          </a:xfrm>
          <a:prstGeom prst="rect">
            <a:avLst/>
          </a:prstGeom>
          <a:ln w="12700">
            <a:miter lim="400000"/>
          </a:ln>
        </p:spPr>
      </p:pic>
      <p:sp>
        <p:nvSpPr>
          <p:cNvPr id="2" name="Port numbers…">
            <a:extLst>
              <a:ext uri="{FF2B5EF4-FFF2-40B4-BE49-F238E27FC236}">
                <a16:creationId xmlns:a16="http://schemas.microsoft.com/office/drawing/2014/main" id="{E778F9C7-2B99-7308-E508-CCB7F792F591}"/>
              </a:ext>
            </a:extLst>
          </p:cNvPr>
          <p:cNvSpPr txBox="1">
            <a:spLocks/>
          </p:cNvSpPr>
          <p:nvPr/>
        </p:nvSpPr>
        <p:spPr>
          <a:xfrm>
            <a:off x="258882" y="5686671"/>
            <a:ext cx="6083300" cy="3201768"/>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lvl1pPr marL="444500" marR="0" indent="-444500" algn="l" defTabSz="584200" latinLnBrk="0">
              <a:lnSpc>
                <a:spcPct val="100000"/>
              </a:lnSpc>
              <a:spcBef>
                <a:spcPts val="2400"/>
              </a:spcBef>
              <a:spcAft>
                <a:spcPts val="0"/>
              </a:spcAft>
              <a:buClrTx/>
              <a:buSzPct val="150000"/>
              <a:buFontTx/>
              <a:buChar char="•"/>
              <a:tabLst/>
              <a:defRPr sz="4200" b="0" i="0" u="none" strike="noStrike" cap="none" spc="0" baseline="0">
                <a:ln>
                  <a:noFill/>
                </a:ln>
                <a:solidFill>
                  <a:schemeClr val="bg2">
                    <a:lumMod val="10000"/>
                  </a:schemeClr>
                </a:solidFill>
                <a:uFillTx/>
                <a:latin typeface="+mn-lt"/>
                <a:ea typeface="+mn-ea"/>
                <a:cs typeface="+mn-cs"/>
                <a:sym typeface="Helvetica Neue"/>
              </a:defRPr>
            </a:lvl1pPr>
            <a:lvl2pPr marL="762000" marR="0" indent="-444500" algn="l" defTabSz="584200" latinLnBrk="0">
              <a:lnSpc>
                <a:spcPct val="100000"/>
              </a:lnSpc>
              <a:spcBef>
                <a:spcPts val="1600"/>
              </a:spcBef>
              <a:spcAft>
                <a:spcPts val="0"/>
              </a:spcAft>
              <a:buClrTx/>
              <a:buSzPct val="150000"/>
              <a:buFontTx/>
              <a:buChar char="•"/>
              <a:tabLst/>
              <a:defRPr sz="4200" b="0" i="0" u="none" strike="noStrike" cap="none" spc="0" baseline="0">
                <a:ln>
                  <a:noFill/>
                </a:ln>
                <a:solidFill>
                  <a:schemeClr val="bg2">
                    <a:lumMod val="10000"/>
                  </a:schemeClr>
                </a:solidFill>
                <a:uFillTx/>
                <a:latin typeface="+mn-lt"/>
                <a:ea typeface="+mn-ea"/>
                <a:cs typeface="+mn-cs"/>
                <a:sym typeface="Helvetica Neue"/>
              </a:defRPr>
            </a:lvl2pPr>
            <a:lvl3pPr marL="1079500" marR="0" indent="-444500" algn="l" defTabSz="584200" latinLnBrk="0">
              <a:lnSpc>
                <a:spcPct val="100000"/>
              </a:lnSpc>
              <a:spcBef>
                <a:spcPts val="1200"/>
              </a:spcBef>
              <a:spcAft>
                <a:spcPts val="0"/>
              </a:spcAft>
              <a:buClrTx/>
              <a:buSzPct val="150000"/>
              <a:buFontTx/>
              <a:buChar char="•"/>
              <a:tabLst/>
              <a:defRPr sz="4200" b="0" i="0" u="none" strike="noStrike" cap="none" spc="0" baseline="0">
                <a:ln>
                  <a:noFill/>
                </a:ln>
                <a:solidFill>
                  <a:schemeClr val="bg2">
                    <a:lumMod val="10000"/>
                  </a:schemeClr>
                </a:solidFill>
                <a:uFillTx/>
                <a:latin typeface="+mn-lt"/>
                <a:ea typeface="+mn-ea"/>
                <a:cs typeface="+mn-cs"/>
                <a:sym typeface="Helvetica Neue"/>
              </a:defRPr>
            </a:lvl3pPr>
            <a:lvl4pPr marL="1397000" marR="0" indent="-444500" algn="l" defTabSz="584200" latinLnBrk="0">
              <a:lnSpc>
                <a:spcPct val="100000"/>
              </a:lnSpc>
              <a:spcBef>
                <a:spcPts val="1200"/>
              </a:spcBef>
              <a:spcAft>
                <a:spcPts val="0"/>
              </a:spcAft>
              <a:buClrTx/>
              <a:buSzPct val="150000"/>
              <a:buFontTx/>
              <a:buChar char="•"/>
              <a:tabLst/>
              <a:defRPr sz="4200" b="0" i="0" u="none" strike="noStrike" cap="none" spc="0" baseline="0">
                <a:ln>
                  <a:noFill/>
                </a:ln>
                <a:solidFill>
                  <a:schemeClr val="bg2">
                    <a:lumMod val="10000"/>
                  </a:schemeClr>
                </a:solidFill>
                <a:uFillTx/>
                <a:latin typeface="+mn-lt"/>
                <a:ea typeface="+mn-ea"/>
                <a:cs typeface="+mn-cs"/>
                <a:sym typeface="Helvetica Neue"/>
              </a:defRPr>
            </a:lvl4pPr>
            <a:lvl5pPr marL="1714500" marR="0" indent="-444500" algn="l" defTabSz="584200" latinLnBrk="0">
              <a:lnSpc>
                <a:spcPct val="100000"/>
              </a:lnSpc>
              <a:spcBef>
                <a:spcPts val="1200"/>
              </a:spcBef>
              <a:spcAft>
                <a:spcPts val="0"/>
              </a:spcAft>
              <a:buClrTx/>
              <a:buSzPct val="150000"/>
              <a:buFontTx/>
              <a:buChar char="•"/>
              <a:tabLst/>
              <a:defRPr sz="4200" b="0" i="0" u="none" strike="noStrike" cap="none" spc="0" baseline="0">
                <a:ln>
                  <a:noFill/>
                </a:ln>
                <a:solidFill>
                  <a:schemeClr val="bg2">
                    <a:lumMod val="10000"/>
                  </a:schemeClr>
                </a:solidFill>
                <a:uFillTx/>
                <a:latin typeface="+mn-lt"/>
                <a:ea typeface="+mn-ea"/>
                <a:cs typeface="+mn-cs"/>
                <a:sym typeface="Helvetica Neue"/>
              </a:defRPr>
            </a:lvl5pPr>
            <a:lvl6pPr marL="2032000" marR="0" indent="-444500" algn="l" defTabSz="584200" latinLnBrk="0">
              <a:lnSpc>
                <a:spcPct val="100000"/>
              </a:lnSpc>
              <a:spcBef>
                <a:spcPts val="2400"/>
              </a:spcBef>
              <a:spcAft>
                <a:spcPts val="0"/>
              </a:spcAft>
              <a:buClrTx/>
              <a:buSzPct val="150000"/>
              <a:buFontTx/>
              <a:buChar char="•"/>
              <a:tabLst/>
              <a:defRPr sz="4200" b="0" i="0" u="none" strike="noStrike" cap="none" spc="0" baseline="0">
                <a:ln>
                  <a:noFill/>
                </a:ln>
                <a:solidFill>
                  <a:srgbClr val="FFFFFF"/>
                </a:solidFill>
                <a:uFillTx/>
                <a:latin typeface="+mn-lt"/>
                <a:ea typeface="+mn-ea"/>
                <a:cs typeface="+mn-cs"/>
                <a:sym typeface="Helvetica Neue"/>
              </a:defRPr>
            </a:lvl6pPr>
            <a:lvl7pPr marL="2349500" marR="0" indent="-444500" algn="l" defTabSz="584200" latinLnBrk="0">
              <a:lnSpc>
                <a:spcPct val="100000"/>
              </a:lnSpc>
              <a:spcBef>
                <a:spcPts val="2400"/>
              </a:spcBef>
              <a:spcAft>
                <a:spcPts val="0"/>
              </a:spcAft>
              <a:buClrTx/>
              <a:buSzPct val="150000"/>
              <a:buFontTx/>
              <a:buChar char="•"/>
              <a:tabLst/>
              <a:defRPr sz="4200" b="0" i="0" u="none" strike="noStrike" cap="none" spc="0" baseline="0">
                <a:ln>
                  <a:noFill/>
                </a:ln>
                <a:solidFill>
                  <a:srgbClr val="FFFFFF"/>
                </a:solidFill>
                <a:uFillTx/>
                <a:latin typeface="+mn-lt"/>
                <a:ea typeface="+mn-ea"/>
                <a:cs typeface="+mn-cs"/>
                <a:sym typeface="Helvetica Neue"/>
              </a:defRPr>
            </a:lvl7pPr>
            <a:lvl8pPr marL="2667000" marR="0" indent="-444500" algn="l" defTabSz="584200" latinLnBrk="0">
              <a:lnSpc>
                <a:spcPct val="100000"/>
              </a:lnSpc>
              <a:spcBef>
                <a:spcPts val="2400"/>
              </a:spcBef>
              <a:spcAft>
                <a:spcPts val="0"/>
              </a:spcAft>
              <a:buClrTx/>
              <a:buSzPct val="150000"/>
              <a:buFontTx/>
              <a:buChar char="•"/>
              <a:tabLst/>
              <a:defRPr sz="4200" b="0" i="0" u="none" strike="noStrike" cap="none" spc="0" baseline="0">
                <a:ln>
                  <a:noFill/>
                </a:ln>
                <a:solidFill>
                  <a:srgbClr val="FFFFFF"/>
                </a:solidFill>
                <a:uFillTx/>
                <a:latin typeface="+mn-lt"/>
                <a:ea typeface="+mn-ea"/>
                <a:cs typeface="+mn-cs"/>
                <a:sym typeface="Helvetica Neue"/>
              </a:defRPr>
            </a:lvl8pPr>
            <a:lvl9pPr marL="2984500" marR="0" indent="-444500" algn="l" defTabSz="584200" latinLnBrk="0">
              <a:lnSpc>
                <a:spcPct val="100000"/>
              </a:lnSpc>
              <a:spcBef>
                <a:spcPts val="2400"/>
              </a:spcBef>
              <a:spcAft>
                <a:spcPts val="0"/>
              </a:spcAft>
              <a:buClrTx/>
              <a:buSzPct val="150000"/>
              <a:buFontTx/>
              <a:buChar char="•"/>
              <a:tabLst/>
              <a:defRPr sz="4200" b="0" i="0" u="none" strike="noStrike" cap="none" spc="0" baseline="0">
                <a:ln>
                  <a:noFill/>
                </a:ln>
                <a:solidFill>
                  <a:srgbClr val="FFFFFF"/>
                </a:solidFill>
                <a:uFillTx/>
                <a:latin typeface="+mn-lt"/>
                <a:ea typeface="+mn-ea"/>
                <a:cs typeface="+mn-cs"/>
                <a:sym typeface="Helvetica Neue"/>
              </a:defRPr>
            </a:lvl9pPr>
          </a:lstStyle>
          <a:p>
            <a:r>
              <a:rPr lang="en-US" sz="3200" dirty="0">
                <a:solidFill>
                  <a:srgbClr val="000000"/>
                </a:solidFill>
                <a:latin typeface="-webkit-standard"/>
              </a:rPr>
              <a:t>Destination port: Identifies the </a:t>
            </a:r>
            <a:r>
              <a:rPr lang="en-US" sz="3200" b="1" dirty="0">
                <a:solidFill>
                  <a:srgbClr val="000000"/>
                </a:solidFill>
                <a:latin typeface="-webkit-standard"/>
              </a:rPr>
              <a:t>receiving application </a:t>
            </a:r>
            <a:r>
              <a:rPr lang="en-US" sz="3200" dirty="0">
                <a:solidFill>
                  <a:srgbClr val="000000"/>
                </a:solidFill>
                <a:latin typeface="-webkit-standard"/>
              </a:rPr>
              <a:t>on the destination host.</a:t>
            </a:r>
          </a:p>
          <a:p>
            <a:r>
              <a:rPr lang="en-US" sz="3200" dirty="0">
                <a:solidFill>
                  <a:srgbClr val="000000"/>
                </a:solidFill>
                <a:latin typeface="-webkit-standard"/>
              </a:rPr>
              <a:t>Example: HTTP server listens on port 80 (or 443 for HTTPS).</a:t>
            </a:r>
          </a:p>
        </p:txBody>
      </p:sp>
      <p:cxnSp>
        <p:nvCxnSpPr>
          <p:cNvPr id="6" name="Straight Connector 5">
            <a:extLst>
              <a:ext uri="{FF2B5EF4-FFF2-40B4-BE49-F238E27FC236}">
                <a16:creationId xmlns:a16="http://schemas.microsoft.com/office/drawing/2014/main" id="{FDF6B9FC-EA9F-9E24-B0B9-6DBBB11F3B3C}"/>
              </a:ext>
            </a:extLst>
          </p:cNvPr>
          <p:cNvCxnSpPr/>
          <p:nvPr/>
        </p:nvCxnSpPr>
        <p:spPr>
          <a:xfrm>
            <a:off x="258882" y="5472330"/>
            <a:ext cx="5705820" cy="0"/>
          </a:xfrm>
          <a:prstGeom prst="line">
            <a:avLst/>
          </a:prstGeom>
          <a:noFill/>
          <a:ln w="25400" cap="flat">
            <a:solidFill>
              <a:srgbClr val="FFFFFF"/>
            </a:solidFill>
            <a:prstDash val="solid"/>
            <a:miter lim="400000"/>
          </a:ln>
          <a:effectLst/>
          <a:sp3d/>
        </p:spPr>
        <p:style>
          <a:lnRef idx="0">
            <a:scrgbClr r="0" g="0" b="0"/>
          </a:lnRef>
          <a:fillRef idx="0">
            <a:scrgbClr r="0" g="0" b="0"/>
          </a:fillRef>
          <a:effectRef idx="0">
            <a:scrgbClr r="0" g="0" b="0"/>
          </a:effectRef>
          <a:fontRef idx="none"/>
        </p:style>
      </p:cxn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2" name="Format"/>
          <p:cNvSpPr txBox="1">
            <a:spLocks noGrp="1"/>
          </p:cNvSpPr>
          <p:nvPr>
            <p:ph type="title"/>
          </p:nvPr>
        </p:nvSpPr>
        <p:spPr>
          <a:prstGeom prst="rect">
            <a:avLst/>
          </a:prstGeom>
        </p:spPr>
        <p:txBody>
          <a:bodyPr/>
          <a:lstStyle>
            <a:lvl1pPr algn="l"/>
          </a:lstStyle>
          <a:p>
            <a:r>
              <a:t>Format</a:t>
            </a:r>
          </a:p>
        </p:txBody>
      </p:sp>
      <p:sp>
        <p:nvSpPr>
          <p:cNvPr id="213" name="Seq# and Ack#…"/>
          <p:cNvSpPr txBox="1">
            <a:spLocks noGrp="1"/>
          </p:cNvSpPr>
          <p:nvPr>
            <p:ph type="body" sz="half" idx="1"/>
          </p:nvPr>
        </p:nvSpPr>
        <p:spPr>
          <a:xfrm>
            <a:off x="267286" y="1800665"/>
            <a:ext cx="6083300" cy="3418449"/>
          </a:xfrm>
          <a:prstGeom prst="rect">
            <a:avLst/>
          </a:prstGeom>
        </p:spPr>
        <p:txBody>
          <a:bodyPr>
            <a:normAutofit/>
          </a:bodyPr>
          <a:lstStyle/>
          <a:p>
            <a:pPr marL="413384" indent="-413384" defTabSz="543305">
              <a:spcBef>
                <a:spcPts val="2200"/>
              </a:spcBef>
              <a:defRPr sz="3906"/>
            </a:pPr>
            <a:r>
              <a:rPr sz="3200" dirty="0"/>
              <a:t>Seq# and Ack#</a:t>
            </a:r>
          </a:p>
          <a:p>
            <a:pPr marL="627063" lvl="1" indent="-419100" defTabSz="543305" rtl="0" hangingPunct="0">
              <a:spcBef>
                <a:spcPts val="1400"/>
              </a:spcBef>
              <a:buSzPct val="100000"/>
              <a:defRPr sz="3906"/>
            </a:pPr>
            <a:r>
              <a:rPr sz="3200" dirty="0">
                <a:sym typeface="Gill Sans"/>
              </a:rPr>
              <a:t>counted by bytes of data, not segments</a:t>
            </a:r>
          </a:p>
          <a:p>
            <a:pPr marL="413384" indent="-413384" defTabSz="543305">
              <a:spcBef>
                <a:spcPts val="1400"/>
              </a:spcBef>
              <a:defRPr sz="3906"/>
            </a:pPr>
            <a:r>
              <a:rPr sz="3200" dirty="0"/>
              <a:t>Seq: number of the first byte in this segment</a:t>
            </a:r>
          </a:p>
        </p:txBody>
      </p:sp>
      <p:sp>
        <p:nvSpPr>
          <p:cNvPr id="21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9</a:t>
            </a:fld>
            <a:endParaRPr/>
          </a:p>
        </p:txBody>
      </p:sp>
      <p:pic>
        <p:nvPicPr>
          <p:cNvPr id="215" name="droppedImage.pdf" descr="droppedImage.pdf"/>
          <p:cNvPicPr>
            <a:picLocks noChangeAspect="1"/>
          </p:cNvPicPr>
          <p:nvPr/>
        </p:nvPicPr>
        <p:blipFill>
          <a:blip r:embed="rId2"/>
          <a:stretch>
            <a:fillRect/>
          </a:stretch>
        </p:blipFill>
        <p:spPr>
          <a:xfrm>
            <a:off x="6172200" y="939800"/>
            <a:ext cx="6083300" cy="7869043"/>
          </a:xfrm>
          <a:prstGeom prst="rect">
            <a:avLst/>
          </a:prstGeom>
          <a:ln w="12700">
            <a:miter lim="400000"/>
          </a:ln>
        </p:spPr>
      </p:pic>
      <p:sp>
        <p:nvSpPr>
          <p:cNvPr id="3" name="TextBox 2">
            <a:extLst>
              <a:ext uri="{FF2B5EF4-FFF2-40B4-BE49-F238E27FC236}">
                <a16:creationId xmlns:a16="http://schemas.microsoft.com/office/drawing/2014/main" id="{D0119F68-0EB3-34B1-7321-E09DC2738907}"/>
              </a:ext>
            </a:extLst>
          </p:cNvPr>
          <p:cNvSpPr txBox="1"/>
          <p:nvPr/>
        </p:nvSpPr>
        <p:spPr>
          <a:xfrm>
            <a:off x="253218" y="5435770"/>
            <a:ext cx="6249182" cy="340606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70816" indent="-413384" algn="l" defTabSz="543305">
              <a:spcBef>
                <a:spcPts val="1400"/>
              </a:spcBef>
              <a:buSzPct val="150000"/>
              <a:buFontTx/>
              <a:buChar char="•"/>
              <a:defRPr sz="3906"/>
            </a:pPr>
            <a:r>
              <a:rPr lang="en-US" sz="3200" dirty="0">
                <a:solidFill>
                  <a:schemeClr val="bg2">
                    <a:lumMod val="10000"/>
                  </a:schemeClr>
                </a:solidFill>
                <a:latin typeface="+mn-lt"/>
                <a:ea typeface="+mn-ea"/>
                <a:cs typeface="+mn-cs"/>
                <a:sym typeface="Helvetica Neue"/>
              </a:rPr>
              <a:t>Ack: number of the NEXT expected byte</a:t>
            </a:r>
          </a:p>
          <a:p>
            <a:pPr marL="627063" lvl="1" indent="-419100" algn="l" defTabSz="543305">
              <a:spcBef>
                <a:spcPts val="1400"/>
              </a:spcBef>
              <a:buSzPct val="100000"/>
              <a:buFont typeface="Courier New" panose="02070309020205020404" pitchFamily="49" charset="0"/>
              <a:buChar char="o"/>
              <a:defRPr sz="3906"/>
            </a:pPr>
            <a:r>
              <a:rPr lang="en-US" sz="3200" dirty="0">
                <a:solidFill>
                  <a:schemeClr val="bg2">
                    <a:lumMod val="10000"/>
                  </a:schemeClr>
                </a:solidFill>
                <a:latin typeface="+mn-lt"/>
                <a:ea typeface="+mn-ea"/>
                <a:cs typeface="+mn-cs"/>
                <a:sym typeface="Helvetica Neue"/>
              </a:rPr>
              <a:t>Acks are cumulative </a:t>
            </a:r>
          </a:p>
          <a:p>
            <a:pPr marL="627063" lvl="1" indent="-419100" algn="l" defTabSz="543305">
              <a:spcBef>
                <a:spcPts val="1400"/>
              </a:spcBef>
              <a:buSzPct val="100000"/>
              <a:buFont typeface="Courier New" panose="02070309020205020404" pitchFamily="49" charset="0"/>
              <a:buChar char="o"/>
              <a:defRPr sz="3906"/>
            </a:pPr>
            <a:r>
              <a:rPr lang="en-US" sz="3200" dirty="0">
                <a:solidFill>
                  <a:schemeClr val="bg2">
                    <a:lumMod val="10000"/>
                  </a:schemeClr>
                </a:solidFill>
                <a:latin typeface="+mn-lt"/>
                <a:ea typeface="+mn-ea"/>
                <a:cs typeface="+mn-cs"/>
                <a:sym typeface="Helvetica Neue"/>
              </a:rPr>
              <a:t>Example: ACK = 101 means bytes up to 100 have been received correctly.</a:t>
            </a:r>
          </a:p>
        </p:txBody>
      </p:sp>
      <p:cxnSp>
        <p:nvCxnSpPr>
          <p:cNvPr id="4" name="Straight Connector 3">
            <a:extLst>
              <a:ext uri="{FF2B5EF4-FFF2-40B4-BE49-F238E27FC236}">
                <a16:creationId xmlns:a16="http://schemas.microsoft.com/office/drawing/2014/main" id="{43DCC1EA-36D9-871B-A4F1-A20A55012052}"/>
              </a:ext>
            </a:extLst>
          </p:cNvPr>
          <p:cNvCxnSpPr/>
          <p:nvPr/>
        </p:nvCxnSpPr>
        <p:spPr>
          <a:xfrm>
            <a:off x="258882" y="5190976"/>
            <a:ext cx="5705820" cy="0"/>
          </a:xfrm>
          <a:prstGeom prst="line">
            <a:avLst/>
          </a:prstGeom>
          <a:noFill/>
          <a:ln w="25400" cap="flat">
            <a:solidFill>
              <a:srgbClr val="FFFFFF"/>
            </a:solidFill>
            <a:prstDash val="solid"/>
            <a:miter lim="400000"/>
          </a:ln>
          <a:effectLst/>
          <a:sp3d/>
        </p:spPr>
        <p:style>
          <a:lnRef idx="0">
            <a:scrgbClr r="0" g="0" b="0"/>
          </a:lnRef>
          <a:fillRef idx="0">
            <a:scrgbClr r="0" g="0" b="0"/>
          </a:fillRef>
          <a:effectRef idx="0">
            <a:scrgbClr r="0" g="0" b="0"/>
          </a:effectRef>
          <a:fontRef idx="none"/>
        </p:style>
      </p:cxn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17" name="droppedImage.pdf" descr="droppedImage.pdf"/>
          <p:cNvPicPr>
            <a:picLocks noChangeAspect="1"/>
          </p:cNvPicPr>
          <p:nvPr/>
        </p:nvPicPr>
        <p:blipFill>
          <a:blip r:embed="rId2"/>
          <a:stretch>
            <a:fillRect/>
          </a:stretch>
        </p:blipFill>
        <p:spPr>
          <a:xfrm>
            <a:off x="6172200" y="939800"/>
            <a:ext cx="6083300" cy="7869043"/>
          </a:xfrm>
          <a:prstGeom prst="rect">
            <a:avLst/>
          </a:prstGeom>
          <a:ln w="12700">
            <a:miter lim="400000"/>
          </a:ln>
        </p:spPr>
      </p:pic>
      <p:pic>
        <p:nvPicPr>
          <p:cNvPr id="218" name="droppedImage.pdf" descr="droppedImage.pdf"/>
          <p:cNvPicPr>
            <a:picLocks noChangeAspect="1"/>
          </p:cNvPicPr>
          <p:nvPr/>
        </p:nvPicPr>
        <p:blipFill>
          <a:blip r:embed="rId3"/>
          <a:stretch>
            <a:fillRect/>
          </a:stretch>
        </p:blipFill>
        <p:spPr>
          <a:xfrm>
            <a:off x="4229100" y="939800"/>
            <a:ext cx="8914704" cy="7874000"/>
          </a:xfrm>
          <a:prstGeom prst="rect">
            <a:avLst/>
          </a:prstGeom>
          <a:ln w="12700">
            <a:miter lim="400000"/>
          </a:ln>
        </p:spPr>
      </p:pic>
      <p:sp>
        <p:nvSpPr>
          <p:cNvPr id="219" name="Flag Field"/>
          <p:cNvSpPr txBox="1">
            <a:spLocks noGrp="1"/>
          </p:cNvSpPr>
          <p:nvPr>
            <p:ph type="title"/>
          </p:nvPr>
        </p:nvSpPr>
        <p:spPr>
          <a:prstGeom prst="rect">
            <a:avLst/>
          </a:prstGeom>
        </p:spPr>
        <p:txBody>
          <a:bodyPr/>
          <a:lstStyle>
            <a:lvl1pPr algn="l"/>
          </a:lstStyle>
          <a:p>
            <a:r>
              <a:t>Flag Field</a:t>
            </a:r>
          </a:p>
        </p:txBody>
      </p:sp>
      <p:sp>
        <p:nvSpPr>
          <p:cNvPr id="220" name="Header Length (4 bits)…"/>
          <p:cNvSpPr txBox="1">
            <a:spLocks noGrp="1"/>
          </p:cNvSpPr>
          <p:nvPr>
            <p:ph type="body" sz="half" idx="1"/>
          </p:nvPr>
        </p:nvSpPr>
        <p:spPr>
          <a:xfrm>
            <a:off x="67796" y="2070101"/>
            <a:ext cx="6234530" cy="6497124"/>
          </a:xfrm>
          <a:prstGeom prst="rect">
            <a:avLst/>
          </a:prstGeom>
        </p:spPr>
        <p:txBody>
          <a:bodyPr anchor="t">
            <a:normAutofit/>
          </a:bodyPr>
          <a:lstStyle/>
          <a:p>
            <a:pPr>
              <a:lnSpc>
                <a:spcPct val="150000"/>
              </a:lnSpc>
            </a:pPr>
            <a:r>
              <a:rPr sz="3200" dirty="0"/>
              <a:t>Header Length (4 bits)</a:t>
            </a:r>
          </a:p>
          <a:p>
            <a:pPr lvl="1">
              <a:lnSpc>
                <a:spcPct val="150000"/>
              </a:lnSpc>
            </a:pPr>
            <a:r>
              <a:rPr sz="3200" dirty="0"/>
              <a:t># words (32-bit)</a:t>
            </a:r>
          </a:p>
          <a:p>
            <a:pPr lvl="1">
              <a:lnSpc>
                <a:spcPct val="150000"/>
              </a:lnSpc>
            </a:pPr>
            <a:r>
              <a:rPr lang="en-US" sz="3200" dirty="0"/>
              <a:t>Minimum values:</a:t>
            </a:r>
            <a:r>
              <a:rPr sz="3200" dirty="0"/>
              <a:t> 5 (20 bytes)</a:t>
            </a:r>
          </a:p>
          <a:p>
            <a:pPr lvl="1">
              <a:lnSpc>
                <a:spcPct val="150000"/>
              </a:lnSpc>
            </a:pPr>
            <a:r>
              <a:rPr sz="3200" dirty="0"/>
              <a:t>Can be longer</a:t>
            </a:r>
            <a:r>
              <a:rPr lang="en-US" sz="3200" dirty="0"/>
              <a:t> </a:t>
            </a:r>
            <a:r>
              <a:rPr sz="3200" dirty="0"/>
              <a:t>with options</a:t>
            </a:r>
          </a:p>
        </p:txBody>
      </p:sp>
      <p:sp>
        <p:nvSpPr>
          <p:cNvPr id="22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10</a:t>
            </a:fld>
            <a:endParaRPr/>
          </a:p>
        </p:txBody>
      </p:sp>
      <p:pic>
        <p:nvPicPr>
          <p:cNvPr id="222" name="droppedImage.pdf" descr="droppedImage.pdf"/>
          <p:cNvPicPr>
            <a:picLocks noChangeAspect="1"/>
          </p:cNvPicPr>
          <p:nvPr/>
        </p:nvPicPr>
        <p:blipFill>
          <a:blip r:embed="rId4"/>
          <a:stretch>
            <a:fillRect/>
          </a:stretch>
        </p:blipFill>
        <p:spPr>
          <a:xfrm>
            <a:off x="9550400" y="5675450"/>
            <a:ext cx="3594100" cy="1855650"/>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xit" presetSubtype="0" fill="hold" grpId="1" nodeType="clickEffect">
                                  <p:stCondLst>
                                    <p:cond delay="0"/>
                                  </p:stCondLst>
                                  <p:iterate>
                                    <p:tmAbs val="0"/>
                                  </p:iterate>
                                  <p:childTnLst>
                                    <p:set>
                                      <p:cBhvr>
                                        <p:cTn id="6" fill="hold">
                                          <p:stCondLst>
                                            <p:cond delay="0"/>
                                          </p:stCondLst>
                                        </p:cTn>
                                        <p:tgtEl>
                                          <p:spTgt spid="217"/>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grpId="2" nodeType="afterEffect">
                                  <p:stCondLst>
                                    <p:cond delay="0"/>
                                  </p:stCondLst>
                                  <p:iterate>
                                    <p:tmAbs val="0"/>
                                  </p:iterate>
                                  <p:childTnLst>
                                    <p:set>
                                      <p:cBhvr>
                                        <p:cTn id="9" fill="hold"/>
                                        <p:tgtEl>
                                          <p:spTgt spid="21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3" nodeType="clickEffect">
                                  <p:stCondLst>
                                    <p:cond delay="0"/>
                                  </p:stCondLst>
                                  <p:iterate>
                                    <p:tmAbs val="0"/>
                                  </p:iterate>
                                  <p:childTnLst>
                                    <p:set>
                                      <p:cBhvr>
                                        <p:cTn id="13" fill="hold"/>
                                        <p:tgtEl>
                                          <p:spTgt spid="222"/>
                                        </p:tgtEl>
                                        <p:attrNameLst>
                                          <p:attrName>style.visibility</p:attrName>
                                        </p:attrNameLst>
                                      </p:cBhvr>
                                      <p:to>
                                        <p:strVal val="visible"/>
                                      </p:to>
                                    </p:set>
                                  </p:childTnLst>
                                </p:cTn>
                              </p:par>
                            </p:childTnLst>
                          </p:cTn>
                        </p:par>
                        <p:par>
                          <p:cTn id="14" fill="hold">
                            <p:stCondLst>
                              <p:cond delay="0"/>
                            </p:stCondLst>
                            <p:childTnLst>
                              <p:par>
                                <p:cTn id="15" presetID="9" presetClass="exit" fill="hold" grpId="4" nodeType="afterEffect">
                                  <p:stCondLst>
                                    <p:cond delay="0"/>
                                  </p:stCondLst>
                                  <p:iterate>
                                    <p:tmAbs val="0"/>
                                  </p:iterate>
                                  <p:childTnLst>
                                    <p:animEffect transition="out" filter="dissolve">
                                      <p:cBhvr>
                                        <p:cTn id="16" dur="1000" fill="hold"/>
                                        <p:tgtEl>
                                          <p:spTgt spid="218"/>
                                        </p:tgtEl>
                                      </p:cBhvr>
                                    </p:animEffect>
                                    <p:set>
                                      <p:cBhvr>
                                        <p:cTn id="17" fill="hold">
                                          <p:stCondLst>
                                            <p:cond delay="999"/>
                                          </p:stCondLst>
                                        </p:cTn>
                                        <p:tgtEl>
                                          <p:spTgt spid="218"/>
                                        </p:tgtEl>
                                        <p:attrNameLst>
                                          <p:attrName>style.visibility</p:attrName>
                                        </p:attrNameLst>
                                      </p:cBhvr>
                                      <p:to>
                                        <p:strVal val="hidden"/>
                                      </p:to>
                                    </p:set>
                                  </p:childTnLst>
                                </p:cTn>
                              </p:par>
                            </p:childTnLst>
                          </p:cTn>
                        </p:par>
                        <p:par>
                          <p:cTn id="18" fill="hold">
                            <p:stCondLst>
                              <p:cond delay="0"/>
                            </p:stCondLst>
                            <p:childTnLst>
                              <p:par>
                                <p:cTn id="19" presetID="8" presetClass="emph" presetSubtype="0" fill="hold" grpId="5" nodeType="afterEffect">
                                  <p:stCondLst>
                                    <p:cond delay="0"/>
                                  </p:stCondLst>
                                  <p:childTnLst>
                                    <p:animRot by="5400000">
                                      <p:cBhvr>
                                        <p:cTn id="20" dur="1000" fill="hold"/>
                                        <p:tgtEl>
                                          <p:spTgt spid="222"/>
                                        </p:tgtEl>
                                        <p:attrNameLst>
                                          <p:attrName>r</p:attrName>
                                        </p:attrNameLst>
                                      </p:cBhvr>
                                    </p:animRot>
                                  </p:childTnLst>
                                </p:cTn>
                              </p:par>
                            </p:childTnLst>
                          </p:cTn>
                        </p:par>
                        <p:par>
                          <p:cTn id="21" fill="hold">
                            <p:stCondLst>
                              <p:cond delay="0"/>
                            </p:stCondLst>
                            <p:childTnLst>
                              <p:par>
                                <p:cTn id="22" presetID="6" presetClass="emph" presetSubtype="0" fill="hold" grpId="6" nodeType="withEffect">
                                  <p:stCondLst>
                                    <p:cond delay="0"/>
                                  </p:stCondLst>
                                  <p:childTnLst>
                                    <p:animScale>
                                      <p:cBhvr>
                                        <p:cTn id="23" dur="1000" fill="hold"/>
                                        <p:tgtEl>
                                          <p:spTgt spid="222"/>
                                        </p:tgtEl>
                                      </p:cBhvr>
                                      <p:by x="134615" y="134615"/>
                                    </p:animScale>
                                  </p:childTnLst>
                                </p:cTn>
                              </p:par>
                            </p:childTnLst>
                          </p:cTn>
                        </p:par>
                        <p:par>
                          <p:cTn id="24" fill="hold">
                            <p:stCondLst>
                              <p:cond delay="0"/>
                            </p:stCondLst>
                            <p:childTnLst>
                              <p:par>
                                <p:cTn id="25" presetID="-1" presetClass="path" presetSubtype="0" fill="hold" nodeType="withEffect">
                                  <p:stCondLst>
                                    <p:cond delay="0"/>
                                  </p:stCondLst>
                                  <p:childTnLst>
                                    <p:animMotion origin="layout" path="M 0.000000 0.000000 C -0.079268 0.031462 -0.111658 -0.017933 -0.135254 -0.123624 C -0.158850 -0.229314 -0.164717 -0.351277 -0.085449 -0.382738" pathEditMode="relative">
                                      <p:cBhvr>
                                        <p:cTn id="26" dur="1000" fill="hold"/>
                                        <p:tgtEl>
                                          <p:spTgt spid="22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 grpId="1" animBg="1" advAuto="0"/>
      <p:bldP spid="218" grpId="2" animBg="1" advAuto="0"/>
      <p:bldP spid="218" grpId="4" animBg="1" advAuto="0"/>
      <p:bldP spid="222" grpId="3" animBg="1" advAuto="0"/>
      <p:bldP spid="222" grpId="5" animBg="1" advAuto="0"/>
      <p:bldP spid="222" grpId="6" animBg="1" advAuto="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4" name="Flag Field"/>
          <p:cNvSpPr txBox="1">
            <a:spLocks noGrp="1"/>
          </p:cNvSpPr>
          <p:nvPr>
            <p:ph type="title"/>
          </p:nvPr>
        </p:nvSpPr>
        <p:spPr>
          <a:prstGeom prst="rect">
            <a:avLst/>
          </a:prstGeom>
        </p:spPr>
        <p:txBody>
          <a:bodyPr/>
          <a:lstStyle>
            <a:lvl1pPr algn="l"/>
          </a:lstStyle>
          <a:p>
            <a:r>
              <a:t>Flag Field</a:t>
            </a:r>
          </a:p>
        </p:txBody>
      </p:sp>
      <p:sp>
        <p:nvSpPr>
          <p:cNvPr id="22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11</a:t>
            </a:fld>
            <a:endParaRPr/>
          </a:p>
        </p:txBody>
      </p:sp>
      <p:pic>
        <p:nvPicPr>
          <p:cNvPr id="226" name="droppedImage.pdf" descr="droppedImage.pdf"/>
          <p:cNvPicPr>
            <a:picLocks noChangeAspect="1"/>
          </p:cNvPicPr>
          <p:nvPr/>
        </p:nvPicPr>
        <p:blipFill>
          <a:blip r:embed="rId2"/>
          <a:stretch>
            <a:fillRect/>
          </a:stretch>
        </p:blipFill>
        <p:spPr>
          <a:xfrm rot="5400000">
            <a:off x="7798524" y="1624875"/>
            <a:ext cx="4851401" cy="2504800"/>
          </a:xfrm>
          <a:prstGeom prst="rect">
            <a:avLst/>
          </a:prstGeom>
          <a:ln w="12700">
            <a:miter lim="400000"/>
          </a:ln>
        </p:spPr>
      </p:pic>
      <p:sp>
        <p:nvSpPr>
          <p:cNvPr id="227" name="ACK: Segment acknowledges receipt of  another segment (i.e. ack seq# is good)…"/>
          <p:cNvSpPr txBox="1">
            <a:spLocks noGrp="1"/>
          </p:cNvSpPr>
          <p:nvPr>
            <p:ph type="body" idx="1"/>
          </p:nvPr>
        </p:nvSpPr>
        <p:spPr>
          <a:xfrm>
            <a:off x="546100" y="2070100"/>
            <a:ext cx="11544300" cy="6375400"/>
          </a:xfrm>
          <a:prstGeom prst="rect">
            <a:avLst/>
          </a:prstGeom>
        </p:spPr>
        <p:txBody>
          <a:bodyPr anchor="t">
            <a:normAutofit/>
          </a:bodyPr>
          <a:lstStyle/>
          <a:p>
            <a:pPr marL="373379" indent="-373379" defTabSz="490727">
              <a:spcBef>
                <a:spcPts val="2000"/>
              </a:spcBef>
              <a:defRPr sz="3528"/>
            </a:pPr>
            <a:r>
              <a:t>ACK: Segment acknowledges receipt of </a:t>
            </a:r>
            <a:br/>
            <a:r>
              <a:t>another segment (i.e. ack seq# is good)</a:t>
            </a:r>
          </a:p>
          <a:p>
            <a:pPr marL="373379" indent="-373379" defTabSz="490727">
              <a:spcBef>
                <a:spcPts val="2000"/>
              </a:spcBef>
              <a:defRPr sz="3528"/>
            </a:pPr>
            <a:r>
              <a:t>Setup and teardown signals</a:t>
            </a:r>
          </a:p>
          <a:p>
            <a:pPr marL="640079" lvl="1" indent="-373379" defTabSz="490727">
              <a:spcBef>
                <a:spcPts val="1300"/>
              </a:spcBef>
              <a:defRPr sz="3528"/>
            </a:pPr>
            <a:r>
              <a:t>SYN: Synchronize seq#</a:t>
            </a:r>
          </a:p>
          <a:p>
            <a:pPr marL="640079" lvl="1" indent="-373379" defTabSz="490727">
              <a:spcBef>
                <a:spcPts val="1300"/>
              </a:spcBef>
              <a:defRPr sz="3528"/>
            </a:pPr>
            <a:r>
              <a:t>FIN: No more data from sender</a:t>
            </a:r>
          </a:p>
          <a:p>
            <a:pPr marL="640079" lvl="1" indent="-373379" defTabSz="490727">
              <a:spcBef>
                <a:spcPts val="1300"/>
              </a:spcBef>
              <a:defRPr sz="3528"/>
            </a:pPr>
            <a:r>
              <a:t>RST: Reset connection</a:t>
            </a:r>
          </a:p>
          <a:p>
            <a:pPr marL="373379" indent="-373379" defTabSz="490727">
              <a:spcBef>
                <a:spcPts val="2000"/>
              </a:spcBef>
              <a:defRPr sz="3528"/>
            </a:pPr>
            <a:r>
              <a:t>Rarely used</a:t>
            </a:r>
          </a:p>
          <a:p>
            <a:pPr marL="640079" lvl="1" indent="-373379" defTabSz="490727">
              <a:spcBef>
                <a:spcPts val="1300"/>
              </a:spcBef>
              <a:defRPr sz="3528"/>
            </a:pPr>
            <a:r>
              <a:t>PSH: Push the data to app-layer immediately</a:t>
            </a:r>
          </a:p>
          <a:p>
            <a:pPr marL="640079" lvl="1" indent="-373379" defTabSz="490727">
              <a:spcBef>
                <a:spcPts val="1300"/>
              </a:spcBef>
              <a:defRPr sz="3528"/>
            </a:pPr>
            <a:r>
              <a:t>URG: Urgent data, indicated by Urgent Data Pointer </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9" name="Format"/>
          <p:cNvSpPr txBox="1">
            <a:spLocks noGrp="1"/>
          </p:cNvSpPr>
          <p:nvPr>
            <p:ph type="title"/>
          </p:nvPr>
        </p:nvSpPr>
        <p:spPr>
          <a:prstGeom prst="rect">
            <a:avLst/>
          </a:prstGeom>
        </p:spPr>
        <p:txBody>
          <a:bodyPr/>
          <a:lstStyle>
            <a:lvl1pPr algn="l"/>
          </a:lstStyle>
          <a:p>
            <a:r>
              <a:t>Format</a:t>
            </a:r>
          </a:p>
        </p:txBody>
      </p:sp>
      <p:sp>
        <p:nvSpPr>
          <p:cNvPr id="230" name="Receive window…"/>
          <p:cNvSpPr txBox="1">
            <a:spLocks noGrp="1"/>
          </p:cNvSpPr>
          <p:nvPr>
            <p:ph type="body" sz="half" idx="1"/>
          </p:nvPr>
        </p:nvSpPr>
        <p:spPr>
          <a:xfrm>
            <a:off x="112542" y="2298700"/>
            <a:ext cx="6217920" cy="4425657"/>
          </a:xfrm>
          <a:prstGeom prst="rect">
            <a:avLst/>
          </a:prstGeom>
        </p:spPr>
        <p:txBody>
          <a:bodyPr>
            <a:normAutofit/>
          </a:bodyPr>
          <a:lstStyle/>
          <a:p>
            <a:r>
              <a:rPr sz="4000" dirty="0"/>
              <a:t>Receive window</a:t>
            </a:r>
          </a:p>
          <a:p>
            <a:pPr lvl="1"/>
            <a:r>
              <a:rPr sz="4000" dirty="0"/>
              <a:t>#bytes receiver is willing to accept</a:t>
            </a:r>
          </a:p>
          <a:p>
            <a:pPr lvl="1"/>
            <a:r>
              <a:rPr sz="4000" dirty="0"/>
              <a:t>For flow-control</a:t>
            </a:r>
          </a:p>
        </p:txBody>
      </p:sp>
      <p:sp>
        <p:nvSpPr>
          <p:cNvPr id="23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12</a:t>
            </a:fld>
            <a:endParaRPr/>
          </a:p>
        </p:txBody>
      </p:sp>
      <p:pic>
        <p:nvPicPr>
          <p:cNvPr id="232" name="droppedImage.pdf" descr="droppedImage.pdf"/>
          <p:cNvPicPr>
            <a:picLocks noChangeAspect="1"/>
          </p:cNvPicPr>
          <p:nvPr/>
        </p:nvPicPr>
        <p:blipFill>
          <a:blip r:embed="rId2"/>
          <a:stretch>
            <a:fillRect/>
          </a:stretch>
        </p:blipFill>
        <p:spPr>
          <a:xfrm>
            <a:off x="6172200" y="939800"/>
            <a:ext cx="6083300" cy="7869043"/>
          </a:xfrm>
          <a:prstGeom prst="rect">
            <a:avLst/>
          </a:prstGeom>
          <a:ln w="12700">
            <a:miter lim="400000"/>
          </a:ln>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4" name="Format"/>
          <p:cNvSpPr txBox="1">
            <a:spLocks noGrp="1"/>
          </p:cNvSpPr>
          <p:nvPr>
            <p:ph type="title"/>
          </p:nvPr>
        </p:nvSpPr>
        <p:spPr>
          <a:prstGeom prst="rect">
            <a:avLst/>
          </a:prstGeom>
        </p:spPr>
        <p:txBody>
          <a:bodyPr/>
          <a:lstStyle>
            <a:lvl1pPr algn="l"/>
          </a:lstStyle>
          <a:p>
            <a:r>
              <a:t>Format</a:t>
            </a:r>
          </a:p>
        </p:txBody>
      </p:sp>
      <p:sp>
        <p:nvSpPr>
          <p:cNvPr id="235" name="Checksum…"/>
          <p:cNvSpPr txBox="1">
            <a:spLocks noGrp="1"/>
          </p:cNvSpPr>
          <p:nvPr>
            <p:ph type="body" sz="half" idx="1"/>
          </p:nvPr>
        </p:nvSpPr>
        <p:spPr>
          <a:xfrm>
            <a:off x="253218" y="1955409"/>
            <a:ext cx="6490482" cy="6515491"/>
          </a:xfrm>
          <a:prstGeom prst="rect">
            <a:avLst/>
          </a:prstGeom>
        </p:spPr>
        <p:txBody>
          <a:bodyPr>
            <a:normAutofit fontScale="85000" lnSpcReduction="10000"/>
          </a:bodyPr>
          <a:lstStyle/>
          <a:p>
            <a:pPr marL="391159" indent="-391159" defTabSz="514095">
              <a:lnSpc>
                <a:spcPct val="120000"/>
              </a:lnSpc>
              <a:spcBef>
                <a:spcPts val="2100"/>
              </a:spcBef>
              <a:defRPr sz="3696"/>
            </a:pPr>
            <a:r>
              <a:rPr dirty="0"/>
              <a:t>Checksum</a:t>
            </a:r>
            <a:endParaRPr lang="en-US" dirty="0"/>
          </a:p>
          <a:p>
            <a:pPr marL="670559" lvl="1" indent="-391159" defTabSz="514095">
              <a:lnSpc>
                <a:spcPct val="120000"/>
              </a:lnSpc>
              <a:spcBef>
                <a:spcPts val="1400"/>
              </a:spcBef>
              <a:defRPr sz="3696"/>
            </a:pPr>
            <a:r>
              <a:rPr lang="en-US" sz="3500" dirty="0"/>
              <a:t>Error-checking for header + data.</a:t>
            </a:r>
          </a:p>
          <a:p>
            <a:pPr marL="670559" lvl="1" indent="-391159" defTabSz="514095">
              <a:lnSpc>
                <a:spcPct val="120000"/>
              </a:lnSpc>
              <a:spcBef>
                <a:spcPts val="1400"/>
              </a:spcBef>
              <a:defRPr sz="3696"/>
            </a:pPr>
            <a:r>
              <a:rPr lang="en-US" sz="3500" dirty="0"/>
              <a:t>Ensures integrity.</a:t>
            </a:r>
          </a:p>
          <a:p>
            <a:pPr marL="391159" indent="-391159" defTabSz="514095">
              <a:lnSpc>
                <a:spcPct val="120000"/>
              </a:lnSpc>
              <a:spcBef>
                <a:spcPts val="2100"/>
              </a:spcBef>
              <a:defRPr sz="3696"/>
            </a:pPr>
            <a:r>
              <a:rPr dirty="0"/>
              <a:t>Urgent data pointer</a:t>
            </a:r>
          </a:p>
          <a:p>
            <a:pPr marL="670559" lvl="1" indent="-391159" defTabSz="514095">
              <a:lnSpc>
                <a:spcPct val="120000"/>
              </a:lnSpc>
              <a:spcBef>
                <a:spcPts val="1400"/>
              </a:spcBef>
              <a:defRPr sz="3696"/>
            </a:pPr>
            <a:r>
              <a:rPr sz="3500" dirty="0"/>
              <a:t>Offset in data field</a:t>
            </a:r>
          </a:p>
          <a:p>
            <a:pPr marL="391159" indent="-391159" defTabSz="514095">
              <a:lnSpc>
                <a:spcPct val="120000"/>
              </a:lnSpc>
              <a:spcBef>
                <a:spcPts val="2100"/>
              </a:spcBef>
              <a:defRPr sz="3696"/>
            </a:pPr>
            <a:r>
              <a:rPr dirty="0"/>
              <a:t>Options</a:t>
            </a:r>
          </a:p>
          <a:p>
            <a:pPr marL="670559" lvl="1" indent="-391159" defTabSz="514095">
              <a:lnSpc>
                <a:spcPct val="120000"/>
              </a:lnSpc>
              <a:spcBef>
                <a:spcPts val="1400"/>
              </a:spcBef>
              <a:defRPr sz="3696"/>
            </a:pPr>
            <a:r>
              <a:rPr sz="3500" dirty="0"/>
              <a:t>Time stamps</a:t>
            </a:r>
          </a:p>
          <a:p>
            <a:pPr marL="670559" lvl="1" indent="-391159" defTabSz="514095">
              <a:lnSpc>
                <a:spcPct val="120000"/>
              </a:lnSpc>
              <a:spcBef>
                <a:spcPts val="1400"/>
              </a:spcBef>
              <a:defRPr sz="3696"/>
            </a:pPr>
            <a:r>
              <a:rPr sz="3500" dirty="0"/>
              <a:t>Window scaling factors</a:t>
            </a:r>
          </a:p>
          <a:p>
            <a:pPr marL="670559" lvl="1" indent="-391159" defTabSz="514095">
              <a:lnSpc>
                <a:spcPct val="120000"/>
              </a:lnSpc>
              <a:spcBef>
                <a:spcPts val="1400"/>
              </a:spcBef>
              <a:defRPr sz="3696"/>
            </a:pPr>
            <a:r>
              <a:rPr sz="3500" dirty="0"/>
              <a:t>Negotiating MSS</a:t>
            </a:r>
          </a:p>
        </p:txBody>
      </p:sp>
      <p:sp>
        <p:nvSpPr>
          <p:cNvPr id="23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13</a:t>
            </a:fld>
            <a:endParaRPr/>
          </a:p>
        </p:txBody>
      </p:sp>
      <p:pic>
        <p:nvPicPr>
          <p:cNvPr id="237" name="droppedImage.pdf" descr="droppedImage.pdf"/>
          <p:cNvPicPr>
            <a:picLocks noChangeAspect="1"/>
          </p:cNvPicPr>
          <p:nvPr/>
        </p:nvPicPr>
        <p:blipFill>
          <a:blip r:embed="rId3"/>
          <a:stretch>
            <a:fillRect/>
          </a:stretch>
        </p:blipFill>
        <p:spPr>
          <a:xfrm>
            <a:off x="6540500" y="939800"/>
            <a:ext cx="6083300" cy="7869043"/>
          </a:xfrm>
          <a:prstGeom prst="rect">
            <a:avLst/>
          </a:prstGeom>
          <a:ln w="12700">
            <a:miter lim="400000"/>
          </a:ln>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9" name="Format"/>
          <p:cNvSpPr txBox="1">
            <a:spLocks noGrp="1"/>
          </p:cNvSpPr>
          <p:nvPr>
            <p:ph type="title"/>
          </p:nvPr>
        </p:nvSpPr>
        <p:spPr>
          <a:prstGeom prst="rect">
            <a:avLst/>
          </a:prstGeom>
        </p:spPr>
        <p:txBody>
          <a:bodyPr/>
          <a:lstStyle>
            <a:lvl1pPr algn="l"/>
          </a:lstStyle>
          <a:p>
            <a:r>
              <a:t>Format</a:t>
            </a:r>
          </a:p>
        </p:txBody>
      </p:sp>
      <p:sp>
        <p:nvSpPr>
          <p:cNvPr id="240" name="Application Data…"/>
          <p:cNvSpPr txBox="1">
            <a:spLocks noGrp="1"/>
          </p:cNvSpPr>
          <p:nvPr>
            <p:ph type="body" sz="half" idx="1"/>
          </p:nvPr>
        </p:nvSpPr>
        <p:spPr>
          <a:xfrm>
            <a:off x="571500" y="1993900"/>
            <a:ext cx="6083300" cy="6883400"/>
          </a:xfrm>
          <a:prstGeom prst="rect">
            <a:avLst/>
          </a:prstGeom>
        </p:spPr>
        <p:txBody>
          <a:bodyPr>
            <a:normAutofit/>
          </a:bodyPr>
          <a:lstStyle/>
          <a:p>
            <a:pPr marL="342264" indent="-342264" defTabSz="449833">
              <a:spcBef>
                <a:spcPts val="1800"/>
              </a:spcBef>
              <a:defRPr sz="3234"/>
            </a:pPr>
            <a:r>
              <a:rPr sz="3200" dirty="0"/>
              <a:t>Application Data</a:t>
            </a:r>
          </a:p>
          <a:p>
            <a:pPr marL="586739" lvl="1" indent="-342264" defTabSz="449833">
              <a:spcBef>
                <a:spcPts val="1200"/>
              </a:spcBef>
              <a:defRPr sz="3234"/>
            </a:pPr>
            <a:r>
              <a:rPr sz="3000" dirty="0"/>
              <a:t>Size limited by MSS</a:t>
            </a:r>
          </a:p>
          <a:p>
            <a:pPr marL="342264" indent="-342264" defTabSz="449833">
              <a:spcBef>
                <a:spcPts val="1800"/>
              </a:spcBef>
              <a:defRPr sz="3234"/>
            </a:pPr>
            <a:r>
              <a:rPr sz="3200" dirty="0"/>
              <a:t>MSS=Maximum Segment Size</a:t>
            </a:r>
          </a:p>
          <a:p>
            <a:pPr marL="586739" lvl="1" indent="-342264" defTabSz="449833">
              <a:spcBef>
                <a:spcPts val="1200"/>
              </a:spcBef>
              <a:defRPr sz="3234"/>
            </a:pPr>
            <a:r>
              <a:rPr sz="3000" dirty="0"/>
              <a:t>Despite name, MSS is most app data that can be carried</a:t>
            </a:r>
          </a:p>
          <a:p>
            <a:pPr marL="342264" indent="-342264" defTabSz="449833">
              <a:spcBef>
                <a:spcPts val="1800"/>
              </a:spcBef>
              <a:defRPr sz="3234"/>
            </a:pPr>
            <a:r>
              <a:rPr sz="3200" dirty="0"/>
              <a:t>MTU (Max Trans Unit) of lower level generally drives MSS</a:t>
            </a:r>
          </a:p>
          <a:p>
            <a:pPr marL="586739" lvl="1" indent="-342264" defTabSz="449833">
              <a:spcBef>
                <a:spcPts val="1200"/>
              </a:spcBef>
              <a:defRPr sz="3234"/>
            </a:pPr>
            <a:r>
              <a:rPr sz="3000" dirty="0"/>
              <a:t>App data + TCP header + IP overhead must fit in MTU</a:t>
            </a:r>
          </a:p>
          <a:p>
            <a:pPr marL="586739" lvl="1" indent="-342264" defTabSz="449833">
              <a:spcBef>
                <a:spcPts val="1200"/>
              </a:spcBef>
              <a:defRPr sz="3234"/>
            </a:pPr>
            <a:r>
              <a:rPr sz="3000" dirty="0"/>
              <a:t>MSS is often 1460, 536 or 512 bytes</a:t>
            </a:r>
          </a:p>
        </p:txBody>
      </p:sp>
      <p:sp>
        <p:nvSpPr>
          <p:cNvPr id="24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14</a:t>
            </a:fld>
            <a:endParaRPr/>
          </a:p>
        </p:txBody>
      </p:sp>
      <p:pic>
        <p:nvPicPr>
          <p:cNvPr id="242" name="droppedImage.pdf" descr="droppedImage.pdf"/>
          <p:cNvPicPr>
            <a:picLocks noChangeAspect="1"/>
          </p:cNvPicPr>
          <p:nvPr/>
        </p:nvPicPr>
        <p:blipFill>
          <a:blip r:embed="rId3"/>
          <a:stretch>
            <a:fillRect/>
          </a:stretch>
        </p:blipFill>
        <p:spPr>
          <a:xfrm>
            <a:off x="6540500" y="939800"/>
            <a:ext cx="6083300" cy="7869043"/>
          </a:xfrm>
          <a:prstGeom prst="rect">
            <a:avLst/>
          </a:prstGeom>
          <a:ln w="12700">
            <a:miter lim="400000"/>
          </a:ln>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46" name="Question"/>
          <p:cNvSpPr txBox="1">
            <a:spLocks noGrp="1"/>
          </p:cNvSpPr>
          <p:nvPr>
            <p:ph type="title"/>
          </p:nvPr>
        </p:nvSpPr>
        <p:spPr>
          <a:prstGeom prst="rect">
            <a:avLst/>
          </a:prstGeom>
        </p:spPr>
        <p:txBody>
          <a:bodyPr/>
          <a:lstStyle/>
          <a:p>
            <a:r>
              <a:t>Question</a:t>
            </a:r>
          </a:p>
        </p:txBody>
      </p:sp>
      <p:sp>
        <p:nvSpPr>
          <p:cNvPr id="247" name="Huge file of L bytes, MSS of 1200 bytes, TCP sequence number field of 4 bytes…"/>
          <p:cNvSpPr txBox="1">
            <a:spLocks noGrp="1"/>
          </p:cNvSpPr>
          <p:nvPr>
            <p:ph type="body" idx="1"/>
          </p:nvPr>
        </p:nvSpPr>
        <p:spPr>
          <a:xfrm>
            <a:off x="1270000" y="1981200"/>
            <a:ext cx="10464800" cy="7150100"/>
          </a:xfrm>
          <a:prstGeom prst="rect">
            <a:avLst/>
          </a:prstGeom>
        </p:spPr>
        <p:txBody>
          <a:bodyPr anchor="t">
            <a:normAutofit/>
          </a:bodyPr>
          <a:lstStyle/>
          <a:p>
            <a:pPr marL="423333" indent="-423333">
              <a:defRPr sz="4000"/>
            </a:pPr>
            <a:r>
              <a:t>Huge file of L bytes, MSS of 1200 bytes, TCP sequence number field of 4 bytes</a:t>
            </a:r>
          </a:p>
          <a:p>
            <a:pPr marL="423333" indent="-423333">
              <a:defRPr sz="4000"/>
            </a:pPr>
            <a:r>
              <a:t>What is the maximum value of L such that TCP sequence numbers are not reused?</a:t>
            </a:r>
          </a:p>
        </p:txBody>
      </p:sp>
      <p:sp>
        <p:nvSpPr>
          <p:cNvPr id="24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15</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1" nodeType="afterEffect">
                                  <p:stCondLst>
                                    <p:cond delay="0"/>
                                  </p:stCondLst>
                                  <p:iterate>
                                    <p:tmAbs val="0"/>
                                  </p:iterate>
                                  <p:childTnLst>
                                    <p:set>
                                      <p:cBhvr>
                                        <p:cTn id="6" fill="hold"/>
                                        <p:tgtEl>
                                          <p:spTgt spid="247">
                                            <p:bg/>
                                          </p:spTgt>
                                        </p:tgtEl>
                                        <p:attrNameLst>
                                          <p:attrName>style.visibility</p:attrName>
                                        </p:attrNameLst>
                                      </p:cBhvr>
                                      <p:to>
                                        <p:strVal val="visible"/>
                                      </p:to>
                                    </p:set>
                                    <p:animEffect transition="in" filter="fade">
                                      <p:cBhvr>
                                        <p:cTn id="7" dur="500"/>
                                        <p:tgtEl>
                                          <p:spTgt spid="247">
                                            <p:bg/>
                                          </p:spTgt>
                                        </p:tgtEl>
                                      </p:cBhvr>
                                    </p:animEffect>
                                  </p:childTnLst>
                                </p:cTn>
                              </p:par>
                              <p:par>
                                <p:cTn id="8" presetID="10" presetClass="entr" presetSubtype="0" fill="hold" grpId="1" nodeType="withEffect">
                                  <p:stCondLst>
                                    <p:cond delay="0"/>
                                  </p:stCondLst>
                                  <p:iterate>
                                    <p:tmAbs val="0"/>
                                  </p:iterate>
                                  <p:childTnLst>
                                    <p:set>
                                      <p:cBhvr>
                                        <p:cTn id="9" fill="hold"/>
                                        <p:tgtEl>
                                          <p:spTgt spid="247">
                                            <p:txEl>
                                              <p:pRg st="0" end="0"/>
                                            </p:txEl>
                                          </p:spTgt>
                                        </p:tgtEl>
                                        <p:attrNameLst>
                                          <p:attrName>style.visibility</p:attrName>
                                        </p:attrNameLst>
                                      </p:cBhvr>
                                      <p:to>
                                        <p:strVal val="visible"/>
                                      </p:to>
                                    </p:set>
                                    <p:animEffect transition="in" filter="fade">
                                      <p:cBhvr>
                                        <p:cTn id="10" dur="500"/>
                                        <p:tgtEl>
                                          <p:spTgt spid="247">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fill="hold" grpId="1" nodeType="clickEffect">
                                  <p:stCondLst>
                                    <p:cond delay="0"/>
                                  </p:stCondLst>
                                  <p:iterate>
                                    <p:tmAbs val="0"/>
                                  </p:iterate>
                                  <p:childTnLst>
                                    <p:set>
                                      <p:cBhvr>
                                        <p:cTn id="14" fill="hold"/>
                                        <p:tgtEl>
                                          <p:spTgt spid="247">
                                            <p:txEl>
                                              <p:pRg st="1" end="1"/>
                                            </p:txEl>
                                          </p:spTgt>
                                        </p:tgtEl>
                                        <p:attrNameLst>
                                          <p:attrName>style.visibility</p:attrName>
                                        </p:attrNameLst>
                                      </p:cBhvr>
                                      <p:to>
                                        <p:strVal val="visible"/>
                                      </p:to>
                                    </p:set>
                                    <p:animEffect transition="in" filter="fade">
                                      <p:cBhvr>
                                        <p:cTn id="15" dur="500"/>
                                        <p:tgtEl>
                                          <p:spTgt spid="2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 grpId="1" build="p" animBg="1" advAuto="0"/>
    </p:bldLst>
  </p:timing>
</p:sld>
</file>

<file path=ppt/slides/slide1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50" name="Question"/>
          <p:cNvSpPr txBox="1">
            <a:spLocks noGrp="1"/>
          </p:cNvSpPr>
          <p:nvPr>
            <p:ph type="title"/>
          </p:nvPr>
        </p:nvSpPr>
        <p:spPr>
          <a:prstGeom prst="rect">
            <a:avLst/>
          </a:prstGeom>
        </p:spPr>
        <p:txBody>
          <a:bodyPr/>
          <a:lstStyle/>
          <a:p>
            <a:r>
              <a:t>Question</a:t>
            </a:r>
          </a:p>
        </p:txBody>
      </p:sp>
      <p:sp>
        <p:nvSpPr>
          <p:cNvPr id="251" name="Huge file of L bytes, MSS of 1200 bytes, TCP sequence number field of 4 bytes…"/>
          <p:cNvSpPr txBox="1">
            <a:spLocks noGrp="1"/>
          </p:cNvSpPr>
          <p:nvPr>
            <p:ph type="body" idx="1"/>
          </p:nvPr>
        </p:nvSpPr>
        <p:spPr>
          <a:xfrm>
            <a:off x="1270000" y="1943100"/>
            <a:ext cx="10464800" cy="7150100"/>
          </a:xfrm>
          <a:prstGeom prst="rect">
            <a:avLst/>
          </a:prstGeom>
        </p:spPr>
        <p:txBody>
          <a:bodyPr>
            <a:normAutofit lnSpcReduction="10000"/>
          </a:bodyPr>
          <a:lstStyle/>
          <a:p>
            <a:pPr marL="413384" indent="-413384" defTabSz="543305">
              <a:spcBef>
                <a:spcPts val="2200"/>
              </a:spcBef>
              <a:defRPr sz="3906"/>
            </a:pPr>
            <a:r>
              <a:t>Huge file of L bytes, MSS of 1200 bytes, TCP sequence number field of 4 bytes</a:t>
            </a:r>
          </a:p>
          <a:p>
            <a:pPr marL="413384" indent="-413384" defTabSz="543305">
              <a:spcBef>
                <a:spcPts val="2200"/>
              </a:spcBef>
              <a:defRPr sz="3906"/>
            </a:pPr>
            <a:r>
              <a:t>What is the maximum value of L such that TCP sequence numbers are not reused?</a:t>
            </a:r>
          </a:p>
          <a:p>
            <a:pPr marL="413384" indent="-413384" defTabSz="543305">
              <a:spcBef>
                <a:spcPts val="2200"/>
              </a:spcBef>
              <a:defRPr sz="3906"/>
            </a:pPr>
            <a:r>
              <a:t>Kind of a trick question…</a:t>
            </a:r>
          </a:p>
          <a:p>
            <a:pPr marL="413384" indent="-413384" defTabSz="543305">
              <a:spcBef>
                <a:spcPts val="2200"/>
              </a:spcBef>
              <a:defRPr sz="3906"/>
            </a:pPr>
            <a:r>
              <a:t>TCP sequence number is based on number of bytes, not segments ➙ MSS is irrelevant</a:t>
            </a:r>
          </a:p>
          <a:p>
            <a:pPr marL="413384" indent="-413384" defTabSz="543305">
              <a:spcBef>
                <a:spcPts val="2200"/>
              </a:spcBef>
              <a:defRPr sz="3906"/>
            </a:pPr>
            <a:r>
              <a:t>Sequence number field is 32-bits, but all sequence number arithmetic is modulo 2</a:t>
            </a:r>
            <a:r>
              <a:rPr baseline="31999"/>
              <a:t>32</a:t>
            </a:r>
            <a:r>
              <a:t> so a theoretical file of L = ∞ bytes is possible</a:t>
            </a:r>
          </a:p>
        </p:txBody>
      </p:sp>
      <p:sp>
        <p:nvSpPr>
          <p:cNvPr id="25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16</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0" presetClass="entr" fill="hold" grpId="1" nodeType="clickEffect">
                                  <p:stCondLst>
                                    <p:cond delay="0"/>
                                  </p:stCondLst>
                                  <p:iterate>
                                    <p:tmAbs val="0"/>
                                  </p:iterate>
                                  <p:childTnLst>
                                    <p:set>
                                      <p:cBhvr>
                                        <p:cTn id="6" fill="hold"/>
                                        <p:tgtEl>
                                          <p:spTgt spid="251">
                                            <p:txEl>
                                              <p:pRg st="2" end="2"/>
                                            </p:txEl>
                                          </p:spTgt>
                                        </p:tgtEl>
                                        <p:attrNameLst>
                                          <p:attrName>style.visibility</p:attrName>
                                        </p:attrNameLst>
                                      </p:cBhvr>
                                      <p:to>
                                        <p:strVal val="visible"/>
                                      </p:to>
                                    </p:set>
                                    <p:animEffect transition="in" filter="fade">
                                      <p:cBhvr>
                                        <p:cTn id="7" dur="500"/>
                                        <p:tgtEl>
                                          <p:spTgt spid="251">
                                            <p:txEl>
                                              <p:pRg st="2" end="2"/>
                                            </p:txEl>
                                          </p:spTgt>
                                        </p:tgtEl>
                                      </p:cBhvr>
                                    </p:animEffect>
                                  </p:childTnLst>
                                </p:cTn>
                              </p:par>
                            </p:childTnLst>
                          </p:cTn>
                        </p:par>
                        <p:par>
                          <p:cTn id="8" fill="hold">
                            <p:stCondLst>
                              <p:cond delay="500"/>
                            </p:stCondLst>
                            <p:childTnLst>
                              <p:par>
                                <p:cTn id="9" presetID="10" presetClass="entr" fill="hold" grpId="1" nodeType="afterEffect">
                                  <p:stCondLst>
                                    <p:cond delay="0"/>
                                  </p:stCondLst>
                                  <p:iterate>
                                    <p:tmAbs val="0"/>
                                  </p:iterate>
                                  <p:childTnLst>
                                    <p:set>
                                      <p:cBhvr>
                                        <p:cTn id="10" fill="hold"/>
                                        <p:tgtEl>
                                          <p:spTgt spid="251">
                                            <p:txEl>
                                              <p:pRg st="3" end="3"/>
                                            </p:txEl>
                                          </p:spTgt>
                                        </p:tgtEl>
                                        <p:attrNameLst>
                                          <p:attrName>style.visibility</p:attrName>
                                        </p:attrNameLst>
                                      </p:cBhvr>
                                      <p:to>
                                        <p:strVal val="visible"/>
                                      </p:to>
                                    </p:set>
                                    <p:animEffect transition="in" filter="fade">
                                      <p:cBhvr>
                                        <p:cTn id="11" dur="500"/>
                                        <p:tgtEl>
                                          <p:spTgt spid="251">
                                            <p:txEl>
                                              <p:pRg st="3" end="3"/>
                                            </p:txEl>
                                          </p:spTgt>
                                        </p:tgtEl>
                                      </p:cBhvr>
                                    </p:animEffect>
                                  </p:childTnLst>
                                </p:cTn>
                              </p:par>
                            </p:childTnLst>
                          </p:cTn>
                        </p:par>
                        <p:par>
                          <p:cTn id="12" fill="hold">
                            <p:stCondLst>
                              <p:cond delay="1000"/>
                            </p:stCondLst>
                            <p:childTnLst>
                              <p:par>
                                <p:cTn id="13" presetID="10" presetClass="entr" fill="hold" grpId="1" nodeType="afterEffect">
                                  <p:stCondLst>
                                    <p:cond delay="0"/>
                                  </p:stCondLst>
                                  <p:iterate>
                                    <p:tmAbs val="0"/>
                                  </p:iterate>
                                  <p:childTnLst>
                                    <p:set>
                                      <p:cBhvr>
                                        <p:cTn id="14" fill="hold"/>
                                        <p:tgtEl>
                                          <p:spTgt spid="251">
                                            <p:txEl>
                                              <p:pRg st="4" end="4"/>
                                            </p:txEl>
                                          </p:spTgt>
                                        </p:tgtEl>
                                        <p:attrNameLst>
                                          <p:attrName>style.visibility</p:attrName>
                                        </p:attrNameLst>
                                      </p:cBhvr>
                                      <p:to>
                                        <p:strVal val="visible"/>
                                      </p:to>
                                    </p:set>
                                    <p:animEffect transition="in" filter="fade">
                                      <p:cBhvr>
                                        <p:cTn id="15" dur="500"/>
                                        <p:tgtEl>
                                          <p:spTgt spid="2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 grpId="1" build="p" animBg="1" advAuto="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4" name="traceroute"/>
          <p:cNvSpPr txBox="1">
            <a:spLocks noGrp="1"/>
          </p:cNvSpPr>
          <p:nvPr>
            <p:ph type="title"/>
          </p:nvPr>
        </p:nvSpPr>
        <p:spPr>
          <a:prstGeom prst="rect">
            <a:avLst/>
          </a:prstGeom>
        </p:spPr>
        <p:txBody>
          <a:bodyPr/>
          <a:lstStyle/>
          <a:p>
            <a:r>
              <a:rPr lang="en-US" dirty="0"/>
              <a:t>Outline</a:t>
            </a:r>
            <a:endParaRPr dirty="0"/>
          </a:p>
        </p:txBody>
      </p:sp>
      <p:sp>
        <p:nvSpPr>
          <p:cNvPr id="255" name="Connection-oriented Transport: TCP…"/>
          <p:cNvSpPr txBox="1">
            <a:spLocks noGrp="1"/>
          </p:cNvSpPr>
          <p:nvPr>
            <p:ph type="body" idx="1"/>
          </p:nvPr>
        </p:nvSpPr>
        <p:spPr>
          <a:prstGeom prst="rect">
            <a:avLst/>
          </a:prstGeom>
        </p:spPr>
        <p:txBody>
          <a:bodyPr/>
          <a:lstStyle/>
          <a:p>
            <a:r>
              <a:rPr dirty="0"/>
              <a:t>Connection-oriented Transport: TCP</a:t>
            </a:r>
          </a:p>
          <a:p>
            <a:r>
              <a:rPr dirty="0"/>
              <a:t>Segment Structure</a:t>
            </a:r>
          </a:p>
          <a:p>
            <a:pPr>
              <a:defRPr>
                <a:solidFill>
                  <a:srgbClr val="F9E05E"/>
                </a:solidFill>
              </a:defRPr>
            </a:pPr>
            <a:r>
              <a:rPr dirty="0">
                <a:solidFill>
                  <a:schemeClr val="accent3">
                    <a:lumMod val="60000"/>
                    <a:lumOff val="40000"/>
                  </a:schemeClr>
                </a:solidFill>
              </a:rPr>
              <a:t>Connection Management</a:t>
            </a:r>
          </a:p>
          <a:p>
            <a:r>
              <a:rPr dirty="0"/>
              <a:t>Reliable Data Transfer</a:t>
            </a:r>
          </a:p>
        </p:txBody>
      </p:sp>
      <p:sp>
        <p:nvSpPr>
          <p:cNvPr id="25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17</a:t>
            </a:fld>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8" name="TCP Connection Management"/>
          <p:cNvSpPr txBox="1">
            <a:spLocks noGrp="1"/>
          </p:cNvSpPr>
          <p:nvPr>
            <p:ph type="title"/>
          </p:nvPr>
        </p:nvSpPr>
        <p:spPr>
          <a:prstGeom prst="rect">
            <a:avLst/>
          </a:prstGeom>
        </p:spPr>
        <p:txBody>
          <a:bodyPr>
            <a:normAutofit/>
          </a:bodyPr>
          <a:lstStyle>
            <a:lvl1pPr defTabSz="414781">
              <a:defRPr sz="5964"/>
            </a:lvl1pPr>
          </a:lstStyle>
          <a:p>
            <a:r>
              <a:t>TCP Connection Management</a:t>
            </a:r>
          </a:p>
        </p:txBody>
      </p:sp>
      <p:sp>
        <p:nvSpPr>
          <p:cNvPr id="259" name="Why connection establishment?…"/>
          <p:cNvSpPr txBox="1">
            <a:spLocks noGrp="1"/>
          </p:cNvSpPr>
          <p:nvPr>
            <p:ph type="body" idx="1"/>
          </p:nvPr>
        </p:nvSpPr>
        <p:spPr>
          <a:xfrm>
            <a:off x="717452" y="1800665"/>
            <a:ext cx="11605846" cy="7470335"/>
          </a:xfrm>
          <a:prstGeom prst="rect">
            <a:avLst/>
          </a:prstGeom>
        </p:spPr>
        <p:txBody>
          <a:bodyPr>
            <a:normAutofit fontScale="77500" lnSpcReduction="20000"/>
          </a:bodyPr>
          <a:lstStyle/>
          <a:p>
            <a:pPr marL="422275" indent="-422275" defTabSz="554990">
              <a:lnSpc>
                <a:spcPct val="120000"/>
              </a:lnSpc>
              <a:spcBef>
                <a:spcPts val="2200"/>
              </a:spcBef>
              <a:defRPr sz="3989"/>
            </a:pPr>
            <a:r>
              <a:rPr dirty="0"/>
              <a:t>Why connection establishment?</a:t>
            </a:r>
          </a:p>
          <a:p>
            <a:pPr marL="723900" lvl="1" indent="-422275" defTabSz="554990">
              <a:lnSpc>
                <a:spcPct val="120000"/>
              </a:lnSpc>
              <a:spcBef>
                <a:spcPts val="1500"/>
              </a:spcBef>
              <a:defRPr sz="3989"/>
            </a:pPr>
            <a:r>
              <a:rPr sz="3500" dirty="0"/>
              <a:t>TCP sender, receiver setup state before exchanging data segments</a:t>
            </a:r>
          </a:p>
          <a:p>
            <a:pPr marL="723900" lvl="1" indent="-422275" defTabSz="554990">
              <a:lnSpc>
                <a:spcPct val="120000"/>
              </a:lnSpc>
              <a:spcBef>
                <a:spcPts val="1500"/>
              </a:spcBef>
              <a:defRPr sz="3989"/>
            </a:pPr>
            <a:r>
              <a:rPr sz="3500" dirty="0"/>
              <a:t>Initialize TCP variables</a:t>
            </a:r>
            <a:r>
              <a:rPr dirty="0"/>
              <a:t>:</a:t>
            </a:r>
          </a:p>
          <a:p>
            <a:pPr marL="1025525" lvl="2" indent="-422275" defTabSz="554990">
              <a:lnSpc>
                <a:spcPct val="120000"/>
              </a:lnSpc>
              <a:spcBef>
                <a:spcPts val="0"/>
              </a:spcBef>
              <a:defRPr sz="3989"/>
            </a:pPr>
            <a:r>
              <a:rPr sz="3300" dirty="0" err="1"/>
              <a:t>seq#s</a:t>
            </a:r>
            <a:endParaRPr sz="3300" dirty="0"/>
          </a:p>
          <a:p>
            <a:pPr marL="1025525" lvl="2" indent="-422275" defTabSz="554990">
              <a:lnSpc>
                <a:spcPct val="120000"/>
              </a:lnSpc>
              <a:spcBef>
                <a:spcPts val="0"/>
              </a:spcBef>
              <a:defRPr sz="3989"/>
            </a:pPr>
            <a:r>
              <a:rPr sz="3300" dirty="0"/>
              <a:t>buffers, flow control info (</a:t>
            </a:r>
            <a:r>
              <a:rPr sz="3300" dirty="0" err="1">
                <a:solidFill>
                  <a:srgbClr val="F9E05E"/>
                </a:solidFill>
                <a:latin typeface="Monaco"/>
                <a:ea typeface="Monaco"/>
                <a:cs typeface="Monaco"/>
                <a:sym typeface="Monaco"/>
              </a:rPr>
              <a:t>RcvWindow</a:t>
            </a:r>
            <a:r>
              <a:rPr dirty="0"/>
              <a:t>)</a:t>
            </a:r>
          </a:p>
          <a:p>
            <a:pPr marL="422275" indent="-422275" defTabSz="554990">
              <a:lnSpc>
                <a:spcPct val="120000"/>
              </a:lnSpc>
              <a:spcBef>
                <a:spcPts val="2200"/>
              </a:spcBef>
              <a:defRPr sz="3989"/>
            </a:pPr>
            <a:r>
              <a:rPr dirty="0"/>
              <a:t>Why </a:t>
            </a:r>
            <a:r>
              <a:rPr lang="en-US" dirty="0"/>
              <a:t>requiring </a:t>
            </a:r>
            <a:r>
              <a:rPr dirty="0"/>
              <a:t>connection teardown?</a:t>
            </a:r>
          </a:p>
          <a:p>
            <a:pPr lvl="1">
              <a:lnSpc>
                <a:spcPct val="120000"/>
              </a:lnSpc>
            </a:pPr>
            <a:r>
              <a:rPr lang="en-US" sz="3500" b="1" dirty="0"/>
              <a:t>Free up state</a:t>
            </a:r>
            <a:r>
              <a:rPr lang="en-US" sz="3500" dirty="0"/>
              <a:t> – remove connection info from memory (control blocks, buffers, sequence tracking).</a:t>
            </a:r>
          </a:p>
          <a:p>
            <a:pPr lvl="1">
              <a:lnSpc>
                <a:spcPct val="120000"/>
              </a:lnSpc>
            </a:pPr>
            <a:r>
              <a:rPr lang="en-US" sz="3500" b="1" dirty="0"/>
              <a:t>Release resources</a:t>
            </a:r>
            <a:r>
              <a:rPr lang="en-US" sz="3500" dirty="0"/>
              <a:t> – so ports, memory, and buffers can be reused for new connections.</a:t>
            </a:r>
          </a:p>
          <a:p>
            <a:pPr lvl="1">
              <a:lnSpc>
                <a:spcPct val="120000"/>
              </a:lnSpc>
            </a:pPr>
            <a:r>
              <a:rPr lang="en-US" sz="3500" b="1" dirty="0"/>
              <a:t>Ensure reliability</a:t>
            </a:r>
            <a:r>
              <a:rPr lang="en-US" sz="3500" dirty="0"/>
              <a:t> – confirm both sides agree that the connection is finished (no data left in transit).</a:t>
            </a:r>
          </a:p>
        </p:txBody>
      </p:sp>
      <p:sp>
        <p:nvSpPr>
          <p:cNvPr id="26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18</a:t>
            </a:fld>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2" name="Rounded Rectangle"/>
          <p:cNvSpPr/>
          <p:nvPr/>
        </p:nvSpPr>
        <p:spPr>
          <a:xfrm>
            <a:off x="6807200" y="1962248"/>
            <a:ext cx="5803900" cy="7150100"/>
          </a:xfrm>
          <a:prstGeom prst="roundRect">
            <a:avLst>
              <a:gd name="adj" fmla="val 3282"/>
            </a:avLst>
          </a:prstGeom>
          <a:gradFill>
            <a:gsLst>
              <a:gs pos="0">
                <a:srgbClr val="FFFFFF"/>
              </a:gs>
              <a:gs pos="25906">
                <a:srgbClr val="FCEFAE"/>
              </a:gs>
              <a:gs pos="100000">
                <a:srgbClr val="F9E05E"/>
              </a:gs>
            </a:gsLst>
            <a:lin ang="5400000"/>
          </a:gradFill>
          <a:ln w="12700">
            <a:miter lim="400000"/>
          </a:ln>
          <a:effectLst>
            <a:outerShdw blurRad="76200" dir="18900000" rotWithShape="0">
              <a:srgbClr val="000000">
                <a:alpha val="80000"/>
              </a:srgbClr>
            </a:outerShdw>
          </a:effectLst>
        </p:spPr>
        <p:txBody>
          <a:bodyPr lIns="50800" tIns="50800" rIns="50800" bIns="50800" anchor="ctr"/>
          <a:lstStyle/>
          <a:p>
            <a:pPr defTabSz="800100">
              <a:defRPr sz="2400">
                <a:effectLst>
                  <a:outerShdw blurRad="25400" dist="23998" dir="2700000" rotWithShape="0">
                    <a:srgbClr val="000000">
                      <a:alpha val="31034"/>
                    </a:srgbClr>
                  </a:outerShdw>
                </a:effectLst>
              </a:defRPr>
            </a:pPr>
            <a:endParaRPr/>
          </a:p>
        </p:txBody>
      </p:sp>
      <p:sp>
        <p:nvSpPr>
          <p:cNvPr id="263" name="Three-way Handshake"/>
          <p:cNvSpPr txBox="1">
            <a:spLocks noGrp="1"/>
          </p:cNvSpPr>
          <p:nvPr>
            <p:ph type="title"/>
          </p:nvPr>
        </p:nvSpPr>
        <p:spPr>
          <a:prstGeom prst="rect">
            <a:avLst/>
          </a:prstGeom>
        </p:spPr>
        <p:txBody>
          <a:bodyPr>
            <a:normAutofit/>
          </a:bodyPr>
          <a:lstStyle>
            <a:lvl1pPr defTabSz="560831">
              <a:defRPr sz="8064"/>
            </a:lvl1pPr>
          </a:lstStyle>
          <a:p>
            <a:r>
              <a:t>Three-way Handshake</a:t>
            </a:r>
          </a:p>
        </p:txBody>
      </p:sp>
      <p:sp>
        <p:nvSpPr>
          <p:cNvPr id="264" name="Step 1: client sends TCP SYN segment to server…"/>
          <p:cNvSpPr txBox="1">
            <a:spLocks noGrp="1"/>
          </p:cNvSpPr>
          <p:nvPr>
            <p:ph type="body" sz="half" idx="1"/>
          </p:nvPr>
        </p:nvSpPr>
        <p:spPr>
          <a:xfrm>
            <a:off x="635000" y="2116401"/>
            <a:ext cx="6248400" cy="6985000"/>
          </a:xfrm>
          <a:prstGeom prst="rect">
            <a:avLst/>
          </a:prstGeom>
        </p:spPr>
        <p:txBody>
          <a:bodyPr/>
          <a:lstStyle/>
          <a:p>
            <a:r>
              <a:rPr dirty="0"/>
              <a:t>Step 1: client sends TCP SYN segment to server</a:t>
            </a:r>
          </a:p>
          <a:p>
            <a:pPr lvl="1">
              <a:buSzPct val="100000"/>
              <a:buFont typeface="Courier New" panose="02070309020205020404" pitchFamily="49" charset="0"/>
              <a:buChar char="o"/>
            </a:pPr>
            <a:r>
              <a:rPr sz="3000" dirty="0"/>
              <a:t>specifies initial seq#</a:t>
            </a:r>
          </a:p>
          <a:p>
            <a:pPr lvl="1">
              <a:buSzPct val="100000"/>
              <a:buFont typeface="Courier New" panose="02070309020205020404" pitchFamily="49" charset="0"/>
              <a:buChar char="o"/>
            </a:pPr>
            <a:r>
              <a:rPr sz="3000" dirty="0"/>
              <a:t>holds no data</a:t>
            </a:r>
          </a:p>
          <a:p>
            <a:r>
              <a:rPr dirty="0"/>
              <a:t>Step 2: server responds with SYNACK segment</a:t>
            </a:r>
          </a:p>
          <a:p>
            <a:pPr lvl="1">
              <a:buSzPct val="100000"/>
              <a:buFont typeface="Courier New" panose="02070309020205020404" pitchFamily="49" charset="0"/>
              <a:buChar char="o"/>
            </a:pPr>
            <a:r>
              <a:rPr sz="3000" dirty="0"/>
              <a:t>server allocates buffers</a:t>
            </a:r>
          </a:p>
          <a:p>
            <a:pPr lvl="1">
              <a:buSzPct val="100000"/>
              <a:buFont typeface="Courier New" panose="02070309020205020404" pitchFamily="49" charset="0"/>
              <a:buChar char="o"/>
            </a:pPr>
            <a:r>
              <a:rPr sz="3000" dirty="0"/>
              <a:t>specifies initial seq#</a:t>
            </a:r>
          </a:p>
          <a:p>
            <a:r>
              <a:rPr dirty="0"/>
              <a:t>Step 3: Client replies with ACK</a:t>
            </a:r>
          </a:p>
          <a:p>
            <a:pPr lvl="1">
              <a:buSzPct val="100000"/>
              <a:buFont typeface="Courier New" panose="02070309020205020404" pitchFamily="49" charset="0"/>
              <a:buChar char="o"/>
            </a:pPr>
            <a:r>
              <a:rPr lang="en-US" sz="3000" dirty="0"/>
              <a:t>M</a:t>
            </a:r>
            <a:r>
              <a:rPr sz="3000" dirty="0"/>
              <a:t>ay</a:t>
            </a:r>
            <a:r>
              <a:rPr lang="en-US" sz="3000" dirty="0"/>
              <a:t> </a:t>
            </a:r>
            <a:r>
              <a:rPr sz="3000" dirty="0"/>
              <a:t>contain data</a:t>
            </a:r>
          </a:p>
        </p:txBody>
      </p:sp>
      <p:pic>
        <p:nvPicPr>
          <p:cNvPr id="265" name="Image" descr="Image"/>
          <p:cNvPicPr>
            <a:picLocks noChangeAspect="1"/>
          </p:cNvPicPr>
          <p:nvPr/>
        </p:nvPicPr>
        <p:blipFill>
          <a:blip r:embed="rId3"/>
          <a:stretch>
            <a:fillRect/>
          </a:stretch>
        </p:blipFill>
        <p:spPr>
          <a:xfrm>
            <a:off x="6904698" y="2285217"/>
            <a:ext cx="5608904" cy="6985000"/>
          </a:xfrm>
          <a:prstGeom prst="rect">
            <a:avLst/>
          </a:prstGeom>
          <a:ln w="12700">
            <a:miter lim="400000"/>
          </a:ln>
        </p:spPr>
      </p:pic>
      <p:sp>
        <p:nvSpPr>
          <p:cNvPr id="2" name="Slide Number Placeholder 1">
            <a:extLst>
              <a:ext uri="{FF2B5EF4-FFF2-40B4-BE49-F238E27FC236}">
                <a16:creationId xmlns:a16="http://schemas.microsoft.com/office/drawing/2014/main" id="{696708A8-59F1-5600-8BBC-09B99F240900}"/>
              </a:ext>
            </a:extLst>
          </p:cNvPr>
          <p:cNvSpPr>
            <a:spLocks noGrp="1"/>
          </p:cNvSpPr>
          <p:nvPr>
            <p:ph type="sldNum" sz="quarter" idx="2"/>
          </p:nvPr>
        </p:nvSpPr>
        <p:spPr/>
        <p:txBody>
          <a:bodyPr/>
          <a:lstStyle/>
          <a:p>
            <a:fld id="{86CB4B4D-7CA3-9044-876B-883B54F8677D}" type="slidenum">
              <a:rPr lang="en-LB" smtClean="0"/>
              <a:t>19</a:t>
            </a:fld>
            <a:endParaRPr lang="en-LB"/>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67" name="Question"/>
          <p:cNvSpPr txBox="1">
            <a:spLocks noGrp="1"/>
          </p:cNvSpPr>
          <p:nvPr>
            <p:ph type="title"/>
          </p:nvPr>
        </p:nvSpPr>
        <p:spPr>
          <a:prstGeom prst="rect">
            <a:avLst/>
          </a:prstGeom>
        </p:spPr>
        <p:txBody>
          <a:bodyPr/>
          <a:lstStyle/>
          <a:p>
            <a:r>
              <a:t>Question</a:t>
            </a:r>
          </a:p>
        </p:txBody>
      </p:sp>
      <p:sp>
        <p:nvSpPr>
          <p:cNvPr id="268" name="TCP specification requires each side of a connection to select an initial starting sequence number at random1. Why?"/>
          <p:cNvSpPr txBox="1">
            <a:spLocks noGrp="1"/>
          </p:cNvSpPr>
          <p:nvPr>
            <p:ph type="body" idx="1"/>
          </p:nvPr>
        </p:nvSpPr>
        <p:spPr>
          <a:xfrm>
            <a:off x="1270000" y="2501900"/>
            <a:ext cx="10464800" cy="6184900"/>
          </a:xfrm>
          <a:prstGeom prst="rect">
            <a:avLst/>
          </a:prstGeom>
        </p:spPr>
        <p:txBody>
          <a:bodyPr anchor="t"/>
          <a:lstStyle/>
          <a:p>
            <a:r>
              <a:t>TCP specification requires each side of a connection to select an initial starting sequence number at random</a:t>
            </a:r>
            <a:r>
              <a:rPr baseline="31999"/>
              <a:t>1</a:t>
            </a:r>
            <a:r>
              <a:t>. Why?</a:t>
            </a:r>
          </a:p>
        </p:txBody>
      </p:sp>
      <p:sp>
        <p:nvSpPr>
          <p:cNvPr id="26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20</a:t>
            </a:fld>
            <a:endParaRPr/>
          </a:p>
        </p:txBody>
      </p:sp>
      <p:sp>
        <p:nvSpPr>
          <p:cNvPr id="270" name="1Not exactly, but it's complicated.  Let's pretend it is random."/>
          <p:cNvSpPr txBox="1"/>
          <p:nvPr/>
        </p:nvSpPr>
        <p:spPr>
          <a:xfrm>
            <a:off x="4395322" y="9048750"/>
            <a:ext cx="7886701" cy="457201"/>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defRPr sz="2400"/>
            </a:pPr>
            <a:r>
              <a:rPr baseline="31999"/>
              <a:t>1</a:t>
            </a:r>
            <a:r>
              <a:t>Not exactly, but it's complicated.  Let's pretend it is random.</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iterate>
                                    <p:tmAbs val="0"/>
                                  </p:iterate>
                                  <p:childTnLst>
                                    <p:set>
                                      <p:cBhvr>
                                        <p:cTn id="6" fill="hold"/>
                                        <p:tgtEl>
                                          <p:spTgt spid="268">
                                            <p:bg/>
                                          </p:spTgt>
                                        </p:tgtEl>
                                        <p:attrNameLst>
                                          <p:attrName>style.visibility</p:attrName>
                                        </p:attrNameLst>
                                      </p:cBhvr>
                                      <p:to>
                                        <p:strVal val="visible"/>
                                      </p:to>
                                    </p:set>
                                    <p:animEffect transition="in" filter="wipe(left)">
                                      <p:cBhvr>
                                        <p:cTn id="7" dur="1000"/>
                                        <p:tgtEl>
                                          <p:spTgt spid="268">
                                            <p:bg/>
                                          </p:spTgt>
                                        </p:tgtEl>
                                      </p:cBhvr>
                                    </p:animEffect>
                                  </p:childTnLst>
                                </p:cTn>
                              </p:par>
                              <p:par>
                                <p:cTn id="8" presetID="22" presetClass="entr" presetSubtype="8" fill="hold" grpId="1" nodeType="withEffect">
                                  <p:stCondLst>
                                    <p:cond delay="0"/>
                                  </p:stCondLst>
                                  <p:iterate>
                                    <p:tmAbs val="0"/>
                                  </p:iterate>
                                  <p:childTnLst>
                                    <p:set>
                                      <p:cBhvr>
                                        <p:cTn id="9" fill="hold"/>
                                        <p:tgtEl>
                                          <p:spTgt spid="268">
                                            <p:txEl>
                                              <p:pRg st="0" end="0"/>
                                            </p:txEl>
                                          </p:spTgt>
                                        </p:tgtEl>
                                        <p:attrNameLst>
                                          <p:attrName>style.visibility</p:attrName>
                                        </p:attrNameLst>
                                      </p:cBhvr>
                                      <p:to>
                                        <p:strVal val="visible"/>
                                      </p:to>
                                    </p:set>
                                    <p:animEffect transition="in" filter="wipe(left)">
                                      <p:cBhvr>
                                        <p:cTn id="10" dur="1000"/>
                                        <p:tgtEl>
                                          <p:spTgt spid="26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 grpId="1" build="p" bldLvl="5" animBg="1" advAuto="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4" name="Question"/>
          <p:cNvSpPr txBox="1">
            <a:spLocks noGrp="1"/>
          </p:cNvSpPr>
          <p:nvPr>
            <p:ph type="title"/>
          </p:nvPr>
        </p:nvSpPr>
        <p:spPr>
          <a:xfrm>
            <a:off x="1270000" y="415972"/>
            <a:ext cx="10464800" cy="807915"/>
          </a:xfrm>
          <a:prstGeom prst="rect">
            <a:avLst/>
          </a:prstGeom>
        </p:spPr>
        <p:txBody>
          <a:bodyPr/>
          <a:lstStyle/>
          <a:p>
            <a:r>
              <a:rPr dirty="0"/>
              <a:t>Question</a:t>
            </a:r>
          </a:p>
        </p:txBody>
      </p:sp>
      <p:sp>
        <p:nvSpPr>
          <p:cNvPr id="275" name="TCP specification requires each side of a connection to select an initial starting sequence number at random1. Why?…"/>
          <p:cNvSpPr txBox="1">
            <a:spLocks noGrp="1"/>
          </p:cNvSpPr>
          <p:nvPr>
            <p:ph type="body" idx="1"/>
          </p:nvPr>
        </p:nvSpPr>
        <p:spPr>
          <a:xfrm>
            <a:off x="647114" y="1871670"/>
            <a:ext cx="11676184" cy="6729411"/>
          </a:xfrm>
          <a:prstGeom prst="rect">
            <a:avLst/>
          </a:prstGeom>
        </p:spPr>
        <p:txBody>
          <a:bodyPr/>
          <a:lstStyle/>
          <a:p>
            <a:pPr>
              <a:spcBef>
                <a:spcPts val="1800"/>
              </a:spcBef>
              <a:spcAft>
                <a:spcPts val="600"/>
              </a:spcAft>
            </a:pPr>
            <a:r>
              <a:rPr sz="3600" dirty="0"/>
              <a:t>TCP specification requires each side of a connection to select an initial starting sequence number at random</a:t>
            </a:r>
            <a:r>
              <a:rPr sz="3600" baseline="31999" dirty="0"/>
              <a:t>1</a:t>
            </a:r>
            <a:r>
              <a:rPr sz="3600" dirty="0"/>
              <a:t>. Why?</a:t>
            </a:r>
            <a:endParaRPr lang="en-US" sz="3600" dirty="0"/>
          </a:p>
          <a:p>
            <a:pPr lvl="1">
              <a:spcBef>
                <a:spcPts val="1800"/>
              </a:spcBef>
              <a:spcAft>
                <a:spcPts val="600"/>
              </a:spcAft>
              <a:buSzPct val="100000"/>
            </a:pPr>
            <a:r>
              <a:rPr lang="en-US" sz="3200" dirty="0"/>
              <a:t>Avoid confusion with old connections</a:t>
            </a:r>
          </a:p>
          <a:p>
            <a:pPr lvl="1">
              <a:spcBef>
                <a:spcPts val="1800"/>
              </a:spcBef>
              <a:spcAft>
                <a:spcPts val="600"/>
              </a:spcAft>
              <a:buSzPct val="100000"/>
            </a:pPr>
            <a:r>
              <a:rPr lang="en-US" sz="3200" dirty="0"/>
              <a:t>Security benefit</a:t>
            </a:r>
          </a:p>
          <a:p>
            <a:pPr lvl="2">
              <a:spcBef>
                <a:spcPts val="1800"/>
              </a:spcBef>
              <a:spcAft>
                <a:spcPts val="600"/>
              </a:spcAft>
              <a:buSzPct val="100000"/>
            </a:pPr>
            <a:r>
              <a:rPr lang="en-US" sz="3200" dirty="0"/>
              <a:t>Predictable ISNs (like always starting at 0 or incrementing by 1) can be exploited for TCP session hijacking.</a:t>
            </a:r>
          </a:p>
          <a:p>
            <a:pPr lvl="2">
              <a:spcBef>
                <a:spcPts val="1800"/>
              </a:spcBef>
              <a:spcAft>
                <a:spcPts val="600"/>
              </a:spcAft>
              <a:buSzPct val="100000"/>
            </a:pPr>
            <a:r>
              <a:rPr lang="en-US" sz="3200" dirty="0"/>
              <a:t>Random ISNs make it harder for attackers to inject fake packets into a connection.</a:t>
            </a:r>
            <a:endParaRPr sz="3200" dirty="0"/>
          </a:p>
        </p:txBody>
      </p:sp>
      <p:sp>
        <p:nvSpPr>
          <p:cNvPr id="27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21</a:t>
            </a:fld>
            <a:endParaRPr/>
          </a:p>
        </p:txBody>
      </p:sp>
    </p:spTree>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5">
                                            <p:txEl>
                                              <p:pRg st="1" end="1"/>
                                            </p:txEl>
                                          </p:spTgt>
                                        </p:tgtEl>
                                        <p:attrNameLst>
                                          <p:attrName>style.visibility</p:attrName>
                                        </p:attrNameLst>
                                      </p:cBhvr>
                                      <p:to>
                                        <p:strVal val="visible"/>
                                      </p:to>
                                    </p:set>
                                    <p:anim calcmode="lin" valueType="num">
                                      <p:cBhvr additive="base">
                                        <p:cTn id="7" dur="500" fill="hold"/>
                                        <p:tgtEl>
                                          <p:spTgt spid="27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75">
                                            <p:txEl>
                                              <p:pRg st="2" end="2"/>
                                            </p:txEl>
                                          </p:spTgt>
                                        </p:tgtEl>
                                        <p:attrNameLst>
                                          <p:attrName>style.visibility</p:attrName>
                                        </p:attrNameLst>
                                      </p:cBhvr>
                                      <p:to>
                                        <p:strVal val="visible"/>
                                      </p:to>
                                    </p:set>
                                    <p:anim calcmode="lin" valueType="num">
                                      <p:cBhvr additive="base">
                                        <p:cTn id="11" dur="500" fill="hold"/>
                                        <p:tgtEl>
                                          <p:spTgt spid="27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75">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75">
                                            <p:txEl>
                                              <p:pRg st="3" end="3"/>
                                            </p:txEl>
                                          </p:spTgt>
                                        </p:tgtEl>
                                        <p:attrNameLst>
                                          <p:attrName>style.visibility</p:attrName>
                                        </p:attrNameLst>
                                      </p:cBhvr>
                                      <p:to>
                                        <p:strVal val="visible"/>
                                      </p:to>
                                    </p:set>
                                    <p:anim calcmode="lin" valueType="num">
                                      <p:cBhvr additive="base">
                                        <p:cTn id="15" dur="500" fill="hold"/>
                                        <p:tgtEl>
                                          <p:spTgt spid="275">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75">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75">
                                            <p:txEl>
                                              <p:pRg st="4" end="4"/>
                                            </p:txEl>
                                          </p:spTgt>
                                        </p:tgtEl>
                                        <p:attrNameLst>
                                          <p:attrName>style.visibility</p:attrName>
                                        </p:attrNameLst>
                                      </p:cBhvr>
                                      <p:to>
                                        <p:strVal val="visible"/>
                                      </p:to>
                                    </p:set>
                                    <p:anim calcmode="lin" valueType="num">
                                      <p:cBhvr additive="base">
                                        <p:cTn id="19" dur="500" fill="hold"/>
                                        <p:tgtEl>
                                          <p:spTgt spid="27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F5CB024-E3E0-D74B-9AD1-DECC36BB5163}"/>
            </a:ext>
          </a:extLst>
        </p:cNvPr>
        <p:cNvGrpSpPr/>
        <p:nvPr/>
      </p:nvGrpSpPr>
      <p:grpSpPr>
        <a:xfrm>
          <a:off x="0" y="0"/>
          <a:ext cx="0" cy="0"/>
          <a:chOff x="0" y="0"/>
          <a:chExt cx="0" cy="0"/>
        </a:xfrm>
      </p:grpSpPr>
      <p:sp>
        <p:nvSpPr>
          <p:cNvPr id="274" name="Question">
            <a:extLst>
              <a:ext uri="{FF2B5EF4-FFF2-40B4-BE49-F238E27FC236}">
                <a16:creationId xmlns:a16="http://schemas.microsoft.com/office/drawing/2014/main" id="{56E69C17-571E-CB6C-E5F9-46BCA7DCFA7F}"/>
              </a:ext>
            </a:extLst>
          </p:cNvPr>
          <p:cNvSpPr txBox="1">
            <a:spLocks noGrp="1"/>
          </p:cNvSpPr>
          <p:nvPr>
            <p:ph type="title"/>
          </p:nvPr>
        </p:nvSpPr>
        <p:spPr>
          <a:xfrm>
            <a:off x="1270000" y="415972"/>
            <a:ext cx="10464800" cy="807915"/>
          </a:xfrm>
          <a:prstGeom prst="rect">
            <a:avLst/>
          </a:prstGeom>
        </p:spPr>
        <p:txBody>
          <a:bodyPr/>
          <a:lstStyle/>
          <a:p>
            <a:r>
              <a:rPr dirty="0"/>
              <a:t>Question</a:t>
            </a:r>
          </a:p>
        </p:txBody>
      </p:sp>
      <p:sp>
        <p:nvSpPr>
          <p:cNvPr id="275" name="TCP specification requires each side of a connection to select an initial starting sequence number at random1. Why?…">
            <a:extLst>
              <a:ext uri="{FF2B5EF4-FFF2-40B4-BE49-F238E27FC236}">
                <a16:creationId xmlns:a16="http://schemas.microsoft.com/office/drawing/2014/main" id="{27625A5A-EEFE-B0B9-246A-D48E902BC90B}"/>
              </a:ext>
            </a:extLst>
          </p:cNvPr>
          <p:cNvSpPr txBox="1">
            <a:spLocks noGrp="1"/>
          </p:cNvSpPr>
          <p:nvPr>
            <p:ph type="body" idx="1"/>
          </p:nvPr>
        </p:nvSpPr>
        <p:spPr>
          <a:xfrm>
            <a:off x="647114" y="1557338"/>
            <a:ext cx="11676184" cy="7913441"/>
          </a:xfrm>
          <a:prstGeom prst="rect">
            <a:avLst/>
          </a:prstGeom>
        </p:spPr>
        <p:txBody>
          <a:bodyPr/>
          <a:lstStyle/>
          <a:p>
            <a:r>
              <a:rPr sz="3200" dirty="0"/>
              <a:t>Let’s say TCP does not exchange initial sequence numbers, and just use 0 as the starting point. What can happen?</a:t>
            </a:r>
            <a:endParaRPr lang="en-US" dirty="0"/>
          </a:p>
          <a:p>
            <a:pPr lvl="1">
              <a:spcBef>
                <a:spcPts val="1800"/>
              </a:spcBef>
              <a:buSzPct val="100000"/>
            </a:pPr>
            <a:r>
              <a:rPr lang="en-US" sz="2800" dirty="0"/>
              <a:t>A client connects to a server → sends data (seq numbers 0,1,2,...).</a:t>
            </a:r>
          </a:p>
          <a:p>
            <a:pPr lvl="1">
              <a:spcBef>
                <a:spcPts val="1800"/>
              </a:spcBef>
              <a:buSzPct val="100000"/>
            </a:pPr>
            <a:r>
              <a:rPr lang="en-US" sz="2800" dirty="0"/>
              <a:t>Connection closes, but some stray packets are still in the network (delayed).</a:t>
            </a:r>
          </a:p>
          <a:p>
            <a:pPr lvl="1">
              <a:spcBef>
                <a:spcPts val="1800"/>
              </a:spcBef>
              <a:buSzPct val="100000"/>
            </a:pPr>
            <a:r>
              <a:rPr lang="en-US" sz="2800" dirty="0"/>
              <a:t>Client reconnects immediately to the same server (same IP/port tuple).</a:t>
            </a:r>
          </a:p>
          <a:p>
            <a:pPr lvl="1">
              <a:spcBef>
                <a:spcPts val="1800"/>
              </a:spcBef>
              <a:buSzPct val="100000"/>
            </a:pPr>
            <a:r>
              <a:rPr lang="en-US" sz="2800" dirty="0"/>
              <a:t>New connection also starts at 0 → delayed old packets fall into the valid sequence number range and get accepted as new data.</a:t>
            </a:r>
          </a:p>
          <a:p>
            <a:pPr marL="317500" lvl="1" indent="0">
              <a:spcBef>
                <a:spcPts val="1800"/>
              </a:spcBef>
              <a:buSzPct val="100000"/>
              <a:buNone/>
            </a:pPr>
            <a:r>
              <a:rPr lang="en-US" sz="2800" dirty="0">
                <a:solidFill>
                  <a:schemeClr val="accent3">
                    <a:lumMod val="60000"/>
                    <a:lumOff val="40000"/>
                  </a:schemeClr>
                </a:solidFill>
              </a:rPr>
              <a:t>Result: </a:t>
            </a:r>
          </a:p>
          <a:p>
            <a:pPr lvl="1">
              <a:spcBef>
                <a:spcPts val="1800"/>
              </a:spcBef>
              <a:buSzPct val="100000"/>
            </a:pPr>
            <a:r>
              <a:rPr lang="en-US" sz="2800" dirty="0">
                <a:solidFill>
                  <a:schemeClr val="accent3">
                    <a:lumMod val="60000"/>
                    <a:lumOff val="40000"/>
                  </a:schemeClr>
                </a:solidFill>
              </a:rPr>
              <a:t>Data corruption or wrong application behavior.</a:t>
            </a:r>
          </a:p>
        </p:txBody>
      </p:sp>
      <p:sp>
        <p:nvSpPr>
          <p:cNvPr id="276" name="Slide Number">
            <a:extLst>
              <a:ext uri="{FF2B5EF4-FFF2-40B4-BE49-F238E27FC236}">
                <a16:creationId xmlns:a16="http://schemas.microsoft.com/office/drawing/2014/main" id="{450A786B-D8DA-38FF-7047-EC126064991E}"/>
              </a:ext>
            </a:extLst>
          </p:cNvPr>
          <p:cNvSpPr txBox="1">
            <a:spLocks noGrp="1"/>
          </p:cNvSpPr>
          <p:nvPr>
            <p:ph type="sldNum" sz="quarter" idx="2"/>
          </p:nvPr>
        </p:nvSpPr>
        <p:spPr>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rPr/>
              <a:t>22</a:t>
            </a:fld>
            <a:endParaRPr/>
          </a:p>
        </p:txBody>
      </p:sp>
    </p:spTree>
    <p:extLst>
      <p:ext uri="{BB962C8B-B14F-4D97-AF65-F5344CB8AC3E}">
        <p14:creationId xmlns:p14="http://schemas.microsoft.com/office/powerpoint/2010/main" val="3780357183"/>
      </p:ext>
    </p:extLst>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5">
                                            <p:txEl>
                                              <p:pRg st="1" end="1"/>
                                            </p:txEl>
                                          </p:spTgt>
                                        </p:tgtEl>
                                        <p:attrNameLst>
                                          <p:attrName>style.visibility</p:attrName>
                                        </p:attrNameLst>
                                      </p:cBhvr>
                                      <p:to>
                                        <p:strVal val="visible"/>
                                      </p:to>
                                    </p:set>
                                    <p:anim calcmode="lin" valueType="num">
                                      <p:cBhvr additive="base">
                                        <p:cTn id="7" dur="500" fill="hold"/>
                                        <p:tgtEl>
                                          <p:spTgt spid="27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75">
                                            <p:txEl>
                                              <p:pRg st="2" end="2"/>
                                            </p:txEl>
                                          </p:spTgt>
                                        </p:tgtEl>
                                        <p:attrNameLst>
                                          <p:attrName>style.visibility</p:attrName>
                                        </p:attrNameLst>
                                      </p:cBhvr>
                                      <p:to>
                                        <p:strVal val="visible"/>
                                      </p:to>
                                    </p:set>
                                    <p:anim calcmode="lin" valueType="num">
                                      <p:cBhvr additive="base">
                                        <p:cTn id="11" dur="500" fill="hold"/>
                                        <p:tgtEl>
                                          <p:spTgt spid="27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75">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75">
                                            <p:txEl>
                                              <p:pRg st="3" end="3"/>
                                            </p:txEl>
                                          </p:spTgt>
                                        </p:tgtEl>
                                        <p:attrNameLst>
                                          <p:attrName>style.visibility</p:attrName>
                                        </p:attrNameLst>
                                      </p:cBhvr>
                                      <p:to>
                                        <p:strVal val="visible"/>
                                      </p:to>
                                    </p:set>
                                    <p:anim calcmode="lin" valueType="num">
                                      <p:cBhvr additive="base">
                                        <p:cTn id="15" dur="500" fill="hold"/>
                                        <p:tgtEl>
                                          <p:spTgt spid="275">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75">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75">
                                            <p:txEl>
                                              <p:pRg st="4" end="4"/>
                                            </p:txEl>
                                          </p:spTgt>
                                        </p:tgtEl>
                                        <p:attrNameLst>
                                          <p:attrName>style.visibility</p:attrName>
                                        </p:attrNameLst>
                                      </p:cBhvr>
                                      <p:to>
                                        <p:strVal val="visible"/>
                                      </p:to>
                                    </p:set>
                                    <p:anim calcmode="lin" valueType="num">
                                      <p:cBhvr additive="base">
                                        <p:cTn id="19" dur="500" fill="hold"/>
                                        <p:tgtEl>
                                          <p:spTgt spid="27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275">
                                            <p:txEl>
                                              <p:pRg st="5" end="5"/>
                                            </p:txEl>
                                          </p:spTgt>
                                        </p:tgtEl>
                                        <p:attrNameLst>
                                          <p:attrName>style.visibility</p:attrName>
                                        </p:attrNameLst>
                                      </p:cBhvr>
                                      <p:to>
                                        <p:strVal val="visible"/>
                                      </p:to>
                                    </p:set>
                                    <p:animEffect transition="in" filter="blinds(horizontal)">
                                      <p:cBhvr>
                                        <p:cTn id="25" dur="500"/>
                                        <p:tgtEl>
                                          <p:spTgt spid="275">
                                            <p:txEl>
                                              <p:pRg st="5" end="5"/>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275">
                                            <p:txEl>
                                              <p:pRg st="6" end="6"/>
                                            </p:txEl>
                                          </p:spTgt>
                                        </p:tgtEl>
                                        <p:attrNameLst>
                                          <p:attrName>style.visibility</p:attrName>
                                        </p:attrNameLst>
                                      </p:cBhvr>
                                      <p:to>
                                        <p:strVal val="visible"/>
                                      </p:to>
                                    </p:set>
                                    <p:animEffect transition="in" filter="blinds(horizontal)">
                                      <p:cBhvr>
                                        <p:cTn id="28" dur="500"/>
                                        <p:tgtEl>
                                          <p:spTgt spid="27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1" name="Go Away, Dude"/>
          <p:cNvSpPr txBox="1">
            <a:spLocks noGrp="1"/>
          </p:cNvSpPr>
          <p:nvPr>
            <p:ph type="title"/>
          </p:nvPr>
        </p:nvSpPr>
        <p:spPr>
          <a:xfrm>
            <a:off x="1270000" y="568330"/>
            <a:ext cx="10464800" cy="1905000"/>
          </a:xfrm>
          <a:prstGeom prst="rect">
            <a:avLst/>
          </a:prstGeom>
        </p:spPr>
        <p:txBody>
          <a:bodyPr/>
          <a:lstStyle/>
          <a:p>
            <a:r>
              <a:rPr lang="en-US" dirty="0"/>
              <a:t>Example</a:t>
            </a:r>
            <a:endParaRPr dirty="0"/>
          </a:p>
        </p:txBody>
      </p:sp>
      <p:sp>
        <p:nvSpPr>
          <p:cNvPr id="282" name="If a host receives a TCP SYN segment to a closed port, it responds with a RST segment…"/>
          <p:cNvSpPr txBox="1">
            <a:spLocks noGrp="1"/>
          </p:cNvSpPr>
          <p:nvPr>
            <p:ph type="body" idx="1"/>
          </p:nvPr>
        </p:nvSpPr>
        <p:spPr>
          <a:xfrm>
            <a:off x="771525" y="2300274"/>
            <a:ext cx="11487149" cy="5800734"/>
          </a:xfrm>
          <a:prstGeom prst="rect">
            <a:avLst/>
          </a:prstGeom>
        </p:spPr>
        <p:txBody>
          <a:bodyPr/>
          <a:lstStyle/>
          <a:p>
            <a:pPr>
              <a:spcBef>
                <a:spcPts val="1200"/>
              </a:spcBef>
            </a:pPr>
            <a:r>
              <a:rPr sz="4400" dirty="0"/>
              <a:t>If a host receives a TCP SYN segment to a closed port</a:t>
            </a:r>
            <a:r>
              <a:rPr lang="en-US" sz="4400" dirty="0"/>
              <a:t> (no process is listening)</a:t>
            </a:r>
          </a:p>
          <a:p>
            <a:pPr lvl="1">
              <a:spcBef>
                <a:spcPts val="1800"/>
              </a:spcBef>
            </a:pPr>
            <a:r>
              <a:rPr lang="en-US" sz="3200" dirty="0"/>
              <a:t>The host replies with a TCP RST (Reset) segment.</a:t>
            </a:r>
          </a:p>
          <a:p>
            <a:pPr lvl="1">
              <a:spcBef>
                <a:spcPts val="1800"/>
              </a:spcBef>
            </a:pPr>
            <a:r>
              <a:rPr lang="en-US" sz="3200" dirty="0">
                <a:solidFill>
                  <a:schemeClr val="accent3">
                    <a:lumMod val="60000"/>
                    <a:lumOff val="40000"/>
                  </a:schemeClr>
                </a:solidFill>
              </a:rPr>
              <a:t>This tells the sender:</a:t>
            </a:r>
            <a:br>
              <a:rPr lang="en-US" sz="3200" dirty="0">
                <a:solidFill>
                  <a:schemeClr val="accent3">
                    <a:lumMod val="60000"/>
                    <a:lumOff val="40000"/>
                  </a:schemeClr>
                </a:solidFill>
              </a:rPr>
            </a:br>
            <a:r>
              <a:rPr lang="en-LB" sz="3200" dirty="0">
                <a:solidFill>
                  <a:schemeClr val="accent3">
                    <a:lumMod val="60000"/>
                    <a:lumOff val="40000"/>
                  </a:schemeClr>
                </a:solidFill>
              </a:rPr>
              <a:t>“</a:t>
            </a:r>
            <a:r>
              <a:rPr lang="en-US" sz="3200" dirty="0">
                <a:solidFill>
                  <a:schemeClr val="accent3">
                    <a:lumMod val="60000"/>
                    <a:lumOff val="40000"/>
                  </a:schemeClr>
                </a:solidFill>
              </a:rPr>
              <a:t>That port is closed — no connection will be established.”</a:t>
            </a:r>
          </a:p>
          <a:p>
            <a:pPr lvl="1">
              <a:spcBef>
                <a:spcPts val="1800"/>
              </a:spcBef>
            </a:pPr>
            <a:r>
              <a:rPr lang="en-US" sz="3200" dirty="0">
                <a:solidFill>
                  <a:schemeClr val="accent3">
                    <a:lumMod val="60000"/>
                    <a:lumOff val="40000"/>
                  </a:schemeClr>
                </a:solidFill>
              </a:rPr>
              <a:t>RST is TCP’s way of signaling an error condition.</a:t>
            </a:r>
          </a:p>
        </p:txBody>
      </p:sp>
      <p:sp>
        <p:nvSpPr>
          <p:cNvPr id="28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23</a:t>
            </a:fld>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5" name="Rounded Rectangle"/>
          <p:cNvSpPr/>
          <p:nvPr/>
        </p:nvSpPr>
        <p:spPr>
          <a:xfrm>
            <a:off x="6807200" y="1765300"/>
            <a:ext cx="5803900" cy="7150100"/>
          </a:xfrm>
          <a:prstGeom prst="roundRect">
            <a:avLst>
              <a:gd name="adj" fmla="val 3282"/>
            </a:avLst>
          </a:prstGeom>
          <a:gradFill>
            <a:gsLst>
              <a:gs pos="0">
                <a:srgbClr val="FFFFFF"/>
              </a:gs>
              <a:gs pos="25906">
                <a:srgbClr val="FCEFAE"/>
              </a:gs>
              <a:gs pos="100000">
                <a:srgbClr val="F9E05E"/>
              </a:gs>
            </a:gsLst>
            <a:lin ang="5400000"/>
          </a:gradFill>
          <a:ln w="12700">
            <a:miter lim="400000"/>
          </a:ln>
          <a:effectLst>
            <a:outerShdw blurRad="76200" dir="18900000" rotWithShape="0">
              <a:srgbClr val="000000">
                <a:alpha val="80000"/>
              </a:srgbClr>
            </a:outerShdw>
          </a:effectLst>
        </p:spPr>
        <p:txBody>
          <a:bodyPr lIns="50800" tIns="50800" rIns="50800" bIns="50800" anchor="ctr"/>
          <a:lstStyle/>
          <a:p>
            <a:pPr defTabSz="800100">
              <a:defRPr sz="2400">
                <a:effectLst>
                  <a:outerShdw blurRad="25400" dist="23998" dir="2700000" rotWithShape="0">
                    <a:srgbClr val="000000">
                      <a:alpha val="31034"/>
                    </a:srgbClr>
                  </a:outerShdw>
                </a:effectLst>
              </a:defRPr>
            </a:pPr>
            <a:endParaRPr/>
          </a:p>
        </p:txBody>
      </p:sp>
      <p:sp>
        <p:nvSpPr>
          <p:cNvPr id="286" name="Closing a Connection"/>
          <p:cNvSpPr txBox="1">
            <a:spLocks noGrp="1"/>
          </p:cNvSpPr>
          <p:nvPr>
            <p:ph type="title"/>
          </p:nvPr>
        </p:nvSpPr>
        <p:spPr>
          <a:xfrm>
            <a:off x="1270000" y="254000"/>
            <a:ext cx="10464800" cy="1146175"/>
          </a:xfrm>
          <a:prstGeom prst="rect">
            <a:avLst/>
          </a:prstGeom>
        </p:spPr>
        <p:txBody>
          <a:bodyPr/>
          <a:lstStyle/>
          <a:p>
            <a:r>
              <a:rPr sz="7200" dirty="0"/>
              <a:t>Closing a Connection</a:t>
            </a:r>
          </a:p>
        </p:txBody>
      </p:sp>
      <p:sp>
        <p:nvSpPr>
          <p:cNvPr id="287" name="Step 1: Client sends TCP FIN segment to server…"/>
          <p:cNvSpPr txBox="1">
            <a:spLocks noGrp="1"/>
          </p:cNvSpPr>
          <p:nvPr>
            <p:ph type="body" sz="half" idx="1"/>
          </p:nvPr>
        </p:nvSpPr>
        <p:spPr>
          <a:xfrm>
            <a:off x="635000" y="1657350"/>
            <a:ext cx="6248400" cy="7258050"/>
          </a:xfrm>
          <a:prstGeom prst="rect">
            <a:avLst/>
          </a:prstGeom>
        </p:spPr>
        <p:txBody>
          <a:bodyPr/>
          <a:lstStyle/>
          <a:p>
            <a:pPr>
              <a:spcBef>
                <a:spcPts val="1800"/>
              </a:spcBef>
              <a:spcAft>
                <a:spcPts val="1200"/>
              </a:spcAft>
            </a:pPr>
            <a:r>
              <a:rPr dirty="0"/>
              <a:t>Step 1: Client sends TCP FIN segment to server</a:t>
            </a:r>
          </a:p>
          <a:p>
            <a:pPr>
              <a:spcBef>
                <a:spcPts val="1800"/>
              </a:spcBef>
              <a:spcAft>
                <a:spcPts val="1200"/>
              </a:spcAft>
            </a:pPr>
            <a:r>
              <a:rPr dirty="0"/>
              <a:t>Step 2: Server receives FIN, responds with ACK</a:t>
            </a:r>
          </a:p>
          <a:p>
            <a:pPr lvl="1">
              <a:spcAft>
                <a:spcPts val="1200"/>
              </a:spcAft>
              <a:buSzPct val="100000"/>
              <a:buFont typeface="Courier New" panose="02070309020205020404" pitchFamily="49" charset="0"/>
              <a:buChar char="o"/>
            </a:pPr>
            <a:r>
              <a:rPr sz="2800" dirty="0"/>
              <a:t>Closes connection</a:t>
            </a:r>
          </a:p>
          <a:p>
            <a:pPr lvl="1">
              <a:spcAft>
                <a:spcPts val="1200"/>
              </a:spcAft>
              <a:buSzPct val="100000"/>
              <a:buFont typeface="Courier New" panose="02070309020205020404" pitchFamily="49" charset="0"/>
              <a:buChar char="o"/>
            </a:pPr>
            <a:r>
              <a:rPr sz="2800" dirty="0"/>
              <a:t>Sends FIN</a:t>
            </a:r>
          </a:p>
          <a:p>
            <a:pPr>
              <a:spcBef>
                <a:spcPts val="1800"/>
              </a:spcBef>
              <a:spcAft>
                <a:spcPts val="1200"/>
              </a:spcAft>
            </a:pPr>
            <a:r>
              <a:rPr dirty="0"/>
              <a:t>Recall: Connection is bi-directional, needs to be shut down from each side</a:t>
            </a:r>
          </a:p>
        </p:txBody>
      </p:sp>
      <p:pic>
        <p:nvPicPr>
          <p:cNvPr id="288" name="droppedImage.pdf" descr="droppedImage.pdf"/>
          <p:cNvPicPr>
            <a:picLocks noChangeAspect="1"/>
          </p:cNvPicPr>
          <p:nvPr/>
        </p:nvPicPr>
        <p:blipFill>
          <a:blip r:embed="rId2"/>
          <a:stretch>
            <a:fillRect/>
          </a:stretch>
        </p:blipFill>
        <p:spPr>
          <a:xfrm>
            <a:off x="7213600" y="2019300"/>
            <a:ext cx="5003800" cy="6671734"/>
          </a:xfrm>
          <a:prstGeom prst="rect">
            <a:avLst/>
          </a:prstGeom>
          <a:ln w="12700">
            <a:miter lim="400000"/>
          </a:ln>
        </p:spPr>
      </p:pic>
      <p:sp>
        <p:nvSpPr>
          <p:cNvPr id="2" name="Slide Number Placeholder 1">
            <a:extLst>
              <a:ext uri="{FF2B5EF4-FFF2-40B4-BE49-F238E27FC236}">
                <a16:creationId xmlns:a16="http://schemas.microsoft.com/office/drawing/2014/main" id="{81100B43-DC21-1105-1B85-9A587DB38251}"/>
              </a:ext>
            </a:extLst>
          </p:cNvPr>
          <p:cNvSpPr>
            <a:spLocks noGrp="1"/>
          </p:cNvSpPr>
          <p:nvPr>
            <p:ph type="sldNum" sz="quarter" idx="2"/>
          </p:nvPr>
        </p:nvSpPr>
        <p:spPr/>
        <p:txBody>
          <a:bodyPr/>
          <a:lstStyle/>
          <a:p>
            <a:fld id="{86CB4B4D-7CA3-9044-876B-883B54F8677D}" type="slidenum">
              <a:rPr lang="en-LB" smtClean="0"/>
              <a:t>24</a:t>
            </a:fld>
            <a:endParaRPr lang="en-LB"/>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0" name="Rounded Rectangle"/>
          <p:cNvSpPr/>
          <p:nvPr/>
        </p:nvSpPr>
        <p:spPr>
          <a:xfrm>
            <a:off x="6807200" y="1765300"/>
            <a:ext cx="5803900" cy="7150100"/>
          </a:xfrm>
          <a:prstGeom prst="roundRect">
            <a:avLst>
              <a:gd name="adj" fmla="val 3282"/>
            </a:avLst>
          </a:prstGeom>
          <a:gradFill>
            <a:gsLst>
              <a:gs pos="0">
                <a:srgbClr val="FFFFFF"/>
              </a:gs>
              <a:gs pos="25906">
                <a:srgbClr val="FCEFAE"/>
              </a:gs>
              <a:gs pos="100000">
                <a:srgbClr val="F9E05E"/>
              </a:gs>
            </a:gsLst>
            <a:lin ang="5400000"/>
          </a:gradFill>
          <a:ln w="12700">
            <a:miter lim="400000"/>
          </a:ln>
          <a:effectLst>
            <a:outerShdw blurRad="76200" dir="18900000" rotWithShape="0">
              <a:srgbClr val="000000">
                <a:alpha val="80000"/>
              </a:srgbClr>
            </a:outerShdw>
          </a:effectLst>
        </p:spPr>
        <p:txBody>
          <a:bodyPr lIns="50800" tIns="50800" rIns="50800" bIns="50800" anchor="ctr"/>
          <a:lstStyle/>
          <a:p>
            <a:pPr defTabSz="800100">
              <a:defRPr sz="2400">
                <a:effectLst>
                  <a:outerShdw blurRad="25400" dist="23998" dir="2700000" rotWithShape="0">
                    <a:srgbClr val="000000">
                      <a:alpha val="31034"/>
                    </a:srgbClr>
                  </a:outerShdw>
                </a:effectLst>
              </a:defRPr>
            </a:pPr>
            <a:endParaRPr/>
          </a:p>
        </p:txBody>
      </p:sp>
      <p:sp>
        <p:nvSpPr>
          <p:cNvPr id="291" name="Closing a Connection"/>
          <p:cNvSpPr txBox="1">
            <a:spLocks noGrp="1"/>
          </p:cNvSpPr>
          <p:nvPr>
            <p:ph type="title"/>
          </p:nvPr>
        </p:nvSpPr>
        <p:spPr>
          <a:prstGeom prst="rect">
            <a:avLst/>
          </a:prstGeom>
        </p:spPr>
        <p:txBody>
          <a:bodyPr/>
          <a:lstStyle/>
          <a:p>
            <a:r>
              <a:rPr sz="7200" dirty="0"/>
              <a:t>Closing a Connection</a:t>
            </a:r>
          </a:p>
        </p:txBody>
      </p:sp>
      <p:sp>
        <p:nvSpPr>
          <p:cNvPr id="292" name="Step 3: client receives FIN, replies with ACK…"/>
          <p:cNvSpPr txBox="1">
            <a:spLocks noGrp="1"/>
          </p:cNvSpPr>
          <p:nvPr>
            <p:ph type="body" sz="half" idx="1"/>
          </p:nvPr>
        </p:nvSpPr>
        <p:spPr>
          <a:xfrm>
            <a:off x="635000" y="1846256"/>
            <a:ext cx="6248400" cy="6297619"/>
          </a:xfrm>
          <a:prstGeom prst="rect">
            <a:avLst/>
          </a:prstGeom>
        </p:spPr>
        <p:txBody>
          <a:bodyPr/>
          <a:lstStyle/>
          <a:p>
            <a:r>
              <a:rPr dirty="0"/>
              <a:t>Step 3: client receives FIN, replies with ACK</a:t>
            </a:r>
          </a:p>
          <a:p>
            <a:pPr lvl="1">
              <a:spcAft>
                <a:spcPts val="1200"/>
              </a:spcAft>
              <a:buSzPct val="100000"/>
              <a:buFont typeface="Courier New" panose="02070309020205020404" pitchFamily="49" charset="0"/>
              <a:buChar char="o"/>
            </a:pPr>
            <a:r>
              <a:rPr sz="2800" dirty="0"/>
              <a:t>Client enters “timed wait”</a:t>
            </a:r>
          </a:p>
          <a:p>
            <a:pPr lvl="1">
              <a:spcAft>
                <a:spcPts val="1200"/>
              </a:spcAft>
              <a:buSzPct val="100000"/>
              <a:buFont typeface="Courier New" panose="02070309020205020404" pitchFamily="49" charset="0"/>
              <a:buChar char="o"/>
            </a:pPr>
            <a:r>
              <a:rPr sz="2800" dirty="0"/>
              <a:t>Will respond to FIN with ACK</a:t>
            </a:r>
          </a:p>
          <a:p>
            <a:pPr lvl="1">
              <a:spcAft>
                <a:spcPts val="1200"/>
              </a:spcAft>
              <a:buSzPct val="100000"/>
              <a:buFont typeface="Courier New" panose="02070309020205020404" pitchFamily="49" charset="0"/>
              <a:buChar char="o"/>
            </a:pPr>
            <a:r>
              <a:rPr sz="2800" dirty="0"/>
              <a:t>240 seconds</a:t>
            </a:r>
            <a:r>
              <a:rPr lang="en-US" sz="2800" dirty="0"/>
              <a:t> </a:t>
            </a:r>
            <a:r>
              <a:rPr sz="2800" dirty="0"/>
              <a:t>(2</a:t>
            </a:r>
            <a:r>
              <a:rPr lang="en-US" sz="2800" dirty="0"/>
              <a:t> *</a:t>
            </a:r>
            <a:r>
              <a:rPr sz="2800" dirty="0"/>
              <a:t> max </a:t>
            </a:r>
            <a:r>
              <a:rPr lang="en-US" sz="2800" dirty="0"/>
              <a:t>segment lifetime – MSL</a:t>
            </a:r>
            <a:r>
              <a:rPr lang="en-US" sz="2800" baseline="30000" dirty="0"/>
              <a:t>1</a:t>
            </a:r>
            <a:r>
              <a:rPr lang="en-US" sz="2800" dirty="0"/>
              <a:t>)</a:t>
            </a:r>
            <a:endParaRPr lang="en-US" sz="2800" baseline="30000" dirty="0"/>
          </a:p>
          <a:p>
            <a:r>
              <a:rPr dirty="0"/>
              <a:t>Step 4: server receives ACK, closes connection</a:t>
            </a:r>
          </a:p>
        </p:txBody>
      </p:sp>
      <p:pic>
        <p:nvPicPr>
          <p:cNvPr id="293" name="droppedImage.pdf" descr="droppedImage.pdf"/>
          <p:cNvPicPr>
            <a:picLocks noChangeAspect="1"/>
          </p:cNvPicPr>
          <p:nvPr/>
        </p:nvPicPr>
        <p:blipFill>
          <a:blip r:embed="rId2"/>
          <a:stretch>
            <a:fillRect/>
          </a:stretch>
        </p:blipFill>
        <p:spPr>
          <a:xfrm>
            <a:off x="7213600" y="2019300"/>
            <a:ext cx="5003800" cy="6671734"/>
          </a:xfrm>
          <a:prstGeom prst="rect">
            <a:avLst/>
          </a:prstGeom>
          <a:ln w="12700">
            <a:miter lim="400000"/>
          </a:ln>
        </p:spPr>
      </p:pic>
      <p:sp>
        <p:nvSpPr>
          <p:cNvPr id="2" name="Slide Number Placeholder 1">
            <a:extLst>
              <a:ext uri="{FF2B5EF4-FFF2-40B4-BE49-F238E27FC236}">
                <a16:creationId xmlns:a16="http://schemas.microsoft.com/office/drawing/2014/main" id="{5E636875-8653-FA33-394A-B39C09B3FE45}"/>
              </a:ext>
            </a:extLst>
          </p:cNvPr>
          <p:cNvSpPr>
            <a:spLocks noGrp="1"/>
          </p:cNvSpPr>
          <p:nvPr>
            <p:ph type="sldNum" sz="quarter" idx="2"/>
          </p:nvPr>
        </p:nvSpPr>
        <p:spPr/>
        <p:txBody>
          <a:bodyPr/>
          <a:lstStyle/>
          <a:p>
            <a:fld id="{86CB4B4D-7CA3-9044-876B-883B54F8677D}" type="slidenum">
              <a:rPr lang="en-LB" smtClean="0"/>
              <a:t>25</a:t>
            </a:fld>
            <a:endParaRPr lang="en-LB"/>
          </a:p>
        </p:txBody>
      </p:sp>
      <p:sp>
        <p:nvSpPr>
          <p:cNvPr id="4" name="TextBox 3">
            <a:extLst>
              <a:ext uri="{FF2B5EF4-FFF2-40B4-BE49-F238E27FC236}">
                <a16:creationId xmlns:a16="http://schemas.microsoft.com/office/drawing/2014/main" id="{C09EF584-949F-4643-5C32-71ACC6DCD6CB}"/>
              </a:ext>
            </a:extLst>
          </p:cNvPr>
          <p:cNvSpPr txBox="1"/>
          <p:nvPr/>
        </p:nvSpPr>
        <p:spPr>
          <a:xfrm>
            <a:off x="393700" y="8199861"/>
            <a:ext cx="6489700" cy="13542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lvl="1" indent="-342900" algn="l">
              <a:spcBef>
                <a:spcPts val="0"/>
              </a:spcBef>
              <a:spcAft>
                <a:spcPts val="1200"/>
              </a:spcAft>
              <a:buSzPct val="100000"/>
              <a:buFont typeface="Arial" panose="020B0604020202020204" pitchFamily="34" charset="0"/>
              <a:buChar char="•"/>
            </a:pPr>
            <a:r>
              <a:rPr lang="en-US" sz="2400" baseline="30000" dirty="0">
                <a:solidFill>
                  <a:schemeClr val="accent3">
                    <a:lumMod val="60000"/>
                    <a:lumOff val="40000"/>
                  </a:schemeClr>
                </a:solidFill>
              </a:rPr>
              <a:t>1</a:t>
            </a:r>
            <a:r>
              <a:rPr lang="en-US" sz="2400" dirty="0">
                <a:solidFill>
                  <a:schemeClr val="accent3">
                    <a:lumMod val="60000"/>
                    <a:lumOff val="40000"/>
                  </a:schemeClr>
                </a:solidFill>
              </a:rPr>
              <a:t>MSL = longest time a TCP segment is allowed to exist in the network before being discarded.</a:t>
            </a:r>
          </a:p>
          <a:p>
            <a:pPr marL="342900" lvl="1" indent="-342900" algn="l">
              <a:spcBef>
                <a:spcPts val="0"/>
              </a:spcBef>
              <a:spcAft>
                <a:spcPts val="1200"/>
              </a:spcAft>
              <a:buSzPct val="100000"/>
              <a:buFont typeface="Arial" panose="020B0604020202020204" pitchFamily="34" charset="0"/>
              <a:buChar char="•"/>
            </a:pPr>
            <a:r>
              <a:rPr lang="en-US" sz="2400" dirty="0">
                <a:solidFill>
                  <a:schemeClr val="accent3">
                    <a:lumMod val="60000"/>
                    <a:lumOff val="40000"/>
                  </a:schemeClr>
                </a:solidFill>
              </a:rPr>
              <a:t>Typical MSL = 120 seconds.</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5" name="Rounded Rectangle"/>
          <p:cNvSpPr/>
          <p:nvPr/>
        </p:nvSpPr>
        <p:spPr>
          <a:xfrm>
            <a:off x="6807200" y="1765300"/>
            <a:ext cx="5803900" cy="7150100"/>
          </a:xfrm>
          <a:prstGeom prst="roundRect">
            <a:avLst>
              <a:gd name="adj" fmla="val 3282"/>
            </a:avLst>
          </a:prstGeom>
          <a:gradFill>
            <a:gsLst>
              <a:gs pos="0">
                <a:srgbClr val="FFFFFF"/>
              </a:gs>
              <a:gs pos="25906">
                <a:srgbClr val="FCEFAE"/>
              </a:gs>
              <a:gs pos="100000">
                <a:srgbClr val="F9E05E"/>
              </a:gs>
            </a:gsLst>
            <a:lin ang="5400000"/>
          </a:gradFill>
          <a:ln w="12700">
            <a:miter lim="400000"/>
          </a:ln>
          <a:effectLst>
            <a:outerShdw blurRad="76200" dir="18900000" rotWithShape="0">
              <a:srgbClr val="000000">
                <a:alpha val="80000"/>
              </a:srgbClr>
            </a:outerShdw>
          </a:effectLst>
        </p:spPr>
        <p:txBody>
          <a:bodyPr lIns="50800" tIns="50800" rIns="50800" bIns="50800" anchor="ctr"/>
          <a:lstStyle/>
          <a:p>
            <a:pPr defTabSz="800100">
              <a:defRPr sz="2400">
                <a:effectLst>
                  <a:outerShdw blurRad="25400" dist="23998" dir="2700000" rotWithShape="0">
                    <a:srgbClr val="000000">
                      <a:alpha val="31034"/>
                    </a:srgbClr>
                  </a:outerShdw>
                </a:effectLst>
              </a:defRPr>
            </a:pPr>
            <a:endParaRPr/>
          </a:p>
        </p:txBody>
      </p:sp>
      <p:sp>
        <p:nvSpPr>
          <p:cNvPr id="296" name="Question"/>
          <p:cNvSpPr txBox="1">
            <a:spLocks noGrp="1"/>
          </p:cNvSpPr>
          <p:nvPr>
            <p:ph type="title"/>
          </p:nvPr>
        </p:nvSpPr>
        <p:spPr>
          <a:prstGeom prst="rect">
            <a:avLst/>
          </a:prstGeom>
        </p:spPr>
        <p:txBody>
          <a:bodyPr/>
          <a:lstStyle/>
          <a:p>
            <a:r>
              <a:t>Question</a:t>
            </a:r>
          </a:p>
        </p:txBody>
      </p:sp>
      <p:sp>
        <p:nvSpPr>
          <p:cNvPr id="297" name="Why does client enter “timed wait” state before “closed,” even after receiving FIN from server?"/>
          <p:cNvSpPr txBox="1">
            <a:spLocks noGrp="1"/>
          </p:cNvSpPr>
          <p:nvPr>
            <p:ph type="body" sz="half" idx="1"/>
          </p:nvPr>
        </p:nvSpPr>
        <p:spPr>
          <a:prstGeom prst="rect">
            <a:avLst/>
          </a:prstGeom>
        </p:spPr>
        <p:txBody>
          <a:bodyPr/>
          <a:lstStyle/>
          <a:p>
            <a:r>
              <a:t>Why does client enter “timed wait” state before “closed,” even after receiving FIN from server?</a:t>
            </a:r>
          </a:p>
        </p:txBody>
      </p:sp>
      <p:pic>
        <p:nvPicPr>
          <p:cNvPr id="298" name="droppedImage.pdf" descr="droppedImage.pdf"/>
          <p:cNvPicPr>
            <a:picLocks noChangeAspect="1"/>
          </p:cNvPicPr>
          <p:nvPr/>
        </p:nvPicPr>
        <p:blipFill>
          <a:blip r:embed="rId2"/>
          <a:stretch>
            <a:fillRect/>
          </a:stretch>
        </p:blipFill>
        <p:spPr>
          <a:xfrm>
            <a:off x="7213600" y="2019300"/>
            <a:ext cx="5003800" cy="6671734"/>
          </a:xfrm>
          <a:prstGeom prst="rect">
            <a:avLst/>
          </a:prstGeom>
          <a:ln w="12700">
            <a:miter lim="400000"/>
          </a:ln>
        </p:spPr>
      </p:pic>
      <p:sp>
        <p:nvSpPr>
          <p:cNvPr id="299" name="Line"/>
          <p:cNvSpPr/>
          <p:nvPr/>
        </p:nvSpPr>
        <p:spPr>
          <a:xfrm flipH="1" flipV="1">
            <a:off x="5054600" y="6197600"/>
            <a:ext cx="2184400" cy="1397001"/>
          </a:xfrm>
          <a:prstGeom prst="line">
            <a:avLst/>
          </a:prstGeom>
          <a:ln w="50800">
            <a:solidFill>
              <a:srgbClr val="C05CB7"/>
            </a:solidFill>
            <a:miter lim="400000"/>
            <a:headEnd type="stealth"/>
          </a:ln>
        </p:spPr>
        <p:txBody>
          <a:bodyPr lIns="0" tIns="0" rIns="0" bIns="0"/>
          <a:lstStyle/>
          <a:p>
            <a:pPr algn="l" defTabSz="457200">
              <a:defRPr sz="1200">
                <a:solidFill>
                  <a:srgbClr val="000000"/>
                </a:solidFill>
                <a:latin typeface="Helvetica"/>
                <a:ea typeface="Helvetica"/>
                <a:cs typeface="Helvetica"/>
                <a:sym typeface="Helvetica"/>
              </a:defRPr>
            </a:pPr>
            <a:endParaRPr/>
          </a:p>
        </p:txBody>
      </p:sp>
      <p:sp>
        <p:nvSpPr>
          <p:cNvPr id="2" name="Slide Number Placeholder 1">
            <a:extLst>
              <a:ext uri="{FF2B5EF4-FFF2-40B4-BE49-F238E27FC236}">
                <a16:creationId xmlns:a16="http://schemas.microsoft.com/office/drawing/2014/main" id="{DB735DC2-F665-0500-6D83-A0288BDE066E}"/>
              </a:ext>
            </a:extLst>
          </p:cNvPr>
          <p:cNvSpPr>
            <a:spLocks noGrp="1"/>
          </p:cNvSpPr>
          <p:nvPr>
            <p:ph type="sldNum" sz="quarter" idx="2"/>
          </p:nvPr>
        </p:nvSpPr>
        <p:spPr/>
        <p:txBody>
          <a:bodyPr/>
          <a:lstStyle/>
          <a:p>
            <a:fld id="{86CB4B4D-7CA3-9044-876B-883B54F8677D}" type="slidenum">
              <a:rPr lang="en-LB" smtClean="0"/>
              <a:t>26</a:t>
            </a:fld>
            <a:endParaRPr lang="en-LB"/>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1" name="Rounded Rectangle"/>
          <p:cNvSpPr/>
          <p:nvPr/>
        </p:nvSpPr>
        <p:spPr>
          <a:xfrm>
            <a:off x="7121531" y="1765300"/>
            <a:ext cx="5803900" cy="7150100"/>
          </a:xfrm>
          <a:prstGeom prst="roundRect">
            <a:avLst>
              <a:gd name="adj" fmla="val 3282"/>
            </a:avLst>
          </a:prstGeom>
          <a:gradFill>
            <a:gsLst>
              <a:gs pos="0">
                <a:srgbClr val="FFFFFF"/>
              </a:gs>
              <a:gs pos="25906">
                <a:srgbClr val="FCEFAE"/>
              </a:gs>
              <a:gs pos="100000">
                <a:srgbClr val="F9E05E"/>
              </a:gs>
            </a:gsLst>
            <a:lin ang="5400000"/>
          </a:gradFill>
          <a:ln w="12700">
            <a:miter lim="400000"/>
          </a:ln>
          <a:effectLst>
            <a:outerShdw blurRad="76200" dir="18900000" rotWithShape="0">
              <a:srgbClr val="000000">
                <a:alpha val="80000"/>
              </a:srgbClr>
            </a:outerShdw>
          </a:effectLst>
        </p:spPr>
        <p:txBody>
          <a:bodyPr lIns="50800" tIns="50800" rIns="50800" bIns="50800" anchor="ctr"/>
          <a:lstStyle/>
          <a:p>
            <a:pPr defTabSz="800100">
              <a:defRPr sz="2400">
                <a:effectLst>
                  <a:outerShdw blurRad="25400" dist="23998" dir="2700000" rotWithShape="0">
                    <a:srgbClr val="000000">
                      <a:alpha val="31034"/>
                    </a:srgbClr>
                  </a:outerShdw>
                </a:effectLst>
              </a:defRPr>
            </a:pPr>
            <a:endParaRPr/>
          </a:p>
        </p:txBody>
      </p:sp>
      <p:sp>
        <p:nvSpPr>
          <p:cNvPr id="302" name="Answer"/>
          <p:cNvSpPr txBox="1">
            <a:spLocks noGrp="1"/>
          </p:cNvSpPr>
          <p:nvPr>
            <p:ph type="title"/>
          </p:nvPr>
        </p:nvSpPr>
        <p:spPr>
          <a:xfrm>
            <a:off x="1270000" y="254000"/>
            <a:ext cx="10464800" cy="1146175"/>
          </a:xfrm>
          <a:prstGeom prst="rect">
            <a:avLst/>
          </a:prstGeom>
        </p:spPr>
        <p:txBody>
          <a:bodyPr/>
          <a:lstStyle/>
          <a:p>
            <a:r>
              <a:rPr sz="7200" dirty="0"/>
              <a:t>Answer</a:t>
            </a:r>
          </a:p>
        </p:txBody>
      </p:sp>
      <p:sp>
        <p:nvSpPr>
          <p:cNvPr id="303" name="What happens if ACK from the client is lost, and the client does not wait?…"/>
          <p:cNvSpPr txBox="1">
            <a:spLocks noGrp="1"/>
          </p:cNvSpPr>
          <p:nvPr>
            <p:ph type="body" sz="half" idx="1"/>
          </p:nvPr>
        </p:nvSpPr>
        <p:spPr>
          <a:xfrm>
            <a:off x="271463" y="1400170"/>
            <a:ext cx="6862768" cy="8054975"/>
          </a:xfrm>
          <a:prstGeom prst="rect">
            <a:avLst/>
          </a:prstGeom>
        </p:spPr>
        <p:txBody>
          <a:bodyPr/>
          <a:lstStyle/>
          <a:p>
            <a:pPr marL="0" indent="0">
              <a:spcBef>
                <a:spcPts val="1800"/>
              </a:spcBef>
              <a:spcAft>
                <a:spcPts val="600"/>
              </a:spcAft>
              <a:buNone/>
            </a:pPr>
            <a:r>
              <a:rPr lang="en-US" sz="3000" b="1" dirty="0">
                <a:solidFill>
                  <a:schemeClr val="accent3">
                    <a:lumMod val="60000"/>
                    <a:lumOff val="40000"/>
                  </a:schemeClr>
                </a:solidFill>
              </a:rPr>
              <a:t>Result:</a:t>
            </a:r>
          </a:p>
          <a:p>
            <a:pPr marL="0">
              <a:spcBef>
                <a:spcPts val="1800"/>
              </a:spcBef>
              <a:spcAft>
                <a:spcPts val="600"/>
              </a:spcAft>
            </a:pPr>
            <a:r>
              <a:rPr lang="en-US" sz="3000" dirty="0">
                <a:solidFill>
                  <a:schemeClr val="accent3">
                    <a:lumMod val="60000"/>
                    <a:lumOff val="40000"/>
                  </a:schemeClr>
                </a:solidFill>
              </a:rPr>
              <a:t>I</a:t>
            </a:r>
            <a:r>
              <a:rPr sz="3000" dirty="0">
                <a:solidFill>
                  <a:schemeClr val="accent3">
                    <a:lumMod val="60000"/>
                    <a:lumOff val="40000"/>
                  </a:schemeClr>
                </a:solidFill>
              </a:rPr>
              <a:t>f</a:t>
            </a:r>
            <a:r>
              <a:rPr lang="en-US" sz="3000" dirty="0">
                <a:solidFill>
                  <a:schemeClr val="accent3">
                    <a:lumMod val="60000"/>
                    <a:lumOff val="40000"/>
                  </a:schemeClr>
                </a:solidFill>
              </a:rPr>
              <a:t> </a:t>
            </a:r>
            <a:r>
              <a:rPr sz="3000" dirty="0">
                <a:solidFill>
                  <a:schemeClr val="accent3">
                    <a:lumMod val="60000"/>
                    <a:lumOff val="40000"/>
                  </a:schemeClr>
                </a:solidFill>
              </a:rPr>
              <a:t>ACK from the client is lost, and the client does not wait?</a:t>
            </a:r>
          </a:p>
          <a:p>
            <a:pPr lvl="1" indent="-452438">
              <a:spcAft>
                <a:spcPts val="600"/>
              </a:spcAft>
              <a:buSzPct val="100000"/>
              <a:buFont typeface="Courier New" panose="02070309020205020404" pitchFamily="49" charset="0"/>
              <a:buChar char="o"/>
            </a:pPr>
            <a:r>
              <a:rPr sz="3000" dirty="0">
                <a:solidFill>
                  <a:schemeClr val="accent3">
                    <a:lumMod val="60000"/>
                    <a:lumOff val="40000"/>
                  </a:schemeClr>
                </a:solidFill>
              </a:rPr>
              <a:t>Client may open the same connection again (same pair of </a:t>
            </a:r>
            <a:r>
              <a:rPr sz="3000" dirty="0" err="1">
                <a:solidFill>
                  <a:schemeClr val="accent3">
                    <a:lumMod val="60000"/>
                    <a:lumOff val="40000"/>
                  </a:schemeClr>
                </a:solidFill>
              </a:rPr>
              <a:t>port#s</a:t>
            </a:r>
            <a:r>
              <a:rPr sz="3000" dirty="0">
                <a:solidFill>
                  <a:schemeClr val="accent3">
                    <a:lumMod val="60000"/>
                    <a:lumOff val="40000"/>
                  </a:schemeClr>
                </a:solidFill>
              </a:rPr>
              <a:t>)</a:t>
            </a:r>
          </a:p>
          <a:p>
            <a:pPr lvl="1" indent="-452438">
              <a:spcAft>
                <a:spcPts val="600"/>
              </a:spcAft>
              <a:buSzPct val="100000"/>
              <a:buFont typeface="Courier New" panose="02070309020205020404" pitchFamily="49" charset="0"/>
              <a:buChar char="o"/>
            </a:pPr>
            <a:r>
              <a:rPr sz="3000" dirty="0">
                <a:solidFill>
                  <a:schemeClr val="accent3">
                    <a:lumMod val="60000"/>
                    <a:lumOff val="40000"/>
                  </a:schemeClr>
                </a:solidFill>
              </a:rPr>
              <a:t>Receives</a:t>
            </a:r>
            <a:r>
              <a:rPr lang="en-US" sz="3000" dirty="0">
                <a:solidFill>
                  <a:schemeClr val="accent3">
                    <a:lumMod val="60000"/>
                    <a:lumOff val="40000"/>
                  </a:schemeClr>
                </a:solidFill>
              </a:rPr>
              <a:t> </a:t>
            </a:r>
            <a:r>
              <a:rPr sz="3000" dirty="0">
                <a:solidFill>
                  <a:schemeClr val="accent3">
                    <a:lumMod val="60000"/>
                    <a:lumOff val="40000"/>
                  </a:schemeClr>
                </a:solidFill>
              </a:rPr>
              <a:t>FIN</a:t>
            </a:r>
            <a:r>
              <a:rPr lang="en-US" sz="3000" dirty="0">
                <a:solidFill>
                  <a:schemeClr val="accent3">
                    <a:lumMod val="60000"/>
                    <a:lumOff val="40000"/>
                  </a:schemeClr>
                </a:solidFill>
              </a:rPr>
              <a:t> </a:t>
            </a:r>
            <a:r>
              <a:rPr sz="3000" dirty="0">
                <a:solidFill>
                  <a:schemeClr val="accent3">
                    <a:lumMod val="60000"/>
                    <a:lumOff val="40000"/>
                  </a:schemeClr>
                </a:solidFill>
              </a:rPr>
              <a:t>from</a:t>
            </a:r>
            <a:r>
              <a:rPr lang="en-US" sz="3000" dirty="0">
                <a:solidFill>
                  <a:schemeClr val="accent3">
                    <a:lumMod val="60000"/>
                    <a:lumOff val="40000"/>
                  </a:schemeClr>
                </a:solidFill>
              </a:rPr>
              <a:t> </a:t>
            </a:r>
            <a:r>
              <a:rPr sz="3000" dirty="0">
                <a:solidFill>
                  <a:schemeClr val="accent3">
                    <a:lumMod val="60000"/>
                    <a:lumOff val="40000"/>
                  </a:schemeClr>
                </a:solidFill>
              </a:rPr>
              <a:t>earlier</a:t>
            </a:r>
            <a:r>
              <a:rPr lang="en-US" sz="3000" dirty="0">
                <a:solidFill>
                  <a:schemeClr val="accent3">
                    <a:lumMod val="60000"/>
                    <a:lumOff val="40000"/>
                  </a:schemeClr>
                </a:solidFill>
              </a:rPr>
              <a:t> </a:t>
            </a:r>
            <a:r>
              <a:rPr sz="3000" dirty="0">
                <a:solidFill>
                  <a:schemeClr val="accent3">
                    <a:lumMod val="60000"/>
                    <a:lumOff val="40000"/>
                  </a:schemeClr>
                </a:solidFill>
              </a:rPr>
              <a:t>incarnation of connection</a:t>
            </a:r>
          </a:p>
          <a:p>
            <a:pPr lvl="1" indent="-452438">
              <a:spcAft>
                <a:spcPts val="600"/>
              </a:spcAft>
              <a:buSzPct val="100000"/>
              <a:buFont typeface="Courier New" panose="02070309020205020404" pitchFamily="49" charset="0"/>
              <a:buChar char="o"/>
            </a:pPr>
            <a:r>
              <a:rPr sz="3000" dirty="0">
                <a:solidFill>
                  <a:schemeClr val="accent3">
                    <a:lumMod val="60000"/>
                    <a:lumOff val="40000"/>
                  </a:schemeClr>
                </a:solidFill>
              </a:rPr>
              <a:t>Immediately initiate closing of the later incarnation</a:t>
            </a:r>
            <a:endParaRPr lang="en-US" sz="3000" dirty="0">
              <a:solidFill>
                <a:schemeClr val="accent3">
                  <a:lumMod val="60000"/>
                  <a:lumOff val="40000"/>
                </a:schemeClr>
              </a:solidFill>
            </a:endParaRPr>
          </a:p>
          <a:p>
            <a:pPr marL="0">
              <a:spcBef>
                <a:spcPts val="1800"/>
              </a:spcBef>
              <a:spcAft>
                <a:spcPts val="600"/>
              </a:spcAft>
            </a:pPr>
            <a:r>
              <a:rPr lang="en-US" sz="3000" dirty="0">
                <a:solidFill>
                  <a:schemeClr val="accent3">
                    <a:lumMod val="60000"/>
                    <a:lumOff val="40000"/>
                  </a:schemeClr>
                </a:solidFill>
              </a:rPr>
              <a:t>Any stray packets from the old connection have expired (1 × MSL).</a:t>
            </a:r>
          </a:p>
        </p:txBody>
      </p:sp>
      <p:pic>
        <p:nvPicPr>
          <p:cNvPr id="304" name="droppedImage.pdf" descr="droppedImage.pdf"/>
          <p:cNvPicPr>
            <a:picLocks noChangeAspect="1"/>
          </p:cNvPicPr>
          <p:nvPr/>
        </p:nvPicPr>
        <p:blipFill>
          <a:blip r:embed="rId3"/>
          <a:stretch>
            <a:fillRect/>
          </a:stretch>
        </p:blipFill>
        <p:spPr>
          <a:xfrm>
            <a:off x="7527931" y="2019300"/>
            <a:ext cx="5003800" cy="6671734"/>
          </a:xfrm>
          <a:prstGeom prst="rect">
            <a:avLst/>
          </a:prstGeom>
          <a:ln w="12700">
            <a:miter lim="400000"/>
          </a:ln>
        </p:spPr>
      </p:pic>
      <p:sp>
        <p:nvSpPr>
          <p:cNvPr id="2" name="Slide Number Placeholder 1">
            <a:extLst>
              <a:ext uri="{FF2B5EF4-FFF2-40B4-BE49-F238E27FC236}">
                <a16:creationId xmlns:a16="http://schemas.microsoft.com/office/drawing/2014/main" id="{DA06F1DB-B786-2E4A-DD6C-44E4A33CAF7F}"/>
              </a:ext>
            </a:extLst>
          </p:cNvPr>
          <p:cNvSpPr>
            <a:spLocks noGrp="1"/>
          </p:cNvSpPr>
          <p:nvPr>
            <p:ph type="sldNum" sz="quarter" idx="2"/>
          </p:nvPr>
        </p:nvSpPr>
        <p:spPr/>
        <p:txBody>
          <a:bodyPr/>
          <a:lstStyle/>
          <a:p>
            <a:fld id="{86CB4B4D-7CA3-9044-876B-883B54F8677D}" type="slidenum">
              <a:rPr lang="en-LB" smtClean="0"/>
              <a:t>27</a:t>
            </a:fld>
            <a:endParaRPr lang="en-LB"/>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8" name="traceroute"/>
          <p:cNvSpPr txBox="1">
            <a:spLocks noGrp="1"/>
          </p:cNvSpPr>
          <p:nvPr>
            <p:ph type="title"/>
          </p:nvPr>
        </p:nvSpPr>
        <p:spPr>
          <a:prstGeom prst="rect">
            <a:avLst/>
          </a:prstGeom>
        </p:spPr>
        <p:txBody>
          <a:bodyPr/>
          <a:lstStyle/>
          <a:p>
            <a:r>
              <a:rPr lang="en-US" dirty="0"/>
              <a:t>Outline</a:t>
            </a:r>
            <a:endParaRPr dirty="0"/>
          </a:p>
        </p:txBody>
      </p:sp>
      <p:sp>
        <p:nvSpPr>
          <p:cNvPr id="309" name="Connection-oriented Transport: TCP…"/>
          <p:cNvSpPr txBox="1">
            <a:spLocks noGrp="1"/>
          </p:cNvSpPr>
          <p:nvPr>
            <p:ph type="body" idx="1"/>
          </p:nvPr>
        </p:nvSpPr>
        <p:spPr>
          <a:prstGeom prst="rect">
            <a:avLst/>
          </a:prstGeom>
        </p:spPr>
        <p:txBody>
          <a:bodyPr/>
          <a:lstStyle/>
          <a:p>
            <a:r>
              <a:rPr dirty="0"/>
              <a:t>Connection-oriented Transport: TCP</a:t>
            </a:r>
          </a:p>
          <a:p>
            <a:r>
              <a:rPr dirty="0"/>
              <a:t>Segment Structure</a:t>
            </a:r>
          </a:p>
          <a:p>
            <a:r>
              <a:rPr dirty="0"/>
              <a:t>Connection Management</a:t>
            </a:r>
          </a:p>
          <a:p>
            <a:pPr>
              <a:defRPr>
                <a:solidFill>
                  <a:srgbClr val="F9E05E"/>
                </a:solidFill>
              </a:defRPr>
            </a:pPr>
            <a:r>
              <a:rPr dirty="0"/>
              <a:t>Reliable Data Transfer</a:t>
            </a:r>
            <a:r>
              <a:rPr lang="en-US" dirty="0"/>
              <a:t> (RDT)</a:t>
            </a:r>
            <a:endParaRPr dirty="0"/>
          </a:p>
        </p:txBody>
      </p:sp>
      <p:sp>
        <p:nvSpPr>
          <p:cNvPr id="31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28</a:t>
            </a:fld>
            <a:endParaRP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2" name="TCP RDT"/>
          <p:cNvSpPr txBox="1">
            <a:spLocks noGrp="1"/>
          </p:cNvSpPr>
          <p:nvPr>
            <p:ph type="title"/>
          </p:nvPr>
        </p:nvSpPr>
        <p:spPr>
          <a:prstGeom prst="rect">
            <a:avLst/>
          </a:prstGeom>
        </p:spPr>
        <p:txBody>
          <a:bodyPr/>
          <a:lstStyle/>
          <a:p>
            <a:r>
              <a:rPr sz="7200" dirty="0"/>
              <a:t>TCP RDT</a:t>
            </a:r>
          </a:p>
        </p:txBody>
      </p:sp>
      <p:sp>
        <p:nvSpPr>
          <p:cNvPr id="313" name="TCP creates RDT service on top of IP’s unreliable service…"/>
          <p:cNvSpPr txBox="1">
            <a:spLocks noGrp="1"/>
          </p:cNvSpPr>
          <p:nvPr>
            <p:ph type="body" idx="1"/>
          </p:nvPr>
        </p:nvSpPr>
        <p:spPr>
          <a:xfrm>
            <a:off x="628651" y="2413000"/>
            <a:ext cx="11858624" cy="6565900"/>
          </a:xfrm>
          <a:prstGeom prst="rect">
            <a:avLst/>
          </a:prstGeom>
        </p:spPr>
        <p:txBody>
          <a:bodyPr>
            <a:normAutofit/>
          </a:bodyPr>
          <a:lstStyle/>
          <a:p>
            <a:r>
              <a:rPr dirty="0"/>
              <a:t>TCP creates RDT service on top of IP’s unreliable service</a:t>
            </a:r>
          </a:p>
          <a:p>
            <a:pPr lvl="1">
              <a:spcAft>
                <a:spcPts val="600"/>
              </a:spcAft>
              <a:buSzPct val="100000"/>
              <a:buFont typeface="Courier New" panose="02070309020205020404" pitchFamily="49" charset="0"/>
              <a:buChar char="o"/>
            </a:pPr>
            <a:r>
              <a:rPr sz="2800" dirty="0"/>
              <a:t>Pipelined segments</a:t>
            </a:r>
          </a:p>
          <a:p>
            <a:pPr lvl="1">
              <a:spcAft>
                <a:spcPts val="600"/>
              </a:spcAft>
              <a:buSzPct val="100000"/>
              <a:buFont typeface="Courier New" panose="02070309020205020404" pitchFamily="49" charset="0"/>
              <a:buChar char="o"/>
            </a:pPr>
            <a:r>
              <a:rPr sz="2800" dirty="0"/>
              <a:t>Cumulative acks</a:t>
            </a:r>
          </a:p>
          <a:p>
            <a:pPr lvl="1">
              <a:spcAft>
                <a:spcPts val="600"/>
              </a:spcAft>
              <a:buSzPct val="100000"/>
              <a:buFont typeface="Courier New" panose="02070309020205020404" pitchFamily="49" charset="0"/>
              <a:buChar char="o"/>
            </a:pPr>
            <a:r>
              <a:rPr sz="2800" dirty="0"/>
              <a:t>Retransmission timer</a:t>
            </a:r>
          </a:p>
          <a:p>
            <a:r>
              <a:rPr dirty="0"/>
              <a:t>Retransmissions are triggered by:</a:t>
            </a:r>
          </a:p>
          <a:p>
            <a:pPr lvl="1">
              <a:spcAft>
                <a:spcPts val="600"/>
              </a:spcAft>
              <a:buSzPct val="100000"/>
              <a:buFont typeface="Courier New" panose="02070309020205020404" pitchFamily="49" charset="0"/>
              <a:buChar char="o"/>
            </a:pPr>
            <a:r>
              <a:rPr lang="en-US" sz="2800" dirty="0"/>
              <a:t>T</a:t>
            </a:r>
            <a:r>
              <a:rPr sz="2800" dirty="0"/>
              <a:t>imeout</a:t>
            </a:r>
            <a:r>
              <a:rPr lang="en-US" sz="2800" dirty="0"/>
              <a:t> </a:t>
            </a:r>
            <a:r>
              <a:rPr sz="2800" dirty="0"/>
              <a:t>events</a:t>
            </a:r>
          </a:p>
          <a:p>
            <a:pPr lvl="1">
              <a:spcAft>
                <a:spcPts val="600"/>
              </a:spcAft>
              <a:buSzPct val="100000"/>
              <a:buFont typeface="Courier New" panose="02070309020205020404" pitchFamily="49" charset="0"/>
              <a:buChar char="o"/>
            </a:pPr>
            <a:r>
              <a:rPr lang="en-US" sz="2800" dirty="0"/>
              <a:t>D</a:t>
            </a:r>
            <a:r>
              <a:rPr sz="2800" dirty="0"/>
              <a:t>uplicate</a:t>
            </a:r>
            <a:r>
              <a:rPr lang="en-US" sz="2800" dirty="0"/>
              <a:t> </a:t>
            </a:r>
            <a:r>
              <a:rPr sz="2800" dirty="0"/>
              <a:t>acks</a:t>
            </a:r>
          </a:p>
          <a:p>
            <a:r>
              <a:rPr dirty="0"/>
              <a:t>Initially, we consider simplified TCP sender:</a:t>
            </a:r>
          </a:p>
          <a:p>
            <a:pPr lvl="1">
              <a:spcAft>
                <a:spcPts val="600"/>
              </a:spcAft>
              <a:buSzPct val="100000"/>
              <a:buFont typeface="Courier New" panose="02070309020205020404" pitchFamily="49" charset="0"/>
              <a:buChar char="o"/>
            </a:pPr>
            <a:r>
              <a:rPr lang="en-US" sz="2800" dirty="0"/>
              <a:t>I</a:t>
            </a:r>
            <a:r>
              <a:rPr sz="2800" dirty="0"/>
              <a:t>gnore duplicate acks</a:t>
            </a:r>
          </a:p>
          <a:p>
            <a:pPr lvl="1">
              <a:spcAft>
                <a:spcPts val="600"/>
              </a:spcAft>
              <a:buSzPct val="100000"/>
              <a:buFont typeface="Courier New" panose="02070309020205020404" pitchFamily="49" charset="0"/>
              <a:buChar char="o"/>
            </a:pPr>
            <a:r>
              <a:rPr lang="en-US" sz="2800" dirty="0"/>
              <a:t>I</a:t>
            </a:r>
            <a:r>
              <a:rPr sz="2800" dirty="0"/>
              <a:t>gnore</a:t>
            </a:r>
            <a:r>
              <a:rPr lang="en-US" sz="2800" dirty="0"/>
              <a:t> </a:t>
            </a:r>
            <a:r>
              <a:rPr sz="2800" dirty="0"/>
              <a:t>flow control, congestion control</a:t>
            </a:r>
          </a:p>
          <a:p>
            <a:pPr lvl="1">
              <a:spcAft>
                <a:spcPts val="600"/>
              </a:spcAft>
              <a:buSzPct val="100000"/>
              <a:buFont typeface="Courier New" panose="02070309020205020404" pitchFamily="49" charset="0"/>
              <a:buChar char="o"/>
            </a:pPr>
            <a:r>
              <a:rPr sz="2800" dirty="0"/>
              <a:t>assume RTT is estimated somehow</a:t>
            </a:r>
          </a:p>
        </p:txBody>
      </p:sp>
      <p:sp>
        <p:nvSpPr>
          <p:cNvPr id="2" name="Slide Number Placeholder 1">
            <a:extLst>
              <a:ext uri="{FF2B5EF4-FFF2-40B4-BE49-F238E27FC236}">
                <a16:creationId xmlns:a16="http://schemas.microsoft.com/office/drawing/2014/main" id="{4CD6E887-B26F-D401-5434-0FE8F86ACA07}"/>
              </a:ext>
            </a:extLst>
          </p:cNvPr>
          <p:cNvSpPr>
            <a:spLocks noGrp="1"/>
          </p:cNvSpPr>
          <p:nvPr>
            <p:ph type="sldNum" sz="quarter" idx="2"/>
          </p:nvPr>
        </p:nvSpPr>
        <p:spPr/>
        <p:txBody>
          <a:bodyPr/>
          <a:lstStyle/>
          <a:p>
            <a:fld id="{86CB4B4D-7CA3-9044-876B-883B54F8677D}" type="slidenum">
              <a:rPr lang="en-LB" smtClean="0"/>
              <a:t>29</a:t>
            </a:fld>
            <a:endParaRPr lang="en-LB"/>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5" name="Rounded Rectangle"/>
          <p:cNvSpPr/>
          <p:nvPr/>
        </p:nvSpPr>
        <p:spPr>
          <a:xfrm>
            <a:off x="6807200" y="1765300"/>
            <a:ext cx="5803900" cy="7150100"/>
          </a:xfrm>
          <a:prstGeom prst="roundRect">
            <a:avLst>
              <a:gd name="adj" fmla="val 3282"/>
            </a:avLst>
          </a:prstGeom>
          <a:gradFill>
            <a:gsLst>
              <a:gs pos="0">
                <a:srgbClr val="FFFFFF"/>
              </a:gs>
              <a:gs pos="25906">
                <a:srgbClr val="FCEFAE"/>
              </a:gs>
              <a:gs pos="100000">
                <a:srgbClr val="F9E05E"/>
              </a:gs>
            </a:gsLst>
            <a:lin ang="5400000"/>
          </a:gradFill>
          <a:ln w="12700">
            <a:miter lim="400000"/>
          </a:ln>
          <a:effectLst>
            <a:outerShdw blurRad="76200" dir="18900000" rotWithShape="0">
              <a:srgbClr val="000000">
                <a:alpha val="80000"/>
              </a:srgbClr>
            </a:outerShdw>
          </a:effectLst>
        </p:spPr>
        <p:txBody>
          <a:bodyPr lIns="50800" tIns="50800" rIns="50800" bIns="50800" anchor="ctr"/>
          <a:lstStyle/>
          <a:p>
            <a:pPr defTabSz="800100">
              <a:defRPr sz="2400">
                <a:effectLst>
                  <a:outerShdw blurRad="25400" dist="23998" dir="2700000" rotWithShape="0">
                    <a:srgbClr val="000000">
                      <a:alpha val="31034"/>
                    </a:srgbClr>
                  </a:outerShdw>
                </a:effectLst>
              </a:defRPr>
            </a:pPr>
            <a:endParaRPr/>
          </a:p>
        </p:txBody>
      </p:sp>
      <p:sp>
        <p:nvSpPr>
          <p:cNvPr id="316" name="TCP Seq# and ACKs"/>
          <p:cNvSpPr txBox="1">
            <a:spLocks noGrp="1"/>
          </p:cNvSpPr>
          <p:nvPr>
            <p:ph type="title"/>
          </p:nvPr>
        </p:nvSpPr>
        <p:spPr>
          <a:xfrm>
            <a:off x="1270000" y="254000"/>
            <a:ext cx="10464800" cy="1270000"/>
          </a:xfrm>
          <a:prstGeom prst="rect">
            <a:avLst/>
          </a:prstGeom>
        </p:spPr>
        <p:txBody>
          <a:bodyPr/>
          <a:lstStyle/>
          <a:p>
            <a:r>
              <a:rPr sz="6600" dirty="0"/>
              <a:t>TCP Seq# and ACKs</a:t>
            </a:r>
          </a:p>
        </p:txBody>
      </p:sp>
      <p:sp>
        <p:nvSpPr>
          <p:cNvPr id="317" name="Sequence numbers:…"/>
          <p:cNvSpPr txBox="1">
            <a:spLocks noGrp="1"/>
          </p:cNvSpPr>
          <p:nvPr>
            <p:ph type="body" sz="half" idx="1"/>
          </p:nvPr>
        </p:nvSpPr>
        <p:spPr>
          <a:xfrm>
            <a:off x="635000" y="2032000"/>
            <a:ext cx="6133883" cy="6985000"/>
          </a:xfrm>
          <a:prstGeom prst="rect">
            <a:avLst/>
          </a:prstGeom>
        </p:spPr>
        <p:txBody>
          <a:bodyPr>
            <a:normAutofit/>
          </a:bodyPr>
          <a:lstStyle/>
          <a:p>
            <a:pPr marL="413384" indent="-413384" defTabSz="543305">
              <a:spcBef>
                <a:spcPts val="2400"/>
              </a:spcBef>
              <a:defRPr sz="2976"/>
            </a:pPr>
            <a:r>
              <a:rPr dirty="0"/>
              <a:t>Sequence numbers:</a:t>
            </a:r>
          </a:p>
          <a:p>
            <a:pPr marL="752475" lvl="1" indent="-457200" defTabSz="543305">
              <a:spcBef>
                <a:spcPts val="1600"/>
              </a:spcBef>
              <a:buSzPct val="100000"/>
              <a:buFont typeface="Courier New" panose="02070309020205020404" pitchFamily="49" charset="0"/>
              <a:buChar char="o"/>
              <a:defRPr sz="2976"/>
            </a:pPr>
            <a:r>
              <a:rPr sz="2800" dirty="0"/>
              <a:t>byte stream “number” of first byte in segment’s data</a:t>
            </a:r>
          </a:p>
          <a:p>
            <a:pPr marL="413384" indent="-413384" defTabSz="543305">
              <a:spcBef>
                <a:spcPts val="2400"/>
              </a:spcBef>
              <a:defRPr sz="2976"/>
            </a:pPr>
            <a:r>
              <a:rPr dirty="0"/>
              <a:t>ACKs:</a:t>
            </a:r>
          </a:p>
          <a:p>
            <a:pPr marL="752475" lvl="1" indent="-457200" defTabSz="543305">
              <a:spcBef>
                <a:spcPts val="1600"/>
              </a:spcBef>
              <a:buSzPct val="100000"/>
              <a:buFont typeface="Courier New" panose="02070309020205020404" pitchFamily="49" charset="0"/>
              <a:buChar char="o"/>
              <a:defRPr sz="2976"/>
            </a:pPr>
            <a:r>
              <a:rPr sz="2800" dirty="0"/>
              <a:t>seq # of next byte expected from other side</a:t>
            </a:r>
          </a:p>
          <a:p>
            <a:pPr marL="752475" lvl="1" indent="-457200" defTabSz="543305">
              <a:spcBef>
                <a:spcPts val="1600"/>
              </a:spcBef>
              <a:buSzPct val="100000"/>
              <a:buFont typeface="Courier New" panose="02070309020205020404" pitchFamily="49" charset="0"/>
              <a:buChar char="o"/>
              <a:defRPr sz="2976"/>
            </a:pPr>
            <a:r>
              <a:rPr sz="2800" dirty="0">
                <a:solidFill>
                  <a:schemeClr val="accent3">
                    <a:lumMod val="60000"/>
                    <a:lumOff val="40000"/>
                  </a:schemeClr>
                </a:solidFill>
              </a:rPr>
              <a:t>cumulative ACK</a:t>
            </a:r>
          </a:p>
          <a:p>
            <a:pPr marL="1047751" lvl="2" indent="-457200" defTabSz="543305">
              <a:spcBef>
                <a:spcPts val="1100"/>
              </a:spcBef>
              <a:buSzPct val="100000"/>
              <a:buFont typeface="Wingdings" pitchFamily="2" charset="2"/>
              <a:buChar char="v"/>
              <a:defRPr sz="2976"/>
            </a:pPr>
            <a:r>
              <a:rPr dirty="0"/>
              <a:t>acknowledges bytes up to the first missing byte in the stream</a:t>
            </a:r>
          </a:p>
          <a:p>
            <a:pPr marL="752475" lvl="1" indent="-457200" defTabSz="543305">
              <a:spcBef>
                <a:spcPts val="1600"/>
              </a:spcBef>
              <a:buSzPct val="100000"/>
              <a:buFont typeface="Courier New" panose="02070309020205020404" pitchFamily="49" charset="0"/>
              <a:buChar char="o"/>
              <a:defRPr sz="2976"/>
            </a:pPr>
            <a:r>
              <a:rPr sz="2800" dirty="0">
                <a:solidFill>
                  <a:schemeClr val="accent3">
                    <a:lumMod val="60000"/>
                    <a:lumOff val="40000"/>
                  </a:schemeClr>
                </a:solidFill>
              </a:rPr>
              <a:t>piggybacked </a:t>
            </a:r>
          </a:p>
          <a:p>
            <a:pPr marL="1047751" lvl="2" indent="-457200" defTabSz="543305">
              <a:spcBef>
                <a:spcPts val="1100"/>
              </a:spcBef>
              <a:buSzPct val="100000"/>
              <a:buFont typeface="Wingdings" pitchFamily="2" charset="2"/>
              <a:buChar char="v"/>
              <a:defRPr sz="2976"/>
            </a:pPr>
            <a:r>
              <a:rPr sz="2976" dirty="0"/>
              <a:t>with data, if possible</a:t>
            </a:r>
          </a:p>
        </p:txBody>
      </p:sp>
      <p:pic>
        <p:nvPicPr>
          <p:cNvPr id="318" name="droppedImage.pdf" descr="droppedImage.pdf"/>
          <p:cNvPicPr>
            <a:picLocks noChangeAspect="1"/>
          </p:cNvPicPr>
          <p:nvPr/>
        </p:nvPicPr>
        <p:blipFill>
          <a:blip r:embed="rId3"/>
          <a:stretch>
            <a:fillRect/>
          </a:stretch>
        </p:blipFill>
        <p:spPr>
          <a:xfrm>
            <a:off x="6915996" y="2222500"/>
            <a:ext cx="5606204" cy="6248400"/>
          </a:xfrm>
          <a:prstGeom prst="rect">
            <a:avLst/>
          </a:prstGeom>
          <a:ln w="12700">
            <a:miter lim="400000"/>
          </a:ln>
        </p:spPr>
      </p:pic>
      <p:sp>
        <p:nvSpPr>
          <p:cNvPr id="2" name="Slide Number Placeholder 1">
            <a:extLst>
              <a:ext uri="{FF2B5EF4-FFF2-40B4-BE49-F238E27FC236}">
                <a16:creationId xmlns:a16="http://schemas.microsoft.com/office/drawing/2014/main" id="{CCAD29C3-60B4-4445-6228-7CF234AD551F}"/>
              </a:ext>
            </a:extLst>
          </p:cNvPr>
          <p:cNvSpPr>
            <a:spLocks noGrp="1"/>
          </p:cNvSpPr>
          <p:nvPr>
            <p:ph type="sldNum" sz="quarter" idx="2"/>
          </p:nvPr>
        </p:nvSpPr>
        <p:spPr/>
        <p:txBody>
          <a:bodyPr/>
          <a:lstStyle/>
          <a:p>
            <a:fld id="{86CB4B4D-7CA3-9044-876B-883B54F8677D}" type="slidenum">
              <a:rPr lang="en-LB" smtClean="0"/>
              <a:t>30</a:t>
            </a:fld>
            <a:endParaRPr lang="en-LB"/>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0" name="TCP Sender Events"/>
          <p:cNvSpPr txBox="1">
            <a:spLocks noGrp="1"/>
          </p:cNvSpPr>
          <p:nvPr>
            <p:ph type="title"/>
          </p:nvPr>
        </p:nvSpPr>
        <p:spPr>
          <a:prstGeom prst="rect">
            <a:avLst/>
          </a:prstGeom>
        </p:spPr>
        <p:txBody>
          <a:bodyPr/>
          <a:lstStyle/>
          <a:p>
            <a:r>
              <a:rPr sz="7200" dirty="0"/>
              <a:t>TCP Sender Events</a:t>
            </a:r>
          </a:p>
        </p:txBody>
      </p:sp>
      <p:sp>
        <p:nvSpPr>
          <p:cNvPr id="321" name="Data received from app:…"/>
          <p:cNvSpPr txBox="1">
            <a:spLocks noGrp="1"/>
          </p:cNvSpPr>
          <p:nvPr>
            <p:ph type="body" idx="1"/>
          </p:nvPr>
        </p:nvSpPr>
        <p:spPr>
          <a:xfrm>
            <a:off x="582448" y="1935655"/>
            <a:ext cx="11839903" cy="7322645"/>
          </a:xfrm>
          <a:prstGeom prst="rect">
            <a:avLst/>
          </a:prstGeom>
        </p:spPr>
        <p:txBody>
          <a:bodyPr spcCol="267073">
            <a:normAutofit/>
          </a:bodyPr>
          <a:lstStyle/>
          <a:p>
            <a:pPr marL="400050" indent="-400050" defTabSz="525779">
              <a:spcBef>
                <a:spcPts val="2300"/>
              </a:spcBef>
              <a:defRPr sz="2880">
                <a:solidFill>
                  <a:srgbClr val="F9E05E"/>
                </a:solidFill>
              </a:defRPr>
            </a:pPr>
            <a:r>
              <a:rPr dirty="0"/>
              <a:t>Data received from app:</a:t>
            </a:r>
          </a:p>
          <a:p>
            <a:pPr marL="742950" lvl="1" indent="-457200" defTabSz="525779">
              <a:spcBef>
                <a:spcPts val="1600"/>
              </a:spcBef>
              <a:buSzPct val="100000"/>
              <a:buFont typeface="Courier New" panose="02070309020205020404" pitchFamily="49" charset="0"/>
              <a:buChar char="o"/>
              <a:defRPr sz="2880"/>
            </a:pPr>
            <a:r>
              <a:rPr dirty="0"/>
              <a:t>Create segment</a:t>
            </a:r>
          </a:p>
          <a:p>
            <a:pPr marL="742950" lvl="1" indent="-457200" defTabSz="525779">
              <a:spcBef>
                <a:spcPts val="1600"/>
              </a:spcBef>
              <a:buSzPct val="100000"/>
              <a:buFont typeface="Courier New" panose="02070309020205020404" pitchFamily="49" charset="0"/>
              <a:buChar char="o"/>
              <a:defRPr sz="2880"/>
            </a:pPr>
            <a:r>
              <a:rPr dirty="0"/>
              <a:t>seq# is byte-stream number of first data byte in segment</a:t>
            </a:r>
          </a:p>
          <a:p>
            <a:pPr marL="742950" lvl="1" indent="-457200" defTabSz="525779">
              <a:spcBef>
                <a:spcPts val="1600"/>
              </a:spcBef>
              <a:buSzPct val="100000"/>
              <a:buFont typeface="Courier New" panose="02070309020205020404" pitchFamily="49" charset="0"/>
              <a:buChar char="o"/>
              <a:defRPr sz="2880"/>
            </a:pPr>
            <a:r>
              <a:rPr dirty="0"/>
              <a:t>Send, if allowed by congestion &amp; flow-control</a:t>
            </a:r>
          </a:p>
          <a:p>
            <a:pPr marL="742950" lvl="1" indent="-457200" defTabSz="525779">
              <a:spcBef>
                <a:spcPts val="1600"/>
              </a:spcBef>
              <a:buSzPct val="100000"/>
              <a:buFont typeface="Courier New" panose="02070309020205020404" pitchFamily="49" charset="0"/>
              <a:buChar char="o"/>
              <a:defRPr sz="2880"/>
            </a:pPr>
            <a:r>
              <a:rPr dirty="0"/>
              <a:t>start timer if not already running (</a:t>
            </a:r>
            <a:r>
              <a:rPr dirty="0">
                <a:solidFill>
                  <a:schemeClr val="accent3">
                    <a:lumMod val="60000"/>
                    <a:lumOff val="40000"/>
                  </a:schemeClr>
                </a:solidFill>
              </a:rPr>
              <a:t>think of timer as for oldest </a:t>
            </a:r>
            <a:r>
              <a:rPr dirty="0" err="1">
                <a:solidFill>
                  <a:schemeClr val="accent3">
                    <a:lumMod val="60000"/>
                    <a:lumOff val="40000"/>
                  </a:schemeClr>
                </a:solidFill>
              </a:rPr>
              <a:t>unacked</a:t>
            </a:r>
            <a:r>
              <a:rPr dirty="0">
                <a:solidFill>
                  <a:schemeClr val="accent3">
                    <a:lumMod val="60000"/>
                    <a:lumOff val="40000"/>
                  </a:schemeClr>
                </a:solidFill>
              </a:rPr>
              <a:t> segment</a:t>
            </a:r>
            <a:r>
              <a:rPr dirty="0"/>
              <a:t>)</a:t>
            </a:r>
          </a:p>
          <a:p>
            <a:pPr marL="742950" lvl="1" indent="-457200" defTabSz="525779">
              <a:spcBef>
                <a:spcPts val="1600"/>
              </a:spcBef>
              <a:buSzPct val="100000"/>
              <a:buFont typeface="Courier New" panose="02070309020205020404" pitchFamily="49" charset="0"/>
              <a:buChar char="o"/>
              <a:defRPr sz="2880"/>
            </a:pPr>
            <a:r>
              <a:rPr dirty="0"/>
              <a:t>expiration interval: </a:t>
            </a:r>
            <a:r>
              <a:rPr dirty="0" err="1">
                <a:solidFill>
                  <a:srgbClr val="F9E05E"/>
                </a:solidFill>
                <a:latin typeface="Monaco"/>
                <a:ea typeface="Monaco"/>
                <a:cs typeface="Monaco"/>
                <a:sym typeface="Monaco"/>
              </a:rPr>
              <a:t>TimeOutInterval</a:t>
            </a:r>
            <a:r>
              <a:rPr dirty="0"/>
              <a:t> </a:t>
            </a:r>
          </a:p>
          <a:p>
            <a:pPr marL="400050" indent="-400050" defTabSz="525779">
              <a:spcBef>
                <a:spcPts val="2300"/>
              </a:spcBef>
              <a:defRPr sz="2880">
                <a:solidFill>
                  <a:srgbClr val="F9E05E"/>
                </a:solidFill>
              </a:defRPr>
            </a:pPr>
            <a:r>
              <a:rPr dirty="0"/>
              <a:t>Timeout:</a:t>
            </a:r>
          </a:p>
          <a:p>
            <a:pPr marL="742950" lvl="1" indent="-457200" defTabSz="525779">
              <a:spcBef>
                <a:spcPts val="1600"/>
              </a:spcBef>
              <a:buSzPct val="100000"/>
              <a:buFont typeface="Courier New" panose="02070309020205020404" pitchFamily="49" charset="0"/>
              <a:buChar char="o"/>
              <a:defRPr sz="2880"/>
            </a:pPr>
            <a:r>
              <a:rPr sz="2880" dirty="0"/>
              <a:t>retransmit segment that</a:t>
            </a:r>
            <a:r>
              <a:rPr lang="en-US" sz="2880" dirty="0"/>
              <a:t> </a:t>
            </a:r>
            <a:r>
              <a:rPr sz="2880" dirty="0"/>
              <a:t>caused timeout</a:t>
            </a:r>
          </a:p>
          <a:p>
            <a:pPr marL="742950" lvl="1" indent="-457200" defTabSz="525779">
              <a:spcBef>
                <a:spcPts val="1600"/>
              </a:spcBef>
              <a:buSzPct val="100000"/>
              <a:buFont typeface="Courier New" panose="02070309020205020404" pitchFamily="49" charset="0"/>
              <a:buChar char="o"/>
              <a:defRPr sz="2880"/>
            </a:pPr>
            <a:r>
              <a:rPr sz="2880" dirty="0"/>
              <a:t>restart timer</a:t>
            </a:r>
          </a:p>
          <a:p>
            <a:pPr marL="400050" indent="-400050" defTabSz="525779">
              <a:spcBef>
                <a:spcPts val="2300"/>
              </a:spcBef>
              <a:defRPr sz="2880">
                <a:solidFill>
                  <a:srgbClr val="F9E05E"/>
                </a:solidFill>
              </a:defRPr>
            </a:pPr>
            <a:r>
              <a:rPr dirty="0"/>
              <a:t> ACK received:</a:t>
            </a:r>
          </a:p>
          <a:p>
            <a:pPr marL="742950" lvl="1" indent="-457200" defTabSz="525779">
              <a:spcBef>
                <a:spcPts val="1600"/>
              </a:spcBef>
              <a:buSzPct val="100000"/>
              <a:buFont typeface="Courier New" panose="02070309020205020404" pitchFamily="49" charset="0"/>
              <a:buChar char="o"/>
              <a:defRPr sz="2880"/>
            </a:pPr>
            <a:r>
              <a:rPr sz="2880" dirty="0"/>
              <a:t>If acknowledges previously </a:t>
            </a:r>
            <a:r>
              <a:rPr sz="2880" dirty="0" err="1"/>
              <a:t>unACKed</a:t>
            </a:r>
            <a:r>
              <a:rPr sz="2880" dirty="0"/>
              <a:t> segments</a:t>
            </a:r>
          </a:p>
          <a:p>
            <a:pPr marL="742950" lvl="1" indent="-457200" defTabSz="525779">
              <a:spcBef>
                <a:spcPts val="1600"/>
              </a:spcBef>
              <a:buSzPct val="100000"/>
              <a:buFont typeface="Courier New" panose="02070309020205020404" pitchFamily="49" charset="0"/>
              <a:buChar char="o"/>
              <a:defRPr sz="2880"/>
            </a:pPr>
            <a:r>
              <a:rPr sz="2880" dirty="0"/>
              <a:t>update what is known to be </a:t>
            </a:r>
            <a:r>
              <a:rPr sz="2880" dirty="0" err="1"/>
              <a:t>ACKed</a:t>
            </a:r>
            <a:endParaRPr sz="2880" dirty="0"/>
          </a:p>
          <a:p>
            <a:pPr marL="742950" lvl="1" indent="-457200" defTabSz="525779">
              <a:spcBef>
                <a:spcPts val="1600"/>
              </a:spcBef>
              <a:buSzPct val="100000"/>
              <a:buFont typeface="Courier New" panose="02070309020205020404" pitchFamily="49" charset="0"/>
              <a:buChar char="o"/>
              <a:defRPr sz="2880"/>
            </a:pPr>
            <a:r>
              <a:rPr sz="2880" dirty="0"/>
              <a:t>start timer if there are  outstanding segments</a:t>
            </a:r>
          </a:p>
        </p:txBody>
      </p:sp>
      <p:sp>
        <p:nvSpPr>
          <p:cNvPr id="2" name="Slide Number Placeholder 1">
            <a:extLst>
              <a:ext uri="{FF2B5EF4-FFF2-40B4-BE49-F238E27FC236}">
                <a16:creationId xmlns:a16="http://schemas.microsoft.com/office/drawing/2014/main" id="{208B2886-A9D2-2E22-93F5-B06A0A347BC2}"/>
              </a:ext>
            </a:extLst>
          </p:cNvPr>
          <p:cNvSpPr>
            <a:spLocks noGrp="1"/>
          </p:cNvSpPr>
          <p:nvPr>
            <p:ph type="sldNum" sz="quarter" idx="2"/>
          </p:nvPr>
        </p:nvSpPr>
        <p:spPr/>
        <p:txBody>
          <a:bodyPr/>
          <a:lstStyle/>
          <a:p>
            <a:fld id="{86CB4B4D-7CA3-9044-876B-883B54F8677D}" type="slidenum">
              <a:rPr lang="en-LB" smtClean="0"/>
              <a:t>31</a:t>
            </a:fld>
            <a:endParaRPr lang="en-LB"/>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3" name="What does server do when it gets the retransmitted segment?"/>
          <p:cNvSpPr txBox="1">
            <a:spLocks noGrp="1"/>
          </p:cNvSpPr>
          <p:nvPr>
            <p:ph type="body" sz="quarter" idx="1"/>
          </p:nvPr>
        </p:nvSpPr>
        <p:spPr>
          <a:xfrm>
            <a:off x="5995812" y="3302000"/>
            <a:ext cx="6564488" cy="2654300"/>
          </a:xfrm>
          <a:prstGeom prst="rect">
            <a:avLst/>
          </a:prstGeom>
        </p:spPr>
        <p:txBody>
          <a:bodyPr/>
          <a:lstStyle>
            <a:lvl1pPr>
              <a:spcBef>
                <a:spcPts val="1800"/>
              </a:spcBef>
            </a:lvl1pPr>
          </a:lstStyle>
          <a:p>
            <a:r>
              <a:rPr dirty="0"/>
              <a:t>What does server do when it gets the retransmitted segment?</a:t>
            </a:r>
          </a:p>
        </p:txBody>
      </p:sp>
      <p:sp>
        <p:nvSpPr>
          <p:cNvPr id="324" name="Retransmission Scenarios"/>
          <p:cNvSpPr txBox="1">
            <a:spLocks noGrp="1"/>
          </p:cNvSpPr>
          <p:nvPr>
            <p:ph type="title"/>
          </p:nvPr>
        </p:nvSpPr>
        <p:spPr>
          <a:xfrm>
            <a:off x="1270000" y="254000"/>
            <a:ext cx="10464800" cy="1511300"/>
          </a:xfrm>
          <a:prstGeom prst="rect">
            <a:avLst/>
          </a:prstGeom>
        </p:spPr>
        <p:txBody>
          <a:bodyPr>
            <a:normAutofit fontScale="90000"/>
          </a:bodyPr>
          <a:lstStyle>
            <a:lvl1pPr defTabSz="484886">
              <a:defRPr sz="6972"/>
            </a:lvl1pPr>
          </a:lstStyle>
          <a:p>
            <a:r>
              <a:rPr sz="7200" dirty="0"/>
              <a:t>Retransmission Scenarios</a:t>
            </a:r>
          </a:p>
        </p:txBody>
      </p:sp>
      <p:grpSp>
        <p:nvGrpSpPr>
          <p:cNvPr id="327" name="Group"/>
          <p:cNvGrpSpPr/>
          <p:nvPr/>
        </p:nvGrpSpPr>
        <p:grpSpPr>
          <a:xfrm>
            <a:off x="698500" y="2032000"/>
            <a:ext cx="5283200" cy="6743700"/>
            <a:chOff x="0" y="0"/>
            <a:chExt cx="5283200" cy="6743700"/>
          </a:xfrm>
        </p:grpSpPr>
        <p:sp>
          <p:nvSpPr>
            <p:cNvPr id="325" name="Rounded Rectangle"/>
            <p:cNvSpPr/>
            <p:nvPr/>
          </p:nvSpPr>
          <p:spPr>
            <a:xfrm>
              <a:off x="0" y="0"/>
              <a:ext cx="5283200" cy="6743700"/>
            </a:xfrm>
            <a:prstGeom prst="roundRect">
              <a:avLst>
                <a:gd name="adj" fmla="val 3606"/>
              </a:avLst>
            </a:prstGeom>
            <a:gradFill flip="none" rotWithShape="1">
              <a:gsLst>
                <a:gs pos="0">
                  <a:srgbClr val="FFFFFF"/>
                </a:gs>
                <a:gs pos="26424">
                  <a:srgbClr val="AFCBA5"/>
                </a:gs>
                <a:gs pos="100000">
                  <a:srgbClr val="5E974B"/>
                </a:gs>
              </a:gsLst>
              <a:lin ang="5400000" scaled="0"/>
            </a:gradFill>
            <a:ln w="12700" cap="flat">
              <a:noFill/>
              <a:miter lim="400000"/>
            </a:ln>
            <a:effectLst>
              <a:outerShdw blurRad="76200" dir="18900000" rotWithShape="0">
                <a:srgbClr val="000000">
                  <a:alpha val="80000"/>
                </a:srgbClr>
              </a:outerShdw>
            </a:effectLst>
          </p:spPr>
          <p:txBody>
            <a:bodyPr wrap="square" lIns="50800" tIns="50800" rIns="50800" bIns="50800" numCol="1" anchor="ctr">
              <a:noAutofit/>
            </a:bodyPr>
            <a:lstStyle/>
            <a:p>
              <a:pPr defTabSz="800100">
                <a:defRPr sz="2400">
                  <a:effectLst>
                    <a:outerShdw blurRad="25400" dist="23998" dir="2700000" rotWithShape="0">
                      <a:srgbClr val="000000">
                        <a:alpha val="31034"/>
                      </a:srgbClr>
                    </a:outerShdw>
                  </a:effectLst>
                </a:defRPr>
              </a:pPr>
              <a:endParaRPr dirty="0"/>
            </a:p>
          </p:txBody>
        </p:sp>
        <p:pic>
          <p:nvPicPr>
            <p:cNvPr id="326" name="droppedImage.pdf" descr="droppedImage.pdf"/>
            <p:cNvPicPr>
              <a:picLocks noChangeAspect="1"/>
            </p:cNvPicPr>
            <p:nvPr/>
          </p:nvPicPr>
          <p:blipFill>
            <a:blip r:embed="rId2"/>
            <a:stretch>
              <a:fillRect/>
            </a:stretch>
          </p:blipFill>
          <p:spPr>
            <a:xfrm>
              <a:off x="152400" y="279400"/>
              <a:ext cx="4992512" cy="6197600"/>
            </a:xfrm>
            <a:prstGeom prst="rect">
              <a:avLst/>
            </a:prstGeom>
            <a:gradFill>
              <a:gsLst>
                <a:gs pos="0">
                  <a:srgbClr val="FFFFFF"/>
                </a:gs>
                <a:gs pos="25906">
                  <a:srgbClr val="FCEFAE"/>
                </a:gs>
                <a:gs pos="100000">
                  <a:srgbClr val="F9E05E"/>
                </a:gs>
              </a:gsLst>
              <a:lin ang="5400000"/>
            </a:gradFill>
            <a:ln w="12700">
              <a:miter lim="400000"/>
            </a:ln>
            <a:effectLst>
              <a:outerShdw blurRad="76200" dir="18900000" rotWithShape="0">
                <a:srgbClr val="000000">
                  <a:alpha val="80000"/>
                </a:srgbClr>
              </a:outerShdw>
            </a:effectLst>
          </p:spPr>
        </p:pic>
      </p:grpSp>
      <p:sp>
        <p:nvSpPr>
          <p:cNvPr id="328" name="Lost ACK"/>
          <p:cNvSpPr txBox="1"/>
          <p:nvPr/>
        </p:nvSpPr>
        <p:spPr>
          <a:xfrm>
            <a:off x="6306765" y="2032000"/>
            <a:ext cx="2209615" cy="723900"/>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r>
              <a:t>Lost ACK</a:t>
            </a:r>
          </a:p>
        </p:txBody>
      </p:sp>
      <p:sp>
        <p:nvSpPr>
          <p:cNvPr id="2" name="Slide Number Placeholder 1">
            <a:extLst>
              <a:ext uri="{FF2B5EF4-FFF2-40B4-BE49-F238E27FC236}">
                <a16:creationId xmlns:a16="http://schemas.microsoft.com/office/drawing/2014/main" id="{AB844875-3ADD-CECD-50F7-54ECE7DB0960}"/>
              </a:ext>
            </a:extLst>
          </p:cNvPr>
          <p:cNvSpPr>
            <a:spLocks noGrp="1"/>
          </p:cNvSpPr>
          <p:nvPr>
            <p:ph type="sldNum" sz="quarter" idx="2"/>
          </p:nvPr>
        </p:nvSpPr>
        <p:spPr/>
        <p:txBody>
          <a:bodyPr/>
          <a:lstStyle/>
          <a:p>
            <a:fld id="{86CB4B4D-7CA3-9044-876B-883B54F8677D}" type="slidenum">
              <a:rPr lang="en-LB" smtClean="0"/>
              <a:t>32</a:t>
            </a:fld>
            <a:endParaRPr lang="en-LB"/>
          </a:p>
        </p:txBody>
      </p:sp>
      <p:sp>
        <p:nvSpPr>
          <p:cNvPr id="4" name="TextBox 3">
            <a:extLst>
              <a:ext uri="{FF2B5EF4-FFF2-40B4-BE49-F238E27FC236}">
                <a16:creationId xmlns:a16="http://schemas.microsoft.com/office/drawing/2014/main" id="{1A5A0BA2-35BF-1BBA-0429-1DEEACA9D64E}"/>
              </a:ext>
            </a:extLst>
          </p:cNvPr>
          <p:cNvSpPr txBox="1"/>
          <p:nvPr/>
        </p:nvSpPr>
        <p:spPr>
          <a:xfrm>
            <a:off x="5981700" y="5687209"/>
            <a:ext cx="7023100" cy="15696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444500" indent="-444500" algn="l">
              <a:spcBef>
                <a:spcPts val="1800"/>
              </a:spcBef>
              <a:buSzPct val="171000"/>
              <a:buFontTx/>
              <a:buChar char="•"/>
            </a:pPr>
            <a:r>
              <a:rPr lang="en-US" sz="3200" dirty="0">
                <a:solidFill>
                  <a:schemeClr val="accent3">
                    <a:lumMod val="60000"/>
                    <a:lumOff val="40000"/>
                  </a:schemeClr>
                </a:solidFill>
                <a:latin typeface="+mn-lt"/>
                <a:ea typeface="+mn-ea"/>
                <a:cs typeface="+mn-cs"/>
                <a:sym typeface="Helvetica Neue"/>
              </a:rPr>
              <a:t>Discard it!  Expected seq# is 100.  Since 92 &lt; 100 it knows this is duplicate data</a:t>
            </a:r>
          </a:p>
        </p:txBody>
      </p:sp>
      <p:sp>
        <p:nvSpPr>
          <p:cNvPr id="5" name="TextBox 4">
            <a:extLst>
              <a:ext uri="{FF2B5EF4-FFF2-40B4-BE49-F238E27FC236}">
                <a16:creationId xmlns:a16="http://schemas.microsoft.com/office/drawing/2014/main" id="{B7992E32-4161-00CA-E25B-82086A59592B}"/>
              </a:ext>
            </a:extLst>
          </p:cNvPr>
          <p:cNvSpPr txBox="1"/>
          <p:nvPr/>
        </p:nvSpPr>
        <p:spPr>
          <a:xfrm>
            <a:off x="8619706" y="8359636"/>
            <a:ext cx="102657" cy="7489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LB" sz="4200" b="0" i="0" u="none" strike="noStrike" cap="none" spc="0" normalizeH="0" baseline="0" dirty="0">
              <a:ln>
                <a:noFill/>
              </a:ln>
              <a:solidFill>
                <a:srgbClr val="FFFFFF"/>
              </a:solidFill>
              <a:effectLst/>
              <a:uFillTx/>
              <a:latin typeface="Gill Sans"/>
              <a:ea typeface="Gill Sans"/>
              <a:cs typeface="Gill Sans"/>
              <a:sym typeface="Gill Sans"/>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iterate>
                                    <p:tmAbs val="0"/>
                                  </p:iterate>
                                  <p:childTnLst>
                                    <p:set>
                                      <p:cBhvr>
                                        <p:cTn id="6" fill="hold"/>
                                        <p:tgtEl>
                                          <p:spTgt spid="323">
                                            <p:bg/>
                                          </p:spTgt>
                                        </p:tgtEl>
                                        <p:attrNameLst>
                                          <p:attrName>style.visibility</p:attrName>
                                        </p:attrNameLst>
                                      </p:cBhvr>
                                      <p:to>
                                        <p:strVal val="visible"/>
                                      </p:to>
                                    </p:set>
                                    <p:animEffect transition="in" filter="wipe(left)">
                                      <p:cBhvr>
                                        <p:cTn id="7" dur="1500"/>
                                        <p:tgtEl>
                                          <p:spTgt spid="323">
                                            <p:bg/>
                                          </p:spTgt>
                                        </p:tgtEl>
                                      </p:cBhvr>
                                    </p:animEffect>
                                  </p:childTnLst>
                                </p:cTn>
                              </p:par>
                              <p:par>
                                <p:cTn id="8" presetID="22" presetClass="entr" presetSubtype="8" fill="hold" grpId="1" nodeType="withEffect">
                                  <p:stCondLst>
                                    <p:cond delay="0"/>
                                  </p:stCondLst>
                                  <p:iterate>
                                    <p:tmAbs val="0"/>
                                  </p:iterate>
                                  <p:childTnLst>
                                    <p:set>
                                      <p:cBhvr>
                                        <p:cTn id="9" fill="hold"/>
                                        <p:tgtEl>
                                          <p:spTgt spid="323">
                                            <p:txEl>
                                              <p:pRg st="0" end="0"/>
                                            </p:txEl>
                                          </p:spTgt>
                                        </p:tgtEl>
                                        <p:attrNameLst>
                                          <p:attrName>style.visibility</p:attrName>
                                        </p:attrNameLst>
                                      </p:cBhvr>
                                      <p:to>
                                        <p:strVal val="visible"/>
                                      </p:to>
                                    </p:set>
                                    <p:animEffect transition="in" filter="wipe(left)">
                                      <p:cBhvr>
                                        <p:cTn id="10" dur="1500"/>
                                        <p:tgtEl>
                                          <p:spTgt spid="32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 grpId="1" build="p" bldLvl="5" animBg="1" advAuto="0"/>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 name="Will client retransmit 2nd segment (Seq=100)?"/>
          <p:cNvSpPr txBox="1"/>
          <p:nvPr/>
        </p:nvSpPr>
        <p:spPr>
          <a:xfrm>
            <a:off x="6044764" y="4088524"/>
            <a:ext cx="6960036" cy="1576551"/>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lstStyle>
            <a:lvl1pPr marL="444500" indent="-444500" algn="l">
              <a:spcBef>
                <a:spcPts val="2600"/>
              </a:spcBef>
              <a:buSzPct val="171000"/>
              <a:buChar char="•"/>
              <a:defRPr sz="3200">
                <a:latin typeface="+mn-lt"/>
                <a:ea typeface="+mn-ea"/>
                <a:cs typeface="+mn-cs"/>
                <a:sym typeface="Helvetica Neue"/>
              </a:defRPr>
            </a:lvl1pPr>
          </a:lstStyle>
          <a:p>
            <a:pPr>
              <a:spcBef>
                <a:spcPts val="1800"/>
              </a:spcBef>
            </a:pPr>
            <a:r>
              <a:rPr dirty="0">
                <a:solidFill>
                  <a:schemeClr val="bg2">
                    <a:lumMod val="10000"/>
                  </a:schemeClr>
                </a:solidFill>
              </a:rPr>
              <a:t>Will client retransmit 2nd segment (Seq=100)?</a:t>
            </a:r>
          </a:p>
        </p:txBody>
      </p:sp>
      <p:sp>
        <p:nvSpPr>
          <p:cNvPr id="338" name="Retransmission Scenarios"/>
          <p:cNvSpPr txBox="1">
            <a:spLocks noGrp="1"/>
          </p:cNvSpPr>
          <p:nvPr>
            <p:ph type="title"/>
          </p:nvPr>
        </p:nvSpPr>
        <p:spPr>
          <a:xfrm>
            <a:off x="1270000" y="254000"/>
            <a:ext cx="10464800" cy="1778000"/>
          </a:xfrm>
          <a:prstGeom prst="rect">
            <a:avLst/>
          </a:prstGeom>
        </p:spPr>
        <p:txBody>
          <a:bodyPr>
            <a:normAutofit fontScale="90000"/>
          </a:bodyPr>
          <a:lstStyle>
            <a:lvl1pPr defTabSz="484886">
              <a:defRPr sz="6972"/>
            </a:lvl1pPr>
          </a:lstStyle>
          <a:p>
            <a:r>
              <a:rPr sz="7200" dirty="0"/>
              <a:t>Retransmission Scenarios</a:t>
            </a:r>
          </a:p>
        </p:txBody>
      </p:sp>
      <p:grpSp>
        <p:nvGrpSpPr>
          <p:cNvPr id="341" name="Group"/>
          <p:cNvGrpSpPr/>
          <p:nvPr/>
        </p:nvGrpSpPr>
        <p:grpSpPr>
          <a:xfrm>
            <a:off x="698500" y="2082800"/>
            <a:ext cx="5283200" cy="6780273"/>
            <a:chOff x="0" y="0"/>
            <a:chExt cx="5283200" cy="6780272"/>
          </a:xfrm>
        </p:grpSpPr>
        <p:sp>
          <p:nvSpPr>
            <p:cNvPr id="339" name="Rounded Rectangle"/>
            <p:cNvSpPr/>
            <p:nvPr/>
          </p:nvSpPr>
          <p:spPr>
            <a:xfrm>
              <a:off x="0" y="0"/>
              <a:ext cx="5283200" cy="6743700"/>
            </a:xfrm>
            <a:prstGeom prst="roundRect">
              <a:avLst>
                <a:gd name="adj" fmla="val 3606"/>
              </a:avLst>
            </a:prstGeom>
            <a:gradFill flip="none" rotWithShape="1">
              <a:gsLst>
                <a:gs pos="0">
                  <a:srgbClr val="FFFFFF"/>
                </a:gs>
                <a:gs pos="26424">
                  <a:srgbClr val="AFCBA5"/>
                </a:gs>
                <a:gs pos="100000">
                  <a:srgbClr val="5E974B"/>
                </a:gs>
              </a:gsLst>
              <a:lin ang="5400000" scaled="0"/>
            </a:gradFill>
            <a:ln w="12700" cap="flat">
              <a:noFill/>
              <a:miter lim="400000"/>
            </a:ln>
            <a:effectLst>
              <a:outerShdw blurRad="76200" dir="18900000" rotWithShape="0">
                <a:srgbClr val="000000">
                  <a:alpha val="80000"/>
                </a:srgbClr>
              </a:outerShdw>
            </a:effectLst>
          </p:spPr>
          <p:txBody>
            <a:bodyPr wrap="square" lIns="50800" tIns="50800" rIns="50800" bIns="50800" numCol="1" anchor="ctr">
              <a:noAutofit/>
            </a:bodyPr>
            <a:lstStyle/>
            <a:p>
              <a:pPr defTabSz="800100">
                <a:defRPr sz="2400">
                  <a:effectLst>
                    <a:outerShdw blurRad="25400" dist="23998" dir="2700000" rotWithShape="0">
                      <a:srgbClr val="000000">
                        <a:alpha val="31034"/>
                      </a:srgbClr>
                    </a:outerShdw>
                  </a:effectLst>
                </a:defRPr>
              </a:pPr>
              <a:endParaRPr/>
            </a:p>
          </p:txBody>
        </p:sp>
        <p:pic>
          <p:nvPicPr>
            <p:cNvPr id="340" name="droppedImage.pdf" descr="droppedImage.pdf"/>
            <p:cNvPicPr>
              <a:picLocks noChangeAspect="1"/>
            </p:cNvPicPr>
            <p:nvPr/>
          </p:nvPicPr>
          <p:blipFill>
            <a:blip r:embed="rId3"/>
            <a:stretch>
              <a:fillRect/>
            </a:stretch>
          </p:blipFill>
          <p:spPr>
            <a:xfrm>
              <a:off x="152400" y="25400"/>
              <a:ext cx="4991100" cy="6754873"/>
            </a:xfrm>
            <a:prstGeom prst="rect">
              <a:avLst/>
            </a:prstGeom>
            <a:ln w="12700" cap="flat">
              <a:noFill/>
              <a:miter lim="400000"/>
            </a:ln>
            <a:effectLst/>
          </p:spPr>
        </p:pic>
      </p:grpSp>
      <p:sp>
        <p:nvSpPr>
          <p:cNvPr id="342" name="Premature Timeout"/>
          <p:cNvSpPr txBox="1"/>
          <p:nvPr/>
        </p:nvSpPr>
        <p:spPr>
          <a:xfrm>
            <a:off x="6311900" y="2019489"/>
            <a:ext cx="4991976" cy="748923"/>
          </a:xfrm>
          <a:prstGeom prst="rect">
            <a:avLst/>
          </a:prstGeom>
          <a:ln w="12700">
            <a:miter lim="400000"/>
          </a:ln>
          <a:extLst>
            <a:ext uri="{C572A759-6A51-4108-AA02-DFA0A04FC94B}">
              <ma14:wrappingTextBoxFlag xmlns:ma14="http://schemas.microsoft.com/office/mac/drawingml/2011/main" xmlns="" val="1"/>
            </a:ext>
          </a:extLst>
        </p:spPr>
        <p:txBody>
          <a:bodyPr wrap="square" lIns="50800" tIns="50800" rIns="50800" bIns="50800" anchor="ctr">
            <a:spAutoFit/>
          </a:bodyPr>
          <a:lstStyle/>
          <a:p>
            <a:pPr algn="l"/>
            <a:r>
              <a:rPr dirty="0"/>
              <a:t>Premature Timeout</a:t>
            </a:r>
          </a:p>
        </p:txBody>
      </p:sp>
      <p:sp>
        <p:nvSpPr>
          <p:cNvPr id="2" name="Slide Number Placeholder 1">
            <a:extLst>
              <a:ext uri="{FF2B5EF4-FFF2-40B4-BE49-F238E27FC236}">
                <a16:creationId xmlns:a16="http://schemas.microsoft.com/office/drawing/2014/main" id="{23746621-5A40-FDA8-B30C-DFFBF80639CC}"/>
              </a:ext>
            </a:extLst>
          </p:cNvPr>
          <p:cNvSpPr>
            <a:spLocks noGrp="1"/>
          </p:cNvSpPr>
          <p:nvPr>
            <p:ph type="sldNum" sz="quarter" idx="2"/>
          </p:nvPr>
        </p:nvSpPr>
        <p:spPr/>
        <p:txBody>
          <a:bodyPr/>
          <a:lstStyle/>
          <a:p>
            <a:fld id="{86CB4B4D-7CA3-9044-876B-883B54F8677D}" type="slidenum">
              <a:rPr lang="en-LB" smtClean="0"/>
              <a:t>33</a:t>
            </a:fld>
            <a:endParaRPr lang="en-LB"/>
          </a:p>
        </p:txBody>
      </p:sp>
      <p:sp>
        <p:nvSpPr>
          <p:cNvPr id="4" name="TextBox 3">
            <a:extLst>
              <a:ext uri="{FF2B5EF4-FFF2-40B4-BE49-F238E27FC236}">
                <a16:creationId xmlns:a16="http://schemas.microsoft.com/office/drawing/2014/main" id="{0CA2B8D6-BD0B-58AB-7EA8-BAC6E3078F48}"/>
              </a:ext>
            </a:extLst>
          </p:cNvPr>
          <p:cNvSpPr txBox="1"/>
          <p:nvPr/>
        </p:nvSpPr>
        <p:spPr>
          <a:xfrm>
            <a:off x="6044764" y="5823028"/>
            <a:ext cx="6534806" cy="1077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444500" indent="-444500" algn="l">
              <a:spcBef>
                <a:spcPts val="2600"/>
              </a:spcBef>
              <a:buSzPct val="171000"/>
              <a:buChar char="•"/>
              <a:defRPr sz="3200">
                <a:latin typeface="+mn-lt"/>
                <a:ea typeface="+mn-ea"/>
                <a:cs typeface="+mn-cs"/>
                <a:sym typeface="Helvetica Neue"/>
              </a:defRPr>
            </a:pPr>
            <a:r>
              <a:rPr lang="en-US" dirty="0">
                <a:solidFill>
                  <a:schemeClr val="accent3">
                    <a:lumMod val="60000"/>
                    <a:lumOff val="40000"/>
                  </a:schemeClr>
                </a:solidFill>
              </a:rPr>
              <a:t>No!  ACK=120 arrives before the timeout</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iterate>
                                    <p:tmAbs val="0"/>
                                  </p:iterate>
                                  <p:childTnLst>
                                    <p:set>
                                      <p:cBhvr>
                                        <p:cTn id="6" fill="hold"/>
                                        <p:tgtEl>
                                          <p:spTgt spid="337">
                                            <p:bg/>
                                          </p:spTgt>
                                        </p:tgtEl>
                                        <p:attrNameLst>
                                          <p:attrName>style.visibility</p:attrName>
                                        </p:attrNameLst>
                                      </p:cBhvr>
                                      <p:to>
                                        <p:strVal val="visible"/>
                                      </p:to>
                                    </p:set>
                                    <p:animEffect transition="in" filter="wipe(left)">
                                      <p:cBhvr>
                                        <p:cTn id="7" dur="1500"/>
                                        <p:tgtEl>
                                          <p:spTgt spid="337">
                                            <p:bg/>
                                          </p:spTgt>
                                        </p:tgtEl>
                                      </p:cBhvr>
                                    </p:animEffect>
                                  </p:childTnLst>
                                </p:cTn>
                              </p:par>
                              <p:par>
                                <p:cTn id="8" presetID="22" presetClass="entr" presetSubtype="8" fill="hold" grpId="1" nodeType="withEffect">
                                  <p:stCondLst>
                                    <p:cond delay="0"/>
                                  </p:stCondLst>
                                  <p:iterate>
                                    <p:tmAbs val="0"/>
                                  </p:iterate>
                                  <p:childTnLst>
                                    <p:set>
                                      <p:cBhvr>
                                        <p:cTn id="9" fill="hold"/>
                                        <p:tgtEl>
                                          <p:spTgt spid="337">
                                            <p:txEl>
                                              <p:pRg st="0" end="0"/>
                                            </p:txEl>
                                          </p:spTgt>
                                        </p:tgtEl>
                                        <p:attrNameLst>
                                          <p:attrName>style.visibility</p:attrName>
                                        </p:attrNameLst>
                                      </p:cBhvr>
                                      <p:to>
                                        <p:strVal val="visible"/>
                                      </p:to>
                                    </p:set>
                                    <p:animEffect transition="in" filter="wipe(left)">
                                      <p:cBhvr>
                                        <p:cTn id="10" dur="1500"/>
                                        <p:tgtEl>
                                          <p:spTgt spid="337">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 grpId="1" build="p" bldLvl="5" animBg="1" advAuto="0"/>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5" name="Retransmission Scenarios"/>
          <p:cNvSpPr txBox="1">
            <a:spLocks noGrp="1"/>
          </p:cNvSpPr>
          <p:nvPr>
            <p:ph type="title"/>
          </p:nvPr>
        </p:nvSpPr>
        <p:spPr>
          <a:xfrm>
            <a:off x="1270000" y="254000"/>
            <a:ext cx="10464800" cy="2032000"/>
          </a:xfrm>
          <a:prstGeom prst="rect">
            <a:avLst/>
          </a:prstGeom>
        </p:spPr>
        <p:txBody>
          <a:bodyPr>
            <a:normAutofit/>
          </a:bodyPr>
          <a:lstStyle>
            <a:lvl1pPr defTabSz="484886">
              <a:defRPr sz="6972"/>
            </a:lvl1pPr>
          </a:lstStyle>
          <a:p>
            <a:r>
              <a:t>Retransmission Scenarios</a:t>
            </a:r>
          </a:p>
        </p:txBody>
      </p:sp>
      <p:sp>
        <p:nvSpPr>
          <p:cNvPr id="356" name="Rounded Rectangle"/>
          <p:cNvSpPr/>
          <p:nvPr/>
        </p:nvSpPr>
        <p:spPr>
          <a:xfrm>
            <a:off x="698500" y="2082800"/>
            <a:ext cx="5283200" cy="6743700"/>
          </a:xfrm>
          <a:prstGeom prst="roundRect">
            <a:avLst>
              <a:gd name="adj" fmla="val 3606"/>
            </a:avLst>
          </a:prstGeom>
          <a:gradFill>
            <a:gsLst>
              <a:gs pos="0">
                <a:srgbClr val="FFFFFF"/>
              </a:gs>
              <a:gs pos="26424">
                <a:srgbClr val="AFCBA5"/>
              </a:gs>
              <a:gs pos="100000">
                <a:srgbClr val="5E974B"/>
              </a:gs>
            </a:gsLst>
            <a:lin ang="5400000"/>
          </a:gradFill>
          <a:ln w="12700">
            <a:miter lim="400000"/>
          </a:ln>
          <a:effectLst>
            <a:outerShdw blurRad="76200" dir="18900000" rotWithShape="0">
              <a:srgbClr val="000000">
                <a:alpha val="80000"/>
              </a:srgbClr>
            </a:outerShdw>
          </a:effectLst>
        </p:spPr>
        <p:txBody>
          <a:bodyPr lIns="50800" tIns="50800" rIns="50800" bIns="50800" anchor="ctr"/>
          <a:lstStyle/>
          <a:p>
            <a:pPr defTabSz="800100">
              <a:defRPr sz="2400">
                <a:effectLst>
                  <a:outerShdw blurRad="25400" dist="23998" dir="2700000" rotWithShape="0">
                    <a:srgbClr val="000000">
                      <a:alpha val="31034"/>
                    </a:srgbClr>
                  </a:outerShdw>
                </a:effectLst>
              </a:defRPr>
            </a:pPr>
            <a:endParaRPr/>
          </a:p>
        </p:txBody>
      </p:sp>
      <p:sp>
        <p:nvSpPr>
          <p:cNvPr id="357" name="Cumulative ACK"/>
          <p:cNvSpPr txBox="1"/>
          <p:nvPr/>
        </p:nvSpPr>
        <p:spPr>
          <a:xfrm>
            <a:off x="6308055" y="2032000"/>
            <a:ext cx="3705635" cy="723900"/>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r>
              <a:t>Cumulative ACK</a:t>
            </a:r>
          </a:p>
        </p:txBody>
      </p:sp>
      <p:pic>
        <p:nvPicPr>
          <p:cNvPr id="358" name="droppedImage.pdf" descr="droppedImage.pdf"/>
          <p:cNvPicPr>
            <a:picLocks noChangeAspect="1"/>
          </p:cNvPicPr>
          <p:nvPr/>
        </p:nvPicPr>
        <p:blipFill>
          <a:blip r:embed="rId2"/>
          <a:stretch>
            <a:fillRect/>
          </a:stretch>
        </p:blipFill>
        <p:spPr>
          <a:xfrm>
            <a:off x="850900" y="2082800"/>
            <a:ext cx="4991100" cy="6754873"/>
          </a:xfrm>
          <a:prstGeom prst="rect">
            <a:avLst/>
          </a:prstGeom>
          <a:ln w="12700">
            <a:miter lim="400000"/>
          </a:ln>
        </p:spPr>
      </p:pic>
      <p:sp>
        <p:nvSpPr>
          <p:cNvPr id="359" name="Host hasn’t received ACK for first segment, so why doesn’t it retransmit?"/>
          <p:cNvSpPr txBox="1">
            <a:spLocks noGrp="1"/>
          </p:cNvSpPr>
          <p:nvPr>
            <p:ph type="body" sz="half" idx="1"/>
          </p:nvPr>
        </p:nvSpPr>
        <p:spPr>
          <a:xfrm>
            <a:off x="5994400" y="3310749"/>
            <a:ext cx="7010400" cy="2032001"/>
          </a:xfrm>
          <a:prstGeom prst="rect">
            <a:avLst/>
          </a:prstGeom>
        </p:spPr>
        <p:txBody>
          <a:bodyPr/>
          <a:lstStyle/>
          <a:p>
            <a:r>
              <a:rPr dirty="0"/>
              <a:t>Host hasn’t received ACK for first segment, so why doesn’t it retransmit?</a:t>
            </a:r>
          </a:p>
        </p:txBody>
      </p:sp>
      <p:sp>
        <p:nvSpPr>
          <p:cNvPr id="2" name="Slide Number Placeholder 1">
            <a:extLst>
              <a:ext uri="{FF2B5EF4-FFF2-40B4-BE49-F238E27FC236}">
                <a16:creationId xmlns:a16="http://schemas.microsoft.com/office/drawing/2014/main" id="{98F35937-708F-8EA9-E3AC-B493EC7835FC}"/>
              </a:ext>
            </a:extLst>
          </p:cNvPr>
          <p:cNvSpPr>
            <a:spLocks noGrp="1"/>
          </p:cNvSpPr>
          <p:nvPr>
            <p:ph type="sldNum" sz="quarter" idx="2"/>
          </p:nvPr>
        </p:nvSpPr>
        <p:spPr/>
        <p:txBody>
          <a:bodyPr/>
          <a:lstStyle/>
          <a:p>
            <a:fld id="{86CB4B4D-7CA3-9044-876B-883B54F8677D}" type="slidenum">
              <a:rPr lang="en-LB" smtClean="0"/>
              <a:t>34</a:t>
            </a:fld>
            <a:endParaRPr lang="en-LB"/>
          </a:p>
        </p:txBody>
      </p:sp>
      <p:sp>
        <p:nvSpPr>
          <p:cNvPr id="5" name="TextBox 4">
            <a:extLst>
              <a:ext uri="{FF2B5EF4-FFF2-40B4-BE49-F238E27FC236}">
                <a16:creationId xmlns:a16="http://schemas.microsoft.com/office/drawing/2014/main" id="{1989E7BA-6214-E480-A113-D4ED2E38189D}"/>
              </a:ext>
            </a:extLst>
          </p:cNvPr>
          <p:cNvSpPr txBox="1"/>
          <p:nvPr/>
        </p:nvSpPr>
        <p:spPr>
          <a:xfrm>
            <a:off x="5994399" y="5454650"/>
            <a:ext cx="6854497" cy="15696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12738" indent="-312738" algn="l">
              <a:buFont typeface="Arial" panose="020B0604020202020204" pitchFamily="34" charset="0"/>
              <a:buChar char="•"/>
            </a:pPr>
            <a:r>
              <a:rPr lang="en-US" sz="3200" dirty="0">
                <a:solidFill>
                  <a:schemeClr val="accent3">
                    <a:lumMod val="60000"/>
                    <a:lumOff val="40000"/>
                  </a:schemeClr>
                </a:solidFill>
              </a:rPr>
              <a:t>ACK=120 is cumulative, which means everything up to byte 120 has been received (including 92)</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iterate>
                                    <p:tmAbs val="0"/>
                                  </p:iterate>
                                  <p:childTnLst>
                                    <p:set>
                                      <p:cBhvr>
                                        <p:cTn id="6" fill="hold"/>
                                        <p:tgtEl>
                                          <p:spTgt spid="359">
                                            <p:bg/>
                                          </p:spTgt>
                                        </p:tgtEl>
                                        <p:attrNameLst>
                                          <p:attrName>style.visibility</p:attrName>
                                        </p:attrNameLst>
                                      </p:cBhvr>
                                      <p:to>
                                        <p:strVal val="visible"/>
                                      </p:to>
                                    </p:set>
                                    <p:animEffect transition="in" filter="wipe(left)">
                                      <p:cBhvr>
                                        <p:cTn id="7" dur="1500"/>
                                        <p:tgtEl>
                                          <p:spTgt spid="359">
                                            <p:bg/>
                                          </p:spTgt>
                                        </p:tgtEl>
                                      </p:cBhvr>
                                    </p:animEffect>
                                  </p:childTnLst>
                                </p:cTn>
                              </p:par>
                              <p:par>
                                <p:cTn id="8" presetID="22" presetClass="entr" presetSubtype="8" fill="hold" grpId="1" nodeType="withEffect">
                                  <p:stCondLst>
                                    <p:cond delay="0"/>
                                  </p:stCondLst>
                                  <p:iterate>
                                    <p:tmAbs val="0"/>
                                  </p:iterate>
                                  <p:childTnLst>
                                    <p:set>
                                      <p:cBhvr>
                                        <p:cTn id="9" fill="hold"/>
                                        <p:tgtEl>
                                          <p:spTgt spid="359">
                                            <p:txEl>
                                              <p:pRg st="0" end="0"/>
                                            </p:txEl>
                                          </p:spTgt>
                                        </p:tgtEl>
                                        <p:attrNameLst>
                                          <p:attrName>style.visibility</p:attrName>
                                        </p:attrNameLst>
                                      </p:cBhvr>
                                      <p:to>
                                        <p:strVal val="visible"/>
                                      </p:to>
                                    </p:set>
                                    <p:animEffect transition="in" filter="wipe(left)">
                                      <p:cBhvr>
                                        <p:cTn id="10" dur="1500"/>
                                        <p:tgtEl>
                                          <p:spTgt spid="35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 grpId="1" build="p" bldLvl="5" animBg="1" advAuto="0"/>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7" name="ACK Generation"/>
          <p:cNvSpPr txBox="1">
            <a:spLocks noGrp="1"/>
          </p:cNvSpPr>
          <p:nvPr>
            <p:ph type="title"/>
          </p:nvPr>
        </p:nvSpPr>
        <p:spPr>
          <a:xfrm>
            <a:off x="1270000" y="254000"/>
            <a:ext cx="10464800" cy="1196428"/>
          </a:xfrm>
          <a:prstGeom prst="rect">
            <a:avLst/>
          </a:prstGeom>
        </p:spPr>
        <p:txBody>
          <a:bodyPr/>
          <a:lstStyle/>
          <a:p>
            <a:r>
              <a:rPr sz="7200" dirty="0"/>
              <a:t>ACK Generation</a:t>
            </a:r>
          </a:p>
        </p:txBody>
      </p:sp>
      <p:sp>
        <p:nvSpPr>
          <p:cNvPr id="36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a:t>35</a:t>
            </a:fld>
            <a:endParaRPr/>
          </a:p>
        </p:txBody>
      </p:sp>
      <p:graphicFrame>
        <p:nvGraphicFramePr>
          <p:cNvPr id="369" name="Table"/>
          <p:cNvGraphicFramePr/>
          <p:nvPr>
            <p:extLst>
              <p:ext uri="{D42A27DB-BD31-4B8C-83A1-F6EECF244321}">
                <p14:modId xmlns:p14="http://schemas.microsoft.com/office/powerpoint/2010/main" val="2199094797"/>
              </p:ext>
            </p:extLst>
          </p:nvPr>
        </p:nvGraphicFramePr>
        <p:xfrm>
          <a:off x="425666" y="1450428"/>
          <a:ext cx="12147334" cy="7939953"/>
        </p:xfrm>
        <a:graphic>
          <a:graphicData uri="http://schemas.openxmlformats.org/drawingml/2006/table">
            <a:tbl>
              <a:tblPr>
                <a:tableStyleId>{8F44A2F1-9E1F-4B54-A3A2-5F16C0AD49E2}</a:tableStyleId>
              </a:tblPr>
              <a:tblGrid>
                <a:gridCol w="6073667">
                  <a:extLst>
                    <a:ext uri="{9D8B030D-6E8A-4147-A177-3AD203B41FA5}">
                      <a16:colId xmlns:a16="http://schemas.microsoft.com/office/drawing/2014/main" val="20000"/>
                    </a:ext>
                  </a:extLst>
                </a:gridCol>
                <a:gridCol w="6073667">
                  <a:extLst>
                    <a:ext uri="{9D8B030D-6E8A-4147-A177-3AD203B41FA5}">
                      <a16:colId xmlns:a16="http://schemas.microsoft.com/office/drawing/2014/main" val="20001"/>
                    </a:ext>
                  </a:extLst>
                </a:gridCol>
              </a:tblGrid>
              <a:tr h="1090653">
                <a:tc>
                  <a:txBody>
                    <a:bodyPr/>
                    <a:lstStyle/>
                    <a:p>
                      <a:pPr defTabSz="914400">
                        <a:tabLst>
                          <a:tab pos="914400" algn="l"/>
                        </a:tabLst>
                        <a:defRPr>
                          <a:solidFill>
                            <a:srgbClr val="000000"/>
                          </a:solidFill>
                        </a:defRPr>
                      </a:pPr>
                      <a:r>
                        <a:rPr sz="4800" b="1" dirty="0">
                          <a:solidFill>
                            <a:srgbClr val="FFFFFF"/>
                          </a:solidFill>
                        </a:rPr>
                        <a:t>Event at receiver</a:t>
                      </a:r>
                    </a:p>
                  </a:txBody>
                  <a:tcPr marL="50800" marR="50800" marT="50800" marB="50800" anchor="ctr" horzOverflow="overflow">
                    <a:lnL w="0">
                      <a:miter lim="400000"/>
                    </a:lnL>
                    <a:lnR w="25400">
                      <a:solidFill>
                        <a:srgbClr val="F9E05E"/>
                      </a:solidFill>
                      <a:miter lim="400000"/>
                    </a:lnR>
                    <a:lnT w="0">
                      <a:miter lim="400000"/>
                    </a:lnT>
                    <a:lnB w="25400">
                      <a:solidFill>
                        <a:srgbClr val="F9E05E"/>
                      </a:solidFill>
                      <a:miter lim="400000"/>
                    </a:lnB>
                  </a:tcPr>
                </a:tc>
                <a:tc>
                  <a:txBody>
                    <a:bodyPr/>
                    <a:lstStyle/>
                    <a:p>
                      <a:pPr defTabSz="914400">
                        <a:tabLst>
                          <a:tab pos="914400" algn="l"/>
                        </a:tabLst>
                        <a:defRPr>
                          <a:solidFill>
                            <a:srgbClr val="000000"/>
                          </a:solidFill>
                        </a:defRPr>
                      </a:pPr>
                      <a:r>
                        <a:rPr sz="4800" b="1" dirty="0">
                          <a:solidFill>
                            <a:srgbClr val="FFFFFF"/>
                          </a:solidFill>
                        </a:rPr>
                        <a:t>Receiver Action</a:t>
                      </a:r>
                    </a:p>
                  </a:txBody>
                  <a:tcPr marL="50800" marR="50800" marT="50800" marB="50800" anchor="ctr" horzOverflow="overflow">
                    <a:lnL w="25400">
                      <a:solidFill>
                        <a:srgbClr val="F9E05E"/>
                      </a:solidFill>
                      <a:miter lim="400000"/>
                    </a:lnL>
                    <a:lnR w="0">
                      <a:miter lim="400000"/>
                    </a:lnR>
                    <a:lnT w="0">
                      <a:miter lim="400000"/>
                    </a:lnT>
                    <a:lnB w="25400">
                      <a:solidFill>
                        <a:srgbClr val="F9E05E"/>
                      </a:solidFill>
                      <a:miter lim="400000"/>
                    </a:lnB>
                  </a:tcPr>
                </a:tc>
                <a:extLst>
                  <a:ext uri="{0D108BD9-81ED-4DB2-BD59-A6C34878D82A}">
                    <a16:rowId xmlns:a16="http://schemas.microsoft.com/office/drawing/2014/main" val="10000"/>
                  </a:ext>
                </a:extLst>
              </a:tr>
              <a:tr h="1712325">
                <a:tc>
                  <a:txBody>
                    <a:bodyPr/>
                    <a:lstStyle/>
                    <a:p>
                      <a:pPr algn="l" defTabSz="914400">
                        <a:tabLst>
                          <a:tab pos="914400" algn="l"/>
                        </a:tabLst>
                        <a:defRPr>
                          <a:solidFill>
                            <a:srgbClr val="000000"/>
                          </a:solidFill>
                        </a:defRPr>
                      </a:pPr>
                      <a:r>
                        <a:rPr sz="3100" dirty="0">
                          <a:solidFill>
                            <a:srgbClr val="FFFFFF"/>
                          </a:solidFill>
                        </a:rPr>
                        <a:t>Arrival of in-order segment with expected seq#.  All data up to seq# already </a:t>
                      </a:r>
                      <a:r>
                        <a:rPr sz="3100" dirty="0" err="1">
                          <a:solidFill>
                            <a:srgbClr val="FFFFFF"/>
                          </a:solidFill>
                        </a:rPr>
                        <a:t>ACKed</a:t>
                      </a:r>
                      <a:endParaRPr sz="3100" dirty="0">
                        <a:solidFill>
                          <a:srgbClr val="FFFFFF"/>
                        </a:solidFill>
                      </a:endParaRPr>
                    </a:p>
                  </a:txBody>
                  <a:tcPr marL="88900" marR="88900" marT="88900" marB="88900" anchor="ctr" horzOverflow="overflow">
                    <a:lnL w="0">
                      <a:miter lim="400000"/>
                    </a:lnL>
                    <a:lnR w="25400">
                      <a:solidFill>
                        <a:srgbClr val="F9E05E"/>
                      </a:solidFill>
                      <a:miter lim="400000"/>
                    </a:lnR>
                    <a:lnT w="25400">
                      <a:solidFill>
                        <a:srgbClr val="F9E05E"/>
                      </a:solidFill>
                      <a:miter lim="400000"/>
                    </a:lnT>
                    <a:lnB w="25400">
                      <a:solidFill>
                        <a:srgbClr val="F9E05E"/>
                      </a:solidFill>
                      <a:miter lim="400000"/>
                    </a:lnB>
                  </a:tcPr>
                </a:tc>
                <a:tc>
                  <a:txBody>
                    <a:bodyPr/>
                    <a:lstStyle/>
                    <a:p>
                      <a:pPr algn="l" defTabSz="914400">
                        <a:tabLst>
                          <a:tab pos="914400" algn="l"/>
                        </a:tabLst>
                        <a:defRPr sz="3100"/>
                      </a:pPr>
                      <a:r>
                        <a:rPr i="1" dirty="0">
                          <a:solidFill>
                            <a:srgbClr val="F9E05E"/>
                          </a:solidFill>
                        </a:rPr>
                        <a:t>Delayed ACK.</a:t>
                      </a:r>
                      <a:r>
                        <a:rPr dirty="0"/>
                        <a:t>  Wait up to 500ms for next segment.  If no next segment, send ACK</a:t>
                      </a:r>
                    </a:p>
                  </a:txBody>
                  <a:tcPr marL="88900" marR="88900" marT="88900" marB="88900" anchor="ctr" horzOverflow="overflow">
                    <a:lnL w="25400">
                      <a:solidFill>
                        <a:srgbClr val="F9E05E"/>
                      </a:solidFill>
                      <a:miter lim="400000"/>
                    </a:lnL>
                    <a:lnR w="0">
                      <a:miter lim="400000"/>
                    </a:lnR>
                    <a:lnT w="25400">
                      <a:solidFill>
                        <a:srgbClr val="F9E05E"/>
                      </a:solidFill>
                      <a:miter lim="400000"/>
                    </a:lnT>
                    <a:lnB w="25400">
                      <a:solidFill>
                        <a:srgbClr val="F9E05E"/>
                      </a:solidFill>
                      <a:miter lim="400000"/>
                    </a:lnB>
                  </a:tcPr>
                </a:tc>
                <a:extLst>
                  <a:ext uri="{0D108BD9-81ED-4DB2-BD59-A6C34878D82A}">
                    <a16:rowId xmlns:a16="http://schemas.microsoft.com/office/drawing/2014/main" val="10001"/>
                  </a:ext>
                </a:extLst>
              </a:tr>
              <a:tr h="1712325">
                <a:tc>
                  <a:txBody>
                    <a:bodyPr/>
                    <a:lstStyle/>
                    <a:p>
                      <a:pPr algn="l" defTabSz="914400">
                        <a:tabLst>
                          <a:tab pos="914400" algn="l"/>
                        </a:tabLst>
                        <a:defRPr>
                          <a:solidFill>
                            <a:srgbClr val="000000"/>
                          </a:solidFill>
                        </a:defRPr>
                      </a:pPr>
                      <a:r>
                        <a:rPr sz="3100" dirty="0">
                          <a:solidFill>
                            <a:srgbClr val="FFFFFF"/>
                          </a:solidFill>
                        </a:rPr>
                        <a:t>Arrival of in-order segment with expected seq#.  One other segment has ACK pending</a:t>
                      </a:r>
                    </a:p>
                  </a:txBody>
                  <a:tcPr marL="88900" marR="88900" marT="88900" marB="88900" anchor="ctr" horzOverflow="overflow">
                    <a:lnL w="0">
                      <a:miter lim="400000"/>
                    </a:lnL>
                    <a:lnR w="25400">
                      <a:solidFill>
                        <a:srgbClr val="F9E05E"/>
                      </a:solidFill>
                      <a:miter lim="400000"/>
                    </a:lnR>
                    <a:lnT w="25400">
                      <a:solidFill>
                        <a:srgbClr val="F9E05E"/>
                      </a:solidFill>
                      <a:miter lim="400000"/>
                    </a:lnT>
                    <a:lnB w="25400">
                      <a:solidFill>
                        <a:srgbClr val="F9E05E"/>
                      </a:solidFill>
                      <a:miter lim="400000"/>
                    </a:lnB>
                  </a:tcPr>
                </a:tc>
                <a:tc>
                  <a:txBody>
                    <a:bodyPr/>
                    <a:lstStyle/>
                    <a:p>
                      <a:pPr algn="l" defTabSz="914400">
                        <a:tabLst>
                          <a:tab pos="914400" algn="l"/>
                        </a:tabLst>
                        <a:defRPr>
                          <a:solidFill>
                            <a:srgbClr val="000000"/>
                          </a:solidFill>
                        </a:defRPr>
                      </a:pPr>
                      <a:r>
                        <a:rPr sz="3100" dirty="0">
                          <a:solidFill>
                            <a:srgbClr val="FFFFFF"/>
                          </a:solidFill>
                        </a:rPr>
                        <a:t>Immediately send single cumulative ACK for both in-order segments</a:t>
                      </a:r>
                    </a:p>
                  </a:txBody>
                  <a:tcPr marL="88900" marR="88900" marT="88900" marB="88900" anchor="ctr" horzOverflow="overflow">
                    <a:lnL w="25400">
                      <a:solidFill>
                        <a:srgbClr val="F9E05E"/>
                      </a:solidFill>
                      <a:miter lim="400000"/>
                    </a:lnL>
                    <a:lnR w="0">
                      <a:miter lim="400000"/>
                    </a:lnR>
                    <a:lnT w="25400">
                      <a:solidFill>
                        <a:srgbClr val="F9E05E"/>
                      </a:solidFill>
                      <a:miter lim="400000"/>
                    </a:lnT>
                    <a:lnB w="25400">
                      <a:solidFill>
                        <a:srgbClr val="F9E05E"/>
                      </a:solidFill>
                      <a:miter lim="400000"/>
                    </a:lnB>
                  </a:tcPr>
                </a:tc>
                <a:extLst>
                  <a:ext uri="{0D108BD9-81ED-4DB2-BD59-A6C34878D82A}">
                    <a16:rowId xmlns:a16="http://schemas.microsoft.com/office/drawing/2014/main" val="10002"/>
                  </a:ext>
                </a:extLst>
              </a:tr>
              <a:tr h="1712325">
                <a:tc>
                  <a:txBody>
                    <a:bodyPr/>
                    <a:lstStyle/>
                    <a:p>
                      <a:pPr algn="l" defTabSz="914400">
                        <a:tabLst>
                          <a:tab pos="914400" algn="l"/>
                        </a:tabLst>
                        <a:defRPr>
                          <a:solidFill>
                            <a:srgbClr val="000000"/>
                          </a:solidFill>
                        </a:defRPr>
                      </a:pPr>
                      <a:r>
                        <a:rPr sz="3100" dirty="0">
                          <a:solidFill>
                            <a:srgbClr val="FFFFFF"/>
                          </a:solidFill>
                        </a:rPr>
                        <a:t>Arrival of out-of-order segment higher than expected seq#. Gap detected</a:t>
                      </a:r>
                    </a:p>
                  </a:txBody>
                  <a:tcPr marL="88900" marR="88900" marT="88900" marB="88900" anchor="ctr" horzOverflow="overflow">
                    <a:lnL w="0">
                      <a:miter lim="400000"/>
                    </a:lnL>
                    <a:lnR w="25400">
                      <a:solidFill>
                        <a:srgbClr val="F9E05E"/>
                      </a:solidFill>
                      <a:miter lim="400000"/>
                    </a:lnR>
                    <a:lnT w="25400">
                      <a:solidFill>
                        <a:srgbClr val="F9E05E"/>
                      </a:solidFill>
                      <a:miter lim="400000"/>
                    </a:lnT>
                    <a:lnB w="25400">
                      <a:solidFill>
                        <a:srgbClr val="F9E05E"/>
                      </a:solidFill>
                      <a:miter lim="400000"/>
                    </a:lnB>
                  </a:tcPr>
                </a:tc>
                <a:tc>
                  <a:txBody>
                    <a:bodyPr/>
                    <a:lstStyle/>
                    <a:p>
                      <a:pPr algn="l" defTabSz="914400">
                        <a:tabLst>
                          <a:tab pos="914400" algn="l"/>
                        </a:tabLst>
                        <a:defRPr sz="3100"/>
                      </a:pPr>
                      <a:r>
                        <a:rPr dirty="0"/>
                        <a:t>Immediately send </a:t>
                      </a:r>
                      <a:r>
                        <a:rPr i="1" dirty="0">
                          <a:solidFill>
                            <a:srgbClr val="F9E05E"/>
                          </a:solidFill>
                        </a:rPr>
                        <a:t>duplicate ACK,</a:t>
                      </a:r>
                      <a:r>
                        <a:rPr dirty="0"/>
                        <a:t> indicating seq# of next expected byte</a:t>
                      </a:r>
                    </a:p>
                  </a:txBody>
                  <a:tcPr marL="88900" marR="88900" marT="88900" marB="88900" anchor="ctr" horzOverflow="overflow">
                    <a:lnL w="25400">
                      <a:solidFill>
                        <a:srgbClr val="F9E05E"/>
                      </a:solidFill>
                      <a:miter lim="400000"/>
                    </a:lnL>
                    <a:lnR w="0">
                      <a:miter lim="400000"/>
                    </a:lnR>
                    <a:lnT w="25400">
                      <a:solidFill>
                        <a:srgbClr val="F9E05E"/>
                      </a:solidFill>
                      <a:miter lim="400000"/>
                    </a:lnT>
                    <a:lnB w="25400">
                      <a:solidFill>
                        <a:srgbClr val="F9E05E"/>
                      </a:solidFill>
                      <a:miter lim="400000"/>
                    </a:lnB>
                  </a:tcPr>
                </a:tc>
                <a:extLst>
                  <a:ext uri="{0D108BD9-81ED-4DB2-BD59-A6C34878D82A}">
                    <a16:rowId xmlns:a16="http://schemas.microsoft.com/office/drawing/2014/main" val="10003"/>
                  </a:ext>
                </a:extLst>
              </a:tr>
              <a:tr h="1712325">
                <a:tc>
                  <a:txBody>
                    <a:bodyPr/>
                    <a:lstStyle/>
                    <a:p>
                      <a:pPr algn="l" defTabSz="914400">
                        <a:tabLst>
                          <a:tab pos="914400" algn="l"/>
                        </a:tabLst>
                        <a:defRPr>
                          <a:solidFill>
                            <a:srgbClr val="000000"/>
                          </a:solidFill>
                        </a:defRPr>
                      </a:pPr>
                      <a:r>
                        <a:rPr sz="3100">
                          <a:solidFill>
                            <a:srgbClr val="FFFFFF"/>
                          </a:solidFill>
                        </a:rPr>
                        <a:t>Arrival of segment that partially or completely fills gap</a:t>
                      </a:r>
                    </a:p>
                  </a:txBody>
                  <a:tcPr marL="88900" marR="88900" marT="88900" marB="88900" anchor="ctr" horzOverflow="overflow">
                    <a:lnL w="0">
                      <a:miter lim="400000"/>
                    </a:lnL>
                    <a:lnR w="25400">
                      <a:solidFill>
                        <a:srgbClr val="F9E05E"/>
                      </a:solidFill>
                      <a:miter lim="400000"/>
                    </a:lnR>
                    <a:lnT w="25400">
                      <a:solidFill>
                        <a:srgbClr val="F9E05E"/>
                      </a:solidFill>
                      <a:miter lim="400000"/>
                    </a:lnT>
                    <a:lnB w="0">
                      <a:miter lim="400000"/>
                    </a:lnB>
                  </a:tcPr>
                </a:tc>
                <a:tc>
                  <a:txBody>
                    <a:bodyPr/>
                    <a:lstStyle/>
                    <a:p>
                      <a:pPr algn="l" defTabSz="914400">
                        <a:tabLst>
                          <a:tab pos="914400" algn="l"/>
                        </a:tabLst>
                        <a:defRPr>
                          <a:solidFill>
                            <a:srgbClr val="000000"/>
                          </a:solidFill>
                        </a:defRPr>
                      </a:pPr>
                      <a:r>
                        <a:rPr sz="3100" dirty="0">
                          <a:solidFill>
                            <a:srgbClr val="FFFFFF"/>
                          </a:solidFill>
                        </a:rPr>
                        <a:t>Immediately send ACK, provided that segment starts at lower end of gap</a:t>
                      </a:r>
                    </a:p>
                  </a:txBody>
                  <a:tcPr marL="88900" marR="88900" marT="88900" marB="88900" anchor="ctr" horzOverflow="overflow">
                    <a:lnL w="25400">
                      <a:solidFill>
                        <a:srgbClr val="F9E05E"/>
                      </a:solidFill>
                      <a:miter lim="400000"/>
                    </a:lnL>
                    <a:lnR w="0">
                      <a:miter lim="400000"/>
                    </a:lnR>
                    <a:lnT w="25400">
                      <a:solidFill>
                        <a:srgbClr val="F9E05E"/>
                      </a:solidFill>
                      <a:miter lim="400000"/>
                    </a:lnT>
                    <a:lnB w="0">
                      <a:miter lim="400000"/>
                    </a:lnB>
                  </a:tcPr>
                </a:tc>
                <a:extLst>
                  <a:ext uri="{0D108BD9-81ED-4DB2-BD59-A6C34878D82A}">
                    <a16:rowId xmlns:a16="http://schemas.microsoft.com/office/drawing/2014/main" val="10004"/>
                  </a:ext>
                </a:extLst>
              </a:tr>
            </a:tbl>
          </a:graphicData>
        </a:graphic>
      </p:graphicFrame>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3" name="Fast Retransmit"/>
          <p:cNvSpPr txBox="1">
            <a:spLocks noGrp="1"/>
          </p:cNvSpPr>
          <p:nvPr>
            <p:ph type="title"/>
          </p:nvPr>
        </p:nvSpPr>
        <p:spPr>
          <a:xfrm>
            <a:off x="1270000" y="254000"/>
            <a:ext cx="10464800" cy="1544820"/>
          </a:xfrm>
          <a:prstGeom prst="rect">
            <a:avLst/>
          </a:prstGeom>
        </p:spPr>
        <p:txBody>
          <a:bodyPr/>
          <a:lstStyle/>
          <a:p>
            <a:r>
              <a:rPr sz="7200" dirty="0"/>
              <a:t>Fast Retransmit</a:t>
            </a:r>
          </a:p>
        </p:txBody>
      </p:sp>
      <p:sp>
        <p:nvSpPr>
          <p:cNvPr id="374" name="Time-out period often relatively long:…"/>
          <p:cNvSpPr txBox="1">
            <a:spLocks noGrp="1"/>
          </p:cNvSpPr>
          <p:nvPr>
            <p:ph type="body" idx="1"/>
          </p:nvPr>
        </p:nvSpPr>
        <p:spPr>
          <a:xfrm>
            <a:off x="1155700" y="2273300"/>
            <a:ext cx="10680700" cy="6946900"/>
          </a:xfrm>
          <a:prstGeom prst="rect">
            <a:avLst/>
          </a:prstGeom>
        </p:spPr>
        <p:txBody>
          <a:bodyPr spcCol="534034"/>
          <a:lstStyle/>
          <a:p>
            <a:pPr>
              <a:buSzPct val="100000"/>
            </a:pPr>
            <a:r>
              <a:rPr dirty="0"/>
              <a:t>Time-out period often relatively long:</a:t>
            </a:r>
          </a:p>
          <a:p>
            <a:pPr lvl="1">
              <a:buSzPct val="100000"/>
              <a:buFont typeface="Courier New" panose="02070309020205020404" pitchFamily="49" charset="0"/>
              <a:buChar char="o"/>
            </a:pPr>
            <a:r>
              <a:rPr dirty="0"/>
              <a:t>Long delay before resending lost segment</a:t>
            </a:r>
          </a:p>
          <a:p>
            <a:pPr>
              <a:buSzPct val="100000"/>
            </a:pPr>
            <a:r>
              <a:rPr dirty="0"/>
              <a:t>Detect lost segments via duplicate ACKs</a:t>
            </a:r>
          </a:p>
          <a:p>
            <a:pPr lvl="1">
              <a:buSzPct val="100000"/>
              <a:buFont typeface="Courier New" panose="02070309020205020404" pitchFamily="49" charset="0"/>
              <a:buChar char="o"/>
            </a:pPr>
            <a:r>
              <a:rPr dirty="0"/>
              <a:t>Sender often sends many segments back-to-back</a:t>
            </a:r>
          </a:p>
          <a:p>
            <a:pPr lvl="1">
              <a:buSzPct val="100000"/>
              <a:buFont typeface="Courier New" panose="02070309020205020404" pitchFamily="49" charset="0"/>
              <a:buChar char="o"/>
            </a:pPr>
            <a:r>
              <a:rPr dirty="0"/>
              <a:t>If segment is lost, there will likely be many duplicate ACKs</a:t>
            </a:r>
          </a:p>
          <a:p>
            <a:pPr>
              <a:buSzPct val="100000"/>
            </a:pPr>
            <a:r>
              <a:rPr dirty="0"/>
              <a:t>If sender receives 3 duplicate ACKs, it supposes that segment after </a:t>
            </a:r>
            <a:r>
              <a:rPr dirty="0" err="1"/>
              <a:t>ACKed</a:t>
            </a:r>
            <a:r>
              <a:rPr dirty="0"/>
              <a:t> data was lost:</a:t>
            </a:r>
          </a:p>
          <a:p>
            <a:pPr lvl="1">
              <a:buSzPct val="100000"/>
            </a:pPr>
            <a:r>
              <a:rPr dirty="0">
                <a:solidFill>
                  <a:srgbClr val="F9E05E"/>
                </a:solidFill>
              </a:rPr>
              <a:t>Fast retransmit: </a:t>
            </a:r>
            <a:r>
              <a:rPr dirty="0"/>
              <a:t>resend segment before timer expires</a:t>
            </a:r>
          </a:p>
        </p:txBody>
      </p:sp>
      <p:sp>
        <p:nvSpPr>
          <p:cNvPr id="2" name="Slide Number Placeholder 1">
            <a:extLst>
              <a:ext uri="{FF2B5EF4-FFF2-40B4-BE49-F238E27FC236}">
                <a16:creationId xmlns:a16="http://schemas.microsoft.com/office/drawing/2014/main" id="{942AADCF-45D0-6093-B3F2-DF8275863BEB}"/>
              </a:ext>
            </a:extLst>
          </p:cNvPr>
          <p:cNvSpPr>
            <a:spLocks noGrp="1"/>
          </p:cNvSpPr>
          <p:nvPr>
            <p:ph type="sldNum" sz="quarter" idx="2"/>
          </p:nvPr>
        </p:nvSpPr>
        <p:spPr/>
        <p:txBody>
          <a:bodyPr/>
          <a:lstStyle/>
          <a:p>
            <a:fld id="{86CB4B4D-7CA3-9044-876B-883B54F8677D}" type="slidenum">
              <a:rPr lang="en-LB" smtClean="0"/>
              <a:t>36</a:t>
            </a:fld>
            <a:endParaRPr lang="en-LB"/>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 name="Scenario"/>
          <p:cNvSpPr txBox="1">
            <a:spLocks noGrp="1"/>
          </p:cNvSpPr>
          <p:nvPr>
            <p:ph type="title"/>
          </p:nvPr>
        </p:nvSpPr>
        <p:spPr>
          <a:xfrm>
            <a:off x="1270000" y="254000"/>
            <a:ext cx="10464800" cy="1397000"/>
          </a:xfrm>
          <a:prstGeom prst="rect">
            <a:avLst/>
          </a:prstGeom>
        </p:spPr>
        <p:txBody>
          <a:bodyPr/>
          <a:lstStyle/>
          <a:p>
            <a:r>
              <a:rPr sz="6600" dirty="0"/>
              <a:t>Scenario</a:t>
            </a:r>
          </a:p>
        </p:txBody>
      </p:sp>
      <p:sp>
        <p:nvSpPr>
          <p:cNvPr id="379" name="Sender doesn’t have to wait for a timeout to notice probable loss of seq=100 segment…"/>
          <p:cNvSpPr txBox="1">
            <a:spLocks noGrp="1"/>
          </p:cNvSpPr>
          <p:nvPr>
            <p:ph type="body" sz="half" idx="1"/>
          </p:nvPr>
        </p:nvSpPr>
        <p:spPr>
          <a:xfrm>
            <a:off x="6306765" y="3716207"/>
            <a:ext cx="6248400" cy="3095885"/>
          </a:xfrm>
          <a:prstGeom prst="rect">
            <a:avLst/>
          </a:prstGeom>
        </p:spPr>
        <p:txBody>
          <a:bodyPr/>
          <a:lstStyle/>
          <a:p>
            <a:r>
              <a:rPr dirty="0"/>
              <a:t>Sender doesn’t have to wait for a timeout to notice probable loss of seq=100 segment</a:t>
            </a:r>
          </a:p>
          <a:p>
            <a:r>
              <a:rPr dirty="0"/>
              <a:t>Sort of a NACK</a:t>
            </a:r>
          </a:p>
        </p:txBody>
      </p:sp>
      <p:sp>
        <p:nvSpPr>
          <p:cNvPr id="380" name="Rounded Rectangle"/>
          <p:cNvSpPr/>
          <p:nvPr/>
        </p:nvSpPr>
        <p:spPr>
          <a:xfrm>
            <a:off x="698500" y="2082800"/>
            <a:ext cx="5283200" cy="6743700"/>
          </a:xfrm>
          <a:prstGeom prst="roundRect">
            <a:avLst>
              <a:gd name="adj" fmla="val 3606"/>
            </a:avLst>
          </a:prstGeom>
          <a:gradFill>
            <a:gsLst>
              <a:gs pos="0">
                <a:srgbClr val="FFFFFF"/>
              </a:gs>
              <a:gs pos="26424">
                <a:srgbClr val="AFCBA5"/>
              </a:gs>
              <a:gs pos="100000">
                <a:srgbClr val="5E974B"/>
              </a:gs>
            </a:gsLst>
            <a:lin ang="5400000"/>
          </a:gradFill>
          <a:ln w="12700">
            <a:miter lim="400000"/>
          </a:ln>
          <a:effectLst>
            <a:outerShdw blurRad="76200" dir="18900000" rotWithShape="0">
              <a:srgbClr val="000000">
                <a:alpha val="80000"/>
              </a:srgbClr>
            </a:outerShdw>
          </a:effectLst>
        </p:spPr>
        <p:txBody>
          <a:bodyPr lIns="50800" tIns="50800" rIns="50800" bIns="50800" anchor="ctr"/>
          <a:lstStyle/>
          <a:p>
            <a:pPr defTabSz="800100">
              <a:defRPr sz="2400">
                <a:effectLst>
                  <a:outerShdw blurRad="25400" dist="23998" dir="2700000" rotWithShape="0">
                    <a:srgbClr val="000000">
                      <a:alpha val="31034"/>
                    </a:srgbClr>
                  </a:outerShdw>
                </a:effectLst>
              </a:defRPr>
            </a:pPr>
            <a:endParaRPr/>
          </a:p>
        </p:txBody>
      </p:sp>
      <p:sp>
        <p:nvSpPr>
          <p:cNvPr id="381" name="Fast Retransmission"/>
          <p:cNvSpPr txBox="1"/>
          <p:nvPr/>
        </p:nvSpPr>
        <p:spPr>
          <a:xfrm>
            <a:off x="6306765" y="2032000"/>
            <a:ext cx="4405983" cy="723900"/>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lgn="l"/>
          </a:lstStyle>
          <a:p>
            <a:r>
              <a:t>Fast Retransmission</a:t>
            </a:r>
          </a:p>
        </p:txBody>
      </p:sp>
      <p:pic>
        <p:nvPicPr>
          <p:cNvPr id="382" name="droppedImage.pdf" descr="droppedImage.pdf"/>
          <p:cNvPicPr>
            <a:picLocks noChangeAspect="1"/>
          </p:cNvPicPr>
          <p:nvPr/>
        </p:nvPicPr>
        <p:blipFill>
          <a:blip r:embed="rId2"/>
          <a:stretch>
            <a:fillRect/>
          </a:stretch>
        </p:blipFill>
        <p:spPr>
          <a:xfrm>
            <a:off x="698500" y="2082800"/>
            <a:ext cx="5299437" cy="6362700"/>
          </a:xfrm>
          <a:prstGeom prst="rect">
            <a:avLst/>
          </a:prstGeom>
          <a:ln w="12700">
            <a:miter lim="400000"/>
          </a:ln>
        </p:spPr>
      </p:pic>
      <p:sp>
        <p:nvSpPr>
          <p:cNvPr id="2" name="Slide Number Placeholder 1">
            <a:extLst>
              <a:ext uri="{FF2B5EF4-FFF2-40B4-BE49-F238E27FC236}">
                <a16:creationId xmlns:a16="http://schemas.microsoft.com/office/drawing/2014/main" id="{1A92DC33-F1C4-3354-E45E-E89D0ED23C01}"/>
              </a:ext>
            </a:extLst>
          </p:cNvPr>
          <p:cNvSpPr>
            <a:spLocks noGrp="1"/>
          </p:cNvSpPr>
          <p:nvPr>
            <p:ph type="sldNum" sz="quarter" idx="2"/>
          </p:nvPr>
        </p:nvSpPr>
        <p:spPr/>
        <p:txBody>
          <a:bodyPr/>
          <a:lstStyle/>
          <a:p>
            <a:fld id="{86CB4B4D-7CA3-9044-876B-883B54F8677D}" type="slidenum">
              <a:rPr lang="en-LB" smtClean="0"/>
              <a:t>37</a:t>
            </a:fld>
            <a:endParaRPr lang="en-LB"/>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9">
                                            <p:txEl>
                                              <p:pRg st="0" end="0"/>
                                            </p:txEl>
                                          </p:spTgt>
                                        </p:tgtEl>
                                        <p:attrNameLst>
                                          <p:attrName>style.visibility</p:attrName>
                                        </p:attrNameLst>
                                      </p:cBhvr>
                                      <p:to>
                                        <p:strVal val="visible"/>
                                      </p:to>
                                    </p:set>
                                    <p:animEffect transition="in" filter="blinds(horizontal)">
                                      <p:cBhvr>
                                        <p:cTn id="7" dur="500"/>
                                        <p:tgtEl>
                                          <p:spTgt spid="3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79">
                                            <p:txEl>
                                              <p:pRg st="1" end="1"/>
                                            </p:txEl>
                                          </p:spTgt>
                                        </p:tgtEl>
                                        <p:attrNameLst>
                                          <p:attrName>style.visibility</p:attrName>
                                        </p:attrNameLst>
                                      </p:cBhvr>
                                      <p:to>
                                        <p:strVal val="visible"/>
                                      </p:to>
                                    </p:set>
                                    <p:animEffect transition="in" filter="dissolve">
                                      <p:cBhvr>
                                        <p:cTn id="12" dur="500"/>
                                        <p:tgtEl>
                                          <p:spTgt spid="37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4" name="Why 3?"/>
          <p:cNvSpPr txBox="1">
            <a:spLocks noGrp="1"/>
          </p:cNvSpPr>
          <p:nvPr>
            <p:ph type="title"/>
          </p:nvPr>
        </p:nvSpPr>
        <p:spPr>
          <a:prstGeom prst="rect">
            <a:avLst/>
          </a:prstGeom>
        </p:spPr>
        <p:txBody>
          <a:bodyPr/>
          <a:lstStyle/>
          <a:p>
            <a:r>
              <a:t>Why 3?</a:t>
            </a:r>
          </a:p>
        </p:txBody>
      </p:sp>
      <p:sp>
        <p:nvSpPr>
          <p:cNvPr id="385" name="Why 3 duplicate ACKs? Why not do fast retransmit after the first duplicate ACK for a segment is received?…"/>
          <p:cNvSpPr txBox="1">
            <a:spLocks noGrp="1"/>
          </p:cNvSpPr>
          <p:nvPr>
            <p:ph type="body" sz="half" idx="1"/>
          </p:nvPr>
        </p:nvSpPr>
        <p:spPr>
          <a:prstGeom prst="rect">
            <a:avLst/>
          </a:prstGeom>
        </p:spPr>
        <p:txBody>
          <a:bodyPr/>
          <a:lstStyle/>
          <a:p>
            <a:pPr>
              <a:spcBef>
                <a:spcPts val="2400"/>
              </a:spcBef>
              <a:spcAft>
                <a:spcPts val="1200"/>
              </a:spcAft>
            </a:pPr>
            <a:r>
              <a:rPr dirty="0"/>
              <a:t>Why 3 duplicate ACKs? Why not do fast retransmit after the first duplicate ACK for a segment is received?</a:t>
            </a:r>
          </a:p>
          <a:p>
            <a:r>
              <a:rPr dirty="0"/>
              <a:t>If n+1 and n+2 (or n+3) are just reordered, then waiting for 2 duplicate ACKs will not retrigger retransmission</a:t>
            </a:r>
          </a:p>
          <a:p>
            <a:pPr lvl="1">
              <a:defRPr>
                <a:solidFill>
                  <a:srgbClr val="F9E05E"/>
                </a:solidFill>
              </a:defRPr>
            </a:pPr>
            <a:r>
              <a:rPr dirty="0"/>
              <a:t>Voodoo constant</a:t>
            </a:r>
          </a:p>
        </p:txBody>
      </p:sp>
      <p:sp>
        <p:nvSpPr>
          <p:cNvPr id="386" name="Rounded Rectangle"/>
          <p:cNvSpPr/>
          <p:nvPr/>
        </p:nvSpPr>
        <p:spPr>
          <a:xfrm>
            <a:off x="7023100" y="2070100"/>
            <a:ext cx="5283200" cy="6743700"/>
          </a:xfrm>
          <a:prstGeom prst="roundRect">
            <a:avLst>
              <a:gd name="adj" fmla="val 3606"/>
            </a:avLst>
          </a:prstGeom>
          <a:gradFill>
            <a:gsLst>
              <a:gs pos="0">
                <a:srgbClr val="FFFFFF"/>
              </a:gs>
              <a:gs pos="26424">
                <a:srgbClr val="AFCBA5"/>
              </a:gs>
              <a:gs pos="100000">
                <a:srgbClr val="5E974B"/>
              </a:gs>
            </a:gsLst>
            <a:lin ang="5400000"/>
          </a:gradFill>
          <a:ln w="12700">
            <a:miter lim="400000"/>
          </a:ln>
          <a:effectLst>
            <a:outerShdw blurRad="76200" dir="18900000" rotWithShape="0">
              <a:srgbClr val="000000">
                <a:alpha val="80000"/>
              </a:srgbClr>
            </a:outerShdw>
          </a:effectLst>
        </p:spPr>
        <p:txBody>
          <a:bodyPr lIns="50800" tIns="50800" rIns="50800" bIns="50800" anchor="ctr"/>
          <a:lstStyle/>
          <a:p>
            <a:pPr defTabSz="800100">
              <a:defRPr sz="2400">
                <a:effectLst>
                  <a:outerShdw blurRad="25400" dist="23998" dir="2700000" rotWithShape="0">
                    <a:srgbClr val="000000">
                      <a:alpha val="31034"/>
                    </a:srgbClr>
                  </a:outerShdw>
                </a:effectLst>
              </a:defRPr>
            </a:pPr>
            <a:endParaRPr/>
          </a:p>
        </p:txBody>
      </p:sp>
      <p:pic>
        <p:nvPicPr>
          <p:cNvPr id="387" name="droppedImage.pdf" descr="droppedImage.pdf"/>
          <p:cNvPicPr>
            <a:picLocks noChangeAspect="1"/>
          </p:cNvPicPr>
          <p:nvPr/>
        </p:nvPicPr>
        <p:blipFill>
          <a:blip r:embed="rId3"/>
          <a:stretch>
            <a:fillRect/>
          </a:stretch>
        </p:blipFill>
        <p:spPr>
          <a:xfrm>
            <a:off x="7327900" y="2247900"/>
            <a:ext cx="4686300" cy="6414708"/>
          </a:xfrm>
          <a:prstGeom prst="rect">
            <a:avLst/>
          </a:prstGeom>
          <a:ln w="12700">
            <a:miter lim="400000"/>
          </a:ln>
        </p:spPr>
      </p:pic>
      <p:sp>
        <p:nvSpPr>
          <p:cNvPr id="2" name="Slide Number Placeholder 1">
            <a:extLst>
              <a:ext uri="{FF2B5EF4-FFF2-40B4-BE49-F238E27FC236}">
                <a16:creationId xmlns:a16="http://schemas.microsoft.com/office/drawing/2014/main" id="{36088427-47EB-B865-0064-D050DC95EED0}"/>
              </a:ext>
            </a:extLst>
          </p:cNvPr>
          <p:cNvSpPr>
            <a:spLocks noGrp="1"/>
          </p:cNvSpPr>
          <p:nvPr>
            <p:ph type="sldNum" sz="quarter" idx="2"/>
          </p:nvPr>
        </p:nvSpPr>
        <p:spPr/>
        <p:txBody>
          <a:bodyPr/>
          <a:lstStyle/>
          <a:p>
            <a:fld id="{86CB4B4D-7CA3-9044-876B-883B54F8677D}" type="slidenum">
              <a:rPr lang="en-LB" smtClean="0"/>
              <a:t>38</a:t>
            </a:fld>
            <a:endParaRPr lang="en-LB"/>
          </a:p>
        </p:txBody>
      </p:sp>
    </p:spTree>
  </p:cSld>
  <p:clrMapOvr>
    <a:masterClrMapping/>
  </p:clrMapOvr>
  <p:transition spd="med"/>
</p:sld>
</file>

<file path=ppt/theme/theme1.xml><?xml version="1.0" encoding="utf-8"?>
<a:theme xmlns:a="http://schemas.openxmlformats.org/drawingml/2006/main" name="White">
  <a:themeElements>
    <a:clrScheme name="White">
      <a:dk1>
        <a:srgbClr val="FF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Neue"/>
        <a:ea typeface="Helvetica Neue"/>
        <a:cs typeface="Helvetica Neue"/>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r="18900000" rotWithShape="0">
              <a:srgbClr val="000000">
                <a:alpha val="8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rgbClr val="0066C1"/>
            </a:gs>
            <a:gs pos="100000">
              <a:srgbClr val="094593"/>
            </a:gs>
          </a:gsLst>
          <a:lin ang="5400000" scaled="0"/>
        </a:gradFill>
        <a:ln w="12700" cap="flat">
          <a:noFill/>
          <a:miter lim="400000"/>
        </a:ln>
        <a:effectLst>
          <a:outerShdw blurRad="76200" dir="18900000" rotWithShape="0">
            <a:srgbClr val="000000">
              <a:alpha val="8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001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outerShdw blurRad="25400" dist="23998" dir="2700000" rotWithShape="0">
                <a:srgbClr val="000000">
                  <a:alpha val="31034"/>
                </a:srgbClr>
              </a:outerShdw>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Neue"/>
        <a:ea typeface="Helvetica Neue"/>
        <a:cs typeface="Helvetica Neue"/>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r="18900000" rotWithShape="0">
              <a:srgbClr val="000000">
                <a:alpha val="8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rgbClr val="0066C1"/>
            </a:gs>
            <a:gs pos="100000">
              <a:srgbClr val="094593"/>
            </a:gs>
          </a:gsLst>
          <a:lin ang="5400000" scaled="0"/>
        </a:gradFill>
        <a:ln w="12700" cap="flat">
          <a:noFill/>
          <a:miter lim="400000"/>
        </a:ln>
        <a:effectLst>
          <a:outerShdw blurRad="76200" dir="18900000" rotWithShape="0">
            <a:srgbClr val="000000">
              <a:alpha val="8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001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outerShdw blurRad="25400" dist="23998" dir="2700000" rotWithShape="0">
                <a:srgbClr val="000000">
                  <a:alpha val="31034"/>
                </a:srgbClr>
              </a:outerShdw>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Mesh</Template>
  <TotalTime>597</TotalTime>
  <Words>3391</Words>
  <Application>Microsoft Macintosh PowerPoint</Application>
  <PresentationFormat>Custom</PresentationFormat>
  <Paragraphs>422</Paragraphs>
  <Slides>38</Slides>
  <Notes>13</Notes>
  <HiddenSlides>3</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38</vt:i4>
      </vt:variant>
    </vt:vector>
  </HeadingPairs>
  <TitlesOfParts>
    <vt:vector size="48" baseType="lpstr">
      <vt:lpstr>-webkit-standard</vt:lpstr>
      <vt:lpstr>Arial</vt:lpstr>
      <vt:lpstr>Courier New</vt:lpstr>
      <vt:lpstr>Gill Sans</vt:lpstr>
      <vt:lpstr>Helvetica Neue</vt:lpstr>
      <vt:lpstr>Lucida Grande</vt:lpstr>
      <vt:lpstr>Monaco</vt:lpstr>
      <vt:lpstr>Times New Roman</vt:lpstr>
      <vt:lpstr>Wingdings</vt:lpstr>
      <vt:lpstr>White</vt:lpstr>
      <vt:lpstr>Chapter 1  TCP Congestion Control</vt:lpstr>
      <vt:lpstr>Outline</vt:lpstr>
      <vt:lpstr>TCP Overview</vt:lpstr>
      <vt:lpstr>TCP Overview</vt:lpstr>
      <vt:lpstr>PowerPoint Presentation</vt:lpstr>
      <vt:lpstr>Transmission Control</vt:lpstr>
      <vt:lpstr>Outline</vt:lpstr>
      <vt:lpstr>Format</vt:lpstr>
      <vt:lpstr>Format</vt:lpstr>
      <vt:lpstr>Flag Field</vt:lpstr>
      <vt:lpstr>Flag Field</vt:lpstr>
      <vt:lpstr>Format</vt:lpstr>
      <vt:lpstr>Format</vt:lpstr>
      <vt:lpstr>Format</vt:lpstr>
      <vt:lpstr>Question</vt:lpstr>
      <vt:lpstr>Question</vt:lpstr>
      <vt:lpstr>Outline</vt:lpstr>
      <vt:lpstr>TCP Connection Management</vt:lpstr>
      <vt:lpstr>Three-way Handshake</vt:lpstr>
      <vt:lpstr>Question</vt:lpstr>
      <vt:lpstr>Question</vt:lpstr>
      <vt:lpstr>Question</vt:lpstr>
      <vt:lpstr>Example</vt:lpstr>
      <vt:lpstr>Closing a Connection</vt:lpstr>
      <vt:lpstr>Closing a Connection</vt:lpstr>
      <vt:lpstr>Question</vt:lpstr>
      <vt:lpstr>Answer</vt:lpstr>
      <vt:lpstr>Outline</vt:lpstr>
      <vt:lpstr>TCP RDT</vt:lpstr>
      <vt:lpstr>TCP Seq# and ACKs</vt:lpstr>
      <vt:lpstr>TCP Sender Events</vt:lpstr>
      <vt:lpstr>Retransmission Scenarios</vt:lpstr>
      <vt:lpstr>Retransmission Scenarios</vt:lpstr>
      <vt:lpstr>Retransmission Scenarios</vt:lpstr>
      <vt:lpstr>ACK Generation</vt:lpstr>
      <vt:lpstr>Fast Retransmit</vt:lpstr>
      <vt:lpstr>Scenario</vt:lpstr>
      <vt:lpstr>Why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TCP Congestion Control</dc:title>
  <cp:lastModifiedBy>Rami Tawil</cp:lastModifiedBy>
  <cp:revision>39</cp:revision>
  <dcterms:modified xsi:type="dcterms:W3CDTF">2025-09-27T16:16:32Z</dcterms:modified>
</cp:coreProperties>
</file>