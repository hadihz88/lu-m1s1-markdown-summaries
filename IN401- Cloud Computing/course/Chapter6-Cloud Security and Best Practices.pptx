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5"/>
  </p:notesMasterIdLst>
  <p:sldIdLst>
    <p:sldId id="394" r:id="rId2"/>
    <p:sldId id="464" r:id="rId3"/>
    <p:sldId id="468" r:id="rId4"/>
    <p:sldId id="480" r:id="rId5"/>
    <p:sldId id="517" r:id="rId6"/>
    <p:sldId id="655" r:id="rId7"/>
    <p:sldId id="551" r:id="rId8"/>
    <p:sldId id="565" r:id="rId9"/>
    <p:sldId id="552" r:id="rId10"/>
    <p:sldId id="567" r:id="rId11"/>
    <p:sldId id="566" r:id="rId12"/>
    <p:sldId id="635" r:id="rId13"/>
    <p:sldId id="558" r:id="rId14"/>
    <p:sldId id="642" r:id="rId15"/>
    <p:sldId id="636" r:id="rId16"/>
    <p:sldId id="637" r:id="rId17"/>
    <p:sldId id="638" r:id="rId18"/>
    <p:sldId id="639" r:id="rId19"/>
    <p:sldId id="640" r:id="rId20"/>
    <p:sldId id="644" r:id="rId21"/>
    <p:sldId id="656" r:id="rId22"/>
    <p:sldId id="553" r:id="rId23"/>
    <p:sldId id="554" r:id="rId24"/>
    <p:sldId id="555" r:id="rId25"/>
    <p:sldId id="556" r:id="rId26"/>
    <p:sldId id="557" r:id="rId27"/>
    <p:sldId id="645" r:id="rId28"/>
    <p:sldId id="643" r:id="rId29"/>
    <p:sldId id="641" r:id="rId30"/>
    <p:sldId id="559" r:id="rId31"/>
    <p:sldId id="560" r:id="rId32"/>
    <p:sldId id="561" r:id="rId33"/>
    <p:sldId id="562" r:id="rId34"/>
    <p:sldId id="563" r:id="rId35"/>
    <p:sldId id="564" r:id="rId36"/>
    <p:sldId id="646" r:id="rId37"/>
    <p:sldId id="657" r:id="rId38"/>
    <p:sldId id="647" r:id="rId39"/>
    <p:sldId id="648" r:id="rId40"/>
    <p:sldId id="649" r:id="rId41"/>
    <p:sldId id="650" r:id="rId42"/>
    <p:sldId id="651" r:id="rId43"/>
    <p:sldId id="658" r:id="rId44"/>
    <p:sldId id="654" r:id="rId45"/>
    <p:sldId id="652" r:id="rId46"/>
    <p:sldId id="659" r:id="rId47"/>
    <p:sldId id="653" r:id="rId48"/>
    <p:sldId id="660" r:id="rId49"/>
    <p:sldId id="661" r:id="rId50"/>
    <p:sldId id="664" r:id="rId51"/>
    <p:sldId id="665" r:id="rId52"/>
    <p:sldId id="662" r:id="rId53"/>
    <p:sldId id="663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7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FEC561-CF75-4BA8-8396-81BFA62FDF9A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FEB05-720B-417F-9EB5-6F9ED0228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47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15D5C4D6-0A8E-7275-5480-0AA9B22838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F616758C-E1FD-FAA0-7C6B-3F045AD4F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2D9F0EAC-8369-1C90-349A-17E075870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E91CC3-7D26-4C63-91DF-1F1D70FC83B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FC9ABC0D-5D48-4448-FE73-77424F8F18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5C688D5C-3B2B-11E1-B734-6F9505EFA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Tools not only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Confusing 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Difference between papers and books </a:t>
            </a: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AB4A320A-C822-B5E6-5C39-F17FDD0515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57BBB63-48D0-415D-B41B-842C283EE71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EE302B0B-2D98-1BF2-3D5C-370F36562E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2294716C-A473-E8CD-CF4E-53277C4286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BA8B4656-B6F4-B7B5-4737-BBC6744180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5F63A9D-A0A9-4AE0-BC71-B130190DA5F6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3946389"/>
            <a:ext cx="7162800" cy="646331"/>
          </a:xfrm>
          <a:prstGeom prst="rect">
            <a:avLst/>
          </a:prstGeom>
        </p:spPr>
        <p:txBody>
          <a:bodyPr/>
          <a:lstStyle>
            <a:lvl1pPr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38658"/>
            <a:ext cx="6400800" cy="13212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7611F-66F3-46E6-2BE1-A11BEB7795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55038" y="6400800"/>
            <a:ext cx="2133600" cy="457200"/>
          </a:xfrm>
        </p:spPr>
        <p:txBody>
          <a:bodyPr/>
          <a:lstStyle>
            <a:lvl1pPr eaLnBrk="1" hangingPunct="1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8F1EF93-4597-488B-B945-F800497BA2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8371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228601" y="1356541"/>
            <a:ext cx="8639175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E138617-2B6E-8386-C5F9-B7E760B7BC8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8651875" y="6405563"/>
            <a:ext cx="2133600" cy="457200"/>
          </a:xfrm>
        </p:spPr>
        <p:txBody>
          <a:bodyPr/>
          <a:lstStyle>
            <a:lvl1pPr eaLnBrk="1" hangingPunct="1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7C4E481A-4BB8-496E-B8F6-CCA37FE89D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1655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3B1C2F4-1FDC-08DB-3730-0F9622DE0E3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8940BB8-FF88-1DA4-0FB9-6051FC17D8C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788150" y="6316663"/>
            <a:ext cx="2133600" cy="457200"/>
          </a:xfrm>
        </p:spPr>
        <p:txBody>
          <a:bodyPr/>
          <a:lstStyle>
            <a:lvl1pPr eaLnBrk="1" hangingPunct="1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6EAFB7C-A013-4482-9518-52F78593A1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D5B65866-2718-6610-FDCE-68780D65F557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549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4">
            <a:extLst>
              <a:ext uri="{FF2B5EF4-FFF2-40B4-BE49-F238E27FC236}">
                <a16:creationId xmlns:a16="http://schemas.microsoft.com/office/drawing/2014/main" id="{4CCD75E8-431E-16FC-29D5-464D3542176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8600" y="82550"/>
            <a:ext cx="86391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438B0A-0AC2-FB58-1641-D129B4CEAC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62700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0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EC23A10-7560-503B-1B78-F0957A826EF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8600" y="677863"/>
            <a:ext cx="8639175" cy="0"/>
          </a:xfrm>
          <a:prstGeom prst="line">
            <a:avLst/>
          </a:prstGeom>
          <a:noFill/>
          <a:ln w="25400">
            <a:solidFill>
              <a:srgbClr val="680B1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5" name="Rectangle 3">
            <a:extLst>
              <a:ext uri="{FF2B5EF4-FFF2-40B4-BE49-F238E27FC236}">
                <a16:creationId xmlns:a16="http://schemas.microsoft.com/office/drawing/2014/main" id="{DF1554F7-9C1A-F014-C698-3CBB8D63AD0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510588" y="643255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5634EC0-1577-44FC-9BBF-D3CF44E1D3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218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9D1023"/>
          </a:solidFill>
          <a:latin typeface="Arial"/>
          <a:ea typeface="ＭＳ Ｐゴシック" charset="-128"/>
          <a:cs typeface="Arial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D1023"/>
          </a:solidFill>
          <a:latin typeface="Arial" charset="0"/>
          <a:ea typeface="ＭＳ Ｐゴシック" charset="-128"/>
          <a:cs typeface="Arial" panose="020B060402020202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D1023"/>
          </a:solidFill>
          <a:latin typeface="Arial" charset="0"/>
          <a:ea typeface="ＭＳ Ｐゴシック" charset="-128"/>
          <a:cs typeface="Arial" panose="020B060402020202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D1023"/>
          </a:solidFill>
          <a:latin typeface="Arial" charset="0"/>
          <a:ea typeface="ＭＳ Ｐゴシック" charset="-128"/>
          <a:cs typeface="Arial" panose="020B060402020202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D1023"/>
          </a:solidFill>
          <a:latin typeface="Arial" charset="0"/>
          <a:ea typeface="ＭＳ Ｐゴシック" charset="-128"/>
          <a:cs typeface="Arial" panose="020B0604020202020204" pitchFamily="34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F255847C-C2B4-2C7B-5027-488ED1F82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597150"/>
            <a:ext cx="8939213" cy="286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9D1023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Cloud Computing Fundamentals</a:t>
            </a:r>
          </a:p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9D1023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IN401 – M1S1 – 5 Credits </a:t>
            </a:r>
            <a:b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9D1023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</a:b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9D1023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 </a:t>
            </a:r>
            <a:b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9D1023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</a:br>
            <a:b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9D1023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</a:br>
            <a:endParaRPr kumimoji="0" lang="en-US" altLang="en-US" sz="3600" b="1" i="0" u="none" strike="noStrike" kern="1200" cap="none" spc="0" normalizeH="0" baseline="0" noProof="0">
              <a:ln>
                <a:noFill/>
              </a:ln>
              <a:solidFill>
                <a:srgbClr val="9D1023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1C2121A6-E5E0-A1BD-34B9-E0CCC5147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7938" y="4697413"/>
            <a:ext cx="6400800" cy="8604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751D01-F55C-8B7E-724A-91BF35E17C76}"/>
              </a:ext>
            </a:extLst>
          </p:cNvPr>
          <p:cNvSpPr/>
          <p:nvPr/>
        </p:nvSpPr>
        <p:spPr>
          <a:xfrm>
            <a:off x="1093788" y="457200"/>
            <a:ext cx="7053262" cy="2006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>
            <a:extLst>
              <a:ext uri="{FF2B5EF4-FFF2-40B4-BE49-F238E27FC236}">
                <a16:creationId xmlns:a16="http://schemas.microsoft.com/office/drawing/2014/main" id="{9AB33746-9748-6814-62A3-9E3F0A902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Course Grading</a:t>
            </a:r>
          </a:p>
        </p:txBody>
      </p:sp>
      <p:sp>
        <p:nvSpPr>
          <p:cNvPr id="9219" name="Content Placeholder 6">
            <a:extLst>
              <a:ext uri="{FF2B5EF4-FFF2-40B4-BE49-F238E27FC236}">
                <a16:creationId xmlns:a16="http://schemas.microsoft.com/office/drawing/2014/main" id="{1424F15F-FC2E-432D-0847-A9F842D3DA7F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228600" y="1052513"/>
            <a:ext cx="8639175" cy="56530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Clr>
                <a:srgbClr val="77933C"/>
              </a:buClr>
            </a:pPr>
            <a:r>
              <a:rPr lang="en-US" altLang="en-US">
                <a:ea typeface="ＭＳ Ｐゴシック" panose="020B0600070205080204" pitchFamily="34" charset="-128"/>
              </a:rPr>
              <a:t>Partial Exam</a:t>
            </a:r>
          </a:p>
          <a:p>
            <a:pPr eaLnBrk="1" hangingPunct="1">
              <a:spcBef>
                <a:spcPct val="0"/>
              </a:spcBef>
              <a:buClr>
                <a:srgbClr val="77933C"/>
              </a:buClr>
            </a:pPr>
            <a:r>
              <a:rPr lang="en-US" altLang="en-US">
                <a:ea typeface="ＭＳ Ｐゴシック" panose="020B0600070205080204" pitchFamily="34" charset="-128"/>
              </a:rPr>
              <a:t>Final Exam </a:t>
            </a:r>
          </a:p>
          <a:p>
            <a:pPr eaLnBrk="1" hangingPunct="1">
              <a:spcBef>
                <a:spcPct val="0"/>
              </a:spcBef>
              <a:buClr>
                <a:srgbClr val="77933C"/>
              </a:buClr>
            </a:pPr>
            <a:r>
              <a:rPr lang="en-US" altLang="en-US">
                <a:ea typeface="ＭＳ Ｐゴシック" panose="020B0600070205080204" pitchFamily="34" charset="-128"/>
              </a:rPr>
              <a:t>Second Session </a:t>
            </a:r>
            <a:endParaRPr lang="en-GB" altLang="en-US">
              <a:ea typeface="ＭＳ Ｐゴシック" panose="020B0600070205080204" pitchFamily="34" charset="-128"/>
            </a:endParaRPr>
          </a:p>
        </p:txBody>
      </p:sp>
      <p:sp>
        <p:nvSpPr>
          <p:cNvPr id="9220" name="Slide Number Placeholder 1">
            <a:extLst>
              <a:ext uri="{FF2B5EF4-FFF2-40B4-BE49-F238E27FC236}">
                <a16:creationId xmlns:a16="http://schemas.microsoft.com/office/drawing/2014/main" id="{C2EC8568-8A89-B18B-8B9D-E184A258EF1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8C01DB-7385-4D1A-BE96-51F69706575F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7CBA4BF0-B62E-2777-126B-A249FD86F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  <a:cs typeface="Arial" panose="020B0604020202020204" pitchFamily="34" charset="0"/>
              </a:rPr>
              <a:t>Course Contents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A4F66E-9E94-08F7-5616-50DBD266E58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6050" y="1511300"/>
            <a:ext cx="9067800" cy="3659188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defRPr/>
            </a:pPr>
            <a:r>
              <a:rPr lang="en-US" b="1" kern="1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Chapter 1: Introduction to Cloud Computing</a:t>
            </a:r>
            <a:endParaRPr lang="en-US" b="1" kern="100" dirty="0">
              <a:solidFill>
                <a:schemeClr val="bg1">
                  <a:lumMod val="85000"/>
                </a:schemeClr>
              </a:solidFill>
              <a:latin typeface="Aptos"/>
              <a:ea typeface="Aptos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defRPr/>
            </a:pPr>
            <a:r>
              <a:rPr lang="en-US" b="1" kern="1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Chapter 2: Infrastructure as a Service (IaaS)</a:t>
            </a:r>
            <a:endParaRPr lang="en-US" b="1" kern="100" dirty="0">
              <a:solidFill>
                <a:schemeClr val="bg1">
                  <a:lumMod val="85000"/>
                </a:schemeClr>
              </a:solidFill>
              <a:latin typeface="Aptos"/>
              <a:ea typeface="Aptos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defRPr/>
            </a:pPr>
            <a:r>
              <a:rPr lang="en-US" b="1" kern="1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Chapter 3: Platform as a Service (PaaS)</a:t>
            </a:r>
            <a:endParaRPr lang="en-US" b="1" kern="100" dirty="0">
              <a:solidFill>
                <a:schemeClr val="bg1">
                  <a:lumMod val="85000"/>
                </a:schemeClr>
              </a:solidFill>
              <a:latin typeface="Aptos"/>
              <a:ea typeface="Aptos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defRPr/>
            </a:pPr>
            <a:r>
              <a:rPr lang="en-US" b="1" kern="1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Chapter 4: Software as a Service (SaaS)</a:t>
            </a:r>
            <a:endParaRPr lang="en-US" b="1" kern="100" dirty="0">
              <a:solidFill>
                <a:schemeClr val="bg1">
                  <a:lumMod val="85000"/>
                </a:schemeClr>
              </a:solidFill>
              <a:latin typeface="Aptos"/>
              <a:ea typeface="Aptos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defRPr/>
            </a:pPr>
            <a:r>
              <a:rPr lang="en-US" b="1" kern="1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Chapter 5: Cloud Native Technologies &amp; Architectures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/>
            </a:pPr>
            <a:r>
              <a:rPr lang="en-US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Chapter 6: Cloud Security &amp; Best Practices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/>
            </a:pPr>
            <a:r>
              <a:rPr lang="en-US" b="1" kern="1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Aptos"/>
                <a:cs typeface="Arial" panose="020B0604020202020204" pitchFamily="34" charset="0"/>
              </a:rPr>
              <a:t>Chapter 7: Practical Case Studies </a:t>
            </a:r>
            <a:endParaRPr lang="en-US" b="1" kern="100" dirty="0">
              <a:solidFill>
                <a:schemeClr val="bg1">
                  <a:lumMod val="85000"/>
                </a:schemeClr>
              </a:solidFill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</p:txBody>
      </p:sp>
      <p:sp>
        <p:nvSpPr>
          <p:cNvPr id="11268" name="Slide Number Placeholder 1">
            <a:extLst>
              <a:ext uri="{FF2B5EF4-FFF2-40B4-BE49-F238E27FC236}">
                <a16:creationId xmlns:a16="http://schemas.microsoft.com/office/drawing/2014/main" id="{57A4DFFC-2B03-44DA-0EFB-6F21D797D30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66E1FB-D93D-4356-BC1A-251E9CD81103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7C161-C7AB-C048-E8DB-E5DF9676744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pPr marL="0" indent="0" algn="ctr">
              <a:buFont typeface="Wingdings" pitchFamily="2" charset="2"/>
              <a:buNone/>
              <a:defRPr/>
            </a:pPr>
            <a:r>
              <a:rPr lang="en-US" sz="3600" b="1" u="sng" dirty="0">
                <a:solidFill>
                  <a:schemeClr val="tx2"/>
                </a:solidFill>
              </a:rPr>
              <a:t>Chapter 6: </a:t>
            </a:r>
          </a:p>
          <a:p>
            <a:pPr algn="ctr">
              <a:defRPr/>
            </a:pPr>
            <a:endParaRPr lang="en-US" sz="3600" b="1" dirty="0"/>
          </a:p>
          <a:p>
            <a:pPr algn="ctr">
              <a:defRPr/>
            </a:pPr>
            <a:endParaRPr lang="en-US" sz="3600" b="1" dirty="0"/>
          </a:p>
          <a:p>
            <a:pPr marL="0" indent="0" algn="ctr">
              <a:buFont typeface="Wingdings" pitchFamily="2" charset="2"/>
              <a:buNone/>
              <a:defRPr/>
            </a:pPr>
            <a:r>
              <a:rPr lang="en-US" sz="3600" b="1" dirty="0"/>
              <a:t>Cloud Security &amp; Best Practices</a:t>
            </a:r>
          </a:p>
        </p:txBody>
      </p:sp>
      <p:sp>
        <p:nvSpPr>
          <p:cNvPr id="13315" name="Slide Number Placeholder 1">
            <a:extLst>
              <a:ext uri="{FF2B5EF4-FFF2-40B4-BE49-F238E27FC236}">
                <a16:creationId xmlns:a16="http://schemas.microsoft.com/office/drawing/2014/main" id="{E18305FD-7861-095B-BB94-626EF9EC4E4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AE05CB-0485-43C5-8814-0329F503E1BB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FBB1074F-52C3-8672-A141-BBB7B7AFE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D831D-6D27-F90C-3478-0DDC8B6CD6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4963" y="1019175"/>
            <a:ext cx="8639175" cy="3659188"/>
          </a:xfrm>
        </p:spPr>
        <p:txBody>
          <a:bodyPr/>
          <a:lstStyle/>
          <a:p>
            <a:pPr>
              <a:defRPr/>
            </a:pPr>
            <a:r>
              <a:rPr lang="en-US" dirty="0"/>
              <a:t>Cloud security basics (security groups, IAM)</a:t>
            </a:r>
          </a:p>
          <a:p>
            <a:pPr>
              <a:defRPr/>
            </a:pPr>
            <a:r>
              <a:rPr lang="en-US" dirty="0"/>
              <a:t>Data privacy compliance (GDPR, data residency)</a:t>
            </a:r>
          </a:p>
          <a:p>
            <a:pPr>
              <a:defRPr/>
            </a:pPr>
            <a:r>
              <a:rPr lang="en-US" dirty="0"/>
              <a:t>Best practices for secured deployments (Identity/access mgmt., key management)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14340" name="Slide Number Placeholder 1">
            <a:extLst>
              <a:ext uri="{FF2B5EF4-FFF2-40B4-BE49-F238E27FC236}">
                <a16:creationId xmlns:a16="http://schemas.microsoft.com/office/drawing/2014/main" id="{D875EE52-EE6D-D2FA-9584-261F1079D96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143ABD-B7A3-40CD-B9F6-EBDC39C5F0E5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C7184-DE99-5631-16DB-44AE32AE5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2F13C-05EE-D321-4298-301A8F56C1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2413" y="3024188"/>
            <a:ext cx="8639175" cy="947737"/>
          </a:xfrm>
        </p:spPr>
        <p:txBody>
          <a:bodyPr/>
          <a:lstStyle/>
          <a:p>
            <a:pPr marL="0" indent="0" algn="ctr">
              <a:buFont typeface="Wingdings" pitchFamily="2" charset="2"/>
              <a:buNone/>
              <a:defRPr/>
            </a:pPr>
            <a:r>
              <a:rPr lang="en-US" altLang="en-US" sz="3600" b="1" dirty="0">
                <a:solidFill>
                  <a:srgbClr val="9D1023"/>
                </a:solidFill>
                <a:ea typeface="ＭＳ Ｐゴシック" panose="020B0600070205080204" pitchFamily="34" charset="-128"/>
              </a:rPr>
              <a:t>Cloud Security Introduction</a:t>
            </a:r>
            <a:endParaRPr lang="en-US" dirty="0"/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53ECF199-EC75-34D9-1012-BD53804BF14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9A3B704-604D-457A-B723-EE6C2CFBF45F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0673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29ABDA63-7168-55CA-E288-D5840AB6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9833A-2561-2C51-249B-4D6A47F63B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r>
              <a:rPr lang="en-US" dirty="0"/>
              <a:t>Cloud security is a specialized discipline within information security that addresses the protection of data, applications, and infrastructure in cloud computing environments. </a:t>
            </a:r>
          </a:p>
          <a:p>
            <a:endParaRPr lang="en-US" dirty="0"/>
          </a:p>
          <a:p>
            <a:r>
              <a:rPr lang="en-US" dirty="0"/>
              <a:t>It combines traditional security principles with cloud‑specific mechanisms such as virtualization, automation, and shared control planes.</a:t>
            </a:r>
          </a:p>
          <a:p>
            <a:endParaRPr lang="en-US" dirty="0"/>
          </a:p>
          <a:p>
            <a:r>
              <a:rPr lang="en-US" dirty="0"/>
              <a:t>Cloud security is </a:t>
            </a:r>
            <a:r>
              <a:rPr lang="en-US" b="1" dirty="0"/>
              <a:t>not simply traditional security moved to the cloud</a:t>
            </a:r>
            <a:r>
              <a:rPr lang="en-US" dirty="0"/>
              <a:t>. Instead, it introduces new threat models, operational assumptions, and architectural patterns.</a:t>
            </a:r>
          </a:p>
          <a:p>
            <a:pPr fontAlgn="ctr">
              <a:defRPr/>
            </a:pP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93EB0228-5777-4CFE-24EC-056A4F01B2F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CF9E7-AD2D-4AF8-20D9-B6A8E43E9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52D98D70-FD0E-0711-FF7B-8889F27B7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Security Objectives (CIA Triad)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3080C-9529-80B1-F961-50C8ACA6FF5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r>
              <a:rPr lang="en-US" b="1" dirty="0"/>
              <a:t>Confidentiality</a:t>
            </a:r>
            <a:r>
              <a:rPr lang="en-US" dirty="0"/>
              <a:t>: Prevent unauthorized data disclosure.</a:t>
            </a:r>
          </a:p>
          <a:p>
            <a:endParaRPr lang="en-US" b="1" dirty="0"/>
          </a:p>
          <a:p>
            <a:r>
              <a:rPr lang="en-US" b="1" dirty="0"/>
              <a:t>Integrity</a:t>
            </a:r>
            <a:r>
              <a:rPr lang="en-US" dirty="0"/>
              <a:t>: Ensure data and system accuracy.</a:t>
            </a:r>
          </a:p>
          <a:p>
            <a:endParaRPr lang="en-US" b="1" dirty="0"/>
          </a:p>
          <a:p>
            <a:r>
              <a:rPr lang="en-US" b="1" dirty="0"/>
              <a:t>Availability</a:t>
            </a:r>
            <a:r>
              <a:rPr lang="en-US" dirty="0"/>
              <a:t>: Maintain continuous access to services.</a:t>
            </a:r>
          </a:p>
          <a:p>
            <a:pPr fontAlgn="ctr">
              <a:defRPr/>
            </a:pP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1316FD88-6954-65A9-3482-712511B6FB2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756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48483-F2C6-F15A-9488-D571B015A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45B0931D-ABC9-4252-8C15-D4728D13C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6537" y="-71448"/>
            <a:ext cx="9338187" cy="954107"/>
          </a:xfrm>
        </p:spPr>
        <p:txBody>
          <a:bodyPr/>
          <a:lstStyle/>
          <a:p>
            <a:r>
              <a:rPr lang="en-US" sz="2800" dirty="0"/>
              <a:t>Cloud Service Models and Security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A00BF-5377-8785-A42E-1023E66B0F4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954190"/>
            <a:ext cx="8639175" cy="3659187"/>
          </a:xfrm>
        </p:spPr>
        <p:txBody>
          <a:bodyPr/>
          <a:lstStyle/>
          <a:p>
            <a:r>
              <a:rPr lang="en-US" b="1" dirty="0"/>
              <a:t>IaaS Customer Responsibilities</a:t>
            </a:r>
            <a:r>
              <a:rPr lang="en-US" dirty="0"/>
              <a:t>:</a:t>
            </a:r>
          </a:p>
          <a:p>
            <a:r>
              <a:rPr lang="en-US" dirty="0"/>
              <a:t>Operating system hardening and patching</a:t>
            </a:r>
          </a:p>
          <a:p>
            <a:r>
              <a:rPr lang="en-US" dirty="0"/>
              <a:t>Firewall and security group configuration</a:t>
            </a:r>
          </a:p>
          <a:p>
            <a:r>
              <a:rPr lang="en-US" dirty="0"/>
              <a:t>Application security</a:t>
            </a:r>
          </a:p>
          <a:p>
            <a:r>
              <a:rPr lang="en-US" dirty="0"/>
              <a:t>Data protection</a:t>
            </a:r>
          </a:p>
          <a:p>
            <a:r>
              <a:rPr lang="en-US" b="1" dirty="0"/>
              <a:t>IaaS Provider Responsibilities</a:t>
            </a:r>
            <a:r>
              <a:rPr lang="en-US" dirty="0"/>
              <a:t>:</a:t>
            </a:r>
          </a:p>
          <a:p>
            <a:r>
              <a:rPr lang="en-US" dirty="0"/>
              <a:t>Physical security of data centers</a:t>
            </a:r>
          </a:p>
          <a:p>
            <a:r>
              <a:rPr lang="en-US" dirty="0"/>
              <a:t>Hardware lifecycle management</a:t>
            </a:r>
          </a:p>
          <a:p>
            <a:r>
              <a:rPr lang="en-US" dirty="0"/>
              <a:t>Hypervisor security</a:t>
            </a:r>
          </a:p>
          <a:p>
            <a:r>
              <a:rPr lang="en-US" b="1" dirty="0"/>
              <a:t>IaaS Main Drawbacks</a:t>
            </a:r>
            <a:r>
              <a:rPr lang="en-US" dirty="0"/>
              <a:t>:</a:t>
            </a:r>
          </a:p>
          <a:p>
            <a:r>
              <a:rPr lang="en-US" dirty="0"/>
              <a:t>VM vulnerabilities and misconfigurations</a:t>
            </a:r>
          </a:p>
          <a:p>
            <a:r>
              <a:rPr lang="en-US" dirty="0"/>
              <a:t>Network isolation failures</a:t>
            </a:r>
          </a:p>
          <a:p>
            <a:r>
              <a:rPr lang="en-US" dirty="0"/>
              <a:t>Privilege escalation within virtualized environments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D6CFFD69-05A9-F5A9-8CF1-A6824BE8047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07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C3D03-71BD-5C88-7D17-7F5F8BFEE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1441506-A7A4-0DF0-B32A-D0B68C5AD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6537" y="-71448"/>
            <a:ext cx="9338187" cy="954107"/>
          </a:xfrm>
        </p:spPr>
        <p:txBody>
          <a:bodyPr/>
          <a:lstStyle/>
          <a:p>
            <a:r>
              <a:rPr lang="en-US" sz="2800" dirty="0"/>
              <a:t>Cloud Service Models and Security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4336E-0DA0-DCBE-5A1D-A2FE302A383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983686"/>
            <a:ext cx="8639175" cy="3659187"/>
          </a:xfrm>
        </p:spPr>
        <p:txBody>
          <a:bodyPr/>
          <a:lstStyle/>
          <a:p>
            <a:r>
              <a:rPr lang="en-US" b="1" dirty="0"/>
              <a:t>PaaS Customer Responsibilities</a:t>
            </a:r>
            <a:r>
              <a:rPr lang="en-US" dirty="0"/>
              <a:t>:</a:t>
            </a:r>
          </a:p>
          <a:p>
            <a:r>
              <a:rPr lang="en-US" dirty="0"/>
              <a:t>Secure application code</a:t>
            </a:r>
          </a:p>
          <a:p>
            <a:r>
              <a:rPr lang="en-US" dirty="0"/>
              <a:t>Identity and access configuration</a:t>
            </a:r>
          </a:p>
          <a:p>
            <a:r>
              <a:rPr lang="en-US" dirty="0"/>
              <a:t>Data governance</a:t>
            </a:r>
          </a:p>
          <a:p>
            <a:r>
              <a:rPr lang="en-US" b="1" dirty="0"/>
              <a:t>PaaS Provider Responsibilities</a:t>
            </a:r>
            <a:r>
              <a:rPr lang="en-US" dirty="0"/>
              <a:t>:</a:t>
            </a:r>
          </a:p>
          <a:p>
            <a:r>
              <a:rPr lang="en-US" dirty="0"/>
              <a:t>Runtime, middleware, OS patching</a:t>
            </a:r>
          </a:p>
          <a:p>
            <a:r>
              <a:rPr lang="en-US" dirty="0"/>
              <a:t>Infrastructure availability</a:t>
            </a:r>
          </a:p>
          <a:p>
            <a:r>
              <a:rPr lang="en-US" b="1" dirty="0"/>
              <a:t>PaaS Main Drawbacks </a:t>
            </a:r>
            <a:r>
              <a:rPr lang="en-US" dirty="0"/>
              <a:t>:</a:t>
            </a:r>
          </a:p>
          <a:p>
            <a:r>
              <a:rPr lang="en-US" dirty="0"/>
              <a:t>API exposure risks</a:t>
            </a:r>
          </a:p>
          <a:p>
            <a:r>
              <a:rPr lang="en-US" dirty="0"/>
              <a:t>Dependency vulnerabilities</a:t>
            </a:r>
          </a:p>
          <a:p>
            <a:r>
              <a:rPr lang="en-US" dirty="0"/>
              <a:t>Secure application design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0B9AA02F-51E0-F1F9-1B52-6934DEFD00A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275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BBBFD-86CD-AD2C-8239-0CDF4A4E5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641013A8-12EC-5951-C537-D76E7C5BB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6537" y="-71448"/>
            <a:ext cx="9338187" cy="954107"/>
          </a:xfrm>
        </p:spPr>
        <p:txBody>
          <a:bodyPr/>
          <a:lstStyle/>
          <a:p>
            <a:r>
              <a:rPr lang="en-US" sz="2800" dirty="0"/>
              <a:t>Cloud Service Models and Security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2FB80-7E03-3F3F-C13C-5D209652ED1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983686"/>
            <a:ext cx="8639175" cy="3659187"/>
          </a:xfrm>
        </p:spPr>
        <p:txBody>
          <a:bodyPr/>
          <a:lstStyle/>
          <a:p>
            <a:r>
              <a:rPr lang="en-US" b="1" dirty="0"/>
              <a:t>SaaS Customer Responsibilities</a:t>
            </a:r>
            <a:r>
              <a:rPr lang="en-US" dirty="0"/>
              <a:t>:</a:t>
            </a:r>
          </a:p>
          <a:p>
            <a:r>
              <a:rPr lang="en-US" dirty="0"/>
              <a:t>User access management</a:t>
            </a:r>
          </a:p>
          <a:p>
            <a:r>
              <a:rPr lang="en-US" dirty="0"/>
              <a:t>Data classification and usage</a:t>
            </a:r>
          </a:p>
          <a:p>
            <a:r>
              <a:rPr lang="en-US" dirty="0"/>
              <a:t>Endpoint security</a:t>
            </a:r>
          </a:p>
          <a:p>
            <a:r>
              <a:rPr lang="en-US" b="1" dirty="0"/>
              <a:t>SaaS Provider Responsibilities</a:t>
            </a:r>
            <a:r>
              <a:rPr lang="en-US" dirty="0"/>
              <a:t>:</a:t>
            </a:r>
          </a:p>
          <a:p>
            <a:r>
              <a:rPr lang="en-US" dirty="0"/>
              <a:t>Application security</a:t>
            </a:r>
          </a:p>
          <a:p>
            <a:r>
              <a:rPr lang="en-US" dirty="0"/>
              <a:t>Infrastructure and platform security</a:t>
            </a:r>
          </a:p>
          <a:p>
            <a:r>
              <a:rPr lang="en-US" b="1" dirty="0"/>
              <a:t>SaaS Main Drawbacks </a:t>
            </a:r>
            <a:r>
              <a:rPr lang="en-US" dirty="0"/>
              <a:t>:</a:t>
            </a:r>
          </a:p>
          <a:p>
            <a:r>
              <a:rPr lang="en-US" dirty="0"/>
              <a:t>Identity‑centric security</a:t>
            </a:r>
          </a:p>
          <a:p>
            <a:r>
              <a:rPr lang="en-US" dirty="0"/>
              <a:t>Insider threats</a:t>
            </a:r>
          </a:p>
          <a:p>
            <a:r>
              <a:rPr lang="en-US" dirty="0"/>
              <a:t>Data leakage risks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18257A98-3FAF-C722-7027-1BDF7FC0F71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494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9582F-22A5-D6AE-4E51-EED626214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A2D22-24DF-0052-610A-E1013EAA2A3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2413" y="3024188"/>
            <a:ext cx="8639175" cy="947737"/>
          </a:xfrm>
        </p:spPr>
        <p:txBody>
          <a:bodyPr/>
          <a:lstStyle/>
          <a:p>
            <a:pPr marL="0" indent="0" algn="ctr">
              <a:buFont typeface="Wingdings" pitchFamily="2" charset="2"/>
              <a:buNone/>
              <a:defRPr/>
            </a:pPr>
            <a:r>
              <a:rPr lang="en-US" altLang="en-US" sz="3600" b="1" dirty="0">
                <a:solidFill>
                  <a:srgbClr val="9D1023"/>
                </a:solidFill>
                <a:ea typeface="ＭＳ Ｐゴシック" panose="020B0600070205080204" pitchFamily="34" charset="-128"/>
              </a:rPr>
              <a:t>Cloud Security Groups</a:t>
            </a:r>
            <a:endParaRPr lang="en-US" dirty="0"/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15F565DE-EA28-A4B3-D8E6-A817BECD99F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9A3B704-604D-457A-B723-EE6C2CFBF45F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3749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CEBBB-5CBB-224D-AB3A-B757CDCDE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D119350A-27C7-8769-01FA-12A976B54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Network Security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2E6E6-39B7-5833-E560-72E8E44A50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r>
              <a:rPr lang="en-US" dirty="0"/>
              <a:t>Cloud network security is software‑defined and policy‑driven. </a:t>
            </a:r>
          </a:p>
          <a:p>
            <a:r>
              <a:rPr lang="en-US" dirty="0"/>
              <a:t>Unlike traditional networks that rely on physical firewalls and appliances, cloud networking uses logical controls enforced by the cloud provider.</a:t>
            </a:r>
          </a:p>
          <a:p>
            <a:endParaRPr lang="en-US" dirty="0"/>
          </a:p>
          <a:p>
            <a:r>
              <a:rPr lang="en-US" dirty="0"/>
              <a:t>Network security must be done as </a:t>
            </a:r>
            <a:r>
              <a:rPr lang="en-US" b="1" dirty="0"/>
              <a:t>identity‑aware, segmented, and highly automated</a:t>
            </a:r>
            <a:r>
              <a:rPr lang="en-US" dirty="0"/>
              <a:t>.</a:t>
            </a:r>
          </a:p>
          <a:p>
            <a:pPr fontAlgn="ctr">
              <a:defRPr/>
            </a:pP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4B3651F7-8FD1-ABA8-835D-A746F9E8E68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064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BD99E-56A5-7718-F786-0284B6447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CA702957-9D00-21C6-B2B0-9C1C4D92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Groups (Virtual Firewalls)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CE9F4-957F-0793-65C7-A317DAD355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r>
              <a:rPr lang="en-US" dirty="0"/>
              <a:t>Security Groups are </a:t>
            </a:r>
            <a:r>
              <a:rPr lang="en-US" b="1" dirty="0"/>
              <a:t>stateful, virtual firewalls</a:t>
            </a:r>
            <a:r>
              <a:rPr lang="en-US" dirty="0"/>
              <a:t> that control inbound and outbound traffic to cloud resources such as virtual machines, load balancers, and databases.</a:t>
            </a:r>
          </a:p>
          <a:p>
            <a:endParaRPr lang="en-US" dirty="0"/>
          </a:p>
          <a:p>
            <a:r>
              <a:rPr lang="en-US" dirty="0"/>
              <a:t>They operate at the </a:t>
            </a:r>
            <a:r>
              <a:rPr lang="en-US" b="1" dirty="0"/>
              <a:t>instance or resource level</a:t>
            </a:r>
            <a:r>
              <a:rPr lang="en-US" dirty="0"/>
              <a:t>, not at the subnet level, and are enforced by the cloud provider’s infrastructure.</a:t>
            </a:r>
          </a:p>
          <a:p>
            <a:pPr fontAlgn="ctr">
              <a:defRPr/>
            </a:pP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2378A4F2-1803-2C09-5C05-3FD7452DC07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480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5AEA9-BAE0-AFEB-8EFB-452C008A2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A51F836E-3F80-9DFF-B492-EA20210D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-194558"/>
            <a:ext cx="9448802" cy="1200329"/>
          </a:xfrm>
        </p:spPr>
        <p:txBody>
          <a:bodyPr/>
          <a:lstStyle/>
          <a:p>
            <a:r>
              <a:rPr lang="en-US" dirty="0"/>
              <a:t>Core Characteristics of Security Groups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ADEBF-F2B9-1233-351C-749B1041B1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229497"/>
            <a:ext cx="8639175" cy="3659187"/>
          </a:xfrm>
        </p:spPr>
        <p:txBody>
          <a:bodyPr/>
          <a:lstStyle/>
          <a:p>
            <a:r>
              <a:rPr lang="en-US" b="1" dirty="0"/>
              <a:t>Stateful</a:t>
            </a:r>
            <a:r>
              <a:rPr lang="en-US" dirty="0"/>
              <a:t>: If inbound traffic is allowed, the corresponding outbound response is automatically permitted (and vice versa).</a:t>
            </a:r>
          </a:p>
          <a:p>
            <a:endParaRPr lang="en-US" dirty="0"/>
          </a:p>
          <a:p>
            <a:r>
              <a:rPr lang="en-US" b="1" dirty="0"/>
              <a:t>Allow‑rules only</a:t>
            </a:r>
            <a:r>
              <a:rPr lang="en-US" dirty="0"/>
              <a:t>: Security groups typically do not support explicit deny rules.</a:t>
            </a:r>
          </a:p>
          <a:p>
            <a:endParaRPr lang="en-US" dirty="0"/>
          </a:p>
          <a:p>
            <a:r>
              <a:rPr lang="en-US" b="1" dirty="0"/>
              <a:t>Resource‑attached</a:t>
            </a:r>
            <a:r>
              <a:rPr lang="en-US" dirty="0"/>
              <a:t>: Applied directly to instances or interfaces.</a:t>
            </a:r>
          </a:p>
          <a:p>
            <a:endParaRPr lang="en-US" dirty="0"/>
          </a:p>
          <a:p>
            <a:r>
              <a:rPr lang="en-US" b="1" dirty="0"/>
              <a:t>Evaluated as a whole</a:t>
            </a:r>
            <a:r>
              <a:rPr lang="en-US" dirty="0"/>
              <a:t>: All rules are evaluated together, not in sequence.</a:t>
            </a:r>
          </a:p>
          <a:p>
            <a:pPr fontAlgn="ctr">
              <a:defRPr/>
            </a:pP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6BA57911-618B-3438-6609-E62A6B0034D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411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BF047-F451-0B13-570B-EB0BF6955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636FD65B-8046-D6C4-DC43-5782DB996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441"/>
            <a:ext cx="8639175" cy="646331"/>
          </a:xfrm>
        </p:spPr>
        <p:txBody>
          <a:bodyPr/>
          <a:lstStyle/>
          <a:p>
            <a:r>
              <a:rPr lang="en-US" dirty="0"/>
              <a:t>Inbound and Outbound Rules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9ABFF-D446-F148-F219-B675C9F8A02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219662"/>
            <a:ext cx="8639175" cy="3659187"/>
          </a:xfrm>
        </p:spPr>
        <p:txBody>
          <a:bodyPr/>
          <a:lstStyle/>
          <a:p>
            <a:r>
              <a:rPr lang="en-US" b="1" dirty="0"/>
              <a:t>Inbound Rules</a:t>
            </a:r>
            <a:r>
              <a:rPr lang="en-US" dirty="0"/>
              <a:t>:</a:t>
            </a:r>
          </a:p>
          <a:p>
            <a:r>
              <a:rPr lang="en-US" dirty="0"/>
              <a:t>Define what traffic is allowed </a:t>
            </a:r>
            <a:r>
              <a:rPr lang="en-US" i="1" dirty="0"/>
              <a:t>into</a:t>
            </a:r>
            <a:r>
              <a:rPr lang="en-US" dirty="0"/>
              <a:t> a resource</a:t>
            </a:r>
          </a:p>
          <a:p>
            <a:r>
              <a:rPr lang="en-US" dirty="0"/>
              <a:t>Common examples: HTTP (80), HTTPS (443), SSH (22)</a:t>
            </a:r>
          </a:p>
          <a:p>
            <a:endParaRPr lang="en-US" b="1" dirty="0"/>
          </a:p>
          <a:p>
            <a:r>
              <a:rPr lang="en-US" b="1" dirty="0"/>
              <a:t>Outbound Rules</a:t>
            </a:r>
            <a:r>
              <a:rPr lang="en-US" dirty="0"/>
              <a:t>:</a:t>
            </a:r>
          </a:p>
          <a:p>
            <a:r>
              <a:rPr lang="en-US" dirty="0"/>
              <a:t>Define what traffic a resource can initiate</a:t>
            </a:r>
          </a:p>
          <a:p>
            <a:r>
              <a:rPr lang="en-US" dirty="0"/>
              <a:t>Often overly permissive by default</a:t>
            </a:r>
          </a:p>
          <a:p>
            <a:r>
              <a:rPr lang="en-US" dirty="0"/>
              <a:t>Each rule specifies:</a:t>
            </a:r>
          </a:p>
          <a:p>
            <a:pPr lvl="1"/>
            <a:r>
              <a:rPr lang="en-US" sz="2400" dirty="0"/>
              <a:t>Protocol (TCP, UDP, ICMP)</a:t>
            </a:r>
          </a:p>
          <a:p>
            <a:pPr lvl="1"/>
            <a:r>
              <a:rPr lang="en-US" sz="2400" dirty="0"/>
              <a:t>Port range</a:t>
            </a:r>
          </a:p>
          <a:p>
            <a:pPr lvl="1"/>
            <a:r>
              <a:rPr lang="en-US" sz="2400" dirty="0"/>
              <a:t>Source or destination (IP range, CIDR, or another security group)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B20974CE-33DE-0637-3AC4-B912A445756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642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CB7CB-EECE-4BB1-149F-EC32B86AD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3CD65A10-0168-344D-79CB-7A04D9E55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441"/>
            <a:ext cx="8639175" cy="646331"/>
          </a:xfrm>
        </p:spPr>
        <p:txBody>
          <a:bodyPr/>
          <a:lstStyle/>
          <a:p>
            <a:r>
              <a:rPr lang="en-US" dirty="0"/>
              <a:t>Referencing Security Groups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09721-8F57-DA97-4FA9-27A51B60DDC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111506"/>
            <a:ext cx="8639175" cy="3659187"/>
          </a:xfrm>
        </p:spPr>
        <p:txBody>
          <a:bodyPr/>
          <a:lstStyle/>
          <a:p>
            <a:r>
              <a:rPr lang="en-US" dirty="0"/>
              <a:t>A powerful feature of security groups is the ability to </a:t>
            </a:r>
            <a:r>
              <a:rPr lang="en-US" b="1" dirty="0"/>
              <a:t>reference other security groups</a:t>
            </a:r>
            <a:r>
              <a:rPr lang="en-US" dirty="0"/>
              <a:t> instead of IP addresses.</a:t>
            </a:r>
          </a:p>
          <a:p>
            <a:endParaRPr lang="en-US" dirty="0"/>
          </a:p>
          <a:p>
            <a:r>
              <a:rPr lang="en-US" b="1" dirty="0"/>
              <a:t>Example Scenario</a:t>
            </a:r>
            <a:r>
              <a:rPr lang="en-US" dirty="0"/>
              <a:t>:</a:t>
            </a:r>
          </a:p>
          <a:p>
            <a:r>
              <a:rPr lang="en-US" dirty="0"/>
              <a:t>Web tier security group allows inbound traffic from load balancer security group</a:t>
            </a:r>
          </a:p>
          <a:p>
            <a:r>
              <a:rPr lang="en-US" dirty="0"/>
              <a:t>Application tier allows traffic only from web tier</a:t>
            </a:r>
          </a:p>
          <a:p>
            <a:r>
              <a:rPr lang="en-US" dirty="0"/>
              <a:t>Database tier allows traffic only from application tier</a:t>
            </a:r>
          </a:p>
          <a:p>
            <a:endParaRPr lang="en-US" dirty="0"/>
          </a:p>
          <a:p>
            <a:r>
              <a:rPr lang="en-US" dirty="0"/>
              <a:t>This enables </a:t>
            </a:r>
            <a:r>
              <a:rPr lang="en-US" b="1" dirty="0"/>
              <a:t>dynamic, identity‑based network security</a:t>
            </a:r>
            <a:r>
              <a:rPr lang="en-US" dirty="0"/>
              <a:t>.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B10041FA-E50D-AA8D-1E66-6632A3B4F88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45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C3C76-71EA-5899-6C78-06085C47D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E3B66EC0-C94B-9668-E460-CD1CA4E83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441"/>
            <a:ext cx="8639175" cy="646331"/>
          </a:xfrm>
        </p:spPr>
        <p:txBody>
          <a:bodyPr/>
          <a:lstStyle/>
          <a:p>
            <a:r>
              <a:rPr lang="en-US" dirty="0"/>
              <a:t>Security Groups vs Network ACLs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82B03FBC-E13E-0825-90DA-125AAD149D9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60F270-8435-4686-0D9A-36C97BBC010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b="1" dirty="0"/>
              <a:t>Feature		Security Groups	Network ACLs</a:t>
            </a:r>
          </a:p>
          <a:p>
            <a:pPr marL="0" indent="0">
              <a:buNone/>
            </a:pPr>
            <a:r>
              <a:rPr lang="en-US" dirty="0"/>
              <a:t>	Scope			Resource‑level		Subnet‑level</a:t>
            </a:r>
          </a:p>
          <a:p>
            <a:pPr marL="0" indent="0">
              <a:buNone/>
            </a:pPr>
            <a:r>
              <a:rPr lang="en-US" dirty="0"/>
              <a:t>	State			Stateful				Stateless</a:t>
            </a:r>
          </a:p>
          <a:p>
            <a:pPr marL="0" indent="0">
              <a:buNone/>
            </a:pPr>
            <a:r>
              <a:rPr lang="en-US" dirty="0"/>
              <a:t>	Rules			Allow only				Allow and deny</a:t>
            </a:r>
          </a:p>
          <a:p>
            <a:pPr marL="0" indent="0">
              <a:buNone/>
            </a:pPr>
            <a:r>
              <a:rPr lang="en-US" dirty="0"/>
              <a:t>	Evaluation	All rules together	Ordered rules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030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F6A3A-9B0C-7EDC-BFCB-4347CFE72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C8E0AAF8-6BE4-1785-F9A9-2B15EA721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13219"/>
            <a:ext cx="8639175" cy="584775"/>
          </a:xfrm>
        </p:spPr>
        <p:txBody>
          <a:bodyPr/>
          <a:lstStyle/>
          <a:p>
            <a:r>
              <a:rPr lang="en-US" sz="3200" dirty="0"/>
              <a:t>Common Misconfigurations and Risks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07515-0931-0FB1-062E-BC3CFC7F095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r>
              <a:rPr lang="en-US" dirty="0"/>
              <a:t>Allowing 0.0.0.0/0 on administrative ports (SSH, RDP)</a:t>
            </a:r>
          </a:p>
          <a:p>
            <a:r>
              <a:rPr lang="en-US" dirty="0"/>
              <a:t>Overly permissive outbound rules</a:t>
            </a:r>
          </a:p>
          <a:p>
            <a:r>
              <a:rPr lang="en-US" dirty="0"/>
              <a:t>Reusing security groups across unrelated workloads</a:t>
            </a:r>
          </a:p>
          <a:p>
            <a:r>
              <a:rPr lang="en-US" dirty="0"/>
              <a:t>Lack of documentation and naming standards</a:t>
            </a:r>
          </a:p>
          <a:p>
            <a:pPr fontAlgn="ctr">
              <a:defRPr/>
            </a:pP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6B59BCBC-0171-3F4F-22C2-15AABBDE6B2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904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24BCA-60E6-70F4-CFC8-9CE9062C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480197FE-3D1B-F5B6-5E02-F3495BAF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13219"/>
            <a:ext cx="8639175" cy="584775"/>
          </a:xfrm>
        </p:spPr>
        <p:txBody>
          <a:bodyPr/>
          <a:lstStyle/>
          <a:p>
            <a:r>
              <a:rPr lang="en-US" sz="3200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E277B-1BE2-9FEB-7EC1-3519E94558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pPr lvl="0"/>
            <a:r>
              <a:rPr lang="en-US" dirty="0"/>
              <a:t>Start with deny‑all inbound rules</a:t>
            </a:r>
          </a:p>
          <a:p>
            <a:pPr lvl="0"/>
            <a:r>
              <a:rPr lang="en-US" dirty="0"/>
              <a:t>Restrict administrative access by IP and role</a:t>
            </a:r>
          </a:p>
          <a:p>
            <a:pPr lvl="0"/>
            <a:r>
              <a:rPr lang="en-US" dirty="0"/>
              <a:t>Use security group references instead of CIDRs</a:t>
            </a:r>
          </a:p>
          <a:p>
            <a:pPr lvl="0"/>
            <a:r>
              <a:rPr lang="en-US" dirty="0"/>
              <a:t>Apply least privilege to outbound traffic</a:t>
            </a:r>
          </a:p>
          <a:p>
            <a:r>
              <a:rPr lang="en-US" dirty="0"/>
              <a:t>Regularly audit and review rules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5C3CBBFE-1DF5-3B15-88B6-1E3372611E3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34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8DEBE-B1AD-B6CF-1841-0939CAFF7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44365-596F-218C-CD6F-9166D99E22B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2413" y="3024188"/>
            <a:ext cx="8639175" cy="947737"/>
          </a:xfrm>
        </p:spPr>
        <p:txBody>
          <a:bodyPr/>
          <a:lstStyle/>
          <a:p>
            <a:pPr marL="0" indent="0" algn="ctr">
              <a:buFont typeface="Wingdings" pitchFamily="2" charset="2"/>
              <a:buNone/>
              <a:defRPr/>
            </a:pPr>
            <a:r>
              <a:rPr lang="en-US" altLang="en-US" sz="3600" b="1" dirty="0">
                <a:solidFill>
                  <a:srgbClr val="9D1023"/>
                </a:solidFill>
                <a:ea typeface="ＭＳ Ｐゴシック" panose="020B0600070205080204" pitchFamily="34" charset="-128"/>
              </a:rPr>
              <a:t>Identity and Access Management (IAM)</a:t>
            </a:r>
            <a:endParaRPr lang="en-US" dirty="0"/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735E030-21FE-07A6-EF9B-B220A0DBD39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9A3B704-604D-457A-B723-EE6C2CFBF45F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6027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BD8A9-5333-2532-0E2C-648CA55CA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36A5F208-822F-CC13-D986-C9477CC7F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13219"/>
            <a:ext cx="8639175" cy="584775"/>
          </a:xfrm>
        </p:spPr>
        <p:txBody>
          <a:bodyPr/>
          <a:lstStyle/>
          <a:p>
            <a:r>
              <a:rPr lang="en-US" sz="3200" dirty="0"/>
              <a:t>Identity and Access Management (IAM)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3B4CE-2D20-DFC5-CD2B-3FC827549E9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pPr fontAlgn="ctr">
              <a:defRPr/>
            </a:pPr>
            <a:r>
              <a:rPr lang="en-US" dirty="0"/>
              <a:t>IAM is the cornerstone of cloud security and effectively replaces the traditional network perimeter. </a:t>
            </a:r>
          </a:p>
          <a:p>
            <a:pPr fontAlgn="ctr">
              <a:defRPr/>
            </a:pPr>
            <a:r>
              <a:rPr lang="en-US" dirty="0"/>
              <a:t>In cloud environments, </a:t>
            </a:r>
            <a:r>
              <a:rPr lang="en-US" b="1" dirty="0"/>
              <a:t>identity becomes the new security boundary</a:t>
            </a:r>
            <a:r>
              <a:rPr lang="en-US" dirty="0"/>
              <a:t>, governing access to all resources through centrally managed policies.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437DB83D-9CDA-FBE4-0129-9D480766D4D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910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48946-1556-571E-C763-357688DD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72C24731-27CB-378C-0B44-416EBF01E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441"/>
            <a:ext cx="8639175" cy="646331"/>
          </a:xfrm>
        </p:spPr>
        <p:txBody>
          <a:bodyPr/>
          <a:lstStyle/>
          <a:p>
            <a:r>
              <a:rPr lang="en-US" dirty="0"/>
              <a:t>Fundamental Concepts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6A1CD-A2DA-58B8-9E4F-93AF4EF910B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150834"/>
            <a:ext cx="8639175" cy="3659187"/>
          </a:xfrm>
        </p:spPr>
        <p:txBody>
          <a:bodyPr/>
          <a:lstStyle/>
          <a:p>
            <a:r>
              <a:rPr lang="en-US" b="1" dirty="0"/>
              <a:t>Identity</a:t>
            </a:r>
            <a:r>
              <a:rPr lang="en-US" dirty="0"/>
              <a:t>: A uniquely identifiable entity that can authenticate and be authorized (human users, applications, virtual machines, containers, serverless functions).</a:t>
            </a:r>
          </a:p>
          <a:p>
            <a:endParaRPr lang="en-US" b="1" dirty="0"/>
          </a:p>
          <a:p>
            <a:r>
              <a:rPr lang="en-US" b="1" dirty="0"/>
              <a:t>Authentication (AuthN)</a:t>
            </a:r>
            <a:r>
              <a:rPr lang="en-US" dirty="0"/>
              <a:t>: The process of verifying an identity (passwords, certificates, tokens, MFA).</a:t>
            </a:r>
          </a:p>
          <a:p>
            <a:endParaRPr lang="en-US" b="1" dirty="0"/>
          </a:p>
          <a:p>
            <a:r>
              <a:rPr lang="en-US" b="1" dirty="0"/>
              <a:t>Authorization (</a:t>
            </a:r>
            <a:r>
              <a:rPr lang="en-US" b="1" dirty="0" err="1"/>
              <a:t>AuthZ</a:t>
            </a:r>
            <a:r>
              <a:rPr lang="en-US" b="1" dirty="0"/>
              <a:t>)</a:t>
            </a:r>
            <a:r>
              <a:rPr lang="en-US" dirty="0"/>
              <a:t>: The process of determining what an authenticated identity is allowed to do.</a:t>
            </a:r>
          </a:p>
          <a:p>
            <a:endParaRPr lang="en-US" b="1" dirty="0"/>
          </a:p>
          <a:p>
            <a:r>
              <a:rPr lang="en-US" b="1" dirty="0"/>
              <a:t>Accounting/Auditing</a:t>
            </a:r>
            <a:r>
              <a:rPr lang="en-US" dirty="0"/>
              <a:t>: Recording actions for traceability and compliance.</a:t>
            </a:r>
          </a:p>
          <a:p>
            <a:pPr fontAlgn="ctr">
              <a:defRPr/>
            </a:pP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A08D9050-FE91-129F-DEE4-F987997064A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5097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77B15-87D4-9390-8CDE-2CBBB5246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7786F521-0943-61A3-BF6D-2D1F345CA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Identities in the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2C4C6-6FA2-1815-D3D0-52707369157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993523"/>
            <a:ext cx="8639175" cy="3659187"/>
          </a:xfrm>
        </p:spPr>
        <p:txBody>
          <a:bodyPr/>
          <a:lstStyle/>
          <a:p>
            <a:r>
              <a:rPr lang="en-US" b="1" dirty="0"/>
              <a:t>Human Identities</a:t>
            </a:r>
            <a:r>
              <a:rPr lang="en-US" dirty="0"/>
              <a:t>:</a:t>
            </a:r>
          </a:p>
          <a:p>
            <a:r>
              <a:rPr lang="en-US" dirty="0"/>
              <a:t>Administrators</a:t>
            </a:r>
          </a:p>
          <a:p>
            <a:r>
              <a:rPr lang="en-US" dirty="0"/>
              <a:t>Developers</a:t>
            </a:r>
          </a:p>
          <a:p>
            <a:r>
              <a:rPr lang="en-US" dirty="0"/>
              <a:t>End users</a:t>
            </a:r>
          </a:p>
          <a:p>
            <a:endParaRPr lang="en-US" b="1" dirty="0"/>
          </a:p>
          <a:p>
            <a:r>
              <a:rPr lang="en-US" b="1" dirty="0"/>
              <a:t>Non‑Human (Machine) Identities</a:t>
            </a:r>
            <a:r>
              <a:rPr lang="en-US" dirty="0"/>
              <a:t>:</a:t>
            </a:r>
          </a:p>
          <a:p>
            <a:r>
              <a:rPr lang="en-US" dirty="0"/>
              <a:t>Virtual machines and instances</a:t>
            </a:r>
          </a:p>
          <a:p>
            <a:r>
              <a:rPr lang="en-US" dirty="0"/>
              <a:t>Containers and Kubernetes service accounts</a:t>
            </a:r>
          </a:p>
          <a:p>
            <a:r>
              <a:rPr lang="en-US" dirty="0"/>
              <a:t>Serverless functions</a:t>
            </a:r>
          </a:p>
          <a:p>
            <a:r>
              <a:rPr lang="en-US" dirty="0"/>
              <a:t>CI/CD pipelines and automation tools</a:t>
            </a:r>
          </a:p>
          <a:p>
            <a:endParaRPr lang="en-US" dirty="0"/>
          </a:p>
          <a:p>
            <a:r>
              <a:rPr lang="en-US" dirty="0"/>
              <a:t>Modern cloud breaches often involve </a:t>
            </a:r>
            <a:r>
              <a:rPr lang="en-US" b="1" dirty="0"/>
              <a:t>compromised machine identities</a:t>
            </a:r>
            <a:r>
              <a:rPr lang="en-US" dirty="0"/>
              <a:t>, not human users.</a:t>
            </a:r>
          </a:p>
          <a:p>
            <a:pPr fontAlgn="ctr">
              <a:defRPr/>
            </a:pP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344EDBF7-C945-23EC-3CBC-0E285350420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9979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D207A-C674-EF1C-6F39-91FB849D7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573847AF-BE6C-EF0F-03BD-F7CAFD430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6B7F3-A1A3-30A3-0BC9-E1E71637BD0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072177"/>
            <a:ext cx="8639175" cy="3659187"/>
          </a:xfrm>
        </p:spPr>
        <p:txBody>
          <a:bodyPr/>
          <a:lstStyle/>
          <a:p>
            <a:r>
              <a:rPr lang="en-US" b="1" dirty="0"/>
              <a:t>Role‑Based Access Control (RBAC)</a:t>
            </a:r>
            <a:r>
              <a:rPr lang="en-US" dirty="0"/>
              <a:t>:</a:t>
            </a:r>
          </a:p>
          <a:p>
            <a:r>
              <a:rPr lang="en-US" dirty="0"/>
              <a:t>Permissions grouped into roles</a:t>
            </a:r>
          </a:p>
          <a:p>
            <a:r>
              <a:rPr lang="en-US" dirty="0"/>
              <a:t>Roles assigned to identities</a:t>
            </a:r>
          </a:p>
          <a:p>
            <a:r>
              <a:rPr lang="en-US" dirty="0"/>
              <a:t>Widely used in Kubernetes and cloud IAM</a:t>
            </a:r>
          </a:p>
          <a:p>
            <a:endParaRPr lang="en-US" b="1" dirty="0"/>
          </a:p>
          <a:p>
            <a:r>
              <a:rPr lang="en-US" b="1" dirty="0"/>
              <a:t>Attribute‑Based Access Control (ABAC)</a:t>
            </a:r>
            <a:r>
              <a:rPr lang="en-US" dirty="0"/>
              <a:t>:</a:t>
            </a:r>
          </a:p>
          <a:p>
            <a:r>
              <a:rPr lang="en-US" dirty="0"/>
              <a:t>Decisions based on attributes (user, resource, environment)</a:t>
            </a:r>
          </a:p>
          <a:p>
            <a:r>
              <a:rPr lang="en-US" dirty="0"/>
              <a:t>More flexible but complex</a:t>
            </a:r>
          </a:p>
          <a:p>
            <a:endParaRPr lang="en-US" b="1" dirty="0"/>
          </a:p>
          <a:p>
            <a:r>
              <a:rPr lang="en-US" b="1" dirty="0"/>
              <a:t>Policy‑Based Access Control</a:t>
            </a:r>
            <a:r>
              <a:rPr lang="en-US" dirty="0"/>
              <a:t>:</a:t>
            </a:r>
          </a:p>
          <a:p>
            <a:r>
              <a:rPr lang="en-US" dirty="0"/>
              <a:t>JSON/YAML policies evaluated by an authorization engine</a:t>
            </a:r>
          </a:p>
          <a:p>
            <a:r>
              <a:rPr lang="en-US" dirty="0"/>
              <a:t>Explicit allow and implicit deny logic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4797898B-E070-896D-051E-A31BAA232D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641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A086D-C2FE-E6D0-1AC4-2D5C500A1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89E639AB-EB42-4663-3860-C066523BE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441"/>
            <a:ext cx="8639175" cy="646331"/>
          </a:xfrm>
        </p:spPr>
        <p:txBody>
          <a:bodyPr/>
          <a:lstStyle/>
          <a:p>
            <a:r>
              <a:rPr lang="en-US" dirty="0"/>
              <a:t>IAM Threats and Attack Vectors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C2A0E-D994-A6DF-B80F-8AC13D6EA3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141003"/>
            <a:ext cx="8639175" cy="3659187"/>
          </a:xfrm>
        </p:spPr>
        <p:txBody>
          <a:bodyPr/>
          <a:lstStyle/>
          <a:p>
            <a:r>
              <a:rPr lang="en-US" dirty="0"/>
              <a:t>Credential leakage</a:t>
            </a:r>
          </a:p>
          <a:p>
            <a:r>
              <a:rPr lang="en-US" dirty="0"/>
              <a:t>Privilege escalation</a:t>
            </a:r>
          </a:p>
          <a:p>
            <a:r>
              <a:rPr lang="en-US" dirty="0"/>
              <a:t>Lateral movement</a:t>
            </a:r>
          </a:p>
          <a:p>
            <a:r>
              <a:rPr lang="en-US" dirty="0"/>
              <a:t>Token theft</a:t>
            </a:r>
          </a:p>
          <a:p>
            <a:pPr fontAlgn="ctr">
              <a:defRPr/>
            </a:pP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38834F6B-03D4-7D31-639F-159EE07C54B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682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7E0E8-6687-295A-27CC-E99950460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14671E19-0647-5E0E-D6A3-C1095B567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441"/>
            <a:ext cx="8639175" cy="646331"/>
          </a:xfrm>
        </p:spPr>
        <p:txBody>
          <a:bodyPr/>
          <a:lstStyle/>
          <a:p>
            <a:r>
              <a:rPr lang="en-US" dirty="0"/>
              <a:t>IAM Best Practices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4C4BC-6871-66C8-644F-A22AE08197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141003"/>
            <a:ext cx="8639175" cy="3659187"/>
          </a:xfrm>
        </p:spPr>
        <p:txBody>
          <a:bodyPr/>
          <a:lstStyle/>
          <a:p>
            <a:pPr lvl="0"/>
            <a:r>
              <a:rPr lang="en-US" dirty="0"/>
              <a:t>Enforce MFA everywhere</a:t>
            </a:r>
          </a:p>
          <a:p>
            <a:pPr lvl="0"/>
            <a:r>
              <a:rPr lang="en-US" dirty="0"/>
              <a:t>Use roles instead of static credentials</a:t>
            </a:r>
          </a:p>
          <a:p>
            <a:pPr lvl="0"/>
            <a:r>
              <a:rPr lang="en-US" dirty="0"/>
              <a:t>Apply least privilege by default</a:t>
            </a:r>
          </a:p>
          <a:p>
            <a:pPr lvl="0"/>
            <a:r>
              <a:rPr lang="en-US" dirty="0"/>
              <a:t>Monitor and audit IAM activity</a:t>
            </a:r>
          </a:p>
          <a:p>
            <a:pPr lvl="0"/>
            <a:r>
              <a:rPr lang="en-US" dirty="0"/>
              <a:t>Automate identity lifecycle management</a:t>
            </a:r>
          </a:p>
          <a:p>
            <a:pPr fontAlgn="ctr">
              <a:defRPr/>
            </a:pP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FF2EB30E-2271-5BFB-D259-B0B2EC92414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2292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4F6DE-AF30-25A3-938C-432FE8D8C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1959D-B915-88E8-2010-51DBF0CAD71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2413" y="3024188"/>
            <a:ext cx="8639175" cy="947737"/>
          </a:xfrm>
        </p:spPr>
        <p:txBody>
          <a:bodyPr/>
          <a:lstStyle/>
          <a:p>
            <a:pPr marL="0" indent="0" algn="ctr">
              <a:buFont typeface="Wingdings" pitchFamily="2" charset="2"/>
              <a:buNone/>
              <a:defRPr/>
            </a:pPr>
            <a:r>
              <a:rPr lang="en-US" altLang="en-US" sz="3600" b="1" dirty="0">
                <a:solidFill>
                  <a:srgbClr val="9D1023"/>
                </a:solidFill>
                <a:ea typeface="ＭＳ Ｐゴシック" panose="020B0600070205080204" pitchFamily="34" charset="-128"/>
              </a:rPr>
              <a:t>Data privacy compliance </a:t>
            </a:r>
            <a:endParaRPr lang="en-US" dirty="0"/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834715B2-8093-9066-D2F0-1C2B0C5B529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9A3B704-604D-457A-B723-EE6C2CFBF45F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5018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D114F-F6CA-7B76-C596-C9B6F125D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70FB0922-E205-E0A7-4CED-8C2C596CF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39079-FDCB-CDDA-370F-995827DB9ED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r>
              <a:rPr lang="en-US" dirty="0"/>
              <a:t>Data privacy compliance is a critical aspect of cloud security, especially in environments that process personal, sensitive, or regulated data. </a:t>
            </a:r>
          </a:p>
          <a:p>
            <a:endParaRPr lang="en-US" dirty="0"/>
          </a:p>
          <a:p>
            <a:r>
              <a:rPr lang="en-US" dirty="0"/>
              <a:t>This topic should be done at the intersection of </a:t>
            </a:r>
            <a:r>
              <a:rPr lang="en-US" b="1" dirty="0"/>
              <a:t>law, technology, and architecture</a:t>
            </a:r>
            <a:r>
              <a:rPr lang="en-US" dirty="0"/>
              <a:t>.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135BEAF0-F137-ABFF-00D0-ED7C27D1070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7002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32994-4042-6E31-4D87-6447CDE26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BB117A35-5AEF-D293-8F92-D40BA0476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Privacy vs Data Security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DE835-AD6B-6CB0-217F-33A422B8106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pPr lvl="0"/>
            <a:r>
              <a:rPr lang="en-US" b="1" dirty="0"/>
              <a:t>Data Security</a:t>
            </a:r>
            <a:r>
              <a:rPr lang="en-US" dirty="0"/>
              <a:t>: Technical and organizational controls that protect data from unauthorized access, breaches, and loss.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Data Privacy</a:t>
            </a:r>
            <a:r>
              <a:rPr lang="en-US" dirty="0"/>
              <a:t>: Legal and ethical rules governing how personal data is collected, processed, stored, shared, and retained.</a:t>
            </a:r>
          </a:p>
          <a:p>
            <a:endParaRPr lang="en-US" dirty="0"/>
          </a:p>
          <a:p>
            <a:r>
              <a:rPr lang="en-US" i="1" dirty="0"/>
              <a:t>Security is a prerequisite for privacy, but security alone does not guarantee compliance.</a:t>
            </a: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C504CB18-42FA-E530-6603-BEAB2AD89E1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582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2A90B-0DBD-20A4-C8F3-84563C94D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69E2D51-9636-8E98-322A-1C9C411C8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13219"/>
            <a:ext cx="8639175" cy="584775"/>
          </a:xfrm>
        </p:spPr>
        <p:txBody>
          <a:bodyPr/>
          <a:lstStyle/>
          <a:p>
            <a:r>
              <a:rPr lang="en-US" sz="3200" dirty="0"/>
              <a:t>Personal Data and Data Classification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35128-8E50-B98D-F00E-71375D76224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599" y="855870"/>
            <a:ext cx="8639175" cy="3659187"/>
          </a:xfrm>
        </p:spPr>
        <p:txBody>
          <a:bodyPr/>
          <a:lstStyle/>
          <a:p>
            <a:r>
              <a:rPr lang="en-US" b="1" dirty="0"/>
              <a:t>Types of Data</a:t>
            </a:r>
          </a:p>
          <a:p>
            <a:pPr lvl="0"/>
            <a:r>
              <a:rPr lang="en-US" b="1" dirty="0"/>
              <a:t>Personal Data</a:t>
            </a:r>
            <a:r>
              <a:rPr lang="en-US" dirty="0"/>
              <a:t>: Any data that can identify an individual directly or indirectly (name, email, IP address).</a:t>
            </a:r>
          </a:p>
          <a:p>
            <a:pPr lvl="0"/>
            <a:r>
              <a:rPr lang="en-US" b="1" dirty="0"/>
              <a:t>Sensitive Personal Data</a:t>
            </a:r>
            <a:r>
              <a:rPr lang="en-US" dirty="0"/>
              <a:t>: Health data, biometric data, financial data.</a:t>
            </a:r>
          </a:p>
          <a:p>
            <a:pPr lvl="0"/>
            <a:r>
              <a:rPr lang="en-US" b="1" dirty="0"/>
              <a:t>Regulated Data</a:t>
            </a:r>
            <a:r>
              <a:rPr lang="en-US" dirty="0"/>
              <a:t>: Data subject to specific legal frameworks (payment data, medical records).</a:t>
            </a:r>
          </a:p>
          <a:p>
            <a:endParaRPr lang="en-US" b="1" i="1" dirty="0"/>
          </a:p>
          <a:p>
            <a:r>
              <a:rPr lang="en-US" b="1" dirty="0"/>
              <a:t>Data Classification in the Cloud</a:t>
            </a:r>
          </a:p>
          <a:p>
            <a:r>
              <a:rPr lang="en-US" dirty="0"/>
              <a:t>Common classification levels: - Public - Internal - Confidential - Restricted / Regulated</a:t>
            </a:r>
          </a:p>
          <a:p>
            <a:endParaRPr lang="en-US" dirty="0"/>
          </a:p>
          <a:p>
            <a:r>
              <a:rPr lang="en-US" dirty="0"/>
              <a:t>Therefore, classification drives encryption, access control, logging, and residency decisions.</a:t>
            </a:r>
          </a:p>
          <a:p>
            <a:pPr fontAlgn="ctr">
              <a:defRPr/>
            </a:pP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D7863814-18E2-385A-D8E1-C2839D4F0E2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85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F2B7F-4750-F165-47CF-62524B48C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15537D09-94B5-98EE-271C-51672D2F8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43996"/>
            <a:ext cx="8639175" cy="523220"/>
          </a:xfrm>
        </p:spPr>
        <p:txBody>
          <a:bodyPr/>
          <a:lstStyle/>
          <a:p>
            <a:r>
              <a:rPr lang="en-US" sz="2800" dirty="0"/>
              <a:t>Cloud Provider and Customer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9FA40-2239-CF63-9952-A2F2979AD13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599" y="1111507"/>
            <a:ext cx="8639175" cy="3659187"/>
          </a:xfrm>
        </p:spPr>
        <p:txBody>
          <a:bodyPr/>
          <a:lstStyle/>
          <a:p>
            <a:r>
              <a:rPr lang="en-US" dirty="0"/>
              <a:t>Under the shared responsibility model:</a:t>
            </a:r>
          </a:p>
          <a:p>
            <a:pPr lvl="0"/>
            <a:r>
              <a:rPr lang="en-US" b="1" dirty="0"/>
              <a:t>Cloud Provider</a:t>
            </a:r>
            <a:r>
              <a:rPr lang="en-US" dirty="0"/>
              <a:t> ensures compliant infrastructure and certifications</a:t>
            </a:r>
          </a:p>
          <a:p>
            <a:pPr lvl="0"/>
            <a:r>
              <a:rPr lang="en-US" b="1" dirty="0"/>
              <a:t>Customer</a:t>
            </a:r>
            <a:r>
              <a:rPr lang="en-US" dirty="0"/>
              <a:t> ensures compliant data usage, access, and processing</a:t>
            </a:r>
          </a:p>
          <a:p>
            <a:endParaRPr lang="en-US" dirty="0"/>
          </a:p>
          <a:p>
            <a:r>
              <a:rPr lang="en-US" dirty="0"/>
              <a:t>Compliance failures are almost always on the customer side.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2887FE23-ED07-BE3E-6169-EB724016C58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2324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BB559-FECD-8406-9E4F-0DEDF8305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A2920970-3B2D-8353-8470-50A897CE1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43996"/>
            <a:ext cx="8639175" cy="523220"/>
          </a:xfrm>
        </p:spPr>
        <p:txBody>
          <a:bodyPr/>
          <a:lstStyle/>
          <a:p>
            <a:r>
              <a:rPr lang="en-US" sz="2800" dirty="0"/>
              <a:t>Privacy‑by‑Design and Privacy‑by‑Default</a:t>
            </a:r>
            <a:endParaRPr lang="en-US" altLang="en-US" sz="2800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B84A-DFDB-DBF3-2788-6974B3A9F6E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r>
              <a:rPr lang="en-US" b="1" dirty="0"/>
              <a:t>Privacy‑by‑Design Principles</a:t>
            </a:r>
          </a:p>
          <a:p>
            <a:pPr lvl="0"/>
            <a:r>
              <a:rPr lang="en-US" dirty="0"/>
              <a:t>Proactive not reactive</a:t>
            </a:r>
          </a:p>
          <a:p>
            <a:pPr lvl="0"/>
            <a:r>
              <a:rPr lang="en-US" dirty="0"/>
              <a:t>Embedded into architecture</a:t>
            </a:r>
          </a:p>
          <a:p>
            <a:pPr lvl="0"/>
            <a:r>
              <a:rPr lang="en-US" dirty="0"/>
              <a:t>End‑to‑end security</a:t>
            </a:r>
          </a:p>
          <a:p>
            <a:endParaRPr lang="en-US" b="1" dirty="0"/>
          </a:p>
          <a:p>
            <a:r>
              <a:rPr lang="en-US" b="1" dirty="0"/>
              <a:t>Privacy‑by‑Default</a:t>
            </a:r>
          </a:p>
          <a:p>
            <a:pPr lvl="0"/>
            <a:r>
              <a:rPr lang="en-US" dirty="0"/>
              <a:t>Minimal data collection</a:t>
            </a:r>
          </a:p>
          <a:p>
            <a:pPr lvl="0"/>
            <a:r>
              <a:rPr lang="en-US" dirty="0"/>
              <a:t>Restricted access by default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B5F3EC35-4582-B755-5DE7-2070C4A34B4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3916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10EB0-DC48-FE36-04C1-91EF780EC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9FA3A9D6-5AE7-58BD-26EE-13DB84522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43996"/>
            <a:ext cx="8639175" cy="523220"/>
          </a:xfrm>
        </p:spPr>
        <p:txBody>
          <a:bodyPr/>
          <a:lstStyle/>
          <a:p>
            <a:r>
              <a:rPr lang="en-US" sz="2800" dirty="0"/>
              <a:t>Compliance Automation and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94233-B3E8-EC6C-9721-99F15A105A8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599" y="1150835"/>
            <a:ext cx="8639175" cy="3659187"/>
          </a:xfrm>
        </p:spPr>
        <p:txBody>
          <a:bodyPr/>
          <a:lstStyle/>
          <a:p>
            <a:r>
              <a:rPr lang="en-US" b="1" dirty="0"/>
              <a:t>Governance Mechanisms</a:t>
            </a:r>
          </a:p>
          <a:p>
            <a:pPr lvl="0"/>
            <a:r>
              <a:rPr lang="en-US" dirty="0"/>
              <a:t>Policy as Code</a:t>
            </a:r>
          </a:p>
          <a:p>
            <a:pPr lvl="0"/>
            <a:r>
              <a:rPr lang="en-US" dirty="0"/>
              <a:t>Automated compliance checks</a:t>
            </a:r>
          </a:p>
          <a:p>
            <a:pPr lvl="0"/>
            <a:r>
              <a:rPr lang="en-US" dirty="0"/>
              <a:t>Configuration baselines</a:t>
            </a:r>
          </a:p>
          <a:p>
            <a:endParaRPr lang="en-US" b="1" dirty="0"/>
          </a:p>
          <a:p>
            <a:r>
              <a:rPr lang="en-US" b="1" dirty="0"/>
              <a:t>Continuous Compliance</a:t>
            </a:r>
          </a:p>
          <a:p>
            <a:pPr lvl="0"/>
            <a:r>
              <a:rPr lang="en-US" dirty="0"/>
              <a:t>Real‑time posture monitoring</a:t>
            </a:r>
          </a:p>
          <a:p>
            <a:pPr lvl="0"/>
            <a:r>
              <a:rPr lang="en-US" dirty="0"/>
              <a:t>Drift detection</a:t>
            </a:r>
          </a:p>
          <a:p>
            <a:pPr lvl="0"/>
            <a:r>
              <a:rPr lang="en-US" dirty="0"/>
              <a:t>Evidence collection</a:t>
            </a:r>
          </a:p>
          <a:p>
            <a:endParaRPr lang="en-US" dirty="0"/>
          </a:p>
          <a:p>
            <a:r>
              <a:rPr lang="en-US" dirty="0"/>
              <a:t>Cloud compliance is </a:t>
            </a:r>
            <a:r>
              <a:rPr lang="en-US" b="1" dirty="0"/>
              <a:t>continuous</a:t>
            </a:r>
            <a:r>
              <a:rPr lang="en-US" dirty="0"/>
              <a:t>, not audit‑driven.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DC2E870B-D801-FE67-C833-9A4192D18B4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0464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69F40-6632-1C2B-7B88-C688EF198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610E95D7-58B8-27F8-F415-1E53137CD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194558"/>
            <a:ext cx="8846574" cy="1200329"/>
          </a:xfrm>
        </p:spPr>
        <p:txBody>
          <a:bodyPr/>
          <a:lstStyle/>
          <a:p>
            <a:r>
              <a:rPr lang="en-US" dirty="0"/>
              <a:t>Privacy Risks and Common Violations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9FF99-76F6-DFE8-C4C5-9C345B48E04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pPr lvl="0"/>
            <a:r>
              <a:rPr lang="en-US" dirty="0"/>
              <a:t>Over‑collection of personal data</a:t>
            </a:r>
          </a:p>
          <a:p>
            <a:pPr lvl="0"/>
            <a:r>
              <a:rPr lang="en-US" dirty="0"/>
              <a:t>Excessive data retention</a:t>
            </a:r>
          </a:p>
          <a:p>
            <a:pPr lvl="0"/>
            <a:r>
              <a:rPr lang="en-US" dirty="0"/>
              <a:t>Unrestricted internal access</a:t>
            </a:r>
          </a:p>
          <a:p>
            <a:pPr lvl="0"/>
            <a:r>
              <a:rPr lang="en-US" dirty="0"/>
              <a:t>Cross‑border data transfer without safeguards</a:t>
            </a:r>
          </a:p>
          <a:p>
            <a:r>
              <a:rPr lang="en-US" dirty="0"/>
              <a:t>Teaching emphasis: many violations occur without any external attacker.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09966A93-BC30-EC32-26E6-2F53A3DDE17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1783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F1EFE-B270-6BC1-9519-E212D3B69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98C65C66-C4FC-085C-CBA6-165E2BABC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441"/>
            <a:ext cx="8639175" cy="646331"/>
          </a:xfrm>
        </p:spPr>
        <p:txBody>
          <a:bodyPr/>
          <a:lstStyle/>
          <a:p>
            <a:r>
              <a:rPr lang="en-US" dirty="0"/>
              <a:t>Data Privacy Best Practices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9F60B-D598-6B39-9123-C126FFC1814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pPr lvl="0"/>
            <a:r>
              <a:rPr lang="en-US" dirty="0"/>
              <a:t>Strong IAM and least privilege</a:t>
            </a:r>
          </a:p>
          <a:p>
            <a:pPr lvl="0"/>
            <a:r>
              <a:rPr lang="en-US" dirty="0"/>
              <a:t>Encryption at rest and in transit</a:t>
            </a:r>
          </a:p>
          <a:p>
            <a:pPr lvl="0"/>
            <a:r>
              <a:rPr lang="en-US" dirty="0"/>
              <a:t>Tokenization and anonymization</a:t>
            </a:r>
          </a:p>
          <a:p>
            <a:pPr lvl="0"/>
            <a:r>
              <a:rPr lang="en-US" dirty="0"/>
              <a:t>Logging and audit trails</a:t>
            </a:r>
          </a:p>
          <a:p>
            <a:pPr lvl="0"/>
            <a:r>
              <a:rPr lang="en-US" dirty="0"/>
              <a:t>Data loss prevention (DLP)</a:t>
            </a:r>
          </a:p>
          <a:p>
            <a:r>
              <a:rPr lang="en-US" dirty="0"/>
              <a:t>Map each technical control to regulatory requirements.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3EBD0291-C011-78C7-FC5E-8E38EBF4E54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5654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0B90A-9063-1DD4-75C1-CCCECAEEA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23D5-A660-0E32-A540-7570FBE5C9B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2413" y="3024188"/>
            <a:ext cx="8639175" cy="947737"/>
          </a:xfrm>
        </p:spPr>
        <p:txBody>
          <a:bodyPr/>
          <a:lstStyle/>
          <a:p>
            <a:pPr marL="0" indent="0" algn="ctr">
              <a:buFont typeface="Wingdings" pitchFamily="2" charset="2"/>
              <a:buNone/>
              <a:defRPr/>
            </a:pPr>
            <a:r>
              <a:rPr lang="en-US" altLang="en-US" sz="3600" b="1" dirty="0">
                <a:solidFill>
                  <a:srgbClr val="9D1023"/>
                </a:solidFill>
                <a:ea typeface="ＭＳ Ｐゴシック" panose="020B0600070205080204" pitchFamily="34" charset="-128"/>
              </a:rPr>
              <a:t>Data Residency</a:t>
            </a:r>
            <a:endParaRPr lang="en-US" dirty="0"/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C4DAFC15-2DC4-6572-BB74-34044691386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9A3B704-604D-457A-B723-EE6C2CFBF45F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60763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A2C04-37D5-FEC2-71C5-E13F3B543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984A8D0B-5390-7A1D-E88A-B0709E4BB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441"/>
            <a:ext cx="8639175" cy="646331"/>
          </a:xfrm>
        </p:spPr>
        <p:txBody>
          <a:bodyPr/>
          <a:lstStyle/>
          <a:p>
            <a:r>
              <a:rPr lang="en-US" dirty="0"/>
              <a:t>Data Residency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3F586-5D0B-746D-74C6-79015C2DC64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r>
              <a:rPr lang="en-US" b="1" dirty="0"/>
              <a:t>Data residency</a:t>
            </a:r>
            <a:r>
              <a:rPr lang="en-US" dirty="0"/>
              <a:t> refers to the </a:t>
            </a:r>
            <a:r>
              <a:rPr lang="en-US" b="1" dirty="0"/>
              <a:t>geographical location where data is physically stored and processed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In cloud computing, this means the specific </a:t>
            </a:r>
            <a:r>
              <a:rPr lang="en-US" b="1" dirty="0"/>
              <a:t>country or region</a:t>
            </a:r>
            <a:r>
              <a:rPr lang="en-US" dirty="0"/>
              <a:t> in which a cloud service provider (CSP) stores customer data in its data centers.</a:t>
            </a:r>
          </a:p>
          <a:p>
            <a:endParaRPr lang="en-US" dirty="0"/>
          </a:p>
          <a:p>
            <a:r>
              <a:rPr lang="en-US" dirty="0"/>
              <a:t>Data residency is distinct from:</a:t>
            </a:r>
          </a:p>
          <a:p>
            <a:r>
              <a:rPr lang="en-US" b="1" dirty="0"/>
              <a:t>Data sovereignty</a:t>
            </a:r>
            <a:r>
              <a:rPr lang="en-US" dirty="0"/>
              <a:t>: Legal authority of a country over data.</a:t>
            </a:r>
          </a:p>
          <a:p>
            <a:r>
              <a:rPr lang="en-US" b="1" dirty="0"/>
              <a:t>Data localization</a:t>
            </a:r>
            <a:r>
              <a:rPr lang="en-US" dirty="0"/>
              <a:t>: Mandatory requirement that data must remain within a country.</a:t>
            </a:r>
          </a:p>
          <a:p>
            <a:pPr fontAlgn="ctr">
              <a:defRPr/>
            </a:pP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5A933082-08DD-443C-F2AD-6074D2AE55C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2256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F7F3B-3E75-7921-835F-F3B2E12B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BFD2D701-CD0D-7AB7-40B2-9E2F4ECAF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441"/>
            <a:ext cx="8639175" cy="646331"/>
          </a:xfrm>
        </p:spPr>
        <p:txBody>
          <a:bodyPr/>
          <a:lstStyle/>
          <a:p>
            <a:r>
              <a:rPr lang="en-US" dirty="0"/>
              <a:t>Legal and Regulatory Compliance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2B120-BD09-BDF0-F78F-0C6AC7DFECF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091842"/>
            <a:ext cx="8639175" cy="3659187"/>
          </a:xfrm>
        </p:spPr>
        <p:txBody>
          <a:bodyPr/>
          <a:lstStyle/>
          <a:p>
            <a:r>
              <a:rPr lang="en-US" dirty="0"/>
              <a:t>Many laws require certain categories of data to remain within national borders: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GDPR (EU)</a:t>
            </a:r>
            <a:r>
              <a:rPr lang="en-US" dirty="0"/>
              <a:t> – personal data transfer restrictions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HIPAA (USA)</a:t>
            </a:r>
            <a:r>
              <a:rPr lang="en-US" dirty="0"/>
              <a:t> – healthcare data protections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PCI DSS</a:t>
            </a:r>
            <a:r>
              <a:rPr lang="en-US" dirty="0"/>
              <a:t> – payment card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Banking and financial regulations</a:t>
            </a:r>
            <a:r>
              <a:rPr lang="en-US" dirty="0"/>
              <a:t> – customer and transaction data</a:t>
            </a:r>
          </a:p>
          <a:p>
            <a:endParaRPr lang="en-US" dirty="0"/>
          </a:p>
          <a:p>
            <a:r>
              <a:rPr lang="en-US" dirty="0"/>
              <a:t>Failure to comply may result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Regulatory fines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Loss of certifications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Service suspension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Legal liability</a:t>
            </a:r>
          </a:p>
          <a:p>
            <a:pPr fontAlgn="ctr">
              <a:defRPr/>
            </a:pP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93E9D72E-72EF-60C3-F180-3A58449A754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1381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BE24-ABC5-F704-37DA-9A5C7893F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30B90847-86E5-C78F-4619-450AA1220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441"/>
            <a:ext cx="8639175" cy="646331"/>
          </a:xfrm>
        </p:spPr>
        <p:txBody>
          <a:bodyPr/>
          <a:lstStyle/>
          <a:p>
            <a:r>
              <a:rPr lang="en-US" dirty="0"/>
              <a:t>Data Privacy and User Trust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6D56D-9B0D-022A-AE01-10FF1F4D32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r>
              <a:rPr lang="en-US" dirty="0"/>
              <a:t>Data residency ensures:</a:t>
            </a:r>
          </a:p>
          <a:p>
            <a:r>
              <a:rPr lang="en-US" dirty="0"/>
              <a:t>Compliance with local privacy laws</a:t>
            </a:r>
          </a:p>
          <a:p>
            <a:r>
              <a:rPr lang="en-US" dirty="0"/>
              <a:t>Reduced exposure to foreign surveillance laws</a:t>
            </a:r>
          </a:p>
          <a:p>
            <a:r>
              <a:rPr lang="en-US" dirty="0"/>
              <a:t>Increased trust for citizens and enterprises</a:t>
            </a:r>
          </a:p>
          <a:p>
            <a:endParaRPr lang="en-US" dirty="0"/>
          </a:p>
          <a:p>
            <a:r>
              <a:rPr lang="en-US" dirty="0"/>
              <a:t>Example: EU customers often require assurance that their personal data never leaves the EU.</a:t>
            </a:r>
          </a:p>
          <a:p>
            <a:pPr fontAlgn="ctr">
              <a:defRPr/>
            </a:pP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5632F6BE-30F6-DB9A-91F2-05F90E983E0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6187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0C14F-745F-A3E5-5ABF-454A75276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E01BC665-4937-DAAE-F4DC-9018E4D12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441"/>
            <a:ext cx="8639175" cy="646331"/>
          </a:xfrm>
        </p:spPr>
        <p:txBody>
          <a:bodyPr/>
          <a:lstStyle/>
          <a:p>
            <a:r>
              <a:rPr lang="en-US" dirty="0"/>
              <a:t>Jurisdiction and Government Access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BF04A-F30F-267F-C9FA-1DA36C2A999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r>
              <a:rPr lang="en-US" dirty="0"/>
              <a:t>When data is stored in a country:</a:t>
            </a:r>
          </a:p>
          <a:p>
            <a:r>
              <a:rPr lang="en-US" dirty="0"/>
              <a:t>It is subject to </a:t>
            </a:r>
            <a:r>
              <a:rPr lang="en-US" b="1" dirty="0"/>
              <a:t>local laws</a:t>
            </a:r>
            <a:endParaRPr lang="en-US" dirty="0"/>
          </a:p>
          <a:p>
            <a:r>
              <a:rPr lang="en-US" dirty="0"/>
              <a:t>Governments may request access through lawful processes</a:t>
            </a:r>
          </a:p>
          <a:p>
            <a:endParaRPr lang="en-US" dirty="0"/>
          </a:p>
          <a:p>
            <a:r>
              <a:rPr lang="en-US" dirty="0"/>
              <a:t>Example: </a:t>
            </a:r>
            <a:r>
              <a:rPr lang="en-US" b="1" dirty="0"/>
              <a:t>US CLOUD Act</a:t>
            </a:r>
            <a:r>
              <a:rPr lang="en-US" dirty="0"/>
              <a:t> allows U.S. authorities to request access to data from U.S.-based providers, even if stored abroad.</a:t>
            </a:r>
          </a:p>
          <a:p>
            <a:pPr fontAlgn="ctr">
              <a:defRPr/>
            </a:pP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C80F8C47-C560-F834-D76D-B6CBA95991E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346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7CD05-2833-6C89-CB67-D32BAFD76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EC765961-351D-185E-FFEA-601C91C3A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7" y="-194558"/>
            <a:ext cx="9082548" cy="1200329"/>
          </a:xfrm>
        </p:spPr>
        <p:txBody>
          <a:bodyPr/>
          <a:lstStyle/>
          <a:p>
            <a:r>
              <a:rPr lang="en-US" dirty="0"/>
              <a:t>Data Residency in Cloud Architectures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5CD18-8D66-1D5B-9044-58FEDEB8A24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016065"/>
            <a:ext cx="8639175" cy="3659187"/>
          </a:xfrm>
        </p:spPr>
        <p:txBody>
          <a:bodyPr/>
          <a:lstStyle/>
          <a:p>
            <a:r>
              <a:rPr lang="en-US" b="1" dirty="0"/>
              <a:t>Cloud Regions and Availability Zones</a:t>
            </a:r>
          </a:p>
          <a:p>
            <a:r>
              <a:rPr lang="en-US" dirty="0"/>
              <a:t>Cloud providers divide infrastructure into:</a:t>
            </a:r>
          </a:p>
          <a:p>
            <a:pPr lvl="1"/>
            <a:r>
              <a:rPr lang="en-US" sz="2400" b="1" dirty="0"/>
              <a:t>Regions</a:t>
            </a:r>
            <a:r>
              <a:rPr lang="en-US" sz="2400" dirty="0"/>
              <a:t> (e.g., EU-West, US-East)</a:t>
            </a:r>
          </a:p>
          <a:p>
            <a:pPr lvl="1"/>
            <a:r>
              <a:rPr lang="en-US" sz="2400" b="1" dirty="0"/>
              <a:t>Availability Zones</a:t>
            </a:r>
            <a:r>
              <a:rPr lang="en-US" sz="2400" dirty="0"/>
              <a:t> (isolated data centers within a region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Key principle: Data remains within the selected region unless explicitly moved.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8873660B-3690-7D58-9BC4-1AABDA00DA7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1959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A21D7-ACF3-FC23-A6A3-7082B642F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DE63FCFE-B134-A99D-324B-EB99AD534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87" y="-194558"/>
            <a:ext cx="9082548" cy="1200329"/>
          </a:xfrm>
        </p:spPr>
        <p:txBody>
          <a:bodyPr/>
          <a:lstStyle/>
          <a:p>
            <a:r>
              <a:rPr lang="en-US" dirty="0"/>
              <a:t>Data Residency in Cloud Architectures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1AE8F-91EB-939C-1880-4B2374BEB3D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084889"/>
            <a:ext cx="8639175" cy="3659187"/>
          </a:xfrm>
        </p:spPr>
        <p:txBody>
          <a:bodyPr/>
          <a:lstStyle/>
          <a:p>
            <a:r>
              <a:rPr lang="en-US" b="1" dirty="0"/>
              <a:t>Multi-Region and Global Services</a:t>
            </a:r>
          </a:p>
          <a:p>
            <a:r>
              <a:rPr lang="en-US" dirty="0"/>
              <a:t>Some cloud services are </a:t>
            </a:r>
            <a:r>
              <a:rPr lang="en-US" b="1" dirty="0"/>
              <a:t>global by default</a:t>
            </a:r>
            <a:r>
              <a:rPr lang="en-US" dirty="0"/>
              <a:t>:</a:t>
            </a:r>
          </a:p>
          <a:p>
            <a:pPr lvl="1"/>
            <a:r>
              <a:rPr lang="en-US" sz="2400" dirty="0"/>
              <a:t>Identity services</a:t>
            </a:r>
          </a:p>
          <a:p>
            <a:pPr lvl="1"/>
            <a:r>
              <a:rPr lang="en-US" sz="2400" dirty="0"/>
              <a:t>DNS</a:t>
            </a:r>
          </a:p>
          <a:p>
            <a:pPr lvl="1"/>
            <a:r>
              <a:rPr lang="en-US" sz="2400" dirty="0"/>
              <a:t>Content Delivery Networks (CDNs)</a:t>
            </a:r>
          </a:p>
          <a:p>
            <a:pPr lvl="1"/>
            <a:r>
              <a:rPr lang="en-US" sz="2400" dirty="0"/>
              <a:t>Monitoring and logging services</a:t>
            </a:r>
          </a:p>
          <a:p>
            <a:endParaRPr lang="en-US" dirty="0"/>
          </a:p>
          <a:p>
            <a:r>
              <a:rPr lang="en-US" dirty="0"/>
              <a:t>Risk: Metadata or logs may cross borders unintentionally.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EC15712D-55C4-3A60-6B98-5EE05F4CAB7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8437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8BA7A-8CBC-B734-B4CF-1F28E0F67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E8895C5A-5BBA-87FA-DED7-346A33F59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441"/>
            <a:ext cx="8639175" cy="646331"/>
          </a:xfrm>
        </p:spPr>
        <p:txBody>
          <a:bodyPr/>
          <a:lstStyle/>
          <a:p>
            <a:r>
              <a:rPr lang="en-US" dirty="0"/>
              <a:t>Risks and Challenges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BB07B-22BB-8979-D4CE-71D675F6A3B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r>
              <a:rPr lang="en-US" b="1" dirty="0"/>
              <a:t>Operational Complexity</a:t>
            </a:r>
          </a:p>
          <a:p>
            <a:r>
              <a:rPr lang="en-US" dirty="0"/>
              <a:t>Limited region choices</a:t>
            </a:r>
          </a:p>
          <a:p>
            <a:r>
              <a:rPr lang="en-US" dirty="0"/>
              <a:t>Higher latency for global users</a:t>
            </a:r>
          </a:p>
          <a:p>
            <a:r>
              <a:rPr lang="en-US" dirty="0"/>
              <a:t>Increased cost for regional redundancy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Misconfiguration Risks</a:t>
            </a:r>
          </a:p>
          <a:p>
            <a:r>
              <a:rPr lang="en-US" dirty="0"/>
              <a:t>Cross-region logging</a:t>
            </a:r>
          </a:p>
          <a:p>
            <a:r>
              <a:rPr lang="en-US" dirty="0"/>
              <a:t>Global identity services storing metadata</a:t>
            </a:r>
          </a:p>
          <a:p>
            <a:r>
              <a:rPr lang="en-US" dirty="0"/>
              <a:t>Third-party SaaS integrations violating residency rules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1E8BECD6-F857-4464-E4D3-AFC431C4388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6849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FF026-D24A-BF7B-10DB-32C48A586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94AEF6D2-1D7F-A7BD-8004-4A36B5161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441"/>
            <a:ext cx="8639175" cy="646331"/>
          </a:xfrm>
        </p:spPr>
        <p:txBody>
          <a:bodyPr/>
          <a:lstStyle/>
          <a:p>
            <a:r>
              <a:rPr lang="en-US" dirty="0"/>
              <a:t>Data Residency Best Practices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594C1-CAD7-B9AB-B369-260433702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688715"/>
            <a:ext cx="8639175" cy="3659187"/>
          </a:xfrm>
        </p:spPr>
        <p:txBody>
          <a:bodyPr/>
          <a:lstStyle/>
          <a:p>
            <a:r>
              <a:rPr lang="en-US" dirty="0"/>
              <a:t>Select compliant cloud regions early</a:t>
            </a:r>
          </a:p>
          <a:p>
            <a:r>
              <a:rPr lang="en-US" dirty="0"/>
              <a:t>Understand regulatory obligations</a:t>
            </a:r>
          </a:p>
          <a:p>
            <a:r>
              <a:rPr lang="en-US" dirty="0"/>
              <a:t>Restrict cross-border data flows</a:t>
            </a:r>
          </a:p>
          <a:p>
            <a:r>
              <a:rPr lang="en-US" dirty="0"/>
              <a:t>Use encryption and key residency</a:t>
            </a:r>
          </a:p>
          <a:p>
            <a:r>
              <a:rPr lang="en-US" dirty="0"/>
              <a:t>Monitor and audit continuously</a:t>
            </a:r>
          </a:p>
          <a:p>
            <a:r>
              <a:rPr lang="en-US" dirty="0"/>
              <a:t>Educate development teams</a:t>
            </a:r>
          </a:p>
          <a:p>
            <a:r>
              <a:rPr lang="en-US" dirty="0"/>
              <a:t>Review CSP compliance reports</a:t>
            </a:r>
          </a:p>
          <a:p>
            <a:r>
              <a:rPr lang="en-US" dirty="0"/>
              <a:t>Track data flows</a:t>
            </a:r>
          </a:p>
          <a:p>
            <a:r>
              <a:rPr lang="en-US" dirty="0"/>
              <a:t>Maintain data location documentation</a:t>
            </a:r>
          </a:p>
          <a:p>
            <a:endParaRPr lang="en-US" sz="1100" dirty="0"/>
          </a:p>
          <a:p>
            <a:r>
              <a:rPr lang="en-US" b="1" dirty="0"/>
              <a:t>Tools</a:t>
            </a:r>
            <a:r>
              <a:rPr lang="en-US" dirty="0"/>
              <a:t>:</a:t>
            </a:r>
          </a:p>
          <a:p>
            <a:pPr lvl="1"/>
            <a:r>
              <a:rPr lang="en-US" sz="2400" dirty="0"/>
              <a:t>Cloud security posture management (CSPM)</a:t>
            </a:r>
          </a:p>
          <a:p>
            <a:pPr lvl="1"/>
            <a:r>
              <a:rPr lang="en-US" sz="2400" dirty="0"/>
              <a:t>Data loss prevention (DLP)</a:t>
            </a:r>
          </a:p>
          <a:p>
            <a:pPr lvl="1"/>
            <a:r>
              <a:rPr lang="en-US" sz="2400" dirty="0"/>
              <a:t>Cloud audit logs</a:t>
            </a:r>
          </a:p>
          <a:p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67A62CD1-0F81-C76E-8EF1-F039E590EB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3447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596A5-156B-EDBE-1505-194AAE768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9F48C-B473-D382-8AC5-4FD72473CD0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2413" y="3024188"/>
            <a:ext cx="8639175" cy="947737"/>
          </a:xfrm>
        </p:spPr>
        <p:txBody>
          <a:bodyPr/>
          <a:lstStyle/>
          <a:p>
            <a:pPr marL="0" indent="0" algn="ctr">
              <a:buFont typeface="Wingdings" pitchFamily="2" charset="2"/>
              <a:buNone/>
              <a:defRPr/>
            </a:pPr>
            <a:r>
              <a:rPr lang="en-US" altLang="en-US" sz="3600" b="1" dirty="0">
                <a:solidFill>
                  <a:srgbClr val="9D1023"/>
                </a:solidFill>
                <a:ea typeface="ＭＳ Ｐゴシック" panose="020B0600070205080204" pitchFamily="34" charset="-128"/>
              </a:rPr>
              <a:t>Key Management</a:t>
            </a:r>
            <a:endParaRPr lang="en-US" dirty="0"/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81F2CD8A-7170-7904-2966-C72754BE5E3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9A3B704-604D-457A-B723-EE6C2CFBF45F}" type="slidenum">
              <a:rPr lang="en-US" altLang="en-US" smtClean="0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55196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E0B86-5E59-B97B-3AF5-E6E545321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D461D190-9C0A-22EE-4BD4-FD6C5EC4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3DFBA-84AC-CED1-5967-B1E00FCCC5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r>
              <a:rPr lang="en-US" b="1" dirty="0"/>
              <a:t>Key Management</a:t>
            </a:r>
            <a:r>
              <a:rPr lang="en-US" dirty="0"/>
              <a:t> refers to the </a:t>
            </a:r>
            <a:r>
              <a:rPr lang="en-US" b="1" dirty="0"/>
              <a:t>secure generation, storage, distribution, rotation, use, and destruction of cryptographic keys</a:t>
            </a:r>
            <a:r>
              <a:rPr lang="en-US" dirty="0"/>
              <a:t> used to protect data at rest, in transit, and in use.</a:t>
            </a:r>
          </a:p>
          <a:p>
            <a:endParaRPr lang="en-US" dirty="0"/>
          </a:p>
          <a:p>
            <a:r>
              <a:rPr lang="en-US" dirty="0"/>
              <a:t>In cloud environments, key management is typically implemented through </a:t>
            </a:r>
            <a:r>
              <a:rPr lang="en-US" b="1" dirty="0"/>
              <a:t>Key Management Services (KMS)</a:t>
            </a:r>
            <a:r>
              <a:rPr lang="en-US" dirty="0"/>
              <a:t> or </a:t>
            </a:r>
            <a:r>
              <a:rPr lang="en-US" b="1" dirty="0"/>
              <a:t>Hardware Security Modules (HSMs)</a:t>
            </a:r>
            <a:r>
              <a:rPr lang="en-US" dirty="0"/>
              <a:t>.</a:t>
            </a:r>
          </a:p>
          <a:p>
            <a:pPr fontAlgn="ctr">
              <a:defRPr/>
            </a:pP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6A7A9807-DC54-453A-2F84-50AFA42B16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412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31216-48E8-A85D-7B33-802A92FC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95374919-876C-8526-AB5C-302F5AFE3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441"/>
            <a:ext cx="8639175" cy="646331"/>
          </a:xfrm>
        </p:spPr>
        <p:txBody>
          <a:bodyPr/>
          <a:lstStyle/>
          <a:p>
            <a:r>
              <a:rPr lang="en-US" dirty="0"/>
              <a:t>Types of Cryptographic Keys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E623A-9809-E555-DDE6-78592E14CFB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091842"/>
            <a:ext cx="8639175" cy="3659187"/>
          </a:xfrm>
        </p:spPr>
        <p:txBody>
          <a:bodyPr/>
          <a:lstStyle/>
          <a:p>
            <a:r>
              <a:rPr lang="en-US" b="1" dirty="0"/>
              <a:t>1 Symmetric Keys</a:t>
            </a:r>
          </a:p>
          <a:p>
            <a:r>
              <a:rPr lang="en-US" dirty="0"/>
              <a:t>Same key for encryption and decryption</a:t>
            </a:r>
          </a:p>
          <a:p>
            <a:r>
              <a:rPr lang="en-US" dirty="0"/>
              <a:t>High performance</a:t>
            </a:r>
          </a:p>
          <a:p>
            <a:r>
              <a:rPr lang="en-US" dirty="0"/>
              <a:t>Used for data encryption (AES)</a:t>
            </a:r>
          </a:p>
          <a:p>
            <a:endParaRPr lang="en-US" b="1" dirty="0"/>
          </a:p>
          <a:p>
            <a:r>
              <a:rPr lang="en-US" b="1" dirty="0"/>
              <a:t>2 Asymmetric Keys</a:t>
            </a:r>
          </a:p>
          <a:p>
            <a:r>
              <a:rPr lang="en-US" dirty="0"/>
              <a:t>Public/private key pairs</a:t>
            </a:r>
          </a:p>
          <a:p>
            <a:r>
              <a:rPr lang="en-US" dirty="0"/>
              <a:t>Used for identity, TLS, digital signatures</a:t>
            </a:r>
          </a:p>
          <a:p>
            <a:r>
              <a:rPr lang="en-US" dirty="0"/>
              <a:t>Slower but more flexible</a:t>
            </a:r>
          </a:p>
          <a:p>
            <a:endParaRPr lang="en-US" b="1" dirty="0"/>
          </a:p>
          <a:p>
            <a:r>
              <a:rPr lang="en-US" b="1" dirty="0"/>
              <a:t>3 Data Encryption Keys (DEK) vs Key Encryption Keys (KEK)</a:t>
            </a:r>
          </a:p>
          <a:p>
            <a:pPr fontAlgn="ctr">
              <a:defRPr/>
            </a:pPr>
            <a:endParaRPr lang="en-US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29AF219A-D3DA-24E3-6824-55C89165C4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8128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65A2C-5127-84D0-CB25-2BD6ED370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DE039BAB-2D16-8AFD-F48F-72B78A57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441"/>
            <a:ext cx="8639175" cy="646331"/>
          </a:xfrm>
        </p:spPr>
        <p:txBody>
          <a:bodyPr/>
          <a:lstStyle/>
          <a:p>
            <a:r>
              <a:rPr lang="en-US" dirty="0"/>
              <a:t>Key Management Lifecycle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9058C-1265-7CEF-37E6-E65FEEC1DF0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219663"/>
            <a:ext cx="8639175" cy="365918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 Key Generation</a:t>
            </a:r>
          </a:p>
          <a:p>
            <a:r>
              <a:rPr lang="en-US" dirty="0"/>
              <a:t>Keys generated by CSP or customer</a:t>
            </a:r>
          </a:p>
          <a:p>
            <a:r>
              <a:rPr lang="en-US" dirty="0"/>
              <a:t>Should use strong entropy sources</a:t>
            </a:r>
          </a:p>
          <a:p>
            <a:r>
              <a:rPr lang="en-US" dirty="0"/>
              <a:t>FIPS 140-2/3 compliant algorithms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2. Key Storage</a:t>
            </a:r>
          </a:p>
          <a:p>
            <a:r>
              <a:rPr lang="en-US" dirty="0"/>
              <a:t>Stored in:</a:t>
            </a:r>
          </a:p>
          <a:p>
            <a:pPr lvl="1"/>
            <a:r>
              <a:rPr lang="en-US" sz="2400" dirty="0"/>
              <a:t>Cloud KMS</a:t>
            </a:r>
          </a:p>
          <a:p>
            <a:pPr lvl="1"/>
            <a:r>
              <a:rPr lang="en-US" sz="2400" dirty="0"/>
              <a:t>Dedicated HSMs</a:t>
            </a:r>
          </a:p>
          <a:p>
            <a:r>
              <a:rPr lang="en-US" dirty="0"/>
              <a:t>Keys never exposed in plaintext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70656D2B-6B69-2186-CA7F-9404EF218D0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3412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4F598-33F8-A77F-AC2C-28A3853BE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9BFC3933-27AC-7651-0620-55381DE22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441"/>
            <a:ext cx="8639175" cy="646331"/>
          </a:xfrm>
        </p:spPr>
        <p:txBody>
          <a:bodyPr/>
          <a:lstStyle/>
          <a:p>
            <a:r>
              <a:rPr lang="en-US" dirty="0"/>
              <a:t>Key Management Lifecycle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22431-B717-A89D-CB35-80705F3490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3. Key Usage</a:t>
            </a:r>
          </a:p>
          <a:p>
            <a:r>
              <a:rPr lang="en-US" dirty="0"/>
              <a:t>Keys used via APIs</a:t>
            </a:r>
          </a:p>
          <a:p>
            <a:r>
              <a:rPr lang="en-US" dirty="0"/>
              <a:t>Applications never directly access raw key material</a:t>
            </a:r>
          </a:p>
          <a:p>
            <a:r>
              <a:rPr lang="en-US" dirty="0"/>
              <a:t>Strict access control enforced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4. Key Rotation</a:t>
            </a:r>
          </a:p>
          <a:p>
            <a:r>
              <a:rPr lang="en-US" dirty="0"/>
              <a:t>Periodic replacement of keys</a:t>
            </a:r>
          </a:p>
          <a:p>
            <a:r>
              <a:rPr lang="en-US" dirty="0"/>
              <a:t>Limits impact of key compromise</a:t>
            </a:r>
          </a:p>
          <a:p>
            <a:r>
              <a:rPr lang="en-US" dirty="0"/>
              <a:t>Can be automatic or manual</a:t>
            </a:r>
          </a:p>
          <a:p>
            <a:r>
              <a:rPr lang="en-US" dirty="0"/>
              <a:t>Rotate DEKs frequently</a:t>
            </a:r>
          </a:p>
          <a:p>
            <a:r>
              <a:rPr lang="en-US" dirty="0"/>
              <a:t>Rotate KEKs on a defined schedule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C63A4B32-B868-0E0C-0ABB-3A9563B21E0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2059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03154-7B7E-05F3-BDBD-25D78530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63DCE477-10DA-4E9A-F1BC-4069ABC6F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441"/>
            <a:ext cx="8639175" cy="646331"/>
          </a:xfrm>
        </p:spPr>
        <p:txBody>
          <a:bodyPr/>
          <a:lstStyle/>
          <a:p>
            <a:r>
              <a:rPr lang="en-US" dirty="0"/>
              <a:t>Key Management Lifecycle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E63C5-31A4-6E04-AC31-FF9D306BC17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5. Key Revocation and Deletion</a:t>
            </a:r>
          </a:p>
          <a:p>
            <a:r>
              <a:rPr lang="en-US" dirty="0"/>
              <a:t>Immediate disablement in case of compromise</a:t>
            </a:r>
          </a:p>
          <a:p>
            <a:r>
              <a:rPr lang="en-US" dirty="0"/>
              <a:t>Secure destruction</a:t>
            </a:r>
          </a:p>
          <a:p>
            <a:r>
              <a:rPr lang="en-US" dirty="0"/>
              <a:t>Irreversible once deleted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C27FC8F5-6A58-00B9-5977-F39D2863372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754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17CAA-338C-25D0-4BE9-0BF656667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F96545D6-2C01-9270-2D00-1C1CD9DFB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43" y="-194558"/>
            <a:ext cx="9043219" cy="1200329"/>
          </a:xfrm>
        </p:spPr>
        <p:txBody>
          <a:bodyPr/>
          <a:lstStyle/>
          <a:p>
            <a:r>
              <a:rPr lang="en-US" dirty="0"/>
              <a:t>Common Risks and Misconfigurations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19687-6FC1-2B8A-E122-CB9ABB2756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r>
              <a:rPr lang="en-US" dirty="0"/>
              <a:t>Over-privileged access to keys</a:t>
            </a:r>
          </a:p>
          <a:p>
            <a:r>
              <a:rPr lang="en-US" dirty="0"/>
              <a:t>Keys shared across environments</a:t>
            </a:r>
          </a:p>
          <a:p>
            <a:r>
              <a:rPr lang="en-US" dirty="0"/>
              <a:t>No rotation policy</a:t>
            </a:r>
          </a:p>
          <a:p>
            <a:r>
              <a:rPr lang="en-US" dirty="0"/>
              <a:t>Storing keys in application code</a:t>
            </a:r>
          </a:p>
          <a:p>
            <a:r>
              <a:rPr lang="en-US" dirty="0"/>
              <a:t>Using global KMS for regulated data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AF69EF0A-C87F-5540-E4B7-496FF96A45C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1037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8B789-07F7-6107-D963-035CA592C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8FDE5194-BF09-E81D-1642-1BF5020D8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2441"/>
            <a:ext cx="8639175" cy="646331"/>
          </a:xfrm>
        </p:spPr>
        <p:txBody>
          <a:bodyPr/>
          <a:lstStyle/>
          <a:p>
            <a:r>
              <a:rPr lang="en-US" dirty="0"/>
              <a:t>Key Management Best Practices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FEBC8-1373-CAEF-E3AB-2131AA5DCB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357313"/>
            <a:ext cx="8639175" cy="3659187"/>
          </a:xfrm>
        </p:spPr>
        <p:txBody>
          <a:bodyPr/>
          <a:lstStyle/>
          <a:p>
            <a:r>
              <a:rPr lang="en-US" dirty="0"/>
              <a:t>Use envelope encryption</a:t>
            </a:r>
          </a:p>
          <a:p>
            <a:r>
              <a:rPr lang="en-US" dirty="0"/>
              <a:t>Prefer customer-managed keys for sensitive data</a:t>
            </a:r>
          </a:p>
          <a:p>
            <a:r>
              <a:rPr lang="en-US" dirty="0"/>
              <a:t>Store keys in the same region as data</a:t>
            </a:r>
          </a:p>
          <a:p>
            <a:r>
              <a:rPr lang="en-US" dirty="0"/>
              <a:t>Enforce least privilege and MFA</a:t>
            </a:r>
          </a:p>
          <a:p>
            <a:r>
              <a:rPr lang="en-US" dirty="0"/>
              <a:t>Rotate and audit keys regularly</a:t>
            </a:r>
          </a:p>
          <a:p>
            <a:r>
              <a:rPr lang="en-US" dirty="0"/>
              <a:t>Use HSM-backed keys for high-risk workloads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8E49DEE8-9F98-D51D-E37B-D5509E09047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B52C2-3224-4121-85DA-5B4AB68CE114}" type="slidenum"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819803"/>
      </p:ext>
    </p:extLst>
  </p:cSld>
  <p:clrMapOvr>
    <a:masterClrMapping/>
  </p:clrMapOvr>
</p:sld>
</file>

<file path=ppt/theme/theme1.xml><?xml version="1.0" encoding="utf-8"?>
<a:theme xmlns:a="http://schemas.openxmlformats.org/drawingml/2006/main" name="2_architecture slides ">
  <a:themeElements>
    <a:clrScheme name="Custom 2">
      <a:dk1>
        <a:sysClr val="windowText" lastClr="000000"/>
      </a:dk1>
      <a:lt1>
        <a:sysClr val="window" lastClr="FFFFFF"/>
      </a:lt1>
      <a:dk2>
        <a:srgbClr val="D1162E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3057</TotalTime>
  <Words>2248</Words>
  <Application>Microsoft Office PowerPoint</Application>
  <PresentationFormat>On-screen Show (4:3)</PresentationFormat>
  <Paragraphs>428</Paragraphs>
  <Slides>53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ＭＳ Ｐゴシック</vt:lpstr>
      <vt:lpstr>Aptos</vt:lpstr>
      <vt:lpstr>Arial</vt:lpstr>
      <vt:lpstr>Calibri</vt:lpstr>
      <vt:lpstr>Tahoma</vt:lpstr>
      <vt:lpstr>Times New Roman</vt:lpstr>
      <vt:lpstr>Wingdings</vt:lpstr>
      <vt:lpstr>2_architecture slides </vt:lpstr>
      <vt:lpstr>PowerPoint Presentation</vt:lpstr>
      <vt:lpstr>Course Grading</vt:lpstr>
      <vt:lpstr>Course Contents</vt:lpstr>
      <vt:lpstr>PowerPoint Presentation</vt:lpstr>
      <vt:lpstr>Content</vt:lpstr>
      <vt:lpstr>PowerPoint Presentation</vt:lpstr>
      <vt:lpstr>Introduction</vt:lpstr>
      <vt:lpstr>Core Security Objectives (CIA Triad)</vt:lpstr>
      <vt:lpstr>Cloud Service Models and Security Responsibilities</vt:lpstr>
      <vt:lpstr>Cloud Service Models and Security Responsibilities</vt:lpstr>
      <vt:lpstr>Cloud Service Models and Security Responsibilities</vt:lpstr>
      <vt:lpstr>PowerPoint Presentation</vt:lpstr>
      <vt:lpstr>Cloud Network Security</vt:lpstr>
      <vt:lpstr>Security Groups (Virtual Firewalls)</vt:lpstr>
      <vt:lpstr>Core Characteristics of Security Groups</vt:lpstr>
      <vt:lpstr>Inbound and Outbound Rules</vt:lpstr>
      <vt:lpstr>Referencing Security Groups</vt:lpstr>
      <vt:lpstr>Security Groups vs Network ACLs</vt:lpstr>
      <vt:lpstr>Common Misconfigurations and Risks</vt:lpstr>
      <vt:lpstr>Best Practices</vt:lpstr>
      <vt:lpstr>PowerPoint Presentation</vt:lpstr>
      <vt:lpstr>Identity and Access Management (IAM)</vt:lpstr>
      <vt:lpstr>Fundamental Concepts</vt:lpstr>
      <vt:lpstr>Types of Identities in the Cloud</vt:lpstr>
      <vt:lpstr>Access Control Models</vt:lpstr>
      <vt:lpstr>IAM Threats and Attack Vectors</vt:lpstr>
      <vt:lpstr>IAM Best Practices</vt:lpstr>
      <vt:lpstr>PowerPoint Presentation</vt:lpstr>
      <vt:lpstr>Introduction</vt:lpstr>
      <vt:lpstr>Data Privacy vs Data Security</vt:lpstr>
      <vt:lpstr>Personal Data and Data Classification</vt:lpstr>
      <vt:lpstr>Cloud Provider and Customer Responsibilities</vt:lpstr>
      <vt:lpstr>Privacy‑by‑Design and Privacy‑by‑Default</vt:lpstr>
      <vt:lpstr>Compliance Automation and Governance</vt:lpstr>
      <vt:lpstr>Privacy Risks and Common Violations</vt:lpstr>
      <vt:lpstr>Data Privacy Best Practices</vt:lpstr>
      <vt:lpstr>PowerPoint Presentation</vt:lpstr>
      <vt:lpstr>Data Residency</vt:lpstr>
      <vt:lpstr>Legal and Regulatory Compliance</vt:lpstr>
      <vt:lpstr>Data Privacy and User Trust</vt:lpstr>
      <vt:lpstr>Jurisdiction and Government Access</vt:lpstr>
      <vt:lpstr>Data Residency in Cloud Architectures</vt:lpstr>
      <vt:lpstr>Data Residency in Cloud Architectures</vt:lpstr>
      <vt:lpstr>Risks and Challenges</vt:lpstr>
      <vt:lpstr>Data Residency Best Practices</vt:lpstr>
      <vt:lpstr>PowerPoint Presentation</vt:lpstr>
      <vt:lpstr>Introduction</vt:lpstr>
      <vt:lpstr>Types of Cryptographic Keys</vt:lpstr>
      <vt:lpstr>Key Management Lifecycle</vt:lpstr>
      <vt:lpstr>Key Management Lifecycle</vt:lpstr>
      <vt:lpstr>Key Management Lifecycle</vt:lpstr>
      <vt:lpstr>Common Risks and Misconfigurations</vt:lpstr>
      <vt:lpstr>Key Management 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Native Technologies &amp; Architectures</dc:title>
  <dc:subject/>
  <dc:creator>MS</dc:creator>
  <cp:keywords/>
  <dc:description>generated using python-pptx</dc:description>
  <cp:lastModifiedBy>mohamad hamze</cp:lastModifiedBy>
  <cp:revision>105</cp:revision>
  <dcterms:created xsi:type="dcterms:W3CDTF">2013-01-27T09:14:16Z</dcterms:created>
  <dcterms:modified xsi:type="dcterms:W3CDTF">2025-12-14T14:03:27Z</dcterms:modified>
  <cp:category/>
</cp:coreProperties>
</file>