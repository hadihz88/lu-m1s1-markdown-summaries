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anrope Light"/>
      <p:regular r:id="rId14"/>
      <p:bold r:id="rId15"/>
    </p:embeddedFont>
    <p:embeddedFont>
      <p:font typeface="Anton"/>
      <p:regular r:id="rId16"/>
    </p:embeddedFon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  <p:embeddedFont>
      <p:font typeface="Manrope ExtraBold"/>
      <p:bold r:id="rId21"/>
    </p:embeddedFont>
    <p:embeddedFont>
      <p:font typeface="Manrope Medium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bold.fntdata"/><Relationship Id="rId22" Type="http://schemas.openxmlformats.org/officeDocument/2006/relationships/font" Target="fonts/ManropeMedium-regular.fntdata"/><Relationship Id="rId21" Type="http://schemas.openxmlformats.org/officeDocument/2006/relationships/font" Target="fonts/ManropeExtraBold-bold.fntdata"/><Relationship Id="rId23" Type="http://schemas.openxmlformats.org/officeDocument/2006/relationships/font" Target="fonts/Manrope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anropeLight-bold.fntdata"/><Relationship Id="rId14" Type="http://schemas.openxmlformats.org/officeDocument/2006/relationships/font" Target="fonts/ManropeLight-regular.fntdata"/><Relationship Id="rId17" Type="http://schemas.openxmlformats.org/officeDocument/2006/relationships/font" Target="fonts/ManropeSemiBold-regular.fntdata"/><Relationship Id="rId16" Type="http://schemas.openxmlformats.org/officeDocument/2006/relationships/font" Target="fonts/Anton-regular.fntdata"/><Relationship Id="rId19" Type="http://schemas.openxmlformats.org/officeDocument/2006/relationships/font" Target="fonts/Manrope-regular.fntdata"/><Relationship Id="rId18" Type="http://schemas.openxmlformats.org/officeDocument/2006/relationships/font" Target="fonts/Manrope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b039e718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b039e718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b039e718f4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3b039e718f4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b039e718f4_0_1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b039e718f4_0_1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b039e718f4_0_1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b039e718f4_0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b039e718f4_0_1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3b039e718f4_0_1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b039e718f4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3b039e718f4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b039e718f4_0_1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b039e718f4_0_1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b039e718f4_0_1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b039e718f4_0_1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3" name="Google Shape;33;p2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4" name="Google Shape;34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" name="Google Shape;56;p2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7" name="Google Shape;57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" name="Google Shape;79;p2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80" name="Google Shape;80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2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5" name="Google Shape;105;p2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6" name="Google Shape;106;p2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" name="Google Shape;109;p3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1" name="Google Shape;111;p3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14" name="Google Shape;114;p4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15" name="Google Shape;115;p4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4" name="Google Shape;124;p4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4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4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5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31" name="Google Shape;131;p5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40" name="Google Shape;140;p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" name="Google Shape;141;p5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42" name="Google Shape;142;p5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43" name="Google Shape;143;p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4" name="Google Shape;144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5" name="Google Shape;145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6" name="Google Shape;146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7" name="Google Shape;147;p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8" name="Google Shape;148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9" name="Google Shape;149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0" name="Google Shape;150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1" name="Google Shape;151;p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2" name="Google Shape;152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3" name="Google Shape;153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4" name="Google Shape;154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5" name="Google Shape;155;p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56" name="Google Shape;156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" name="Google Shape;157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58" name="Google Shape;158;p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9" name="Google Shape;159;p5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1" name="Google Shape;161;p5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2" name="Google Shape;162;p5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4" name="Google Shape;164;p5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5" name="Google Shape;165;p5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6" name="Google Shape;166;p5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7" name="Google Shape;167;p5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8" name="Google Shape;168;p5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6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2" name="Google Shape;172;p6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" name="Google Shape;173;p6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4" name="Google Shape;174;p6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5" name="Google Shape;175;p6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6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6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85" name="Google Shape;185;p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94" name="Google Shape;194;p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7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96" name="Google Shape;196;p7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97" name="Google Shape;197;p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0" name="Google Shape;200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1" name="Google Shape;201;p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2" name="Google Shape;202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3" name="Google Shape;203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4" name="Google Shape;204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5" name="Google Shape;205;p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6" name="Google Shape;206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7" name="Google Shape;207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8" name="Google Shape;208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9" name="Google Shape;209;p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10" name="Google Shape;210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11" name="Google Shape;211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12" name="Google Shape;212;p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13" name="Google Shape;213;p7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4" name="Google Shape;214;p7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5" name="Google Shape;215;p7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6" name="Google Shape;216;p7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7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7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7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7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7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4" name="Google Shape;224;p8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8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6" name="Google Shape;226;p8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27" name="Google Shape;227;p8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28" name="Google Shape;228;p8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1" name="Google Shape;231;p9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9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" name="Google Shape;233;p9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34" name="Google Shape;234;p9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" name="Google Shape;237;p1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10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9" name="Google Shape;239;p1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41" name="Google Shape;241;p1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44" name="Google Shape;244;p1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53" name="Google Shape;253;p11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p11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55" name="Google Shape;255;p11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56" name="Google Shape;256;p11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7" name="Google Shape;257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8" name="Google Shape;258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9" name="Google Shape;259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0" name="Google Shape;260;p11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1" name="Google Shape;261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4" name="Google Shape;264;p11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5" name="Google Shape;265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6" name="Google Shape;266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7" name="Google Shape;267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8" name="Google Shape;268;p11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69" name="Google Shape;269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70" name="Google Shape;270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71" name="Google Shape;271;p11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72" name="Google Shape;272;p1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276" name="Google Shape;276;p12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277" name="Google Shape;277;p12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278" name="Google Shape;278;p12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9" name="Google Shape;279;p12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0" name="Google Shape;280;p12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2" name="Google Shape;282;p12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12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5" name="Google Shape;285;p12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6" name="Google Shape;286;p12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13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0" name="Google Shape;290;p13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3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2" name="Google Shape;292;p1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96" name="Google Shape;296;p1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3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4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01" name="Google Shape;301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02" name="Google Shape;3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5" name="Google Shape;3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6" name="Google Shape;3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1" name="Google Shape;3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4" name="Google Shape;3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4" name="Google Shape;324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25" name="Google Shape;3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" name="Google Shape;3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" name="Google Shape;3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0" name="Google Shape;3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6" name="Google Shape;3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3" name="Google Shape;3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4" name="Google Shape;3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5" name="Google Shape;3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6" name="Google Shape;3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47" name="Google Shape;347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48" name="Google Shape;348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70" name="Google Shape;370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1" name="Google Shape;371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93" name="Google Shape;393;p1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4" name="Google Shape;394;p1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4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6" name="Google Shape;396;p14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15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399" name="Google Shape;399;p15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15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" name="Google Shape;401;p15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2" name="Google Shape;402;p15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3" name="Google Shape;403;p15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p15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15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" name="Google Shape;406;p15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7" name="Google Shape;407;p15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" name="Google Shape;408;p15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9" name="Google Shape;409;p15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0" name="Google Shape;410;p15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11" name="Google Shape;411;p15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12" name="Google Shape;412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13" name="Google Shape;41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14" name="Google Shape;41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5" name="Google Shape;41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6" name="Google Shape;41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17" name="Google Shape;41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8" name="Google Shape;41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9" name="Google Shape;41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20" name="Google Shape;42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1" name="Google Shape;42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22" name="Google Shape;422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23" name="Google Shape;42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24" name="Google Shape;42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5" name="Google Shape;42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6" name="Google Shape;42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27" name="Google Shape;42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8" name="Google Shape;42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9" name="Google Shape;42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30" name="Google Shape;43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1" name="Google Shape;43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32" name="Google Shape;432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33" name="Google Shape;43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34" name="Google Shape;43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5" name="Google Shape;43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6" name="Google Shape;43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37" name="Google Shape;43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8" name="Google Shape;43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9" name="Google Shape;43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40" name="Google Shape;44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1" name="Google Shape;44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42" name="Google Shape;442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43" name="Google Shape;44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44" name="Google Shape;44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5" name="Google Shape;44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46" name="Google Shape;44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47" name="Google Shape;44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8" name="Google Shape;44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49" name="Google Shape;449;p15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0" name="Google Shape;450;p15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51" name="Google Shape;451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2" name="Google Shape;45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3" name="Google Shape;45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4" name="Google Shape;45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5" name="Google Shape;45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56" name="Google Shape;45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7" name="Google Shape;45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8" name="Google Shape;45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1" name="Google Shape;461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2" name="Google Shape;46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3" name="Google Shape;46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4" name="Google Shape;46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5" name="Google Shape;46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6" name="Google Shape;46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7" name="Google Shape;46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8" name="Google Shape;46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1" name="Google Shape;471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2" name="Google Shape;47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3" name="Google Shape;47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4" name="Google Shape;47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5" name="Google Shape;47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6" name="Google Shape;47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7" name="Google Shape;47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8" name="Google Shape;47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1" name="Google Shape;481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2" name="Google Shape;48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3" name="Google Shape;48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4" name="Google Shape;48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5" name="Google Shape;48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6" name="Google Shape;48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7" name="Google Shape;48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88" name="Google Shape;488;p15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89" name="Google Shape;489;p15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6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492" name="Google Shape;492;p1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493" name="Google Shape;493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7" name="Google Shape;497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8" name="Google Shape;498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9" name="Google Shape;499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1" name="Google Shape;501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2" name="Google Shape;502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3" name="Google Shape;503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5" name="Google Shape;505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4" name="Google Shape;514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15" name="Google Shape;515;p1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16" name="Google Shape;516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2" name="Google Shape;522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3" name="Google Shape;523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4" name="Google Shape;524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5" name="Google Shape;525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6" name="Google Shape;526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7" name="Google Shape;527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38" name="Google Shape;538;p1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39" name="Google Shape;539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1" name="Google Shape;561;p1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2" name="Google Shape;562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84" name="Google Shape;584;p16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5" name="Google Shape;585;p16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16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16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8" name="Google Shape;588;p16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16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16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91" name="Google Shape;591;p16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16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16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16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16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16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16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16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7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01" name="Google Shape;601;p17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17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7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7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7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7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7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17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17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17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17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17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3" name="Google Shape;613;p17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17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7" name="Google Shape;617;p18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8" name="Google Shape;618;p18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19" name="Google Shape;619;p18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0" name="Google Shape;620;p18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1" name="Google Shape;621;p18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2" name="Google Shape;622;p18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18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29" name="Google Shape;629;p18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30" name="Google Shape;630;p18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1" name="Google Shape;631;p18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2" name="Google Shape;632;p18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3" name="Google Shape;633;p18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4" name="Google Shape;634;p18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5" name="Google Shape;635;p18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36" name="Google Shape;636;p1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7" name="Google Shape;637;p18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38" name="Google Shape;638;p18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39" name="Google Shape;639;p1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0" name="Google Shape;640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1" name="Google Shape;641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2" name="Google Shape;642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3" name="Google Shape;643;p1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4" name="Google Shape;644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5" name="Google Shape;645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6" name="Google Shape;646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7" name="Google Shape;647;p1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8" name="Google Shape;648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9" name="Google Shape;649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0" name="Google Shape;650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51" name="Google Shape;651;p1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52" name="Google Shape;652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3" name="Google Shape;653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54" name="Google Shape;654;p1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655" name="Google Shape;655;p18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6" name="Google Shape;656;p18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7" name="Google Shape;657;p18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18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18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p18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p18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9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4" name="Google Shape;664;p19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665" name="Google Shape;665;p19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666" name="Google Shape;666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667" name="Google Shape;66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68" name="Google Shape;66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69" name="Google Shape;66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0" name="Google Shape;67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71" name="Google Shape;67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2" name="Google Shape;67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3" name="Google Shape;67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74" name="Google Shape;67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5" name="Google Shape;67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76" name="Google Shape;676;p19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677" name="Google Shape;67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78" name="Google Shape;67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9" name="Google Shape;67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0" name="Google Shape;68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81" name="Google Shape;68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2" name="Google Shape;68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3" name="Google Shape;68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84" name="Google Shape;68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5" name="Google Shape;68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86" name="Google Shape;686;p19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687" name="Google Shape;68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88" name="Google Shape;68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9" name="Google Shape;68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0" name="Google Shape;69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91" name="Google Shape;69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2" name="Google Shape;69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3" name="Google Shape;69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94" name="Google Shape;69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96" name="Google Shape;696;p19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697" name="Google Shape;69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98" name="Google Shape;69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9" name="Google Shape;69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0" name="Google Shape;70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1" name="Google Shape;70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2" name="Google Shape;70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03" name="Google Shape;703;p19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04" name="Google Shape;704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05" name="Google Shape;70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06" name="Google Shape;70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7" name="Google Shape;70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8" name="Google Shape;70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9" name="Google Shape;70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0" name="Google Shape;71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1" name="Google Shape;711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2" name="Google Shape;712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3" name="Google Shape;713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14" name="Google Shape;714;p19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15" name="Google Shape;71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21" name="Google Shape;721;p19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22" name="Google Shape;722;p19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19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4" name="Google Shape;724;p19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5" name="Google Shape;725;p19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6" name="Google Shape;726;p19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7" name="Google Shape;727;p19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8" name="Google Shape;728;p19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9" name="Google Shape;729;p19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30" name="Google Shape;730;p19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0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36" name="Google Shape;736;p20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37" name="Google Shape;737;p20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8" name="Google Shape;738;p20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39" name="Google Shape;739;p20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40" name="Google Shape;740;p20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1" name="Google Shape;741;p20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2" name="Google Shape;742;p20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3" name="Google Shape;743;p20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4" name="Google Shape;744;p20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5" name="Google Shape;745;p20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6" name="Google Shape;746;p20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7" name="Google Shape;747;p20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8" name="Google Shape;748;p20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9" name="Google Shape;749;p20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0" name="Google Shape;750;p20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1" name="Google Shape;751;p20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2" name="Google Shape;752;p20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20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20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55" name="Google Shape;755;p20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756" name="Google Shape;756;p20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57" name="Google Shape;757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58" name="Google Shape;75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59" name="Google Shape;75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0" name="Google Shape;76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1" name="Google Shape;76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2" name="Google Shape;76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3" name="Google Shape;76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4" name="Google Shape;76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5" name="Google Shape;76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6" name="Google Shape;76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67" name="Google Shape;767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68" name="Google Shape;76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9" name="Google Shape;76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0" name="Google Shape;77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1" name="Google Shape;77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2" name="Google Shape;77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3" name="Google Shape;77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4" name="Google Shape;77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5" name="Google Shape;77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6" name="Google Shape;77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77" name="Google Shape;777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78" name="Google Shape;77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9" name="Google Shape;77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0" name="Google Shape;78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1" name="Google Shape;78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2" name="Google Shape;78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3" name="Google Shape;78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4" name="Google Shape;78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5" name="Google Shape;78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6" name="Google Shape;78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87" name="Google Shape;787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788" name="Google Shape;78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9" name="Google Shape;78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0" name="Google Shape;79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1" name="Google Shape;79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2" name="Google Shape;79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3" name="Google Shape;79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794" name="Google Shape;794;p20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95" name="Google Shape;795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96" name="Google Shape;79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7" name="Google Shape;79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8" name="Google Shape;79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9" name="Google Shape;79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0" name="Google Shape;80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1" name="Google Shape;80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2" name="Google Shape;80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3" name="Google Shape;80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4" name="Google Shape;80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05" name="Google Shape;805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6" name="Google Shape;80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2" name="Google Shape;81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3" name="Google Shape;81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4" name="Google Shape;81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5" name="Google Shape;815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6" name="Google Shape;81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2" name="Google Shape;82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3" name="Google Shape;82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4" name="Google Shape;82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5" name="Google Shape;825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26" name="Google Shape;82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32" name="Google Shape;832;p20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20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4" name="Google Shape;834;p20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5" name="Google Shape;835;p20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6" name="Google Shape;836;p20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7" name="Google Shape;837;p20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8" name="Google Shape;838;p20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39" name="Google Shape;839;p20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0" name="Google Shape;840;p20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41" name="Google Shape;841;p20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2" name="Google Shape;842;p20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oogle Shape;844;p2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45" name="Google Shape;845;p2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6" name="Google Shape;846;p2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7" name="Google Shape;847;p2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" name="Google Shape;848;p2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9" name="Google Shape;849;p2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0" name="Google Shape;850;p2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1" name="Google Shape;851;p2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2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p2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54" name="Google Shape;854;p2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2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856" name="Google Shape;856;p21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7" name="Google Shape;857;p21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58" name="Google Shape;858;p21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9" name="Google Shape;859;p21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0" name="Google Shape;860;p21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1" name="Google Shape;861;p21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2" name="Google Shape;862;p21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3" name="Google Shape;863;p21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4" name="Google Shape;864;p21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5" name="Google Shape;865;p21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6" name="Google Shape;866;p21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7" name="Google Shape;867;p21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2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0" name="Google Shape;870;p22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71" name="Google Shape;871;p22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872" name="Google Shape;872;p22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73" name="Google Shape;873;p22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7" name="Google Shape;877;p2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79" name="Google Shape;879;p2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2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1" name="Google Shape;881;p23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2" name="Google Shape;882;p23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3" name="Google Shape;883;p23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4" name="Google Shape;884;p23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5" name="Google Shape;885;p23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2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88" name="Google Shape;888;p2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9" name="Google Shape;889;p2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0" name="Google Shape;890;p2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2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2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2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2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2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2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897" name="Google Shape;897;p2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8" name="Google Shape;898;p24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899" name="Google Shape;899;p24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00" name="Google Shape;900;p2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1" name="Google Shape;901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2" name="Google Shape;902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3" name="Google Shape;903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4" name="Google Shape;904;p2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5" name="Google Shape;905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6" name="Google Shape;906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7" name="Google Shape;907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8" name="Google Shape;908;p2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9" name="Google Shape;909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0" name="Google Shape;910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1" name="Google Shape;911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12" name="Google Shape;912;p2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13" name="Google Shape;913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4" name="Google Shape;914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15" name="Google Shape;915;p2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16" name="Google Shape;916;p24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7" name="Google Shape;917;p24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24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19" name="Google Shape;919;p24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0" name="Google Shape;920;p24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1" name="Google Shape;921;p24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2" name="Google Shape;922;p24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3" name="Google Shape;923;p24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4" name="Google Shape;924;p24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5" name="Google Shape;925;p24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8" name="Google Shape;928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3" name="Google Shape;93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6" name="Google Shape;936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7" name="Google Shape;937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2" name="Google Shape;94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7" name="Google Shape;947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8" name="Google Shape;948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3" name="Google Shape;953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7" name="Google Shape;957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8" name="Google Shape;958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9" name="Google Shape;959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0" name="Google Shape;960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1" name="Google Shape;961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2" name="Google Shape;962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5" name="Google Shape;965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6" name="Google Shape;966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0" name="Google Shape;970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1" name="Google Shape;971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5" name="Google Shape;975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6" name="Google Shape;976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7" name="Google Shape;977;p3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3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9" name="Google Shape;979;p3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0" name="Google Shape;980;p3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3" name="Google Shape;98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6" name="Google Shape;98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7" name="Google Shape;98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8" name="Google Shape;98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9" name="Google Shape;98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0" name="Google Shape;99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1" name="Google Shape;99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4" name="Google Shape;99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7" name="Google Shape;99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9" name="Google Shape;99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0" name="Google Shape;100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1" name="Google Shape;100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2" name="Google Shape;100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3" name="Google Shape;101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5" name="Google Shape;101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github.com/genzzo/ci-cd-tutoria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5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"/>
              <a:t>INTRO TO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CI/CD</a:t>
            </a:r>
            <a:endParaRPr/>
          </a:p>
        </p:txBody>
      </p:sp>
      <p:sp>
        <p:nvSpPr>
          <p:cNvPr id="1021" name="Google Shape;1021;p45"/>
          <p:cNvSpPr txBox="1"/>
          <p:nvPr>
            <p:ph idx="2" type="title"/>
          </p:nvPr>
        </p:nvSpPr>
        <p:spPr>
          <a:xfrm rot="-53728">
            <a:off x="5546896" y="3228550"/>
            <a:ext cx="940615" cy="33874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rgbClr val="EFEFEF"/>
                </a:solidFill>
              </a:rPr>
              <a:t>Node.js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022" name="Google Shape;1022;p45"/>
          <p:cNvSpPr txBox="1"/>
          <p:nvPr>
            <p:ph idx="1" type="body"/>
          </p:nvPr>
        </p:nvSpPr>
        <p:spPr>
          <a:xfrm>
            <a:off x="2655375" y="4170725"/>
            <a:ext cx="3615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Learn practical CI/CD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Build a basic </a:t>
            </a: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CI/CD</a:t>
            </a: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  pipeline for a </a:t>
            </a: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Node.js </a:t>
            </a: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 app </a:t>
            </a: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using</a:t>
            </a: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 GitHub Actions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23" name="Google Shape;1023;p45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rgbClr val="666666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>
                <a:solidFill>
                  <a:srgbClr val="EFEFEF"/>
                </a:solidFill>
              </a:rPr>
              <a:t>GitHub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024" name="Google Shape;1024;p45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IN401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6"/>
          <p:cNvSpPr txBox="1"/>
          <p:nvPr>
            <p:ph idx="1" type="body"/>
          </p:nvPr>
        </p:nvSpPr>
        <p:spPr>
          <a:xfrm>
            <a:off x="925650" y="1204025"/>
            <a:ext cx="50640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01.</a:t>
            </a:r>
            <a:r>
              <a:rPr lang="en" sz="1800"/>
              <a:t> </a:t>
            </a:r>
            <a:r>
              <a:rPr lang="en" sz="1800"/>
              <a:t>What is CI/CD?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02.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The Universal CI/CD Model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03.</a:t>
            </a:r>
            <a:r>
              <a:rPr lang="en" sz="1800"/>
              <a:t> </a:t>
            </a:r>
            <a:r>
              <a:rPr lang="en" sz="1800"/>
              <a:t>GitHub Actions: The Implementation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04.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Live Lab &amp; Demo: Building a CI/CD Pipeline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/>
              <a:t>05: Real World Examples &amp; Best Practices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06.</a:t>
            </a:r>
            <a:r>
              <a:rPr lang="en" sz="1800"/>
              <a:t> </a:t>
            </a:r>
            <a:r>
              <a:rPr lang="en" sz="1800"/>
              <a:t>Conclusion &amp; Q&amp;A</a:t>
            </a:r>
            <a:endParaRPr sz="1800"/>
          </a:p>
        </p:txBody>
      </p:sp>
      <p:sp>
        <p:nvSpPr>
          <p:cNvPr id="1030" name="Google Shape;1030;p46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5" name="Google Shape;1035;p47"/>
          <p:cNvGrpSpPr/>
          <p:nvPr/>
        </p:nvGrpSpPr>
        <p:grpSpPr>
          <a:xfrm>
            <a:off x="-25" y="1644525"/>
            <a:ext cx="9144053" cy="3039200"/>
            <a:chOff x="175" y="1644525"/>
            <a:chExt cx="9144053" cy="3039200"/>
          </a:xfrm>
        </p:grpSpPr>
        <p:sp>
          <p:nvSpPr>
            <p:cNvPr id="1036" name="Google Shape;1036;p47"/>
            <p:cNvSpPr/>
            <p:nvPr/>
          </p:nvSpPr>
          <p:spPr>
            <a:xfrm>
              <a:off x="175" y="3634025"/>
              <a:ext cx="9144000" cy="1049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228" y="2656502"/>
              <a:ext cx="9144000" cy="1011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175" y="1644525"/>
              <a:ext cx="9144000" cy="1011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39" name="Google Shape;1039;p47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WHAT IS</a:t>
            </a:r>
            <a:br>
              <a:rPr lang="en"/>
            </a:br>
            <a:r>
              <a:rPr lang="en"/>
              <a:t>CI/CD?</a:t>
            </a:r>
            <a:endParaRPr/>
          </a:p>
        </p:txBody>
      </p:sp>
      <p:sp>
        <p:nvSpPr>
          <p:cNvPr id="1040" name="Google Shape;1040;p47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Char char="●"/>
            </a:pPr>
            <a:r>
              <a:rPr lang="en">
                <a:latin typeface="Manrope"/>
                <a:ea typeface="Manrope"/>
                <a:cs typeface="Manrope"/>
                <a:sym typeface="Manrope"/>
              </a:rPr>
              <a:t>Code that passes CI is automatically </a:t>
            </a:r>
            <a:r>
              <a:rPr b="1" lang="en">
                <a:latin typeface="Manrope"/>
                <a:ea typeface="Manrope"/>
                <a:cs typeface="Manrope"/>
                <a:sym typeface="Manrope"/>
              </a:rPr>
              <a:t>packaged and released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Char char="●"/>
            </a:pPr>
            <a:r>
              <a:rPr i="1" lang="en">
                <a:latin typeface="Manrope"/>
                <a:ea typeface="Manrope"/>
                <a:cs typeface="Manrope"/>
                <a:sym typeface="Manrope"/>
              </a:rPr>
              <a:t>Delivery:</a:t>
            </a:r>
            <a:r>
              <a:rPr lang="en">
                <a:latin typeface="Manrope"/>
                <a:ea typeface="Manrope"/>
                <a:cs typeface="Manrope"/>
                <a:sym typeface="Manrope"/>
              </a:rPr>
              <a:t> ready to deploy (often with manual approval)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Char char="●"/>
            </a:pPr>
            <a:r>
              <a:rPr i="1" lang="en">
                <a:latin typeface="Manrope"/>
                <a:ea typeface="Manrope"/>
                <a:cs typeface="Manrope"/>
                <a:sym typeface="Manrope"/>
              </a:rPr>
              <a:t>Deployment:</a:t>
            </a:r>
            <a:r>
              <a:rPr lang="en">
                <a:latin typeface="Manrope"/>
                <a:ea typeface="Manrope"/>
                <a:cs typeface="Manrope"/>
                <a:sym typeface="Manrope"/>
              </a:rPr>
              <a:t> released automatically to users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41" name="Google Shape;1041;p47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Manrope"/>
              <a:buChar char="●"/>
            </a:pPr>
            <a:r>
              <a:rPr lang="en">
                <a:latin typeface="Manrope"/>
                <a:ea typeface="Manrope"/>
                <a:cs typeface="Manrope"/>
                <a:sym typeface="Manrope"/>
              </a:rPr>
              <a:t>Faster feedback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Manrope"/>
              <a:buChar char="●"/>
            </a:pPr>
            <a:r>
              <a:rPr lang="en">
                <a:latin typeface="Manrope"/>
                <a:ea typeface="Manrope"/>
                <a:cs typeface="Manrope"/>
                <a:sym typeface="Manrope"/>
              </a:rPr>
              <a:t>Fewer bugs in main branch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Manrope"/>
              <a:buChar char="●"/>
            </a:pPr>
            <a:r>
              <a:rPr lang="en">
                <a:latin typeface="Manrope"/>
                <a:ea typeface="Manrope"/>
                <a:cs typeface="Manrope"/>
                <a:sym typeface="Manrope"/>
              </a:rPr>
              <a:t>Reliable, repeatable releases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42" name="Google Shape;1042;p47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latin typeface="Manrope"/>
                <a:ea typeface="Manrope"/>
                <a:cs typeface="Manrope"/>
                <a:sym typeface="Manrope"/>
              </a:rPr>
              <a:t>Developers frequently merge code into a shared repository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Manrope"/>
              <a:buChar char="●"/>
            </a:pPr>
            <a:r>
              <a:rPr lang="en">
                <a:latin typeface="Manrope"/>
                <a:ea typeface="Manrope"/>
                <a:cs typeface="Manrope"/>
                <a:sym typeface="Manrope"/>
              </a:rPr>
              <a:t>Every change is automatically</a:t>
            </a:r>
            <a:r>
              <a:rPr b="1" lang="en">
                <a:latin typeface="Manrope"/>
                <a:ea typeface="Manrope"/>
                <a:cs typeface="Manrope"/>
                <a:sym typeface="Manrope"/>
              </a:rPr>
              <a:t> built and tested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Manrope"/>
              <a:buChar char="●"/>
            </a:pPr>
            <a:r>
              <a:rPr b="1" lang="en">
                <a:latin typeface="Manrope"/>
                <a:ea typeface="Manrope"/>
                <a:cs typeface="Manrope"/>
                <a:sym typeface="Manrope"/>
              </a:rPr>
              <a:t>Goal:</a:t>
            </a:r>
            <a:r>
              <a:rPr lang="en">
                <a:latin typeface="Manrope"/>
                <a:ea typeface="Manrope"/>
                <a:cs typeface="Manrope"/>
                <a:sym typeface="Manrope"/>
              </a:rPr>
              <a:t> catch problems early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43" name="Google Shape;1043;p47"/>
          <p:cNvSpPr txBox="1"/>
          <p:nvPr>
            <p:ph idx="4" type="title"/>
          </p:nvPr>
        </p:nvSpPr>
        <p:spPr>
          <a:xfrm>
            <a:off x="1046025" y="2777700"/>
            <a:ext cx="2917200" cy="7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/>
              <a:t>Continuous Delivery / Deployment (CD)</a:t>
            </a:r>
            <a:endParaRPr/>
          </a:p>
        </p:txBody>
      </p:sp>
      <p:sp>
        <p:nvSpPr>
          <p:cNvPr id="1044" name="Google Shape;1044;p47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/>
              <a:t>Why it matters</a:t>
            </a:r>
            <a:endParaRPr/>
          </a:p>
        </p:txBody>
      </p:sp>
      <p:sp>
        <p:nvSpPr>
          <p:cNvPr id="1045" name="Google Shape;1045;p47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/>
              <a:t>Continuous Integration (CI)</a:t>
            </a:r>
            <a:endParaRPr/>
          </a:p>
        </p:txBody>
      </p:sp>
      <p:sp>
        <p:nvSpPr>
          <p:cNvPr id="1046" name="Google Shape;1046;p47"/>
          <p:cNvSpPr txBox="1"/>
          <p:nvPr>
            <p:ph idx="7" type="title"/>
          </p:nvPr>
        </p:nvSpPr>
        <p:spPr>
          <a:xfrm>
            <a:off x="543400" y="1912000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1047" name="Google Shape;1047;p47"/>
          <p:cNvSpPr txBox="1"/>
          <p:nvPr>
            <p:ph idx="8" type="title"/>
          </p:nvPr>
        </p:nvSpPr>
        <p:spPr>
          <a:xfrm>
            <a:off x="543400" y="2925625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1048" name="Google Shape;1048;p47"/>
          <p:cNvSpPr txBox="1"/>
          <p:nvPr>
            <p:ph idx="9" type="title"/>
          </p:nvPr>
        </p:nvSpPr>
        <p:spPr>
          <a:xfrm>
            <a:off x="543400" y="3935900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3.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3" name="Google Shape;1053;p48"/>
          <p:cNvGrpSpPr/>
          <p:nvPr/>
        </p:nvGrpSpPr>
        <p:grpSpPr>
          <a:xfrm>
            <a:off x="1460141" y="2382387"/>
            <a:ext cx="6600334" cy="308400"/>
            <a:chOff x="1460141" y="2619420"/>
            <a:chExt cx="6600334" cy="308400"/>
          </a:xfrm>
        </p:grpSpPr>
        <p:sp>
          <p:nvSpPr>
            <p:cNvPr id="1054" name="Google Shape;1054;p48"/>
            <p:cNvSpPr/>
            <p:nvPr/>
          </p:nvSpPr>
          <p:spPr>
            <a:xfrm>
              <a:off x="1460141" y="2619613"/>
              <a:ext cx="949800" cy="30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20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Trigger</a:t>
              </a:r>
              <a:endParaRPr b="1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55" name="Google Shape;1055;p48"/>
            <p:cNvSpPr/>
            <p:nvPr/>
          </p:nvSpPr>
          <p:spPr>
            <a:xfrm>
              <a:off x="3341275" y="2619550"/>
              <a:ext cx="949800" cy="30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20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Workflow</a:t>
              </a:r>
              <a:endParaRPr b="1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56" name="Google Shape;1056;p48"/>
            <p:cNvSpPr/>
            <p:nvPr/>
          </p:nvSpPr>
          <p:spPr>
            <a:xfrm rot="-1086">
              <a:off x="5225874" y="2619570"/>
              <a:ext cx="949500" cy="3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90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Stages / Jobs</a:t>
              </a:r>
              <a:endParaRPr b="1" sz="9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57" name="Google Shape;1057;p48"/>
            <p:cNvSpPr/>
            <p:nvPr/>
          </p:nvSpPr>
          <p:spPr>
            <a:xfrm>
              <a:off x="7110675" y="2619550"/>
              <a:ext cx="949800" cy="307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200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Artifact</a:t>
              </a:r>
              <a:endPara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058" name="Google Shape;1058;p48"/>
          <p:cNvGrpSpPr/>
          <p:nvPr/>
        </p:nvGrpSpPr>
        <p:grpSpPr>
          <a:xfrm>
            <a:off x="508872" y="2033125"/>
            <a:ext cx="8309700" cy="127200"/>
            <a:chOff x="508872" y="2270158"/>
            <a:chExt cx="8309700" cy="127200"/>
          </a:xfrm>
        </p:grpSpPr>
        <p:cxnSp>
          <p:nvCxnSpPr>
            <p:cNvPr id="1059" name="Google Shape;1059;p48"/>
            <p:cNvCxnSpPr/>
            <p:nvPr/>
          </p:nvCxnSpPr>
          <p:spPr>
            <a:xfrm>
              <a:off x="508872" y="2333749"/>
              <a:ext cx="83097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060" name="Google Shape;1060;p48"/>
            <p:cNvSpPr/>
            <p:nvPr/>
          </p:nvSpPr>
          <p:spPr>
            <a:xfrm>
              <a:off x="1871346" y="2270158"/>
              <a:ext cx="127200" cy="12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61" name="Google Shape;1061;p48"/>
            <p:cNvSpPr/>
            <p:nvPr/>
          </p:nvSpPr>
          <p:spPr>
            <a:xfrm>
              <a:off x="3752571" y="2270158"/>
              <a:ext cx="127200" cy="127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62" name="Google Shape;1062;p48"/>
            <p:cNvSpPr/>
            <p:nvPr/>
          </p:nvSpPr>
          <p:spPr>
            <a:xfrm>
              <a:off x="5633796" y="2270158"/>
              <a:ext cx="127200" cy="127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63" name="Google Shape;1063;p48"/>
            <p:cNvSpPr/>
            <p:nvPr/>
          </p:nvSpPr>
          <p:spPr>
            <a:xfrm>
              <a:off x="7515021" y="2270158"/>
              <a:ext cx="127200" cy="127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64" name="Google Shape;1064;p48"/>
          <p:cNvSpPr txBox="1"/>
          <p:nvPr>
            <p:ph type="title"/>
          </p:nvPr>
        </p:nvSpPr>
        <p:spPr>
          <a:xfrm>
            <a:off x="513300" y="419950"/>
            <a:ext cx="28509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The Universal CI/CD Model</a:t>
            </a:r>
            <a:endParaRPr/>
          </a:p>
        </p:txBody>
      </p:sp>
      <p:sp>
        <p:nvSpPr>
          <p:cNvPr id="1065" name="Google Shape;1065;p48"/>
          <p:cNvSpPr txBox="1"/>
          <p:nvPr>
            <p:ph idx="2" type="subTitle"/>
          </p:nvPr>
        </p:nvSpPr>
        <p:spPr>
          <a:xfrm>
            <a:off x="1541800" y="1638384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ⅰ</a:t>
            </a:r>
            <a:endParaRPr/>
          </a:p>
        </p:txBody>
      </p:sp>
      <p:sp>
        <p:nvSpPr>
          <p:cNvPr id="1066" name="Google Shape;1066;p48"/>
          <p:cNvSpPr txBox="1"/>
          <p:nvPr>
            <p:ph idx="3" type="subTitle"/>
          </p:nvPr>
        </p:nvSpPr>
        <p:spPr>
          <a:xfrm>
            <a:off x="3423025" y="1638384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ⅱ</a:t>
            </a:r>
            <a:endParaRPr/>
          </a:p>
        </p:txBody>
      </p:sp>
      <p:sp>
        <p:nvSpPr>
          <p:cNvPr id="1067" name="Google Shape;1067;p48"/>
          <p:cNvSpPr txBox="1"/>
          <p:nvPr>
            <p:ph idx="4" type="subTitle"/>
          </p:nvPr>
        </p:nvSpPr>
        <p:spPr>
          <a:xfrm>
            <a:off x="5307725" y="1638384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ⅲ</a:t>
            </a:r>
            <a:endParaRPr/>
          </a:p>
        </p:txBody>
      </p:sp>
      <p:sp>
        <p:nvSpPr>
          <p:cNvPr id="1068" name="Google Shape;1068;p48"/>
          <p:cNvSpPr txBox="1"/>
          <p:nvPr>
            <p:ph idx="5" type="subTitle"/>
          </p:nvPr>
        </p:nvSpPr>
        <p:spPr>
          <a:xfrm>
            <a:off x="7170900" y="1638409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ⅳ</a:t>
            </a:r>
            <a:endParaRPr/>
          </a:p>
        </p:txBody>
      </p:sp>
      <p:sp>
        <p:nvSpPr>
          <p:cNvPr id="1069" name="Google Shape;1069;p48"/>
          <p:cNvSpPr txBox="1"/>
          <p:nvPr>
            <p:ph idx="6" type="body"/>
          </p:nvPr>
        </p:nvSpPr>
        <p:spPr>
          <a:xfrm>
            <a:off x="1377408" y="2912830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automated process should start. Triggers are typically tied to actions developers take on the source code repository.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070" name="Google Shape;1070;p48"/>
          <p:cNvSpPr txBox="1"/>
          <p:nvPr>
            <p:ph idx="7" type="body"/>
          </p:nvPr>
        </p:nvSpPr>
        <p:spPr>
          <a:xfrm>
            <a:off x="3248033" y="2912830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set of instructions for the pipeline, defining what happens from start to finish. Usually stores as code.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071" name="Google Shape;1071;p48"/>
          <p:cNvSpPr txBox="1"/>
          <p:nvPr>
            <p:ph idx="8" type="body"/>
          </p:nvPr>
        </p:nvSpPr>
        <p:spPr>
          <a:xfrm>
            <a:off x="5118658" y="2912830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workflow is broken down into one or more distinct units of work. These can often run in parallel or sequentially.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072" name="Google Shape;1072;p48"/>
          <p:cNvSpPr txBox="1"/>
          <p:nvPr>
            <p:ph idx="9" type="body"/>
          </p:nvPr>
        </p:nvSpPr>
        <p:spPr>
          <a:xfrm>
            <a:off x="6989283" y="2912830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output produced and delivered.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49"/>
          <p:cNvSpPr txBox="1"/>
          <p:nvPr>
            <p:ph type="title"/>
          </p:nvPr>
        </p:nvSpPr>
        <p:spPr>
          <a:xfrm>
            <a:off x="410250" y="3065225"/>
            <a:ext cx="18234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GitHub Actions:</a:t>
            </a:r>
            <a:br>
              <a:rPr lang="en" sz="1700"/>
            </a:br>
            <a:r>
              <a:rPr lang="en" sz="1600"/>
              <a:t>The Implementation</a:t>
            </a:r>
            <a:endParaRPr sz="1600"/>
          </a:p>
        </p:txBody>
      </p:sp>
      <p:sp>
        <p:nvSpPr>
          <p:cNvPr id="1078" name="Google Shape;1078;p49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Defined as events that can be: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/>
              <a:t>Run</a:t>
            </a:r>
            <a:r>
              <a:rPr b="1" lang="en"/>
              <a:t> </a:t>
            </a:r>
            <a:r>
              <a:rPr b="1" lang="en"/>
              <a:t>automatically:</a:t>
            </a:r>
            <a:r>
              <a:rPr lang="en"/>
              <a:t> pushing code, opening a pull request.</a:t>
            </a:r>
            <a:br>
              <a:rPr lang="en"/>
            </a:br>
            <a:r>
              <a:rPr b="1" lang="en"/>
              <a:t>Run manually:</a:t>
            </a:r>
            <a:r>
              <a:rPr lang="en"/>
              <a:t> dispatching a workflow, calling the GitHub API.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/>
              <a:t>Scheduled: </a:t>
            </a:r>
            <a:r>
              <a:rPr lang="en"/>
              <a:t>Predefined action 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79" name="Google Shape;1079;p49"/>
          <p:cNvSpPr txBox="1"/>
          <p:nvPr>
            <p:ph idx="2" type="title"/>
          </p:nvPr>
        </p:nvSpPr>
        <p:spPr>
          <a:xfrm>
            <a:off x="2802725" y="492300"/>
            <a:ext cx="2465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Trigger</a:t>
            </a:r>
            <a:endParaRPr/>
          </a:p>
        </p:txBody>
      </p:sp>
      <p:sp>
        <p:nvSpPr>
          <p:cNvPr id="1080" name="Google Shape;1080;p49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YAML file in the repo in the </a:t>
            </a:r>
            <a:r>
              <a:rPr b="1" lang="en"/>
              <a:t>.github/workflows</a:t>
            </a:r>
            <a:r>
              <a:rPr lang="en"/>
              <a:t> folder.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Example: .github/workflows/prod-deploy.yml </a:t>
            </a:r>
            <a:endParaRPr sz="900"/>
          </a:p>
        </p:txBody>
      </p:sp>
      <p:sp>
        <p:nvSpPr>
          <p:cNvPr id="1081" name="Google Shape;1081;p49"/>
          <p:cNvSpPr txBox="1"/>
          <p:nvPr>
            <p:ph idx="4" type="title"/>
          </p:nvPr>
        </p:nvSpPr>
        <p:spPr>
          <a:xfrm>
            <a:off x="6214750" y="492300"/>
            <a:ext cx="2465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Workflow</a:t>
            </a:r>
            <a:endParaRPr/>
          </a:p>
        </p:txBody>
      </p:sp>
      <p:sp>
        <p:nvSpPr>
          <p:cNvPr id="1082" name="Google Shape;1082;p49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/>
              <a:t>J</a:t>
            </a:r>
            <a:r>
              <a:rPr b="1" lang="en"/>
              <a:t>obs</a:t>
            </a:r>
            <a:r>
              <a:rPr lang="en"/>
              <a:t>: define phases (test, build, deploy)</a:t>
            </a:r>
            <a:r>
              <a:rPr lang="en"/>
              <a:t> . </a:t>
            </a:r>
            <a:r>
              <a:rPr lang="en"/>
              <a:t>Each job runs on a fresh runner (VM).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/>
              <a:t>Steps</a:t>
            </a:r>
            <a:r>
              <a:rPr lang="en"/>
              <a:t>: Commands or reusable actions.</a:t>
            </a:r>
            <a:br>
              <a:rPr lang="en"/>
            </a:br>
            <a:r>
              <a:rPr lang="en"/>
              <a:t>Example: checkout code, install deps, run tests.</a:t>
            </a:r>
            <a:endParaRPr/>
          </a:p>
        </p:txBody>
      </p:sp>
      <p:sp>
        <p:nvSpPr>
          <p:cNvPr id="1083" name="Google Shape;1083;p49"/>
          <p:cNvSpPr txBox="1"/>
          <p:nvPr>
            <p:ph idx="6" type="title"/>
          </p:nvPr>
        </p:nvSpPr>
        <p:spPr>
          <a:xfrm>
            <a:off x="2802725" y="2933250"/>
            <a:ext cx="2465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Stages / Jobs + Steps</a:t>
            </a:r>
            <a:endParaRPr/>
          </a:p>
        </p:txBody>
      </p:sp>
      <p:sp>
        <p:nvSpPr>
          <p:cNvPr id="1084" name="Google Shape;1084;p49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Build outputs or deployment targets.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Passed between jobs or deployed automatically.</a:t>
            </a:r>
            <a:endParaRPr/>
          </a:p>
        </p:txBody>
      </p:sp>
      <p:sp>
        <p:nvSpPr>
          <p:cNvPr id="1085" name="Google Shape;1085;p49"/>
          <p:cNvSpPr txBox="1"/>
          <p:nvPr>
            <p:ph idx="8" type="title"/>
          </p:nvPr>
        </p:nvSpPr>
        <p:spPr>
          <a:xfrm>
            <a:off x="6214750" y="2933250"/>
            <a:ext cx="2465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Artifacts</a:t>
            </a:r>
            <a:endParaRPr/>
          </a:p>
        </p:txBody>
      </p:sp>
      <p:grpSp>
        <p:nvGrpSpPr>
          <p:cNvPr id="1086" name="Google Shape;1086;p49"/>
          <p:cNvGrpSpPr/>
          <p:nvPr/>
        </p:nvGrpSpPr>
        <p:grpSpPr>
          <a:xfrm>
            <a:off x="2341200" y="-950"/>
            <a:ext cx="6804600" cy="5144400"/>
            <a:chOff x="2341200" y="-950"/>
            <a:chExt cx="6804600" cy="5144400"/>
          </a:xfrm>
        </p:grpSpPr>
        <p:cxnSp>
          <p:nvCxnSpPr>
            <p:cNvPr id="1087" name="Google Shape;1087;p49"/>
            <p:cNvCxnSpPr/>
            <p:nvPr/>
          </p:nvCxnSpPr>
          <p:spPr>
            <a:xfrm>
              <a:off x="5743800" y="-950"/>
              <a:ext cx="0" cy="514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8" name="Google Shape;1088;p49"/>
            <p:cNvCxnSpPr/>
            <p:nvPr/>
          </p:nvCxnSpPr>
          <p:spPr>
            <a:xfrm rot="10800000">
              <a:off x="2341200" y="2571750"/>
              <a:ext cx="6804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50"/>
          <p:cNvSpPr/>
          <p:nvPr/>
        </p:nvSpPr>
        <p:spPr>
          <a:xfrm rot="-197769">
            <a:off x="956760" y="911344"/>
            <a:ext cx="2770583" cy="337277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800"/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094" name="Google Shape;1094;p50"/>
          <p:cNvGrpSpPr/>
          <p:nvPr/>
        </p:nvGrpSpPr>
        <p:grpSpPr>
          <a:xfrm rot="10800000">
            <a:off x="4831407" y="3292161"/>
            <a:ext cx="1376219" cy="1168765"/>
            <a:chOff x="5408079" y="403905"/>
            <a:chExt cx="3307424" cy="1462967"/>
          </a:xfrm>
        </p:grpSpPr>
        <p:sp>
          <p:nvSpPr>
            <p:cNvPr id="1095" name="Google Shape;1095;p50"/>
            <p:cNvSpPr/>
            <p:nvPr/>
          </p:nvSpPr>
          <p:spPr>
            <a:xfrm flipH="1" rot="10800000">
              <a:off x="5408079" y="403905"/>
              <a:ext cx="3276300" cy="1461900"/>
            </a:xfrm>
            <a:prstGeom prst="snip1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96" name="Google Shape;1096;p50"/>
            <p:cNvSpPr/>
            <p:nvPr/>
          </p:nvSpPr>
          <p:spPr>
            <a:xfrm rot="4797416">
              <a:off x="8375648" y="1496995"/>
              <a:ext cx="170310" cy="487155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97" name="Google Shape;1097;p50"/>
          <p:cNvSpPr txBox="1"/>
          <p:nvPr>
            <p:ph type="title"/>
          </p:nvPr>
        </p:nvSpPr>
        <p:spPr>
          <a:xfrm rot="-197254">
            <a:off x="1225402" y="1184256"/>
            <a:ext cx="2123895" cy="932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Live Lab &amp; Demo</a:t>
            </a:r>
            <a:endParaRPr/>
          </a:p>
        </p:txBody>
      </p:sp>
      <p:sp>
        <p:nvSpPr>
          <p:cNvPr id="1098" name="Google Shape;1098;p50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51952-John_Doe</a:t>
            </a:r>
            <a:endParaRPr/>
          </a:p>
        </p:txBody>
      </p:sp>
      <p:sp>
        <p:nvSpPr>
          <p:cNvPr id="1099" name="Google Shape;1099;p50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pull request demonstrates how to build a CI/CD pipeline by implementing an action…</a:t>
            </a:r>
            <a:endParaRPr/>
          </a:p>
        </p:txBody>
      </p:sp>
      <p:sp>
        <p:nvSpPr>
          <p:cNvPr id="1100" name="Google Shape;1100;p50"/>
          <p:cNvSpPr txBox="1"/>
          <p:nvPr>
            <p:ph idx="8" type="title"/>
          </p:nvPr>
        </p:nvSpPr>
        <p:spPr>
          <a:xfrm>
            <a:off x="4837913" y="365965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600"/>
              <a:t>Example</a:t>
            </a:r>
            <a:endParaRPr sz="2600"/>
          </a:p>
        </p:txBody>
      </p:sp>
      <p:sp>
        <p:nvSpPr>
          <p:cNvPr id="1101" name="Google Shape;1101;p50"/>
          <p:cNvSpPr txBox="1"/>
          <p:nvPr>
            <p:ph idx="13" type="body"/>
          </p:nvPr>
        </p:nvSpPr>
        <p:spPr>
          <a:xfrm>
            <a:off x="4831275" y="508775"/>
            <a:ext cx="3059400" cy="16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Students are required to </a:t>
            </a:r>
            <a:r>
              <a:rPr lang="en"/>
              <a:t>submit</a:t>
            </a:r>
            <a:r>
              <a:rPr lang="en"/>
              <a:t> their final version of the lab by creating a new branch in the repo and opening a pull request from the branch to the main branch. Branch names must be in the following format: </a:t>
            </a:r>
            <a:r>
              <a:rPr b="1" lang="en"/>
              <a:t>&lt;student-id&gt;-&lt;first_name&gt;_&lt;last_name&gt;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The pull request must also contain a small description of their work as a form of a lab report.</a:t>
            </a:r>
            <a:endParaRPr/>
          </a:p>
        </p:txBody>
      </p:sp>
      <p:pic>
        <p:nvPicPr>
          <p:cNvPr id="1102" name="Google Shape;1102;p50" title="qr-code-styling__1_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98002">
            <a:off x="1521488" y="2221751"/>
            <a:ext cx="1617924" cy="1617947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50"/>
          <p:cNvSpPr txBox="1"/>
          <p:nvPr/>
        </p:nvSpPr>
        <p:spPr>
          <a:xfrm rot="-197348">
            <a:off x="1556145" y="3839270"/>
            <a:ext cx="1735960" cy="2770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https://github.com/genzzo/ci-cd-tutorial</a:t>
            </a:r>
            <a:endParaRPr b="1" sz="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51"/>
          <p:cNvSpPr/>
          <p:nvPr/>
        </p:nvSpPr>
        <p:spPr>
          <a:xfrm flipH="1">
            <a:off x="-40375" y="-19125"/>
            <a:ext cx="3731000" cy="1451675"/>
          </a:xfrm>
          <a:custGeom>
            <a:rect b="b" l="l" r="r" t="t"/>
            <a:pathLst>
              <a:path extrusionOk="0" h="58067" w="149240">
                <a:moveTo>
                  <a:pt x="1737" y="0"/>
                </a:moveTo>
                <a:lnTo>
                  <a:pt x="0" y="58067"/>
                </a:lnTo>
                <a:lnTo>
                  <a:pt x="149240" y="57742"/>
                </a:lnTo>
                <a:lnTo>
                  <a:pt x="148307" y="49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grpSp>
        <p:nvGrpSpPr>
          <p:cNvPr id="1109" name="Google Shape;1109;p51"/>
          <p:cNvGrpSpPr/>
          <p:nvPr/>
        </p:nvGrpSpPr>
        <p:grpSpPr>
          <a:xfrm>
            <a:off x="5934068" y="-39999"/>
            <a:ext cx="2926171" cy="4951726"/>
            <a:chOff x="3949700" y="-25725"/>
            <a:chExt cx="2451345" cy="3091158"/>
          </a:xfrm>
        </p:grpSpPr>
        <p:sp>
          <p:nvSpPr>
            <p:cNvPr id="1110" name="Google Shape;1110;p51"/>
            <p:cNvSpPr/>
            <p:nvPr/>
          </p:nvSpPr>
          <p:spPr>
            <a:xfrm>
              <a:off x="3949700" y="1275"/>
              <a:ext cx="2451345" cy="3064158"/>
            </a:xfrm>
            <a:custGeom>
              <a:rect b="b" l="l" r="r" t="t"/>
              <a:pathLst>
                <a:path extrusionOk="0" h="121666" w="98044">
                  <a:moveTo>
                    <a:pt x="5334" y="0"/>
                  </a:moveTo>
                  <a:lnTo>
                    <a:pt x="0" y="118364"/>
                  </a:lnTo>
                  <a:lnTo>
                    <a:pt x="92964" y="121666"/>
                  </a:lnTo>
                  <a:lnTo>
                    <a:pt x="98044" y="2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111" name="Google Shape;1111;p51"/>
            <p:cNvSpPr/>
            <p:nvPr/>
          </p:nvSpPr>
          <p:spPr>
            <a:xfrm>
              <a:off x="4097025" y="-25725"/>
              <a:ext cx="2151375" cy="2922600"/>
            </a:xfrm>
            <a:custGeom>
              <a:rect b="b" l="l" r="r" t="t"/>
              <a:pathLst>
                <a:path extrusionOk="0" h="116904" w="86055">
                  <a:moveTo>
                    <a:pt x="4826" y="64"/>
                  </a:moveTo>
                  <a:lnTo>
                    <a:pt x="0" y="114110"/>
                  </a:lnTo>
                  <a:lnTo>
                    <a:pt x="80213" y="116904"/>
                  </a:lnTo>
                  <a:lnTo>
                    <a:pt x="86055" y="2858"/>
                  </a:lnTo>
                  <a:lnTo>
                    <a:pt x="1899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sp>
        <p:cxnSp>
          <p:nvCxnSpPr>
            <p:cNvPr id="1112" name="Google Shape;1112;p51"/>
            <p:cNvCxnSpPr/>
            <p:nvPr/>
          </p:nvCxnSpPr>
          <p:spPr>
            <a:xfrm>
              <a:off x="4278451" y="603075"/>
              <a:ext cx="17394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13" name="Google Shape;1113;p51"/>
          <p:cNvGrpSpPr/>
          <p:nvPr/>
        </p:nvGrpSpPr>
        <p:grpSpPr>
          <a:xfrm>
            <a:off x="521256" y="1261050"/>
            <a:ext cx="2926287" cy="3801928"/>
            <a:chOff x="541025" y="-5075"/>
            <a:chExt cx="2482850" cy="3225800"/>
          </a:xfrm>
        </p:grpSpPr>
        <p:sp>
          <p:nvSpPr>
            <p:cNvPr id="1114" name="Google Shape;1114;p51"/>
            <p:cNvSpPr/>
            <p:nvPr/>
          </p:nvSpPr>
          <p:spPr>
            <a:xfrm>
              <a:off x="541025" y="-5075"/>
              <a:ext cx="2482850" cy="3225800"/>
            </a:xfrm>
            <a:custGeom>
              <a:rect b="b" l="l" r="r" t="t"/>
              <a:pathLst>
                <a:path extrusionOk="0" h="129032" w="99314">
                  <a:moveTo>
                    <a:pt x="92710" y="0"/>
                  </a:moveTo>
                  <a:lnTo>
                    <a:pt x="99314" y="123698"/>
                  </a:lnTo>
                  <a:lnTo>
                    <a:pt x="7112" y="129032"/>
                  </a:lnTo>
                  <a:lnTo>
                    <a:pt x="0" y="4572"/>
                  </a:lnTo>
                  <a:lnTo>
                    <a:pt x="767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115" name="Google Shape;1115;p51"/>
            <p:cNvSpPr/>
            <p:nvPr/>
          </p:nvSpPr>
          <p:spPr>
            <a:xfrm>
              <a:off x="687075" y="96525"/>
              <a:ext cx="2190750" cy="2984500"/>
            </a:xfrm>
            <a:custGeom>
              <a:rect b="b" l="l" r="r" t="t"/>
              <a:pathLst>
                <a:path extrusionOk="0" h="119380" w="87630">
                  <a:moveTo>
                    <a:pt x="0" y="4826"/>
                  </a:moveTo>
                  <a:lnTo>
                    <a:pt x="6350" y="119380"/>
                  </a:lnTo>
                  <a:lnTo>
                    <a:pt x="87630" y="114808"/>
                  </a:lnTo>
                  <a:lnTo>
                    <a:pt x="8102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sp>
        <p:cxnSp>
          <p:nvCxnSpPr>
            <p:cNvPr id="1116" name="Google Shape;1116;p51"/>
            <p:cNvCxnSpPr/>
            <p:nvPr/>
          </p:nvCxnSpPr>
          <p:spPr>
            <a:xfrm flipH="1" rot="10800000">
              <a:off x="845510" y="728186"/>
              <a:ext cx="1736700" cy="11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17" name="Google Shape;1117;p51"/>
          <p:cNvGrpSpPr/>
          <p:nvPr/>
        </p:nvGrpSpPr>
        <p:grpSpPr>
          <a:xfrm>
            <a:off x="3202524" y="1943099"/>
            <a:ext cx="2926209" cy="3200391"/>
            <a:chOff x="1811025" y="2324100"/>
            <a:chExt cx="2597150" cy="2840500"/>
          </a:xfrm>
        </p:grpSpPr>
        <p:sp>
          <p:nvSpPr>
            <p:cNvPr id="1118" name="Google Shape;1118;p51"/>
            <p:cNvSpPr/>
            <p:nvPr/>
          </p:nvSpPr>
          <p:spPr>
            <a:xfrm>
              <a:off x="1811025" y="2324100"/>
              <a:ext cx="2597150" cy="2819400"/>
            </a:xfrm>
            <a:custGeom>
              <a:rect b="b" l="l" r="r" t="t"/>
              <a:pathLst>
                <a:path extrusionOk="0" h="112776" w="103886">
                  <a:moveTo>
                    <a:pt x="11938" y="0"/>
                  </a:moveTo>
                  <a:lnTo>
                    <a:pt x="0" y="112776"/>
                  </a:lnTo>
                  <a:lnTo>
                    <a:pt x="93218" y="112776"/>
                  </a:lnTo>
                  <a:lnTo>
                    <a:pt x="103886" y="104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119" name="Google Shape;1119;p51"/>
            <p:cNvSpPr/>
            <p:nvPr/>
          </p:nvSpPr>
          <p:spPr>
            <a:xfrm>
              <a:off x="1950725" y="2472200"/>
              <a:ext cx="2298700" cy="2692400"/>
            </a:xfrm>
            <a:custGeom>
              <a:rect b="b" l="l" r="r" t="t"/>
              <a:pathLst>
                <a:path extrusionOk="0" h="107696" w="91948">
                  <a:moveTo>
                    <a:pt x="0" y="107696"/>
                  </a:moveTo>
                  <a:lnTo>
                    <a:pt x="11684" y="0"/>
                  </a:lnTo>
                  <a:lnTo>
                    <a:pt x="91948" y="8636"/>
                  </a:lnTo>
                  <a:lnTo>
                    <a:pt x="81280" y="107696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sp>
        <p:cxnSp>
          <p:nvCxnSpPr>
            <p:cNvPr id="1120" name="Google Shape;1120;p51"/>
            <p:cNvCxnSpPr/>
            <p:nvPr/>
          </p:nvCxnSpPr>
          <p:spPr>
            <a:xfrm>
              <a:off x="2280925" y="3079750"/>
              <a:ext cx="1727100" cy="184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21" name="Google Shape;1121;p51"/>
          <p:cNvGrpSpPr/>
          <p:nvPr/>
        </p:nvGrpSpPr>
        <p:grpSpPr>
          <a:xfrm>
            <a:off x="14288" y="1927613"/>
            <a:ext cx="428625" cy="3150875"/>
            <a:chOff x="950" y="1675450"/>
            <a:chExt cx="428625" cy="3150875"/>
          </a:xfrm>
        </p:grpSpPr>
        <p:sp>
          <p:nvSpPr>
            <p:cNvPr id="1122" name="Google Shape;1122;p51"/>
            <p:cNvSpPr/>
            <p:nvPr/>
          </p:nvSpPr>
          <p:spPr>
            <a:xfrm>
              <a:off x="950" y="1675450"/>
              <a:ext cx="428625" cy="3150875"/>
            </a:xfrm>
            <a:custGeom>
              <a:rect b="b" l="l" r="r" t="t"/>
              <a:pathLst>
                <a:path extrusionOk="0" h="126035" w="17145">
                  <a:moveTo>
                    <a:pt x="0" y="381"/>
                  </a:moveTo>
                  <a:lnTo>
                    <a:pt x="3810" y="0"/>
                  </a:lnTo>
                  <a:lnTo>
                    <a:pt x="17145" y="124320"/>
                  </a:lnTo>
                  <a:lnTo>
                    <a:pt x="191" y="12603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cxnSp>
          <p:nvCxnSpPr>
            <p:cNvPr id="1123" name="Google Shape;1123;p51"/>
            <p:cNvCxnSpPr/>
            <p:nvPr/>
          </p:nvCxnSpPr>
          <p:spPr>
            <a:xfrm>
              <a:off x="5725" y="2247900"/>
              <a:ext cx="257100" cy="2416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4" name="Google Shape;1124;p51"/>
            <p:cNvCxnSpPr/>
            <p:nvPr/>
          </p:nvCxnSpPr>
          <p:spPr>
            <a:xfrm flipH="1">
              <a:off x="15400" y="4664400"/>
              <a:ext cx="247500" cy="23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25" name="Google Shape;1125;p51"/>
          <p:cNvSpPr txBox="1"/>
          <p:nvPr>
            <p:ph idx="1" type="body"/>
          </p:nvPr>
        </p:nvSpPr>
        <p:spPr>
          <a:xfrm rot="-188967">
            <a:off x="856893" y="2371635"/>
            <a:ext cx="2227865" cy="2314681"/>
          </a:xfrm>
          <a:prstGeom prst="rect">
            <a:avLst/>
          </a:prstGeom>
        </p:spPr>
        <p:txBody>
          <a:bodyPr anchorCtr="0" anchor="t" bIns="107775" lIns="107775" spcFirstLastPara="1" rIns="107775" wrap="square" tIns="10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8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Web apps:</a:t>
            </a:r>
            <a:r>
              <a:rPr lang="en" sz="978">
                <a:solidFill>
                  <a:schemeClr val="lt1"/>
                </a:solidFill>
              </a:rPr>
              <a:t> test → build → deploy on every merge</a:t>
            </a:r>
            <a:endParaRPr sz="978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79"/>
              </a:spcBef>
              <a:spcAft>
                <a:spcPts val="0"/>
              </a:spcAft>
              <a:buNone/>
            </a:pPr>
            <a:r>
              <a:rPr b="1" lang="en" sz="978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Libraries:</a:t>
            </a:r>
            <a:r>
              <a:rPr lang="en" sz="978">
                <a:solidFill>
                  <a:schemeClr val="lt1"/>
                </a:solidFill>
              </a:rPr>
              <a:t> test on PR → publish on version tag</a:t>
            </a:r>
            <a:endParaRPr sz="978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79"/>
              </a:spcBef>
              <a:spcAft>
                <a:spcPts val="0"/>
              </a:spcAft>
              <a:buNone/>
            </a:pPr>
            <a:r>
              <a:rPr b="1" lang="en" sz="978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Microservices:</a:t>
            </a:r>
            <a:r>
              <a:rPr lang="en" sz="978">
                <a:solidFill>
                  <a:schemeClr val="lt1"/>
                </a:solidFill>
              </a:rPr>
              <a:t> build image → push registry → deploy</a:t>
            </a:r>
            <a:endParaRPr sz="978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79"/>
              </a:spcBef>
              <a:spcAft>
                <a:spcPts val="1179"/>
              </a:spcAft>
              <a:buNone/>
            </a:pPr>
            <a:r>
              <a:rPr b="1" lang="en" sz="978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Infrastructure:</a:t>
            </a:r>
            <a:r>
              <a:rPr lang="en" sz="978">
                <a:solidFill>
                  <a:schemeClr val="lt1"/>
                </a:solidFill>
              </a:rPr>
              <a:t> validate → plan → apply (IaC)</a:t>
            </a:r>
            <a:endParaRPr sz="978">
              <a:solidFill>
                <a:schemeClr val="lt1"/>
              </a:solidFill>
            </a:endParaRPr>
          </a:p>
        </p:txBody>
      </p:sp>
      <p:sp>
        <p:nvSpPr>
          <p:cNvPr id="1126" name="Google Shape;1126;p51"/>
          <p:cNvSpPr txBox="1"/>
          <p:nvPr>
            <p:ph idx="2" type="body"/>
          </p:nvPr>
        </p:nvSpPr>
        <p:spPr>
          <a:xfrm rot="124796">
            <a:off x="6236603" y="1007804"/>
            <a:ext cx="2256587" cy="3552843"/>
          </a:xfrm>
          <a:prstGeom prst="rect">
            <a:avLst/>
          </a:prstGeom>
        </p:spPr>
        <p:txBody>
          <a:bodyPr anchorCtr="0" anchor="t" bIns="109125" lIns="109125" spcFirstLastPara="1" rIns="109125" wrap="square" tIns="109125">
            <a:noAutofit/>
          </a:bodyPr>
          <a:lstStyle/>
          <a:p>
            <a:pPr indent="0" lvl="0" marL="0" rtl="0" algn="l">
              <a:spcBef>
                <a:spcPts val="1194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Everything as Code</a:t>
            </a:r>
            <a:br>
              <a:rPr lang="en" sz="700">
                <a:solidFill>
                  <a:schemeClr val="lt1"/>
                </a:solidFill>
              </a:rPr>
            </a:br>
            <a:r>
              <a:rPr lang="en" sz="700">
                <a:solidFill>
                  <a:schemeClr val="lt1"/>
                </a:solidFill>
              </a:rPr>
              <a:t>Application, pipelines, and infrastructure are all versioned and reviewed</a:t>
            </a:r>
            <a:br>
              <a:rPr lang="en" sz="700">
                <a:solidFill>
                  <a:schemeClr val="lt1"/>
                </a:solidFill>
              </a:rPr>
            </a:br>
            <a:r>
              <a:rPr i="1" lang="en" sz="700">
                <a:solidFill>
                  <a:schemeClr val="lt1"/>
                </a:solidFill>
              </a:rPr>
              <a:t>(App Code + CI/CD + IaC)</a:t>
            </a:r>
            <a:endParaRPr i="1" sz="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94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Automate Early, Fail Fast</a:t>
            </a:r>
            <a:br>
              <a:rPr lang="en" sz="700">
                <a:solidFill>
                  <a:schemeClr val="lt1"/>
                </a:solidFill>
              </a:rPr>
            </a:br>
            <a:r>
              <a:rPr lang="en" sz="700">
                <a:solidFill>
                  <a:schemeClr val="lt1"/>
                </a:solidFill>
              </a:rPr>
              <a:t>Run tests on every change and stop the pipeline on failure</a:t>
            </a:r>
            <a:endParaRPr sz="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94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Build Once, Deploy Many</a:t>
            </a:r>
            <a:br>
              <a:rPr lang="en" sz="700">
                <a:solidFill>
                  <a:schemeClr val="lt1"/>
                </a:solidFill>
              </a:rPr>
            </a:br>
            <a:r>
              <a:rPr lang="en" sz="700">
                <a:solidFill>
                  <a:schemeClr val="lt1"/>
                </a:solidFill>
              </a:rPr>
              <a:t>Create immutable artifacts and promote them across environments</a:t>
            </a:r>
            <a:endParaRPr sz="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94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Protect Production</a:t>
            </a:r>
            <a:br>
              <a:rPr lang="en" sz="700">
                <a:solidFill>
                  <a:schemeClr val="lt1"/>
                </a:solidFill>
              </a:rPr>
            </a:br>
            <a:r>
              <a:rPr lang="en" sz="700">
                <a:solidFill>
                  <a:schemeClr val="lt1"/>
                </a:solidFill>
              </a:rPr>
              <a:t>Use branch protection, environment separation, and manual approval gates</a:t>
            </a:r>
            <a:endParaRPr sz="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94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Secure by Default</a:t>
            </a:r>
            <a:br>
              <a:rPr lang="en" sz="700">
                <a:solidFill>
                  <a:schemeClr val="lt1"/>
                </a:solidFill>
              </a:rPr>
            </a:br>
            <a:r>
              <a:rPr lang="en" sz="700">
                <a:solidFill>
                  <a:schemeClr val="lt1"/>
                </a:solidFill>
              </a:rPr>
              <a:t>Store secrets safely, use least privilege, never hard-code credentials</a:t>
            </a:r>
            <a:endParaRPr sz="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94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Optimize for Fast Feedback</a:t>
            </a:r>
            <a:br>
              <a:rPr lang="en" sz="700">
                <a:solidFill>
                  <a:schemeClr val="lt1"/>
                </a:solidFill>
              </a:rPr>
            </a:br>
            <a:r>
              <a:rPr lang="en" sz="700">
                <a:solidFill>
                  <a:schemeClr val="lt1"/>
                </a:solidFill>
              </a:rPr>
              <a:t>Keep pipelines small, parallel, cached, and easy to debug</a:t>
            </a:r>
            <a:endParaRPr sz="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94"/>
              </a:spcBef>
              <a:spcAft>
                <a:spcPts val="1194"/>
              </a:spcAft>
              <a:buSzPts val="1432"/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127" name="Google Shape;1127;p51"/>
          <p:cNvSpPr txBox="1"/>
          <p:nvPr>
            <p:ph idx="3" type="body"/>
          </p:nvPr>
        </p:nvSpPr>
        <p:spPr>
          <a:xfrm rot="351213">
            <a:off x="3507820" y="3035903"/>
            <a:ext cx="2129705" cy="2707895"/>
          </a:xfrm>
          <a:prstGeom prst="rect">
            <a:avLst/>
          </a:prstGeom>
        </p:spPr>
        <p:txBody>
          <a:bodyPr anchorCtr="0" anchor="t" bIns="103025" lIns="103025" spcFirstLastPara="1" rIns="103025" wrap="square" tIns="103025">
            <a:spAutoFit/>
          </a:bodyPr>
          <a:lstStyle/>
          <a:p>
            <a:pPr indent="0" lvl="0" marL="0" rtl="0" algn="l">
              <a:spcBef>
                <a:spcPts val="1127"/>
              </a:spcBef>
              <a:spcAft>
                <a:spcPts val="0"/>
              </a:spcAft>
              <a:buNone/>
            </a:pPr>
            <a:r>
              <a:rPr b="1" lang="en" sz="850">
                <a:latin typeface="Manrope"/>
                <a:ea typeface="Manrope"/>
                <a:cs typeface="Manrope"/>
                <a:sym typeface="Manrope"/>
              </a:rPr>
              <a:t>Pull Request CI</a:t>
            </a:r>
            <a:br>
              <a:rPr lang="en" sz="850"/>
            </a:br>
            <a:r>
              <a:rPr lang="en" sz="850"/>
              <a:t>Tests + lint must pass before merge</a:t>
            </a:r>
            <a:endParaRPr sz="850"/>
          </a:p>
          <a:p>
            <a:pPr indent="0" lvl="0" marL="0" rtl="0" algn="l">
              <a:lnSpc>
                <a:spcPct val="115000"/>
              </a:lnSpc>
              <a:spcBef>
                <a:spcPts val="1127"/>
              </a:spcBef>
              <a:spcAft>
                <a:spcPts val="0"/>
              </a:spcAft>
              <a:buSzPts val="1352"/>
              <a:buNone/>
            </a:pPr>
            <a:r>
              <a:rPr b="1" lang="en" sz="850">
                <a:latin typeface="Manrope"/>
                <a:ea typeface="Manrope"/>
                <a:cs typeface="Manrope"/>
                <a:sym typeface="Manrope"/>
              </a:rPr>
              <a:t>Main Branch CD</a:t>
            </a:r>
            <a:br>
              <a:rPr lang="en" sz="850"/>
            </a:br>
            <a:r>
              <a:rPr lang="en" sz="850"/>
              <a:t>Only </a:t>
            </a:r>
            <a:r>
              <a:rPr b="1" lang="en" sz="850">
                <a:latin typeface="Manrope"/>
                <a:ea typeface="Manrope"/>
                <a:cs typeface="Manrope"/>
                <a:sym typeface="Manrope"/>
              </a:rPr>
              <a:t>main</a:t>
            </a:r>
            <a:r>
              <a:rPr lang="en" sz="850"/>
              <a:t> can deploy</a:t>
            </a:r>
            <a:endParaRPr sz="850"/>
          </a:p>
          <a:p>
            <a:pPr indent="0" lvl="0" marL="0" rtl="0" algn="l">
              <a:lnSpc>
                <a:spcPct val="115000"/>
              </a:lnSpc>
              <a:spcBef>
                <a:spcPts val="1127"/>
              </a:spcBef>
              <a:spcAft>
                <a:spcPts val="0"/>
              </a:spcAft>
              <a:buSzPts val="1352"/>
              <a:buNone/>
            </a:pPr>
            <a:r>
              <a:rPr b="1" lang="en" sz="850">
                <a:latin typeface="Manrope"/>
                <a:ea typeface="Manrope"/>
                <a:cs typeface="Manrope"/>
                <a:sym typeface="Manrope"/>
              </a:rPr>
              <a:t>Artifact Promotion</a:t>
            </a:r>
            <a:br>
              <a:rPr lang="en" sz="850"/>
            </a:br>
            <a:r>
              <a:rPr lang="en" sz="850"/>
              <a:t>Same build promoted from staging → prod</a:t>
            </a:r>
            <a:endParaRPr sz="850"/>
          </a:p>
          <a:p>
            <a:pPr indent="0" lvl="0" marL="0" rtl="0" algn="l">
              <a:spcBef>
                <a:spcPts val="1127"/>
              </a:spcBef>
              <a:spcAft>
                <a:spcPts val="0"/>
              </a:spcAft>
              <a:buNone/>
            </a:pPr>
            <a:r>
              <a:rPr b="1" lang="en" sz="850">
                <a:latin typeface="Manrope"/>
                <a:ea typeface="Manrope"/>
                <a:cs typeface="Manrope"/>
                <a:sym typeface="Manrope"/>
              </a:rPr>
              <a:t>Environment Separation</a:t>
            </a:r>
            <a:br>
              <a:rPr lang="en" sz="850"/>
            </a:br>
            <a:r>
              <a:rPr lang="en" sz="850"/>
              <a:t>Dev / Staging / Production</a:t>
            </a:r>
            <a:br>
              <a:rPr lang="en" sz="850"/>
            </a:br>
            <a:endParaRPr sz="850"/>
          </a:p>
          <a:p>
            <a:pPr indent="0" lvl="0" marL="0" rtl="0" algn="l">
              <a:spcBef>
                <a:spcPts val="1127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127"/>
              </a:spcBef>
              <a:spcAft>
                <a:spcPts val="1127"/>
              </a:spcAft>
              <a:buSzPts val="1352"/>
              <a:buNone/>
            </a:pPr>
            <a:r>
              <a:t/>
            </a:r>
            <a:endParaRPr sz="850"/>
          </a:p>
        </p:txBody>
      </p:sp>
      <p:sp>
        <p:nvSpPr>
          <p:cNvPr id="1128" name="Google Shape;1128;p51"/>
          <p:cNvSpPr txBox="1"/>
          <p:nvPr>
            <p:ph type="title"/>
          </p:nvPr>
        </p:nvSpPr>
        <p:spPr>
          <a:xfrm>
            <a:off x="355725" y="325775"/>
            <a:ext cx="23748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000">
                <a:solidFill>
                  <a:schemeClr val="lt1"/>
                </a:solidFill>
              </a:rPr>
              <a:t>Real-World</a:t>
            </a:r>
            <a:br>
              <a:rPr lang="en" sz="2600">
                <a:solidFill>
                  <a:schemeClr val="lt1"/>
                </a:solidFill>
              </a:rPr>
            </a:br>
            <a:r>
              <a:rPr lang="en" sz="1600">
                <a:solidFill>
                  <a:schemeClr val="lt1"/>
                </a:solidFill>
              </a:rPr>
              <a:t>Examples &amp; Best Practices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29" name="Google Shape;1129;p51"/>
          <p:cNvSpPr txBox="1"/>
          <p:nvPr>
            <p:ph idx="5" type="subTitle"/>
          </p:nvPr>
        </p:nvSpPr>
        <p:spPr>
          <a:xfrm rot="-191740">
            <a:off x="765218" y="1536099"/>
            <a:ext cx="2227965" cy="617448"/>
          </a:xfrm>
          <a:prstGeom prst="rect">
            <a:avLst/>
          </a:prstGeom>
        </p:spPr>
        <p:txBody>
          <a:bodyPr anchorCtr="0" anchor="t" bIns="107775" lIns="107775" spcFirstLastPara="1" rIns="107775" wrap="square" tIns="107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536"/>
              <a:buNone/>
            </a:pPr>
            <a:r>
              <a:rPr lang="en" sz="1600">
                <a:solidFill>
                  <a:schemeClr val="lt1"/>
                </a:solidFill>
              </a:rPr>
              <a:t>Where CI/CD is used</a:t>
            </a:r>
            <a:br>
              <a:rPr lang="en" sz="1600">
                <a:solidFill>
                  <a:schemeClr val="lt1"/>
                </a:solidFill>
              </a:rPr>
            </a:br>
            <a:r>
              <a:rPr lang="en" sz="1600">
                <a:solidFill>
                  <a:schemeClr val="lt1"/>
                </a:solidFill>
              </a:rPr>
              <a:t>in practice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30" name="Google Shape;1130;p51"/>
          <p:cNvSpPr txBox="1"/>
          <p:nvPr>
            <p:ph idx="6" type="subTitle"/>
          </p:nvPr>
        </p:nvSpPr>
        <p:spPr>
          <a:xfrm rot="126292">
            <a:off x="6220960" y="287527"/>
            <a:ext cx="2352387" cy="656239"/>
          </a:xfrm>
          <a:prstGeom prst="rect">
            <a:avLst/>
          </a:prstGeom>
        </p:spPr>
        <p:txBody>
          <a:bodyPr anchorCtr="0" anchor="t" bIns="109125" lIns="109125" spcFirstLastPara="1" rIns="109125" wrap="square" tIns="1091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5"/>
              <a:buNone/>
            </a:pPr>
            <a:r>
              <a:rPr lang="en" sz="2675">
                <a:solidFill>
                  <a:schemeClr val="lt1"/>
                </a:solidFill>
              </a:rPr>
              <a:t>Best</a:t>
            </a:r>
            <a:r>
              <a:rPr lang="en" sz="2675">
                <a:solidFill>
                  <a:schemeClr val="lt1"/>
                </a:solidFill>
              </a:rPr>
              <a:t> </a:t>
            </a:r>
            <a:r>
              <a:rPr lang="en" sz="2675">
                <a:solidFill>
                  <a:schemeClr val="lt1"/>
                </a:solidFill>
              </a:rPr>
              <a:t>Practices</a:t>
            </a:r>
            <a:endParaRPr sz="2675">
              <a:solidFill>
                <a:schemeClr val="lt1"/>
              </a:solidFill>
            </a:endParaRPr>
          </a:p>
        </p:txBody>
      </p:sp>
      <p:sp>
        <p:nvSpPr>
          <p:cNvPr id="1131" name="Google Shape;1131;p51"/>
          <p:cNvSpPr txBox="1"/>
          <p:nvPr>
            <p:ph idx="7" type="subTitle"/>
          </p:nvPr>
        </p:nvSpPr>
        <p:spPr>
          <a:xfrm rot="348729">
            <a:off x="3665900" y="2320857"/>
            <a:ext cx="2189254" cy="615173"/>
          </a:xfrm>
          <a:prstGeom prst="rect">
            <a:avLst/>
          </a:prstGeom>
        </p:spPr>
        <p:txBody>
          <a:bodyPr anchorCtr="0" anchor="t" bIns="103025" lIns="103025" spcFirstLastPara="1" rIns="103025" wrap="square" tIns="103025">
            <a:normAutofit fontScale="47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 sz="3379"/>
              <a:t>Common real-world pipeline patterns</a:t>
            </a:r>
            <a:endParaRPr sz="3379"/>
          </a:p>
        </p:txBody>
      </p:sp>
      <p:grpSp>
        <p:nvGrpSpPr>
          <p:cNvPr id="1132" name="Google Shape;1132;p51"/>
          <p:cNvGrpSpPr/>
          <p:nvPr/>
        </p:nvGrpSpPr>
        <p:grpSpPr>
          <a:xfrm flipH="1">
            <a:off x="-17775" y="-29750"/>
            <a:ext cx="3543300" cy="1290800"/>
            <a:chOff x="5602700" y="-29750"/>
            <a:chExt cx="3543300" cy="1290800"/>
          </a:xfrm>
        </p:grpSpPr>
        <p:cxnSp>
          <p:nvCxnSpPr>
            <p:cNvPr id="1133" name="Google Shape;1133;p51"/>
            <p:cNvCxnSpPr/>
            <p:nvPr/>
          </p:nvCxnSpPr>
          <p:spPr>
            <a:xfrm flipH="1">
              <a:off x="5608625" y="-29750"/>
              <a:ext cx="31800" cy="1285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4" name="Google Shape;1134;p51"/>
            <p:cNvCxnSpPr/>
            <p:nvPr/>
          </p:nvCxnSpPr>
          <p:spPr>
            <a:xfrm>
              <a:off x="5602700" y="1254750"/>
              <a:ext cx="3543300" cy="6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2"/>
          <p:cNvSpPr txBox="1"/>
          <p:nvPr>
            <p:ph type="title"/>
          </p:nvPr>
        </p:nvSpPr>
        <p:spPr>
          <a:xfrm>
            <a:off x="496975" y="857100"/>
            <a:ext cx="4703100" cy="3429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11500"/>
              <a:t>THANK YOU!</a:t>
            </a:r>
            <a:endParaRPr sz="1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