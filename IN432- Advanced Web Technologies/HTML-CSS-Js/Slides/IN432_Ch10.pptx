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2" r:id="rId1"/>
  </p:sldMasterIdLst>
  <p:notesMasterIdLst>
    <p:notesMasterId r:id="rId14"/>
  </p:notesMasterIdLst>
  <p:handoutMasterIdLst>
    <p:handoutMasterId r:id="rId15"/>
  </p:handoutMasterIdLst>
  <p:sldIdLst>
    <p:sldId id="286" r:id="rId2"/>
    <p:sldId id="311" r:id="rId3"/>
    <p:sldId id="312" r:id="rId4"/>
    <p:sldId id="313" r:id="rId5"/>
    <p:sldId id="314" r:id="rId6"/>
    <p:sldId id="315" r:id="rId7"/>
    <p:sldId id="316" r:id="rId8"/>
    <p:sldId id="317" r:id="rId9"/>
    <p:sldId id="318" r:id="rId10"/>
    <p:sldId id="319" r:id="rId11"/>
    <p:sldId id="320" r:id="rId12"/>
    <p:sldId id="321" r:id="rId13"/>
  </p:sldIdLst>
  <p:sldSz cx="12192000" cy="6858000"/>
  <p:notesSz cx="7315200" cy="96012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0033CC"/>
    <a:srgbClr val="003399"/>
    <a:srgbClr val="CC0099"/>
    <a:srgbClr val="FF66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CA3A0C-0C32-46BF-AD8E-180A495FB2D4}" v="2" dt="2025-09-25T08:30:25.1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29" autoAdjust="0"/>
    <p:restoredTop sz="91257" autoAdjust="0"/>
  </p:normalViewPr>
  <p:slideViewPr>
    <p:cSldViewPr>
      <p:cViewPr varScale="1">
        <p:scale>
          <a:sx n="63" d="100"/>
          <a:sy n="63" d="100"/>
        </p:scale>
        <p:origin x="424" y="6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mal Beydoun" userId="e88cbbf3-5e5f-46df-aecf-fe10b322ce6e" providerId="ADAL" clId="{E4876F53-9B78-423D-99A1-E03CA3D47365}"/>
    <pc:docChg chg="addSld delSld modSld delMainMaster">
      <pc:chgData name="Kamal Beydoun" userId="e88cbbf3-5e5f-46df-aecf-fe10b322ce6e" providerId="ADAL" clId="{E4876F53-9B78-423D-99A1-E03CA3D47365}" dt="2025-09-25T08:30:13.449" v="1"/>
      <pc:docMkLst>
        <pc:docMk/>
      </pc:docMkLst>
      <pc:sldChg chg="add del">
        <pc:chgData name="Kamal Beydoun" userId="e88cbbf3-5e5f-46df-aecf-fe10b322ce6e" providerId="ADAL" clId="{E4876F53-9B78-423D-99A1-E03CA3D47365}" dt="2025-09-25T08:30:13.449" v="1"/>
        <pc:sldMkLst>
          <pc:docMk/>
          <pc:sldMk cId="0" sldId="286"/>
        </pc:sldMkLst>
      </pc:sldChg>
      <pc:sldMasterChg chg="del delSldLayout">
        <pc:chgData name="Kamal Beydoun" userId="e88cbbf3-5e5f-46df-aecf-fe10b322ce6e" providerId="ADAL" clId="{E4876F53-9B78-423D-99A1-E03CA3D47365}" dt="2025-09-25T08:28:46.362" v="0" actId="47"/>
        <pc:sldMasterMkLst>
          <pc:docMk/>
          <pc:sldMasterMk cId="0" sldId="2147483672"/>
        </pc:sldMasterMkLst>
        <pc:sldLayoutChg chg="del">
          <pc:chgData name="Kamal Beydoun" userId="e88cbbf3-5e5f-46df-aecf-fe10b322ce6e" providerId="ADAL" clId="{E4876F53-9B78-423D-99A1-E03CA3D47365}" dt="2025-09-25T08:28:46.362" v="0" actId="47"/>
          <pc:sldLayoutMkLst>
            <pc:docMk/>
            <pc:sldMasterMk cId="0" sldId="2147483672"/>
            <pc:sldLayoutMk cId="545742770" sldId="2147483966"/>
          </pc:sldLayoutMkLst>
        </pc:sldLayoutChg>
        <pc:sldLayoutChg chg="del">
          <pc:chgData name="Kamal Beydoun" userId="e88cbbf3-5e5f-46df-aecf-fe10b322ce6e" providerId="ADAL" clId="{E4876F53-9B78-423D-99A1-E03CA3D47365}" dt="2025-09-25T08:28:46.362" v="0" actId="47"/>
          <pc:sldLayoutMkLst>
            <pc:docMk/>
            <pc:sldMasterMk cId="0" sldId="2147483672"/>
            <pc:sldLayoutMk cId="761619202" sldId="2147483967"/>
          </pc:sldLayoutMkLst>
        </pc:sldLayoutChg>
        <pc:sldLayoutChg chg="del">
          <pc:chgData name="Kamal Beydoun" userId="e88cbbf3-5e5f-46df-aecf-fe10b322ce6e" providerId="ADAL" clId="{E4876F53-9B78-423D-99A1-E03CA3D47365}" dt="2025-09-25T08:28:46.362" v="0" actId="47"/>
          <pc:sldLayoutMkLst>
            <pc:docMk/>
            <pc:sldMasterMk cId="0" sldId="2147483672"/>
            <pc:sldLayoutMk cId="3254151845" sldId="2147483968"/>
          </pc:sldLayoutMkLst>
        </pc:sldLayoutChg>
        <pc:sldLayoutChg chg="del">
          <pc:chgData name="Kamal Beydoun" userId="e88cbbf3-5e5f-46df-aecf-fe10b322ce6e" providerId="ADAL" clId="{E4876F53-9B78-423D-99A1-E03CA3D47365}" dt="2025-09-25T08:28:46.362" v="0" actId="47"/>
          <pc:sldLayoutMkLst>
            <pc:docMk/>
            <pc:sldMasterMk cId="0" sldId="2147483672"/>
            <pc:sldLayoutMk cId="2267302038" sldId="2147483969"/>
          </pc:sldLayoutMkLst>
        </pc:sldLayoutChg>
        <pc:sldLayoutChg chg="del">
          <pc:chgData name="Kamal Beydoun" userId="e88cbbf3-5e5f-46df-aecf-fe10b322ce6e" providerId="ADAL" clId="{E4876F53-9B78-423D-99A1-E03CA3D47365}" dt="2025-09-25T08:28:46.362" v="0" actId="47"/>
          <pc:sldLayoutMkLst>
            <pc:docMk/>
            <pc:sldMasterMk cId="0" sldId="2147483672"/>
            <pc:sldLayoutMk cId="2397816389" sldId="2147483970"/>
          </pc:sldLayoutMkLst>
        </pc:sldLayoutChg>
        <pc:sldLayoutChg chg="del">
          <pc:chgData name="Kamal Beydoun" userId="e88cbbf3-5e5f-46df-aecf-fe10b322ce6e" providerId="ADAL" clId="{E4876F53-9B78-423D-99A1-E03CA3D47365}" dt="2025-09-25T08:28:46.362" v="0" actId="47"/>
          <pc:sldLayoutMkLst>
            <pc:docMk/>
            <pc:sldMasterMk cId="0" sldId="2147483672"/>
            <pc:sldLayoutMk cId="4219769143" sldId="2147483982"/>
          </pc:sldLayoutMkLst>
        </pc:sldLayoutChg>
        <pc:sldLayoutChg chg="del">
          <pc:chgData name="Kamal Beydoun" userId="e88cbbf3-5e5f-46df-aecf-fe10b322ce6e" providerId="ADAL" clId="{E4876F53-9B78-423D-99A1-E03CA3D47365}" dt="2025-09-25T08:28:46.362" v="0" actId="47"/>
          <pc:sldLayoutMkLst>
            <pc:docMk/>
            <pc:sldMasterMk cId="0" sldId="2147483672"/>
            <pc:sldLayoutMk cId="561149796" sldId="2147483983"/>
          </pc:sldLayoutMkLst>
        </pc:sldLayoutChg>
        <pc:sldLayoutChg chg="del">
          <pc:chgData name="Kamal Beydoun" userId="e88cbbf3-5e5f-46df-aecf-fe10b322ce6e" providerId="ADAL" clId="{E4876F53-9B78-423D-99A1-E03CA3D47365}" dt="2025-09-25T08:28:46.362" v="0" actId="47"/>
          <pc:sldLayoutMkLst>
            <pc:docMk/>
            <pc:sldMasterMk cId="0" sldId="2147483672"/>
            <pc:sldLayoutMk cId="2849509190" sldId="2147483984"/>
          </pc:sldLayoutMkLst>
        </pc:sldLayoutChg>
        <pc:sldLayoutChg chg="del">
          <pc:chgData name="Kamal Beydoun" userId="e88cbbf3-5e5f-46df-aecf-fe10b322ce6e" providerId="ADAL" clId="{E4876F53-9B78-423D-99A1-E03CA3D47365}" dt="2025-09-25T08:28:46.362" v="0" actId="47"/>
          <pc:sldLayoutMkLst>
            <pc:docMk/>
            <pc:sldMasterMk cId="0" sldId="2147483672"/>
            <pc:sldLayoutMk cId="1986884985" sldId="2147483985"/>
          </pc:sldLayoutMkLst>
        </pc:sldLayoutChg>
        <pc:sldLayoutChg chg="del">
          <pc:chgData name="Kamal Beydoun" userId="e88cbbf3-5e5f-46df-aecf-fe10b322ce6e" providerId="ADAL" clId="{E4876F53-9B78-423D-99A1-E03CA3D47365}" dt="2025-09-25T08:28:46.362" v="0" actId="47"/>
          <pc:sldLayoutMkLst>
            <pc:docMk/>
            <pc:sldMasterMk cId="0" sldId="2147483672"/>
            <pc:sldLayoutMk cId="3326190419" sldId="2147483986"/>
          </pc:sldLayoutMkLst>
        </pc:sldLayoutChg>
        <pc:sldLayoutChg chg="del">
          <pc:chgData name="Kamal Beydoun" userId="e88cbbf3-5e5f-46df-aecf-fe10b322ce6e" providerId="ADAL" clId="{E4876F53-9B78-423D-99A1-E03CA3D47365}" dt="2025-09-25T08:28:46.362" v="0" actId="47"/>
          <pc:sldLayoutMkLst>
            <pc:docMk/>
            <pc:sldMasterMk cId="0" sldId="2147483672"/>
            <pc:sldLayoutMk cId="2075525510" sldId="2147483987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E9A4DD71-897B-2E26-62D3-48C32964B10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F0E7A277-EB05-9C67-0EC7-D3B00612BE2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6324" name="Rectangle 4">
            <a:extLst>
              <a:ext uri="{FF2B5EF4-FFF2-40B4-BE49-F238E27FC236}">
                <a16:creationId xmlns:a16="http://schemas.microsoft.com/office/drawing/2014/main" id="{38E0521B-D96B-BF53-E727-807AE8AB737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6325" name="Rectangle 5">
            <a:extLst>
              <a:ext uri="{FF2B5EF4-FFF2-40B4-BE49-F238E27FC236}">
                <a16:creationId xmlns:a16="http://schemas.microsoft.com/office/drawing/2014/main" id="{79544D0A-73E9-E736-8FB2-8DABFB61941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105403B7-2352-428B-9E7F-0B08901C8F2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7F9DB350-F7B6-0A6F-5A4D-38CD2B0F544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D3E050BF-905F-D16E-8079-1420A547E0F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3075084A-C520-EE5B-2A80-763422E2AB4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7200" y="720725"/>
            <a:ext cx="64008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EDE3DC72-C338-1719-845B-E7E16D08D4E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52230" name="Rectangle 6">
            <a:extLst>
              <a:ext uri="{FF2B5EF4-FFF2-40B4-BE49-F238E27FC236}">
                <a16:creationId xmlns:a16="http://schemas.microsoft.com/office/drawing/2014/main" id="{EDFC3ABC-5A4A-9591-5C80-7EF06FF290A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2231" name="Rectangle 7">
            <a:extLst>
              <a:ext uri="{FF2B5EF4-FFF2-40B4-BE49-F238E27FC236}">
                <a16:creationId xmlns:a16="http://schemas.microsoft.com/office/drawing/2014/main" id="{96665C87-6E4B-97B1-434D-FB69806B84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</a:defRPr>
            </a:lvl1pPr>
          </a:lstStyle>
          <a:p>
            <a:pPr>
              <a:defRPr/>
            </a:pPr>
            <a:fld id="{9557107C-0AA2-42FB-8988-202F02F9DD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EDCD9-F5FD-4924-43A9-4ABD42778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9EE99D-56EC-4E0C-802F-57403B749978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111519-742B-DB02-0B01-07AC35C04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BE7B3-1DC9-2FDE-BEE4-64C2DFEDD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F1CB89-88B6-4FBA-86CD-2096742B6A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1570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3FCF6-514E-848B-201E-38CFF6065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161120-C8FB-4566-9870-17E8CAC10D4E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1E7B7-832D-E25C-6A6F-7308E507D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34E68-E0FF-C678-C1E4-C2E026E9A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B8C0B3-10D6-4FDF-AB79-6D565A1B6C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5327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D5252-BB5D-C016-B354-16AB27E35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010EF6-64BD-4BB2-B183-DD9A621B08FF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95091-CD17-2E7D-7687-4D20CB880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45331-7B7C-AEFB-4E1E-91A9C40F7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4272E0-3AF8-412B-B5FB-8B3404EE301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6815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44AC879-6FDE-F556-0575-5137634EB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06B7AF-DC6F-436D-B329-397761A77984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2F934A-5C5B-3646-5AA9-F32FACAAC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9B18498-483A-401F-5A66-43F1F81B9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FE7644-9D69-437E-989C-93985CBD19E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4200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6296125-6C61-52F9-EC3A-6DFE132B0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75946B-7A8E-458E-BBF0-CE97F6BC9163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3A1CDFE-9E38-23F1-50FC-F9A5C13C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11CC597-3244-E7AA-476E-D970B6702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0398DC-1926-429C-B4B9-3EE7941391E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1840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C19F2C5-4D9C-DF26-EE07-DD4A20DC7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8F59C6-35C3-4FE1-8D32-2ED19B793DE3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854150-5FCA-12BC-A825-0A49F58E9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7D2F5F8-5C1E-1F0B-AD59-293CFB3CD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C5221F-A00E-4D4F-9976-D6D6F447A56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6321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1E1DCB1-6B43-9576-836A-CF3041AD9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8077E3-A408-4BBD-AE54-8D129FB9BBDB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9AC0A26-9AB1-2603-11DA-1575BFEAA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17D756A-9422-BCD3-149D-47A37E4CA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595A4E-0760-4684-AF6F-5773A9DFD3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4717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EF57AF5-52C9-FF16-ED7E-5DAB7B8D8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01F186-5599-47C5-9309-9A04FDC68801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F0DB81E-2FD0-F8C6-C2BA-536D53B8D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FA3C535-2C88-7FC2-EFBC-76A2EBD23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C60864-3154-4DA2-AF67-A2A345860C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5859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492424C-2BE1-C072-166A-4509E9DFE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E71327-24F3-45EC-B1EF-004E6D245F27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4467D9E-C334-DFB7-664B-BC86E3E55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D139170-BF03-540D-56EB-C608A866E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AF88F2-E4CA-4947-8F14-0FC9AF6D940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312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88B6E-ED27-62BF-30E4-0C5C92A3C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3A16CA-0C60-4498-B003-AA92A89DF1D6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ED9B9-44E4-A37D-3A04-878E7B9D4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0618B-97C8-BCA3-185B-4BC683D60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01034A-E050-42BC-ACC6-1B6FD5ED0CD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1415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14F91-3D5E-7F16-8E8E-A98B33031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648382-278A-465D-9F3E-F6849E3776E4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98827-4C22-2DA5-0913-34E435FAE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EDEB6-87DE-58B2-CDF9-68808209B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B7FECE-58EA-42BD-B4A5-2503C7F6146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5788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>
            <a:extLst>
              <a:ext uri="{FF2B5EF4-FFF2-40B4-BE49-F238E27FC236}">
                <a16:creationId xmlns:a16="http://schemas.microsoft.com/office/drawing/2014/main" id="{07663CEA-1299-6BAF-01FD-9CD17CC492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236EA42F-F442-417E-0BFB-A3FCFE7C09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F2C5AF-52B6-7D9A-47D9-369B381806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584319B-7D72-40FD-8565-79E8E90CB2C9}" type="datetime1">
              <a:rPr lang="en-US" smtClean="0"/>
              <a:t>9/25/2025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D8D75-42D8-3027-F3B4-2397E1CA60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65169-5E87-6C77-1CE1-89B149F12B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54B7886-2C45-477C-B3B9-57B9AEC7223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1" r:id="rId1"/>
    <p:sldLayoutId id="2147483972" r:id="rId2"/>
    <p:sldLayoutId id="2147483973" r:id="rId3"/>
    <p:sldLayoutId id="2147483974" r:id="rId4"/>
    <p:sldLayoutId id="2147483975" r:id="rId5"/>
    <p:sldLayoutId id="2147483976" r:id="rId6"/>
    <p:sldLayoutId id="2147483977" r:id="rId7"/>
    <p:sldLayoutId id="2147483978" r:id="rId8"/>
    <p:sldLayoutId id="2147483979" r:id="rId9"/>
    <p:sldLayoutId id="2147483980" r:id="rId10"/>
    <p:sldLayoutId id="2147483981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/tryit.asp?filename=trycss_navbar_basic_html#news" TargetMode="External"/><Relationship Id="rId2" Type="http://schemas.openxmlformats.org/officeDocument/2006/relationships/hyperlink" Target="https://www.w3schools.com/css/tryit.asp?filename=trycss_navbar_basic_html#home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hyperlink" Target="https://www.w3schools.com/css/tryit.asp?filename=trycss_navbar_basic_html#about" TargetMode="External"/><Relationship Id="rId4" Type="http://schemas.openxmlformats.org/officeDocument/2006/relationships/hyperlink" Target="https://www.w3schools.com/css/tryit.asp?filename=trycss_navbar_basic_html#contact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4">
            <a:extLst>
              <a:ext uri="{FF2B5EF4-FFF2-40B4-BE49-F238E27FC236}">
                <a16:creationId xmlns:a16="http://schemas.microsoft.com/office/drawing/2014/main" id="{AFDCD113-A699-56F8-71AE-EDFDE4932F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8067" y="758952"/>
            <a:ext cx="7319175" cy="35661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b">
            <a:normAutofit/>
          </a:bodyPr>
          <a:lstStyle>
            <a:lvl1pPr defTabSz="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3429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0" b="1" i="0" u="none" strike="noStrike" kern="1200" cap="none" spc="-5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IN432</a:t>
            </a:r>
            <a:br>
              <a:rPr kumimoji="0" lang="en-US" altLang="en-US" sz="8000" b="1" i="0" u="none" strike="noStrike" kern="1200" cap="none" spc="-5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</a:br>
            <a:r>
              <a:rPr kumimoji="0" lang="en-US" altLang="en-US" sz="8000" b="1" i="0" u="none" strike="noStrike" kern="1200" cap="none" spc="-5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Calibri Light"/>
                <a:ea typeface="+mn-ea"/>
                <a:cs typeface="+mn-cs"/>
              </a:rPr>
              <a:t>Advanced Web Programming</a:t>
            </a:r>
          </a:p>
        </p:txBody>
      </p:sp>
      <p:pic>
        <p:nvPicPr>
          <p:cNvPr id="10246" name="Graphic 10245" descr="Computer">
            <a:extLst>
              <a:ext uri="{FF2B5EF4-FFF2-40B4-BE49-F238E27FC236}">
                <a16:creationId xmlns:a16="http://schemas.microsoft.com/office/drawing/2014/main" id="{695A09B2-4B52-71B4-6B3F-135007F1B3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818" y="1944907"/>
            <a:ext cx="2449486" cy="24494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4">
            <a:extLst>
              <a:ext uri="{FF2B5EF4-FFF2-40B4-BE49-F238E27FC236}">
                <a16:creationId xmlns:a16="http://schemas.microsoft.com/office/drawing/2014/main" id="{F13F0185-F145-968B-69F5-2FAEB1BED9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CSS Links</a:t>
            </a:r>
          </a:p>
        </p:txBody>
      </p:sp>
      <p:pic>
        <p:nvPicPr>
          <p:cNvPr id="12291" name="Picture 6">
            <a:extLst>
              <a:ext uri="{FF2B5EF4-FFF2-40B4-BE49-F238E27FC236}">
                <a16:creationId xmlns:a16="http://schemas.microsoft.com/office/drawing/2014/main" id="{8DD7ECE6-BB2A-6809-2367-962EBF1B7F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747713"/>
            <a:ext cx="6858000" cy="176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Rectangle 7">
            <a:extLst>
              <a:ext uri="{FF2B5EF4-FFF2-40B4-BE49-F238E27FC236}">
                <a16:creationId xmlns:a16="http://schemas.microsoft.com/office/drawing/2014/main" id="{3E3A6233-8248-42D9-55DB-DB3930CE3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674938"/>
            <a:ext cx="11734800" cy="400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Verdana" panose="020B0604030504040204" pitchFamily="34" charset="0"/>
              </a:rPr>
              <a:t>Links can be styled with any CSS property (e.g.</a:t>
            </a:r>
            <a:r>
              <a:rPr lang="en-US" altLang="en-US" sz="2000">
                <a:solidFill>
                  <a:srgbClr val="000000"/>
                </a:solidFill>
              </a:rPr>
              <a:t> </a:t>
            </a:r>
            <a:r>
              <a:rPr lang="en-US" altLang="en-US" sz="2000">
                <a:solidFill>
                  <a:srgbClr val="DC143C"/>
                </a:solidFill>
                <a:latin typeface="Consolas" panose="020B0609020204030204" pitchFamily="49" charset="0"/>
              </a:rPr>
              <a:t>color</a:t>
            </a:r>
            <a:r>
              <a:rPr lang="en-US" altLang="en-US" sz="2000">
                <a:solidFill>
                  <a:srgbClr val="000000"/>
                </a:solidFill>
                <a:latin typeface="Verdana" panose="020B0604030504040204" pitchFamily="34" charset="0"/>
              </a:rPr>
              <a:t>,</a:t>
            </a:r>
            <a:r>
              <a:rPr lang="en-US" altLang="en-US" sz="2000">
                <a:solidFill>
                  <a:srgbClr val="000000"/>
                </a:solidFill>
              </a:rPr>
              <a:t> </a:t>
            </a:r>
            <a:r>
              <a:rPr lang="en-US" altLang="en-US" sz="2000">
                <a:solidFill>
                  <a:srgbClr val="DC143C"/>
                </a:solidFill>
                <a:latin typeface="Consolas" panose="020B0609020204030204" pitchFamily="49" charset="0"/>
              </a:rPr>
              <a:t>font-family</a:t>
            </a:r>
            <a:r>
              <a:rPr lang="en-US" altLang="en-US" sz="2000">
                <a:solidFill>
                  <a:srgbClr val="000000"/>
                </a:solidFill>
                <a:latin typeface="Verdana" panose="020B0604030504040204" pitchFamily="34" charset="0"/>
              </a:rPr>
              <a:t>,</a:t>
            </a:r>
            <a:r>
              <a:rPr lang="en-US" altLang="en-US" sz="2000">
                <a:solidFill>
                  <a:srgbClr val="000000"/>
                </a:solidFill>
              </a:rPr>
              <a:t> </a:t>
            </a:r>
            <a:r>
              <a:rPr lang="en-US" altLang="en-US" sz="2000">
                <a:solidFill>
                  <a:srgbClr val="DC143C"/>
                </a:solidFill>
                <a:latin typeface="Consolas" panose="020B0609020204030204" pitchFamily="49" charset="0"/>
              </a:rPr>
              <a:t>background</a:t>
            </a:r>
            <a:r>
              <a:rPr lang="en-US" altLang="en-US" sz="2000">
                <a:solidFill>
                  <a:srgbClr val="000000"/>
                </a:solidFill>
                <a:latin typeface="Verdana" panose="020B0604030504040204" pitchFamily="34" charset="0"/>
              </a:rPr>
              <a:t>, etc.).</a:t>
            </a:r>
            <a:endParaRPr lang="en-US" altLang="en-US" sz="2000"/>
          </a:p>
        </p:txBody>
      </p:sp>
      <p:sp>
        <p:nvSpPr>
          <p:cNvPr id="12293" name="Rectangle 8">
            <a:extLst>
              <a:ext uri="{FF2B5EF4-FFF2-40B4-BE49-F238E27FC236}">
                <a16:creationId xmlns:a16="http://schemas.microsoft.com/office/drawing/2014/main" id="{0EEA42DC-817C-50F2-CD0A-E1E80958F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275" y="3152775"/>
            <a:ext cx="11337925" cy="32480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Verdana" panose="020B0604030504040204" pitchFamily="34" charset="0"/>
              </a:rPr>
              <a:t>In addition, links can be styled differently depending on what</a:t>
            </a:r>
            <a:r>
              <a:rPr lang="en-US" altLang="en-US" sz="1800">
                <a:solidFill>
                  <a:srgbClr val="000000"/>
                </a:solidFill>
              </a:rPr>
              <a:t> </a:t>
            </a:r>
            <a:r>
              <a:rPr lang="en-US" altLang="en-US" sz="1800" b="1">
                <a:solidFill>
                  <a:srgbClr val="000000"/>
                </a:solidFill>
                <a:latin typeface="Verdana" panose="020B0604030504040204" pitchFamily="34" charset="0"/>
              </a:rPr>
              <a:t>state</a:t>
            </a:r>
            <a:r>
              <a:rPr lang="en-US" altLang="en-US" sz="1800">
                <a:solidFill>
                  <a:srgbClr val="000000"/>
                </a:solidFill>
              </a:rPr>
              <a:t> </a:t>
            </a:r>
            <a:r>
              <a:rPr lang="en-US" altLang="en-US" sz="1800">
                <a:solidFill>
                  <a:srgbClr val="000000"/>
                </a:solidFill>
                <a:latin typeface="Verdana" panose="020B0604030504040204" pitchFamily="34" charset="0"/>
              </a:rPr>
              <a:t>they are in.</a:t>
            </a:r>
            <a:endParaRPr lang="en-US" altLang="en-US" sz="1800"/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Verdana" panose="020B0604030504040204" pitchFamily="34" charset="0"/>
              </a:rPr>
              <a:t>The four links states are:</a:t>
            </a:r>
            <a:endParaRPr lang="en-US" altLang="en-US" sz="1800" b="1"/>
          </a:p>
          <a:p>
            <a:pPr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lang="en-US" altLang="en-US" sz="1800">
                <a:solidFill>
                  <a:srgbClr val="DC143C"/>
                </a:solidFill>
                <a:latin typeface="Consolas" panose="020B0609020204030204" pitchFamily="49" charset="0"/>
              </a:rPr>
              <a:t>a:link</a:t>
            </a:r>
            <a:r>
              <a:rPr lang="en-US" altLang="en-US" sz="1800">
                <a:solidFill>
                  <a:srgbClr val="000000"/>
                </a:solidFill>
              </a:rPr>
              <a:t> </a:t>
            </a:r>
            <a:r>
              <a:rPr lang="en-US" altLang="en-US" sz="1800">
                <a:solidFill>
                  <a:srgbClr val="000000"/>
                </a:solidFill>
                <a:latin typeface="Verdana" panose="020B0604030504040204" pitchFamily="34" charset="0"/>
              </a:rPr>
              <a:t>- a normal, unvisited link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lang="en-US" altLang="en-US" sz="1800">
                <a:solidFill>
                  <a:srgbClr val="DC143C"/>
                </a:solidFill>
                <a:latin typeface="Consolas" panose="020B0609020204030204" pitchFamily="49" charset="0"/>
              </a:rPr>
              <a:t>a:visited</a:t>
            </a:r>
            <a:r>
              <a:rPr lang="en-US" altLang="en-US" sz="1800">
                <a:solidFill>
                  <a:srgbClr val="000000"/>
                </a:solidFill>
              </a:rPr>
              <a:t> </a:t>
            </a:r>
            <a:r>
              <a:rPr lang="en-US" altLang="en-US" sz="1800">
                <a:solidFill>
                  <a:srgbClr val="000000"/>
                </a:solidFill>
                <a:latin typeface="Verdana" panose="020B0604030504040204" pitchFamily="34" charset="0"/>
              </a:rPr>
              <a:t>- a link the user has visited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lang="en-US" altLang="en-US" sz="1800">
                <a:solidFill>
                  <a:srgbClr val="DC143C"/>
                </a:solidFill>
                <a:latin typeface="Consolas" panose="020B0609020204030204" pitchFamily="49" charset="0"/>
              </a:rPr>
              <a:t>a:hover</a:t>
            </a:r>
            <a:r>
              <a:rPr lang="en-US" altLang="en-US" sz="1800">
                <a:solidFill>
                  <a:srgbClr val="000000"/>
                </a:solidFill>
              </a:rPr>
              <a:t> </a:t>
            </a:r>
            <a:r>
              <a:rPr lang="en-US" altLang="en-US" sz="1800">
                <a:solidFill>
                  <a:srgbClr val="000000"/>
                </a:solidFill>
                <a:latin typeface="Verdana" panose="020B0604030504040204" pitchFamily="34" charset="0"/>
              </a:rPr>
              <a:t>- a link when the user mouses over it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lang="en-US" altLang="en-US" sz="1800">
                <a:solidFill>
                  <a:srgbClr val="DC143C"/>
                </a:solidFill>
                <a:latin typeface="Consolas" panose="020B0609020204030204" pitchFamily="49" charset="0"/>
              </a:rPr>
              <a:t>a:active</a:t>
            </a:r>
            <a:r>
              <a:rPr lang="en-US" altLang="en-US" sz="1800">
                <a:solidFill>
                  <a:srgbClr val="000000"/>
                </a:solidFill>
              </a:rPr>
              <a:t> </a:t>
            </a:r>
            <a:r>
              <a:rPr lang="en-US" altLang="en-US" sz="1800">
                <a:solidFill>
                  <a:srgbClr val="000000"/>
                </a:solidFill>
                <a:latin typeface="Verdana" panose="020B0604030504040204" pitchFamily="34" charset="0"/>
              </a:rPr>
              <a:t>- a link the moment it is clicked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US" altLang="en-US" sz="32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9CAF8A-5DD8-B5F8-30B6-E500961DB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B8C0B3-10D6-4FDF-AB79-6D565A1B6CD0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Box 4">
            <a:extLst>
              <a:ext uri="{FF2B5EF4-FFF2-40B4-BE49-F238E27FC236}">
                <a16:creationId xmlns:a16="http://schemas.microsoft.com/office/drawing/2014/main" id="{6BB67D42-4A98-568D-B535-C67099817E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CSS Links</a:t>
            </a:r>
          </a:p>
        </p:txBody>
      </p:sp>
      <p:pic>
        <p:nvPicPr>
          <p:cNvPr id="13315" name="Picture 2">
            <a:extLst>
              <a:ext uri="{FF2B5EF4-FFF2-40B4-BE49-F238E27FC236}">
                <a16:creationId xmlns:a16="http://schemas.microsoft.com/office/drawing/2014/main" id="{E6352C88-CCCF-3306-A7BA-0CEBD6940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762000"/>
            <a:ext cx="2971800" cy="327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4">
            <a:extLst>
              <a:ext uri="{FF2B5EF4-FFF2-40B4-BE49-F238E27FC236}">
                <a16:creationId xmlns:a16="http://schemas.microsoft.com/office/drawing/2014/main" id="{7AECB86B-596A-976E-8777-967E108CF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685800"/>
            <a:ext cx="3167063" cy="327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CBA775-BAF6-BAF1-8D80-075F6C941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B8C0B3-10D6-4FDF-AB79-6D565A1B6CD0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Box 4">
            <a:extLst>
              <a:ext uri="{FF2B5EF4-FFF2-40B4-BE49-F238E27FC236}">
                <a16:creationId xmlns:a16="http://schemas.microsoft.com/office/drawing/2014/main" id="{7C6CE9CE-22AF-B81C-77C8-8EBF942709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CSS Links</a:t>
            </a:r>
          </a:p>
        </p:txBody>
      </p:sp>
      <p:pic>
        <p:nvPicPr>
          <p:cNvPr id="14339" name="Picture 2">
            <a:extLst>
              <a:ext uri="{FF2B5EF4-FFF2-40B4-BE49-F238E27FC236}">
                <a16:creationId xmlns:a16="http://schemas.microsoft.com/office/drawing/2014/main" id="{89950128-70B1-D688-10CC-D9727B005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762000"/>
            <a:ext cx="2971800" cy="327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Picture 4">
            <a:extLst>
              <a:ext uri="{FF2B5EF4-FFF2-40B4-BE49-F238E27FC236}">
                <a16:creationId xmlns:a16="http://schemas.microsoft.com/office/drawing/2014/main" id="{33AC85B2-4C36-1D58-EFF5-CF3A0DE043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685800"/>
            <a:ext cx="3167063" cy="327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1" name="TextBox 5">
            <a:extLst>
              <a:ext uri="{FF2B5EF4-FFF2-40B4-BE49-F238E27FC236}">
                <a16:creationId xmlns:a16="http://schemas.microsoft.com/office/drawing/2014/main" id="{8474716C-7472-BDA5-6C9C-1D5C8469B9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278313"/>
            <a:ext cx="6096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Segoe UI" panose="020B0502040204020203" pitchFamily="34" charset="0"/>
              </a:rPr>
              <a:t>Text Decoration</a:t>
            </a:r>
          </a:p>
        </p:txBody>
      </p:sp>
      <p:sp>
        <p:nvSpPr>
          <p:cNvPr id="14342" name="Rectangle 1">
            <a:extLst>
              <a:ext uri="{FF2B5EF4-FFF2-40B4-BE49-F238E27FC236}">
                <a16:creationId xmlns:a16="http://schemas.microsoft.com/office/drawing/2014/main" id="{3A490181-5E7C-5DE8-AC3F-DE8884A03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8" y="4648200"/>
            <a:ext cx="9248775" cy="369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Verdana" panose="020B0604030504040204" pitchFamily="34" charset="0"/>
              </a:rPr>
              <a:t>The</a:t>
            </a:r>
            <a:r>
              <a:rPr lang="en-US" altLang="en-US" sz="1800">
                <a:solidFill>
                  <a:srgbClr val="000000"/>
                </a:solidFill>
              </a:rPr>
              <a:t> </a:t>
            </a:r>
            <a:r>
              <a:rPr lang="en-US" altLang="en-US" sz="1800">
                <a:solidFill>
                  <a:srgbClr val="DC143C"/>
                </a:solidFill>
                <a:latin typeface="Consolas" panose="020B0609020204030204" pitchFamily="49" charset="0"/>
              </a:rPr>
              <a:t>text-decoration</a:t>
            </a:r>
            <a:r>
              <a:rPr lang="en-US" altLang="en-US" sz="1800">
                <a:solidFill>
                  <a:srgbClr val="000000"/>
                </a:solidFill>
              </a:rPr>
              <a:t> </a:t>
            </a:r>
            <a:r>
              <a:rPr lang="en-US" altLang="en-US" sz="1800">
                <a:solidFill>
                  <a:srgbClr val="000000"/>
                </a:solidFill>
                <a:latin typeface="Verdana" panose="020B0604030504040204" pitchFamily="34" charset="0"/>
              </a:rPr>
              <a:t>property is mostly used to remove underlines from links:</a:t>
            </a:r>
            <a:endParaRPr lang="en-US" altLang="en-US" sz="1800"/>
          </a:p>
        </p:txBody>
      </p:sp>
      <p:pic>
        <p:nvPicPr>
          <p:cNvPr id="14343" name="Picture 7">
            <a:extLst>
              <a:ext uri="{FF2B5EF4-FFF2-40B4-BE49-F238E27FC236}">
                <a16:creationId xmlns:a16="http://schemas.microsoft.com/office/drawing/2014/main" id="{B607A9B0-1153-C8DE-2E29-2F0EE7B7BA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63" y="5181600"/>
            <a:ext cx="2881312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4" name="Picture 9">
            <a:extLst>
              <a:ext uri="{FF2B5EF4-FFF2-40B4-BE49-F238E27FC236}">
                <a16:creationId xmlns:a16="http://schemas.microsoft.com/office/drawing/2014/main" id="{A12A1F34-62A4-8A9A-4F54-961735D00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5181600"/>
            <a:ext cx="3124200" cy="1125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5" name="Picture 11">
            <a:extLst>
              <a:ext uri="{FF2B5EF4-FFF2-40B4-BE49-F238E27FC236}">
                <a16:creationId xmlns:a16="http://schemas.microsoft.com/office/drawing/2014/main" id="{766EF395-F2F2-2899-8805-CC46D90C1D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5181600"/>
            <a:ext cx="3840163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2665A0-B71C-F352-DF83-E74D122C4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B8C0B3-10D6-4FDF-AB79-6D565A1B6CD0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4">
            <a:extLst>
              <a:ext uri="{FF2B5EF4-FFF2-40B4-BE49-F238E27FC236}">
                <a16:creationId xmlns:a16="http://schemas.microsoft.com/office/drawing/2014/main" id="{BC299297-FB35-04BF-9BAE-9A38BEE35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CSS Links</a:t>
            </a:r>
          </a:p>
        </p:txBody>
      </p:sp>
      <p:sp>
        <p:nvSpPr>
          <p:cNvPr id="15363" name="TextBox 10">
            <a:extLst>
              <a:ext uri="{FF2B5EF4-FFF2-40B4-BE49-F238E27FC236}">
                <a16:creationId xmlns:a16="http://schemas.microsoft.com/office/drawing/2014/main" id="{35929AEA-72EB-45F4-3511-9448488DDF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23875"/>
            <a:ext cx="6096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Segoe UI" panose="020B0502040204020203" pitchFamily="34" charset="0"/>
              </a:rPr>
              <a:t>Background Color</a:t>
            </a:r>
          </a:p>
        </p:txBody>
      </p:sp>
      <p:sp>
        <p:nvSpPr>
          <p:cNvPr id="15364" name="Rectangle 1">
            <a:extLst>
              <a:ext uri="{FF2B5EF4-FFF2-40B4-BE49-F238E27FC236}">
                <a16:creationId xmlns:a16="http://schemas.microsoft.com/office/drawing/2014/main" id="{A8C74D5C-76B9-5268-1847-C2B3402FE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275" y="838200"/>
            <a:ext cx="9825038" cy="369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0000"/>
                </a:solidFill>
                <a:latin typeface="Verdana" panose="020B0604030504040204" pitchFamily="34" charset="0"/>
              </a:rPr>
              <a:t>The</a:t>
            </a:r>
            <a:r>
              <a:rPr lang="en-US" altLang="en-US" sz="1800">
                <a:solidFill>
                  <a:srgbClr val="000000"/>
                </a:solidFill>
              </a:rPr>
              <a:t> </a:t>
            </a:r>
            <a:r>
              <a:rPr lang="en-US" altLang="en-US" sz="1800">
                <a:solidFill>
                  <a:srgbClr val="DC143C"/>
                </a:solidFill>
                <a:latin typeface="Consolas" panose="020B0609020204030204" pitchFamily="49" charset="0"/>
              </a:rPr>
              <a:t>background-color</a:t>
            </a:r>
            <a:r>
              <a:rPr lang="en-US" altLang="en-US" sz="1800">
                <a:solidFill>
                  <a:srgbClr val="000000"/>
                </a:solidFill>
              </a:rPr>
              <a:t> </a:t>
            </a:r>
            <a:r>
              <a:rPr lang="en-US" altLang="en-US" sz="1800">
                <a:solidFill>
                  <a:srgbClr val="000000"/>
                </a:solidFill>
                <a:latin typeface="Verdana" panose="020B0604030504040204" pitchFamily="34" charset="0"/>
              </a:rPr>
              <a:t>property can be used to specify a background color for links:</a:t>
            </a:r>
            <a:endParaRPr lang="en-US" altLang="en-US" sz="1800"/>
          </a:p>
        </p:txBody>
      </p:sp>
      <p:pic>
        <p:nvPicPr>
          <p:cNvPr id="15365" name="Picture 12">
            <a:extLst>
              <a:ext uri="{FF2B5EF4-FFF2-40B4-BE49-F238E27FC236}">
                <a16:creationId xmlns:a16="http://schemas.microsoft.com/office/drawing/2014/main" id="{159080C2-5202-351C-EA2F-7EE833F08F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17638"/>
            <a:ext cx="3886200" cy="490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19B531-8875-C7A9-9BEA-803384134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B8C0B3-10D6-4FDF-AB79-6D565A1B6CD0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Box 4">
            <a:extLst>
              <a:ext uri="{FF2B5EF4-FFF2-40B4-BE49-F238E27FC236}">
                <a16:creationId xmlns:a16="http://schemas.microsoft.com/office/drawing/2014/main" id="{2B6467CD-1504-3930-0CC2-A0DA6E5AD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CSS Links</a:t>
            </a:r>
          </a:p>
        </p:txBody>
      </p:sp>
      <p:sp>
        <p:nvSpPr>
          <p:cNvPr id="16387" name="TextBox 10">
            <a:extLst>
              <a:ext uri="{FF2B5EF4-FFF2-40B4-BE49-F238E27FC236}">
                <a16:creationId xmlns:a16="http://schemas.microsoft.com/office/drawing/2014/main" id="{02DC8B3E-77B8-5C8A-97E6-F2FA50BF3A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23875"/>
            <a:ext cx="6096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Segoe UI" panose="020B0502040204020203" pitchFamily="34" charset="0"/>
              </a:rPr>
              <a:t>Link Buttons</a:t>
            </a:r>
          </a:p>
        </p:txBody>
      </p:sp>
      <p:sp>
        <p:nvSpPr>
          <p:cNvPr id="16388" name="TextBox 7">
            <a:extLst>
              <a:ext uri="{FF2B5EF4-FFF2-40B4-BE49-F238E27FC236}">
                <a16:creationId xmlns:a16="http://schemas.microsoft.com/office/drawing/2014/main" id="{657E68BF-1CC9-2A55-2726-A0D872638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893763"/>
            <a:ext cx="609600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A52A2A"/>
                </a:solidFill>
                <a:latin typeface="Consolas" panose="020B0609020204030204" pitchFamily="49" charset="0"/>
              </a:rPr>
              <a:t>a:link, a:visited 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 background-color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#f44336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 color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white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 padding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14px 25px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 text-align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center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 text-decoration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none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 display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inline-block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US" altLang="en-US" sz="1800"/>
            </a:br>
            <a:br>
              <a:rPr lang="en-US" altLang="en-US" sz="1800"/>
            </a:br>
            <a:r>
              <a:rPr lang="en-US" altLang="en-US" sz="1800">
                <a:solidFill>
                  <a:srgbClr val="A52A2A"/>
                </a:solidFill>
                <a:latin typeface="Consolas" panose="020B0609020204030204" pitchFamily="49" charset="0"/>
              </a:rPr>
              <a:t>a:hover, a:active 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 background-color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red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en-US" sz="18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561EAD-6C94-40FB-470A-7077B4C73B44}"/>
              </a:ext>
            </a:extLst>
          </p:cNvPr>
          <p:cNvSpPr txBox="1"/>
          <p:nvPr/>
        </p:nvSpPr>
        <p:spPr>
          <a:xfrm>
            <a:off x="4648200" y="1524000"/>
            <a:ext cx="6096000" cy="203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GB" dirty="0"/>
              <a:t>&lt;body&gt;</a:t>
            </a:r>
          </a:p>
          <a:p>
            <a:pPr>
              <a:defRPr/>
            </a:pPr>
            <a:endParaRPr lang="en-GB" dirty="0"/>
          </a:p>
          <a:p>
            <a:pPr>
              <a:defRPr/>
            </a:pPr>
            <a:r>
              <a:rPr lang="en-GB" dirty="0"/>
              <a:t>&lt;h2&gt;Link Button&lt;/h2&gt;</a:t>
            </a:r>
          </a:p>
          <a:p>
            <a:pPr>
              <a:defRPr/>
            </a:pPr>
            <a:r>
              <a:rPr lang="en-GB" dirty="0"/>
              <a:t>&lt;p&gt;A link styled as a button:&lt;/p&gt;</a:t>
            </a:r>
          </a:p>
          <a:p>
            <a:pPr>
              <a:defRPr/>
            </a:pPr>
            <a:r>
              <a:rPr lang="en-GB" dirty="0"/>
              <a:t>&lt;a </a:t>
            </a:r>
            <a:r>
              <a:rPr lang="en-GB" dirty="0" err="1"/>
              <a:t>href</a:t>
            </a:r>
            <a:r>
              <a:rPr lang="en-GB" dirty="0"/>
              <a:t>=“index.html" target="_blank"&gt;This is a link&lt;/a&gt;</a:t>
            </a:r>
          </a:p>
          <a:p>
            <a:pPr>
              <a:defRPr/>
            </a:pPr>
            <a:endParaRPr lang="en-GB" dirty="0"/>
          </a:p>
          <a:p>
            <a:pPr>
              <a:defRPr/>
            </a:pPr>
            <a:r>
              <a:rPr lang="en-GB" dirty="0"/>
              <a:t>&lt;/body&gt;</a:t>
            </a:r>
            <a:endParaRPr lang="en-US" dirty="0"/>
          </a:p>
        </p:txBody>
      </p:sp>
      <p:pic>
        <p:nvPicPr>
          <p:cNvPr id="16390" name="Picture 5">
            <a:extLst>
              <a:ext uri="{FF2B5EF4-FFF2-40B4-BE49-F238E27FC236}">
                <a16:creationId xmlns:a16="http://schemas.microsoft.com/office/drawing/2014/main" id="{07A019C7-7F44-DED0-68FF-E333AC020F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4556125"/>
            <a:ext cx="1752600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F929780-FD72-BA0B-5924-F4C0F300A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B8C0B3-10D6-4FDF-AB79-6D565A1B6CD0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4">
            <a:extLst>
              <a:ext uri="{FF2B5EF4-FFF2-40B4-BE49-F238E27FC236}">
                <a16:creationId xmlns:a16="http://schemas.microsoft.com/office/drawing/2014/main" id="{4F5F63F7-20A3-CADB-1174-FA7D655795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CSS Links</a:t>
            </a:r>
          </a:p>
        </p:txBody>
      </p:sp>
      <p:sp>
        <p:nvSpPr>
          <p:cNvPr id="17411" name="TextBox 10">
            <a:extLst>
              <a:ext uri="{FF2B5EF4-FFF2-40B4-BE49-F238E27FC236}">
                <a16:creationId xmlns:a16="http://schemas.microsoft.com/office/drawing/2014/main" id="{10EC5204-6A2F-6C4B-51DE-EB0FCF6912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23875"/>
            <a:ext cx="6096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Segoe UI" panose="020B0502040204020203" pitchFamily="34" charset="0"/>
              </a:rPr>
              <a:t>Link Buttons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B6E745-6A14-3A8A-4604-E4FB45AA574F}"/>
              </a:ext>
            </a:extLst>
          </p:cNvPr>
          <p:cNvSpPr txBox="1"/>
          <p:nvPr/>
        </p:nvSpPr>
        <p:spPr>
          <a:xfrm>
            <a:off x="5334000" y="1524000"/>
            <a:ext cx="6096000" cy="14779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GB" dirty="0"/>
              <a:t>&lt;body&gt;</a:t>
            </a:r>
          </a:p>
          <a:p>
            <a:pPr>
              <a:defRPr/>
            </a:pPr>
            <a:endParaRPr lang="en-GB" dirty="0"/>
          </a:p>
          <a:p>
            <a:pPr>
              <a:defRPr/>
            </a:pPr>
            <a:r>
              <a:rPr lang="en-GB" dirty="0"/>
              <a:t>&lt;a </a:t>
            </a:r>
            <a:r>
              <a:rPr lang="en-GB" dirty="0" err="1"/>
              <a:t>href</a:t>
            </a:r>
            <a:r>
              <a:rPr lang="en-GB" dirty="0"/>
              <a:t>="default.asp" target="_blank"&gt;This is a link&lt;/a&gt;</a:t>
            </a:r>
          </a:p>
          <a:p>
            <a:pPr>
              <a:defRPr/>
            </a:pPr>
            <a:endParaRPr lang="en-GB" dirty="0"/>
          </a:p>
          <a:p>
            <a:pPr>
              <a:defRPr/>
            </a:pPr>
            <a:r>
              <a:rPr lang="en-GB" dirty="0"/>
              <a:t>&lt;/body&gt;</a:t>
            </a:r>
            <a:endParaRPr lang="en-US" dirty="0"/>
          </a:p>
        </p:txBody>
      </p:sp>
      <p:sp>
        <p:nvSpPr>
          <p:cNvPr id="17413" name="TextBox 8">
            <a:extLst>
              <a:ext uri="{FF2B5EF4-FFF2-40B4-BE49-F238E27FC236}">
                <a16:creationId xmlns:a16="http://schemas.microsoft.com/office/drawing/2014/main" id="{4B5E41DC-1DDB-5868-93C7-70E63A474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077913"/>
            <a:ext cx="6096000" cy="3970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A52A2A"/>
                </a:solidFill>
                <a:latin typeface="Consolas" panose="020B0609020204030204" pitchFamily="49" charset="0"/>
              </a:rPr>
              <a:t>a:link, a:visited 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 background-color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white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 color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black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 border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2px solid green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 padding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10px 20px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 text-align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center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 text-decoration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none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 display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inline-block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US" altLang="en-US" sz="1800"/>
            </a:br>
            <a:br>
              <a:rPr lang="en-US" altLang="en-US" sz="1800"/>
            </a:br>
            <a:r>
              <a:rPr lang="en-US" altLang="en-US" sz="1800">
                <a:solidFill>
                  <a:srgbClr val="A52A2A"/>
                </a:solidFill>
                <a:latin typeface="Consolas" panose="020B0609020204030204" pitchFamily="49" charset="0"/>
              </a:rPr>
              <a:t>a:hover, a:active 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 background-color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green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 color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white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en-US" sz="1800"/>
          </a:p>
        </p:txBody>
      </p:sp>
      <p:pic>
        <p:nvPicPr>
          <p:cNvPr id="17414" name="Picture 3">
            <a:extLst>
              <a:ext uri="{FF2B5EF4-FFF2-40B4-BE49-F238E27FC236}">
                <a16:creationId xmlns:a16="http://schemas.microsoft.com/office/drawing/2014/main" id="{D91BE7E0-A46A-C0FF-7D61-7DDFFCD1CE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3538" y="5151438"/>
            <a:ext cx="16097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E6E94C-1751-1904-94C9-1A8CD8FF9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B8C0B3-10D6-4FDF-AB79-6D565A1B6CD0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Box 4">
            <a:extLst>
              <a:ext uri="{FF2B5EF4-FFF2-40B4-BE49-F238E27FC236}">
                <a16:creationId xmlns:a16="http://schemas.microsoft.com/office/drawing/2014/main" id="{9AA5F41A-B56C-96BB-3A7D-47C40AF6A9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CSS Links</a:t>
            </a:r>
          </a:p>
        </p:txBody>
      </p:sp>
      <p:sp>
        <p:nvSpPr>
          <p:cNvPr id="18435" name="TextBox 10">
            <a:extLst>
              <a:ext uri="{FF2B5EF4-FFF2-40B4-BE49-F238E27FC236}">
                <a16:creationId xmlns:a16="http://schemas.microsoft.com/office/drawing/2014/main" id="{466658D9-E88E-5AA2-8942-ED5A3A6C2B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23875"/>
            <a:ext cx="6096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Segoe UI" panose="020B0502040204020203" pitchFamily="34" charset="0"/>
              </a:rPr>
              <a:t>CSS Navigation Bar</a:t>
            </a:r>
          </a:p>
        </p:txBody>
      </p:sp>
      <p:sp>
        <p:nvSpPr>
          <p:cNvPr id="18436" name="TextBox 7">
            <a:extLst>
              <a:ext uri="{FF2B5EF4-FFF2-40B4-BE49-F238E27FC236}">
                <a16:creationId xmlns:a16="http://schemas.microsoft.com/office/drawing/2014/main" id="{47E61E1D-1229-661B-1C68-4DB40A4BB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523875"/>
            <a:ext cx="6096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800">
                <a:solidFill>
                  <a:srgbClr val="000000"/>
                </a:solidFill>
                <a:latin typeface="Segoe UI" panose="020B0502040204020203" pitchFamily="34" charset="0"/>
              </a:rPr>
              <a:t>Navigation Bar = List of Links</a:t>
            </a:r>
          </a:p>
        </p:txBody>
      </p:sp>
      <p:sp>
        <p:nvSpPr>
          <p:cNvPr id="18437" name="TextBox 9">
            <a:extLst>
              <a:ext uri="{FF2B5EF4-FFF2-40B4-BE49-F238E27FC236}">
                <a16:creationId xmlns:a16="http://schemas.microsoft.com/office/drawing/2014/main" id="{E3A67881-EC40-69FC-E83F-B837336DBB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219200"/>
            <a:ext cx="60960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it-IT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it-IT" altLang="en-US" sz="1800">
                <a:solidFill>
                  <a:srgbClr val="A52A2A"/>
                </a:solidFill>
                <a:latin typeface="Consolas" panose="020B0609020204030204" pitchFamily="49" charset="0"/>
              </a:rPr>
              <a:t>ul</a:t>
            </a:r>
            <a:r>
              <a:rPr lang="it-IT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it-IT" altLang="en-US" sz="1800"/>
            </a:br>
            <a:r>
              <a:rPr lang="it-IT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it-IT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it-IT" altLang="en-US" sz="1800">
                <a:solidFill>
                  <a:srgbClr val="A52A2A"/>
                </a:solidFill>
                <a:latin typeface="Consolas" panose="020B0609020204030204" pitchFamily="49" charset="0"/>
              </a:rPr>
              <a:t>li</a:t>
            </a:r>
            <a:r>
              <a:rPr lang="it-IT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&gt;&lt;</a:t>
            </a:r>
            <a:r>
              <a:rPr lang="it-IT" altLang="en-US" sz="1800">
                <a:solidFill>
                  <a:srgbClr val="A52A2A"/>
                </a:solidFill>
                <a:latin typeface="Consolas" panose="020B0609020204030204" pitchFamily="49" charset="0"/>
              </a:rPr>
              <a:t>a</a:t>
            </a:r>
            <a:r>
              <a:rPr lang="it-IT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href</a:t>
            </a:r>
            <a:r>
              <a:rPr lang="it-IT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="default.asp"&gt;</a:t>
            </a:r>
            <a:r>
              <a:rPr lang="it-IT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Home</a:t>
            </a:r>
            <a:r>
              <a:rPr lang="it-IT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it-IT" altLang="en-US" sz="1800">
                <a:solidFill>
                  <a:srgbClr val="A52A2A"/>
                </a:solidFill>
                <a:latin typeface="Consolas" panose="020B0609020204030204" pitchFamily="49" charset="0"/>
              </a:rPr>
              <a:t>/a</a:t>
            </a:r>
            <a:r>
              <a:rPr lang="it-IT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&gt;&lt;</a:t>
            </a:r>
            <a:r>
              <a:rPr lang="it-IT" altLang="en-US" sz="1800">
                <a:solidFill>
                  <a:srgbClr val="A52A2A"/>
                </a:solidFill>
                <a:latin typeface="Consolas" panose="020B0609020204030204" pitchFamily="49" charset="0"/>
              </a:rPr>
              <a:t>/li</a:t>
            </a:r>
            <a:r>
              <a:rPr lang="it-IT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it-IT" altLang="en-US" sz="1800"/>
            </a:br>
            <a:r>
              <a:rPr lang="it-IT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it-IT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it-IT" altLang="en-US" sz="1800">
                <a:solidFill>
                  <a:srgbClr val="A52A2A"/>
                </a:solidFill>
                <a:latin typeface="Consolas" panose="020B0609020204030204" pitchFamily="49" charset="0"/>
              </a:rPr>
              <a:t>li</a:t>
            </a:r>
            <a:r>
              <a:rPr lang="it-IT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&gt;&lt;</a:t>
            </a:r>
            <a:r>
              <a:rPr lang="it-IT" altLang="en-US" sz="1800">
                <a:solidFill>
                  <a:srgbClr val="A52A2A"/>
                </a:solidFill>
                <a:latin typeface="Consolas" panose="020B0609020204030204" pitchFamily="49" charset="0"/>
              </a:rPr>
              <a:t>a</a:t>
            </a:r>
            <a:r>
              <a:rPr lang="it-IT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href</a:t>
            </a:r>
            <a:r>
              <a:rPr lang="it-IT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="news.asp"&gt;</a:t>
            </a:r>
            <a:r>
              <a:rPr lang="it-IT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News</a:t>
            </a:r>
            <a:r>
              <a:rPr lang="it-IT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it-IT" altLang="en-US" sz="1800">
                <a:solidFill>
                  <a:srgbClr val="A52A2A"/>
                </a:solidFill>
                <a:latin typeface="Consolas" panose="020B0609020204030204" pitchFamily="49" charset="0"/>
              </a:rPr>
              <a:t>/a</a:t>
            </a:r>
            <a:r>
              <a:rPr lang="it-IT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&gt;&lt;</a:t>
            </a:r>
            <a:r>
              <a:rPr lang="it-IT" altLang="en-US" sz="1800">
                <a:solidFill>
                  <a:srgbClr val="A52A2A"/>
                </a:solidFill>
                <a:latin typeface="Consolas" panose="020B0609020204030204" pitchFamily="49" charset="0"/>
              </a:rPr>
              <a:t>/li</a:t>
            </a:r>
            <a:r>
              <a:rPr lang="it-IT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it-IT" altLang="en-US" sz="1800"/>
            </a:br>
            <a:r>
              <a:rPr lang="it-IT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it-IT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it-IT" altLang="en-US" sz="1800">
                <a:solidFill>
                  <a:srgbClr val="A52A2A"/>
                </a:solidFill>
                <a:latin typeface="Consolas" panose="020B0609020204030204" pitchFamily="49" charset="0"/>
              </a:rPr>
              <a:t>li</a:t>
            </a:r>
            <a:r>
              <a:rPr lang="it-IT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&gt;&lt;</a:t>
            </a:r>
            <a:r>
              <a:rPr lang="it-IT" altLang="en-US" sz="1800">
                <a:solidFill>
                  <a:srgbClr val="A52A2A"/>
                </a:solidFill>
                <a:latin typeface="Consolas" panose="020B0609020204030204" pitchFamily="49" charset="0"/>
              </a:rPr>
              <a:t>a</a:t>
            </a:r>
            <a:r>
              <a:rPr lang="it-IT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href</a:t>
            </a:r>
            <a:r>
              <a:rPr lang="it-IT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="contact.asp"&gt;</a:t>
            </a:r>
            <a:r>
              <a:rPr lang="it-IT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Contact</a:t>
            </a:r>
            <a:r>
              <a:rPr lang="it-IT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it-IT" altLang="en-US" sz="1800">
                <a:solidFill>
                  <a:srgbClr val="A52A2A"/>
                </a:solidFill>
                <a:latin typeface="Consolas" panose="020B0609020204030204" pitchFamily="49" charset="0"/>
              </a:rPr>
              <a:t>/a</a:t>
            </a:r>
            <a:r>
              <a:rPr lang="it-IT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&gt;&lt;</a:t>
            </a:r>
            <a:r>
              <a:rPr lang="it-IT" altLang="en-US" sz="1800">
                <a:solidFill>
                  <a:srgbClr val="A52A2A"/>
                </a:solidFill>
                <a:latin typeface="Consolas" panose="020B0609020204030204" pitchFamily="49" charset="0"/>
              </a:rPr>
              <a:t>/li</a:t>
            </a:r>
            <a:r>
              <a:rPr lang="it-IT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it-IT" altLang="en-US" sz="1800"/>
            </a:br>
            <a:r>
              <a:rPr lang="it-IT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it-IT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it-IT" altLang="en-US" sz="1800">
                <a:solidFill>
                  <a:srgbClr val="A52A2A"/>
                </a:solidFill>
                <a:latin typeface="Consolas" panose="020B0609020204030204" pitchFamily="49" charset="0"/>
              </a:rPr>
              <a:t>li</a:t>
            </a:r>
            <a:r>
              <a:rPr lang="it-IT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&gt;&lt;</a:t>
            </a:r>
            <a:r>
              <a:rPr lang="it-IT" altLang="en-US" sz="1800">
                <a:solidFill>
                  <a:srgbClr val="A52A2A"/>
                </a:solidFill>
                <a:latin typeface="Consolas" panose="020B0609020204030204" pitchFamily="49" charset="0"/>
              </a:rPr>
              <a:t>a</a:t>
            </a:r>
            <a:r>
              <a:rPr lang="it-IT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href</a:t>
            </a:r>
            <a:r>
              <a:rPr lang="it-IT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="about.asp"&gt;</a:t>
            </a:r>
            <a:r>
              <a:rPr lang="it-IT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About</a:t>
            </a:r>
            <a:r>
              <a:rPr lang="it-IT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it-IT" altLang="en-US" sz="1800">
                <a:solidFill>
                  <a:srgbClr val="A52A2A"/>
                </a:solidFill>
                <a:latin typeface="Consolas" panose="020B0609020204030204" pitchFamily="49" charset="0"/>
              </a:rPr>
              <a:t>/a</a:t>
            </a:r>
            <a:r>
              <a:rPr lang="it-IT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&gt;&lt;</a:t>
            </a:r>
            <a:r>
              <a:rPr lang="it-IT" altLang="en-US" sz="1800">
                <a:solidFill>
                  <a:srgbClr val="A52A2A"/>
                </a:solidFill>
                <a:latin typeface="Consolas" panose="020B0609020204030204" pitchFamily="49" charset="0"/>
              </a:rPr>
              <a:t>/li</a:t>
            </a:r>
            <a:r>
              <a:rPr lang="it-IT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br>
              <a:rPr lang="it-IT" altLang="en-US" sz="1800"/>
            </a:br>
            <a:r>
              <a:rPr lang="it-IT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it-IT" altLang="en-US" sz="1800">
                <a:solidFill>
                  <a:srgbClr val="A52A2A"/>
                </a:solidFill>
                <a:latin typeface="Consolas" panose="020B0609020204030204" pitchFamily="49" charset="0"/>
              </a:rPr>
              <a:t>/ul</a:t>
            </a:r>
            <a:r>
              <a:rPr lang="it-IT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&gt;</a:t>
            </a:r>
            <a:endParaRPr lang="en-US" altLang="en-US" sz="1800"/>
          </a:p>
        </p:txBody>
      </p:sp>
      <p:sp>
        <p:nvSpPr>
          <p:cNvPr id="18438" name="TextBox 12">
            <a:extLst>
              <a:ext uri="{FF2B5EF4-FFF2-40B4-BE49-F238E27FC236}">
                <a16:creationId xmlns:a16="http://schemas.microsoft.com/office/drawing/2014/main" id="{69B75472-39C8-3899-CB2D-7CB4E77F4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1495425"/>
            <a:ext cx="6096000" cy="120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hlinkClick r:id="rId2"/>
              </a:rPr>
              <a:t>Home</a:t>
            </a:r>
            <a:endParaRPr lang="en-US" altLang="en-US" sz="18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hlinkClick r:id="rId3"/>
              </a:rPr>
              <a:t>News</a:t>
            </a:r>
            <a:endParaRPr lang="en-US" altLang="en-US" sz="18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hlinkClick r:id="rId4"/>
              </a:rPr>
              <a:t>Contact</a:t>
            </a:r>
            <a:endParaRPr lang="en-US" altLang="en-US" sz="18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lang="en-US" altLang="en-US" sz="1800">
                <a:solidFill>
                  <a:srgbClr val="000000"/>
                </a:solidFill>
                <a:latin typeface="Times New Roman" panose="02020603050405020304" pitchFamily="18" charset="0"/>
                <a:hlinkClick r:id="rId5"/>
              </a:rPr>
              <a:t>About</a:t>
            </a:r>
            <a:endParaRPr lang="en-US" altLang="en-US" sz="18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D90DAF-3FE1-989A-7941-702918E6827D}"/>
              </a:ext>
            </a:extLst>
          </p:cNvPr>
          <p:cNvSpPr txBox="1"/>
          <p:nvPr/>
        </p:nvSpPr>
        <p:spPr>
          <a:xfrm>
            <a:off x="381000" y="4160838"/>
            <a:ext cx="6934200" cy="2032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Removing the bullets :</a:t>
            </a:r>
          </a:p>
          <a:p>
            <a:pPr>
              <a:defRPr/>
            </a:pPr>
            <a:endParaRPr lang="en-US" dirty="0">
              <a:solidFill>
                <a:srgbClr val="A52A2A"/>
              </a:solidFill>
              <a:latin typeface="Consolas" panose="020B0609020204030204" pitchFamily="49" charset="0"/>
            </a:endParaRPr>
          </a:p>
          <a:p>
            <a:pPr>
              <a:defRPr/>
            </a:pPr>
            <a:r>
              <a:rPr lang="pl-PL" dirty="0">
                <a:solidFill>
                  <a:srgbClr val="A52A2A"/>
                </a:solidFill>
                <a:latin typeface="Consolas" panose="020B0609020204030204" pitchFamily="49" charset="0"/>
              </a:rPr>
              <a:t>ul </a:t>
            </a:r>
            <a:r>
              <a:rPr lang="pl-PL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br>
              <a:rPr lang="pl-PL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pl-PL" dirty="0">
                <a:solidFill>
                  <a:srgbClr val="FF0000"/>
                </a:solidFill>
                <a:latin typeface="Consolas" panose="020B0609020204030204" pitchFamily="49" charset="0"/>
              </a:rPr>
              <a:t>  list-style-type</a:t>
            </a:r>
            <a:r>
              <a:rPr lang="pl-PL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pl-PL" dirty="0">
                <a:solidFill>
                  <a:srgbClr val="0000CD"/>
                </a:solidFill>
                <a:latin typeface="Consolas" panose="020B0609020204030204" pitchFamily="49" charset="0"/>
              </a:rPr>
              <a:t> none</a:t>
            </a:r>
            <a:r>
              <a:rPr lang="pl-PL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pl-PL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pl-PL" dirty="0">
                <a:solidFill>
                  <a:srgbClr val="FF0000"/>
                </a:solidFill>
                <a:latin typeface="Consolas" panose="020B0609020204030204" pitchFamily="49" charset="0"/>
              </a:rPr>
              <a:t>  margin</a:t>
            </a:r>
            <a:r>
              <a:rPr lang="pl-PL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pl-PL" dirty="0">
                <a:solidFill>
                  <a:srgbClr val="0000CD"/>
                </a:solidFill>
                <a:latin typeface="Consolas" panose="020B0609020204030204" pitchFamily="49" charset="0"/>
              </a:rPr>
              <a:t> 0</a:t>
            </a:r>
            <a:r>
              <a:rPr lang="pl-PL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pl-PL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pl-PL" dirty="0">
                <a:solidFill>
                  <a:srgbClr val="FF0000"/>
                </a:solidFill>
                <a:latin typeface="Consolas" panose="020B0609020204030204" pitchFamily="49" charset="0"/>
              </a:rPr>
              <a:t>  padding</a:t>
            </a:r>
            <a:r>
              <a:rPr lang="pl-PL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pl-PL" dirty="0">
                <a:solidFill>
                  <a:srgbClr val="0000CD"/>
                </a:solidFill>
                <a:latin typeface="Consolas" panose="020B0609020204030204" pitchFamily="49" charset="0"/>
              </a:rPr>
              <a:t> 0</a:t>
            </a:r>
            <a:r>
              <a:rPr lang="pl-PL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pl-PL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pl-PL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pic>
        <p:nvPicPr>
          <p:cNvPr id="18440" name="Picture 14">
            <a:extLst>
              <a:ext uri="{FF2B5EF4-FFF2-40B4-BE49-F238E27FC236}">
                <a16:creationId xmlns:a16="http://schemas.microsoft.com/office/drawing/2014/main" id="{33E4792B-8B1A-9A4F-A2F5-E9F62F502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8763" y="4160838"/>
            <a:ext cx="920750" cy="120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CB7503-AB74-9CDE-A1DF-98775851A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B8C0B3-10D6-4FDF-AB79-6D565A1B6CD0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Box 4">
            <a:extLst>
              <a:ext uri="{FF2B5EF4-FFF2-40B4-BE49-F238E27FC236}">
                <a16:creationId xmlns:a16="http://schemas.microsoft.com/office/drawing/2014/main" id="{AD4D6F45-C059-E8C0-C200-207972A511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CSS Links</a:t>
            </a:r>
          </a:p>
        </p:txBody>
      </p:sp>
      <p:sp>
        <p:nvSpPr>
          <p:cNvPr id="19459" name="TextBox 10">
            <a:extLst>
              <a:ext uri="{FF2B5EF4-FFF2-40B4-BE49-F238E27FC236}">
                <a16:creationId xmlns:a16="http://schemas.microsoft.com/office/drawing/2014/main" id="{9AC0A0BA-C965-A810-D474-36281D0CF0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23875"/>
            <a:ext cx="6096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Segoe UI" panose="020B0502040204020203" pitchFamily="34" charset="0"/>
              </a:rPr>
              <a:t>CSS Vertical Navigation Bar</a:t>
            </a:r>
          </a:p>
        </p:txBody>
      </p:sp>
      <p:sp>
        <p:nvSpPr>
          <p:cNvPr id="19460" name="TextBox 11">
            <a:extLst>
              <a:ext uri="{FF2B5EF4-FFF2-40B4-BE49-F238E27FC236}">
                <a16:creationId xmlns:a16="http://schemas.microsoft.com/office/drawing/2014/main" id="{C14F7519-75CD-A856-C336-9329C71150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047750"/>
            <a:ext cx="6096000" cy="563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A52A2A"/>
                </a:solidFill>
                <a:latin typeface="Consolas" panose="020B0609020204030204" pitchFamily="49" charset="0"/>
              </a:rPr>
              <a:t>ul 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 list-style-type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none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 margin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0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 padding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0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 width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200px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 background-color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#f1f1f1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US" altLang="en-US" sz="1800"/>
            </a:br>
            <a:br>
              <a:rPr lang="en-US" altLang="en-US" sz="1800"/>
            </a:br>
            <a:r>
              <a:rPr lang="en-US" altLang="en-US" sz="1800">
                <a:solidFill>
                  <a:srgbClr val="A52A2A"/>
                </a:solidFill>
                <a:latin typeface="Consolas" panose="020B0609020204030204" pitchFamily="49" charset="0"/>
              </a:rPr>
              <a:t>li a 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 display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block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 color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#000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 padding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8px 16px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 text-decoration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none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US" altLang="en-US" sz="1800"/>
            </a:br>
            <a:br>
              <a:rPr lang="en-US" altLang="en-US" sz="1800"/>
            </a:br>
            <a:r>
              <a:rPr lang="en-US" altLang="en-US" sz="1800">
                <a:solidFill>
                  <a:srgbClr val="008000"/>
                </a:solidFill>
                <a:latin typeface="Consolas" panose="020B0609020204030204" pitchFamily="49" charset="0"/>
              </a:rPr>
              <a:t>/* Change the link color on hover */</a:t>
            </a:r>
            <a:br>
              <a:rPr lang="en-US" altLang="en-US" sz="1800"/>
            </a:br>
            <a:r>
              <a:rPr lang="en-US" altLang="en-US" sz="1800">
                <a:solidFill>
                  <a:srgbClr val="A52A2A"/>
                </a:solidFill>
                <a:latin typeface="Consolas" panose="020B0609020204030204" pitchFamily="49" charset="0"/>
              </a:rPr>
              <a:t>li a:hover 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 background-color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#555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 color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white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B3F32D-8028-E657-121C-270A2ED0397D}"/>
              </a:ext>
            </a:extLst>
          </p:cNvPr>
          <p:cNvSpPr txBox="1"/>
          <p:nvPr/>
        </p:nvSpPr>
        <p:spPr>
          <a:xfrm>
            <a:off x="6324600" y="1981200"/>
            <a:ext cx="4800600" cy="34163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dirty="0"/>
              <a:t>&lt;body&gt;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&lt;h2&gt;Vertical Navigation Bar&lt;/h2&gt;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&lt;ul&gt;</a:t>
            </a:r>
          </a:p>
          <a:p>
            <a:pPr>
              <a:defRPr/>
            </a:pPr>
            <a:r>
              <a:rPr lang="en-US" dirty="0"/>
              <a:t>  &lt;li&gt;&lt;a </a:t>
            </a:r>
            <a:r>
              <a:rPr lang="en-US" dirty="0" err="1"/>
              <a:t>href</a:t>
            </a:r>
            <a:r>
              <a:rPr lang="en-US" dirty="0"/>
              <a:t>="#home"&gt;Home&lt;/a&gt;&lt;/li&gt;</a:t>
            </a:r>
          </a:p>
          <a:p>
            <a:pPr>
              <a:defRPr/>
            </a:pPr>
            <a:r>
              <a:rPr lang="en-US" dirty="0"/>
              <a:t>  &lt;li&gt;&lt;a </a:t>
            </a:r>
            <a:r>
              <a:rPr lang="en-US" dirty="0" err="1"/>
              <a:t>href</a:t>
            </a:r>
            <a:r>
              <a:rPr lang="en-US" dirty="0"/>
              <a:t>="#news"&gt;News&lt;/a&gt;&lt;/li&gt;</a:t>
            </a:r>
          </a:p>
          <a:p>
            <a:pPr>
              <a:defRPr/>
            </a:pPr>
            <a:r>
              <a:rPr lang="en-US" dirty="0"/>
              <a:t>  &lt;li&gt;&lt;a </a:t>
            </a:r>
            <a:r>
              <a:rPr lang="en-US" dirty="0" err="1"/>
              <a:t>href</a:t>
            </a:r>
            <a:r>
              <a:rPr lang="en-US" dirty="0"/>
              <a:t>="#contact"&gt;Contact&lt;/a&gt;&lt;/li&gt;</a:t>
            </a:r>
          </a:p>
          <a:p>
            <a:pPr>
              <a:defRPr/>
            </a:pPr>
            <a:r>
              <a:rPr lang="en-US" dirty="0"/>
              <a:t>  &lt;li&gt;&lt;a </a:t>
            </a:r>
            <a:r>
              <a:rPr lang="en-US" dirty="0" err="1"/>
              <a:t>href</a:t>
            </a:r>
            <a:r>
              <a:rPr lang="en-US" dirty="0"/>
              <a:t>="#about"&gt;About&lt;/a&gt;&lt;/li&gt;</a:t>
            </a:r>
          </a:p>
          <a:p>
            <a:pPr>
              <a:defRPr/>
            </a:pPr>
            <a:r>
              <a:rPr lang="en-US" dirty="0"/>
              <a:t>&lt;/ul&gt;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&lt;/body&gt;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72E890-4993-AF31-F4E8-76E8E71B4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B8C0B3-10D6-4FDF-AB79-6D565A1B6CD0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Box 4">
            <a:extLst>
              <a:ext uri="{FF2B5EF4-FFF2-40B4-BE49-F238E27FC236}">
                <a16:creationId xmlns:a16="http://schemas.microsoft.com/office/drawing/2014/main" id="{359D4E23-7FA5-3FC2-038F-18F6CE3C6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CSS Links</a:t>
            </a:r>
          </a:p>
        </p:txBody>
      </p:sp>
      <p:sp>
        <p:nvSpPr>
          <p:cNvPr id="20483" name="TextBox 10">
            <a:extLst>
              <a:ext uri="{FF2B5EF4-FFF2-40B4-BE49-F238E27FC236}">
                <a16:creationId xmlns:a16="http://schemas.microsoft.com/office/drawing/2014/main" id="{49C8127F-B495-DDB2-623F-B0A90114FF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23875"/>
            <a:ext cx="6096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Segoe UI" panose="020B0502040204020203" pitchFamily="34" charset="0"/>
              </a:rPr>
              <a:t>CSS Vertical Navigation Bar</a:t>
            </a:r>
          </a:p>
        </p:txBody>
      </p:sp>
      <p:sp>
        <p:nvSpPr>
          <p:cNvPr id="20484" name="TextBox 11">
            <a:extLst>
              <a:ext uri="{FF2B5EF4-FFF2-40B4-BE49-F238E27FC236}">
                <a16:creationId xmlns:a16="http://schemas.microsoft.com/office/drawing/2014/main" id="{54348087-4976-4596-B584-E94DADE73C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047750"/>
            <a:ext cx="6096000" cy="563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A52A2A"/>
                </a:solidFill>
                <a:latin typeface="Consolas" panose="020B0609020204030204" pitchFamily="49" charset="0"/>
              </a:rPr>
              <a:t>ul 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 list-style-type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none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 margin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0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 padding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0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 width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200px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 background-color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#f1f1f1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US" altLang="en-US" sz="1800"/>
            </a:br>
            <a:br>
              <a:rPr lang="en-US" altLang="en-US" sz="1800"/>
            </a:br>
            <a:r>
              <a:rPr lang="en-US" altLang="en-US" sz="1800">
                <a:solidFill>
                  <a:srgbClr val="A52A2A"/>
                </a:solidFill>
                <a:latin typeface="Consolas" panose="020B0609020204030204" pitchFamily="49" charset="0"/>
              </a:rPr>
              <a:t>li a 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 display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block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 color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#000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 padding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8px 16px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 text-decoration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none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US" altLang="en-US" sz="1800"/>
            </a:br>
            <a:br>
              <a:rPr lang="en-US" altLang="en-US" sz="1800"/>
            </a:br>
            <a:r>
              <a:rPr lang="en-US" altLang="en-US" sz="1800">
                <a:solidFill>
                  <a:srgbClr val="008000"/>
                </a:solidFill>
                <a:latin typeface="Consolas" panose="020B0609020204030204" pitchFamily="49" charset="0"/>
              </a:rPr>
              <a:t>/* Change the link color on hover */</a:t>
            </a:r>
            <a:br>
              <a:rPr lang="en-US" altLang="en-US" sz="1800"/>
            </a:br>
            <a:r>
              <a:rPr lang="en-US" altLang="en-US" sz="1800">
                <a:solidFill>
                  <a:srgbClr val="A52A2A"/>
                </a:solidFill>
                <a:latin typeface="Consolas" panose="020B0609020204030204" pitchFamily="49" charset="0"/>
              </a:rPr>
              <a:t>li a:hover 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 background-color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#555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 color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white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D6DC3A-3429-B1D8-7249-2401113B2F4E}"/>
              </a:ext>
            </a:extLst>
          </p:cNvPr>
          <p:cNvSpPr txBox="1"/>
          <p:nvPr/>
        </p:nvSpPr>
        <p:spPr>
          <a:xfrm>
            <a:off x="6232525" y="431800"/>
            <a:ext cx="4800600" cy="34163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dirty="0"/>
              <a:t>&lt;body&gt;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&lt;h2&gt;Vertical Navigation Bar&lt;/h2&gt;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&lt;ul&gt;</a:t>
            </a:r>
          </a:p>
          <a:p>
            <a:pPr>
              <a:defRPr/>
            </a:pPr>
            <a:r>
              <a:rPr lang="en-US" dirty="0"/>
              <a:t>  &lt;li&gt;&lt;a </a:t>
            </a:r>
            <a:r>
              <a:rPr lang="en-US" dirty="0" err="1"/>
              <a:t>href</a:t>
            </a:r>
            <a:r>
              <a:rPr lang="en-US" dirty="0"/>
              <a:t>="#home"&gt;Home&lt;/a&gt;&lt;/li&gt;</a:t>
            </a:r>
          </a:p>
          <a:p>
            <a:pPr>
              <a:defRPr/>
            </a:pPr>
            <a:r>
              <a:rPr lang="en-US" dirty="0"/>
              <a:t>  &lt;li&gt;&lt;a </a:t>
            </a:r>
            <a:r>
              <a:rPr lang="en-US" dirty="0" err="1"/>
              <a:t>href</a:t>
            </a:r>
            <a:r>
              <a:rPr lang="en-US" dirty="0"/>
              <a:t>="#news"&gt;News&lt;/a&gt;&lt;/li&gt;</a:t>
            </a:r>
          </a:p>
          <a:p>
            <a:pPr>
              <a:defRPr/>
            </a:pPr>
            <a:r>
              <a:rPr lang="en-US" dirty="0"/>
              <a:t>  &lt;li&gt;&lt;a </a:t>
            </a:r>
            <a:r>
              <a:rPr lang="en-US" dirty="0" err="1"/>
              <a:t>href</a:t>
            </a:r>
            <a:r>
              <a:rPr lang="en-US" dirty="0"/>
              <a:t>="#contact"&gt;Contact&lt;/a&gt;&lt;/li&gt;</a:t>
            </a:r>
          </a:p>
          <a:p>
            <a:pPr>
              <a:defRPr/>
            </a:pPr>
            <a:r>
              <a:rPr lang="en-US" dirty="0"/>
              <a:t>  &lt;li&gt;&lt;a </a:t>
            </a:r>
            <a:r>
              <a:rPr lang="en-US" dirty="0" err="1"/>
              <a:t>href</a:t>
            </a:r>
            <a:r>
              <a:rPr lang="en-US" dirty="0"/>
              <a:t>="#about"&gt;About&lt;/a&gt;&lt;/li&gt;</a:t>
            </a:r>
          </a:p>
          <a:p>
            <a:pPr>
              <a:defRPr/>
            </a:pPr>
            <a:r>
              <a:rPr lang="en-US" dirty="0"/>
              <a:t>&lt;/ul&gt;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&lt;/body&gt;</a:t>
            </a:r>
          </a:p>
        </p:txBody>
      </p:sp>
      <p:pic>
        <p:nvPicPr>
          <p:cNvPr id="20486" name="Picture 2">
            <a:extLst>
              <a:ext uri="{FF2B5EF4-FFF2-40B4-BE49-F238E27FC236}">
                <a16:creationId xmlns:a16="http://schemas.microsoft.com/office/drawing/2014/main" id="{F1ED85EF-6D3A-9AA9-BA56-5D65955514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4344988"/>
            <a:ext cx="2752725" cy="191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24B13A-ABDF-AD69-5240-270535044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B8C0B3-10D6-4FDF-AB79-6D565A1B6CD0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Box 4">
            <a:extLst>
              <a:ext uri="{FF2B5EF4-FFF2-40B4-BE49-F238E27FC236}">
                <a16:creationId xmlns:a16="http://schemas.microsoft.com/office/drawing/2014/main" id="{8E9F0460-0B12-0252-A55D-459D246B5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CSS Links</a:t>
            </a:r>
          </a:p>
        </p:txBody>
      </p:sp>
      <p:sp>
        <p:nvSpPr>
          <p:cNvPr id="21507" name="TextBox 10">
            <a:extLst>
              <a:ext uri="{FF2B5EF4-FFF2-40B4-BE49-F238E27FC236}">
                <a16:creationId xmlns:a16="http://schemas.microsoft.com/office/drawing/2014/main" id="{7A514AB7-E2E1-12D0-465B-63AF5BF3E0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23875"/>
            <a:ext cx="9906000" cy="397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Segoe UI" panose="020B0502040204020203" pitchFamily="34" charset="0"/>
              </a:rPr>
              <a:t>CSS Vertical Navigation Bar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Segoe UI" panose="020B0502040204020203" pitchFamily="34" charset="0"/>
              </a:rPr>
              <a:t>Vertical Navigation Bar Examples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br>
              <a:rPr lang="en-US" altLang="en-US" sz="1800"/>
            </a:br>
            <a:endParaRPr lang="en-US" altLang="en-US" sz="1800" b="1">
              <a:solidFill>
                <a:srgbClr val="0033CC"/>
              </a:solidFill>
              <a:latin typeface="Segoe UI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33CC"/>
                </a:solidFill>
                <a:latin typeface="Segoe UI" panose="020B0502040204020203" pitchFamily="34" charset="0"/>
              </a:rPr>
              <a:t>Check CSCI390Week04_L02_Example01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rgbClr val="0033CC"/>
              </a:solidFill>
              <a:latin typeface="Segoe UI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33CC"/>
                </a:solidFill>
                <a:latin typeface="Segoe UI" panose="020B0502040204020203" pitchFamily="34" charset="0"/>
              </a:rPr>
              <a:t>Check CSCI390Week04_L02_Example02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0033CC"/>
              </a:solidFill>
              <a:latin typeface="Segoe UI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33CC"/>
                </a:solidFill>
                <a:latin typeface="Segoe UI" panose="020B0502040204020203" pitchFamily="34" charset="0"/>
              </a:rPr>
              <a:t>Check CSCI390Week04_L02_Example03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0033CC"/>
              </a:solidFill>
              <a:latin typeface="Segoe UI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rgbClr val="0033CC"/>
              </a:solidFill>
              <a:latin typeface="Segoe UI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rgbClr val="0033CC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E0AABF-5239-02C8-F1B9-D8B962DD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B8C0B3-10D6-4FDF-AB79-6D565A1B6CD0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Box 4">
            <a:extLst>
              <a:ext uri="{FF2B5EF4-FFF2-40B4-BE49-F238E27FC236}">
                <a16:creationId xmlns:a16="http://schemas.microsoft.com/office/drawing/2014/main" id="{0200BF0C-CFF4-6C94-5955-73A89370FB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0"/>
            <a:ext cx="12039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b="1">
                <a:solidFill>
                  <a:srgbClr val="0033CC"/>
                </a:solidFill>
                <a:latin typeface="Segoe UI" panose="020B0502040204020203" pitchFamily="34" charset="0"/>
              </a:rPr>
              <a:t>CSS Links</a:t>
            </a:r>
          </a:p>
        </p:txBody>
      </p:sp>
      <p:sp>
        <p:nvSpPr>
          <p:cNvPr id="22531" name="TextBox 10">
            <a:extLst>
              <a:ext uri="{FF2B5EF4-FFF2-40B4-BE49-F238E27FC236}">
                <a16:creationId xmlns:a16="http://schemas.microsoft.com/office/drawing/2014/main" id="{59A614B9-CD78-7D9E-4F7F-D92B66271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523875"/>
            <a:ext cx="11887200" cy="618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000000"/>
                </a:solidFill>
                <a:latin typeface="Segoe UI" panose="020B0502040204020203" pitchFamily="34" charset="0"/>
              </a:rPr>
              <a:t>CSS Horizontal Navigation Bar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GB" altLang="en-US" sz="1800">
                <a:solidFill>
                  <a:srgbClr val="000000"/>
                </a:solidFill>
                <a:latin typeface="Verdana" panose="020B0604030504040204" pitchFamily="34" charset="0"/>
              </a:rPr>
              <a:t>One way to build a horizontal navigation bar is to specify the &lt;li&gt; elements as inline, in addition to the "standard" code:</a:t>
            </a:r>
            <a:endParaRPr lang="en-US" altLang="en-US" sz="1800" b="1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A52A2A"/>
                </a:solidFill>
                <a:latin typeface="Consolas" panose="020B0609020204030204" pitchFamily="49" charset="0"/>
              </a:rPr>
              <a:t>li 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  <a:t>  display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1800">
                <a:solidFill>
                  <a:srgbClr val="0000CD"/>
                </a:solidFill>
                <a:latin typeface="Consolas" panose="020B0609020204030204" pitchFamily="49" charset="0"/>
              </a:rPr>
              <a:t> inline</a:t>
            </a: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br>
              <a:rPr lang="en-US" altLang="en-US" sz="180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altLang="en-US" sz="180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en-US" sz="1800" b="1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  <a:latin typeface="Segoe UI" panose="020B0502040204020203" pitchFamily="34" charset="0"/>
              </a:rPr>
              <a:t>Horizontal Navigation Bar Examples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br>
              <a:rPr lang="en-US" altLang="en-US" sz="1800"/>
            </a:br>
            <a:endParaRPr lang="en-US" altLang="en-US" sz="1800" b="1">
              <a:solidFill>
                <a:srgbClr val="0033CC"/>
              </a:solidFill>
              <a:latin typeface="Segoe UI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33CC"/>
                </a:solidFill>
                <a:latin typeface="Segoe UI" panose="020B0502040204020203" pitchFamily="34" charset="0"/>
              </a:rPr>
              <a:t>Check CSCI390Week04_L02_Example04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 b="1">
              <a:solidFill>
                <a:srgbClr val="0033CC"/>
              </a:solidFill>
              <a:latin typeface="Segoe UI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33CC"/>
                </a:solidFill>
                <a:latin typeface="Segoe UI" panose="020B0502040204020203" pitchFamily="34" charset="0"/>
              </a:rPr>
              <a:t>Check CSCI390Week04_L02_Example05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0033CC"/>
              </a:solidFill>
              <a:latin typeface="Segoe UI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33CC"/>
                </a:solidFill>
                <a:latin typeface="Segoe UI" panose="020B0502040204020203" pitchFamily="34" charset="0"/>
              </a:rPr>
              <a:t>Check CSCI390Week04_L02_Example06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0033CC"/>
              </a:solidFill>
              <a:latin typeface="Segoe UI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33CC"/>
                </a:solidFill>
                <a:latin typeface="Segoe UI" panose="020B0502040204020203" pitchFamily="34" charset="0"/>
              </a:rPr>
              <a:t>Check CSCI390Week04_L02_Example07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>
              <a:solidFill>
                <a:srgbClr val="0033CC"/>
              </a:solidFill>
              <a:latin typeface="Segoe UI" panose="020B0502040204020203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0033CC"/>
                </a:solidFill>
                <a:latin typeface="Segoe UI" panose="020B0502040204020203" pitchFamily="34" charset="0"/>
              </a:rPr>
              <a:t>Check CSCI390Week04_L02_Example08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24C329-D442-F40B-F4D6-E56A1A04B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B8C0B3-10D6-4FDF-AB79-6D565A1B6CD0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23C66856B3314981D2E215FB7144D6" ma:contentTypeVersion="0" ma:contentTypeDescription="Create a new document." ma:contentTypeScope="" ma:versionID="a8f50facb5a903a92afdc154f06e588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E58BC75-1839-440A-A4CD-C41B27AEEABC}"/>
</file>

<file path=customXml/itemProps2.xml><?xml version="1.0" encoding="utf-8"?>
<ds:datastoreItem xmlns:ds="http://schemas.openxmlformats.org/officeDocument/2006/customXml" ds:itemID="{96EEF667-81B7-496C-9F6F-689ED40092FC}"/>
</file>

<file path=customXml/itemProps3.xml><?xml version="1.0" encoding="utf-8"?>
<ds:datastoreItem xmlns:ds="http://schemas.openxmlformats.org/officeDocument/2006/customXml" ds:itemID="{B85365B4-DEBC-4358-AC3A-2AFF636CA901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6086</TotalTime>
  <Words>962</Words>
  <Application>Microsoft Office PowerPoint</Application>
  <PresentationFormat>Widescreen</PresentationFormat>
  <Paragraphs>117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Consolas</vt:lpstr>
      <vt:lpstr>Segoe UI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Bassel Dhaini</dc:creator>
  <cp:lastModifiedBy>Kamal Beydoun</cp:lastModifiedBy>
  <cp:revision>1429</cp:revision>
  <dcterms:created xsi:type="dcterms:W3CDTF">1601-01-01T00:00:00Z</dcterms:created>
  <dcterms:modified xsi:type="dcterms:W3CDTF">2025-09-25T08:30:35Z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0x010100BE23C66856B3314981D2E215FB7144D6</vt:lpwstr>
  </property>
</Properties>
</file>