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07" r:id="rId1"/>
  </p:sldMasterIdLst>
  <p:notesMasterIdLst>
    <p:notesMasterId r:id="rId10"/>
  </p:notesMasterIdLst>
  <p:sldIdLst>
    <p:sldId id="256" r:id="rId2"/>
    <p:sldId id="259" r:id="rId3"/>
    <p:sldId id="260" r:id="rId4"/>
    <p:sldId id="263" r:id="rId5"/>
    <p:sldId id="272" r:id="rId6"/>
    <p:sldId id="267" r:id="rId7"/>
    <p:sldId id="268" r:id="rId8"/>
    <p:sldId id="270" r:id="rId9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21" autoAdjust="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modSld">
      <pc:chgData name="Kamal Beydoun" userId="e88cbbf3-5e5f-46df-aecf-fe10b322ce6e" providerId="ADAL" clId="{E4876F53-9B78-423D-99A1-E03CA3D47365}" dt="2025-09-21T17:33:28.096" v="3" actId="20577"/>
      <pc:docMkLst>
        <pc:docMk/>
      </pc:docMkLst>
      <pc:sldChg chg="modSp mod">
        <pc:chgData name="Kamal Beydoun" userId="e88cbbf3-5e5f-46df-aecf-fe10b322ce6e" providerId="ADAL" clId="{E4876F53-9B78-423D-99A1-E03CA3D47365}" dt="2025-09-21T17:28:19.906" v="2" actId="20577"/>
        <pc:sldMkLst>
          <pc:docMk/>
          <pc:sldMk cId="0" sldId="267"/>
        </pc:sldMkLst>
        <pc:spChg chg="mod">
          <ac:chgData name="Kamal Beydoun" userId="e88cbbf3-5e5f-46df-aecf-fe10b322ce6e" providerId="ADAL" clId="{E4876F53-9B78-423D-99A1-E03CA3D47365}" dt="2025-09-21T17:28:19.906" v="2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21T17:33:28.096" v="3" actId="20577"/>
        <pc:sldMkLst>
          <pc:docMk/>
          <pc:sldMk cId="0" sldId="268"/>
        </pc:sldMkLst>
        <pc:spChg chg="mod">
          <ac:chgData name="Kamal Beydoun" userId="e88cbbf3-5e5f-46df-aecf-fe10b322ce6e" providerId="ADAL" clId="{E4876F53-9B78-423D-99A1-E03CA3D47365}" dt="2025-09-21T17:33:28.096" v="3" actId="2057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030A9-2D1C-4337-83A6-496CAEDB3C6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F2816-86E2-4F51-B9D1-BF4806504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7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🔹 MERN = MongoDB + Express.js + React + Node.js</a:t>
            </a:r>
          </a:p>
          <a:p>
            <a:r>
              <a:rPr lang="en-US" b="1" dirty="0"/>
              <a:t>MongoDB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b="1" dirty="0"/>
              <a:t>NoSQL database</a:t>
            </a:r>
            <a:r>
              <a:rPr lang="en-US" dirty="0"/>
              <a:t> that stores data in JSON-like documents.</a:t>
            </a:r>
          </a:p>
          <a:p>
            <a:pPr lvl="1"/>
            <a:r>
              <a:rPr lang="en-US" dirty="0"/>
              <a:t>Flexible and scalable for handling large amounts of unstructured or semi-structured data.</a:t>
            </a:r>
          </a:p>
          <a:p>
            <a:r>
              <a:rPr lang="en-US" b="1" dirty="0"/>
              <a:t>Express.js</a:t>
            </a:r>
            <a:endParaRPr lang="en-US" dirty="0"/>
          </a:p>
          <a:p>
            <a:pPr lvl="1"/>
            <a:r>
              <a:rPr lang="en-US" dirty="0"/>
              <a:t>A lightweight </a:t>
            </a:r>
            <a:r>
              <a:rPr lang="en-US" b="1" dirty="0"/>
              <a:t>web application framework</a:t>
            </a:r>
            <a:r>
              <a:rPr lang="en-US" dirty="0"/>
              <a:t> for Node.js.</a:t>
            </a:r>
          </a:p>
          <a:p>
            <a:pPr lvl="1"/>
            <a:r>
              <a:rPr lang="en-US" dirty="0"/>
              <a:t>Simplifies building server-side APIs, handling HTTP requests, and managing middleware.</a:t>
            </a:r>
          </a:p>
          <a:p>
            <a:r>
              <a:rPr lang="en-US" b="1" dirty="0"/>
              <a:t>React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b="1" dirty="0"/>
              <a:t>front-end library</a:t>
            </a:r>
            <a:r>
              <a:rPr lang="en-US" dirty="0"/>
              <a:t> developed by Facebook.</a:t>
            </a:r>
          </a:p>
          <a:p>
            <a:pPr lvl="1"/>
            <a:r>
              <a:rPr lang="en-US" dirty="0"/>
              <a:t>Used to build dynamic, interactive user interfaces (UI) with components.</a:t>
            </a:r>
          </a:p>
          <a:p>
            <a:pPr lvl="1"/>
            <a:r>
              <a:rPr lang="en-US" dirty="0"/>
              <a:t>Handles the </a:t>
            </a:r>
            <a:r>
              <a:rPr lang="en-US" b="1" dirty="0"/>
              <a:t>client-side (browser)</a:t>
            </a:r>
            <a:r>
              <a:rPr lang="en-US" dirty="0"/>
              <a:t> part of the app.</a:t>
            </a:r>
          </a:p>
          <a:p>
            <a:r>
              <a:rPr lang="en-US" b="1" dirty="0"/>
              <a:t>Node.js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b="1" dirty="0"/>
              <a:t>runtime environment</a:t>
            </a:r>
            <a:r>
              <a:rPr lang="en-US" dirty="0"/>
              <a:t> that executes JavaScript on the server.</a:t>
            </a:r>
          </a:p>
          <a:p>
            <a:pPr lvl="1"/>
            <a:r>
              <a:rPr lang="en-US" dirty="0"/>
              <a:t>Powers Express.js and allows building scalable backend services</a:t>
            </a:r>
          </a:p>
          <a:p>
            <a:pPr lvl="1"/>
            <a:r>
              <a:rPr lang="en-US" dirty="0"/>
              <a:t>-----</a:t>
            </a:r>
          </a:p>
          <a:p>
            <a:pPr lvl="1"/>
            <a:endParaRPr lang="en-US" dirty="0"/>
          </a:p>
          <a:p>
            <a:r>
              <a:rPr lang="en-US" b="1" dirty="0"/>
              <a:t>🔹 Why MERN is Popular</a:t>
            </a:r>
          </a:p>
          <a:p>
            <a:r>
              <a:rPr lang="en-US" dirty="0"/>
              <a:t>Entirely </a:t>
            </a:r>
            <a:r>
              <a:rPr lang="en-US" b="1" dirty="0"/>
              <a:t>JavaScript-based</a:t>
            </a:r>
            <a:r>
              <a:rPr lang="en-US" dirty="0"/>
              <a:t> → both frontend &amp; backend use the same language.</a:t>
            </a:r>
          </a:p>
          <a:p>
            <a:r>
              <a:rPr lang="en-US" b="1" dirty="0"/>
              <a:t>Open-source</a:t>
            </a:r>
            <a:r>
              <a:rPr lang="en-US" dirty="0"/>
              <a:t> and free.</a:t>
            </a:r>
          </a:p>
          <a:p>
            <a:r>
              <a:rPr lang="en-US" dirty="0"/>
              <a:t>Large community and plenty of resources.</a:t>
            </a:r>
          </a:p>
          <a:p>
            <a:r>
              <a:rPr lang="en-US" dirty="0"/>
              <a:t>Great for building </a:t>
            </a:r>
            <a:r>
              <a:rPr lang="en-US" b="1" dirty="0"/>
              <a:t>single-page applications (SPAs)</a:t>
            </a:r>
            <a:r>
              <a:rPr lang="en-US" dirty="0"/>
              <a:t> and modern web apps.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F2816-86E2-4F51-B9D1-BF4806504F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4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F2816-86E2-4F51-B9D1-BF4806504F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35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849B217-C6B9-4E7A-A0A7-5F8EBB87B368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86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0119-CD33-41B6-B328-37394587A1D7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0775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330F-F117-4205-AC79-20F38BC903F6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67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0989D-CBBF-4834-ABD7-C3F2CB57CCD4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98937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86DE-B80E-4AF7-8B2F-739AA66405EC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10095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AC404-3627-404C-8B74-6BBC65C796F5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0268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C6AB-187E-4B1E-B77E-AF9EDF347937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26261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225D-0A69-40E8-87B7-FA9CD715BED6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3639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A3CFF-D646-4E28-BBF8-5C13B7EC770E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87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7C6-BDA9-4D02-80A5-511C7FEFCDA4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48262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DD8-3BBE-4CF1-AB6B-87D1D5901E9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41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5210882-EEEF-4773-A054-C77CDF41A087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IN432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93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42900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3948079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51442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797" y="957404"/>
            <a:ext cx="4177813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465540"/>
            <a:ext cx="5492423" cy="4194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4918" y="829013"/>
            <a:ext cx="4765475" cy="22679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defTabSz="914400"/>
            <a:r>
              <a:rPr lang="en-US" sz="3600" spc="200" dirty="0">
                <a:solidFill>
                  <a:srgbClr val="FFFFFF"/>
                </a:solidFill>
              </a:rPr>
              <a:t>              IN432 </a:t>
            </a:r>
            <a:br>
              <a:rPr lang="en-US" sz="3600" spc="200" dirty="0">
                <a:solidFill>
                  <a:srgbClr val="FFFFFF"/>
                </a:solidFill>
              </a:rPr>
            </a:br>
            <a:r>
              <a:rPr lang="en-US" sz="3600" spc="200" dirty="0">
                <a:solidFill>
                  <a:srgbClr val="FFFFFF"/>
                </a:solidFill>
              </a:rPr>
              <a:t>Advanced Web Technologies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3160752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1"/>
            <a:ext cx="123444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06E3287C-EA84-645D-0CCD-CE783631A820}"/>
              </a:ext>
            </a:extLst>
          </p:cNvPr>
          <p:cNvSpPr txBox="1">
            <a:spLocks/>
          </p:cNvSpPr>
          <p:nvPr/>
        </p:nvSpPr>
        <p:spPr>
          <a:xfrm>
            <a:off x="3537740" y="3265367"/>
            <a:ext cx="5126482" cy="973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defTabSz="914400"/>
            <a:r>
              <a:rPr lang="en-US" sz="2400" spc="200" dirty="0">
                <a:solidFill>
                  <a:srgbClr val="FFFFFF"/>
                </a:solidFill>
              </a:rPr>
              <a:t>Chapter 1: </a:t>
            </a:r>
            <a:br>
              <a:rPr lang="en-US" sz="2400" spc="200" dirty="0">
                <a:solidFill>
                  <a:srgbClr val="FFFFFF"/>
                </a:solidFill>
              </a:rPr>
            </a:br>
            <a:r>
              <a:rPr lang="en-US" sz="2400" spc="200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4B673E-5CD6-49B0-8A5A-3010C2CE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209550"/>
            <a:ext cx="7290054" cy="1124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Course</a:t>
            </a:r>
            <a:r>
              <a:rPr lang="en-US" spc="-110" dirty="0"/>
              <a:t> </a:t>
            </a:r>
            <a:r>
              <a:rPr lang="en-US" dirty="0"/>
              <a:t>is</a:t>
            </a:r>
            <a:r>
              <a:rPr lang="en-US" spc="-60" dirty="0"/>
              <a:t> </a:t>
            </a:r>
            <a:r>
              <a:rPr lang="en-US" dirty="0"/>
              <a:t>about</a:t>
            </a:r>
            <a:r>
              <a:rPr lang="en-US" spc="-60" dirty="0"/>
              <a:t> </a:t>
            </a:r>
            <a:r>
              <a:rPr lang="en-US" spc="-35" dirty="0"/>
              <a:t>Web</a:t>
            </a:r>
            <a:r>
              <a:rPr lang="en-US" spc="-160" dirty="0"/>
              <a:t> </a:t>
            </a:r>
            <a:r>
              <a:rPr lang="en-US" spc="-10" dirty="0"/>
              <a:t>Applications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47429" y="1193298"/>
            <a:ext cx="8449140" cy="1697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/>
              <a:t>Technologies</a:t>
            </a:r>
            <a:r>
              <a:rPr lang="en-US" sz="1800" spc="-40" dirty="0"/>
              <a:t> </a:t>
            </a:r>
            <a:r>
              <a:rPr lang="en-US" sz="1800" dirty="0"/>
              <a:t>used</a:t>
            </a:r>
            <a:r>
              <a:rPr lang="en-US" sz="1800" spc="-40" dirty="0"/>
              <a:t> </a:t>
            </a:r>
            <a:r>
              <a:rPr lang="en-US" sz="1800" dirty="0"/>
              <a:t>to</a:t>
            </a:r>
            <a:r>
              <a:rPr lang="en-US" sz="1800" spc="-35" dirty="0"/>
              <a:t> </a:t>
            </a:r>
            <a:r>
              <a:rPr lang="en-US" sz="1800" b="1" dirty="0">
                <a:latin typeface="Arial"/>
                <a:cs typeface="Arial"/>
              </a:rPr>
              <a:t>build</a:t>
            </a:r>
            <a:r>
              <a:rPr lang="en-US" sz="1800" b="1" spc="-35" dirty="0">
                <a:latin typeface="Arial"/>
                <a:cs typeface="Arial"/>
              </a:rPr>
              <a:t> </a:t>
            </a:r>
            <a:r>
              <a:rPr lang="en-US" sz="1800" dirty="0"/>
              <a:t>modern</a:t>
            </a:r>
            <a:r>
              <a:rPr lang="en-US" sz="1800" spc="-40" dirty="0"/>
              <a:t> </a:t>
            </a:r>
            <a:r>
              <a:rPr lang="en-US" sz="1800" dirty="0"/>
              <a:t>web</a:t>
            </a:r>
            <a:r>
              <a:rPr lang="en-US" sz="1800" spc="-40" dirty="0"/>
              <a:t> </a:t>
            </a:r>
            <a:r>
              <a:rPr lang="en-US" sz="1800" spc="-10" dirty="0"/>
              <a:t>applications</a:t>
            </a:r>
            <a:endParaRPr lang="en-US" sz="1800" spc="-10" dirty="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build</a:t>
            </a:r>
            <a:r>
              <a:rPr lang="en-US" sz="1800" spc="-20" dirty="0"/>
              <a:t> </a:t>
            </a:r>
            <a:r>
              <a:rPr lang="en-US" sz="1800" dirty="0"/>
              <a:t>a</a:t>
            </a:r>
            <a:r>
              <a:rPr lang="en-US" sz="1800" spc="-15" dirty="0"/>
              <a:t> </a:t>
            </a:r>
            <a:r>
              <a:rPr lang="en-US" sz="1800" dirty="0"/>
              <a:t>web</a:t>
            </a:r>
            <a:r>
              <a:rPr lang="en-US" sz="1800" spc="-20" dirty="0"/>
              <a:t> </a:t>
            </a:r>
            <a:r>
              <a:rPr lang="en-US" sz="1800" dirty="0"/>
              <a:t>application</a:t>
            </a:r>
            <a:r>
              <a:rPr lang="en-US" sz="1800" spc="-20" dirty="0"/>
              <a:t> </a:t>
            </a:r>
            <a:r>
              <a:rPr lang="en-US" sz="1800" dirty="0"/>
              <a:t>-</a:t>
            </a:r>
            <a:r>
              <a:rPr lang="en-US" sz="1800" spc="-15" dirty="0"/>
              <a:t> </a:t>
            </a:r>
            <a:r>
              <a:rPr lang="en-US" sz="1800" dirty="0"/>
              <a:t>learn</a:t>
            </a:r>
            <a:r>
              <a:rPr lang="en-US" sz="1800" spc="-20" dirty="0"/>
              <a:t> </a:t>
            </a:r>
            <a:r>
              <a:rPr lang="en-US" sz="1800" dirty="0"/>
              <a:t>by</a:t>
            </a:r>
            <a:r>
              <a:rPr lang="en-US" sz="1800" spc="-20" dirty="0"/>
              <a:t> </a:t>
            </a:r>
            <a:r>
              <a:rPr lang="en-US" sz="1800" spc="-10" dirty="0"/>
              <a:t>doing:</a:t>
            </a:r>
            <a:endParaRPr lang="en-US" sz="1800" dirty="0"/>
          </a:p>
          <a:p>
            <a:pPr marL="506730">
              <a:lnSpc>
                <a:spcPct val="100000"/>
              </a:lnSpc>
              <a:spcBef>
                <a:spcPts val="1889"/>
              </a:spcBef>
            </a:pPr>
            <a:r>
              <a:rPr lang="en-US" sz="1800" dirty="0"/>
              <a:t>Use</a:t>
            </a:r>
            <a:r>
              <a:rPr lang="en-US" sz="1800" spc="-45" dirty="0"/>
              <a:t> </a:t>
            </a:r>
            <a:r>
              <a:rPr lang="en-US" sz="1800" dirty="0"/>
              <a:t>MERN</a:t>
            </a:r>
            <a:r>
              <a:rPr lang="en-US" sz="1800" spc="-30" dirty="0"/>
              <a:t> </a:t>
            </a:r>
            <a:r>
              <a:rPr lang="en-US" sz="1800" dirty="0"/>
              <a:t>stack</a:t>
            </a:r>
            <a:r>
              <a:rPr lang="en-US" sz="1800" spc="-30" dirty="0"/>
              <a:t> = </a:t>
            </a:r>
            <a:r>
              <a:rPr lang="en-US" sz="1800" dirty="0"/>
              <a:t>MongoDB + Express.js + React + Node.js</a:t>
            </a:r>
          </a:p>
          <a:p>
            <a:pPr marL="506730">
              <a:lnSpc>
                <a:spcPct val="100000"/>
              </a:lnSpc>
              <a:spcBef>
                <a:spcPts val="1889"/>
              </a:spcBef>
            </a:pPr>
            <a:r>
              <a:rPr lang="en-US" sz="1800" dirty="0"/>
              <a:t>Learning</a:t>
            </a:r>
            <a:r>
              <a:rPr lang="en-US" sz="1800" spc="-25" dirty="0"/>
              <a:t> </a:t>
            </a:r>
            <a:r>
              <a:rPr lang="en-US" sz="1800" dirty="0"/>
              <a:t>Goal:</a:t>
            </a:r>
            <a:r>
              <a:rPr lang="en-US" sz="1800" spc="-25" dirty="0"/>
              <a:t> </a:t>
            </a:r>
            <a:r>
              <a:rPr lang="en-US" sz="1800" dirty="0"/>
              <a:t>Build</a:t>
            </a:r>
            <a:r>
              <a:rPr lang="en-US" sz="1800" spc="-20" dirty="0"/>
              <a:t> </a:t>
            </a:r>
            <a:r>
              <a:rPr lang="en-US" sz="1800" dirty="0"/>
              <a:t>a</a:t>
            </a:r>
            <a:r>
              <a:rPr lang="en-US" sz="1800" spc="-25" dirty="0"/>
              <a:t> </a:t>
            </a:r>
            <a:r>
              <a:rPr lang="en-US" sz="1800" dirty="0"/>
              <a:t>photo</a:t>
            </a:r>
            <a:r>
              <a:rPr lang="en-US" sz="1800" spc="-20" dirty="0"/>
              <a:t> </a:t>
            </a:r>
            <a:r>
              <a:rPr lang="en-US" sz="1800" dirty="0"/>
              <a:t>sharing</a:t>
            </a:r>
            <a:r>
              <a:rPr lang="en-US" sz="1800" spc="-25" dirty="0"/>
              <a:t> </a:t>
            </a:r>
            <a:r>
              <a:rPr lang="en-US" sz="1800" dirty="0"/>
              <a:t>web</a:t>
            </a:r>
            <a:r>
              <a:rPr lang="en-US" sz="1800" spc="-25" dirty="0"/>
              <a:t> </a:t>
            </a:r>
            <a:r>
              <a:rPr lang="en-US" sz="1800" dirty="0"/>
              <a:t>app</a:t>
            </a:r>
            <a:r>
              <a:rPr lang="en-US" sz="1800" spc="-20" dirty="0"/>
              <a:t> </a:t>
            </a:r>
            <a:r>
              <a:rPr lang="en-US" sz="1800" dirty="0"/>
              <a:t>and</a:t>
            </a:r>
            <a:r>
              <a:rPr lang="en-US" sz="1800" spc="-25" dirty="0"/>
              <a:t> </a:t>
            </a:r>
            <a:r>
              <a:rPr lang="en-US" sz="1800" dirty="0"/>
              <a:t>understand</a:t>
            </a:r>
            <a:r>
              <a:rPr lang="en-US" sz="1800" spc="-20" dirty="0"/>
              <a:t> </a:t>
            </a:r>
            <a:r>
              <a:rPr lang="en-US" sz="1800" dirty="0"/>
              <a:t>how</a:t>
            </a:r>
            <a:r>
              <a:rPr lang="en-US" sz="1800" spc="-25" dirty="0"/>
              <a:t> </a:t>
            </a:r>
            <a:r>
              <a:rPr lang="en-US" sz="1800" dirty="0"/>
              <a:t>it</a:t>
            </a:r>
            <a:r>
              <a:rPr lang="en-US" sz="1800" spc="-20" dirty="0"/>
              <a:t> </a:t>
            </a:r>
            <a:r>
              <a:rPr lang="en-US" sz="1800" spc="-10" dirty="0"/>
              <a:t>works!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321CD-D84F-FE54-F275-4FA17478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2</a:t>
            </a:fld>
            <a:endParaRPr lang="en-US"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Full</a:t>
            </a:r>
            <a:r>
              <a:rPr spc="-15" dirty="0"/>
              <a:t> </a:t>
            </a:r>
            <a:r>
              <a:rPr dirty="0"/>
              <a:t>Stack</a:t>
            </a:r>
            <a:r>
              <a:rPr spc="-10" dirty="0"/>
              <a:t> </a:t>
            </a:r>
            <a:r>
              <a:rPr spc="-35" dirty="0"/>
              <a:t>Web</a:t>
            </a:r>
            <a:r>
              <a:rPr spc="-160" dirty="0"/>
              <a:t> </a:t>
            </a:r>
            <a:r>
              <a:rPr spc="-20" dirty="0"/>
              <a:t>Application</a:t>
            </a:r>
            <a:r>
              <a:rPr spc="-1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76762" y="1552507"/>
            <a:ext cx="1849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Web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38308" y="1466571"/>
            <a:ext cx="2637011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Web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/</a:t>
            </a:r>
            <a:r>
              <a:rPr lang="en-US" sz="2400" spc="-50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Application</a:t>
            </a:r>
            <a:r>
              <a:rPr lang="en-US" sz="2400" spc="-65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server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57632" y="2847905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HTTP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97198" y="1588896"/>
            <a:ext cx="2193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Storage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2EEA87A-5C55-A37F-CE2C-A73F88B105DC}"/>
              </a:ext>
            </a:extLst>
          </p:cNvPr>
          <p:cNvGrpSpPr/>
          <p:nvPr/>
        </p:nvGrpSpPr>
        <p:grpSpPr>
          <a:xfrm>
            <a:off x="683799" y="2343150"/>
            <a:ext cx="7850601" cy="2658514"/>
            <a:chOff x="683799" y="2027324"/>
            <a:chExt cx="8055076" cy="2974340"/>
          </a:xfrm>
        </p:grpSpPr>
        <p:grpSp>
          <p:nvGrpSpPr>
            <p:cNvPr id="2" name="object 2"/>
            <p:cNvGrpSpPr/>
            <p:nvPr/>
          </p:nvGrpSpPr>
          <p:grpSpPr>
            <a:xfrm>
              <a:off x="683799" y="2027324"/>
              <a:ext cx="5090501" cy="2974340"/>
              <a:chOff x="683799" y="2027324"/>
              <a:chExt cx="5262245" cy="2974340"/>
            </a:xfrm>
          </p:grpSpPr>
          <p:pic>
            <p:nvPicPr>
              <p:cNvPr id="3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3998" y="3698753"/>
                <a:ext cx="1397523" cy="480406"/>
              </a:xfrm>
              <a:prstGeom prst="rect">
                <a:avLst/>
              </a:prstGeom>
            </p:spPr>
          </p:pic>
          <p:pic>
            <p:nvPicPr>
              <p:cNvPr id="4" name="object 4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9391" y="4332218"/>
                <a:ext cx="708634" cy="561407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2112" y="2285874"/>
                <a:ext cx="1473973" cy="390594"/>
              </a:xfrm>
              <a:prstGeom prst="rect">
                <a:avLst/>
              </a:prstGeom>
            </p:spPr>
          </p:pic>
          <p:sp>
            <p:nvSpPr>
              <p:cNvPr id="6" name="object 6"/>
              <p:cNvSpPr/>
              <p:nvPr/>
            </p:nvSpPr>
            <p:spPr>
              <a:xfrm>
                <a:off x="721899" y="2065424"/>
                <a:ext cx="1694814" cy="2898140"/>
              </a:xfrm>
              <a:custGeom>
                <a:avLst/>
                <a:gdLst/>
                <a:ahLst/>
                <a:cxnLst/>
                <a:rect l="l" t="t" r="r" b="b"/>
                <a:pathLst>
                  <a:path w="1694814" h="2898140">
                    <a:moveTo>
                      <a:pt x="0" y="0"/>
                    </a:moveTo>
                    <a:lnTo>
                      <a:pt x="1694399" y="0"/>
                    </a:lnTo>
                    <a:lnTo>
                      <a:pt x="1694399" y="2897699"/>
                    </a:lnTo>
                    <a:lnTo>
                      <a:pt x="0" y="2897699"/>
                    </a:lnTo>
                    <a:lnTo>
                      <a:pt x="0" y="0"/>
                    </a:lnTo>
                    <a:close/>
                  </a:path>
                </a:pathLst>
              </a:custGeom>
              <a:ln w="76199">
                <a:solidFill>
                  <a:srgbClr val="59595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" name="object 7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72074" y="2927166"/>
                <a:ext cx="1584174" cy="603007"/>
              </a:xfrm>
              <a:prstGeom prst="rect">
                <a:avLst/>
              </a:prstGeom>
            </p:spPr>
          </p:pic>
          <p:sp>
            <p:nvSpPr>
              <p:cNvPr id="8" name="object 8"/>
              <p:cNvSpPr/>
              <p:nvPr/>
            </p:nvSpPr>
            <p:spPr>
              <a:xfrm>
                <a:off x="4213074" y="2065424"/>
                <a:ext cx="1694814" cy="2898140"/>
              </a:xfrm>
              <a:custGeom>
                <a:avLst/>
                <a:gdLst/>
                <a:ahLst/>
                <a:cxnLst/>
                <a:rect l="l" t="t" r="r" b="b"/>
                <a:pathLst>
                  <a:path w="1694814" h="2898140">
                    <a:moveTo>
                      <a:pt x="0" y="0"/>
                    </a:moveTo>
                    <a:lnTo>
                      <a:pt x="1694399" y="0"/>
                    </a:lnTo>
                    <a:lnTo>
                      <a:pt x="1694399" y="2897699"/>
                    </a:lnTo>
                    <a:lnTo>
                      <a:pt x="0" y="2897699"/>
                    </a:lnTo>
                    <a:lnTo>
                      <a:pt x="0" y="0"/>
                    </a:lnTo>
                    <a:close/>
                  </a:path>
                </a:pathLst>
              </a:custGeom>
              <a:ln w="76199">
                <a:solidFill>
                  <a:srgbClr val="59595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" name="object 9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268174" y="2355044"/>
                <a:ext cx="1584175" cy="452089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433848" y="3029672"/>
                <a:ext cx="1252878" cy="712881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602587" y="3790447"/>
                <a:ext cx="915352" cy="1089125"/>
              </a:xfrm>
              <a:prstGeom prst="rect">
                <a:avLst/>
              </a:prstGeom>
            </p:spPr>
          </p:pic>
          <p:sp>
            <p:nvSpPr>
              <p:cNvPr id="12" name="object 12"/>
              <p:cNvSpPr/>
              <p:nvPr/>
            </p:nvSpPr>
            <p:spPr>
              <a:xfrm>
                <a:off x="2466474" y="2987849"/>
                <a:ext cx="1746885" cy="802640"/>
              </a:xfrm>
              <a:custGeom>
                <a:avLst/>
                <a:gdLst/>
                <a:ahLst/>
                <a:cxnLst/>
                <a:rect l="l" t="t" r="r" b="b"/>
                <a:pathLst>
                  <a:path w="1746885" h="802639">
                    <a:moveTo>
                      <a:pt x="1345349" y="802499"/>
                    </a:moveTo>
                    <a:lnTo>
                      <a:pt x="1345349" y="601874"/>
                    </a:lnTo>
                    <a:lnTo>
                      <a:pt x="401249" y="601874"/>
                    </a:lnTo>
                    <a:lnTo>
                      <a:pt x="401249" y="802499"/>
                    </a:lnTo>
                    <a:lnTo>
                      <a:pt x="0" y="401249"/>
                    </a:lnTo>
                    <a:lnTo>
                      <a:pt x="401249" y="0"/>
                    </a:lnTo>
                    <a:lnTo>
                      <a:pt x="401249" y="200624"/>
                    </a:lnTo>
                    <a:lnTo>
                      <a:pt x="1345349" y="200624"/>
                    </a:lnTo>
                    <a:lnTo>
                      <a:pt x="1345349" y="0"/>
                    </a:lnTo>
                    <a:lnTo>
                      <a:pt x="1746599" y="401249"/>
                    </a:lnTo>
                    <a:lnTo>
                      <a:pt x="1345349" y="802499"/>
                    </a:lnTo>
                    <a:close/>
                  </a:path>
                </a:pathLst>
              </a:custGeom>
              <a:solidFill>
                <a:srgbClr val="EEEEE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2466474" y="2987849"/>
                <a:ext cx="1746885" cy="802640"/>
              </a:xfrm>
              <a:custGeom>
                <a:avLst/>
                <a:gdLst/>
                <a:ahLst/>
                <a:cxnLst/>
                <a:rect l="l" t="t" r="r" b="b"/>
                <a:pathLst>
                  <a:path w="1746885" h="802639">
                    <a:moveTo>
                      <a:pt x="0" y="401249"/>
                    </a:moveTo>
                    <a:lnTo>
                      <a:pt x="401249" y="0"/>
                    </a:lnTo>
                    <a:lnTo>
                      <a:pt x="401249" y="200624"/>
                    </a:lnTo>
                    <a:lnTo>
                      <a:pt x="1345349" y="200624"/>
                    </a:lnTo>
                    <a:lnTo>
                      <a:pt x="1345349" y="0"/>
                    </a:lnTo>
                    <a:lnTo>
                      <a:pt x="1746599" y="401249"/>
                    </a:lnTo>
                    <a:lnTo>
                      <a:pt x="1345349" y="802499"/>
                    </a:lnTo>
                    <a:lnTo>
                      <a:pt x="1345349" y="601874"/>
                    </a:lnTo>
                    <a:lnTo>
                      <a:pt x="401249" y="601874"/>
                    </a:lnTo>
                    <a:lnTo>
                      <a:pt x="401249" y="802499"/>
                    </a:lnTo>
                    <a:lnTo>
                      <a:pt x="0" y="401249"/>
                    </a:lnTo>
                    <a:close/>
                  </a:path>
                </a:pathLst>
              </a:custGeom>
              <a:ln w="285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" name="object 19"/>
            <p:cNvGrpSpPr/>
            <p:nvPr/>
          </p:nvGrpSpPr>
          <p:grpSpPr>
            <a:xfrm>
              <a:off x="1230000" y="2249820"/>
              <a:ext cx="7508875" cy="2668294"/>
              <a:chOff x="1230000" y="1943774"/>
              <a:chExt cx="7508875" cy="2974340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7006199" y="1981874"/>
                <a:ext cx="1694814" cy="2898140"/>
              </a:xfrm>
              <a:custGeom>
                <a:avLst/>
                <a:gdLst/>
                <a:ahLst/>
                <a:cxnLst/>
                <a:rect l="l" t="t" r="r" b="b"/>
                <a:pathLst>
                  <a:path w="1694815" h="2898140">
                    <a:moveTo>
                      <a:pt x="0" y="0"/>
                    </a:moveTo>
                    <a:lnTo>
                      <a:pt x="1694399" y="0"/>
                    </a:lnTo>
                    <a:lnTo>
                      <a:pt x="1694399" y="2897699"/>
                    </a:lnTo>
                    <a:lnTo>
                      <a:pt x="0" y="2897699"/>
                    </a:lnTo>
                    <a:lnTo>
                      <a:pt x="0" y="0"/>
                    </a:lnTo>
                    <a:close/>
                  </a:path>
                </a:pathLst>
              </a:custGeom>
              <a:ln w="76199">
                <a:solidFill>
                  <a:srgbClr val="59595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" name="object 21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120989" y="2145825"/>
                <a:ext cx="1464825" cy="417900"/>
              </a:xfrm>
              <a:prstGeom prst="rect">
                <a:avLst/>
              </a:prstGeom>
            </p:spPr>
          </p:pic>
          <p:pic>
            <p:nvPicPr>
              <p:cNvPr id="22" name="object 22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7260243" y="2672350"/>
                <a:ext cx="1186317" cy="802499"/>
              </a:xfrm>
              <a:prstGeom prst="rect">
                <a:avLst/>
              </a:prstGeom>
            </p:spPr>
          </p:pic>
          <p:sp>
            <p:nvSpPr>
              <p:cNvPr id="23" name="object 23"/>
              <p:cNvSpPr/>
              <p:nvPr/>
            </p:nvSpPr>
            <p:spPr>
              <a:xfrm>
                <a:off x="5931537" y="3155562"/>
                <a:ext cx="1050925" cy="441325"/>
              </a:xfrm>
              <a:custGeom>
                <a:avLst/>
                <a:gdLst/>
                <a:ahLst/>
                <a:cxnLst/>
                <a:rect l="l" t="t" r="r" b="b"/>
                <a:pathLst>
                  <a:path w="1050925" h="441325">
                    <a:moveTo>
                      <a:pt x="829949" y="441299"/>
                    </a:moveTo>
                    <a:lnTo>
                      <a:pt x="829949" y="330974"/>
                    </a:lnTo>
                    <a:lnTo>
                      <a:pt x="220649" y="330974"/>
                    </a:lnTo>
                    <a:lnTo>
                      <a:pt x="220649" y="441299"/>
                    </a:lnTo>
                    <a:lnTo>
                      <a:pt x="0" y="220649"/>
                    </a:lnTo>
                    <a:lnTo>
                      <a:pt x="220649" y="0"/>
                    </a:lnTo>
                    <a:lnTo>
                      <a:pt x="220649" y="110324"/>
                    </a:lnTo>
                    <a:lnTo>
                      <a:pt x="829949" y="110324"/>
                    </a:lnTo>
                    <a:lnTo>
                      <a:pt x="829949" y="0"/>
                    </a:lnTo>
                    <a:lnTo>
                      <a:pt x="1050599" y="220649"/>
                    </a:lnTo>
                    <a:lnTo>
                      <a:pt x="829949" y="441299"/>
                    </a:lnTo>
                    <a:close/>
                  </a:path>
                </a:pathLst>
              </a:custGeom>
              <a:solidFill>
                <a:srgbClr val="EEEEE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5931537" y="3155562"/>
                <a:ext cx="1050925" cy="441325"/>
              </a:xfrm>
              <a:custGeom>
                <a:avLst/>
                <a:gdLst/>
                <a:ahLst/>
                <a:cxnLst/>
                <a:rect l="l" t="t" r="r" b="b"/>
                <a:pathLst>
                  <a:path w="1050925" h="441325">
                    <a:moveTo>
                      <a:pt x="0" y="220649"/>
                    </a:moveTo>
                    <a:lnTo>
                      <a:pt x="220649" y="0"/>
                    </a:lnTo>
                    <a:lnTo>
                      <a:pt x="220649" y="110324"/>
                    </a:lnTo>
                    <a:lnTo>
                      <a:pt x="829949" y="110324"/>
                    </a:lnTo>
                    <a:lnTo>
                      <a:pt x="829949" y="0"/>
                    </a:lnTo>
                    <a:lnTo>
                      <a:pt x="1050599" y="220649"/>
                    </a:lnTo>
                    <a:lnTo>
                      <a:pt x="829949" y="441299"/>
                    </a:lnTo>
                    <a:lnTo>
                      <a:pt x="829949" y="330974"/>
                    </a:lnTo>
                    <a:lnTo>
                      <a:pt x="220649" y="330974"/>
                    </a:lnTo>
                    <a:lnTo>
                      <a:pt x="220649" y="441299"/>
                    </a:lnTo>
                    <a:lnTo>
                      <a:pt x="0" y="220649"/>
                    </a:lnTo>
                    <a:close/>
                  </a:path>
                </a:pathLst>
              </a:custGeom>
              <a:ln w="285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25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30000" y="4276400"/>
                <a:ext cx="1186300" cy="624228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3047793" y="3784367"/>
              <a:ext cx="330267" cy="105727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2755"/>
                </a:lnSpc>
              </a:pPr>
              <a:r>
                <a:rPr spc="-10" dirty="0">
                  <a:latin typeface="Arial"/>
                  <a:cs typeface="Arial"/>
                </a:rPr>
                <a:t>Internet</a:t>
              </a:r>
              <a:endParaRPr dirty="0">
                <a:latin typeface="Arial"/>
                <a:cs typeface="Arial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30284" y="4035709"/>
            <a:ext cx="321883" cy="618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pc="-25" dirty="0">
                <a:latin typeface="Arial"/>
                <a:cs typeface="Arial"/>
              </a:rPr>
              <a:t>LAN</a:t>
            </a:r>
            <a:endParaRPr dirty="0">
              <a:latin typeface="Arial"/>
              <a:cs typeface="Arial"/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58527116-24EF-7181-149C-9719AE45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3</a:t>
            </a:fld>
            <a:endParaRPr lang="en-US"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4550113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5000" spc="100"/>
              <a:t>Course Material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096" y="1714500"/>
            <a:ext cx="4550113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1: Introduction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2: HTML and CSS   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3: URLS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4: Javascript Basics 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5: Javascript Programming and New Features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6: DOM and Events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7: Introduction to Front-End Programming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8: Introduction to ReactJS 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9:  SPA and responsive web design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/>
              <a:t>Chapter 10: Building web applications </a:t>
            </a:r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D1B2BB1E-FBFD-AFF9-8C6A-07061D0A4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4" r="47307"/>
          <a:stretch>
            <a:fillRect/>
          </a:stretch>
        </p:blipFill>
        <p:spPr>
          <a:xfrm>
            <a:off x="5664199" y="10"/>
            <a:ext cx="3479800" cy="51434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93A8-B970-8581-D2A0-FD3D7EA4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4</a:t>
            </a:fld>
            <a:endParaRPr lang="en-US"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D19D-DFBB-BC6C-E010-A76A8113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B52214-01BC-72A2-B4CD-B0FE3557B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4550113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5000" spc="100"/>
              <a:t>Course Material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CC8F64-CC29-2462-8337-DFED06938828}"/>
              </a:ext>
            </a:extLst>
          </p:cNvPr>
          <p:cNvSpPr txBox="1"/>
          <p:nvPr/>
        </p:nvSpPr>
        <p:spPr>
          <a:xfrm>
            <a:off x="768096" y="1714500"/>
            <a:ext cx="4550113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11: Browser/Server Communication and webservers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12: NodeJS 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13: </a:t>
            </a:r>
            <a:r>
              <a:rPr lang="en-US" sz="1100" dirty="0" err="1"/>
              <a:t>ExpressJs</a:t>
            </a:r>
            <a:endParaRPr lang="en-US" sz="1100" dirty="0"/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14: Database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15: Cookies and Sessions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16: Input and Validation 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17: Full Stack state management</a:t>
            </a:r>
          </a:p>
          <a:p>
            <a:pPr marL="379095" indent="-366395" defTabSz="914400">
              <a:lnSpc>
                <a:spcPct val="90000"/>
              </a:lnSpc>
              <a:spcBef>
                <a:spcPts val="1165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z="1100" dirty="0"/>
              <a:t>Chapter 18: WebApp Security/Browser isolation </a:t>
            </a:r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831BC86A-43E7-8573-D0A7-4E497333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4" r="47307"/>
          <a:stretch>
            <a:fillRect/>
          </a:stretch>
        </p:blipFill>
        <p:spPr>
          <a:xfrm>
            <a:off x="5664199" y="10"/>
            <a:ext cx="3479800" cy="51434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7B575-52D2-55D0-06E8-CB66C912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5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05406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6DFD2437-0F00-445E-DE89-A9448A3BAF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7017" b="8714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5000" spc="100"/>
              <a:t>Project details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EFDF7D-B17C-4F16-B8BE-C55FFC7E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/>
          <p:nvPr/>
        </p:nvSpPr>
        <p:spPr>
          <a:xfrm>
            <a:off x="768096" y="1714500"/>
            <a:ext cx="7290054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469265" indent="-419100" defTabSz="914400">
              <a:lnSpc>
                <a:spcPct val="90000"/>
              </a:lnSpc>
              <a:spcBef>
                <a:spcPts val="414"/>
              </a:spcBef>
              <a:buClr>
                <a:schemeClr val="accent1"/>
              </a:buClr>
              <a:buAutoNum type="arabicPeriod"/>
              <a:tabLst>
                <a:tab pos="469265" algn="l"/>
              </a:tabLst>
            </a:pPr>
            <a:r>
              <a:rPr lang="en-US" dirty="0"/>
              <a:t>HTML</a:t>
            </a:r>
            <a:r>
              <a:rPr lang="en-US" spc="-90" dirty="0"/>
              <a:t> </a:t>
            </a:r>
            <a:r>
              <a:rPr lang="en-US" dirty="0"/>
              <a:t>&amp;</a:t>
            </a:r>
            <a:r>
              <a:rPr lang="en-US" spc="-10" dirty="0"/>
              <a:t> </a:t>
            </a:r>
            <a:r>
              <a:rPr lang="en-US" spc="-25" dirty="0"/>
              <a:t>CSS</a:t>
            </a:r>
            <a:endParaRPr lang="en-US" dirty="0"/>
          </a:p>
          <a:p>
            <a:pPr marL="469265" indent="-419100" defTabSz="914400">
              <a:lnSpc>
                <a:spcPct val="90000"/>
              </a:lnSpc>
              <a:spcBef>
                <a:spcPts val="315"/>
              </a:spcBef>
              <a:buClr>
                <a:schemeClr val="accent1"/>
              </a:buClr>
              <a:buAutoNum type="arabicPeriod"/>
              <a:tabLst>
                <a:tab pos="469265" algn="l"/>
              </a:tabLst>
            </a:pPr>
            <a:r>
              <a:rPr lang="en-US" spc="-10" dirty="0"/>
              <a:t>JavaScript</a:t>
            </a:r>
            <a:endParaRPr lang="en-US" dirty="0"/>
          </a:p>
          <a:p>
            <a:pPr marL="469265" indent="-419100" defTabSz="914400">
              <a:lnSpc>
                <a:spcPct val="90000"/>
              </a:lnSpc>
              <a:spcBef>
                <a:spcPts val="315"/>
              </a:spcBef>
              <a:buClr>
                <a:schemeClr val="accent1"/>
              </a:buClr>
              <a:buAutoNum type="arabicPeriod"/>
              <a:tabLst>
                <a:tab pos="469265" algn="l"/>
              </a:tabLst>
            </a:pPr>
            <a:r>
              <a:rPr lang="en-US" dirty="0"/>
              <a:t>Browser</a:t>
            </a:r>
            <a:r>
              <a:rPr lang="en-US" spc="-25" dirty="0"/>
              <a:t> </a:t>
            </a:r>
            <a:r>
              <a:rPr lang="en-US" dirty="0"/>
              <a:t>Document</a:t>
            </a:r>
            <a:r>
              <a:rPr lang="en-US" spc="-25" dirty="0"/>
              <a:t> </a:t>
            </a:r>
            <a:r>
              <a:rPr lang="en-US" dirty="0"/>
              <a:t>Object</a:t>
            </a:r>
            <a:r>
              <a:rPr lang="en-US" spc="-25" dirty="0"/>
              <a:t> </a:t>
            </a:r>
            <a:r>
              <a:rPr lang="en-US" dirty="0"/>
              <a:t>Model</a:t>
            </a:r>
            <a:r>
              <a:rPr lang="en-US" spc="-25" dirty="0"/>
              <a:t> </a:t>
            </a:r>
            <a:r>
              <a:rPr lang="en-US" spc="-10" dirty="0"/>
              <a:t>(DOM)</a:t>
            </a:r>
            <a:endParaRPr lang="en-US" dirty="0"/>
          </a:p>
          <a:p>
            <a:pPr marL="469265" indent="-419100" defTabSz="914400">
              <a:lnSpc>
                <a:spcPct val="90000"/>
              </a:lnSpc>
              <a:spcBef>
                <a:spcPts val="315"/>
              </a:spcBef>
              <a:buClr>
                <a:schemeClr val="accent1"/>
              </a:buClr>
              <a:buAutoNum type="arabicPeriod"/>
              <a:tabLst>
                <a:tab pos="469265" algn="l"/>
              </a:tabLst>
            </a:pPr>
            <a:r>
              <a:rPr lang="en-US" dirty="0"/>
              <a:t>Learn</a:t>
            </a:r>
            <a:r>
              <a:rPr lang="en-US" spc="-20" dirty="0"/>
              <a:t> </a:t>
            </a:r>
            <a:r>
              <a:rPr lang="en-US" dirty="0"/>
              <a:t>React.js</a:t>
            </a:r>
            <a:r>
              <a:rPr lang="en-US" spc="-20" dirty="0"/>
              <a:t> </a:t>
            </a:r>
            <a:r>
              <a:rPr lang="en-US" dirty="0"/>
              <a:t>-</a:t>
            </a:r>
            <a:r>
              <a:rPr lang="en-US" spc="-15" dirty="0"/>
              <a:t> </a:t>
            </a:r>
            <a:r>
              <a:rPr lang="en-US" dirty="0"/>
              <a:t>Single</a:t>
            </a:r>
            <a:r>
              <a:rPr lang="en-US" spc="-20" dirty="0"/>
              <a:t> </a:t>
            </a:r>
            <a:r>
              <a:rPr lang="en-US" dirty="0"/>
              <a:t>page</a:t>
            </a:r>
            <a:r>
              <a:rPr lang="en-US" spc="-20" dirty="0"/>
              <a:t> </a:t>
            </a:r>
            <a:r>
              <a:rPr lang="en-US" spc="-10" dirty="0"/>
              <a:t>application</a:t>
            </a:r>
            <a:endParaRPr lang="en-US" dirty="0"/>
          </a:p>
          <a:p>
            <a:pPr marL="469265" indent="-419100" defTabSz="914400">
              <a:lnSpc>
                <a:spcPct val="90000"/>
              </a:lnSpc>
              <a:spcBef>
                <a:spcPts val="315"/>
              </a:spcBef>
              <a:buClr>
                <a:schemeClr val="accent1"/>
              </a:buClr>
              <a:buAutoNum type="arabicPeriod"/>
              <a:tabLst>
                <a:tab pos="469265" algn="l"/>
              </a:tabLst>
            </a:pPr>
            <a:r>
              <a:rPr lang="en-US" dirty="0"/>
              <a:t>Backend</a:t>
            </a:r>
            <a:r>
              <a:rPr lang="en-US" spc="-15" dirty="0"/>
              <a:t> </a:t>
            </a:r>
            <a:r>
              <a:rPr lang="en-US" dirty="0"/>
              <a:t>server</a:t>
            </a:r>
            <a:r>
              <a:rPr lang="en-US" spc="-15" dirty="0"/>
              <a:t> </a:t>
            </a:r>
            <a:r>
              <a:rPr lang="en-US" dirty="0"/>
              <a:t>-</a:t>
            </a:r>
            <a:r>
              <a:rPr lang="en-US" spc="-15" dirty="0"/>
              <a:t> </a:t>
            </a:r>
            <a:r>
              <a:rPr lang="en-US" dirty="0"/>
              <a:t>Node.js</a:t>
            </a:r>
            <a:r>
              <a:rPr lang="en-US" spc="-15" dirty="0"/>
              <a:t> </a:t>
            </a:r>
            <a:r>
              <a:rPr lang="en-US" dirty="0"/>
              <a:t>and</a:t>
            </a:r>
            <a:r>
              <a:rPr lang="en-US" spc="-15" dirty="0"/>
              <a:t> </a:t>
            </a:r>
            <a:r>
              <a:rPr lang="en-US" spc="-10" dirty="0"/>
              <a:t>MongoDB</a:t>
            </a:r>
            <a:endParaRPr lang="en-US" dirty="0"/>
          </a:p>
          <a:p>
            <a:pPr marL="469265" indent="-419100" defTabSz="914400">
              <a:lnSpc>
                <a:spcPct val="90000"/>
              </a:lnSpc>
              <a:spcBef>
                <a:spcPts val="315"/>
              </a:spcBef>
              <a:buClr>
                <a:schemeClr val="accent1"/>
              </a:buClr>
              <a:buAutoNum type="arabicPeriod"/>
              <a:tabLst>
                <a:tab pos="469265" algn="l"/>
              </a:tabLst>
            </a:pPr>
            <a:r>
              <a:rPr lang="en-US" dirty="0"/>
              <a:t>Session's</a:t>
            </a:r>
            <a:r>
              <a:rPr lang="en-US" spc="-15" dirty="0"/>
              <a:t> </a:t>
            </a:r>
            <a:r>
              <a:rPr lang="en-US" dirty="0"/>
              <a:t>state</a:t>
            </a:r>
            <a:r>
              <a:rPr lang="en-US" spc="-15" dirty="0"/>
              <a:t> </a:t>
            </a:r>
            <a:r>
              <a:rPr lang="en-US" dirty="0"/>
              <a:t>and</a:t>
            </a:r>
            <a:r>
              <a:rPr lang="en-US" spc="-15" dirty="0"/>
              <a:t> </a:t>
            </a:r>
            <a:r>
              <a:rPr lang="en-US" spc="-10" dirty="0"/>
              <a:t>validation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9C6D0-FDE8-F835-46C7-054EBA84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6</a:t>
            </a:fld>
            <a:endParaRPr lang="en-US"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90A2D0-5E45-D662-374B-38820824218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16754" r="1911" b="-2"/>
          <a:stretch>
            <a:fillRect/>
          </a:stretch>
        </p:blipFill>
        <p:spPr>
          <a:xfrm>
            <a:off x="20" y="10"/>
            <a:ext cx="9143980" cy="514348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5000" spc="100"/>
              <a:t>Class software requirements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EFDF7D-B17C-4F16-B8BE-C55FFC7E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/>
          <p:nvPr/>
        </p:nvSpPr>
        <p:spPr>
          <a:xfrm>
            <a:off x="768096" y="1714500"/>
            <a:ext cx="7290054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379095" indent="-366395" defTabSz="91440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dirty="0"/>
              <a:t>A</a:t>
            </a:r>
            <a:r>
              <a:rPr lang="en-US" spc="-114" dirty="0"/>
              <a:t> </a:t>
            </a:r>
            <a:r>
              <a:rPr lang="en-US" dirty="0"/>
              <a:t>modern</a:t>
            </a:r>
            <a:r>
              <a:rPr lang="en-US" spc="-20" dirty="0"/>
              <a:t> </a:t>
            </a:r>
            <a:r>
              <a:rPr lang="en-US" dirty="0"/>
              <a:t>web</a:t>
            </a:r>
            <a:r>
              <a:rPr lang="en-US" spc="-15" dirty="0"/>
              <a:t> </a:t>
            </a:r>
            <a:r>
              <a:rPr lang="en-US" spc="-10" dirty="0"/>
              <a:t>browser</a:t>
            </a:r>
            <a:endParaRPr lang="en-US" dirty="0"/>
          </a:p>
          <a:p>
            <a:pPr marL="379095" defTabSz="914400">
              <a:lnSpc>
                <a:spcPct val="90000"/>
              </a:lnSpc>
              <a:spcBef>
                <a:spcPts val="1889"/>
              </a:spcBef>
              <a:buClr>
                <a:schemeClr val="accent1"/>
              </a:buClr>
            </a:pPr>
            <a:r>
              <a:rPr lang="en-US"/>
              <a:t>	Chrome</a:t>
            </a:r>
            <a:r>
              <a:rPr lang="en-US" spc="-15"/>
              <a:t> </a:t>
            </a:r>
            <a:r>
              <a:rPr lang="en-US"/>
              <a:t>is</a:t>
            </a:r>
            <a:r>
              <a:rPr lang="en-US" spc="-15"/>
              <a:t> </a:t>
            </a:r>
            <a:r>
              <a:rPr lang="en-US"/>
              <a:t>strongly</a:t>
            </a:r>
            <a:r>
              <a:rPr lang="en-US" spc="-10"/>
              <a:t> suggested</a:t>
            </a:r>
            <a:endParaRPr lang="en-US"/>
          </a:p>
          <a:p>
            <a:pPr marL="379095" indent="-366395" defTabSz="914400">
              <a:lnSpc>
                <a:spcPct val="90000"/>
              </a:lnSpc>
              <a:spcBef>
                <a:spcPts val="1889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pc="-10" dirty="0"/>
              <a:t>Node.js</a:t>
            </a:r>
            <a:endParaRPr lang="en-US" dirty="0"/>
          </a:p>
          <a:p>
            <a:pPr marL="379095" marR="5080" defTabSz="914400">
              <a:lnSpc>
                <a:spcPct val="90000"/>
              </a:lnSpc>
              <a:spcBef>
                <a:spcPts val="825"/>
              </a:spcBef>
              <a:buClr>
                <a:schemeClr val="accent1"/>
              </a:buClr>
            </a:pPr>
            <a:r>
              <a:rPr lang="en-US" dirty="0"/>
              <a:t>Installs</a:t>
            </a:r>
            <a:r>
              <a:rPr lang="en-US" spc="-35" dirty="0"/>
              <a:t> </a:t>
            </a:r>
            <a:r>
              <a:rPr lang="en-US" dirty="0"/>
              <a:t>fairly</a:t>
            </a:r>
            <a:r>
              <a:rPr lang="en-US" spc="-20" dirty="0"/>
              <a:t> </a:t>
            </a:r>
            <a:r>
              <a:rPr lang="en-US" dirty="0"/>
              <a:t>easily</a:t>
            </a:r>
            <a:r>
              <a:rPr lang="en-US" spc="-20" dirty="0"/>
              <a:t> </a:t>
            </a:r>
            <a:r>
              <a:rPr lang="en-US" dirty="0"/>
              <a:t>on</a:t>
            </a:r>
            <a:r>
              <a:rPr lang="en-US" spc="-20" dirty="0"/>
              <a:t> </a:t>
            </a:r>
            <a:r>
              <a:rPr lang="en-US" dirty="0"/>
              <a:t>modern</a:t>
            </a:r>
            <a:r>
              <a:rPr lang="en-US" spc="-20" dirty="0"/>
              <a:t> </a:t>
            </a:r>
            <a:r>
              <a:rPr lang="en-US" dirty="0"/>
              <a:t>OS</a:t>
            </a:r>
            <a:r>
              <a:rPr lang="en-US" spc="-20" dirty="0"/>
              <a:t> </a:t>
            </a:r>
            <a:r>
              <a:rPr lang="en-US" dirty="0"/>
              <a:t>environment</a:t>
            </a:r>
            <a:r>
              <a:rPr lang="en-US" spc="-20" dirty="0"/>
              <a:t> </a:t>
            </a:r>
            <a:r>
              <a:rPr lang="en-US" dirty="0"/>
              <a:t>(Linux,</a:t>
            </a:r>
            <a:r>
              <a:rPr lang="en-US" spc="-20" dirty="0"/>
              <a:t> </a:t>
            </a:r>
            <a:r>
              <a:rPr lang="en-US" dirty="0"/>
              <a:t>MacOS,</a:t>
            </a:r>
            <a:r>
              <a:rPr lang="en-US" spc="-20" dirty="0"/>
              <a:t> </a:t>
            </a:r>
            <a:r>
              <a:rPr lang="en-US" spc="-10" dirty="0"/>
              <a:t>Windows) </a:t>
            </a:r>
            <a:r>
              <a:rPr lang="en-US" dirty="0" err="1"/>
              <a:t>npm</a:t>
            </a:r>
            <a:r>
              <a:rPr lang="en-US" spc="-25" dirty="0"/>
              <a:t> </a:t>
            </a:r>
            <a:r>
              <a:rPr lang="en-US" dirty="0"/>
              <a:t>(in</a:t>
            </a:r>
            <a:r>
              <a:rPr lang="en-US" spc="-10" dirty="0"/>
              <a:t> </a:t>
            </a:r>
            <a:r>
              <a:rPr lang="en-US" dirty="0"/>
              <a:t>Node.js</a:t>
            </a:r>
            <a:r>
              <a:rPr lang="en-US" spc="-15" dirty="0"/>
              <a:t> </a:t>
            </a:r>
            <a:r>
              <a:rPr lang="en-US" dirty="0"/>
              <a:t>install)</a:t>
            </a:r>
            <a:r>
              <a:rPr lang="en-US" spc="-10" dirty="0"/>
              <a:t> </a:t>
            </a:r>
            <a:r>
              <a:rPr lang="en-US" dirty="0"/>
              <a:t>is</a:t>
            </a:r>
            <a:r>
              <a:rPr lang="en-US" spc="-10" dirty="0"/>
              <a:t> </a:t>
            </a:r>
            <a:r>
              <a:rPr lang="en-US" dirty="0"/>
              <a:t>used</a:t>
            </a:r>
            <a:r>
              <a:rPr lang="en-US" spc="-15" dirty="0"/>
              <a:t> </a:t>
            </a:r>
            <a:r>
              <a:rPr lang="en-US" dirty="0"/>
              <a:t>for</a:t>
            </a:r>
            <a:r>
              <a:rPr lang="en-US" spc="-10" dirty="0"/>
              <a:t> </a:t>
            </a:r>
            <a:r>
              <a:rPr lang="en-US" dirty="0"/>
              <a:t>fetching</a:t>
            </a:r>
            <a:r>
              <a:rPr lang="en-US" spc="-15" dirty="0"/>
              <a:t> </a:t>
            </a:r>
            <a:r>
              <a:rPr lang="en-US" dirty="0"/>
              <a:t>assignments</a:t>
            </a:r>
            <a:r>
              <a:rPr lang="en-US" spc="-10" dirty="0"/>
              <a:t> </a:t>
            </a:r>
            <a:r>
              <a:rPr lang="en-US" dirty="0"/>
              <a:t>and</a:t>
            </a:r>
            <a:r>
              <a:rPr lang="en-US" spc="-10" dirty="0"/>
              <a:t> dependencies</a:t>
            </a:r>
            <a:endParaRPr lang="en-US" dirty="0"/>
          </a:p>
          <a:p>
            <a:pPr marL="379095" indent="-366395" defTabSz="914400">
              <a:lnSpc>
                <a:spcPct val="90000"/>
              </a:lnSpc>
              <a:spcBef>
                <a:spcPts val="1590"/>
              </a:spcBef>
              <a:buClr>
                <a:schemeClr val="accent1"/>
              </a:buClr>
              <a:buChar char="●"/>
              <a:tabLst>
                <a:tab pos="379095" algn="l"/>
              </a:tabLst>
            </a:pPr>
            <a:r>
              <a:rPr lang="en-US" spc="-10" dirty="0"/>
              <a:t>MongoDB</a:t>
            </a:r>
            <a:endParaRPr lang="en-US" dirty="0"/>
          </a:p>
          <a:p>
            <a:pPr marL="379095" defTabSz="914400">
              <a:lnSpc>
                <a:spcPct val="90000"/>
              </a:lnSpc>
              <a:spcBef>
                <a:spcPts val="1889"/>
              </a:spcBef>
              <a:buClr>
                <a:schemeClr val="accent1"/>
              </a:buClr>
            </a:pPr>
            <a:r>
              <a:rPr lang="en-US" dirty="0"/>
              <a:t>Easy</a:t>
            </a:r>
            <a:r>
              <a:rPr lang="en-US" spc="-25" dirty="0"/>
              <a:t> </a:t>
            </a:r>
            <a:r>
              <a:rPr lang="en-US" dirty="0"/>
              <a:t>to</a:t>
            </a:r>
            <a:r>
              <a:rPr lang="en-US" spc="-15" dirty="0"/>
              <a:t> </a:t>
            </a:r>
            <a:r>
              <a:rPr lang="en-US" dirty="0"/>
              <a:t>install</a:t>
            </a:r>
            <a:r>
              <a:rPr lang="en-US" spc="-10" dirty="0"/>
              <a:t> </a:t>
            </a:r>
            <a:r>
              <a:rPr lang="en-US" dirty="0"/>
              <a:t>(for</a:t>
            </a:r>
            <a:r>
              <a:rPr lang="en-US" spc="-15" dirty="0"/>
              <a:t> </a:t>
            </a:r>
            <a:r>
              <a:rPr lang="en-US" dirty="0"/>
              <a:t>a</a:t>
            </a:r>
            <a:r>
              <a:rPr lang="en-US" spc="-10" dirty="0"/>
              <a:t> </a:t>
            </a:r>
            <a:r>
              <a:rPr lang="en-US" dirty="0"/>
              <a:t>DBMS)</a:t>
            </a:r>
            <a:r>
              <a:rPr lang="en-US" spc="-15" dirty="0"/>
              <a:t> </a:t>
            </a:r>
            <a:r>
              <a:rPr lang="en-US" dirty="0"/>
              <a:t>on</a:t>
            </a:r>
            <a:r>
              <a:rPr lang="en-US" spc="-10" dirty="0"/>
              <a:t> </a:t>
            </a:r>
            <a:r>
              <a:rPr lang="en-US" dirty="0"/>
              <a:t>modern</a:t>
            </a:r>
            <a:r>
              <a:rPr lang="en-US" spc="-15" dirty="0"/>
              <a:t> </a:t>
            </a:r>
            <a:r>
              <a:rPr lang="en-US" dirty="0"/>
              <a:t>OS</a:t>
            </a:r>
            <a:r>
              <a:rPr lang="en-US" spc="-10" dirty="0"/>
              <a:t> environments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9760F-D63D-71C2-B47D-2261282C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7</a:t>
            </a:fld>
            <a:endParaRPr lang="en-US"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42900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3948079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E316F487-A917-BAC4-016B-3BFFF88E74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r="-1" b="6226"/>
          <a:stretch>
            <a:fillRect/>
          </a:stretch>
        </p:blipFill>
        <p:spPr>
          <a:xfrm>
            <a:off x="20" y="10"/>
            <a:ext cx="9141694" cy="514348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600" y="482600"/>
            <a:ext cx="5373505" cy="4178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r" defTabSz="914400"/>
            <a:r>
              <a:rPr lang="en-US" sz="5000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4703" y="1371600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8571B-C341-2E80-8EF6-3A1D1EBD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8</a:t>
            </a:fld>
            <a:endParaRPr lang="en-US" spc="-25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D4AD72-D0DB-4CC2-AE10-A3C6A0E898CC}"/>
</file>

<file path=customXml/itemProps2.xml><?xml version="1.0" encoding="utf-8"?>
<ds:datastoreItem xmlns:ds="http://schemas.openxmlformats.org/officeDocument/2006/customXml" ds:itemID="{0C562BFE-AE77-4293-AB56-DBF271FC79E2}"/>
</file>

<file path=customXml/itemProps3.xml><?xml version="1.0" encoding="utf-8"?>
<ds:datastoreItem xmlns:ds="http://schemas.openxmlformats.org/officeDocument/2006/customXml" ds:itemID="{7B7EFECA-7E7E-415A-BD02-9CA01322E9E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455</Words>
  <Application>Microsoft Office PowerPoint</Application>
  <PresentationFormat>On-screen Show (16:9)</PresentationFormat>
  <Paragraphs>80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Tw Cen MT</vt:lpstr>
      <vt:lpstr>Tw Cen MT Condensed</vt:lpstr>
      <vt:lpstr>Wingdings 3</vt:lpstr>
      <vt:lpstr>Integral</vt:lpstr>
      <vt:lpstr>              IN432  Advanced Web Technologies</vt:lpstr>
      <vt:lpstr>Course is about Web Applications</vt:lpstr>
      <vt:lpstr>Full Stack Web Application Architecture</vt:lpstr>
      <vt:lpstr>Course Material</vt:lpstr>
      <vt:lpstr>Course Material</vt:lpstr>
      <vt:lpstr>Project details</vt:lpstr>
      <vt:lpstr>Class software requirements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</dc:title>
  <cp:lastModifiedBy>Kamal Beydoun</cp:lastModifiedBy>
  <cp:revision>9</cp:revision>
  <dcterms:created xsi:type="dcterms:W3CDTF">2025-09-02T11:51:03Z</dcterms:created>
  <dcterms:modified xsi:type="dcterms:W3CDTF">2025-09-21T17:33:36Z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2025-09-02T00:00:00Z</vt:filetime>
  </property>
  <property fmtid="{D5CDD505-2E9C-101B-9397-08002B2CF9AE}" pid="5" name="ContentTypeId">
    <vt:lpwstr>0x010100BE23C66856B3314981D2E215FB7144D6</vt:lpwstr>
  </property>
</Properties>
</file>