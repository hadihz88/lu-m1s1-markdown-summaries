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52" r:id="rId2"/>
  </p:sldMasterIdLst>
  <p:notesMasterIdLst>
    <p:notesMasterId r:id="rId29"/>
  </p:notesMasterIdLst>
  <p:handoutMasterIdLst>
    <p:handoutMasterId r:id="rId30"/>
  </p:handoutMasterIdLst>
  <p:sldIdLst>
    <p:sldId id="286" r:id="rId3"/>
    <p:sldId id="273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009900"/>
    <a:srgbClr val="CC00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B1C88-7F58-41B9-8D47-55ED8311D2DC}" v="2" dt="2025-09-25T07:59:38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29" autoAdjust="0"/>
    <p:restoredTop sz="91257" autoAdjust="0"/>
  </p:normalViewPr>
  <p:slideViewPr>
    <p:cSldViewPr>
      <p:cViewPr varScale="1">
        <p:scale>
          <a:sx n="63" d="100"/>
          <a:sy n="63" d="100"/>
        </p:scale>
        <p:origin x="39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3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addSld modSld">
      <pc:chgData name="Kamal Beydoun" userId="e88cbbf3-5e5f-46df-aecf-fe10b322ce6e" providerId="ADAL" clId="{E4876F53-9B78-423D-99A1-E03CA3D47365}" dt="2025-09-25T08:00:29.063" v="2" actId="113"/>
      <pc:docMkLst>
        <pc:docMk/>
      </pc:docMkLst>
      <pc:sldChg chg="delSp add setBg delDesignElem">
        <pc:chgData name="Kamal Beydoun" userId="e88cbbf3-5e5f-46df-aecf-fe10b322ce6e" providerId="ADAL" clId="{E4876F53-9B78-423D-99A1-E03CA3D47365}" dt="2025-09-24T20:17:56.398" v="1"/>
        <pc:sldMkLst>
          <pc:docMk/>
          <pc:sldMk cId="0" sldId="286"/>
        </pc:sldMkLst>
        <pc:spChg chg="del">
          <ac:chgData name="Kamal Beydoun" userId="e88cbbf3-5e5f-46df-aecf-fe10b322ce6e" providerId="ADAL" clId="{E4876F53-9B78-423D-99A1-E03CA3D47365}" dt="2025-09-24T20:17:56.398" v="1"/>
          <ac:spMkLst>
            <pc:docMk/>
            <pc:sldMk cId="0" sldId="286"/>
            <ac:spMk id="10249" creationId="{AE220058-3FCE-496E-ADF2-D8A6961F39F6}"/>
          </ac:spMkLst>
        </pc:spChg>
        <pc:spChg chg="del">
          <ac:chgData name="Kamal Beydoun" userId="e88cbbf3-5e5f-46df-aecf-fe10b322ce6e" providerId="ADAL" clId="{E4876F53-9B78-423D-99A1-E03CA3D47365}" dt="2025-09-24T20:17:56.398" v="1"/>
          <ac:spMkLst>
            <pc:docMk/>
            <pc:sldMk cId="0" sldId="286"/>
            <ac:spMk id="10253" creationId="{3E9C5090-7D25-41E3-A6D3-CCAEE505E785}"/>
          </ac:spMkLst>
        </pc:spChg>
        <pc:spChg chg="del">
          <ac:chgData name="Kamal Beydoun" userId="e88cbbf3-5e5f-46df-aecf-fe10b322ce6e" providerId="ADAL" clId="{E4876F53-9B78-423D-99A1-E03CA3D47365}" dt="2025-09-24T20:17:56.398" v="1"/>
          <ac:spMkLst>
            <pc:docMk/>
            <pc:sldMk cId="0" sldId="286"/>
            <ac:spMk id="10255" creationId="{11BF8809-0DAC-41E5-A212-ACB4A01BE95B}"/>
          </ac:spMkLst>
        </pc:spChg>
        <pc:cxnChg chg="del">
          <ac:chgData name="Kamal Beydoun" userId="e88cbbf3-5e5f-46df-aecf-fe10b322ce6e" providerId="ADAL" clId="{E4876F53-9B78-423D-99A1-E03CA3D47365}" dt="2025-09-24T20:17:56.398" v="1"/>
          <ac:cxnSpMkLst>
            <pc:docMk/>
            <pc:sldMk cId="0" sldId="286"/>
            <ac:cxnSpMk id="10251" creationId="{E193F809-7E50-4AAD-8E26-878207931CB5}"/>
          </ac:cxnSpMkLst>
        </pc:cxnChg>
      </pc:sldChg>
      <pc:sldChg chg="modSp mod">
        <pc:chgData name="Kamal Beydoun" userId="e88cbbf3-5e5f-46df-aecf-fe10b322ce6e" providerId="ADAL" clId="{E4876F53-9B78-423D-99A1-E03CA3D47365}" dt="2025-09-25T08:00:29.063" v="2" actId="113"/>
        <pc:sldMkLst>
          <pc:docMk/>
          <pc:sldMk cId="0" sldId="303"/>
        </pc:sldMkLst>
        <pc:spChg chg="mod">
          <ac:chgData name="Kamal Beydoun" userId="e88cbbf3-5e5f-46df-aecf-fe10b322ce6e" providerId="ADAL" clId="{E4876F53-9B78-423D-99A1-E03CA3D47365}" dt="2025-09-25T08:00:29.063" v="2" actId="113"/>
          <ac:spMkLst>
            <pc:docMk/>
            <pc:sldMk cId="0" sldId="303"/>
            <ac:spMk id="29700" creationId="{114F4852-CA23-7D59-BD6C-5B4627503B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EDC25DE-4A42-F463-65E0-9B68D1D80B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1E619D2-7346-F12F-D838-29C8744ADA7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653FFF26-3C52-FD06-FB8C-2A1010D5BCB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8ACA7676-C7D3-BD70-DB38-4C94C07481D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D744D6EB-FC78-4E77-8FB7-46F1CDA7A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44DA763C-315D-0392-F038-5550BDC04F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85B66D-710A-68DC-A762-F7ABD8E1530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7934DD87-6A8D-5660-5ADC-201206D5DD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9A0355FC-F529-6905-544A-5D19F193F10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FCD439EE-E8F1-386A-0D28-3C2ECB093F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C25B2ACD-6DAC-5186-E9DD-869DB7E7C9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269EE58F-DA3E-4F9E-88C7-1A147F0219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BB4E99-4CE8-5C7A-6EC8-EC359550B74B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2E233-7604-6F6E-CF13-E2F325B87E2F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75927A-14A4-1503-AC78-542D021D05FB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50CEE00-3D95-719E-FF96-120DA129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2B7DA-2672-4E7E-9DC2-29D25F29245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1AF97F9-BB34-BF8D-FB51-C3CE6AAD8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0E7921-B94D-0B95-BB0D-AD7185DD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41AB-3320-4137-B214-0326DF4C6F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76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52269-DC68-C2DC-51FA-E946511C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D4653-D5DE-4680-AF1E-6F3C3FA8D25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75E68-1B7F-C4A1-9BD1-4A94CC8C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1EDBA-1B73-747F-13AB-0E115D1D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EB745-54F9-43B1-B96F-3D742AD376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47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418B3F-F861-3F08-6146-15EA11553EB6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FCAE7A-74A8-E2A5-F418-ED2A5F06E59F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97CB79-B7A6-C8A5-6908-64B00A505F5F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E88F8AE-4671-F663-5DA1-7A47FA16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AF9DD-C697-47C4-BB22-9BB43B862A4F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1B9C25B-F415-A298-B497-8283B25D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A5EA931-7A1C-B01B-F027-238F6B6E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09153-0D88-488A-BD75-DCD2BEB3B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64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C9A3BB-620C-CD68-7D64-B54452D1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805858-15A8-4E35-8B7C-EA73C9B37A76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4384-B0F8-4972-D148-7BDA3B41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EF6F-950D-23E4-D5C0-2998464F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1643-CF81-43EF-9990-7E60A56385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14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7BC58C-A99F-B361-997D-E2EE5E40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0909C-AA2C-4AD0-9A76-7038A39ED23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68A4A9C-923A-6C34-0520-C4D12C5C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E59A92-25E7-3075-F124-AB629C30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B58CE-3C4D-441D-8792-C87417BA95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8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C61CF26-2566-F7FF-E42D-E6821707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44C672-A401-4871-9FE8-82AB379A5EBD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AFFE2D-50E3-A87F-F187-34D8189D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2C0F9B3-9EF3-CA81-2E24-80DECAF0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461FF-55C5-4E42-A38F-DAEDAEB0EF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28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80287-1FB4-1DCE-CFEF-2F1AD3FC406A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73B9F-2B5E-F826-7026-FA08EED85C84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6FF51A7-1B3E-90F2-7A6E-9BA1AF09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BB2A8-0FC9-44BC-9147-87D18713441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4F9BE33-E27C-F7FA-727B-ACB16A3A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D9211F-7A8B-8308-F586-B45F4092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18304-4C68-40BA-BBE1-8C961ADB64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9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F6FB84-17F6-EDA3-4C51-521155C15653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79C00-71AB-AFFD-B942-63B2BACFFF01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97A7624-23B6-95B1-0EE3-A567CF61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10AF6AE-9AC1-4868-81E1-423DACF731E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1790C93-5286-E517-4C59-3EF44B91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50ADF5A-2C28-D84E-2D47-F253ECAA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4B6312E-8645-4146-874D-226D2A9F17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64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2039E1-97CD-0CD6-9DCB-2E830238D2EF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BACE4-8A1E-1FAC-228C-D93B30E35494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8C2B27B-9FB5-AC43-A6C0-B4959C7C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D989E-5B3A-4044-968C-652DCBDE63B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3BCA420-448D-B15C-F54E-0AA0774E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155818C-2AEC-553D-7BDA-1154B9B1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12A84-1042-46FE-A20F-FBA805D9CB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87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33980-2F59-7A44-0C66-0D9D8FAD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60A07-A6FF-4408-9D97-61DD522C804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F0637-5276-A451-302E-FFC601B8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B02D3-6485-AE38-8CCE-EA1AB9D1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FDC1E8-65AC-48FB-8577-1A1FC538F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12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6EAECE-F541-7FCB-4C1C-4572E47D2707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37AC12-EECB-36A9-73CB-4C1253D37587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E4DA3E8-3A34-1CE4-9393-315836DA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92479-4CD6-40D0-BFF7-F7FE3A5A14F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BDC340B-2CF4-1A75-99CF-A04C66FD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C6A4C90-252A-B7DB-8FED-8AC40B88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425DC-8DC0-46F6-A6F3-F0D5D005FF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050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3E7-3504-93F5-2F42-E427E5CB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382C2-DBA6-415C-BDE3-61E03578EFD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22245-0574-9D6B-5CEE-BA6BDB93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480D-EFA4-9ECD-DF2D-40641951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B71C7-D96F-42CA-BFBD-1918B758F3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828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157D9-9C44-D233-3A28-FE8EA563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0561E-C572-4198-86D3-C43CF98F92A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F6BE3-74A2-1BF5-5107-BB0B2C25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7A2E1-9925-73E1-DE45-C050971F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DB40D-8233-402E-9493-929D671405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622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4EDFF-90D4-3B97-F174-08A0EADD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B4917-64B8-49B6-9BE1-F0A79D7B8CC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BE4C6-7C62-23F0-CF4D-DD0AFC43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0160-2480-BBA4-B8C4-51E579B3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1C137-2E9C-47A8-BF66-D9DCA245DE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855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14E864A-6598-6AB0-876B-E29DC8CB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E9F98-8BDA-4670-A802-A2E8E3A615B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40F892-FC67-F45E-2368-6D775821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01C035-FE67-C431-7AFE-31530B44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594ED-D93F-4CED-94FE-EB91ED122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26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EB5117-27EF-4811-3240-8E4E414B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CD163-442E-4306-AE7E-C19451C3D930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8C52510-AC5F-1241-0E2F-C7DEB818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CE188A-11AB-8991-0F99-96B7F9A8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6F4AD-F514-43AA-9D50-BA4B33CC1C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3234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855277-C61F-8604-23C3-C53F0736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8819F-3C07-43F3-AC61-B272FF6E8E4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171921-82F7-02D5-C8D1-013ADC04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1A2491E-15EE-F891-7ADF-E60B7200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86A27-5C5B-4DFF-BAEF-F133DCDB1A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046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2F6FCE-3D62-E857-0E66-73D0EA04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0EB32-DD84-49DF-AE1C-21C4055878C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6279A72-BF02-63FD-67BC-F81B90A3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C760F1-E4FE-B194-9DD2-D3E4A206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67E29-B989-4C2E-8487-84734E8F5A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142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FC82E0-02A7-62DE-0FE5-9AAA1A56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AC48C-BC26-478D-975B-16BA77C2A29D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816558-C253-58FB-D0F7-F35380E2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50F94F-314C-9CD6-E25D-29763BDE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8E44F-5377-4CC9-BB38-9AD982F1E4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726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8E1AC9-284A-615E-3603-F64E7A52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2B652-645B-41AA-979D-89510AE13F9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AEDACD-1BA3-0BDD-CBF5-E8E34710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AC29A5-0D90-E36B-9472-AB14DCE4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CBABD-E28B-47AA-A2EC-E05F30481A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625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516E9-8F28-061F-7E28-63D45973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5EB45-BB9A-43C1-B5D5-E97F0DE1A80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ED844-5932-783F-958F-31649B752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94D4F-B6F4-4DE3-EF9D-7196A2AE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25532-B787-48EE-AFFD-A6A14CF7F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6635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5F492-6F3F-4E10-C808-1F35594C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6BA4B-76A7-4E41-812A-13DE6D0F5DF7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E8B79-3FF7-4D9B-1962-3B2CB613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FF1E-E8CD-1C17-212A-640BBAD2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52CB9-7296-40B6-8C33-BFA57730BE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1BE47E-B7D0-3B69-8BF5-E4DA8D70CF17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109B9-3ACD-29B6-DD52-DF795E006AB3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6D6F22-B330-E9FB-B009-A7409F35E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C03C3562-D600-518B-3ADC-3CEBC6223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E71B-9E7A-ECB2-73C4-E3A6DF75B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EAB72909-D6F3-44E0-9CAA-5C728080027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C926-A0EB-C174-01F1-A9AD13B1D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F010-BC7E-228C-2A28-BECF7D908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7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3EFED443-E5BD-4357-989B-42C9F4CCD2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ACE50B-5676-FC6D-33F2-738CCA1E0C27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82" r:id="rId2"/>
    <p:sldLayoutId id="2147483899" r:id="rId3"/>
    <p:sldLayoutId id="2147483883" r:id="rId4"/>
    <p:sldLayoutId id="2147483884" r:id="rId5"/>
    <p:sldLayoutId id="2147483885" r:id="rId6"/>
    <p:sldLayoutId id="2147483900" r:id="rId7"/>
    <p:sldLayoutId id="2147483901" r:id="rId8"/>
    <p:sldLayoutId id="2147483902" r:id="rId9"/>
    <p:sldLayoutId id="2147483886" r:id="rId10"/>
    <p:sldLayoutId id="2147483903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A9D6E50A-F576-2D67-015C-7E69D903C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A1869C26-9169-C632-8725-75654F919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E9A81-FDBD-FF96-30D1-992758774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72F7B1A-BF1D-4578-BBC2-1AD3D06A4A7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DDDE-24C4-41E3-9D94-113BEC16D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8B87-76A0-FF76-38CA-6DC7788F4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ADBC8A-2F5F-4546-BE8F-E62B6243E1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7F6DAC1-6CBB-4B20-6F8C-9167B1826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CSS – Cascading Style Sheets</a:t>
            </a:r>
          </a:p>
        </p:txBody>
      </p:sp>
      <p:pic>
        <p:nvPicPr>
          <p:cNvPr id="12291" name="Content Placeholder 2">
            <a:extLst>
              <a:ext uri="{FF2B5EF4-FFF2-40B4-BE49-F238E27FC236}">
                <a16:creationId xmlns:a16="http://schemas.microsoft.com/office/drawing/2014/main" id="{CECCC4C4-5EA3-BB43-FE04-4CA2D536F3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2066925"/>
            <a:ext cx="10175875" cy="1971675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B2215-51B2-118D-CC25-0931FE8E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1EB745-54F9-43B1-B96F-3D742AD376E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68B246-902B-B246-AE40-41619DBFC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CSS – Cascading Style Sheets</a:t>
            </a:r>
          </a:p>
        </p:txBody>
      </p:sp>
      <p:sp>
        <p:nvSpPr>
          <p:cNvPr id="13315" name="TextBox 5">
            <a:extLst>
              <a:ext uri="{FF2B5EF4-FFF2-40B4-BE49-F238E27FC236}">
                <a16:creationId xmlns:a16="http://schemas.microsoft.com/office/drawing/2014/main" id="{1D263A40-09F0-01CE-2F46-5EE944527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1736725"/>
            <a:ext cx="467836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altLang="en-US" b="1">
                <a:solidFill>
                  <a:schemeClr val="accent1"/>
                </a:solidFill>
                <a:latin typeface="Segoe UI" panose="020B0502040204020203" pitchFamily="34" charset="0"/>
              </a:rPr>
              <a:t>Why Use CSS?</a:t>
            </a:r>
          </a:p>
          <a:p>
            <a:endParaRPr lang="en-GB" altLang="en-US" b="1">
              <a:solidFill>
                <a:schemeClr val="accent1"/>
              </a:solidFill>
              <a:latin typeface="Segoe UI" panose="020B0502040204020203" pitchFamily="34" charset="0"/>
            </a:endParaRPr>
          </a:p>
          <a:p>
            <a:r>
              <a:rPr lang="en-GB" altLang="en-US">
                <a:solidFill>
                  <a:srgbClr val="000000"/>
                </a:solidFill>
                <a:latin typeface="Verdana" panose="020B0604030504040204" pitchFamily="34" charset="0"/>
              </a:rPr>
              <a:t>CSS is used to define styles for your web pages, including the design, layout and variations in display for different devices and screen sizes.</a:t>
            </a:r>
          </a:p>
        </p:txBody>
      </p:sp>
      <p:pic>
        <p:nvPicPr>
          <p:cNvPr id="13316" name="Picture 6">
            <a:extLst>
              <a:ext uri="{FF2B5EF4-FFF2-40B4-BE49-F238E27FC236}">
                <a16:creationId xmlns:a16="http://schemas.microsoft.com/office/drawing/2014/main" id="{453D6B63-EE28-80A3-0FBC-3D66FAD22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38" y="1833563"/>
            <a:ext cx="3870325" cy="441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91406-25D3-EAD1-FA28-2016C9B7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1EB745-54F9-43B1-B96F-3D742AD376E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8">
            <a:extLst>
              <a:ext uri="{FF2B5EF4-FFF2-40B4-BE49-F238E27FC236}">
                <a16:creationId xmlns:a16="http://schemas.microsoft.com/office/drawing/2014/main" id="{7FFC16A8-2869-7E4F-8F53-3E7258E0F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118919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7E0C1A-EB6D-BF9A-1F8E-56BFE694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54BD4E37-9B50-9644-50F3-7F6F9F2BE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4724400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4">
            <a:extLst>
              <a:ext uri="{FF2B5EF4-FFF2-40B4-BE49-F238E27FC236}">
                <a16:creationId xmlns:a16="http://schemas.microsoft.com/office/drawing/2014/main" id="{BD699AA8-1070-F532-09F4-7AF41AA43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90800"/>
            <a:ext cx="113776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093A47-A3AF-ED89-4AC7-03ADF521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>
            <a:extLst>
              <a:ext uri="{FF2B5EF4-FFF2-40B4-BE49-F238E27FC236}">
                <a16:creationId xmlns:a16="http://schemas.microsoft.com/office/drawing/2014/main" id="{82854A81-B748-E2CD-8BEB-7E6D7A319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7239000" cy="589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BC2848-18FD-2932-10BF-492F48DD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E9E95-F3FD-0A34-9732-E3D4CA709A12}"/>
              </a:ext>
            </a:extLst>
          </p:cNvPr>
          <p:cNvSpPr txBox="1"/>
          <p:nvPr/>
        </p:nvSpPr>
        <p:spPr>
          <a:xfrm>
            <a:off x="152400" y="0"/>
            <a:ext cx="120396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defRPr/>
            </a:pPr>
            <a:endParaRPr lang="en-GB" sz="2400" b="1" dirty="0">
              <a:solidFill>
                <a:schemeClr val="accent1"/>
              </a:solidFill>
              <a:latin typeface="+mn-lt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+mn-lt"/>
              </a:rPr>
              <a:t>CSS selectors are used to "find" (or select) the HTML elements you want to style.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5C091A-FCA8-9AF2-BD73-4318A0CC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56B8DD-25FD-8D01-EED3-BAC576341E4C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AA51976B-99EC-C019-0750-D8AAE231E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6629400" cy="480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4835A7-24EC-67E6-44E5-CB7B23DE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40EC9C-4F8E-B001-ADA0-44DF7504F058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sp>
        <p:nvSpPr>
          <p:cNvPr id="19459" name="TextBox 5">
            <a:extLst>
              <a:ext uri="{FF2B5EF4-FFF2-40B4-BE49-F238E27FC236}">
                <a16:creationId xmlns:a16="http://schemas.microsoft.com/office/drawing/2014/main" id="{1A0CCFF1-DE67-0B2C-25DD-16F51C6C5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96963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The CSS </a:t>
            </a:r>
            <a:r>
              <a:rPr lang="en-US" altLang="en-US" sz="1800" b="1">
                <a:solidFill>
                  <a:srgbClr val="0033CC"/>
                </a:solidFill>
                <a:latin typeface="Segoe UI" panose="020B0502040204020203" pitchFamily="34" charset="0"/>
              </a:rPr>
              <a:t>id</a:t>
            </a: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 Selector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rgbClr val="FF0000"/>
                </a:solidFill>
              </a:rPr>
            </a:br>
            <a:endParaRPr lang="en-US" altLang="en-US" sz="1800" b="1">
              <a:solidFill>
                <a:srgbClr val="FF0000"/>
              </a:solidFill>
            </a:endParaRPr>
          </a:p>
        </p:txBody>
      </p:sp>
      <p:pic>
        <p:nvPicPr>
          <p:cNvPr id="19460" name="Picture 6">
            <a:extLst>
              <a:ext uri="{FF2B5EF4-FFF2-40B4-BE49-F238E27FC236}">
                <a16:creationId xmlns:a16="http://schemas.microsoft.com/office/drawing/2014/main" id="{8E903A22-C392-EE55-9856-19A4794A2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558925"/>
            <a:ext cx="682466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FCC8CA-D4DF-0459-E09E-A7B0E175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DC4B25-ED15-8B67-4F62-B2CF188E87B8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sp>
        <p:nvSpPr>
          <p:cNvPr id="20483" name="TextBox 5">
            <a:extLst>
              <a:ext uri="{FF2B5EF4-FFF2-40B4-BE49-F238E27FC236}">
                <a16:creationId xmlns:a16="http://schemas.microsoft.com/office/drawing/2014/main" id="{3F73DABF-04C6-906E-1097-534844701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96963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The CSS </a:t>
            </a:r>
            <a:r>
              <a:rPr lang="en-US" altLang="en-US" sz="1800" b="1">
                <a:solidFill>
                  <a:srgbClr val="0033CC"/>
                </a:solidFill>
                <a:latin typeface="Segoe UI" panose="020B0502040204020203" pitchFamily="34" charset="0"/>
              </a:rPr>
              <a:t>class</a:t>
            </a: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 Selector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rgbClr val="FF0000"/>
                </a:solidFill>
              </a:rPr>
            </a:br>
            <a:endParaRPr lang="en-US" altLang="en-US" sz="1800" b="1">
              <a:solidFill>
                <a:srgbClr val="FF0000"/>
              </a:solidFill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086665F3-4F5E-2037-7C09-71D528376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58925"/>
            <a:ext cx="7467600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421E7-DBDD-42E2-367E-3BE2CFE3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E93D2A-2968-EDB3-440F-616B13F9FCBB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sp>
        <p:nvSpPr>
          <p:cNvPr id="21507" name="TextBox 5">
            <a:extLst>
              <a:ext uri="{FF2B5EF4-FFF2-40B4-BE49-F238E27FC236}">
                <a16:creationId xmlns:a16="http://schemas.microsoft.com/office/drawing/2014/main" id="{2730DB6B-C66F-9EE0-E199-5E0101417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96963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The CSS </a:t>
            </a:r>
            <a:r>
              <a:rPr lang="en-US" altLang="en-US" sz="1800" b="1">
                <a:solidFill>
                  <a:srgbClr val="0033CC"/>
                </a:solidFill>
                <a:latin typeface="Segoe UI" panose="020B0502040204020203" pitchFamily="34" charset="0"/>
              </a:rPr>
              <a:t>class</a:t>
            </a: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 Selector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rgbClr val="FF0000"/>
                </a:solidFill>
              </a:rPr>
            </a:br>
            <a:endParaRPr lang="en-US" altLang="en-US" sz="1800" b="1">
              <a:solidFill>
                <a:srgbClr val="FF0000"/>
              </a:solidFill>
            </a:endParaRPr>
          </a:p>
        </p:txBody>
      </p:sp>
      <p:pic>
        <p:nvPicPr>
          <p:cNvPr id="21508" name="Picture 3">
            <a:extLst>
              <a:ext uri="{FF2B5EF4-FFF2-40B4-BE49-F238E27FC236}">
                <a16:creationId xmlns:a16="http://schemas.microsoft.com/office/drawing/2014/main" id="{195C451C-D259-D061-3C3C-6A86A88B0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1589088"/>
            <a:ext cx="8680450" cy="47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7">
            <a:extLst>
              <a:ext uri="{FF2B5EF4-FFF2-40B4-BE49-F238E27FC236}">
                <a16:creationId xmlns:a16="http://schemas.microsoft.com/office/drawing/2014/main" id="{764C5A1A-EF49-3968-27AE-7F9DA2689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117850"/>
            <a:ext cx="7488238" cy="1439863"/>
          </a:xfrm>
          <a:prstGeom prst="rect">
            <a:avLst/>
          </a:prstGeom>
          <a:noFill/>
          <a:ln w="9525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E2796A-C881-6AAD-3112-2AD55C3A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EA3CCF-18C4-AA55-F6E9-9AC882B07481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sp>
        <p:nvSpPr>
          <p:cNvPr id="22531" name="TextBox 5">
            <a:extLst>
              <a:ext uri="{FF2B5EF4-FFF2-40B4-BE49-F238E27FC236}">
                <a16:creationId xmlns:a16="http://schemas.microsoft.com/office/drawing/2014/main" id="{8ACE3F19-F9D3-3133-C2F7-5055545B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96963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The CSS </a:t>
            </a:r>
            <a:r>
              <a:rPr lang="en-US" altLang="en-US" sz="1800" b="1">
                <a:solidFill>
                  <a:srgbClr val="0033CC"/>
                </a:solidFill>
                <a:latin typeface="Segoe UI" panose="020B0502040204020203" pitchFamily="34" charset="0"/>
              </a:rPr>
              <a:t>class</a:t>
            </a: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 Selector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rgbClr val="FF0000"/>
                </a:solidFill>
              </a:rPr>
            </a:br>
            <a:endParaRPr lang="en-US" altLang="en-US" sz="1800" b="1">
              <a:solidFill>
                <a:srgbClr val="FF0000"/>
              </a:solidFill>
            </a:endParaRP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34C68A02-3458-44DD-C53A-8D5366D3D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58925"/>
            <a:ext cx="8001000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71C023-DCF8-0D83-D8FA-4EEC812C8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1489075"/>
            <a:ext cx="6826250" cy="32559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5C5B8-701B-6864-2CE4-5E33A8BA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D008D2-7D95-A85D-ADA3-0D90761BCA21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sp>
        <p:nvSpPr>
          <p:cNvPr id="23555" name="TextBox 5">
            <a:extLst>
              <a:ext uri="{FF2B5EF4-FFF2-40B4-BE49-F238E27FC236}">
                <a16:creationId xmlns:a16="http://schemas.microsoft.com/office/drawing/2014/main" id="{0AF54261-2A75-7A32-6623-740F4CD74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96963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The CSS </a:t>
            </a:r>
            <a:r>
              <a:rPr lang="en-US" altLang="en-US" sz="1800" b="1">
                <a:solidFill>
                  <a:srgbClr val="0033CC"/>
                </a:solidFill>
                <a:latin typeface="Segoe UI" panose="020B0502040204020203" pitchFamily="34" charset="0"/>
              </a:rPr>
              <a:t>universal</a:t>
            </a: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 Selector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rgbClr val="FF0000"/>
                </a:solidFill>
              </a:rPr>
            </a:br>
            <a:endParaRPr lang="en-US" altLang="en-US" sz="1800" b="1">
              <a:solidFill>
                <a:srgbClr val="FF0000"/>
              </a:solidFill>
            </a:endParaRP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C0B6FA52-9107-F45F-49D2-D7C279CD4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558925"/>
            <a:ext cx="7299325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7">
            <a:extLst>
              <a:ext uri="{FF2B5EF4-FFF2-40B4-BE49-F238E27FC236}">
                <a16:creationId xmlns:a16="http://schemas.microsoft.com/office/drawing/2014/main" id="{492EE912-6B16-E3C3-3671-AEE6A5AF5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971800"/>
            <a:ext cx="3743325" cy="1733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3A0C1A-E598-F1C2-02F0-716B85FC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477CDE-B30F-A5EF-889C-BF28A54E6690}"/>
              </a:ext>
            </a:extLst>
          </p:cNvPr>
          <p:cNvSpPr txBox="1"/>
          <p:nvPr/>
        </p:nvSpPr>
        <p:spPr>
          <a:xfrm>
            <a:off x="152400" y="0"/>
            <a:ext cx="12039600" cy="1096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accent1"/>
                </a:solidFill>
                <a:latin typeface="+mn-lt"/>
              </a:rPr>
              <a:t>CSS Selectors</a:t>
            </a:r>
          </a:p>
          <a:p>
            <a:pPr>
              <a:lnSpc>
                <a:spcPct val="200000"/>
              </a:lnSpc>
              <a:defRPr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Simple selectors </a:t>
            </a:r>
            <a:r>
              <a:rPr lang="en-GB" sz="2400" dirty="0">
                <a:solidFill>
                  <a:srgbClr val="000000"/>
                </a:solidFill>
                <a:latin typeface="+mn-lt"/>
              </a:rPr>
              <a:t>(select elements based on name, id, class)</a:t>
            </a:r>
          </a:p>
        </p:txBody>
      </p:sp>
      <p:sp>
        <p:nvSpPr>
          <p:cNvPr id="24579" name="TextBox 5">
            <a:extLst>
              <a:ext uri="{FF2B5EF4-FFF2-40B4-BE49-F238E27FC236}">
                <a16:creationId xmlns:a16="http://schemas.microsoft.com/office/drawing/2014/main" id="{F8C4F8E9-56EB-024E-CC5E-F763F70D4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96963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The CSS </a:t>
            </a:r>
            <a:r>
              <a:rPr lang="en-US" altLang="en-US" sz="1800" b="1">
                <a:solidFill>
                  <a:srgbClr val="0033CC"/>
                </a:solidFill>
                <a:latin typeface="Segoe UI" panose="020B0502040204020203" pitchFamily="34" charset="0"/>
              </a:rPr>
              <a:t>Grouping </a:t>
            </a: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Selector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rgbClr val="FF0000"/>
                </a:solidFill>
              </a:rPr>
            </a:br>
            <a:endParaRPr lang="en-US" altLang="en-US" sz="1800" b="1">
              <a:solidFill>
                <a:srgbClr val="FF0000"/>
              </a:solidFill>
            </a:endParaRP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9C4BB04F-8659-F796-5A99-4518BD756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58925"/>
            <a:ext cx="3810000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E5753-85A3-2ED0-0176-7E15F6008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163" y="2098675"/>
            <a:ext cx="3605212" cy="26606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F51E16-59C6-643F-08C4-2666FD6A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4">
            <a:extLst>
              <a:ext uri="{FF2B5EF4-FFF2-40B4-BE49-F238E27FC236}">
                <a16:creationId xmlns:a16="http://schemas.microsoft.com/office/drawing/2014/main" id="{46261E4B-D376-DEE9-8FD2-A88CAC941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How To Add CSS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6B3D7-CD14-8611-B376-74F1DD53252F}"/>
              </a:ext>
            </a:extLst>
          </p:cNvPr>
          <p:cNvSpPr txBox="1"/>
          <p:nvPr/>
        </p:nvSpPr>
        <p:spPr>
          <a:xfrm>
            <a:off x="152400" y="762000"/>
            <a:ext cx="10820400" cy="3295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GB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Verdana" panose="020B0604030504040204" pitchFamily="34" charset="0"/>
              </a:rPr>
              <a:t>There are three ways of inserting a style sheet: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GB" sz="2400" dirty="0">
                <a:solidFill>
                  <a:srgbClr val="000000"/>
                </a:solidFill>
                <a:latin typeface="Verdana" panose="020B0604030504040204" pitchFamily="34" charset="0"/>
              </a:rPr>
              <a:t>External CSS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GB" sz="2400" dirty="0">
                <a:solidFill>
                  <a:srgbClr val="000000"/>
                </a:solidFill>
                <a:latin typeface="Verdana" panose="020B0604030504040204" pitchFamily="34" charset="0"/>
              </a:rPr>
              <a:t>Internal CSS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GB" sz="2400" dirty="0">
                <a:solidFill>
                  <a:srgbClr val="000000"/>
                </a:solidFill>
                <a:latin typeface="Verdana" panose="020B0604030504040204" pitchFamily="34" charset="0"/>
              </a:rPr>
              <a:t>Inline CSS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C49A5-85B7-E064-87FE-FF999FC1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4">
            <a:extLst>
              <a:ext uri="{FF2B5EF4-FFF2-40B4-BE49-F238E27FC236}">
                <a16:creationId xmlns:a16="http://schemas.microsoft.com/office/drawing/2014/main" id="{556620CC-4652-A2F0-FC68-D6C011158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How To Add CSS</a:t>
            </a:r>
          </a:p>
        </p:txBody>
      </p:sp>
      <p:sp>
        <p:nvSpPr>
          <p:cNvPr id="26627" name="TextBox 6">
            <a:extLst>
              <a:ext uri="{FF2B5EF4-FFF2-40B4-BE49-F238E27FC236}">
                <a16:creationId xmlns:a16="http://schemas.microsoft.com/office/drawing/2014/main" id="{0CEF3DD3-9A3B-2BDE-146D-F7904CFB6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2000"/>
            <a:ext cx="108204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400" b="1">
                <a:solidFill>
                  <a:srgbClr val="000000"/>
                </a:solidFill>
                <a:latin typeface="Verdana" panose="020B0604030504040204" pitchFamily="34" charset="0"/>
              </a:rPr>
              <a:t>External CSS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E92D1-F473-6A7F-A789-20897E61E65A}"/>
              </a:ext>
            </a:extLst>
          </p:cNvPr>
          <p:cNvSpPr txBox="1"/>
          <p:nvPr/>
        </p:nvSpPr>
        <p:spPr>
          <a:xfrm>
            <a:off x="609600" y="1695450"/>
            <a:ext cx="10820400" cy="1939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GB" sz="2400" dirty="0">
                <a:solidFill>
                  <a:srgbClr val="000000"/>
                </a:solidFill>
                <a:latin typeface="+mn-lt"/>
              </a:rPr>
              <a:t>With an external style sheet, you can change the look of an entire website by changing just one file!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endParaRPr lang="en-GB" sz="2400" dirty="0">
              <a:solidFill>
                <a:srgbClr val="000000"/>
              </a:solidFill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GB" sz="2400" dirty="0">
                <a:solidFill>
                  <a:srgbClr val="000000"/>
                </a:solidFill>
                <a:latin typeface="+mn-lt"/>
              </a:rPr>
              <a:t>Each HTML page must include a reference to the external style sheet file inside the &lt;link&gt; element, inside the head section.</a:t>
            </a:r>
          </a:p>
        </p:txBody>
      </p:sp>
      <p:sp>
        <p:nvSpPr>
          <p:cNvPr id="26629" name="TextBox 7">
            <a:extLst>
              <a:ext uri="{FF2B5EF4-FFF2-40B4-BE49-F238E27FC236}">
                <a16:creationId xmlns:a16="http://schemas.microsoft.com/office/drawing/2014/main" id="{F0B306F0-68DF-2CDD-623A-62B5154A9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43338"/>
            <a:ext cx="10820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33CC"/>
                </a:solidFill>
                <a:latin typeface="Verdana" panose="020B0604030504040204" pitchFamily="34" charset="0"/>
              </a:rPr>
              <a:t>External styles are defined within the &lt;link&gt; element, inside the &lt;head&gt; section of an HTML page: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GB" altLang="en-US" sz="1800">
                <a:solidFill>
                  <a:srgbClr val="0033CC"/>
                </a:solidFill>
              </a:rPr>
            </a:br>
            <a:endParaRPr lang="en-US" altLang="en-US" sz="1800">
              <a:solidFill>
                <a:srgbClr val="0033CC"/>
              </a:solidFill>
            </a:endParaRPr>
          </a:p>
        </p:txBody>
      </p:sp>
      <p:pic>
        <p:nvPicPr>
          <p:cNvPr id="26630" name="Picture 8">
            <a:extLst>
              <a:ext uri="{FF2B5EF4-FFF2-40B4-BE49-F238E27FC236}">
                <a16:creationId xmlns:a16="http://schemas.microsoft.com/office/drawing/2014/main" id="{0BED6EF4-3792-E006-A6D4-7E432227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4605338"/>
            <a:ext cx="6483350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9E65C-4BCE-733B-AB04-3D01F773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4">
            <a:extLst>
              <a:ext uri="{FF2B5EF4-FFF2-40B4-BE49-F238E27FC236}">
                <a16:creationId xmlns:a16="http://schemas.microsoft.com/office/drawing/2014/main" id="{89970D4B-94A9-6DC1-87E2-BFD04584A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How To Add CSS</a:t>
            </a:r>
          </a:p>
        </p:txBody>
      </p:sp>
      <p:sp>
        <p:nvSpPr>
          <p:cNvPr id="27651" name="TextBox 6">
            <a:extLst>
              <a:ext uri="{FF2B5EF4-FFF2-40B4-BE49-F238E27FC236}">
                <a16:creationId xmlns:a16="http://schemas.microsoft.com/office/drawing/2014/main" id="{88A67398-0F98-6A3B-E680-9B33A8E8B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2000"/>
            <a:ext cx="108204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400" b="1">
                <a:solidFill>
                  <a:srgbClr val="000000"/>
                </a:solidFill>
                <a:latin typeface="Verdana" panose="020B0604030504040204" pitchFamily="34" charset="0"/>
              </a:rPr>
              <a:t>External CSS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9A7107CB-2BE2-32B0-FD13-E6CF18C7E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03363"/>
            <a:ext cx="7205663" cy="445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9">
            <a:extLst>
              <a:ext uri="{FF2B5EF4-FFF2-40B4-BE49-F238E27FC236}">
                <a16:creationId xmlns:a16="http://schemas.microsoft.com/office/drawing/2014/main" id="{AC6AB6EE-B851-A580-B0D8-1FC128CB3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54038"/>
            <a:ext cx="41529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11">
            <a:extLst>
              <a:ext uri="{FF2B5EF4-FFF2-40B4-BE49-F238E27FC236}">
                <a16:creationId xmlns:a16="http://schemas.microsoft.com/office/drawing/2014/main" id="{4A5C9C70-3C3B-DEDB-A9F7-FA0CCA97D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013" y="3186113"/>
            <a:ext cx="4052887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1">
            <a:extLst>
              <a:ext uri="{FF2B5EF4-FFF2-40B4-BE49-F238E27FC236}">
                <a16:creationId xmlns:a16="http://schemas.microsoft.com/office/drawing/2014/main" id="{134C1091-0879-DA10-87B6-53D393A11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5276850"/>
            <a:ext cx="4551362" cy="739775"/>
          </a:xfrm>
          <a:prstGeom prst="rect">
            <a:avLst/>
          </a:prstGeom>
          <a:solidFill>
            <a:srgbClr val="FF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Verdana" panose="020B0604030504040204" pitchFamily="34" charset="0"/>
              </a:rPr>
              <a:t>Note:</a:t>
            </a:r>
            <a:r>
              <a:rPr lang="en-US" altLang="en-US" sz="1400">
                <a:solidFill>
                  <a:srgbClr val="000000"/>
                </a:solidFill>
              </a:rPr>
              <a:t> </a:t>
            </a:r>
            <a:r>
              <a:rPr lang="en-US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Do not add a space between the property value and the unit (such as</a:t>
            </a:r>
            <a:r>
              <a:rPr lang="en-US" altLang="en-US" sz="1400">
                <a:solidFill>
                  <a:srgbClr val="000000"/>
                </a:solidFill>
              </a:rPr>
              <a:t> </a:t>
            </a:r>
            <a:r>
              <a:rPr lang="en-US" altLang="en-US" sz="1400">
                <a:solidFill>
                  <a:srgbClr val="DC143C"/>
                </a:solidFill>
                <a:latin typeface="Consolas" panose="020B0609020204030204" pitchFamily="49" charset="0"/>
              </a:rPr>
              <a:t>margin-left: 20 px;</a:t>
            </a:r>
            <a:r>
              <a:rPr lang="en-US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). The correct way is:</a:t>
            </a:r>
            <a:r>
              <a:rPr lang="en-US" altLang="en-US" sz="1400">
                <a:solidFill>
                  <a:srgbClr val="000000"/>
                </a:solidFill>
              </a:rPr>
              <a:t> </a:t>
            </a:r>
            <a:r>
              <a:rPr lang="en-US" altLang="en-US" sz="1400">
                <a:solidFill>
                  <a:srgbClr val="DC143C"/>
                </a:solidFill>
                <a:latin typeface="Consolas" panose="020B0609020204030204" pitchFamily="49" charset="0"/>
              </a:rPr>
              <a:t>margin-left: 20px;</a:t>
            </a:r>
            <a:r>
              <a:rPr lang="en-US" altLang="en-US" sz="1400"/>
              <a:t> </a:t>
            </a: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8C0F3-26F3-03BC-9CC8-E11580EC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4">
            <a:extLst>
              <a:ext uri="{FF2B5EF4-FFF2-40B4-BE49-F238E27FC236}">
                <a16:creationId xmlns:a16="http://schemas.microsoft.com/office/drawing/2014/main" id="{4DC9AABC-F7CD-E4DA-10FB-9F8442066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How To Add CSS</a:t>
            </a:r>
          </a:p>
        </p:txBody>
      </p:sp>
      <p:sp>
        <p:nvSpPr>
          <p:cNvPr id="28675" name="TextBox 6">
            <a:extLst>
              <a:ext uri="{FF2B5EF4-FFF2-40B4-BE49-F238E27FC236}">
                <a16:creationId xmlns:a16="http://schemas.microsoft.com/office/drawing/2014/main" id="{7D337553-F459-078F-5C30-843B7D621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04800"/>
            <a:ext cx="108204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400" b="1">
                <a:solidFill>
                  <a:srgbClr val="000000"/>
                </a:solidFill>
                <a:latin typeface="Verdana" panose="020B0604030504040204" pitchFamily="34" charset="0"/>
              </a:rPr>
              <a:t>Internal CSS</a:t>
            </a:r>
          </a:p>
        </p:txBody>
      </p:sp>
      <p:pic>
        <p:nvPicPr>
          <p:cNvPr id="28676" name="Picture 3">
            <a:extLst>
              <a:ext uri="{FF2B5EF4-FFF2-40B4-BE49-F238E27FC236}">
                <a16:creationId xmlns:a16="http://schemas.microsoft.com/office/drawing/2014/main" id="{58282DE2-6343-9CE2-C138-0667A92EC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14413"/>
            <a:ext cx="3657600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7">
            <a:extLst>
              <a:ext uri="{FF2B5EF4-FFF2-40B4-BE49-F238E27FC236}">
                <a16:creationId xmlns:a16="http://schemas.microsoft.com/office/drawing/2014/main" id="{BDFB1E91-1B99-6795-E37E-5FDC36E5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13" y="2781300"/>
            <a:ext cx="45497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37EFB-C16D-FF1E-8E19-A6A2ED07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4">
            <a:extLst>
              <a:ext uri="{FF2B5EF4-FFF2-40B4-BE49-F238E27FC236}">
                <a16:creationId xmlns:a16="http://schemas.microsoft.com/office/drawing/2014/main" id="{87D9E2E1-4D8E-971E-02BA-CF5ADE488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How To Add CSS</a:t>
            </a:r>
          </a:p>
        </p:txBody>
      </p:sp>
      <p:sp>
        <p:nvSpPr>
          <p:cNvPr id="29699" name="TextBox 6">
            <a:extLst>
              <a:ext uri="{FF2B5EF4-FFF2-40B4-BE49-F238E27FC236}">
                <a16:creationId xmlns:a16="http://schemas.microsoft.com/office/drawing/2014/main" id="{64509F6D-98F4-27FC-38C1-B7031A51A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04800"/>
            <a:ext cx="108204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400" b="1">
                <a:solidFill>
                  <a:srgbClr val="000000"/>
                </a:solidFill>
                <a:latin typeface="Verdana" panose="020B0604030504040204" pitchFamily="34" charset="0"/>
              </a:rPr>
              <a:t>Inline CSS</a:t>
            </a:r>
          </a:p>
        </p:txBody>
      </p:sp>
      <p:sp>
        <p:nvSpPr>
          <p:cNvPr id="29700" name="TextBox 8">
            <a:extLst>
              <a:ext uri="{FF2B5EF4-FFF2-40B4-BE49-F238E27FC236}">
                <a16:creationId xmlns:a16="http://schemas.microsoft.com/office/drawing/2014/main" id="{114F4852-CA23-7D59-BD6C-5B4627503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14413"/>
            <a:ext cx="11353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An inline style may be used to apply a unique style for a single element.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To use inline styles, add the </a:t>
            </a:r>
            <a:r>
              <a:rPr lang="en-GB" altLang="en-US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style attribute</a:t>
            </a:r>
            <a:r>
              <a:rPr lang="en-GB" alt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 to the relevant element.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The style attribute can contain any CSS property.</a:t>
            </a:r>
          </a:p>
        </p:txBody>
      </p:sp>
      <p:pic>
        <p:nvPicPr>
          <p:cNvPr id="29701" name="Picture 5">
            <a:extLst>
              <a:ext uri="{FF2B5EF4-FFF2-40B4-BE49-F238E27FC236}">
                <a16:creationId xmlns:a16="http://schemas.microsoft.com/office/drawing/2014/main" id="{BC71108B-F520-C4FD-2CD9-69650C234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2362200"/>
            <a:ext cx="7394575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10">
            <a:extLst>
              <a:ext uri="{FF2B5EF4-FFF2-40B4-BE49-F238E27FC236}">
                <a16:creationId xmlns:a16="http://schemas.microsoft.com/office/drawing/2014/main" id="{3F0EA79C-B28F-D448-1528-CD2D5E137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286250"/>
            <a:ext cx="6743700" cy="155733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EA287-DA03-2615-D845-BE0A74E0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4">
            <a:extLst>
              <a:ext uri="{FF2B5EF4-FFF2-40B4-BE49-F238E27FC236}">
                <a16:creationId xmlns:a16="http://schemas.microsoft.com/office/drawing/2014/main" id="{9970B915-61DE-DE5E-7FAF-C290BCA0E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0723" name="TextBox 6">
            <a:extLst>
              <a:ext uri="{FF2B5EF4-FFF2-40B4-BE49-F238E27FC236}">
                <a16:creationId xmlns:a16="http://schemas.microsoft.com/office/drawing/2014/main" id="{5CCEB73B-C7C9-CC76-F0AB-A56C8D482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The CSS font-family Property</a:t>
            </a: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F1C9D487-EA41-F3C9-59EA-6535915F7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6313"/>
            <a:ext cx="6573838" cy="336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7">
            <a:extLst>
              <a:ext uri="{FF2B5EF4-FFF2-40B4-BE49-F238E27FC236}">
                <a16:creationId xmlns:a16="http://schemas.microsoft.com/office/drawing/2014/main" id="{E4DABD0D-14AE-5032-696C-96BA0B6A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52438"/>
            <a:ext cx="5367338" cy="16557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1E15E-E419-2B17-4B0B-C406F1A7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4">
            <a:extLst>
              <a:ext uri="{FF2B5EF4-FFF2-40B4-BE49-F238E27FC236}">
                <a16:creationId xmlns:a16="http://schemas.microsoft.com/office/drawing/2014/main" id="{71FBFE2D-0A73-D94F-3C6E-AB724991A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1747" name="TextBox 6">
            <a:extLst>
              <a:ext uri="{FF2B5EF4-FFF2-40B4-BE49-F238E27FC236}">
                <a16:creationId xmlns:a16="http://schemas.microsoft.com/office/drawing/2014/main" id="{570539D7-84AE-A0C5-17A1-E2B50972E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The CSS font-family Property</a:t>
            </a:r>
          </a:p>
        </p:txBody>
      </p:sp>
      <p:pic>
        <p:nvPicPr>
          <p:cNvPr id="31748" name="Picture 3">
            <a:extLst>
              <a:ext uri="{FF2B5EF4-FFF2-40B4-BE49-F238E27FC236}">
                <a16:creationId xmlns:a16="http://schemas.microsoft.com/office/drawing/2014/main" id="{00753A2B-5AED-708C-AD36-DC61464C6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990600"/>
            <a:ext cx="7281862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8">
            <a:extLst>
              <a:ext uri="{FF2B5EF4-FFF2-40B4-BE49-F238E27FC236}">
                <a16:creationId xmlns:a16="http://schemas.microsoft.com/office/drawing/2014/main" id="{4B4E164F-4AC7-2BEC-AD1A-E67F51EA8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975" y="1747838"/>
            <a:ext cx="5856288" cy="16811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6061B7-957A-811F-182A-E9ADAD38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>
            <a:extLst>
              <a:ext uri="{FF2B5EF4-FFF2-40B4-BE49-F238E27FC236}">
                <a16:creationId xmlns:a16="http://schemas.microsoft.com/office/drawing/2014/main" id="{B6ECEBEE-E6FE-963C-395D-3106E9971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2771" name="TextBox 6">
            <a:extLst>
              <a:ext uri="{FF2B5EF4-FFF2-40B4-BE49-F238E27FC236}">
                <a16:creationId xmlns:a16="http://schemas.microsoft.com/office/drawing/2014/main" id="{4E36D1C9-8E6C-2310-6152-C727C0345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CSS Web Safe Fonts</a:t>
            </a:r>
          </a:p>
        </p:txBody>
      </p:sp>
      <p:sp>
        <p:nvSpPr>
          <p:cNvPr id="32772" name="TextBox 7">
            <a:extLst>
              <a:ext uri="{FF2B5EF4-FFF2-40B4-BE49-F238E27FC236}">
                <a16:creationId xmlns:a16="http://schemas.microsoft.com/office/drawing/2014/main" id="{8E7D99EA-B3C4-03A8-1803-42B8E0380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04875"/>
            <a:ext cx="1082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Web safe fonts are fonts that are universally installed across all browsers and devices.</a:t>
            </a:r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CB67C4F2-AD09-A270-3609-2A0D9D2D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1524000"/>
            <a:ext cx="7777162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TextBox 10">
            <a:extLst>
              <a:ext uri="{FF2B5EF4-FFF2-40B4-BE49-F238E27FC236}">
                <a16:creationId xmlns:a16="http://schemas.microsoft.com/office/drawing/2014/main" id="{81E1061A-8A61-F616-3EBD-9E8FA06B8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429000"/>
            <a:ext cx="609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  <a:latin typeface="Verdana" panose="020B0604030504040204" pitchFamily="34" charset="0"/>
              </a:rPr>
              <a:t>Note:</a:t>
            </a:r>
            <a:r>
              <a:rPr lang="en-GB" altLang="en-US" sz="1800">
                <a:solidFill>
                  <a:srgbClr val="FF0000"/>
                </a:solidFill>
                <a:latin typeface="Verdana" panose="020B0604030504040204" pitchFamily="34" charset="0"/>
              </a:rPr>
              <a:t> Before you publish your website, always check how your fonts appear on different browsers and devices, and always use fallback fonts!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9B577-875C-F7B0-13A0-DDBC7A6A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4">
            <a:extLst>
              <a:ext uri="{FF2B5EF4-FFF2-40B4-BE49-F238E27FC236}">
                <a16:creationId xmlns:a16="http://schemas.microsoft.com/office/drawing/2014/main" id="{C3C6C96F-7151-66EE-F1F2-1324C0723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3795" name="TextBox 6">
            <a:extLst>
              <a:ext uri="{FF2B5EF4-FFF2-40B4-BE49-F238E27FC236}">
                <a16:creationId xmlns:a16="http://schemas.microsoft.com/office/drawing/2014/main" id="{3A6E0961-16E8-0333-D392-48F158B67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Font Style</a:t>
            </a:r>
          </a:p>
        </p:txBody>
      </p:sp>
      <p:pic>
        <p:nvPicPr>
          <p:cNvPr id="33796" name="Picture 2">
            <a:extLst>
              <a:ext uri="{FF2B5EF4-FFF2-40B4-BE49-F238E27FC236}">
                <a16:creationId xmlns:a16="http://schemas.microsoft.com/office/drawing/2014/main" id="{F765C047-A5C7-84C8-D0F4-E717EDA83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30275"/>
            <a:ext cx="6507163" cy="592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8">
            <a:extLst>
              <a:ext uri="{FF2B5EF4-FFF2-40B4-BE49-F238E27FC236}">
                <a16:creationId xmlns:a16="http://schemas.microsoft.com/office/drawing/2014/main" id="{FF9F71F0-0AE7-CD98-88DF-77CA9F44A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338" y="2057400"/>
            <a:ext cx="4335462" cy="16859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8FAA7C-EDD3-AC5B-359B-B6EE7926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4">
            <a:extLst>
              <a:ext uri="{FF2B5EF4-FFF2-40B4-BE49-F238E27FC236}">
                <a16:creationId xmlns:a16="http://schemas.microsoft.com/office/drawing/2014/main" id="{C54892FD-69CD-090C-F0CA-09B639F37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4819" name="TextBox 6">
            <a:extLst>
              <a:ext uri="{FF2B5EF4-FFF2-40B4-BE49-F238E27FC236}">
                <a16:creationId xmlns:a16="http://schemas.microsoft.com/office/drawing/2014/main" id="{1E7C6405-37F1-27A9-FD18-F964C12EF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Font Weight</a:t>
            </a:r>
          </a:p>
        </p:txBody>
      </p:sp>
      <p:pic>
        <p:nvPicPr>
          <p:cNvPr id="34820" name="Picture 3">
            <a:extLst>
              <a:ext uri="{FF2B5EF4-FFF2-40B4-BE49-F238E27FC236}">
                <a16:creationId xmlns:a16="http://schemas.microsoft.com/office/drawing/2014/main" id="{914C20D8-B5FD-1F81-7D58-90A3E83B7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5988"/>
            <a:ext cx="4343400" cy="584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505E94-22FB-6BAE-B242-2294D1FB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4">
            <a:extLst>
              <a:ext uri="{FF2B5EF4-FFF2-40B4-BE49-F238E27FC236}">
                <a16:creationId xmlns:a16="http://schemas.microsoft.com/office/drawing/2014/main" id="{CD4F6F12-6D27-CB49-673F-B8573D041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-33338"/>
            <a:ext cx="1203960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5843" name="TextBox 6">
            <a:extLst>
              <a:ext uri="{FF2B5EF4-FFF2-40B4-BE49-F238E27FC236}">
                <a16:creationId xmlns:a16="http://schemas.microsoft.com/office/drawing/2014/main" id="{3A8A83B7-F995-A722-9475-6C6F128DB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Font Variant</a:t>
            </a:r>
          </a:p>
        </p:txBody>
      </p:sp>
      <p:sp>
        <p:nvSpPr>
          <p:cNvPr id="35844" name="Rectangle 1">
            <a:extLst>
              <a:ext uri="{FF2B5EF4-FFF2-40B4-BE49-F238E27FC236}">
                <a16:creationId xmlns:a16="http://schemas.microsoft.com/office/drawing/2014/main" id="{77C003B4-5B44-E008-4504-F8F052BA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838200"/>
            <a:ext cx="9875837" cy="181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font-variant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property specifies whether or not a text should be displayed in a small-caps font.</a:t>
            </a:r>
            <a:endParaRPr lang="en-US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3600"/>
            </a:br>
            <a:endParaRPr lang="en-US" altLang="en-US" sz="3600"/>
          </a:p>
        </p:txBody>
      </p:sp>
      <p:pic>
        <p:nvPicPr>
          <p:cNvPr id="35845" name="Picture 10">
            <a:extLst>
              <a:ext uri="{FF2B5EF4-FFF2-40B4-BE49-F238E27FC236}">
                <a16:creationId xmlns:a16="http://schemas.microsoft.com/office/drawing/2014/main" id="{FE0F5904-F66A-78EC-F61C-990536780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1652588"/>
            <a:ext cx="5491162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12">
            <a:extLst>
              <a:ext uri="{FF2B5EF4-FFF2-40B4-BE49-F238E27FC236}">
                <a16:creationId xmlns:a16="http://schemas.microsoft.com/office/drawing/2014/main" id="{68A9B172-8DFA-F64E-8DC7-85E4B07C3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028950"/>
            <a:ext cx="3740150" cy="14239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CEF627-3341-2D93-FA4B-F0185EA8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4">
            <a:extLst>
              <a:ext uri="{FF2B5EF4-FFF2-40B4-BE49-F238E27FC236}">
                <a16:creationId xmlns:a16="http://schemas.microsoft.com/office/drawing/2014/main" id="{E40B208F-74D9-A47A-CB7D-B59EB6E21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Font</a:t>
            </a:r>
          </a:p>
        </p:txBody>
      </p:sp>
      <p:sp>
        <p:nvSpPr>
          <p:cNvPr id="36867" name="TextBox 6">
            <a:extLst>
              <a:ext uri="{FF2B5EF4-FFF2-40B4-BE49-F238E27FC236}">
                <a16:creationId xmlns:a16="http://schemas.microsoft.com/office/drawing/2014/main" id="{A94B9449-5E44-EBA5-4D5D-A768234B4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2438"/>
            <a:ext cx="1082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400" b="1">
                <a:solidFill>
                  <a:srgbClr val="000000"/>
                </a:solidFill>
                <a:latin typeface="Segoe UI" panose="020B0502040204020203" pitchFamily="34" charset="0"/>
              </a:rPr>
              <a:t>Font Size</a:t>
            </a:r>
          </a:p>
        </p:txBody>
      </p:sp>
      <p:sp>
        <p:nvSpPr>
          <p:cNvPr id="36868" name="TextBox 7">
            <a:extLst>
              <a:ext uri="{FF2B5EF4-FFF2-40B4-BE49-F238E27FC236}">
                <a16:creationId xmlns:a16="http://schemas.microsoft.com/office/drawing/2014/main" id="{F24BC708-6864-3DB4-D5E5-ECADE92CE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76313"/>
            <a:ext cx="297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Set Font Size With Pixels</a:t>
            </a:r>
          </a:p>
        </p:txBody>
      </p:sp>
      <p:sp>
        <p:nvSpPr>
          <p:cNvPr id="36869" name="TextBox 9">
            <a:extLst>
              <a:ext uri="{FF2B5EF4-FFF2-40B4-BE49-F238E27FC236}">
                <a16:creationId xmlns:a16="http://schemas.microsoft.com/office/drawing/2014/main" id="{B8537628-0F7F-FF90-C772-81CFB3404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06525"/>
            <a:ext cx="29718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h1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font-size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40px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h2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font-size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30px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font-size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14px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36870" name="TextBox 10">
            <a:extLst>
              <a:ext uri="{FF2B5EF4-FFF2-40B4-BE49-F238E27FC236}">
                <a16:creationId xmlns:a16="http://schemas.microsoft.com/office/drawing/2014/main" id="{62827DBB-0981-3E66-6900-A442AA672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5" y="1001713"/>
            <a:ext cx="297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Set Font Size With Em</a:t>
            </a:r>
          </a:p>
        </p:txBody>
      </p:sp>
      <p:sp>
        <p:nvSpPr>
          <p:cNvPr id="36871" name="TextBox 12">
            <a:extLst>
              <a:ext uri="{FF2B5EF4-FFF2-40B4-BE49-F238E27FC236}">
                <a16:creationId xmlns:a16="http://schemas.microsoft.com/office/drawing/2014/main" id="{4B1D05A1-C931-8445-B490-954D6BD9A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524000"/>
            <a:ext cx="60960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h1 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font-size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pt-BR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2.5em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pt-BR" altLang="en-US" sz="1800">
                <a:solidFill>
                  <a:srgbClr val="008000"/>
                </a:solidFill>
                <a:latin typeface="Consolas" panose="020B0609020204030204" pitchFamily="49" charset="0"/>
              </a:rPr>
              <a:t>/* 40px/16=2.5em */</a:t>
            </a:r>
            <a:b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altLang="en-US" sz="1800"/>
            </a:br>
            <a:br>
              <a:rPr lang="pt-BR" altLang="en-US" sz="1800"/>
            </a:br>
            <a:r>
              <a:rPr lang="pt-BR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h2 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font-size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pt-BR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1.875em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pt-BR" altLang="en-US" sz="1800">
                <a:solidFill>
                  <a:srgbClr val="008000"/>
                </a:solidFill>
                <a:latin typeface="Consolas" panose="020B0609020204030204" pitchFamily="49" charset="0"/>
              </a:rPr>
              <a:t>/* 30px/16=1.875em */</a:t>
            </a:r>
            <a:b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altLang="en-US" sz="1800"/>
            </a:br>
            <a:br>
              <a:rPr lang="pt-BR" altLang="en-US" sz="1800"/>
            </a:br>
            <a:r>
              <a:rPr lang="pt-BR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font-size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pt-BR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0.875em</a:t>
            </a: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pt-BR" altLang="en-US" sz="1800">
                <a:solidFill>
                  <a:srgbClr val="008000"/>
                </a:solidFill>
                <a:latin typeface="Consolas" panose="020B0609020204030204" pitchFamily="49" charset="0"/>
              </a:rPr>
              <a:t>/* 14px/16=0.875em */</a:t>
            </a:r>
            <a:br>
              <a:rPr lang="pt-BR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t-BR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8E801-6034-2D65-B210-502218BD5E13}"/>
              </a:ext>
            </a:extLst>
          </p:cNvPr>
          <p:cNvSpPr txBox="1"/>
          <p:nvPr/>
        </p:nvSpPr>
        <p:spPr>
          <a:xfrm>
            <a:off x="4221163" y="4664075"/>
            <a:ext cx="7742237" cy="1754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To allow users to resize the text (in the browser menu), many developers use </a:t>
            </a:r>
            <a:r>
              <a:rPr lang="en-GB" dirty="0" err="1">
                <a:solidFill>
                  <a:srgbClr val="000000"/>
                </a:solidFill>
                <a:latin typeface="Verdana" panose="020B0604030504040204" pitchFamily="34" charset="0"/>
              </a:rPr>
              <a:t>em</a:t>
            </a:r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 instead of pixels.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1em is equal to the current font size. The default text size in browsers is 16px. So, the default size of 1em is 16px.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The size can be calculated from pixels to </a:t>
            </a:r>
            <a:r>
              <a:rPr lang="en-GB" dirty="0" err="1">
                <a:solidFill>
                  <a:srgbClr val="000000"/>
                </a:solidFill>
                <a:latin typeface="Verdana" panose="020B0604030504040204" pitchFamily="34" charset="0"/>
              </a:rPr>
              <a:t>em</a:t>
            </a:r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 using this formula: </a:t>
            </a:r>
            <a:r>
              <a:rPr lang="en-GB" b="1" i="1" dirty="0">
                <a:solidFill>
                  <a:srgbClr val="FF0000"/>
                </a:solidFill>
                <a:latin typeface="Verdana" panose="020B0604030504040204" pitchFamily="34" charset="0"/>
              </a:rPr>
              <a:t>pixels</a:t>
            </a:r>
            <a:r>
              <a:rPr lang="en-GB" b="1" dirty="0">
                <a:solidFill>
                  <a:srgbClr val="FF0000"/>
                </a:solidFill>
                <a:latin typeface="Verdana" panose="020B0604030504040204" pitchFamily="34" charset="0"/>
              </a:rPr>
              <a:t>/16=</a:t>
            </a:r>
            <a:r>
              <a:rPr lang="en-GB" b="1" i="1" dirty="0" err="1">
                <a:solidFill>
                  <a:srgbClr val="FF0000"/>
                </a:solidFill>
                <a:latin typeface="Verdana" panose="020B0604030504040204" pitchFamily="34" charset="0"/>
              </a:rPr>
              <a:t>em</a:t>
            </a:r>
            <a:endParaRPr lang="en-GB" b="1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8D141-E15D-2C42-317F-E3CA5009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DB40D-8233-402E-9493-929D671405B4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04DCD2-D513-4235-8E1B-4DF6D3C230F5}"/>
</file>

<file path=customXml/itemProps2.xml><?xml version="1.0" encoding="utf-8"?>
<ds:datastoreItem xmlns:ds="http://schemas.openxmlformats.org/officeDocument/2006/customXml" ds:itemID="{0D02EA53-74DD-4116-9521-DD017B26DAFC}"/>
</file>

<file path=customXml/itemProps3.xml><?xml version="1.0" encoding="utf-8"?>
<ds:datastoreItem xmlns:ds="http://schemas.openxmlformats.org/officeDocument/2006/customXml" ds:itemID="{33D22CD2-9CE7-4E59-A361-A892F9CBE43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5908</TotalTime>
  <Words>664</Words>
  <Application>Microsoft Office PowerPoint</Application>
  <PresentationFormat>Widescreen</PresentationFormat>
  <Paragraphs>110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Segoe UI</vt:lpstr>
      <vt:lpstr>Times New Roman</vt:lpstr>
      <vt:lpstr>Verdana</vt:lpstr>
      <vt:lpstr>Wingdings</vt:lpstr>
      <vt:lpstr>Retrospect</vt:lpstr>
      <vt:lpstr>Office Theme</vt:lpstr>
      <vt:lpstr>PowerPoint Presentation</vt:lpstr>
      <vt:lpstr>CSS – Cascading Style Sheets</vt:lpstr>
      <vt:lpstr>CSS – Cascading Style Sheets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1405</cp:revision>
  <dcterms:created xsi:type="dcterms:W3CDTF">1601-01-01T00:00:00Z</dcterms:created>
  <dcterms:modified xsi:type="dcterms:W3CDTF">2025-09-25T08:00:30Z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