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20" r:id="rId2"/>
  </p:sldMasterIdLst>
  <p:notesMasterIdLst>
    <p:notesMasterId r:id="rId26"/>
  </p:notesMasterIdLst>
  <p:handoutMasterIdLst>
    <p:handoutMasterId r:id="rId27"/>
  </p:handoutMasterIdLst>
  <p:sldIdLst>
    <p:sldId id="286" r:id="rId3"/>
    <p:sldId id="273" r:id="rId4"/>
    <p:sldId id="337" r:id="rId5"/>
    <p:sldId id="349" r:id="rId6"/>
    <p:sldId id="338" r:id="rId7"/>
    <p:sldId id="339" r:id="rId8"/>
    <p:sldId id="340" r:id="rId9"/>
    <p:sldId id="341" r:id="rId10"/>
    <p:sldId id="355" r:id="rId11"/>
    <p:sldId id="342" r:id="rId12"/>
    <p:sldId id="343" r:id="rId13"/>
    <p:sldId id="358" r:id="rId14"/>
    <p:sldId id="345" r:id="rId15"/>
    <p:sldId id="359" r:id="rId16"/>
    <p:sldId id="346" r:id="rId17"/>
    <p:sldId id="361" r:id="rId18"/>
    <p:sldId id="347" r:id="rId19"/>
    <p:sldId id="348" r:id="rId20"/>
    <p:sldId id="375" r:id="rId21"/>
    <p:sldId id="378" r:id="rId22"/>
    <p:sldId id="377" r:id="rId23"/>
    <p:sldId id="376" r:id="rId24"/>
    <p:sldId id="379" r:id="rId25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33CC"/>
    <a:srgbClr val="003399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66CDA-C06F-4AB2-BDEE-E406ED4C9ECE}" v="2" dt="2025-09-21T16:44:05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9" autoAdjust="0"/>
    <p:restoredTop sz="91257" autoAdjust="0"/>
  </p:normalViewPr>
  <p:slideViewPr>
    <p:cSldViewPr>
      <p:cViewPr varScale="1">
        <p:scale>
          <a:sx n="102" d="100"/>
          <a:sy n="102" d="100"/>
        </p:scale>
        <p:origin x="55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addSld delSld modSld">
      <pc:chgData name="Kamal Beydoun" userId="e88cbbf3-5e5f-46df-aecf-fe10b322ce6e" providerId="ADAL" clId="{E4876F53-9B78-423D-99A1-E03CA3D47365}" dt="2025-09-21T16:43:51.091" v="1"/>
      <pc:docMkLst>
        <pc:docMk/>
      </pc:docMkLst>
      <pc:sldChg chg="add del">
        <pc:chgData name="Kamal Beydoun" userId="e88cbbf3-5e5f-46df-aecf-fe10b322ce6e" providerId="ADAL" clId="{E4876F53-9B78-423D-99A1-E03CA3D47365}" dt="2025-09-21T16:43:51.091" v="1"/>
        <pc:sldMkLst>
          <pc:docMk/>
          <pc:sldMk cId="0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AEB1E2-3A30-B187-E25B-6EDA69F34B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E9A4571-6D02-4B67-86EA-D65D205A0A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72750B1-C632-0F44-E5A1-F1B916CDFE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27E303BE-03AF-79D7-F940-48B0769E16E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AFD8FCBB-1C91-412E-BB25-A102FFBF0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2DFBA7A-DF1C-F744-95AE-B7377D6A5E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8C2E5B-DEFB-26A4-E3A2-F432E788F8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31E1AD1-2618-4DC8-76D5-6A14911159E3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6F58FD05-E4AA-DA46-E17C-CEAD65CF2C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AAB8B656-7CA6-3E50-9C7F-F01F08E327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78402C6D-7F4B-E277-3EAA-13DCFABE2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F99AF7F3-98F4-4749-A778-7F5AA35032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B7835B-B70B-4E1E-04C5-47BF3388BB70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4C327-E790-56E0-44BE-183D0A36782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47AC6F-69F2-5150-2B3A-78E32981F2CD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DFE4AA-7D24-DAD0-5F25-0A051170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8CF00-CDD0-4CBE-9A49-C41FF5FE2DA7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90490F-7EDC-8033-281D-C9BC1A70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C6C18CA-2D90-FDFC-2491-A5A09867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7D065-C7C6-4759-B698-98FB71B168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57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7859E-0151-FD6E-B48C-144506A0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F5662-36A1-4C2E-ABEF-3E21219FD7BF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3D3FC-96F0-247F-317D-33065A25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C5D19-BFE0-18BA-5F7D-F083C183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D22C2-6D5D-4E86-B117-1A026E8BB2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09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D6AE9D-E853-EC9B-CD6E-871AA9062F6D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A7071-7B5C-EA42-B0FC-42D5A5E98789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E36ED6-FF5C-1BA1-4540-48BCF5A76F12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4E67E0-04CA-91F4-0B0A-23786585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7CDFC-8266-4F2F-A5E8-8EB7F9752326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151A41-90DE-89C1-322A-4942FB4E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FAF756-9FB5-EBFD-E393-ACA2F0D0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004B2-B153-463D-B1D0-322B7F3C05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98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A3084AA-0B8A-F98F-DF5F-EFAD78DC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F0275-778B-4E1E-8CC0-9C4B8EBBDE1E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E958-FEF8-1A2C-643A-012D6774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715A-2D0B-3104-446A-3AE35D5F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0FEF7-FD52-4DDD-B546-C7A53D7F75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463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770E632-A361-457F-B405-F5C99F86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BD529-0355-4057-BEAD-6323ACBB7B5C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A0D2AA-5A04-40A0-C159-0033D9D3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9966633-F697-E20E-F16E-880B44CB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90681-CF5B-44CE-9DEE-4FA8790005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15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BA038CC-5539-016F-760B-F6C9E354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D301D-2563-49A7-BE57-7245BB42003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39FBDDF-E83D-1846-7F86-6C8C9DB2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293790-26FA-72D2-EE7E-B0EB1DF8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5D89B-BD19-4DF4-8514-10B6AA826A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71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23A69-24EC-570B-1AD1-3709096EFB08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DF456-02E5-AA31-B37F-2B9592DD27F7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2131D4B4-D14F-EB7A-4F36-BF595243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3A953-193C-47D3-9D49-B4401FF9D9D0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6682A63B-A7EB-A583-2BA0-11A7524B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19DB397-403B-2D1F-2D13-5BC0C3A1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9DB8C-AF3D-4B3E-A6FA-3C3079CB69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CE5D86-A7C6-159B-A04E-EF9CA2EF5593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3CA1AB-3319-C893-8613-6780CF27A1EB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2108831-1F73-CDD4-6040-011A4F07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531DA83-13F8-40D5-B337-97372B76FFF8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FFF550E-BD75-ADDC-0983-E4C21424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A972861-6036-C6DF-308B-4E17A95F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2E7CA69-82CF-40D8-B257-02FE6884AE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09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DEF70E-63AF-6127-5B52-0741BDEE2F01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00536A-DA63-06C2-B0E9-1E79272D5491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F2EDA3E-BAA5-DC8F-D12D-80EE5EA4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4EE7E-B2F8-4D18-92B8-91568BFB03AF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427C6F5-7778-BF50-C36B-ED9F06E3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B1EDE8D-4859-B438-15A2-972677AD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DE754-3FE1-40FD-9DBC-CD609EE68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17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5BEA6-2FB1-4466-B1EA-61937A60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5A717-9295-41AA-AB96-AEFBD464160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BEAAA-C8BF-2CC7-8DC7-F0E0C544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2B567-3B30-20BE-B0DB-9DD323BB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5EFA6-C96E-4FCA-850D-D09882ABEE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56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9CB56B-62BA-CB95-152A-B40776589EDD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D50FB2-E220-BA57-FF24-454D95D91A33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7BC3867-90D9-2457-215A-49E28B4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51FB9-6D41-4164-A99B-85BC1FF6BB3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74A32D-C558-C315-0735-FEBFA9B1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BD35106-60AF-E327-FD3F-08378787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4AE37-A016-4CAC-A3A1-5B6228222B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133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2DFF4-E60C-D364-6A2A-AF92A8F97181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F4C39-60B3-DE1D-5C39-86D3778C9B27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3307A6-E5AB-11BD-F32B-5767EC9E943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29D09C-5D19-BA12-09F6-A26BB828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B6F4B-FBD6-45F2-8B9A-3A11683DB07D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A9D026-176B-FA63-2FEF-488335DA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614EAB-E089-F241-8F58-44B66F84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93A99-6C06-4E50-B78A-4D3F09271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6296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F8FA-2177-CF91-507C-E3F45604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4BED-1E88-48F8-BD8C-BA7558D33645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BD16E-808C-DF0D-5E80-80DA408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7AF3-E157-1E54-DB24-6678F69F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19B3-778E-46BD-8A7D-7866717D0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128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10644D-9060-2FE8-D3C7-E14ADB90029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94A30-82C1-BEF7-A89E-B9E2DFFABECB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F1F3C6-9703-BC26-0347-F3927B9BE46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71B7B0-A06B-006D-114D-E95B099F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E77EF-E537-4CC2-A787-68BD0B408B93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D7EB77-E0BE-9953-7169-22F6D0A1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C2F2CD-DBF5-D1C9-7CA1-A9511473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8E89F-D905-4C30-8A8D-2DFA072C0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817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550D5E-F199-AFB4-3BC3-27E4C4AD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A5A8E-B245-457A-BF76-C8892C4A59B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3BF6-DAA2-C939-918A-6847F9DD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A44E-4B7B-A216-D29C-169B32C4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40E09-0324-48C4-AA8D-991D2FA77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596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350295-1796-9B4E-8EBC-CF88BA43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7610E-1519-4D53-A278-9EF6F65EE47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77AD08-EB2D-B0BC-E8EF-E5BC7BF4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FFA0FED-BB4C-225A-BFE4-49A1D55D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5246C-853E-4BAD-AB08-5880C2F9E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823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B3659CD-A9EF-7CA4-B874-94E9E8F3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49844-7EDE-4397-B42F-B00E8FFFA1C7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F354BE-20FC-65E8-C1E8-3FAAEDE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35EE99-F827-572D-BD37-47F36E11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1D5FA-3136-44CB-8069-EC2A70018F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117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8AA49-B690-A90F-1151-43A84A82CA04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A6C4A-0F11-7E62-451C-24F23C0314B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CCC873C-38FB-29AE-99C7-227972B4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67BE5-A2FC-4D36-8A4A-72962B59E43A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B2176C55-3914-947E-021F-58779FEC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0CF7F1E-29D0-90B1-BB38-35C38F01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C2EBF-BF29-4256-BFD3-7E873AAE4E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116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A85966-AA7C-8069-DF9C-5919ACC779AD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90FDFF-4997-2DC8-D797-10717D721B87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42A80F0-1CE3-0CDC-C093-C5F6F7C8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8F7D37-98F9-4B95-98E3-F642E09CE1B8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1B519B-5306-2165-79AD-F440F204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FD59B13-41F5-4EB9-41DE-1108E898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96E133E-DA70-4E8B-A604-DF4FDF5B27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5671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5BBED4-09A3-05E9-E46A-91EEF4AD708E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2FF36-5A36-D697-0416-28BC3BDC5967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3F9CE50-D4B9-ACDB-2E7B-D6D6A7C1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3963E-F922-4B76-A6C4-0CF3EA55E7F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DD49647-2064-2A8B-1D2E-D8F7A274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F447C19-4C90-9D9F-4712-4B2CA6C3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65AC2-404C-411D-9462-FC9018154A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370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B5C2-5DCA-8867-0779-CA5E708E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07D9D-7275-42AA-BFF9-86BAE7F393EE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AB4D-9716-E990-2ED5-E4C9AD21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3FBB-3D16-F416-6009-F2EC2A3B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4326D-7927-4234-851A-997CC7778C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890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27F4E-4947-CA9F-EFD5-F8207ED04A3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0416F-C68D-BBA8-3AF1-639241AA5411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189E825-2DA4-83B6-CC9D-BB5F1AD3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50C8D-C130-40D4-B6C2-40E7340EE146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170EB2-DA81-D7E7-ABE9-3215619E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F9F7A3-5235-701D-D5C7-DF6580A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10AF5-5917-412B-8D92-DDE8E80B9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90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172406-5738-672B-79B7-908E7CBD6825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3063B-0464-5138-2855-3B3C34CA39D2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67460-775B-2693-9843-E8FFF861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F8E71374-64D6-93CB-52BF-A5B29B3C5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18C77-D783-D904-D8E7-A72B6747B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E2CB05FF-CB59-4F16-8DA3-56B355373F22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9AA4-CE5C-B748-D70A-564749D25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3C9BE-9B88-775B-3481-C407EB96F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D8D4FBFD-E443-45F2-B3E4-7BFC199815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FBA2F4-BB7B-AFF2-9224-8FC254D59E4C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09" r:id="rId2"/>
    <p:sldLayoutId id="2147483815" r:id="rId3"/>
    <p:sldLayoutId id="2147483810" r:id="rId4"/>
    <p:sldLayoutId id="2147483811" r:id="rId5"/>
    <p:sldLayoutId id="2147483812" r:id="rId6"/>
    <p:sldLayoutId id="2147483816" r:id="rId7"/>
    <p:sldLayoutId id="2147483817" r:id="rId8"/>
    <p:sldLayoutId id="2147483818" r:id="rId9"/>
    <p:sldLayoutId id="2147483813" r:id="rId10"/>
    <p:sldLayoutId id="2147483819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BBE663-904F-4CCA-712E-F53CEB966EB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4CE0B-B812-259F-B5B0-85306E6313D8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42066-CCD5-10DE-0D65-57D20B11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380649E0-9D3B-D35E-7410-87063F1D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182B2-07BF-672A-2B45-7108C0DB0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165944A5-5719-4C8A-A2F5-81E5168B389D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F52D8-6C5D-0428-260A-003BF113B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F9A3-AB88-EE25-116A-56D3CB9A7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68E7CE-6CD2-4FAA-A48C-7ACA38BCDB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9F8DD5-9F47-AE04-F6B5-1AE3A282A79B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77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51" name="Straight Connector 10250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55" name="Rectangle 10254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E6F196F-2703-EC33-1A94-612E10729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Forms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D154341-09B0-E1C6-B7A1-26157F841E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981200"/>
            <a:ext cx="9936163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What are forms?</a:t>
            </a:r>
          </a:p>
          <a:p>
            <a:pPr lvl="1">
              <a:buFont typeface="Times" panose="02020603050405020304" pitchFamily="18" charset="0"/>
              <a:buChar char="•"/>
            </a:pPr>
            <a:r>
              <a:rPr lang="en-US" altLang="en-US" sz="2400"/>
              <a:t>An HTML form is an area of the document that allows users to enter information into fields.</a:t>
            </a:r>
          </a:p>
          <a:p>
            <a:pPr lvl="1">
              <a:buFont typeface="Times" panose="02020603050405020304" pitchFamily="18" charset="0"/>
              <a:buChar char="•"/>
            </a:pPr>
            <a:r>
              <a:rPr lang="en-US" altLang="en-US" sz="2400"/>
              <a:t>A form may be used to collect personal information, opinions in polls, user preferences and other kinds of information.</a:t>
            </a:r>
          </a:p>
          <a:p>
            <a:pPr lvl="1">
              <a:buFontTx/>
              <a:buChar char="o"/>
            </a:pP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0CB186-61E4-B75F-09D2-9E720585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32259F51-94CD-E0A2-0515-15369258D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Forms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7C637E7-991C-3283-1851-2D9AA88DB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There are two basic components of a Web form: the </a:t>
            </a:r>
            <a:r>
              <a:rPr lang="en-US" altLang="en-US" sz="2400" b="1"/>
              <a:t>shell</a:t>
            </a:r>
            <a:r>
              <a:rPr lang="en-US" altLang="en-US" sz="2400"/>
              <a:t>, the part that the user fills out, and the </a:t>
            </a:r>
            <a:r>
              <a:rPr lang="en-US" altLang="en-US" sz="2400" b="1"/>
              <a:t>script</a:t>
            </a:r>
            <a:r>
              <a:rPr lang="en-US" altLang="en-US" sz="2400"/>
              <a:t> which processes the information</a:t>
            </a:r>
          </a:p>
          <a:p>
            <a:r>
              <a:rPr lang="en-US" altLang="en-US" sz="2400"/>
              <a:t>HTML tags are used to create </a:t>
            </a:r>
            <a:r>
              <a:rPr lang="en-US" altLang="en-US" sz="2400" b="1"/>
              <a:t>the form shell</a:t>
            </a:r>
            <a:r>
              <a:rPr lang="en-US" altLang="en-US" sz="2400"/>
              <a:t>. Using HTML you can create text boxes, radio buttons, checkboxes, drop-down menus, and more...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BE0E7A-4E3C-864D-53F8-BF0C87F6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026">
            <a:extLst>
              <a:ext uri="{FF2B5EF4-FFF2-40B4-BE49-F238E27FC236}">
                <a16:creationId xmlns:a16="http://schemas.microsoft.com/office/drawing/2014/main" id="{A4717FE9-9CF8-B15A-4D15-B88892755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Example: Form </a:t>
            </a:r>
          </a:p>
        </p:txBody>
      </p:sp>
      <p:pic>
        <p:nvPicPr>
          <p:cNvPr id="13315" name="Picture 1029">
            <a:extLst>
              <a:ext uri="{FF2B5EF4-FFF2-40B4-BE49-F238E27FC236}">
                <a16:creationId xmlns:a16="http://schemas.microsoft.com/office/drawing/2014/main" id="{781A3E65-591B-1314-F524-85A52F08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05000"/>
            <a:ext cx="41148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6" name="Line 1032">
            <a:extLst>
              <a:ext uri="{FF2B5EF4-FFF2-40B4-BE49-F238E27FC236}">
                <a16:creationId xmlns:a16="http://schemas.microsoft.com/office/drawing/2014/main" id="{D093FE0E-BF28-D69E-5150-96CC4DF5D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2133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Text Box 1033">
            <a:extLst>
              <a:ext uri="{FF2B5EF4-FFF2-40B4-BE49-F238E27FC236}">
                <a16:creationId xmlns:a16="http://schemas.microsoft.com/office/drawing/2014/main" id="{AD0C8082-8F36-7782-4A97-44C5224E3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1889125"/>
            <a:ext cx="1325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Text Box</a:t>
            </a:r>
          </a:p>
        </p:txBody>
      </p:sp>
      <p:sp>
        <p:nvSpPr>
          <p:cNvPr id="13318" name="Line 1035">
            <a:extLst>
              <a:ext uri="{FF2B5EF4-FFF2-40B4-BE49-F238E27FC236}">
                <a16:creationId xmlns:a16="http://schemas.microsoft.com/office/drawing/2014/main" id="{3A26B816-2831-FB1C-3134-897AC20379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2895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Text Box 1036">
            <a:extLst>
              <a:ext uri="{FF2B5EF4-FFF2-40B4-BE49-F238E27FC236}">
                <a16:creationId xmlns:a16="http://schemas.microsoft.com/office/drawing/2014/main" id="{2B123499-F37E-7000-9199-1FAD816AC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2651125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Drop-down Menu</a:t>
            </a:r>
          </a:p>
        </p:txBody>
      </p:sp>
      <p:sp>
        <p:nvSpPr>
          <p:cNvPr id="13320" name="Line 1038">
            <a:extLst>
              <a:ext uri="{FF2B5EF4-FFF2-40B4-BE49-F238E27FC236}">
                <a16:creationId xmlns:a16="http://schemas.microsoft.com/office/drawing/2014/main" id="{CB081C26-CD1D-1247-284A-BA4A5BA080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3276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1039">
            <a:extLst>
              <a:ext uri="{FF2B5EF4-FFF2-40B4-BE49-F238E27FC236}">
                <a16:creationId xmlns:a16="http://schemas.microsoft.com/office/drawing/2014/main" id="{D4174381-5CDD-E669-F697-023834D47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3032125"/>
            <a:ext cx="1935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Radio Buttons</a:t>
            </a:r>
          </a:p>
        </p:txBody>
      </p:sp>
      <p:sp>
        <p:nvSpPr>
          <p:cNvPr id="13322" name="Line 1040">
            <a:extLst>
              <a:ext uri="{FF2B5EF4-FFF2-40B4-BE49-F238E27FC236}">
                <a16:creationId xmlns:a16="http://schemas.microsoft.com/office/drawing/2014/main" id="{8DE700AC-EBE2-7E6C-7DE0-E09C05C17D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3657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Text Box 1041">
            <a:extLst>
              <a:ext uri="{FF2B5EF4-FFF2-40B4-BE49-F238E27FC236}">
                <a16:creationId xmlns:a16="http://schemas.microsoft.com/office/drawing/2014/main" id="{E4616F91-CA35-4D6C-B8A9-EBED47FB4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429000"/>
            <a:ext cx="167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Checkboxes</a:t>
            </a:r>
          </a:p>
        </p:txBody>
      </p:sp>
      <p:sp>
        <p:nvSpPr>
          <p:cNvPr id="13324" name="Line 1042">
            <a:extLst>
              <a:ext uri="{FF2B5EF4-FFF2-40B4-BE49-F238E27FC236}">
                <a16:creationId xmlns:a16="http://schemas.microsoft.com/office/drawing/2014/main" id="{BBB26496-ADFB-07B5-9D75-F5235893C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8006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Text Box 1043">
            <a:extLst>
              <a:ext uri="{FF2B5EF4-FFF2-40B4-BE49-F238E27FC236}">
                <a16:creationId xmlns:a16="http://schemas.microsoft.com/office/drawing/2014/main" id="{0F00B33C-576C-7868-3A3B-A3C0DD7C3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5561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Text Area</a:t>
            </a:r>
          </a:p>
        </p:txBody>
      </p:sp>
      <p:sp>
        <p:nvSpPr>
          <p:cNvPr id="13326" name="Line 1044">
            <a:extLst>
              <a:ext uri="{FF2B5EF4-FFF2-40B4-BE49-F238E27FC236}">
                <a16:creationId xmlns:a16="http://schemas.microsoft.com/office/drawing/2014/main" id="{256E1C26-40D9-4E4C-9F1E-47F443B286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624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7" name="Line 1045">
            <a:extLst>
              <a:ext uri="{FF2B5EF4-FFF2-40B4-BE49-F238E27FC236}">
                <a16:creationId xmlns:a16="http://schemas.microsoft.com/office/drawing/2014/main" id="{48599E96-2C5E-3442-016A-FE3033D27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65532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Text Box 1047">
            <a:extLst>
              <a:ext uri="{FF2B5EF4-FFF2-40B4-BE49-F238E27FC236}">
                <a16:creationId xmlns:a16="http://schemas.microsoft.com/office/drawing/2014/main" id="{6909E0B9-B130-B09B-B61C-C5D4F7CBA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324600"/>
            <a:ext cx="196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Submit Button</a:t>
            </a:r>
          </a:p>
        </p:txBody>
      </p:sp>
      <p:sp>
        <p:nvSpPr>
          <p:cNvPr id="13329" name="Line 1048">
            <a:extLst>
              <a:ext uri="{FF2B5EF4-FFF2-40B4-BE49-F238E27FC236}">
                <a16:creationId xmlns:a16="http://schemas.microsoft.com/office/drawing/2014/main" id="{2538FDBE-62F9-6D5B-80CD-C6603E9E18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617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Line 1049">
            <a:extLst>
              <a:ext uri="{FF2B5EF4-FFF2-40B4-BE49-F238E27FC236}">
                <a16:creationId xmlns:a16="http://schemas.microsoft.com/office/drawing/2014/main" id="{1C68A913-DB7A-2A4D-15B5-060EFFDC8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6400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Text Box 1050">
            <a:extLst>
              <a:ext uri="{FF2B5EF4-FFF2-40B4-BE49-F238E27FC236}">
                <a16:creationId xmlns:a16="http://schemas.microsoft.com/office/drawing/2014/main" id="{C436B38C-E09B-DF5C-DC59-7534B51C8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6003925"/>
            <a:ext cx="176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Reset Button</a:t>
            </a:r>
          </a:p>
        </p:txBody>
      </p:sp>
      <p:sp>
        <p:nvSpPr>
          <p:cNvPr id="13332" name="Line 1051">
            <a:extLst>
              <a:ext uri="{FF2B5EF4-FFF2-40B4-BE49-F238E27FC236}">
                <a16:creationId xmlns:a16="http://schemas.microsoft.com/office/drawing/2014/main" id="{FBF08180-45A6-F6DB-117E-F9D0E5D96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6553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643757-1C86-8925-CE23-68ACC02A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5D89B-BD19-4DF4-8514-10B6AA826AE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8222F56E-1727-9FDB-6EA0-102F5B783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 Form Shell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F39571F-85E9-4396-0658-5908E4850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2420937"/>
          </a:xfrm>
        </p:spPr>
        <p:txBody>
          <a:bodyPr/>
          <a:lstStyle/>
          <a:p>
            <a:r>
              <a:rPr lang="en-US" altLang="en-US" sz="2400"/>
              <a:t>A form shell has three important parts:</a:t>
            </a:r>
          </a:p>
          <a:p>
            <a:pPr lvl="1"/>
            <a:r>
              <a:rPr lang="en-US" altLang="en-US" sz="2400"/>
              <a:t> the </a:t>
            </a:r>
            <a:r>
              <a:rPr lang="en-US" altLang="en-US" sz="2400" b="1"/>
              <a:t>&lt;FORM&gt; tag</a:t>
            </a:r>
            <a:r>
              <a:rPr lang="en-US" altLang="en-US" sz="2400"/>
              <a:t>, which includes the address of the script which will process the form</a:t>
            </a:r>
          </a:p>
          <a:p>
            <a:pPr lvl="1"/>
            <a:r>
              <a:rPr lang="en-US" altLang="en-US" sz="2400"/>
              <a:t>the </a:t>
            </a:r>
            <a:r>
              <a:rPr lang="en-US" altLang="en-US" sz="2400" b="1"/>
              <a:t>form elements</a:t>
            </a:r>
            <a:r>
              <a:rPr lang="en-US" altLang="en-US" sz="2400"/>
              <a:t>, like text boxes and radio buttons</a:t>
            </a:r>
          </a:p>
          <a:p>
            <a:pPr lvl="1"/>
            <a:r>
              <a:rPr lang="en-US" altLang="en-US" sz="2400"/>
              <a:t>the </a:t>
            </a:r>
            <a:r>
              <a:rPr lang="en-US" altLang="en-US" sz="2400" b="1"/>
              <a:t>submit button </a:t>
            </a:r>
            <a:r>
              <a:rPr lang="en-US" altLang="en-US" sz="2400"/>
              <a:t>which triggers the script to send the entered information to the server</a:t>
            </a:r>
          </a:p>
        </p:txBody>
      </p:sp>
      <p:sp>
        <p:nvSpPr>
          <p:cNvPr id="14340" name="TextBox 2">
            <a:extLst>
              <a:ext uri="{FF2B5EF4-FFF2-40B4-BE49-F238E27FC236}">
                <a16:creationId xmlns:a16="http://schemas.microsoft.com/office/drawing/2014/main" id="{53C81459-7678-4459-07F8-1F3C5A95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67200"/>
            <a:ext cx="60944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>
                <a:solidFill>
                  <a:srgbClr val="A52A2A"/>
                </a:solidFill>
                <a:latin typeface="Consolas" panose="020B0609020204030204" pitchFamily="49" charset="0"/>
              </a:rPr>
              <a:t>form</a:t>
            </a:r>
            <a:r>
              <a:rPr lang="en-US" altLang="en-US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/>
            </a:br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br>
              <a:rPr lang="en-US" altLang="en-US"/>
            </a:br>
            <a:r>
              <a:rPr lang="en-US" altLang="en-US" i="1">
                <a:solidFill>
                  <a:srgbClr val="000000"/>
                </a:solidFill>
                <a:latin typeface="Consolas" panose="020B0609020204030204" pitchFamily="49" charset="0"/>
              </a:rPr>
              <a:t>form elements</a:t>
            </a:r>
            <a:br>
              <a:rPr lang="en-US" altLang="en-US"/>
            </a:br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br>
              <a:rPr lang="en-US" altLang="en-US"/>
            </a:br>
            <a:r>
              <a:rPr lang="en-US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>
                <a:solidFill>
                  <a:srgbClr val="A52A2A"/>
                </a:solidFill>
                <a:latin typeface="Consolas" panose="020B0609020204030204" pitchFamily="49" charset="0"/>
              </a:rPr>
              <a:t>/form</a:t>
            </a:r>
            <a:r>
              <a:rPr lang="en-US" altLang="en-US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A1E8B-AE95-80B7-F6DE-173189F8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ADEB7BAD-1D26-9CE5-101A-C09A0383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the Shell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C32A8CC-D14F-636A-818C-D36859A1BC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create a form shell, type &lt;FORM METHOD=POST ACTION=“</a:t>
            </a:r>
            <a:r>
              <a:rPr lang="en-US" altLang="en-US" sz="2400" b="1"/>
              <a:t>script_url</a:t>
            </a:r>
            <a:r>
              <a:rPr lang="en-US" altLang="en-US" sz="2400"/>
              <a:t>”&gt; where “script_url” is the address of the script</a:t>
            </a:r>
          </a:p>
          <a:p>
            <a:r>
              <a:rPr lang="en-US" altLang="en-US" sz="2400"/>
              <a:t>Create the form elements</a:t>
            </a:r>
          </a:p>
          <a:p>
            <a:r>
              <a:rPr lang="en-US" altLang="en-US" sz="2400"/>
              <a:t>End with a closing &lt;/FORM&gt; tag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2035C1-0A7C-BF21-281C-A3167D44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5572EE1-A827-D836-6314-3ABD59488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Text Boxes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FDAEAB5-9237-8A60-99D6-D9DB13D5A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create a text box, type &lt;INPUT TYPE=“text” NAME=“name” VALUE=“value” SIZE=n MAXLENGTH=n&gt;</a:t>
            </a:r>
          </a:p>
          <a:p>
            <a:r>
              <a:rPr lang="en-US" altLang="en-US" sz="2400"/>
              <a:t>The NAME, VALUE, SIZE, and MAXLENGTH attributes are optional</a:t>
            </a: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7C7CA289-54E9-EEDC-7409-3D953EBA5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3200400"/>
            <a:ext cx="9605962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2A27B-1743-FA18-B6FD-7CA65265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D79C029F-0FDA-F24F-E4C4-496A0E666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08038"/>
            <a:ext cx="7772400" cy="914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Text Box Attributes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21882CA-DE32-84F8-CC52-00F1FE30FF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9906000" cy="2514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The NAME attribute is used to identify the text box to the processing script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The VALUE attribute is used to specify the text that will initially appear in the text box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The SIZE attribute is used to define the size of the box in characters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The MAXLENGTH attribute is used to define the maximum number of characters that can be typed in the box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7D68A-2ADC-D471-9859-86AE1C23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0D0D3EC1-8F66-E1D4-D5C9-2AF8CB908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/>
              <a:t>Example: Text Box</a:t>
            </a:r>
            <a:endParaRPr lang="en-US" altLang="en-US" i="1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11029DB-B4AF-C7A4-C65E-58E4ED13A31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/>
          <a:lstStyle/>
          <a:p>
            <a:pPr>
              <a:buFontTx/>
              <a:buChar char=" "/>
            </a:pPr>
            <a:r>
              <a:rPr lang="en-US" altLang="en-US" sz="2000">
                <a:solidFill>
                  <a:srgbClr val="000000"/>
                </a:solidFill>
              </a:rPr>
              <a:t>First Name: &lt;INPUT TYPE="text" NAME="FirstName" VALUE="First Name" SIZE=20&gt;</a:t>
            </a:r>
          </a:p>
          <a:p>
            <a:pPr>
              <a:buFontTx/>
              <a:buChar char=" "/>
            </a:pPr>
            <a:r>
              <a:rPr lang="en-US" altLang="en-US" sz="2000">
                <a:solidFill>
                  <a:srgbClr val="000000"/>
                </a:solidFill>
              </a:rPr>
              <a:t>&lt;BR&gt;&lt;BR&gt;</a:t>
            </a:r>
          </a:p>
          <a:p>
            <a:pPr>
              <a:buFontTx/>
              <a:buChar char=" "/>
            </a:pPr>
            <a:endParaRPr lang="en-US" altLang="en-US" sz="2000">
              <a:solidFill>
                <a:srgbClr val="000000"/>
              </a:solidFill>
            </a:endParaRPr>
          </a:p>
          <a:p>
            <a:pPr>
              <a:buFontTx/>
              <a:buChar char=" "/>
            </a:pPr>
            <a:r>
              <a:rPr lang="en-US" altLang="en-US" sz="2000">
                <a:solidFill>
                  <a:srgbClr val="000000"/>
                </a:solidFill>
              </a:rPr>
              <a:t>Last Name: &lt;INPUT TYPE="text" NAME="LastName" VALUE="Last Name" SIZE=20&gt;</a:t>
            </a:r>
          </a:p>
          <a:p>
            <a:pPr>
              <a:buFontTx/>
              <a:buChar char=" "/>
            </a:pPr>
            <a:r>
              <a:rPr lang="en-US" altLang="en-US" sz="2000">
                <a:solidFill>
                  <a:srgbClr val="000000"/>
                </a:solidFill>
              </a:rPr>
              <a:t>&lt;BR&gt;&lt;BR&gt;</a:t>
            </a:r>
          </a:p>
          <a:p>
            <a:pPr>
              <a:buFontTx/>
              <a:buChar char=" "/>
            </a:pPr>
            <a:endParaRPr lang="en-US" altLang="en-US" sz="2000">
              <a:solidFill>
                <a:srgbClr val="000000"/>
              </a:solidFill>
            </a:endParaRPr>
          </a:p>
          <a:p>
            <a:pPr>
              <a:buFontTx/>
              <a:buChar char=" "/>
            </a:pPr>
            <a:endParaRPr lang="en-US" altLang="en-US" sz="2000" b="1"/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B3777AE7-96F4-EC9F-99A7-BAF425CB4F2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18238" y="1846263"/>
            <a:ext cx="4937125" cy="4022725"/>
          </a:xfrm>
        </p:spPr>
        <p:txBody>
          <a:bodyPr/>
          <a:lstStyle/>
          <a:p>
            <a:r>
              <a:rPr lang="en-US" altLang="en-US" sz="2800"/>
              <a:t>Here’s how it would look on the Web:</a:t>
            </a: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B2A92D04-719A-B35A-CB20-FA16103B5728}"/>
              </a:ext>
            </a:extLst>
          </p:cNvPr>
          <p:cNvPicPr>
            <a:picLocks noChangeAspect="1" noChangeArrowheads="1"/>
          </p:cNvPicPr>
          <p:nvPr>
            <p:ph type="clipArt"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6800" y="3429000"/>
            <a:ext cx="3505200" cy="1196975"/>
          </a:xfr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BAA21-ADA5-9A04-FCB7-2BDE261C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0FEF7-FD52-4DDD-B546-C7A53D7F753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3A23F2F6-4E9C-77A1-3685-AC902AF5B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Larger Text Areas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83A2B59-6E8E-784A-E308-2CE4623573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1887537"/>
          </a:xfrm>
        </p:spPr>
        <p:txBody>
          <a:bodyPr/>
          <a:lstStyle/>
          <a:p>
            <a:r>
              <a:rPr lang="en-US" altLang="en-US" sz="2400"/>
              <a:t>To create larger text areas, type &lt;TEXTAREA NAME=“name” ROWS=n1 COLS=n2 WRAP&gt; Default Text &lt;/TEXTAREA&gt;, where n1 is the height of the text box in rows and n2 is the width of the text box in characters</a:t>
            </a:r>
          </a:p>
          <a:p>
            <a:r>
              <a:rPr lang="en-US" altLang="en-US" sz="2400"/>
              <a:t>The WRAP attribute causes the cursor to move automatically to the next line as the user types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46E3CB31-3CE4-632B-4EC6-0AB997D8C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05200"/>
            <a:ext cx="73025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953C81-60D6-B2C8-7CA2-ED9C850B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821778-A861-480B-4E76-93C057E62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Radio Buttons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73D7FF4-D2CA-30BB-D862-2C7D9A124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1430337"/>
          </a:xfrm>
        </p:spPr>
        <p:txBody>
          <a:bodyPr/>
          <a:lstStyle/>
          <a:p>
            <a:r>
              <a:rPr lang="en-US" altLang="en-US" sz="2000"/>
              <a:t>To create a radio button, type</a:t>
            </a:r>
          </a:p>
          <a:p>
            <a:r>
              <a:rPr lang="en-US" altLang="en-US" sz="2000"/>
              <a:t> </a:t>
            </a:r>
            <a:r>
              <a:rPr lang="en-US" altLang="en-US" sz="2000" b="1"/>
              <a:t>&lt;INPUT TYPE=“radio” NAME=“name” VALUE=“data”&gt; Label, </a:t>
            </a:r>
          </a:p>
          <a:p>
            <a:r>
              <a:rPr lang="en-US" altLang="en-US" sz="2000"/>
              <a:t>where “data” is the text that will be sent to the server if the button is checked and “Label” is the text that identifies the button to the user 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A137E07D-A2AF-4C5E-0DB5-2316CD6F4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3386138"/>
            <a:ext cx="8696325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8BDD4-7E2F-478F-4F21-F468FEF3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484BA9E5-7539-2F32-31DE-009455FDA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Example: Radio Buttons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225FDBB-9D7A-BEA3-7708-D6C12EB13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US" altLang="en-US" sz="2400">
                <a:solidFill>
                  <a:srgbClr val="000000"/>
                </a:solidFill>
              </a:rPr>
              <a:t>&lt;B&gt; Size: &lt;/B&gt;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&lt;INPUT TYPE="radio" NAME="Size" 		 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     VALUE="Large"&gt;Large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&lt;INPUT TYPE="radio" NAME="Size" 		 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     VALUE="Medium"&gt;Medium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&lt;INPUT TYPE="radio" NAME="Size" 		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  VALUE="Small"&gt;Small</a:t>
            </a:r>
          </a:p>
          <a:p>
            <a:pPr>
              <a:buFontTx/>
              <a:buChar char=" "/>
            </a:pP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8947C-2090-9792-BFD8-28FF599D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D2F1A92-3B2E-3B5A-9224-700AD58DC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Checkboxes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CF615F1-84B9-CF61-62B6-57213CAD4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1658937"/>
          </a:xfrm>
        </p:spPr>
        <p:txBody>
          <a:bodyPr/>
          <a:lstStyle/>
          <a:p>
            <a:r>
              <a:rPr lang="en-US" altLang="en-US" sz="2400"/>
              <a:t>To create a checkbox, type </a:t>
            </a:r>
            <a:r>
              <a:rPr lang="en-US" altLang="en-US" sz="2400" b="1"/>
              <a:t>&lt;INPUT TYPE=“checkbox” NAME=“name” VALUE=“value”&gt;Label</a:t>
            </a:r>
          </a:p>
          <a:p>
            <a:r>
              <a:rPr lang="en-US" altLang="en-US" sz="2400"/>
              <a:t>If you give a group of radio buttons or checkboxes the same name, the user will only be able to select one button or box at a time</a:t>
            </a:r>
          </a:p>
          <a:p>
            <a:endParaRPr lang="en-US" altLang="en-US" sz="2400"/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DA7E5B83-55C2-36FF-45B9-E74B39532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56"/>
          <a:stretch>
            <a:fillRect/>
          </a:stretch>
        </p:blipFill>
        <p:spPr bwMode="auto">
          <a:xfrm>
            <a:off x="1447800" y="3409950"/>
            <a:ext cx="8634413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D69A2-B0DA-6F7C-C816-9BC8E305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735D191E-8BE4-88EC-6764-CF6B511A3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Example: Checkboxes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BCC4E28-C7AB-088F-E62A-9C0AF24CA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US" altLang="en-US" sz="2400">
                <a:solidFill>
                  <a:srgbClr val="000000"/>
                </a:solidFill>
              </a:rPr>
              <a:t>      	&lt;B&gt; Color: &lt;/B&gt;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	&lt;INPUT TYPE="checkbox" NAME="Color" 	  VALUE="Red"&gt;Red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		&lt;INPUT TYPE="checkbox" NAME="Color"               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             VALUE="Navy"&gt;Navy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           &lt;INPUT TYPE="checkbox" NAME="Color"  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             VALUE="Black"&gt;Black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92FB7-22B3-A247-3453-02D388D5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6020E4C8-4AC9-D9AE-1733-BDB6BB5C6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Drop-down Menus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599AD3D-9335-519A-157D-770132A19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1811337"/>
          </a:xfrm>
        </p:spPr>
        <p:txBody>
          <a:bodyPr/>
          <a:lstStyle/>
          <a:p>
            <a:r>
              <a:rPr lang="en-US" altLang="en-US" sz="2000"/>
              <a:t>To create a drop-down menu, type</a:t>
            </a:r>
          </a:p>
          <a:p>
            <a:r>
              <a:rPr lang="en-US" altLang="en-US" sz="2000"/>
              <a:t> &lt;SELECT NAME=“name” SIZE=n MULTIPLE&gt;</a:t>
            </a:r>
          </a:p>
          <a:p>
            <a:r>
              <a:rPr lang="en-US" altLang="en-US" sz="2000"/>
              <a:t>Then type &lt;OPTION VALUE= “value”&gt;Label</a:t>
            </a:r>
          </a:p>
          <a:p>
            <a:r>
              <a:rPr lang="en-US" altLang="en-US" sz="2000"/>
              <a:t>In this case the SIZE attribute specifies the height of the menu in lines and MULTIPLE allows users to select more than one menu option </a:t>
            </a:r>
          </a:p>
          <a:p>
            <a:endParaRPr lang="en-US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B52E8-896F-A010-702F-DEA943E7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26">
            <a:extLst>
              <a:ext uri="{FF2B5EF4-FFF2-40B4-BE49-F238E27FC236}">
                <a16:creationId xmlns:a16="http://schemas.microsoft.com/office/drawing/2014/main" id="{18D07853-EB47-4E5E-0AF8-EFFA3297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Example: Drop-down Menu</a:t>
            </a:r>
          </a:p>
        </p:txBody>
      </p:sp>
      <p:pic>
        <p:nvPicPr>
          <p:cNvPr id="25603" name="Picture 5">
            <a:extLst>
              <a:ext uri="{FF2B5EF4-FFF2-40B4-BE49-F238E27FC236}">
                <a16:creationId xmlns:a16="http://schemas.microsoft.com/office/drawing/2014/main" id="{8248C4F5-1C8C-3D3F-0B5C-D4BBC44A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1" r="13750" b="44444"/>
          <a:stretch>
            <a:fillRect/>
          </a:stretch>
        </p:blipFill>
        <p:spPr bwMode="auto">
          <a:xfrm>
            <a:off x="611188" y="2438400"/>
            <a:ext cx="10515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24F92C-7693-55A4-23F9-9FAE9614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096407CA-C729-B7A5-1295-ACB0FB5FF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a Submit Button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017C56A-5810-BDD2-56D8-A5F76822B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2363" y="1828800"/>
            <a:ext cx="10058400" cy="1600200"/>
          </a:xfrm>
        </p:spPr>
        <p:txBody>
          <a:bodyPr/>
          <a:lstStyle/>
          <a:p>
            <a:r>
              <a:rPr lang="en-US" altLang="en-US" sz="2000"/>
              <a:t>To create a submit button, type  </a:t>
            </a:r>
            <a:r>
              <a:rPr lang="en-US" altLang="en-US" sz="2000" b="1"/>
              <a:t>&lt;INPUT TYPE=“submit”&gt;</a:t>
            </a:r>
          </a:p>
          <a:p>
            <a:r>
              <a:rPr lang="en-US" altLang="en-US" sz="2000"/>
              <a:t>If you would like the button to say something other than submit, use the VALUE attribute</a:t>
            </a:r>
          </a:p>
          <a:p>
            <a:r>
              <a:rPr lang="en-US" altLang="en-US" sz="2000"/>
              <a:t>For example, &lt;INPUT TYPE=“submit” VALUE=“Buy Now!”&gt; would create a button that says “Buy Now!”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ED2F983D-4C34-2356-A91B-F148565E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429000"/>
            <a:ext cx="10501313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3E5E28-425E-05DF-6DC9-0F5D10DF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026">
            <a:extLst>
              <a:ext uri="{FF2B5EF4-FFF2-40B4-BE49-F238E27FC236}">
                <a16:creationId xmlns:a16="http://schemas.microsoft.com/office/drawing/2014/main" id="{DA3CA439-73B1-0E42-CC2C-F8168712F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a Reset Button</a:t>
            </a:r>
          </a:p>
        </p:txBody>
      </p:sp>
      <p:sp>
        <p:nvSpPr>
          <p:cNvPr id="27651" name="Rectangle 1027">
            <a:extLst>
              <a:ext uri="{FF2B5EF4-FFF2-40B4-BE49-F238E27FC236}">
                <a16:creationId xmlns:a16="http://schemas.microsoft.com/office/drawing/2014/main" id="{BFD24713-8DAD-5667-8837-B6A41EA5C2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create a reset button, type &lt;INPUT TYPE=“reset”&gt;</a:t>
            </a:r>
          </a:p>
          <a:p>
            <a:r>
              <a:rPr lang="en-US" altLang="en-US" sz="2400"/>
              <a:t>The VALUE attribute can be used in the same way to change the text that appears on the button 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4A015C83-1AE5-2E7B-F3FD-4401601EC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3048000"/>
            <a:ext cx="9382125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FB2514-A7DF-4739-1489-6D180DA9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B776C6B-8320-3855-9285-ECBB16BCA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The HTML &lt;video&gt; Element</a:t>
            </a:r>
            <a:endParaRPr lang="en-US" altLang="en-US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72EADE2-DF52-B5C0-6D10-8927F0C3C6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1449387"/>
          </a:xfrm>
        </p:spPr>
        <p:txBody>
          <a:bodyPr/>
          <a:lstStyle/>
          <a:p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000">
                <a:solidFill>
                  <a:srgbClr val="A52A2A"/>
                </a:solidFill>
                <a:latin typeface="Consolas" panose="020B0609020204030204" pitchFamily="49" charset="0"/>
              </a:rPr>
              <a:t>video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width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="320"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height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="240"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controls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2000"/>
            </a:b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000">
                <a:solidFill>
                  <a:srgbClr val="A52A2A"/>
                </a:solidFill>
                <a:latin typeface="Consolas" panose="020B0609020204030204" pitchFamily="49" charset="0"/>
              </a:rPr>
              <a:t>source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src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="movie.mp4"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="video/mp4"&gt;</a:t>
            </a:r>
            <a:br>
              <a:rPr lang="en-US" altLang="en-US" sz="2000"/>
            </a:b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000">
                <a:solidFill>
                  <a:srgbClr val="A52A2A"/>
                </a:solidFill>
                <a:latin typeface="Consolas" panose="020B0609020204030204" pitchFamily="49" charset="0"/>
              </a:rPr>
              <a:t>source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src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="movie.ogg"</a:t>
            </a:r>
            <a:r>
              <a:rPr lang="en-US" altLang="en-US" sz="200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="video/ogg"&gt;</a:t>
            </a:r>
            <a:br>
              <a:rPr lang="en-US" altLang="en-US" sz="2000"/>
            </a:b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Your browser does not support the video tag.</a:t>
            </a:r>
            <a:br>
              <a:rPr lang="en-US" altLang="en-US" sz="2000"/>
            </a:b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000">
                <a:solidFill>
                  <a:srgbClr val="A52A2A"/>
                </a:solidFill>
                <a:latin typeface="Consolas" panose="020B0609020204030204" pitchFamily="49" charset="0"/>
              </a:rPr>
              <a:t>/video</a:t>
            </a:r>
            <a:r>
              <a:rPr lang="en-US" altLang="en-US" sz="20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sz="1800"/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55C86294-382F-AF59-BAC2-04AC88A4D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3429000"/>
            <a:ext cx="981392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CCB1A7-CAE1-E007-16F3-B856D504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6AFAF7E-26EE-0935-3996-6C7563005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The HTML &lt;video&gt; Element</a:t>
            </a:r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BFF0DD-3A47-8AF8-4B1B-1DB1B06B5B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905000"/>
            <a:ext cx="10058400" cy="3873500"/>
          </a:xfrm>
          <a:solidFill>
            <a:srgbClr val="FFFFFF"/>
          </a:solidFill>
        </p:spPr>
        <p:txBody>
          <a:bodyPr tIns="88872" bIns="88872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controls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attribute adds video controls, like play, pause, and volume.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dirty="0">
              <a:latin typeface="+mn-lt"/>
            </a:endParaRP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It is a good idea to always include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width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and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height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attributes. If height and width are not set, the page might flicker while the video loads.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dirty="0">
              <a:latin typeface="+mn-lt"/>
            </a:endParaRP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&lt;source&gt;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element allows you to specify alternative video files which the browser may choose from. The browser will use the first recognized format.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dirty="0">
              <a:latin typeface="+mn-lt"/>
            </a:endParaRP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 text between 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&lt;video&gt;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and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&lt;/video&gt;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tags will only be displayed in browsers that do not support 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&lt;video&gt;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element.</a:t>
            </a:r>
            <a:endParaRPr lang="en-US" altLang="en-US" sz="40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39314-370D-42FC-B1E3-C3E3EE8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DBD1A9D-DB32-320F-CFA9-2B1B45ABA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The HTML &lt;audio&gt; Element</a:t>
            </a:r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B1CB41-4DCE-194E-3561-08DD6C5F2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5213" y="1855788"/>
            <a:ext cx="10058400" cy="1565275"/>
          </a:xfrm>
          <a:solidFill>
            <a:srgbClr val="FFFFFF"/>
          </a:solidFill>
        </p:spPr>
        <p:txBody>
          <a:bodyPr tIns="88872" bIns="88872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audio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 controls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source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="horse.ogg"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="audio/</a:t>
            </a:r>
            <a:r>
              <a:rPr lang="en-US" sz="1800" dirty="0" err="1">
                <a:solidFill>
                  <a:srgbClr val="0000CD"/>
                </a:solidFill>
                <a:latin typeface="Consolas" panose="020B0609020204030204" pitchFamily="49" charset="0"/>
              </a:rPr>
              <a:t>ogg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source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="horse.mp3"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="audio/mpeg"&gt;</a:t>
            </a: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Your browser does not support the audio element.</a:t>
            </a:r>
            <a:br>
              <a:rPr lang="en-US" sz="1800" dirty="0"/>
            </a:b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52A2A"/>
                </a:solidFill>
                <a:latin typeface="Consolas" panose="020B0609020204030204" pitchFamily="49" charset="0"/>
              </a:rPr>
              <a:t>/audio</a:t>
            </a:r>
            <a:r>
              <a:rPr lang="en-US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sz="2800" dirty="0">
              <a:latin typeface="+mn-lt"/>
            </a:endParaRP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C93D57C0-272F-35AA-D4E6-0FC7EBE65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40125"/>
            <a:ext cx="9096375" cy="247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CFAD24-055D-5710-CEEF-2C1BD97D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EAEFE40-BDB2-69CC-50F5-19EEDAD01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The HTML &lt;audio&gt; Element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F04FE7-9FFB-D40A-536A-2A89FD6F9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81200"/>
            <a:ext cx="10058400" cy="2678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controls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attribute adds audio controls, like play, pause, and volume.</a:t>
            </a:r>
          </a:p>
          <a:p>
            <a:pPr>
              <a:defRPr/>
            </a:pPr>
            <a:endParaRPr lang="en-US" altLang="en-US" sz="2400" dirty="0">
              <a:latin typeface="+mn-lt"/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&lt;source&gt;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element allows you to specify alternative audio files which the browser may choose from. The browser will use the first recognized format.</a:t>
            </a:r>
          </a:p>
          <a:p>
            <a:pPr>
              <a:defRPr/>
            </a:pPr>
            <a:endParaRPr lang="en-US" altLang="en-US" sz="2400" dirty="0">
              <a:latin typeface="+mn-lt"/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 text between 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&lt;audio&gt;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and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&lt;/audio&gt;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tags will only be displayed in browsers that do not support 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&lt;audio&gt;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element.</a:t>
            </a:r>
            <a:endParaRPr lang="en-US" altLang="en-US" sz="40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EA0D7-D7BB-6433-EBA7-D9DA2A3B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81E175-A7B8-E633-669B-39A8A18F0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 YouTube Videos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2A47128-44E0-0F02-6A3A-F9719B46A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78050"/>
            <a:ext cx="11430000" cy="3416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iframe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width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="420"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height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="315"</a:t>
            </a:r>
            <a:b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="https://www.youtube.com/embed/tgbNymZ7vqY"&gt;</a:t>
            </a: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/iframe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defRPr/>
            </a:pPr>
            <a:endParaRPr lang="en-US" altLang="en-US" sz="2400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YouTube - </a:t>
            </a:r>
            <a:r>
              <a:rPr lang="en-US" sz="24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Autoplay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 + Muted</a:t>
            </a:r>
          </a:p>
          <a:p>
            <a:pPr>
              <a:defRPr/>
            </a:pPr>
            <a:endParaRPr lang="en-US" altLang="en-US" sz="2400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iframe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width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="420"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height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="315"</a:t>
            </a:r>
            <a:b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="https://www.youtube.com/embed/tgbNymZ7vqY?</a:t>
            </a:r>
            <a:r>
              <a:rPr lang="en-US" sz="2400" dirty="0">
                <a:solidFill>
                  <a:srgbClr val="009900"/>
                </a:solidFill>
                <a:latin typeface="Consolas" panose="020B0609020204030204" pitchFamily="49" charset="0"/>
              </a:rPr>
              <a:t>autoplay=1&amp;mute=1"&gt;</a:t>
            </a: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/iframe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sz="2400" dirty="0">
              <a:latin typeface="+mn-lt"/>
            </a:endParaRP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28385C3-80FE-4F41-C39B-90566007EF6B}"/>
              </a:ext>
            </a:extLst>
          </p:cNvPr>
          <p:cNvSpPr/>
          <p:nvPr/>
        </p:nvSpPr>
        <p:spPr>
          <a:xfrm rot="921008">
            <a:off x="5548313" y="3538538"/>
            <a:ext cx="4268787" cy="9017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AFB57-2556-A1CA-1B78-00B73727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8D22C2-6D5D-4E86-B117-1A026E8BB24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E3D2C5-903E-4F11-A9E1-F8A92931C44E}"/>
</file>

<file path=customXml/itemProps2.xml><?xml version="1.0" encoding="utf-8"?>
<ds:datastoreItem xmlns:ds="http://schemas.openxmlformats.org/officeDocument/2006/customXml" ds:itemID="{4FAFC501-09EC-4D1A-9A43-0752B8F5F080}"/>
</file>

<file path=customXml/itemProps3.xml><?xml version="1.0" encoding="utf-8"?>
<ds:datastoreItem xmlns:ds="http://schemas.openxmlformats.org/officeDocument/2006/customXml" ds:itemID="{D00264DB-B812-4D9D-8ED5-10852E70F03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5829</TotalTime>
  <Words>1290</Words>
  <Application>Microsoft Office PowerPoint</Application>
  <PresentationFormat>Widescreen</PresentationFormat>
  <Paragraphs>125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Calibri</vt:lpstr>
      <vt:lpstr>Arial</vt:lpstr>
      <vt:lpstr>Calibri Light</vt:lpstr>
      <vt:lpstr>Times New Roman</vt:lpstr>
      <vt:lpstr>Wingdings</vt:lpstr>
      <vt:lpstr>Times</vt:lpstr>
      <vt:lpstr>Consolas</vt:lpstr>
      <vt:lpstr>Segoe UI</vt:lpstr>
      <vt:lpstr>Retrospect</vt:lpstr>
      <vt:lpstr>1_Retrospect</vt:lpstr>
      <vt:lpstr>PowerPoint Presentation</vt:lpstr>
      <vt:lpstr>Forms</vt:lpstr>
      <vt:lpstr>Forms</vt:lpstr>
      <vt:lpstr>Example: Form </vt:lpstr>
      <vt:lpstr>The Form Shell</vt:lpstr>
      <vt:lpstr>Creating the Shell</vt:lpstr>
      <vt:lpstr>Creating Text Boxes</vt:lpstr>
      <vt:lpstr>Text Box Attributes</vt:lpstr>
      <vt:lpstr>Example: Text Box</vt:lpstr>
      <vt:lpstr>Creating Larger Text Areas</vt:lpstr>
      <vt:lpstr>Creating Radio Buttons</vt:lpstr>
      <vt:lpstr>Example: Radio Buttons</vt:lpstr>
      <vt:lpstr>Creating Checkboxes</vt:lpstr>
      <vt:lpstr>Example: Checkboxes</vt:lpstr>
      <vt:lpstr>Creating Drop-down Menus</vt:lpstr>
      <vt:lpstr>Example: Drop-down Menu</vt:lpstr>
      <vt:lpstr>Creating a Submit Button</vt:lpstr>
      <vt:lpstr>Creating a Reset Button</vt:lpstr>
      <vt:lpstr>The HTML &lt;video&gt; Element</vt:lpstr>
      <vt:lpstr>The HTML &lt;video&gt; Element</vt:lpstr>
      <vt:lpstr>The HTML &lt;audio&gt; Element</vt:lpstr>
      <vt:lpstr>The HTML &lt;audio&gt; Element</vt:lpstr>
      <vt:lpstr>HTML YouTube Videos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1391</cp:revision>
  <dcterms:created xsi:type="dcterms:W3CDTF">1601-01-01T00:00:00Z</dcterms:created>
  <dcterms:modified xsi:type="dcterms:W3CDTF">2025-09-21T16:44:09Z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