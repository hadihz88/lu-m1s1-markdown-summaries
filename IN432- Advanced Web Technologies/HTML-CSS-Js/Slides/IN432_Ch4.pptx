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69" r:id="rId2"/>
  </p:sldMasterIdLst>
  <p:notesMasterIdLst>
    <p:notesMasterId r:id="rId30"/>
  </p:notesMasterIdLst>
  <p:handoutMasterIdLst>
    <p:handoutMasterId r:id="rId31"/>
  </p:handoutMasterIdLst>
  <p:sldIdLst>
    <p:sldId id="286" r:id="rId3"/>
    <p:sldId id="257" r:id="rId4"/>
    <p:sldId id="358" r:id="rId5"/>
    <p:sldId id="359" r:id="rId6"/>
    <p:sldId id="258" r:id="rId7"/>
    <p:sldId id="297" r:id="rId8"/>
    <p:sldId id="360" r:id="rId9"/>
    <p:sldId id="302" r:id="rId10"/>
    <p:sldId id="262" r:id="rId11"/>
    <p:sldId id="265" r:id="rId12"/>
    <p:sldId id="266" r:id="rId13"/>
    <p:sldId id="268" r:id="rId14"/>
    <p:sldId id="325" r:id="rId15"/>
    <p:sldId id="269" r:id="rId16"/>
    <p:sldId id="295" r:id="rId17"/>
    <p:sldId id="299" r:id="rId18"/>
    <p:sldId id="270" r:id="rId19"/>
    <p:sldId id="350" r:id="rId20"/>
    <p:sldId id="352" r:id="rId21"/>
    <p:sldId id="331" r:id="rId22"/>
    <p:sldId id="332" r:id="rId23"/>
    <p:sldId id="333" r:id="rId24"/>
    <p:sldId id="334" r:id="rId25"/>
    <p:sldId id="353" r:id="rId26"/>
    <p:sldId id="354" r:id="rId27"/>
    <p:sldId id="355" r:id="rId28"/>
    <p:sldId id="320" r:id="rId29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CC0099"/>
    <a:srgbClr val="FF6600"/>
    <a:srgbClr val="FF99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9" autoAdjust="0"/>
    <p:restoredTop sz="91257" autoAdjust="0"/>
  </p:normalViewPr>
  <p:slideViewPr>
    <p:cSldViewPr>
      <p:cViewPr varScale="1">
        <p:scale>
          <a:sx n="102" d="100"/>
          <a:sy n="102" d="100"/>
        </p:scale>
        <p:origin x="55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5F91C31-0F0D-C027-F9D2-140D2B80F7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BEECD38-AF6E-FAC2-EC71-47382D57CA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214DBE55-2D74-B3B9-D493-594FA9403AF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C1AB4DF9-B6A8-03C0-93B1-48DA0B229A6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45D2955F-044C-4B47-8FB5-83B5B277AF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43BCE5A-AF24-0043-B08B-33DB756BD9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645E179-45D7-BFAB-3924-F0E7F84361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0A543FCD-734B-B52F-8E79-409FCE8AF70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FF167F8A-EA05-4DCF-6586-51AE04563D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ACB94B16-FFA6-0A77-BD55-C77FEC8587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C5D30A5-AC76-1559-77C4-33DBEDA4B0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E6660F76-9160-4915-9063-56BE96CCA5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31">
            <a:extLst>
              <a:ext uri="{FF2B5EF4-FFF2-40B4-BE49-F238E27FC236}">
                <a16:creationId xmlns:a16="http://schemas.microsoft.com/office/drawing/2014/main" id="{E26FE45B-26DC-03DD-427A-90FF47F3B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D9F21AC8-2A17-4FE2-B267-93637CE96609}" type="slidenum">
              <a:rPr lang="en-US" altLang="en-US" sz="1200" smtClean="0">
                <a:solidFill>
                  <a:srgbClr val="000000"/>
                </a:solidFill>
                <a:latin typeface="Times" panose="02020603050405020304" pitchFamily="18" charset="0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2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29B4DD62-8FE9-BC0B-0473-20193493F5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11584E1-8DEE-3E05-67D3-2F06D260AB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1">
            <a:extLst>
              <a:ext uri="{FF2B5EF4-FFF2-40B4-BE49-F238E27FC236}">
                <a16:creationId xmlns:a16="http://schemas.microsoft.com/office/drawing/2014/main" id="{4D0B964A-C0C9-124D-BB95-95841A5B89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EF4CA69A-B252-4C45-998D-F155DFF13605}" type="slidenum">
              <a:rPr lang="en-US" altLang="en-US" sz="1200" smtClean="0">
                <a:solidFill>
                  <a:srgbClr val="000000"/>
                </a:solidFill>
                <a:latin typeface="Times" panose="02020603050405020304" pitchFamily="18" charset="0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2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EA0F8E4-A536-481C-FD15-C0143628F9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6DDA8C2-72C4-56B7-3EE3-1B8082B6E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>
            <a:extLst>
              <a:ext uri="{FF2B5EF4-FFF2-40B4-BE49-F238E27FC236}">
                <a16:creationId xmlns:a16="http://schemas.microsoft.com/office/drawing/2014/main" id="{C110FED7-FB1F-E8BB-34AE-25DCE5F9F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fld id="{365D2362-9CEA-4B9C-B09B-23E06C8353E5}" type="slidenum">
              <a:rPr lang="en-US" altLang="en-US" sz="1200" smtClean="0">
                <a:solidFill>
                  <a:srgbClr val="000000"/>
                </a:solidFill>
                <a:latin typeface="Times" panose="02020603050405020304" pitchFamily="18" charset="0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2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C02232B-1BA4-57DC-A730-BE0E110E14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97D4DF8-9D40-8F31-B5D7-50EC7812A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A2BBC7F-ECBA-A615-4A70-F6174DBF35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510491F-0358-4232-ADCC-EB2E0BF27139}" type="slidenum">
              <a:rPr lang="en-US" altLang="en-US" sz="1200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8F36FCE-4820-C990-2B8A-1D668EFD1A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71316EF8-928B-14F5-ACC8-52E7B9257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LB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8284D8A-61DB-724A-FBFF-38C5400B28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6380163-9705-466E-83F1-C1B00B475378}" type="slidenum">
              <a:rPr lang="en-US" altLang="en-US" sz="1200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C625CE8-7AEB-6E01-14EA-EA28BD55A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497448D-5876-4A65-5AAE-B19A28820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LB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95FB885E-9BE8-551D-8C67-CFAFC66D0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79098E-E7AE-45B1-B718-6AB99A927109}" type="slidenum">
              <a:rPr lang="en-US" altLang="en-US" sz="1200" smtClean="0">
                <a:latin typeface="Arial" panose="020B060402020202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D5E76F7-B0A4-D724-65F4-E1E22DFE1F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0B9C728-920F-1F51-F8F7-B6C2A4AF1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ar-LB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8E5D0C-53D5-1D2F-899C-37FA74A4640E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B9F1F-A87F-F47F-03EC-07038A87EDFA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DE587F-F30F-D101-7C09-A7FFD84D708A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FF17F1-E107-AC9E-DB6C-849A93C6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10B2E-6835-43A6-B2A0-1E1BC5E0D290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ABD325-7096-8EA3-A7C6-64051CF3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2F57E7A-46EE-BD6F-6B84-EE1C36B7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3BB51-F062-4E1E-A89B-4797C77DFC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99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FA7AE-B8E7-6DE5-1E5E-8CD54FA1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3C2E4-3EEC-4C81-8479-C88B012EF936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49D27-EEFC-CFA3-6E83-D5407CB5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44206-F422-D0B4-BD0E-492B83D8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09E594-BAD4-478E-B21C-2E5A6FBD16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70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5C3DF4-26B2-CF86-99CD-4E74CE5BB130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76AE1-8E75-0BD9-8668-AE54FC28F47E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545334-A38B-F2F7-074D-8F5D7E7A5243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A7C742-2453-42A7-C41D-43AF85AA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39DC87-FAE0-4659-9612-B32F6DB59A73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E5B2695-3C01-B2A7-A0D8-13FCE7F9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3D5D61-A7B8-5C87-7036-AA7E6AB8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1DE7A-897C-4AF1-B869-EA4AD32CAB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487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0A386F8-7B34-AEA5-F455-4F49EA61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C68B8-E621-4C37-A1F6-9FB21DAEF664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70623-E48D-EBF3-F07B-20C9FC39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6F09A-1C54-471B-0FAC-CC2C7870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4934CE-F8C6-4D7D-B502-BED093DB62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59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9CEA61D-4937-1059-6000-6C4A6177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02B10-48EF-4068-8496-D681AA34A232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84451D9-813E-9574-2B35-50FE6B08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4A98DD-0566-401C-F259-8BB4F5A2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AA88D-BC65-4119-B147-98486D7937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17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0E6722F-7A55-7A30-5E01-C9584D74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BE641-AE84-40C0-A605-5782EB14D9BF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022082-D575-2B5C-F5B9-99D34241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F6B2962-90D1-4181-0A30-FB1773BA4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03354-C123-4E6E-A222-D9B5D37A6C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161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69CFB-8D83-618D-EA8F-523129266F17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7A7DF-09D1-57AF-7138-DA3D9AB1E4F0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265F8D6D-73B1-9351-E860-88E2E2FA6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BC152-CDFF-4E59-96C2-65CC81698693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360DD59-9D0A-07FF-F581-0FDA0B0F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1C37FC8-B137-1303-D572-541C0E7D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9FB0A-A641-4F61-803E-4BBE43D328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231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635D88-9C3B-137D-3190-0D60416ADAE4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6A285-0E2E-0C4B-28FB-7CD09F3B22F6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8C8A592-84F4-CC22-7767-0A63E9CF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68A0940-DBD4-40DE-9F63-1CCF719987A4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72872497-2435-C2AE-8109-2B03003D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330550D7-C7A2-FDE7-41C1-BC0841F3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2718FA7-D65C-4097-84F3-6922C4ABD8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26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34C87B-7832-4EFD-BFA0-5C9A4D75C45C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78443-488B-B4B0-FA36-1AD9D492B424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3CAD1F96-7C50-5DB0-C74C-9DC19352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CAA0-2746-400B-8AB0-51A7043EDEEF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2477798-4A1F-F8BE-DE45-0206CF90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5173C90-7662-C2DD-457D-FBF003C2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53084-2A56-4934-A1BD-6E0E58B772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803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C7EC5-001E-28B3-6882-24305964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F4EAF-B9A2-48DC-B825-F5DD8649DE40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7D28-4170-7735-56F0-5B49B7A4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DCDF9-77AF-F5D3-3F64-42BCD5E5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2629B-8E7A-4244-A20D-AD334D0BE4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36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474C55-523D-2AD3-F2D0-46588F774D7A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BB642-BAA0-A65B-865C-ACB5B473E07A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1E65A62-C6B2-7FD2-6448-51A8272D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6FDBB-B0FD-43AB-A87C-3C0CDC343096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8B67E8-6D33-117F-CF5B-28A961FD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D91F78-E83F-31E5-6115-B28310E1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AA489-7D50-4D56-9927-E23BA31950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322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2DFF4-E60C-D364-6A2A-AF92A8F97181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F4C39-60B3-DE1D-5C39-86D3778C9B27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3307A6-E5AB-11BD-F32B-5767EC9E9435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C29D09C-5D19-BA12-09F6-A26BB828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95BBA-7CD0-42A5-B93A-261B16665616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A9D026-176B-FA63-2FEF-488335DA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614EAB-E089-F241-8F58-44B66F84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93A99-6C06-4E50-B78A-4D3F09271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319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F8FA-2177-CF91-507C-E3F45604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97E2C-41DF-4A1C-AF4F-064FD3C1E9B8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BD16E-808C-DF0D-5E80-80DA408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7AF3-E157-1E54-DB24-6678F69F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19B3-778E-46BD-8A7D-7866717D0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083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10644D-9060-2FE8-D3C7-E14ADB900295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94A30-82C1-BEF7-A89E-B9E2DFFABECB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F1F3C6-9703-BC26-0347-F3927B9BE465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71B7B0-A06B-006D-114D-E95B099F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9E056-D71D-4143-ACEC-A1DCEC6CEF52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D7EB77-E0BE-9953-7169-22F6D0A1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C2F2CD-DBF5-D1C9-7CA1-A9511473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8E89F-D905-4C30-8A8D-2DFA072C0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1063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550D5E-F199-AFB4-3BC3-27E4C4AD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50412-CE00-4B94-99F0-B7BE2EF88F4B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3BF6-DAA2-C939-918A-6847F9DD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A44E-4B7B-A216-D29C-169B32C4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40E09-0324-48C4-AA8D-991D2FA77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0336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350295-1796-9B4E-8EBC-CF88BA43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1E041-F2D5-4D53-95B9-7A46309909CF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77AD08-EB2D-B0BC-E8EF-E5BC7BF4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FFA0FED-BB4C-225A-BFE4-49A1D55D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5246C-853E-4BAD-AB08-5880C2F9E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628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B3659CD-A9EF-7CA4-B874-94E9E8F3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C5400-7193-4432-B369-0AFA8C358FFB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FF354BE-20FC-65E8-C1E8-3FAAEDE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335EE99-F827-572D-BD37-47F36E11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1D5FA-3136-44CB-8069-EC2A70018F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541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28AA49-B690-A90F-1151-43A84A82CA04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EA6C4A-0F11-7E62-451C-24F23C0314BF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CCC873C-38FB-29AE-99C7-227972B4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4657E-836E-4244-A18A-44654CC2CAC0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B2176C55-3914-947E-021F-58779FEC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0CF7F1E-29D0-90B1-BB38-35C38F01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C2EBF-BF29-4256-BFD3-7E873AAE4E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618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A85966-AA7C-8069-DF9C-5919ACC779AD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90FDFF-4997-2DC8-D797-10717D721B87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42A80F0-1CE3-0CDC-C093-C5F6F7C8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39D43A1-7D32-4BB6-B867-4FE60EFDB574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71B519B-5306-2165-79AD-F440F204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FD59B13-41F5-4EB9-41DE-1108E898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96E133E-DA70-4E8B-A604-DF4FDF5B27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6004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5BBED4-09A3-05E9-E46A-91EEF4AD708E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B2FF36-5A36-D697-0416-28BC3BDC5967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3F9CE50-D4B9-ACDB-2E7B-D6D6A7C1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4F76C-F2DB-44A1-855B-12C3BE575E01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DD49647-2064-2A8B-1D2E-D8F7A274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F447C19-4C90-9D9F-4712-4B2CA6C3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65AC2-404C-411D-9462-FC9018154A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17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B5C2-5DCA-8867-0779-CA5E708E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ED431-2704-4796-BA4E-D526C5E05775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4AB4D-9716-E990-2ED5-E4C9AD21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3FBB-3D16-F416-6009-F2EC2A3B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4326D-7927-4234-851A-997CC7778C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172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127F4E-4947-CA9F-EFD5-F8207ED04A35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0416F-C68D-BBA8-3AF1-639241AA5411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189E825-2DA4-83B6-CC9D-BB5F1AD3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8DE2B-6E6C-4F36-A2E8-4F5CD9AE63BC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170EB2-DA81-D7E7-ABE9-3215619E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F9F7A3-5235-701D-D5C7-DF6580A1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10AF5-5917-412B-8D92-DDE8E80B9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10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EFCC3E-2DA3-29AF-B74F-1F19BCEBF0ED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1E67F5-0EF7-916E-5D10-87045A0F6931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9C020-4B9E-15C3-E5B8-23C225B7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5F7FFC8B-E91E-AF9C-2384-460E0C6DA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EE35D-3C98-87A4-6E56-C12172B49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3B0C5FA3-42A4-4F41-99D2-1D1C51C622E0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A44A3-F5B7-1F35-8C32-383F5B24E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BBC53-1E8A-4A90-F632-BA3DEB6F8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7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B4644FEA-AA89-47CB-89A0-DFC37C68D3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EB7BF3-4B6A-8AC7-C642-A9A50AF2A3A3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58" r:id="rId2"/>
    <p:sldLayoutId id="2147483764" r:id="rId3"/>
    <p:sldLayoutId id="2147483759" r:id="rId4"/>
    <p:sldLayoutId id="2147483760" r:id="rId5"/>
    <p:sldLayoutId id="2147483761" r:id="rId6"/>
    <p:sldLayoutId id="2147483765" r:id="rId7"/>
    <p:sldLayoutId id="2147483766" r:id="rId8"/>
    <p:sldLayoutId id="2147483767" r:id="rId9"/>
    <p:sldLayoutId id="2147483762" r:id="rId10"/>
    <p:sldLayoutId id="2147483768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BBE663-904F-4CCA-712E-F53CEB966EB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4CE0B-B812-259F-B5B0-85306E6313D8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42066-CCD5-10DE-0D65-57D20B11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380649E0-9D3B-D35E-7410-87063F1D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182B2-07BF-672A-2B45-7108C0DB0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2FAFBAE4-830A-4CFB-82F9-CE4AE5CD40D0}" type="datetime1">
              <a:rPr lang="en-US"/>
              <a:pPr>
                <a:defRPr/>
              </a:pPr>
              <a:t>9/21/2025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F52D8-6C5D-0428-260A-003BF113B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CSIT435 - DBMS Administration Bassel Dhaini - Fall 2017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F9A3-AB88-EE25-116A-56D3CB9A7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68E7CE-6CD2-4FAA-A48C-7ACA38BCDB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9F8DD5-9F47-AE04-F6B5-1AE3A282A79B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77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ag_div.asp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51" name="Straight Connector 10250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55" name="Rectangle 10254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8C142F9-9294-487F-9329-1FFB50823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dirty="0"/>
              <a:t>Lecture Outline: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0DF2620-1BA3-9CF4-7472-872510B35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10058400" cy="4478337"/>
          </a:xfrm>
        </p:spPr>
        <p:txBody>
          <a:bodyPr/>
          <a:lstStyle/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Domain name, hosting, DNS and search engine optimization.</a:t>
            </a:r>
          </a:p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Creating your first .html file</a:t>
            </a:r>
          </a:p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Main elements: DOCTYPE, html, head and body sections.</a:t>
            </a:r>
          </a:p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Heading elements, paragraph, division, span, comment.</a:t>
            </a:r>
          </a:p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Formatting elements: italic, underline, bold, small, superscript, subscript, markup, strikethrough, quote, blockquote, pre-formatted text, line break, horizontal break, tooltip (title attribute),Special characters: non-breaking space, copyright… &amp;</a:t>
            </a:r>
            <a:r>
              <a:rPr lang="en-US" altLang="en-US" sz="2400" dirty="0" err="1"/>
              <a:t>nbsp</a:t>
            </a:r>
            <a:r>
              <a:rPr lang="en-US" altLang="en-US" sz="2400" dirty="0"/>
              <a:t>; &amp;cop</a:t>
            </a:r>
          </a:p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Lists: unordered list, ordered list, description list, nested lists, changing list style type in html.</a:t>
            </a:r>
          </a:p>
          <a:p>
            <a:pPr marL="514350" indent="-514350">
              <a:buFont typeface="Calibri Light" panose="020F0302020204030204" pitchFamily="34" charset="0"/>
              <a:buAutoNum type="arabicPeriod"/>
            </a:pPr>
            <a:r>
              <a:rPr lang="en-US" altLang="en-US" sz="2400" dirty="0"/>
              <a:t>Image with specification of alternative text, height and width in html.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A44533A-2D0C-3AF8-A2FE-D50A5E9A40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1A2D44-E05C-4D0B-ABC7-F7C587C2902B}" type="slidenum">
              <a:rPr lang="en-US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89E3B1-26FE-86C6-3D04-29A1B02D5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 Simple HTML Document / Explained</a:t>
            </a:r>
            <a:endParaRPr lang="en-US" alt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F97D3-BE18-0910-1976-DD869DCFC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6963" y="1846263"/>
            <a:ext cx="10333037" cy="4022725"/>
          </a:xfr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&lt;!DOCTYPE html&gt;</a:t>
            </a:r>
            <a:r>
              <a:rPr lang="en-US" altLang="en-US" sz="2400" dirty="0">
                <a:solidFill>
                  <a:srgbClr val="000000"/>
                </a:solidFill>
              </a:rPr>
              <a:t> declaration defines that this document is an HTML5 document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&lt;html&gt;</a:t>
            </a:r>
            <a:r>
              <a:rPr lang="en-US" altLang="en-US" sz="2400" dirty="0">
                <a:solidFill>
                  <a:srgbClr val="000000"/>
                </a:solidFill>
              </a:rPr>
              <a:t> element is the root element of an HTML page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&lt;head&gt;</a:t>
            </a:r>
            <a:r>
              <a:rPr lang="en-US" altLang="en-US" sz="2400" dirty="0">
                <a:solidFill>
                  <a:srgbClr val="000000"/>
                </a:solidFill>
              </a:rPr>
              <a:t> element contains meta information about the HTML page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&lt;title&gt;</a:t>
            </a:r>
            <a:r>
              <a:rPr lang="en-US" altLang="en-US" sz="2400" dirty="0">
                <a:solidFill>
                  <a:srgbClr val="000000"/>
                </a:solidFill>
              </a:rPr>
              <a:t> element specifies a title for the HTML page (which is shown in the browser's title bar or in the page's tab)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&lt;body&gt;</a:t>
            </a:r>
            <a:r>
              <a:rPr lang="en-US" altLang="en-US" sz="2400" dirty="0">
                <a:solidFill>
                  <a:srgbClr val="000000"/>
                </a:solidFill>
              </a:rPr>
              <a:t> element defines the document's body, and is a container for all the visible contents, such as headings, paragraphs, images, hyperlinks, tables, lists, etc.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&lt;h1&gt;</a:t>
            </a:r>
            <a:r>
              <a:rPr lang="en-US" altLang="en-US" sz="2400" dirty="0">
                <a:solidFill>
                  <a:srgbClr val="000000"/>
                </a:solidFill>
              </a:rPr>
              <a:t> element defines a large heading</a:t>
            </a:r>
          </a:p>
          <a:p>
            <a:pPr marL="0" indent="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</a:rPr>
              <a:t>&lt;p&gt;</a:t>
            </a:r>
            <a:r>
              <a:rPr lang="en-US" altLang="en-US" sz="2400" dirty="0">
                <a:solidFill>
                  <a:srgbClr val="000000"/>
                </a:solidFill>
              </a:rPr>
              <a:t> element defines a paragraph</a:t>
            </a:r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D6E4856-EDCD-7258-817A-683928910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10058400" cy="703263"/>
          </a:xfrm>
        </p:spPr>
        <p:txBody>
          <a:bodyPr/>
          <a:lstStyle/>
          <a:p>
            <a:pPr>
              <a:defRPr/>
            </a:pPr>
            <a:r>
              <a:rPr lang="en-US" altLang="en-US" b="1" dirty="0"/>
              <a:t>Structure of a Web Page</a:t>
            </a:r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59A22455-777F-6797-7063-65472FD87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673100"/>
            <a:ext cx="9372600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5D1559B-793F-BD7D-C81D-31B4B951D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 b="1" dirty="0"/>
              <a:t>Structure of a Web Page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4DC30A5-4060-2048-D6FA-ADEBB08AF6D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96963" y="1846263"/>
            <a:ext cx="4938712" cy="4022725"/>
          </a:xfrm>
        </p:spPr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</a:rPr>
              <a:t>All Web pages share a common structure</a:t>
            </a:r>
          </a:p>
          <a:p>
            <a:r>
              <a:rPr lang="en-US" altLang="en-US" sz="2400">
                <a:solidFill>
                  <a:schemeClr val="tx1"/>
                </a:solidFill>
              </a:rPr>
              <a:t>All Web pages should contain a pair of &lt;HTML&gt;, &lt;HEAD&gt;, &lt;TITLE&gt;, and &lt;BODY&gt; tags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A567B73-466D-BE28-D97C-0B5E1F1AE86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218238" y="1846263"/>
            <a:ext cx="4937125" cy="402272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&lt;HTML&gt;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&lt;HEAD&gt;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&lt;TITLE&gt; Example &lt;/TITLE&gt;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&lt;/HEAD&gt;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&lt;BODY&gt;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      This is where you would include the text and images on your Web page.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&lt;/BODY&gt;</a:t>
            </a:r>
          </a:p>
          <a:p>
            <a:pPr>
              <a:buFontTx/>
              <a:buNone/>
              <a:defRPr/>
            </a:pPr>
            <a:r>
              <a:rPr lang="en-US" altLang="en-US" sz="1800" dirty="0">
                <a:solidFill>
                  <a:schemeClr val="tx1"/>
                </a:solidFill>
              </a:rPr>
              <a:t>&lt;/HTML&gt;</a:t>
            </a:r>
          </a:p>
          <a:p>
            <a:pPr>
              <a:buFontTx/>
              <a:buNone/>
              <a:defRPr/>
            </a:pPr>
            <a:endParaRPr lang="en-US" altLang="en-US" sz="2800" dirty="0">
              <a:solidFill>
                <a:schemeClr val="tx1"/>
              </a:solidFill>
            </a:endParaRPr>
          </a:p>
          <a:p>
            <a:pPr>
              <a:buFontTx/>
              <a:buNone/>
              <a:defRPr/>
            </a:pPr>
            <a:endParaRPr lang="en-US" altLang="en-US" sz="2800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23649AA-A26D-7355-3486-E9A13AE5C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3. </a:t>
            </a:r>
            <a:r>
              <a:rPr lang="en-US" b="1" dirty="0">
                <a:solidFill>
                  <a:schemeClr val="tx1"/>
                </a:solidFill>
              </a:rPr>
              <a:t>HTML Elements &amp; Tags</a:t>
            </a:r>
            <a:endParaRPr lang="en-GB" altLang="en-US" dirty="0">
              <a:solidFill>
                <a:schemeClr val="tx1"/>
              </a:solidFill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92D9DB6D-EA96-60D5-D756-B4E860DE25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4E2BA9-416A-4D1C-A1F5-2C7ABD4B1DDC}" type="slidenum">
              <a:rPr lang="en-US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8436" name="TextBox 11">
            <a:extLst>
              <a:ext uri="{FF2B5EF4-FFF2-40B4-BE49-F238E27FC236}">
                <a16:creationId xmlns:a16="http://schemas.microsoft.com/office/drawing/2014/main" id="{43A4A4DA-4EB6-0313-580E-0AB0A3F33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0" y="1981200"/>
            <a:ext cx="10242550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>
                <a:solidFill>
                  <a:srgbClr val="000000"/>
                </a:solidFill>
              </a:rPr>
              <a:t>The essence of HTML programming is tags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>
                <a:solidFill>
                  <a:srgbClr val="000000"/>
                </a:solidFill>
              </a:rPr>
              <a:t>A tag is a keyword enclosed by angle brackets ( Example: &lt;I&gt; )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>
                <a:solidFill>
                  <a:srgbClr val="000000"/>
                </a:solidFill>
              </a:rPr>
              <a:t>There are opening and closing tags for many but not all tags; 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>
                <a:solidFill>
                  <a:srgbClr val="000000"/>
                </a:solidFill>
              </a:rPr>
              <a:t>The affected text is between the two tags 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GB" altLang="en-US" sz="2400">
                <a:solidFill>
                  <a:srgbClr val="000000"/>
                </a:solidFill>
              </a:rPr>
              <a:t>The opening and closing tags use the same command except the closing tag contains and additional forward slash /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GB" altLang="en-US" sz="2400">
                <a:solidFill>
                  <a:srgbClr val="000000"/>
                </a:solidFill>
              </a:rPr>
              <a:t>For example, the expression &lt;B&gt; Warning &lt;/B&gt; would cause the word ‘Warning’ to appear in bold face on a Web page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endParaRPr lang="en-US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5D46488-B3C2-318D-5161-2C2E01A92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3. </a:t>
            </a:r>
            <a:r>
              <a:rPr lang="en-US" b="1" dirty="0">
                <a:solidFill>
                  <a:schemeClr val="tx1"/>
                </a:solidFill>
              </a:rPr>
              <a:t>HTML Elements &amp; Tags</a:t>
            </a:r>
            <a:endParaRPr lang="en-GB" altLang="en-US" dirty="0">
              <a:solidFill>
                <a:schemeClr val="tx1"/>
              </a:solidFill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A66A827B-067F-8928-CD7B-9D5C80A11F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F579BE6-335A-4CB9-9140-468BB2B3FCC8}" type="slidenum">
              <a:rPr lang="en-US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9460" name="TextBox 11">
            <a:extLst>
              <a:ext uri="{FF2B5EF4-FFF2-40B4-BE49-F238E27FC236}">
                <a16:creationId xmlns:a16="http://schemas.microsoft.com/office/drawing/2014/main" id="{0441B156-75A2-3720-8B1A-DB2D83B36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0" y="1981200"/>
            <a:ext cx="10242550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altLang="en-US" sz="2400">
                <a:solidFill>
                  <a:srgbClr val="000000"/>
                </a:solidFill>
              </a:rPr>
              <a:t>An HTML element is defined by a start tag, some content, and an end tag:</a:t>
            </a:r>
          </a:p>
          <a:p>
            <a:endParaRPr lang="en-GB" altLang="en-US" sz="2400">
              <a:solidFill>
                <a:srgbClr val="000000"/>
              </a:solidFill>
            </a:endParaRPr>
          </a:p>
          <a:p>
            <a:r>
              <a:rPr lang="en-GB" altLang="en-US" sz="2400">
                <a:solidFill>
                  <a:srgbClr val="0000CD"/>
                </a:solidFill>
              </a:rPr>
              <a:t>&lt;</a:t>
            </a:r>
            <a:r>
              <a:rPr lang="en-GB" altLang="en-US" sz="2400">
                <a:solidFill>
                  <a:srgbClr val="A52A2A"/>
                </a:solidFill>
              </a:rPr>
              <a:t>tagname</a:t>
            </a:r>
            <a:r>
              <a:rPr lang="en-GB" altLang="en-US" sz="2400">
                <a:solidFill>
                  <a:srgbClr val="0000CD"/>
                </a:solidFill>
              </a:rPr>
              <a:t>&gt;</a:t>
            </a:r>
            <a:r>
              <a:rPr lang="en-GB" altLang="en-US" sz="2400">
                <a:solidFill>
                  <a:srgbClr val="000000"/>
                </a:solidFill>
              </a:rPr>
              <a:t>Content goes here...</a:t>
            </a:r>
            <a:r>
              <a:rPr lang="en-GB" altLang="en-US" sz="2400">
                <a:solidFill>
                  <a:srgbClr val="0000CD"/>
                </a:solidFill>
              </a:rPr>
              <a:t>&lt;</a:t>
            </a:r>
            <a:r>
              <a:rPr lang="en-GB" altLang="en-US" sz="2400">
                <a:solidFill>
                  <a:srgbClr val="A52A2A"/>
                </a:solidFill>
              </a:rPr>
              <a:t>/tagname</a:t>
            </a:r>
            <a:r>
              <a:rPr lang="en-GB" altLang="en-US" sz="2400">
                <a:solidFill>
                  <a:srgbClr val="0000CD"/>
                </a:solidFill>
              </a:rPr>
              <a:t>&gt;</a:t>
            </a:r>
          </a:p>
          <a:p>
            <a:endParaRPr lang="en-GB" altLang="en-US" sz="2400">
              <a:solidFill>
                <a:srgbClr val="000000"/>
              </a:solidFill>
            </a:endParaRPr>
          </a:p>
          <a:p>
            <a:r>
              <a:rPr lang="en-GB" altLang="en-US" sz="2400">
                <a:solidFill>
                  <a:srgbClr val="000000"/>
                </a:solidFill>
              </a:rPr>
              <a:t>The HTML </a:t>
            </a:r>
            <a:r>
              <a:rPr lang="en-GB" altLang="en-US" sz="2400" b="1">
                <a:solidFill>
                  <a:srgbClr val="000000"/>
                </a:solidFill>
              </a:rPr>
              <a:t>element</a:t>
            </a:r>
            <a:r>
              <a:rPr lang="en-GB" altLang="en-US" sz="2400">
                <a:solidFill>
                  <a:srgbClr val="000000"/>
                </a:solidFill>
              </a:rPr>
              <a:t> is everything from the start tag to the end tag:</a:t>
            </a:r>
          </a:p>
          <a:p>
            <a:endParaRPr lang="en-GB" altLang="en-US" sz="2400">
              <a:solidFill>
                <a:srgbClr val="000000"/>
              </a:solidFill>
            </a:endParaRPr>
          </a:p>
          <a:p>
            <a:r>
              <a:rPr lang="en-GB" altLang="en-US" sz="2400">
                <a:solidFill>
                  <a:srgbClr val="0000CD"/>
                </a:solidFill>
              </a:rPr>
              <a:t>&lt;</a:t>
            </a:r>
            <a:r>
              <a:rPr lang="en-GB" altLang="en-US" sz="2400">
                <a:solidFill>
                  <a:srgbClr val="A52A2A"/>
                </a:solidFill>
              </a:rPr>
              <a:t>h1</a:t>
            </a:r>
            <a:r>
              <a:rPr lang="en-GB" altLang="en-US" sz="2400">
                <a:solidFill>
                  <a:srgbClr val="0000CD"/>
                </a:solidFill>
              </a:rPr>
              <a:t>&gt;</a:t>
            </a:r>
            <a:r>
              <a:rPr lang="en-GB" altLang="en-US" sz="2400">
                <a:solidFill>
                  <a:srgbClr val="000000"/>
                </a:solidFill>
              </a:rPr>
              <a:t>My First Heading</a:t>
            </a:r>
            <a:r>
              <a:rPr lang="en-GB" altLang="en-US" sz="2400">
                <a:solidFill>
                  <a:srgbClr val="0000CD"/>
                </a:solidFill>
              </a:rPr>
              <a:t>&lt;</a:t>
            </a:r>
            <a:r>
              <a:rPr lang="en-GB" altLang="en-US" sz="2400">
                <a:solidFill>
                  <a:srgbClr val="A52A2A"/>
                </a:solidFill>
              </a:rPr>
              <a:t>/h1</a:t>
            </a:r>
            <a:r>
              <a:rPr lang="en-GB" altLang="en-US" sz="2400">
                <a:solidFill>
                  <a:srgbClr val="0000CD"/>
                </a:solidFill>
              </a:rPr>
              <a:t>&gt;</a:t>
            </a:r>
            <a:endParaRPr lang="en-GB" altLang="en-US" sz="2400">
              <a:solidFill>
                <a:srgbClr val="000000"/>
              </a:solidFill>
            </a:endParaRPr>
          </a:p>
          <a:p>
            <a:r>
              <a:rPr lang="en-GB" altLang="en-US" sz="2400">
                <a:solidFill>
                  <a:srgbClr val="0000CD"/>
                </a:solidFill>
              </a:rPr>
              <a:t>&lt;</a:t>
            </a:r>
            <a:r>
              <a:rPr lang="en-GB" altLang="en-US" sz="2400">
                <a:solidFill>
                  <a:srgbClr val="A52A2A"/>
                </a:solidFill>
              </a:rPr>
              <a:t>p</a:t>
            </a:r>
            <a:r>
              <a:rPr lang="en-GB" altLang="en-US" sz="2400">
                <a:solidFill>
                  <a:srgbClr val="0000CD"/>
                </a:solidFill>
              </a:rPr>
              <a:t>&gt;</a:t>
            </a:r>
            <a:r>
              <a:rPr lang="en-GB" altLang="en-US" sz="2400">
                <a:solidFill>
                  <a:srgbClr val="000000"/>
                </a:solidFill>
              </a:rPr>
              <a:t>My first paragraph.</a:t>
            </a:r>
            <a:r>
              <a:rPr lang="en-GB" altLang="en-US" sz="2400">
                <a:solidFill>
                  <a:srgbClr val="0000CD"/>
                </a:solidFill>
              </a:rPr>
              <a:t>&lt;</a:t>
            </a:r>
            <a:r>
              <a:rPr lang="en-GB" altLang="en-US" sz="2400">
                <a:solidFill>
                  <a:srgbClr val="A52A2A"/>
                </a:solidFill>
              </a:rPr>
              <a:t>/p</a:t>
            </a:r>
            <a:r>
              <a:rPr lang="en-GB" altLang="en-US" sz="2400">
                <a:solidFill>
                  <a:srgbClr val="0000CD"/>
                </a:solidFill>
              </a:rPr>
              <a:t>&gt;</a:t>
            </a:r>
            <a:endParaRPr lang="en-GB" altLang="en-US" sz="2400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3CA53D91-599C-C8E9-30C8-1EC5862D1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altLang="en-US" dirty="0"/>
              <a:t>3. </a:t>
            </a:r>
            <a:r>
              <a:rPr lang="en-US" b="1" dirty="0">
                <a:solidFill>
                  <a:schemeClr val="tx1"/>
                </a:solidFill>
              </a:rPr>
              <a:t>HTML Elements &amp; Tags</a:t>
            </a:r>
            <a:endParaRPr lang="en-GB" altLang="en-US" dirty="0">
              <a:solidFill>
                <a:schemeClr val="tx1"/>
              </a:solidFill>
            </a:endParaRP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DE77E74E-7B0C-A5CB-D57B-997F47CE15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5D9775F-531D-4A29-AB63-93185E3FA926}" type="slidenum">
              <a:rPr lang="en-US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0484" name="TextBox 11">
            <a:extLst>
              <a:ext uri="{FF2B5EF4-FFF2-40B4-BE49-F238E27FC236}">
                <a16:creationId xmlns:a16="http://schemas.microsoft.com/office/drawing/2014/main" id="{08F62C4E-E8CF-7D80-CC4E-2A8F9AE16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0" y="1981200"/>
            <a:ext cx="1024255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Whenever you have HTML tags within other HTML tags, you must close the nearest tag first</a:t>
            </a:r>
          </a:p>
          <a:p>
            <a:pPr defTabSz="914400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solidFill>
                  <a:srgbClr val="000000"/>
                </a:solidFill>
              </a:rPr>
              <a:t>Example:</a:t>
            </a:r>
          </a:p>
          <a:p>
            <a:pPr lvl="1" defTabSz="914400" eaLnBrk="1" hangingPunct="1">
              <a:spcBef>
                <a:spcPct val="20000"/>
              </a:spcBef>
              <a:buFontTx/>
              <a:buChar char=" "/>
            </a:pPr>
            <a:r>
              <a:rPr lang="en-US" altLang="en-US" sz="2400">
                <a:solidFill>
                  <a:srgbClr val="000000"/>
                </a:solidFill>
              </a:rPr>
              <a:t>&lt;H1&gt; &lt;I&gt; The Nation &lt;/I&gt; &lt;/H1&gt;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C0DF852-0F76-0957-B253-A7BE37741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The &lt;TITLE&gt; Tag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EB18E3A-996F-2265-3432-EAAEB4158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</a:rPr>
              <a:t>Choose the title of your Web page carefully; The title of a Web page determines its ranking in certain search engines</a:t>
            </a:r>
          </a:p>
          <a:p>
            <a:r>
              <a:rPr lang="en-US" altLang="en-US" sz="2400">
                <a:solidFill>
                  <a:schemeClr val="tx1"/>
                </a:solidFill>
              </a:rPr>
              <a:t>The title will also appear on Favorite lists, History lists, and Bookmark lists to identify your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0C701D6-A65A-67C2-F991-BC229E58B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Text Formatting Tags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546CEEB-2F4E-C577-5AB6-705CB53809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&lt;B&gt; </a:t>
            </a:r>
            <a:r>
              <a:rPr lang="en-US" altLang="en-US" sz="2400" b="1">
                <a:solidFill>
                  <a:schemeClr val="tx1"/>
                </a:solidFill>
              </a:rPr>
              <a:t>Bold Face</a:t>
            </a:r>
            <a:r>
              <a:rPr lang="en-US" altLang="en-US" sz="2400">
                <a:solidFill>
                  <a:schemeClr val="tx1"/>
                </a:solidFill>
              </a:rPr>
              <a:t> &lt;/B&gt;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&lt;I&gt; </a:t>
            </a:r>
            <a:r>
              <a:rPr lang="en-US" altLang="en-US" sz="2400" i="1">
                <a:solidFill>
                  <a:schemeClr val="tx1"/>
                </a:solidFill>
              </a:rPr>
              <a:t>Italics </a:t>
            </a:r>
            <a:r>
              <a:rPr lang="en-US" altLang="en-US" sz="2400">
                <a:solidFill>
                  <a:schemeClr val="tx1"/>
                </a:solidFill>
              </a:rPr>
              <a:t>&lt;/I&gt;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&lt;U&gt; </a:t>
            </a:r>
            <a:r>
              <a:rPr lang="en-US" altLang="en-US" sz="2400" u="sng">
                <a:solidFill>
                  <a:schemeClr val="tx1"/>
                </a:solidFill>
              </a:rPr>
              <a:t>Underline</a:t>
            </a:r>
            <a:r>
              <a:rPr lang="en-US" altLang="en-US" sz="2400">
                <a:solidFill>
                  <a:schemeClr val="tx1"/>
                </a:solidFill>
              </a:rPr>
              <a:t> &lt;/U&gt;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&lt;P&gt; New Paragraph &lt;/P&gt;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&lt;BR&gt; Next Line</a:t>
            </a:r>
          </a:p>
          <a:p>
            <a:pPr>
              <a:buFontTx/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1057F-39F4-2480-A946-4EF81783C47C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1922463"/>
          <a:ext cx="5715000" cy="3870325"/>
        </p:xfrm>
        <a:graphic>
          <a:graphicData uri="http://schemas.openxmlformats.org/drawingml/2006/table">
            <a:tbl>
              <a:tblPr rtl="1"/>
              <a:tblGrid>
                <a:gridCol w="3979862">
                  <a:extLst>
                    <a:ext uri="{9D8B030D-6E8A-4147-A177-3AD203B41FA5}">
                      <a16:colId xmlns:a16="http://schemas.microsoft.com/office/drawing/2014/main" val="1720887681"/>
                    </a:ext>
                  </a:extLst>
                </a:gridCol>
                <a:gridCol w="1735138">
                  <a:extLst>
                    <a:ext uri="{9D8B030D-6E8A-4147-A177-3AD203B41FA5}">
                      <a16:colId xmlns:a16="http://schemas.microsoft.com/office/drawing/2014/main" val="1993596508"/>
                    </a:ext>
                  </a:extLst>
                </a:gridCol>
              </a:tblGrid>
              <a:tr h="34448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Description</a:t>
                      </a:r>
                      <a:endParaRPr kumimoji="0" lang="ar-LB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Tag</a:t>
                      </a:r>
                      <a:endParaRPr kumimoji="0" lang="ar-LB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586603"/>
                  </a:ext>
                </a:extLst>
              </a:tr>
              <a:tr h="301625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bold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&lt;b&gt;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61408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big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&lt;big&gt;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036596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emphasized text 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&lt;em&gt;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80905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italic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&lt;i&gt;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06909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underline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&lt;U&gt;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833283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small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&lt;small&gt;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560570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strong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&lt;strong&gt;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712094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subscripted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&lt;sub&gt;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394304"/>
                  </a:ext>
                </a:extLst>
              </a:tr>
              <a:tr h="376238"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Defines superscripted text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lnSpc>
                          <a:spcPct val="90000"/>
                        </a:lnSpc>
                        <a:spcBef>
                          <a:spcPts val="900"/>
                        </a:spcBef>
                        <a:spcAft>
                          <a:spcPts val="15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 sz="13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1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150"/>
                        </a:spcBef>
                        <a:spcAft>
                          <a:spcPts val="3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9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&lt;sup&gt;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95184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31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5B36BA6-A334-788D-8FAD-768CD3191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Changing the Font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83A5EB8-2E89-A34E-0199-A4482969D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The expression &lt;FONT FACE = “fontname”&gt; … &lt;/FONT&gt; can be used to change the font of the enclosed 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To change the size of text use the expression &lt;FONT SIZE=n&gt; …. &lt;/FONT&gt; where n is a number between 1 and 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To change the color, use &lt;FONT COLOR=“red”&gt;…. &lt;/FONT&gt;; The color can also be defined using hexadecimal representation ( Example: #ffffff 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These attributes can be combined to change the font, size, and color of the text all at once; For example, &lt;FONT SIZE=4 FACE=“Courier” COLOR=“red”&gt; …. &lt;/FONT&gt;</a:t>
            </a:r>
          </a:p>
          <a:p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1B8C824-CD8D-CB5B-6DB6-E2E091CA4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Headings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C7A2C01-DBE3-FDC7-3576-C8D992729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Web pages are typically organized into sections with headings; To create a heading use the expression &lt;Hn&gt;….&lt;/Hn&gt; where n is a number between 1 and 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In this case, the 1 corresponds to the largest size heading while the 7 corresponds to the smallest size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99BE0958-62D3-AC53-F596-3A9E06C4E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28237" cy="9318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HTML  Text margins </a:t>
            </a:r>
          </a:p>
        </p:txBody>
      </p:sp>
      <p:sp>
        <p:nvSpPr>
          <p:cNvPr id="25603" name="Content Placeholder 6">
            <a:extLst>
              <a:ext uri="{FF2B5EF4-FFF2-40B4-BE49-F238E27FC236}">
                <a16:creationId xmlns:a16="http://schemas.microsoft.com/office/drawing/2014/main" id="{20DF79EA-11A0-5983-8311-440DF0F3BD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3188" y="1828800"/>
            <a:ext cx="10134600" cy="4176713"/>
          </a:xfrm>
        </p:spPr>
        <p:txBody>
          <a:bodyPr/>
          <a:lstStyle/>
          <a:p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A &lt;blockquote&gt; tag is used to format a text by indenting , or increasing the margins on the right and left sides of the blockquote text </a:t>
            </a:r>
            <a:endParaRPr lang="en-US" altLang="en-US" sz="2400">
              <a:solidFill>
                <a:schemeClr val="accent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&lt;p &gt; this is a regular text  &lt;/p&gt;</a:t>
            </a:r>
          </a:p>
          <a:p>
            <a:pPr eaLnBrk="1" hangingPunct="1"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&lt;blockquote&gt; </a:t>
            </a: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the text in this paragraph is blockquote. Notice how the text indents on the left side of the page , and wraps when it encounters the right margins</a:t>
            </a:r>
          </a:p>
          <a:p>
            <a:pPr eaLnBrk="1" hangingPunct="1"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&lt;/blockquote&gt;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51770B4-8C4E-EEA2-E8F9-80270F406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Aligning Text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1B8F54D-5E06-AF75-1C37-3B991A4EE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The ALIGN attribute can be inserted in the &lt;P&gt; and &lt;Hn&gt; tags to right justify, center, or left justify the 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For example, &lt;H1 ALIGN=CENTER&gt; The New York Times &lt;/H1&gt; would create a centered heading of the largest size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4FE2C8B-ABAD-0E31-AC2C-748823E06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HTML Rules (Lines)</a:t>
            </a:r>
          </a:p>
        </p:txBody>
      </p:sp>
      <p:sp>
        <p:nvSpPr>
          <p:cNvPr id="28675" name="Content Placeholder 6">
            <a:extLst>
              <a:ext uri="{FF2B5EF4-FFF2-40B4-BE49-F238E27FC236}">
                <a16:creationId xmlns:a16="http://schemas.microsoft.com/office/drawing/2014/main" id="{B1114321-FB9F-0A3B-495A-1684FBB9D7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828800"/>
            <a:ext cx="8305800" cy="4724400"/>
          </a:xfrm>
        </p:spPr>
        <p:txBody>
          <a:bodyPr/>
          <a:lstStyle/>
          <a:p>
            <a:pPr eaLnBrk="1" hangingPunct="1"/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The &lt;hr /&gt; tag is used to create an </a:t>
            </a:r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horizontal</a:t>
            </a: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rule</a:t>
            </a: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 (line).</a:t>
            </a:r>
          </a:p>
          <a:p>
            <a:pPr eaLnBrk="1" hangingPunct="1"/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&lt;p&gt;This is a paragraph&lt;/p&gt;</a:t>
            </a:r>
            <a:b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</a:b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&lt;hr&gt;</a:t>
            </a:r>
            <a:b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</a:b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&lt;p&gt;This is a paragraph&lt;/p&gt;</a:t>
            </a:r>
            <a:b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</a:b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&lt;hr/&gt;</a:t>
            </a:r>
          </a:p>
          <a:p>
            <a:pPr eaLnBrk="1" hangingPunct="1"/>
            <a:b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</a:br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&lt;hr width = 50% size = 7 noshade&gt;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F6E13A3-83C8-D5DF-3517-CDD737450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HTML symbols &amp; special characters </a:t>
            </a:r>
          </a:p>
        </p:txBody>
      </p:sp>
      <p:sp>
        <p:nvSpPr>
          <p:cNvPr id="30723" name="Content Placeholder 6">
            <a:extLst>
              <a:ext uri="{FF2B5EF4-FFF2-40B4-BE49-F238E27FC236}">
                <a16:creationId xmlns:a16="http://schemas.microsoft.com/office/drawing/2014/main" id="{A99081ED-A47D-070D-BC2D-4268BFCD7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1981200"/>
            <a:ext cx="9097963" cy="35814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Displaying certain symbol in a web page requires to specify the numeric value that represents the symbol .</a:t>
            </a:r>
          </a:p>
          <a:p>
            <a:pPr eaLnBrk="1" hangingPunct="1"/>
            <a:r>
              <a:rPr lang="en-US" altLang="en-US" sz="2800">
                <a:solidFill>
                  <a:schemeClr val="accent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Example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&lt;p&gt; the copyright example &amp;#169; &lt;/p&gt; 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OR </a:t>
            </a:r>
          </a:p>
          <a:p>
            <a:pPr eaLnBrk="1" hangingPunct="1"/>
            <a:r>
              <a:rPr lang="en-US" altLang="en-US" sz="3200">
                <a:latin typeface="Arial" panose="020B0604020202020204" pitchFamily="34" charset="0"/>
                <a:ea typeface="MS PGothic" panose="020B0600070205080204" pitchFamily="34" charset="-128"/>
              </a:rPr>
              <a:t>&lt;p&gt; the copyright example </a:t>
            </a:r>
            <a:r>
              <a:rPr lang="en-US" altLang="en-US" sz="3200" b="1">
                <a:solidFill>
                  <a:srgbClr val="202124"/>
                </a:solidFill>
                <a:latin typeface="Arial" panose="020B0604020202020204" pitchFamily="34" charset="0"/>
              </a:rPr>
              <a:t>&amp;copy</a:t>
            </a:r>
            <a:r>
              <a:rPr lang="en-US" altLang="en-US" sz="2800" b="1">
                <a:solidFill>
                  <a:srgbClr val="202124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3200">
                <a:latin typeface="Arial" panose="020B0604020202020204" pitchFamily="34" charset="0"/>
                <a:ea typeface="MS PGothic" panose="020B0600070205080204" pitchFamily="34" charset="-128"/>
              </a:rPr>
              <a:t>&lt;/p&gt; 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ea typeface="MS PGothic" panose="020B0600070205080204" pitchFamily="34" charset="-128"/>
              </a:rPr>
              <a:t>Result : the copyright example © 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A2D205A-414A-0AB6-43ED-9F0C6EE3A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Comment Statements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4E71168-37AE-D9D7-63E6-1EF91D5025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Comment statements are notes in the HTML code that explain the important features of the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The comments do not appear on the Web page itself but are a useful reference to the author of the page and other programmers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To create a comment statement use the     &lt;!-- …. --&gt; tags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74AFC69-3989-4A63-F69B-A01902341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27013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Page Formatting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C62931B-00EA-8852-689F-5AE4960C02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To define the background color, use the BGCOLOR attribute in the &lt;BODY&gt; tag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To define the text color, use the TEXT attribute in the &lt;BODY&gt; tag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To define the size of the text, type &lt;BASEFONT SIZE=n&gt;   </a:t>
            </a:r>
          </a:p>
          <a:p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059CCA6D-E857-4F38-546C-05F2CB12CF2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0" y="1981200"/>
            <a:ext cx="3810000" cy="4114800"/>
          </a:xfrm>
        </p:spPr>
        <p:txBody>
          <a:bodyPr/>
          <a:lstStyle/>
          <a:p>
            <a:pPr>
              <a:buFontTx/>
              <a:buNone/>
            </a:pPr>
            <a:endParaRPr lang="en-US" altLang="en-US" sz="1800"/>
          </a:p>
          <a:p>
            <a:pPr>
              <a:buFontTx/>
              <a:buChar char=" "/>
            </a:pPr>
            <a:endParaRPr lang="en-US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26">
            <a:extLst>
              <a:ext uri="{FF2B5EF4-FFF2-40B4-BE49-F238E27FC236}">
                <a16:creationId xmlns:a16="http://schemas.microsoft.com/office/drawing/2014/main" id="{6D4768B4-CB74-27E5-0D0A-553988219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4819" name="Rectangle 1027">
            <a:extLst>
              <a:ext uri="{FF2B5EF4-FFF2-40B4-BE49-F238E27FC236}">
                <a16:creationId xmlns:a16="http://schemas.microsoft.com/office/drawing/2014/main" id="{FDC72D84-DD51-C0D1-E30A-46AB96C85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/>
              <a:t>&lt;HTML&gt;</a:t>
            </a:r>
          </a:p>
          <a:p>
            <a:pPr>
              <a:buFontTx/>
              <a:buNone/>
            </a:pPr>
            <a:r>
              <a:rPr lang="en-US" altLang="en-US" sz="2000"/>
              <a:t>&lt;HEAD&gt;</a:t>
            </a:r>
          </a:p>
          <a:p>
            <a:pPr>
              <a:buFontTx/>
              <a:buNone/>
            </a:pPr>
            <a:r>
              <a:rPr lang="en-US" altLang="en-US" sz="2000"/>
              <a:t>&lt;TITLE&gt; Example &lt;/TITLE&gt;</a:t>
            </a:r>
          </a:p>
          <a:p>
            <a:pPr>
              <a:buFontTx/>
              <a:buNone/>
            </a:pPr>
            <a:r>
              <a:rPr lang="en-US" altLang="en-US" sz="2000"/>
              <a:t>&lt;/HEAD&gt;</a:t>
            </a:r>
          </a:p>
          <a:p>
            <a:pPr>
              <a:buFontTx/>
              <a:buNone/>
            </a:pPr>
            <a:r>
              <a:rPr lang="en-US" altLang="en-US" sz="2000"/>
              <a:t>&lt;BODY </a:t>
            </a:r>
            <a:r>
              <a:rPr lang="en-US" altLang="en-US" sz="2000">
                <a:solidFill>
                  <a:srgbClr val="FF0000"/>
                </a:solidFill>
              </a:rPr>
              <a:t>BGCOLOR=“black”  TEXT=“white”</a:t>
            </a:r>
            <a:r>
              <a:rPr lang="en-US" altLang="en-US" sz="2000"/>
              <a:t>&gt;</a:t>
            </a:r>
          </a:p>
          <a:p>
            <a:pPr>
              <a:buFontTx/>
              <a:buNone/>
            </a:pPr>
            <a:r>
              <a:rPr lang="en-US" altLang="en-US" sz="2000"/>
              <a:t>&lt;</a:t>
            </a:r>
            <a:r>
              <a:rPr lang="en-US" altLang="en-US" sz="2000">
                <a:solidFill>
                  <a:srgbClr val="FF0000"/>
                </a:solidFill>
              </a:rPr>
              <a:t>BASEFONT SIZE=7</a:t>
            </a:r>
            <a:r>
              <a:rPr lang="en-US" altLang="en-US" sz="2000"/>
              <a:t>&gt;</a:t>
            </a:r>
          </a:p>
          <a:p>
            <a:pPr>
              <a:buFontTx/>
              <a:buNone/>
            </a:pPr>
            <a:r>
              <a:rPr lang="en-US" altLang="en-US" sz="2000"/>
              <a:t>      This is where you would include the text and images on your Web page.</a:t>
            </a:r>
          </a:p>
          <a:p>
            <a:pPr>
              <a:buFontTx/>
              <a:buNone/>
            </a:pPr>
            <a:r>
              <a:rPr lang="en-US" altLang="en-US" sz="2000"/>
              <a:t>&lt;/BODY&gt;</a:t>
            </a:r>
          </a:p>
          <a:p>
            <a:pPr>
              <a:buFontTx/>
              <a:buNone/>
            </a:pPr>
            <a:r>
              <a:rPr lang="en-US" altLang="en-US" sz="2000"/>
              <a:t>&lt;/HTML&gt;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DCA33468-01E5-7DE1-D100-B8E8A5215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Ordered Lists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3177BC5-012A-9F92-E80F-238598FDCD2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96963" y="1846263"/>
            <a:ext cx="4938712" cy="4022725"/>
          </a:xfrm>
        </p:spPr>
        <p:txBody>
          <a:bodyPr/>
          <a:lstStyle/>
          <a:p>
            <a:r>
              <a:rPr lang="en-US" altLang="en-US" sz="2800">
                <a:solidFill>
                  <a:schemeClr val="tx1"/>
                </a:solidFill>
              </a:rPr>
              <a:t>Ordered lists are a list of numbered items.</a:t>
            </a:r>
          </a:p>
          <a:p>
            <a:r>
              <a:rPr lang="en-US" altLang="en-US" sz="2800">
                <a:solidFill>
                  <a:schemeClr val="tx1"/>
                </a:solidFill>
              </a:rPr>
              <a:t>To create an ordered list, type:</a:t>
            </a:r>
          </a:p>
          <a:p>
            <a:pPr lvl="1">
              <a:buFontTx/>
              <a:buChar char=" "/>
            </a:pPr>
            <a:r>
              <a:rPr lang="en-US" altLang="en-US" sz="2400">
                <a:solidFill>
                  <a:schemeClr val="tx1"/>
                </a:solidFill>
              </a:rPr>
              <a:t>&lt;OL&gt;</a:t>
            </a:r>
          </a:p>
          <a:p>
            <a:pPr lvl="2">
              <a:buFontTx/>
              <a:buChar char=" "/>
            </a:pPr>
            <a:r>
              <a:rPr lang="en-US" altLang="en-US" sz="2000">
                <a:solidFill>
                  <a:schemeClr val="tx1"/>
                </a:solidFill>
              </a:rPr>
              <a:t>&lt;LI&gt; This is step one. </a:t>
            </a:r>
          </a:p>
          <a:p>
            <a:pPr lvl="2">
              <a:buFontTx/>
              <a:buChar char=" "/>
            </a:pPr>
            <a:r>
              <a:rPr lang="en-US" altLang="en-US" sz="2000">
                <a:solidFill>
                  <a:schemeClr val="tx1"/>
                </a:solidFill>
              </a:rPr>
              <a:t>&lt;LI&gt; This is step two.</a:t>
            </a:r>
          </a:p>
          <a:p>
            <a:pPr lvl="2">
              <a:buFontTx/>
              <a:buChar char=" "/>
            </a:pPr>
            <a:r>
              <a:rPr lang="en-US" altLang="en-US" sz="2000">
                <a:solidFill>
                  <a:schemeClr val="tx1"/>
                </a:solidFill>
              </a:rPr>
              <a:t>&lt;LI&gt; This is step three.</a:t>
            </a:r>
          </a:p>
          <a:p>
            <a:pPr lvl="1">
              <a:buFontTx/>
              <a:buChar char=" "/>
            </a:pPr>
            <a:r>
              <a:rPr lang="en-US" altLang="en-US" sz="2400">
                <a:solidFill>
                  <a:schemeClr val="tx1"/>
                </a:solidFill>
              </a:rPr>
              <a:t>&lt;/OL&gt;</a:t>
            </a:r>
          </a:p>
        </p:txBody>
      </p:sp>
      <p:sp>
        <p:nvSpPr>
          <p:cNvPr id="35844" name="Rectangle 7">
            <a:extLst>
              <a:ext uri="{FF2B5EF4-FFF2-40B4-BE49-F238E27FC236}">
                <a16:creationId xmlns:a16="http://schemas.microsoft.com/office/drawing/2014/main" id="{9E2ED4F6-9299-AFFD-7CBC-202EC3D7E8A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218238" y="1846263"/>
            <a:ext cx="4937125" cy="4022725"/>
          </a:xfrm>
        </p:spPr>
        <p:txBody>
          <a:bodyPr/>
          <a:lstStyle/>
          <a:p>
            <a:pPr>
              <a:buFontTx/>
              <a:buChar char=" "/>
            </a:pPr>
            <a:r>
              <a:rPr lang="en-US" altLang="en-US" sz="2800"/>
              <a:t>Here’s how it would look on the Web:</a:t>
            </a:r>
          </a:p>
          <a:p>
            <a:endParaRPr lang="en-US" altLang="en-US" sz="2800"/>
          </a:p>
        </p:txBody>
      </p:sp>
      <p:pic>
        <p:nvPicPr>
          <p:cNvPr id="35845" name="Picture 8">
            <a:extLst>
              <a:ext uri="{FF2B5EF4-FFF2-40B4-BE49-F238E27FC236}">
                <a16:creationId xmlns:a16="http://schemas.microsoft.com/office/drawing/2014/main" id="{943E10C6-66F8-7502-1E35-1A26BA491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68663"/>
            <a:ext cx="3810000" cy="153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C8DF615-C5A3-5E2C-65D6-E7326BEF7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303213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More Ordered Lists….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9C084E7-BF09-8A3E-5085-7F96CF87A1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</a:rPr>
              <a:t>The TYPE=x attribute allows you to change the the kind of symbol that appears in the list.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A is for capital letters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a is for lowercase letters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I is for capital roman numerals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i is for lowercase roman numerals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26">
            <a:extLst>
              <a:ext uri="{FF2B5EF4-FFF2-40B4-BE49-F238E27FC236}">
                <a16:creationId xmlns:a16="http://schemas.microsoft.com/office/drawing/2014/main" id="{A77559FC-0397-26E5-5318-9E042E62C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Unordered Lists</a:t>
            </a:r>
          </a:p>
        </p:txBody>
      </p:sp>
      <p:sp>
        <p:nvSpPr>
          <p:cNvPr id="37891" name="Rectangle 1027">
            <a:extLst>
              <a:ext uri="{FF2B5EF4-FFF2-40B4-BE49-F238E27FC236}">
                <a16:creationId xmlns:a16="http://schemas.microsoft.com/office/drawing/2014/main" id="{99E80431-B8B0-6C84-B9F1-8588F75EF98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96963" y="1846263"/>
            <a:ext cx="4938712" cy="4022725"/>
          </a:xfrm>
        </p:spPr>
        <p:txBody>
          <a:bodyPr/>
          <a:lstStyle/>
          <a:p>
            <a:r>
              <a:rPr lang="en-US" altLang="en-US" sz="2800">
                <a:solidFill>
                  <a:schemeClr val="tx1"/>
                </a:solidFill>
              </a:rPr>
              <a:t>An unordered list is a list of bulleted items</a:t>
            </a:r>
          </a:p>
          <a:p>
            <a:r>
              <a:rPr lang="en-US" altLang="en-US" sz="2800">
                <a:solidFill>
                  <a:schemeClr val="tx1"/>
                </a:solidFill>
              </a:rPr>
              <a:t>To create an unordered list, type:</a:t>
            </a:r>
          </a:p>
          <a:p>
            <a:pPr lvl="1">
              <a:buFontTx/>
              <a:buChar char=" "/>
            </a:pPr>
            <a:r>
              <a:rPr lang="en-US" altLang="en-US" sz="2400">
                <a:solidFill>
                  <a:schemeClr val="tx1"/>
                </a:solidFill>
              </a:rPr>
              <a:t>&lt;UL&gt;</a:t>
            </a:r>
          </a:p>
          <a:p>
            <a:pPr lvl="2">
              <a:buFontTx/>
              <a:buChar char=" "/>
            </a:pPr>
            <a:r>
              <a:rPr lang="en-US" altLang="en-US" sz="2000">
                <a:solidFill>
                  <a:schemeClr val="tx1"/>
                </a:solidFill>
              </a:rPr>
              <a:t>&lt;LI&gt; First item in list </a:t>
            </a:r>
          </a:p>
          <a:p>
            <a:pPr lvl="2">
              <a:buFontTx/>
              <a:buChar char=" "/>
            </a:pPr>
            <a:r>
              <a:rPr lang="en-US" altLang="en-US" sz="2000">
                <a:solidFill>
                  <a:schemeClr val="tx1"/>
                </a:solidFill>
              </a:rPr>
              <a:t>&lt;LI&gt; Second item in list</a:t>
            </a:r>
          </a:p>
          <a:p>
            <a:pPr lvl="2">
              <a:buFontTx/>
              <a:buChar char=" "/>
            </a:pPr>
            <a:r>
              <a:rPr lang="en-US" altLang="en-US" sz="2000">
                <a:solidFill>
                  <a:schemeClr val="tx1"/>
                </a:solidFill>
              </a:rPr>
              <a:t>&lt;LI&gt; Third item in list</a:t>
            </a:r>
          </a:p>
          <a:p>
            <a:pPr lvl="1">
              <a:buFontTx/>
              <a:buChar char=" "/>
            </a:pPr>
            <a:r>
              <a:rPr lang="en-US" altLang="en-US" sz="2400">
                <a:solidFill>
                  <a:schemeClr val="tx1"/>
                </a:solidFill>
              </a:rPr>
              <a:t>&lt;/UL&gt;</a:t>
            </a:r>
          </a:p>
          <a:p>
            <a:endParaRPr lang="en-US" altLang="en-US" sz="2800">
              <a:solidFill>
                <a:schemeClr val="tx1"/>
              </a:solidFill>
            </a:endParaRPr>
          </a:p>
        </p:txBody>
      </p:sp>
      <p:sp>
        <p:nvSpPr>
          <p:cNvPr id="37892" name="Rectangle 1028">
            <a:extLst>
              <a:ext uri="{FF2B5EF4-FFF2-40B4-BE49-F238E27FC236}">
                <a16:creationId xmlns:a16="http://schemas.microsoft.com/office/drawing/2014/main" id="{FD58BB5A-B80F-AE0F-7600-6D8FDFE2D48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218238" y="1846263"/>
            <a:ext cx="4937125" cy="4022725"/>
          </a:xfrm>
        </p:spPr>
        <p:txBody>
          <a:bodyPr/>
          <a:lstStyle/>
          <a:p>
            <a:pPr>
              <a:buFontTx/>
              <a:buChar char=" "/>
            </a:pPr>
            <a:r>
              <a:rPr lang="en-US" altLang="en-US" sz="2800"/>
              <a:t>Here’s how it would look on the Web:</a:t>
            </a:r>
          </a:p>
          <a:p>
            <a:pPr>
              <a:buFontTx/>
              <a:buChar char=" "/>
            </a:pPr>
            <a:endParaRPr lang="en-US" altLang="en-US" sz="2800"/>
          </a:p>
          <a:p>
            <a:pPr>
              <a:buFontTx/>
              <a:buChar char=" "/>
            </a:pPr>
            <a:endParaRPr lang="en-US" altLang="en-US" sz="2800"/>
          </a:p>
        </p:txBody>
      </p:sp>
      <p:pic>
        <p:nvPicPr>
          <p:cNvPr id="37893" name="Picture 1029">
            <a:extLst>
              <a:ext uri="{FF2B5EF4-FFF2-40B4-BE49-F238E27FC236}">
                <a16:creationId xmlns:a16="http://schemas.microsoft.com/office/drawing/2014/main" id="{47D2769B-E24A-FD3D-3A3C-81D2B6251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124200"/>
            <a:ext cx="3124200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E4788CA-DFD7-D20B-BB5E-BE0E98770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More Unordered Lists...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39DE26E-92DE-C829-7E88-4DB62A4E6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</a:rPr>
              <a:t>The TYPE=shape attribute allows you to change the type of bullet that appears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i="1">
                <a:solidFill>
                  <a:schemeClr val="tx1"/>
                </a:solidFill>
              </a:rPr>
              <a:t>circle</a:t>
            </a:r>
            <a:r>
              <a:rPr lang="en-US" altLang="en-US" sz="2400">
                <a:solidFill>
                  <a:schemeClr val="tx1"/>
                </a:solidFill>
              </a:rPr>
              <a:t> corresponds to an empty round bullet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i="1">
                <a:solidFill>
                  <a:schemeClr val="tx1"/>
                </a:solidFill>
              </a:rPr>
              <a:t>square</a:t>
            </a:r>
            <a:r>
              <a:rPr lang="en-US" altLang="en-US" sz="2400">
                <a:solidFill>
                  <a:schemeClr val="tx1"/>
                </a:solidFill>
              </a:rPr>
              <a:t> corresponds to a square bullet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i="1">
                <a:solidFill>
                  <a:schemeClr val="tx1"/>
                </a:solidFill>
              </a:rPr>
              <a:t>disc</a:t>
            </a:r>
            <a:r>
              <a:rPr lang="en-US" altLang="en-US" sz="2400">
                <a:solidFill>
                  <a:schemeClr val="tx1"/>
                </a:solidFill>
              </a:rPr>
              <a:t> corresponds to a solid round bullet; this is the default value</a:t>
            </a:r>
          </a:p>
          <a:p>
            <a:pPr lvl="1"/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1711E296-9091-1B03-0CFA-7664A8D7F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HTML &lt;div&gt; Tag</a:t>
            </a:r>
            <a:endParaRPr lang="en-US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1C8F4D-D6AC-69B6-46FE-55361683B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901825"/>
            <a:ext cx="10790237" cy="3911600"/>
          </a:xfrm>
          <a:solidFill>
            <a:srgbClr val="FFFFFF"/>
          </a:solidFill>
        </p:spPr>
        <p:txBody>
          <a:bodyPr lIns="91440" rIns="9144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&lt;div&gt;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 defines a division or a section in an HTML document.</a:t>
            </a:r>
            <a:endParaRPr lang="en-US" altLang="en-US" sz="2400" dirty="0">
              <a:latin typeface="+mn-lt"/>
            </a:endParaRPr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&lt;div&gt;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 is used as a container for HTML elements - which is then styled with CSS or manipulated with JavaScript.</a:t>
            </a:r>
            <a:endParaRPr lang="en-US" altLang="en-US" sz="2400" dirty="0">
              <a:latin typeface="+mn-lt"/>
            </a:endParaRPr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&lt;div&gt;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 is easily styled by using the class or id attribute.</a:t>
            </a:r>
            <a:endParaRPr lang="en-US" altLang="en-US" sz="2400" dirty="0">
              <a:latin typeface="+mn-lt"/>
            </a:endParaRPr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Any sort of content can be put inside 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&lt;div&gt;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tag! </a:t>
            </a:r>
            <a:endParaRPr lang="en-US" altLang="en-US" sz="2400" dirty="0">
              <a:latin typeface="+mn-lt"/>
            </a:endParaRPr>
          </a:p>
          <a:p>
            <a:pPr marL="0" indent="0"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defRPr/>
            </a:pPr>
            <a:r>
              <a:rPr lang="en-US" altLang="en-US" sz="2400" b="1" dirty="0">
                <a:solidFill>
                  <a:srgbClr val="003399"/>
                </a:solidFill>
                <a:latin typeface="+mn-lt"/>
              </a:rPr>
              <a:t>Note:</a:t>
            </a:r>
            <a:r>
              <a:rPr lang="en-US" altLang="en-US" sz="2400" dirty="0">
                <a:solidFill>
                  <a:srgbClr val="003399"/>
                </a:solidFill>
                <a:latin typeface="+mn-lt"/>
              </a:rPr>
              <a:t> By default, browsers always place a line break before and after the &lt;div&gt; element.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52E43A3-5A35-30E4-965A-B8A5A649C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HTML &lt;div&gt; Tag</a:t>
            </a:r>
            <a:r>
              <a:rPr lang="en-US" altLang="en-US" dirty="0">
                <a:solidFill>
                  <a:schemeClr val="tx1"/>
                </a:solidFill>
              </a:rPr>
              <a:t>–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FEF47-1100-1151-1BC9-D9DBB4E28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8077200" cy="4619625"/>
          </a:xfrm>
          <a:solidFill>
            <a:srgbClr val="FFFFFF"/>
          </a:solidFill>
        </p:spPr>
        <p:txBody>
          <a:bodyPr lIns="91440" rIns="9144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defRPr/>
            </a:pP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/>
              <a:t>&lt;title&gt; </a:t>
            </a:r>
            <a:r>
              <a:rPr lang="en-GB" sz="1800" dirty="0" err="1"/>
              <a:t>Div</a:t>
            </a:r>
            <a:r>
              <a:rPr lang="en-GB" sz="1800" dirty="0"/>
              <a:t> Example &lt;/title&gt;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/head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This is a heading in a div element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/h2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This is some text in a div element.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/div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/body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GB" sz="1800" dirty="0"/>
            </a:b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A52A2A"/>
                </a:solidFill>
                <a:latin typeface="Consolas" panose="020B0609020204030204" pitchFamily="49" charset="0"/>
              </a:rPr>
              <a:t>/html</a:t>
            </a:r>
            <a:r>
              <a:rPr lang="en-GB" sz="18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sz="1800" dirty="0">
              <a:solidFill>
                <a:srgbClr val="003399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2A532712-370E-FC43-3287-10A52F4B1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HTML &lt;span&gt; Tag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6DDF9F-9EB9-546C-6E97-F166EE98E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828800"/>
            <a:ext cx="9936163" cy="3359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&lt;span&gt;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 is an inline container used to mark up a part of a text, or a part of a document.</a:t>
            </a:r>
            <a:endParaRPr lang="en-US" altLang="en-US" sz="2400" dirty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&lt;span&gt;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 is easily styled by CSS or manipulated with JavaScript using the class or id attribute.</a:t>
            </a:r>
            <a:endParaRPr lang="en-US" altLang="en-US" sz="2400" dirty="0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The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&lt;span&gt;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tag is much like the 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hlinkClick r:id="rId2"/>
              </a:rPr>
              <a:t>&lt;div&gt;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element, but &lt;div&gt; is a block-level element and </a:t>
            </a:r>
            <a:r>
              <a:rPr lang="en-US" altLang="en-US" sz="2400" dirty="0">
                <a:solidFill>
                  <a:srgbClr val="DC143C"/>
                </a:solidFill>
                <a:latin typeface="+mn-lt"/>
              </a:rPr>
              <a:t>&lt;span&gt;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 is an inline element.</a:t>
            </a:r>
            <a:endParaRPr lang="en-US" altLang="en-US" sz="4000" dirty="0">
              <a:latin typeface="+mn-lt"/>
            </a:endParaRPr>
          </a:p>
        </p:txBody>
      </p:sp>
      <p:sp>
        <p:nvSpPr>
          <p:cNvPr id="41988" name="TextBox 7">
            <a:extLst>
              <a:ext uri="{FF2B5EF4-FFF2-40B4-BE49-F238E27FC236}">
                <a16:creationId xmlns:a16="http://schemas.microsoft.com/office/drawing/2014/main" id="{6578902A-C0FE-47F7-6064-EFDA15DB3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5486400"/>
            <a:ext cx="922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altLang="en-US">
                <a:solidFill>
                  <a:srgbClr val="A52A2A"/>
                </a:solidFill>
                <a:latin typeface="Consolas" panose="020B0609020204030204" pitchFamily="49" charset="0"/>
              </a:rPr>
              <a:t>p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GB" altLang="en-US">
                <a:solidFill>
                  <a:srgbClr val="000000"/>
                </a:solidFill>
                <a:latin typeface="Consolas" panose="020B0609020204030204" pitchFamily="49" charset="0"/>
              </a:rPr>
              <a:t>My mother has 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altLang="en-US">
                <a:solidFill>
                  <a:srgbClr val="A52A2A"/>
                </a:solidFill>
                <a:latin typeface="Consolas" panose="020B0609020204030204" pitchFamily="49" charset="0"/>
              </a:rPr>
              <a:t>span</a:t>
            </a:r>
            <a:r>
              <a:rPr lang="en-GB" altLang="en-US">
                <a:solidFill>
                  <a:srgbClr val="FF0000"/>
                </a:solidFill>
                <a:latin typeface="Consolas" panose="020B0609020204030204" pitchFamily="49" charset="0"/>
              </a:rPr>
              <a:t> style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="color:blue"&gt;</a:t>
            </a:r>
            <a:r>
              <a:rPr lang="en-GB" altLang="en-US">
                <a:solidFill>
                  <a:srgbClr val="000000"/>
                </a:solidFill>
                <a:latin typeface="Consolas" panose="020B0609020204030204" pitchFamily="49" charset="0"/>
              </a:rPr>
              <a:t>blue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altLang="en-US">
                <a:solidFill>
                  <a:srgbClr val="A52A2A"/>
                </a:solidFill>
                <a:latin typeface="Consolas" panose="020B0609020204030204" pitchFamily="49" charset="0"/>
              </a:rPr>
              <a:t>/span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GB" altLang="en-US">
                <a:solidFill>
                  <a:srgbClr val="000000"/>
                </a:solidFill>
                <a:latin typeface="Consolas" panose="020B0609020204030204" pitchFamily="49" charset="0"/>
              </a:rPr>
              <a:t> eyes.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GB" altLang="en-US">
                <a:solidFill>
                  <a:srgbClr val="A52A2A"/>
                </a:solidFill>
                <a:latin typeface="Consolas" panose="020B0609020204030204" pitchFamily="49" charset="0"/>
              </a:rPr>
              <a:t>/p</a:t>
            </a:r>
            <a:r>
              <a:rPr lang="en-GB" altLang="en-US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8ECAAF9-3380-371D-E88F-D8402B571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</a:rPr>
              <a:t>Inserting Images 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51C34EE-17CD-CC20-2CB6-9E8F67FBBC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Type &lt;IMG SRC = “image.ext”&gt;, where image.ext indicates the location of the image file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The WIDTH=n and HEIGHT=n attributes can be used to adjust the size of an image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The attribute BORDER=n can be used to add a border n pixels thick around the image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Some browsers don’t support images. In this case, the ALT attribute can be used to create text that appears instead of the image.</a:t>
            </a:r>
          </a:p>
          <a:p>
            <a:r>
              <a:rPr lang="en-US" altLang="en-US" sz="2400" b="1">
                <a:solidFill>
                  <a:schemeClr val="tx1"/>
                </a:solidFill>
              </a:rPr>
              <a:t>Example: &lt;IMG SRC=“satellite.jpg” ALT = “Picture of satellite” </a:t>
            </a:r>
            <a:r>
              <a:rPr lang="en-US" altLang="en-US" sz="2400"/>
              <a:t>width="200px" height="200px</a:t>
            </a:r>
            <a:r>
              <a:rPr lang="en-US" altLang="ja-JP" sz="2400"/>
              <a:t>”</a:t>
            </a:r>
            <a:r>
              <a:rPr lang="ja-JP" altLang="en-US" sz="2400"/>
              <a:t> </a:t>
            </a:r>
            <a:r>
              <a:rPr lang="en-US" altLang="en-US" sz="2400" b="1">
                <a:solidFill>
                  <a:schemeClr val="tx1"/>
                </a:solidFill>
              </a:rPr>
              <a:t>&gt;</a:t>
            </a:r>
          </a:p>
          <a:p>
            <a:pPr eaLnBrk="1" hangingPunct="1">
              <a:buFontTx/>
              <a:buNone/>
            </a:pPr>
            <a:endParaRPr lang="en-US" altLang="ja-JP" sz="2400"/>
          </a:p>
          <a:p>
            <a:pPr>
              <a:buFont typeface="Wingdings" panose="05000000000000000000" pitchFamily="2" charset="2"/>
              <a:buChar char="§"/>
            </a:pP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A38381-E47B-4A82-8A46-7A6642A118BF}"/>
</file>

<file path=customXml/itemProps2.xml><?xml version="1.0" encoding="utf-8"?>
<ds:datastoreItem xmlns:ds="http://schemas.openxmlformats.org/officeDocument/2006/customXml" ds:itemID="{7045C9F7-AC9C-4B2C-BEC1-C14A3A7049E9}"/>
</file>

<file path=customXml/itemProps3.xml><?xml version="1.0" encoding="utf-8"?>
<ds:datastoreItem xmlns:ds="http://schemas.openxmlformats.org/officeDocument/2006/customXml" ds:itemID="{C3A52A9A-3846-484D-96D9-A4EB485B53D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5849</TotalTime>
  <Words>1867</Words>
  <Application>Microsoft Office PowerPoint</Application>
  <PresentationFormat>Widescreen</PresentationFormat>
  <Paragraphs>184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Calibri</vt:lpstr>
      <vt:lpstr>Arial</vt:lpstr>
      <vt:lpstr>Calibri Light</vt:lpstr>
      <vt:lpstr>Times New Roman</vt:lpstr>
      <vt:lpstr>Segoe UI</vt:lpstr>
      <vt:lpstr>MS PGothic</vt:lpstr>
      <vt:lpstr>Wingdings</vt:lpstr>
      <vt:lpstr>Consolas</vt:lpstr>
      <vt:lpstr>Times</vt:lpstr>
      <vt:lpstr>Retrospect</vt:lpstr>
      <vt:lpstr>1_Retrospect</vt:lpstr>
      <vt:lpstr>PowerPoint Presentation</vt:lpstr>
      <vt:lpstr>Lecture Outline:</vt:lpstr>
      <vt:lpstr>A Simple HTML Document / Explained</vt:lpstr>
      <vt:lpstr>Structure of a Web Page</vt:lpstr>
      <vt:lpstr>Structure of a Web Page</vt:lpstr>
      <vt:lpstr>3. HTML Elements &amp; Tags</vt:lpstr>
      <vt:lpstr>3. HTML Elements &amp; Tags</vt:lpstr>
      <vt:lpstr>3. HTML Elements &amp; Tags</vt:lpstr>
      <vt:lpstr>The &lt;TITLE&gt; Tag</vt:lpstr>
      <vt:lpstr>Text Formatting Tags</vt:lpstr>
      <vt:lpstr>Changing the Font</vt:lpstr>
      <vt:lpstr>Headings </vt:lpstr>
      <vt:lpstr>HTML  Text margins </vt:lpstr>
      <vt:lpstr>Aligning Text</vt:lpstr>
      <vt:lpstr>HTML Rules (Lines)</vt:lpstr>
      <vt:lpstr>HTML symbols &amp; special characters </vt:lpstr>
      <vt:lpstr>Comment Statements</vt:lpstr>
      <vt:lpstr>Page Formatting</vt:lpstr>
      <vt:lpstr>Example</vt:lpstr>
      <vt:lpstr>Ordered Lists</vt:lpstr>
      <vt:lpstr>More Ordered Lists….</vt:lpstr>
      <vt:lpstr>Unordered Lists</vt:lpstr>
      <vt:lpstr>More Unordered Lists...</vt:lpstr>
      <vt:lpstr>HTML &lt;div&gt; Tag</vt:lpstr>
      <vt:lpstr>HTML &lt;div&gt; Tag– Example</vt:lpstr>
      <vt:lpstr>HTML &lt;span&gt; Tag</vt:lpstr>
      <vt:lpstr>Inserting Images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1382</cp:revision>
  <dcterms:created xsi:type="dcterms:W3CDTF">1601-01-01T00:00:00Z</dcterms:created>
  <dcterms:modified xsi:type="dcterms:W3CDTF">2025-09-21T16:37:06Z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