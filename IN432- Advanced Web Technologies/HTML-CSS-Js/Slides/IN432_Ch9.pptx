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2" r:id="rId1"/>
  </p:sldMasterIdLst>
  <p:notesMasterIdLst>
    <p:notesMasterId r:id="rId19"/>
  </p:notesMasterIdLst>
  <p:handoutMasterIdLst>
    <p:handoutMasterId r:id="rId20"/>
  </p:handoutMasterIdLst>
  <p:sldIdLst>
    <p:sldId id="286" r:id="rId2"/>
    <p:sldId id="311" r:id="rId3"/>
    <p:sldId id="312" r:id="rId4"/>
    <p:sldId id="313" r:id="rId5"/>
    <p:sldId id="314" r:id="rId6"/>
    <p:sldId id="316" r:id="rId7"/>
    <p:sldId id="323" r:id="rId8"/>
    <p:sldId id="317" r:id="rId9"/>
    <p:sldId id="325" r:id="rId10"/>
    <p:sldId id="318" r:id="rId11"/>
    <p:sldId id="324" r:id="rId12"/>
    <p:sldId id="319" r:id="rId13"/>
    <p:sldId id="326" r:id="rId14"/>
    <p:sldId id="320" r:id="rId15"/>
    <p:sldId id="321" r:id="rId16"/>
    <p:sldId id="322" r:id="rId17"/>
    <p:sldId id="327" r:id="rId18"/>
  </p:sldIdLst>
  <p:sldSz cx="12192000" cy="6858000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3399"/>
    <a:srgbClr val="009900"/>
    <a:srgbClr val="CC0099"/>
    <a:srgbClr val="FF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755F83-DB9C-47F0-B7B9-83C4FA4D6CFC}" v="3" dt="2025-09-25T08:31:33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29" autoAdjust="0"/>
    <p:restoredTop sz="91257" autoAdjust="0"/>
  </p:normalViewPr>
  <p:slideViewPr>
    <p:cSldViewPr>
      <p:cViewPr varScale="1">
        <p:scale>
          <a:sx n="63" d="100"/>
          <a:sy n="63" d="100"/>
        </p:scale>
        <p:origin x="424" y="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al Beydoun" userId="e88cbbf3-5e5f-46df-aecf-fe10b322ce6e" providerId="ADAL" clId="{E4876F53-9B78-423D-99A1-E03CA3D47365}"/>
    <pc:docChg chg="addSld delSld modSld delMainMaster">
      <pc:chgData name="Kamal Beydoun" userId="e88cbbf3-5e5f-46df-aecf-fe10b322ce6e" providerId="ADAL" clId="{E4876F53-9B78-423D-99A1-E03CA3D47365}" dt="2025-09-25T08:30:08.808" v="1"/>
      <pc:docMkLst>
        <pc:docMk/>
      </pc:docMkLst>
      <pc:sldChg chg="add del">
        <pc:chgData name="Kamal Beydoun" userId="e88cbbf3-5e5f-46df-aecf-fe10b322ce6e" providerId="ADAL" clId="{E4876F53-9B78-423D-99A1-E03CA3D47365}" dt="2025-09-25T08:30:08.808" v="1"/>
        <pc:sldMkLst>
          <pc:docMk/>
          <pc:sldMk cId="0" sldId="286"/>
        </pc:sldMkLst>
      </pc:sldChg>
      <pc:sldMasterChg chg="del delSldLayout">
        <pc:chgData name="Kamal Beydoun" userId="e88cbbf3-5e5f-46df-aecf-fe10b322ce6e" providerId="ADAL" clId="{E4876F53-9B78-423D-99A1-E03CA3D47365}" dt="2025-09-25T08:30:06.225" v="0" actId="47"/>
        <pc:sldMasterMkLst>
          <pc:docMk/>
          <pc:sldMasterMk cId="0" sldId="2147483672"/>
        </pc:sldMasterMkLst>
        <pc:sldLayoutChg chg="del">
          <pc:chgData name="Kamal Beydoun" userId="e88cbbf3-5e5f-46df-aecf-fe10b322ce6e" providerId="ADAL" clId="{E4876F53-9B78-423D-99A1-E03CA3D47365}" dt="2025-09-25T08:30:06.225" v="0" actId="47"/>
          <pc:sldLayoutMkLst>
            <pc:docMk/>
            <pc:sldMasterMk cId="0" sldId="2147483672"/>
            <pc:sldLayoutMk cId="1630487921" sldId="2147483994"/>
          </pc:sldLayoutMkLst>
        </pc:sldLayoutChg>
        <pc:sldLayoutChg chg="del">
          <pc:chgData name="Kamal Beydoun" userId="e88cbbf3-5e5f-46df-aecf-fe10b322ce6e" providerId="ADAL" clId="{E4876F53-9B78-423D-99A1-E03CA3D47365}" dt="2025-09-25T08:30:06.225" v="0" actId="47"/>
          <pc:sldLayoutMkLst>
            <pc:docMk/>
            <pc:sldMasterMk cId="0" sldId="2147483672"/>
            <pc:sldLayoutMk cId="1239880540" sldId="2147483995"/>
          </pc:sldLayoutMkLst>
        </pc:sldLayoutChg>
        <pc:sldLayoutChg chg="del">
          <pc:chgData name="Kamal Beydoun" userId="e88cbbf3-5e5f-46df-aecf-fe10b322ce6e" providerId="ADAL" clId="{E4876F53-9B78-423D-99A1-E03CA3D47365}" dt="2025-09-25T08:30:06.225" v="0" actId="47"/>
          <pc:sldLayoutMkLst>
            <pc:docMk/>
            <pc:sldMasterMk cId="0" sldId="2147483672"/>
            <pc:sldLayoutMk cId="140741571" sldId="2147483996"/>
          </pc:sldLayoutMkLst>
        </pc:sldLayoutChg>
        <pc:sldLayoutChg chg="del">
          <pc:chgData name="Kamal Beydoun" userId="e88cbbf3-5e5f-46df-aecf-fe10b322ce6e" providerId="ADAL" clId="{E4876F53-9B78-423D-99A1-E03CA3D47365}" dt="2025-09-25T08:30:06.225" v="0" actId="47"/>
          <pc:sldLayoutMkLst>
            <pc:docMk/>
            <pc:sldMasterMk cId="0" sldId="2147483672"/>
            <pc:sldLayoutMk cId="3918481512" sldId="2147483997"/>
          </pc:sldLayoutMkLst>
        </pc:sldLayoutChg>
        <pc:sldLayoutChg chg="del">
          <pc:chgData name="Kamal Beydoun" userId="e88cbbf3-5e5f-46df-aecf-fe10b322ce6e" providerId="ADAL" clId="{E4876F53-9B78-423D-99A1-E03CA3D47365}" dt="2025-09-25T08:30:06.225" v="0" actId="47"/>
          <pc:sldLayoutMkLst>
            <pc:docMk/>
            <pc:sldMasterMk cId="0" sldId="2147483672"/>
            <pc:sldLayoutMk cId="2668194470" sldId="2147483998"/>
          </pc:sldLayoutMkLst>
        </pc:sldLayoutChg>
        <pc:sldLayoutChg chg="del">
          <pc:chgData name="Kamal Beydoun" userId="e88cbbf3-5e5f-46df-aecf-fe10b322ce6e" providerId="ADAL" clId="{E4876F53-9B78-423D-99A1-E03CA3D47365}" dt="2025-09-25T08:30:06.225" v="0" actId="47"/>
          <pc:sldLayoutMkLst>
            <pc:docMk/>
            <pc:sldMasterMk cId="0" sldId="2147483672"/>
            <pc:sldLayoutMk cId="1001226143" sldId="2147484010"/>
          </pc:sldLayoutMkLst>
        </pc:sldLayoutChg>
        <pc:sldLayoutChg chg="del">
          <pc:chgData name="Kamal Beydoun" userId="e88cbbf3-5e5f-46df-aecf-fe10b322ce6e" providerId="ADAL" clId="{E4876F53-9B78-423D-99A1-E03CA3D47365}" dt="2025-09-25T08:30:06.225" v="0" actId="47"/>
          <pc:sldLayoutMkLst>
            <pc:docMk/>
            <pc:sldMasterMk cId="0" sldId="2147483672"/>
            <pc:sldLayoutMk cId="4252243521" sldId="2147484011"/>
          </pc:sldLayoutMkLst>
        </pc:sldLayoutChg>
        <pc:sldLayoutChg chg="del">
          <pc:chgData name="Kamal Beydoun" userId="e88cbbf3-5e5f-46df-aecf-fe10b322ce6e" providerId="ADAL" clId="{E4876F53-9B78-423D-99A1-E03CA3D47365}" dt="2025-09-25T08:30:06.225" v="0" actId="47"/>
          <pc:sldLayoutMkLst>
            <pc:docMk/>
            <pc:sldMasterMk cId="0" sldId="2147483672"/>
            <pc:sldLayoutMk cId="644083350" sldId="2147484012"/>
          </pc:sldLayoutMkLst>
        </pc:sldLayoutChg>
        <pc:sldLayoutChg chg="del">
          <pc:chgData name="Kamal Beydoun" userId="e88cbbf3-5e5f-46df-aecf-fe10b322ce6e" providerId="ADAL" clId="{E4876F53-9B78-423D-99A1-E03CA3D47365}" dt="2025-09-25T08:30:06.225" v="0" actId="47"/>
          <pc:sldLayoutMkLst>
            <pc:docMk/>
            <pc:sldMasterMk cId="0" sldId="2147483672"/>
            <pc:sldLayoutMk cId="3369525000" sldId="2147484013"/>
          </pc:sldLayoutMkLst>
        </pc:sldLayoutChg>
        <pc:sldLayoutChg chg="del">
          <pc:chgData name="Kamal Beydoun" userId="e88cbbf3-5e5f-46df-aecf-fe10b322ce6e" providerId="ADAL" clId="{E4876F53-9B78-423D-99A1-E03CA3D47365}" dt="2025-09-25T08:30:06.225" v="0" actId="47"/>
          <pc:sldLayoutMkLst>
            <pc:docMk/>
            <pc:sldMasterMk cId="0" sldId="2147483672"/>
            <pc:sldLayoutMk cId="424503147" sldId="2147484014"/>
          </pc:sldLayoutMkLst>
        </pc:sldLayoutChg>
        <pc:sldLayoutChg chg="del">
          <pc:chgData name="Kamal Beydoun" userId="e88cbbf3-5e5f-46df-aecf-fe10b322ce6e" providerId="ADAL" clId="{E4876F53-9B78-423D-99A1-E03CA3D47365}" dt="2025-09-25T08:30:06.225" v="0" actId="47"/>
          <pc:sldLayoutMkLst>
            <pc:docMk/>
            <pc:sldMasterMk cId="0" sldId="2147483672"/>
            <pc:sldLayoutMk cId="3078236521" sldId="214748401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93A30451-EE05-9C46-B395-639DB1CB083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9B4B8413-FCEA-809F-37D2-18A96EF986F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09AC27D2-9D43-22FD-B413-553A3106152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19BD8D5D-F42B-F9D8-79F5-5873B306CD7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B189BD9B-C316-45DE-A772-2F8501E8CA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6D963A5-C34B-4F58-6A3D-EB39EEEBE73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D95DC69-35B8-D37E-7EF2-01C4D63A0A0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FAB4567F-20E3-A16D-645F-1915A862946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942C52E6-CEEB-C867-839E-3A5B093ADF6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6262487A-1911-69E2-88B9-F7D0EF5936E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D24BC9E6-68C2-98EA-5B7A-61F8B0E842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FF1677BA-002F-4AD6-B33A-B533FCA2C1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6E8C1AE7-691D-4F55-F2F8-897C4AE114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BE5B614F-3A14-1425-7072-226DB6386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Try to change the values of right, left , top, bottom..</a:t>
            </a:r>
          </a:p>
          <a:p>
            <a:r>
              <a:rPr lang="en-US" altLang="en-US"/>
              <a:t>Be careful about width.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E04FC-66BE-A478-738D-35BD53766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4DFE327-6C13-4B4D-B7D1-F2C0BD24B836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14077260-FF6C-5E30-F834-BB35C6A182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E7BDBFBA-6DCE-4C25-8565-61D0744134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With absolute positioning, an element can be placed anywhere on a page.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16B7D-FC22-B53B-0BE3-17BE83A3D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C35D39-B757-4F80-8B96-61C34E833177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FB12D-DCBF-5FCF-D4B4-8132DBCC6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28CA9-2CF0-4678-8868-29330910BF5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D8E60-DB6D-FDB2-8FFD-846EA145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0ABC4-28FB-68CC-2C06-741ACC9A5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78727-C6A6-4146-8180-278E5095DF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9521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5EF25-33F5-8E13-0FDB-5FE0FD610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2AD4F-05CD-45DA-AF15-3F08086947D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68EF8-18D6-5F92-4E03-A000B765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34953-DA4A-A041-20A3-8F3F19D3B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9FBB35-48CA-459E-818F-1EA0D9788C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178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92EC5-EE35-A23B-FFC4-4CCA8D171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9FD9DE-BFC4-4475-8ED3-13FD3027CC0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1DD13-CA88-692B-859C-4CE0E17F4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8F4EC-0113-CA07-4CB7-4EC991CA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110F9-4334-4723-942A-62D6AABAD4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9229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E185B2F-48AC-3BA8-7311-2DBB4F53E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3D0F1-46A6-4DF2-865F-3C3809EDC0C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5C817F-5EEB-CBCA-ED9D-93A462704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16E6B4-56AC-A8FA-A7F9-460A22587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1BD5A-E8F9-456A-96CA-D36584E26B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0676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82131FF-E564-B614-A7F0-26832C8E6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3F0445-A620-4870-B99F-0CD9169591A6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E786D42-9851-A3DB-C4A1-EF2E66DDD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D961086-7C8D-CEB7-10AB-64BADA400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428F7-FFA8-4E4B-AC19-E9EFC4ABDE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476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AB0CAA2-6E91-F56D-AEDD-B3F3818E5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848D4B-1C5F-4697-B025-4E1461031E9B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B2F2F3-4B1C-09C2-1283-B0204C57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B00AE6-CC94-A3E7-9E15-336888E99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D3A99-9B4F-44FA-B60E-E0592AC00A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995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3C7CB65-4747-E4A4-6E28-CA8E0FF2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14AB4-2401-40E5-A832-59AC2D86CF90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724212-2C57-A272-9F1F-98564BC21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9F50E70-F102-D0AF-D6A4-3B2A4DAF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E3269-FC09-4753-AA21-6CE28F2504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2083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2A01E6E-7927-047A-853A-A60C24625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D6CA30-DD7E-4E0C-9B31-CAE585C7946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1B8D7A-DEE4-C1A2-7499-3089DC193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89270C6-9458-5782-8AEF-97188F16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A4E2C-5715-4F3E-99CF-11BD40D1DB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0600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453ACD2-C0CE-8858-B1A5-7B160394C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5400D-35B2-4B30-8023-5EA891901D1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CCD66E-54BC-70FE-2578-15D5C36D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8D1322-DE98-EEDB-64E6-BC2C0603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DE4091-12CD-4C81-89A7-94202D16BE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497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D0C63-A771-65C0-7C57-06321697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A0F0C-DB03-4ABD-BB5B-1A0AF4A77B8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0B2C8-FF31-8A75-227B-BD787836B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7D2E0-98F4-A72B-CC0C-050B20E8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6985E9-F0F3-4D14-BC18-2179D1ACB1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0695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93E04-BDE1-4138-9823-AAD5DE597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1E1423-E1FC-4839-9E57-B91832C3DE62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9DA75-3C1E-853A-2956-100A9108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51EE4-C592-0807-2EBA-3F765050E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143802-AF11-406A-AF99-186501B1F7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0508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0DC83F96-E63E-2DE9-652F-AAADCA4237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05FB5C6B-E74E-D16D-020B-03F70322AA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A8716-26F8-1F37-282A-B132999D56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886F96-CD2B-41F0-B3E4-94E66E18F62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F2D13-9990-BFA2-9463-93BAC02B9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F1DC5-E02C-E90C-B006-68A443A04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993466-B3DF-4F61-AEEF-1FBC424971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css/tryit.asp?filename=trycss_position_fixed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cssref/tryit.php?filename=trycss_position_absolute" TargetMode="Externa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tryit.php?filename=trycss_position_sticky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ref/tryit.php?filename=trycss_position2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owto/tryit.asp?filename=tryhow_css_image_tex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4">
            <a:extLst>
              <a:ext uri="{FF2B5EF4-FFF2-40B4-BE49-F238E27FC236}">
                <a16:creationId xmlns:a16="http://schemas.microsoft.com/office/drawing/2014/main" id="{AFDCD113-A699-56F8-71AE-EDFDE4932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067" y="758952"/>
            <a:ext cx="7319175" cy="35661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IN432</a:t>
            </a:r>
            <a:b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</a:br>
            <a: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Advanced Web Programming</a:t>
            </a:r>
          </a:p>
        </p:txBody>
      </p:sp>
      <p:pic>
        <p:nvPicPr>
          <p:cNvPr id="10246" name="Graphic 10245" descr="Computer">
            <a:extLst>
              <a:ext uri="{FF2B5EF4-FFF2-40B4-BE49-F238E27FC236}">
                <a16:creationId xmlns:a16="http://schemas.microsoft.com/office/drawing/2014/main" id="{695A09B2-4B52-71B4-6B3F-135007F1B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18" y="1944907"/>
            <a:ext cx="2449486" cy="24494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4">
            <a:extLst>
              <a:ext uri="{FF2B5EF4-FFF2-40B4-BE49-F238E27FC236}">
                <a16:creationId xmlns:a16="http://schemas.microsoft.com/office/drawing/2014/main" id="{8AF3434C-1988-ABB9-5FAF-92D34FB56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Box Model</a:t>
            </a:r>
          </a:p>
        </p:txBody>
      </p:sp>
      <p:sp>
        <p:nvSpPr>
          <p:cNvPr id="12291" name="TextBox 7">
            <a:extLst>
              <a:ext uri="{FF2B5EF4-FFF2-40B4-BE49-F238E27FC236}">
                <a16:creationId xmlns:a16="http://schemas.microsoft.com/office/drawing/2014/main" id="{82FD15A0-041D-A5E9-359D-A128A42DC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23875"/>
            <a:ext cx="116586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In CSS, the term "box model" is used when talking about design and layout.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8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The CSS box model is essentially a box that wraps around every HTML element. It consists of: margins, borders, padding, and the actual content.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8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The image below illustrates the box model:</a:t>
            </a:r>
          </a:p>
        </p:txBody>
      </p:sp>
      <p:pic>
        <p:nvPicPr>
          <p:cNvPr id="12292" name="Picture 3">
            <a:extLst>
              <a:ext uri="{FF2B5EF4-FFF2-40B4-BE49-F238E27FC236}">
                <a16:creationId xmlns:a16="http://schemas.microsoft.com/office/drawing/2014/main" id="{3FFFBD40-BC16-8A4F-1154-3A9CECCBD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3" y="2524125"/>
            <a:ext cx="8402637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62748B-EA15-0A66-3569-CD69B8A8E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9FBB35-48CA-459E-818F-1EA0D9788C6C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4">
            <a:extLst>
              <a:ext uri="{FF2B5EF4-FFF2-40B4-BE49-F238E27FC236}">
                <a16:creationId xmlns:a16="http://schemas.microsoft.com/office/drawing/2014/main" id="{FE1D516C-7BB4-0FE3-06E1-C5E31C47F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Box Model</a:t>
            </a:r>
          </a:p>
        </p:txBody>
      </p:sp>
      <p:sp>
        <p:nvSpPr>
          <p:cNvPr id="13315" name="TextBox 4">
            <a:extLst>
              <a:ext uri="{FF2B5EF4-FFF2-40B4-BE49-F238E27FC236}">
                <a16:creationId xmlns:a16="http://schemas.microsoft.com/office/drawing/2014/main" id="{0BA7B71F-09B1-5B0C-08EF-0FF2BF729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23875"/>
            <a:ext cx="116586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Explanation of the different parts: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GB" altLang="en-US" sz="20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GB" altLang="en-US" sz="2000" b="1">
                <a:solidFill>
                  <a:srgbClr val="000000"/>
                </a:solidFill>
                <a:latin typeface="Verdana" panose="020B0604030504040204" pitchFamily="34" charset="0"/>
              </a:rPr>
              <a:t>Content</a:t>
            </a:r>
            <a:r>
              <a:rPr lang="en-GB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 - The content of the box, where text and images appear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GB" altLang="en-US" sz="2000" b="1">
                <a:solidFill>
                  <a:srgbClr val="000000"/>
                </a:solidFill>
                <a:latin typeface="Verdana" panose="020B0604030504040204" pitchFamily="34" charset="0"/>
              </a:rPr>
              <a:t>Padding</a:t>
            </a:r>
            <a:r>
              <a:rPr lang="en-GB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 - Clears an area around the content. The padding is transparent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GB" altLang="en-US" sz="2000" b="1">
                <a:solidFill>
                  <a:srgbClr val="000000"/>
                </a:solidFill>
                <a:latin typeface="Verdana" panose="020B0604030504040204" pitchFamily="34" charset="0"/>
              </a:rPr>
              <a:t>Border</a:t>
            </a:r>
            <a:r>
              <a:rPr lang="en-GB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 - A border that goes around the padding and content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GB" altLang="en-US" sz="2000" b="1">
                <a:solidFill>
                  <a:srgbClr val="000000"/>
                </a:solidFill>
                <a:latin typeface="Verdana" panose="020B0604030504040204" pitchFamily="34" charset="0"/>
              </a:rPr>
              <a:t>Margin</a:t>
            </a:r>
            <a:r>
              <a:rPr lang="en-GB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 - Clears an area outside the border. The margin is transparent</a:t>
            </a:r>
          </a:p>
        </p:txBody>
      </p:sp>
      <p:pic>
        <p:nvPicPr>
          <p:cNvPr id="13316" name="Picture 2">
            <a:extLst>
              <a:ext uri="{FF2B5EF4-FFF2-40B4-BE49-F238E27FC236}">
                <a16:creationId xmlns:a16="http://schemas.microsoft.com/office/drawing/2014/main" id="{74AE3714-692E-09FE-5FB3-DAFB886F7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533775"/>
            <a:ext cx="4325938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6">
            <a:extLst>
              <a:ext uri="{FF2B5EF4-FFF2-40B4-BE49-F238E27FC236}">
                <a16:creationId xmlns:a16="http://schemas.microsoft.com/office/drawing/2014/main" id="{5B8DB24A-2151-CB35-2A19-2EF27D514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1263" y="3459163"/>
            <a:ext cx="424815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63C3D6-1A2C-2B74-999E-B2B55BF3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9FBB35-48CA-459E-818F-1EA0D9788C6C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4">
            <a:extLst>
              <a:ext uri="{FF2B5EF4-FFF2-40B4-BE49-F238E27FC236}">
                <a16:creationId xmlns:a16="http://schemas.microsoft.com/office/drawing/2014/main" id="{A7544A12-BE8F-3AEF-2241-3941FBD3D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Layout - The position Property</a:t>
            </a:r>
          </a:p>
        </p:txBody>
      </p:sp>
      <p:pic>
        <p:nvPicPr>
          <p:cNvPr id="14339" name="Picture 3">
            <a:extLst>
              <a:ext uri="{FF2B5EF4-FFF2-40B4-BE49-F238E27FC236}">
                <a16:creationId xmlns:a16="http://schemas.microsoft.com/office/drawing/2014/main" id="{E0554B6C-4026-24AF-6C57-7C2F8C14D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685800"/>
            <a:ext cx="10310812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C26715-62C1-E1EB-2472-2E9DADFAC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9FBB35-48CA-459E-818F-1EA0D9788C6C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6E76D94C-58BE-9039-02FF-3C6A0E817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Layout - The position Property</a:t>
            </a:r>
          </a:p>
        </p:txBody>
      </p:sp>
      <p:sp>
        <p:nvSpPr>
          <p:cNvPr id="15363" name="TextBox 6">
            <a:extLst>
              <a:ext uri="{FF2B5EF4-FFF2-40B4-BE49-F238E27FC236}">
                <a16:creationId xmlns:a16="http://schemas.microsoft.com/office/drawing/2014/main" id="{7A78C635-F395-CD1F-17AD-1F2CE5A34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85800"/>
            <a:ext cx="6096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/>
              <a:t>position: static;</a:t>
            </a:r>
          </a:p>
        </p:txBody>
      </p:sp>
      <p:sp>
        <p:nvSpPr>
          <p:cNvPr id="15364" name="Rectangle 1">
            <a:extLst>
              <a:ext uri="{FF2B5EF4-FFF2-40B4-BE49-F238E27FC236}">
                <a16:creationId xmlns:a16="http://schemas.microsoft.com/office/drawing/2014/main" id="{975A4936-29B3-7711-0CB7-287CAB9BA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338263"/>
            <a:ext cx="11582400" cy="17541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HTML elements are positioned </a:t>
            </a:r>
            <a:r>
              <a:rPr lang="en-US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static by default</a:t>
            </a: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Static positioned elements </a:t>
            </a:r>
            <a:r>
              <a:rPr lang="en-US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are not affected </a:t>
            </a: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by the top, bottom, left, and right properties.</a:t>
            </a:r>
            <a:endParaRPr lang="en-US" altLang="en-US" sz="18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An element with</a:t>
            </a:r>
            <a:r>
              <a:rPr lang="en-US" altLang="en-US" sz="1800">
                <a:solidFill>
                  <a:srgbClr val="000000"/>
                </a:solidFill>
              </a:rPr>
              <a:t> </a:t>
            </a:r>
            <a:r>
              <a:rPr lang="en-US" altLang="en-US" sz="1800">
                <a:solidFill>
                  <a:srgbClr val="DC143C"/>
                </a:solidFill>
                <a:latin typeface="Consolas" panose="020B0609020204030204" pitchFamily="49" charset="0"/>
              </a:rPr>
              <a:t>position: static;</a:t>
            </a:r>
            <a:r>
              <a:rPr lang="en-US" altLang="en-US" sz="1800">
                <a:solidFill>
                  <a:srgbClr val="000000"/>
                </a:solidFill>
              </a:rPr>
              <a:t> </a:t>
            </a: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is not positioned in any special way; </a:t>
            </a:r>
            <a:r>
              <a:rPr lang="en-US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it is always positioned according to the normal flow of the page</a:t>
            </a: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  <a:endParaRPr lang="en-US" altLang="en-US" sz="3200"/>
          </a:p>
        </p:txBody>
      </p:sp>
      <p:pic>
        <p:nvPicPr>
          <p:cNvPr id="15365" name="Picture 8">
            <a:extLst>
              <a:ext uri="{FF2B5EF4-FFF2-40B4-BE49-F238E27FC236}">
                <a16:creationId xmlns:a16="http://schemas.microsoft.com/office/drawing/2014/main" id="{8E9F779F-865D-BE56-55DD-DFC81227C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657600"/>
            <a:ext cx="4445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8DC007-9CBF-AB1B-2ED3-0A075FED9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9FBB35-48CA-459E-818F-1EA0D9788C6C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4">
            <a:extLst>
              <a:ext uri="{FF2B5EF4-FFF2-40B4-BE49-F238E27FC236}">
                <a16:creationId xmlns:a16="http://schemas.microsoft.com/office/drawing/2014/main" id="{D73F54EA-D804-50D9-2EB7-84F03DF08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Layout - The position Property</a:t>
            </a:r>
          </a:p>
        </p:txBody>
      </p:sp>
      <p:sp>
        <p:nvSpPr>
          <p:cNvPr id="16387" name="TextBox 6">
            <a:extLst>
              <a:ext uri="{FF2B5EF4-FFF2-40B4-BE49-F238E27FC236}">
                <a16:creationId xmlns:a16="http://schemas.microsoft.com/office/drawing/2014/main" id="{A0398973-0B76-E5D3-B36A-86650FB33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85800"/>
            <a:ext cx="6096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/>
              <a:t>position: relative;</a:t>
            </a:r>
          </a:p>
        </p:txBody>
      </p:sp>
      <p:sp>
        <p:nvSpPr>
          <p:cNvPr id="16388" name="Rectangle 1">
            <a:extLst>
              <a:ext uri="{FF2B5EF4-FFF2-40B4-BE49-F238E27FC236}">
                <a16:creationId xmlns:a16="http://schemas.microsoft.com/office/drawing/2014/main" id="{92EF0FD7-8A45-2F5C-7101-C0A3EC488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96988"/>
            <a:ext cx="11582400" cy="18367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An element with position: relative; is positioned relative </a:t>
            </a:r>
            <a:r>
              <a:rPr lang="en-GB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to its normal position</a:t>
            </a:r>
            <a:r>
              <a:rPr lang="en-GB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8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Setting the top, right, bottom, and left properties of a relatively-positioned element will cause it to </a:t>
            </a:r>
            <a:r>
              <a:rPr lang="en-GB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be adjusted away </a:t>
            </a:r>
            <a:r>
              <a:rPr lang="en-GB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from </a:t>
            </a:r>
            <a:r>
              <a:rPr lang="en-GB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its</a:t>
            </a:r>
            <a:r>
              <a:rPr lang="en-GB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 normal position. </a:t>
            </a:r>
            <a:r>
              <a:rPr lang="en-GB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Other content will not be adjusted </a:t>
            </a:r>
            <a:r>
              <a:rPr lang="en-GB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to fit into any gap left by the element.</a:t>
            </a:r>
          </a:p>
        </p:txBody>
      </p:sp>
      <p:pic>
        <p:nvPicPr>
          <p:cNvPr id="16389" name="Picture 10">
            <a:extLst>
              <a:ext uri="{FF2B5EF4-FFF2-40B4-BE49-F238E27FC236}">
                <a16:creationId xmlns:a16="http://schemas.microsoft.com/office/drawing/2014/main" id="{D42EB905-3A76-5A3F-EE36-1E282B600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3724275"/>
            <a:ext cx="416718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CF2DD6-C1D9-E84F-79BB-0B4E47AD9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9FBB35-48CA-459E-818F-1EA0D9788C6C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812EC-1086-4FEA-5D75-7C3B8C84B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CFC342-6BE0-4B52-A2BD-712AEE87905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17411" name="Picture 4">
            <a:extLst>
              <a:ext uri="{FF2B5EF4-FFF2-40B4-BE49-F238E27FC236}">
                <a16:creationId xmlns:a16="http://schemas.microsoft.com/office/drawing/2014/main" id="{30E3CD4A-D219-6C67-CDC7-8D0774F03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38200"/>
            <a:ext cx="11253788" cy="475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4">
            <a:extLst>
              <a:ext uri="{FF2B5EF4-FFF2-40B4-BE49-F238E27FC236}">
                <a16:creationId xmlns:a16="http://schemas.microsoft.com/office/drawing/2014/main" id="{5BD9E57E-B2CC-AB6C-8641-D05DDE7E1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Layout - The position Property</a:t>
            </a:r>
          </a:p>
        </p:txBody>
      </p:sp>
      <p:sp>
        <p:nvSpPr>
          <p:cNvPr id="18435" name="TextBox 6">
            <a:extLst>
              <a:ext uri="{FF2B5EF4-FFF2-40B4-BE49-F238E27FC236}">
                <a16:creationId xmlns:a16="http://schemas.microsoft.com/office/drawing/2014/main" id="{3895121A-145B-B83F-39D6-1E3B3E2E7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85800"/>
            <a:ext cx="6096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/>
              <a:t>position: fixed;</a:t>
            </a:r>
          </a:p>
        </p:txBody>
      </p:sp>
      <p:sp>
        <p:nvSpPr>
          <p:cNvPr id="18436" name="TextBox 7">
            <a:extLst>
              <a:ext uri="{FF2B5EF4-FFF2-40B4-BE49-F238E27FC236}">
                <a16:creationId xmlns:a16="http://schemas.microsoft.com/office/drawing/2014/main" id="{3FBF66F5-9684-3545-DF51-FE6EFBB70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1301750"/>
            <a:ext cx="1170305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000"/>
              <a:t>An element with </a:t>
            </a:r>
            <a:r>
              <a:rPr lang="en-GB" altLang="en-US" sz="2000">
                <a:solidFill>
                  <a:srgbClr val="FF0000"/>
                </a:solidFill>
              </a:rPr>
              <a:t>position: fixed; </a:t>
            </a:r>
            <a:r>
              <a:rPr lang="en-GB" altLang="en-US" sz="2000"/>
              <a:t>is positioned relative to the viewport, which means </a:t>
            </a:r>
            <a:r>
              <a:rPr lang="en-GB" altLang="en-US" sz="2000" b="1"/>
              <a:t>it always stays in the same place even if the page is scrolled</a:t>
            </a:r>
            <a:r>
              <a:rPr lang="en-GB" altLang="en-US" sz="2000"/>
              <a:t>. The top, right, bottom, and left properties are used to position the element.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20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000"/>
              <a:t>A fixed element does not leave a gap in the page where it would normally have been located.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20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000"/>
              <a:t>Here is the CSS that is used:</a:t>
            </a:r>
            <a:endParaRPr lang="en-US" altLang="en-US" sz="2000"/>
          </a:p>
        </p:txBody>
      </p:sp>
      <p:pic>
        <p:nvPicPr>
          <p:cNvPr id="18437" name="Picture 4">
            <a:extLst>
              <a:ext uri="{FF2B5EF4-FFF2-40B4-BE49-F238E27FC236}">
                <a16:creationId xmlns:a16="http://schemas.microsoft.com/office/drawing/2014/main" id="{3B07AB37-0CFA-D48A-1A70-DC505C2C3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3617913"/>
            <a:ext cx="4010025" cy="257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Box 6">
            <a:extLst>
              <a:ext uri="{FF2B5EF4-FFF2-40B4-BE49-F238E27FC236}">
                <a16:creationId xmlns:a16="http://schemas.microsoft.com/office/drawing/2014/main" id="{6E9EFB40-AF38-5189-E37C-324B553EA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5334000"/>
            <a:ext cx="6400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hlinkClick r:id="rId4"/>
              </a:rPr>
              <a:t>https://www.w3schools.com/css/tryit.asp?filename=trycss_position_fixed</a:t>
            </a:r>
            <a:r>
              <a:rPr lang="en-US" altLang="en-US" sz="180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D11E5F-6AA4-55F9-91E0-6D89DF54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9FBB35-48CA-459E-818F-1EA0D9788C6C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Content Placeholder 5">
            <a:extLst>
              <a:ext uri="{FF2B5EF4-FFF2-40B4-BE49-F238E27FC236}">
                <a16:creationId xmlns:a16="http://schemas.microsoft.com/office/drawing/2014/main" id="{D0A0B655-AF6C-794F-4A4E-F92D11E1C49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885950"/>
            <a:ext cx="10515600" cy="423068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38EFF-95C7-DCA1-F6BE-26233A69A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900699-668E-4F8E-AFAE-B79329B5491A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4">
            <a:extLst>
              <a:ext uri="{FF2B5EF4-FFF2-40B4-BE49-F238E27FC236}">
                <a16:creationId xmlns:a16="http://schemas.microsoft.com/office/drawing/2014/main" id="{2F4DD78B-45E9-4DEC-E53E-9C1BE8535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Layout - The position Property</a:t>
            </a:r>
          </a:p>
        </p:txBody>
      </p:sp>
      <p:sp>
        <p:nvSpPr>
          <p:cNvPr id="21507" name="TextBox 6">
            <a:extLst>
              <a:ext uri="{FF2B5EF4-FFF2-40B4-BE49-F238E27FC236}">
                <a16:creationId xmlns:a16="http://schemas.microsoft.com/office/drawing/2014/main" id="{EA1706EA-37C3-E502-5DE4-7FCEE6870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85800"/>
            <a:ext cx="6096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/>
              <a:t>position: absolute;</a:t>
            </a:r>
          </a:p>
        </p:txBody>
      </p:sp>
      <p:sp>
        <p:nvSpPr>
          <p:cNvPr id="21508" name="TextBox 8">
            <a:extLst>
              <a:ext uri="{FF2B5EF4-FFF2-40B4-BE49-F238E27FC236}">
                <a16:creationId xmlns:a16="http://schemas.microsoft.com/office/drawing/2014/main" id="{419A15C6-DA20-93DD-0542-A92C117C7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1066800"/>
            <a:ext cx="11704637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000"/>
              <a:t>An element with </a:t>
            </a:r>
            <a:r>
              <a:rPr lang="en-GB" altLang="en-US" sz="2000">
                <a:solidFill>
                  <a:srgbClr val="FF0000"/>
                </a:solidFill>
              </a:rPr>
              <a:t>position: absolute; </a:t>
            </a:r>
            <a:r>
              <a:rPr lang="en-GB" altLang="en-US" sz="2000"/>
              <a:t>is positioned relative to the </a:t>
            </a:r>
            <a:r>
              <a:rPr lang="en-GB" altLang="en-US" sz="2000" b="1"/>
              <a:t>nearest positioned ancestor </a:t>
            </a:r>
            <a:r>
              <a:rPr lang="en-GB" altLang="en-US" sz="2000"/>
              <a:t>(instead of positioned relative to the viewport, like fixed).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20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000"/>
              <a:t>However; if an absolute positioned element has no positioned ancestors, </a:t>
            </a:r>
            <a:r>
              <a:rPr lang="en-GB" altLang="en-US" sz="2000" b="1"/>
              <a:t>it uses the document body</a:t>
            </a:r>
            <a:r>
              <a:rPr lang="en-GB" altLang="en-US" sz="2000"/>
              <a:t>, and moves along with page scrolling.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20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000" i="1">
                <a:solidFill>
                  <a:srgbClr val="FF0000"/>
                </a:solidFill>
              </a:rPr>
              <a:t>Note: A "positioned" element is one whose position is anything except static.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2000"/>
          </a:p>
        </p:txBody>
      </p:sp>
      <p:pic>
        <p:nvPicPr>
          <p:cNvPr id="21509" name="Picture 5">
            <a:extLst>
              <a:ext uri="{FF2B5EF4-FFF2-40B4-BE49-F238E27FC236}">
                <a16:creationId xmlns:a16="http://schemas.microsoft.com/office/drawing/2014/main" id="{00444A2C-F2AA-636F-593D-7CDB1991F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621088"/>
            <a:ext cx="393382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Picture 10">
            <a:extLst>
              <a:ext uri="{FF2B5EF4-FFF2-40B4-BE49-F238E27FC236}">
                <a16:creationId xmlns:a16="http://schemas.microsoft.com/office/drawing/2014/main" id="{F70B22C5-1383-68BF-4AF9-B8BDBDCFD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76600"/>
            <a:ext cx="2700338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1" name="TextBox 7">
            <a:extLst>
              <a:ext uri="{FF2B5EF4-FFF2-40B4-BE49-F238E27FC236}">
                <a16:creationId xmlns:a16="http://schemas.microsoft.com/office/drawing/2014/main" id="{04046B7F-23FF-41D9-C821-3ABAD346A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988050"/>
            <a:ext cx="7772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hlinkClick r:id="rId5"/>
              </a:rPr>
              <a:t>https://www.w3schools.com/cssref/tryit.php?filename=trycss_position_absolute</a:t>
            </a:r>
            <a:r>
              <a:rPr lang="en-US" altLang="en-US" sz="180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ED0DFF-2744-5C15-D02C-741C423A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9FBB35-48CA-459E-818F-1EA0D9788C6C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B1372-EB74-AFF9-A5E0-1CFF34075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7B8FD9-BEC3-49C5-886D-0D1ED90A853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23555" name="Picture 5">
            <a:extLst>
              <a:ext uri="{FF2B5EF4-FFF2-40B4-BE49-F238E27FC236}">
                <a16:creationId xmlns:a16="http://schemas.microsoft.com/office/drawing/2014/main" id="{C2EF53A4-EEDF-21FB-B19A-448DDC0FC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1295400"/>
            <a:ext cx="11155362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4">
            <a:extLst>
              <a:ext uri="{FF2B5EF4-FFF2-40B4-BE49-F238E27FC236}">
                <a16:creationId xmlns:a16="http://schemas.microsoft.com/office/drawing/2014/main" id="{039BBAA7-5F55-495A-FCD3-FA3712A1A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Layout - The position Property</a:t>
            </a:r>
          </a:p>
        </p:txBody>
      </p:sp>
      <p:sp>
        <p:nvSpPr>
          <p:cNvPr id="24579" name="TextBox 6">
            <a:extLst>
              <a:ext uri="{FF2B5EF4-FFF2-40B4-BE49-F238E27FC236}">
                <a16:creationId xmlns:a16="http://schemas.microsoft.com/office/drawing/2014/main" id="{E712E089-2A53-0309-5617-CF70EC7F9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85800"/>
            <a:ext cx="6096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/>
              <a:t>position: sticky;</a:t>
            </a:r>
          </a:p>
        </p:txBody>
      </p:sp>
      <p:sp>
        <p:nvSpPr>
          <p:cNvPr id="24580" name="Rectangle 1">
            <a:extLst>
              <a:ext uri="{FF2B5EF4-FFF2-40B4-BE49-F238E27FC236}">
                <a16:creationId xmlns:a16="http://schemas.microsoft.com/office/drawing/2014/main" id="{D2A2947F-F19C-0E4A-3885-5D8284485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160463"/>
            <a:ext cx="11430000" cy="18875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An element with</a:t>
            </a:r>
            <a:r>
              <a:rPr lang="en-US" altLang="en-US" sz="2000">
                <a:solidFill>
                  <a:srgbClr val="000000"/>
                </a:solidFill>
              </a:rPr>
              <a:t> </a:t>
            </a:r>
            <a:r>
              <a:rPr lang="en-US" altLang="en-US" sz="2000">
                <a:solidFill>
                  <a:srgbClr val="DC143C"/>
                </a:solidFill>
                <a:latin typeface="Consolas" panose="020B0609020204030204" pitchFamily="49" charset="0"/>
              </a:rPr>
              <a:t>position: sticky;</a:t>
            </a:r>
            <a:r>
              <a:rPr lang="en-US" altLang="en-US" sz="2000">
                <a:solidFill>
                  <a:srgbClr val="000000"/>
                </a:solidFill>
              </a:rPr>
              <a:t> </a:t>
            </a:r>
            <a:r>
              <a:rPr lang="en-US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is positioned based on the</a:t>
            </a:r>
            <a:r>
              <a:rPr lang="en-US" altLang="en-US" sz="2000" b="1">
                <a:solidFill>
                  <a:srgbClr val="000000"/>
                </a:solidFill>
                <a:latin typeface="Verdana" panose="020B0604030504040204" pitchFamily="34" charset="0"/>
              </a:rPr>
              <a:t> user's scroll position</a:t>
            </a:r>
            <a:r>
              <a:rPr lang="en-US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en-US" altLang="en-US" sz="2000"/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A sticky element toggles between</a:t>
            </a:r>
            <a:r>
              <a:rPr lang="en-US" altLang="en-US" sz="2000">
                <a:solidFill>
                  <a:srgbClr val="000000"/>
                </a:solidFill>
              </a:rPr>
              <a:t> </a:t>
            </a:r>
            <a:r>
              <a:rPr lang="en-US" altLang="en-US" sz="2000">
                <a:solidFill>
                  <a:srgbClr val="DC143C"/>
                </a:solidFill>
                <a:latin typeface="Consolas" panose="020B0609020204030204" pitchFamily="49" charset="0"/>
              </a:rPr>
              <a:t>relative</a:t>
            </a:r>
            <a:r>
              <a:rPr lang="en-US" altLang="en-US" sz="2000">
                <a:solidFill>
                  <a:srgbClr val="000000"/>
                </a:solidFill>
              </a:rPr>
              <a:t> </a:t>
            </a:r>
            <a:r>
              <a:rPr lang="en-US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and</a:t>
            </a:r>
            <a:r>
              <a:rPr lang="en-US" altLang="en-US" sz="2000">
                <a:solidFill>
                  <a:srgbClr val="000000"/>
                </a:solidFill>
              </a:rPr>
              <a:t> </a:t>
            </a:r>
            <a:r>
              <a:rPr lang="en-US" altLang="en-US" sz="2000">
                <a:solidFill>
                  <a:srgbClr val="DC143C"/>
                </a:solidFill>
                <a:latin typeface="Consolas" panose="020B0609020204030204" pitchFamily="49" charset="0"/>
              </a:rPr>
              <a:t>fixed</a:t>
            </a:r>
            <a:r>
              <a:rPr lang="en-US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, depending on the scroll position. It is positioned relative until a given offset position is met in the viewport - then it "sticks" in place (like position:fixed).</a:t>
            </a:r>
            <a:endParaRPr lang="en-US" altLang="en-US" sz="3600"/>
          </a:p>
        </p:txBody>
      </p:sp>
      <p:pic>
        <p:nvPicPr>
          <p:cNvPr id="24581" name="Picture 3">
            <a:extLst>
              <a:ext uri="{FF2B5EF4-FFF2-40B4-BE49-F238E27FC236}">
                <a16:creationId xmlns:a16="http://schemas.microsoft.com/office/drawing/2014/main" id="{A13BABD8-1D02-4E3C-FAD6-9A248B841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75" y="3429000"/>
            <a:ext cx="6080125" cy="278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Box 6">
            <a:extLst>
              <a:ext uri="{FF2B5EF4-FFF2-40B4-BE49-F238E27FC236}">
                <a16:creationId xmlns:a16="http://schemas.microsoft.com/office/drawing/2014/main" id="{164089EB-5B48-4426-FB3D-277BE69F4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051425"/>
            <a:ext cx="66294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hlinkClick r:id="rId3"/>
              </a:rPr>
              <a:t>https://www.w3schools.com/cssref/tryit.php?filename=trycss_position_sticky</a:t>
            </a:r>
            <a:endParaRPr lang="en-US" altLang="en-US" sz="18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77F519-9335-ADFA-0B67-8FF515E3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9FBB35-48CA-459E-818F-1EA0D9788C6C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7F7AA8D4-83D4-03D6-0B44-5FE9950BB3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Try by Yourself The difference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AEF40-041C-9686-5E2E-B2636689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7A424-FD83-40C3-AE78-6F3C1F0AA6C1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25604" name="Content Placeholder 4">
            <a:extLst>
              <a:ext uri="{FF2B5EF4-FFF2-40B4-BE49-F238E27FC236}">
                <a16:creationId xmlns:a16="http://schemas.microsoft.com/office/drawing/2014/main" id="{2DA963F4-0900-8B75-8FF5-595FF7011D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r>
              <a:rPr lang="en-US" altLang="en-US">
                <a:hlinkClick r:id="rId2"/>
              </a:rPr>
              <a:t>https://www.w3schools.com/cssref/tryit.php?filename=trycss_position2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4">
            <a:extLst>
              <a:ext uri="{FF2B5EF4-FFF2-40B4-BE49-F238E27FC236}">
                <a16:creationId xmlns:a16="http://schemas.microsoft.com/office/drawing/2014/main" id="{AD539A41-3658-D448-8421-E5005F2DF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Layout - The position Property</a:t>
            </a:r>
          </a:p>
        </p:txBody>
      </p:sp>
      <p:sp>
        <p:nvSpPr>
          <p:cNvPr id="26627" name="TextBox 7">
            <a:extLst>
              <a:ext uri="{FF2B5EF4-FFF2-40B4-BE49-F238E27FC236}">
                <a16:creationId xmlns:a16="http://schemas.microsoft.com/office/drawing/2014/main" id="{18B4DD6C-F5D6-C922-317C-351B68653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85800"/>
            <a:ext cx="6096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Segoe UI" panose="020B0502040204020203" pitchFamily="34" charset="0"/>
              </a:rPr>
              <a:t>Overlapping Elements</a:t>
            </a:r>
          </a:p>
        </p:txBody>
      </p:sp>
      <p:sp>
        <p:nvSpPr>
          <p:cNvPr id="26628" name="Rectangle 1">
            <a:extLst>
              <a:ext uri="{FF2B5EF4-FFF2-40B4-BE49-F238E27FC236}">
                <a16:creationId xmlns:a16="http://schemas.microsoft.com/office/drawing/2014/main" id="{F217500F-833C-2BD0-B8FD-0C92134AB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12850"/>
            <a:ext cx="11582400" cy="1709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When elements are positioned, they can </a:t>
            </a:r>
            <a:r>
              <a:rPr lang="en-US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overlap</a:t>
            </a: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 other elements.</a:t>
            </a:r>
            <a:endParaRPr lang="en-US" altLang="en-US" sz="1800"/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The</a:t>
            </a:r>
            <a:r>
              <a:rPr lang="en-US" altLang="en-US" sz="1800">
                <a:solidFill>
                  <a:srgbClr val="000000"/>
                </a:solidFill>
              </a:rPr>
              <a:t> </a:t>
            </a:r>
            <a:r>
              <a:rPr lang="en-US" altLang="en-US" sz="1800">
                <a:solidFill>
                  <a:srgbClr val="DC143C"/>
                </a:solidFill>
                <a:latin typeface="Consolas" panose="020B0609020204030204" pitchFamily="49" charset="0"/>
              </a:rPr>
              <a:t>z-index</a:t>
            </a:r>
            <a:r>
              <a:rPr lang="en-US" altLang="en-US" sz="1800">
                <a:solidFill>
                  <a:srgbClr val="000000"/>
                </a:solidFill>
              </a:rPr>
              <a:t> </a:t>
            </a: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property specifies </a:t>
            </a:r>
            <a:r>
              <a:rPr lang="en-US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the stack order </a:t>
            </a: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of an element (which element should be placed in front of, or behind, the others).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An element can have a positive or negative stack order:</a:t>
            </a:r>
            <a:endParaRPr lang="en-US" altLang="en-US" sz="3200"/>
          </a:p>
        </p:txBody>
      </p:sp>
      <p:pic>
        <p:nvPicPr>
          <p:cNvPr id="26629" name="Picture 8">
            <a:extLst>
              <a:ext uri="{FF2B5EF4-FFF2-40B4-BE49-F238E27FC236}">
                <a16:creationId xmlns:a16="http://schemas.microsoft.com/office/drawing/2014/main" id="{0C90D62F-7D82-86E5-6069-586DEEAB4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68638"/>
            <a:ext cx="540067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10">
            <a:extLst>
              <a:ext uri="{FF2B5EF4-FFF2-40B4-BE49-F238E27FC236}">
                <a16:creationId xmlns:a16="http://schemas.microsoft.com/office/drawing/2014/main" id="{3C4A2732-BD1C-A444-966A-95D2FA9A7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413125"/>
            <a:ext cx="3952875" cy="305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812603-9ADE-1BC4-A101-61B7D3F9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9FBB35-48CA-459E-818F-1EA0D9788C6C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4">
            <a:extLst>
              <a:ext uri="{FF2B5EF4-FFF2-40B4-BE49-F238E27FC236}">
                <a16:creationId xmlns:a16="http://schemas.microsoft.com/office/drawing/2014/main" id="{97C7014B-FFC5-6399-28C6-66773B63F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Layout - The position Property</a:t>
            </a:r>
          </a:p>
        </p:txBody>
      </p:sp>
      <p:sp>
        <p:nvSpPr>
          <p:cNvPr id="27651" name="TextBox 7">
            <a:extLst>
              <a:ext uri="{FF2B5EF4-FFF2-40B4-BE49-F238E27FC236}">
                <a16:creationId xmlns:a16="http://schemas.microsoft.com/office/drawing/2014/main" id="{91A72F94-3A03-6625-E26D-F0A95C7ED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36588"/>
            <a:ext cx="6096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000" b="1">
                <a:solidFill>
                  <a:srgbClr val="000000"/>
                </a:solidFill>
                <a:latin typeface="Segoe UI" panose="020B0502040204020203" pitchFamily="34" charset="0"/>
              </a:rPr>
              <a:t>Positioning Text In an Image</a:t>
            </a:r>
          </a:p>
        </p:txBody>
      </p:sp>
      <p:pic>
        <p:nvPicPr>
          <p:cNvPr id="27652" name="Picture 2">
            <a:extLst>
              <a:ext uri="{FF2B5EF4-FFF2-40B4-BE49-F238E27FC236}">
                <a16:creationId xmlns:a16="http://schemas.microsoft.com/office/drawing/2014/main" id="{C1D0248D-B571-A879-293F-F2582E433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9350"/>
            <a:ext cx="11363325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B584F6-99A9-61C3-1C89-4DFF9EC6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9FBB35-48CA-459E-818F-1EA0D9788C6C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4">
            <a:extLst>
              <a:ext uri="{FF2B5EF4-FFF2-40B4-BE49-F238E27FC236}">
                <a16:creationId xmlns:a16="http://schemas.microsoft.com/office/drawing/2014/main" id="{39AA539B-9DA3-05D6-515B-214CECCA4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Layout - The position Property</a:t>
            </a:r>
          </a:p>
        </p:txBody>
      </p:sp>
      <p:sp>
        <p:nvSpPr>
          <p:cNvPr id="28675" name="TextBox 7">
            <a:extLst>
              <a:ext uri="{FF2B5EF4-FFF2-40B4-BE49-F238E27FC236}">
                <a16:creationId xmlns:a16="http://schemas.microsoft.com/office/drawing/2014/main" id="{7B4D7AA1-0326-327F-BB08-0BD8B2A56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36588"/>
            <a:ext cx="6096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2000" b="1">
                <a:solidFill>
                  <a:srgbClr val="000000"/>
                </a:solidFill>
                <a:latin typeface="Segoe UI" panose="020B0502040204020203" pitchFamily="34" charset="0"/>
              </a:rPr>
              <a:t>Positioning Text In an Image</a:t>
            </a:r>
          </a:p>
        </p:txBody>
      </p:sp>
      <p:sp>
        <p:nvSpPr>
          <p:cNvPr id="28676" name="TextBox 5">
            <a:extLst>
              <a:ext uri="{FF2B5EF4-FFF2-40B4-BE49-F238E27FC236}">
                <a16:creationId xmlns:a16="http://schemas.microsoft.com/office/drawing/2014/main" id="{77377B0F-1B6E-6D10-0D2D-7FAA44676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5" y="1050925"/>
            <a:ext cx="2651125" cy="535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&lt;style&gt;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.container {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  position: relative;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}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.center {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  position: absolute;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  top: 50%;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  width: 100%;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  </a:t>
            </a:r>
            <a:r>
              <a:rPr lang="en-US" altLang="en-US" sz="1800" b="1">
                <a:solidFill>
                  <a:srgbClr val="FF0000"/>
                </a:solidFill>
              </a:rPr>
              <a:t>text-align: center;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  font-size: 18px;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}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img {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  width: 100%;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  height: auto;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  opacity: 0.3;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}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&lt;/style&gt;</a:t>
            </a:r>
          </a:p>
        </p:txBody>
      </p:sp>
      <p:sp>
        <p:nvSpPr>
          <p:cNvPr id="28677" name="TextBox 8">
            <a:extLst>
              <a:ext uri="{FF2B5EF4-FFF2-40B4-BE49-F238E27FC236}">
                <a16:creationId xmlns:a16="http://schemas.microsoft.com/office/drawing/2014/main" id="{094FCB8F-7B0F-447F-0097-73D01B845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1720850"/>
            <a:ext cx="7985125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/>
              <a:t>&lt;body&gt;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/>
              <a:t>&lt;h2&gt;Image Text&lt;/h2&gt;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/>
              <a:t>&lt;p&gt;Center text in image:&lt;/p&gt;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/>
              <a:t>&lt;div class="container"&gt;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/>
              <a:t>  &lt;img src=“mountain.jpg" alt=“Mountain" width="1000" height="300"&gt;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/>
              <a:t>  </a:t>
            </a:r>
            <a:r>
              <a:rPr lang="en-US" altLang="en-US" sz="2000" b="1">
                <a:solidFill>
                  <a:srgbClr val="FF0000"/>
                </a:solidFill>
              </a:rPr>
              <a:t>&lt;div class="center"&gt;Centered&lt;/div&gt;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/>
              <a:t>&lt;/div&gt;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/>
              <a:t>&lt;/body&gt;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4861AA-A796-E1FD-500F-C824781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9FBB35-48CA-459E-818F-1EA0D9788C6C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E8C89038-A3EE-5582-B1FB-05BB5F1AE0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Try it By Yourself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02BD1E5E-54DE-1809-128B-5ED38E7A88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hlinkClick r:id="rId2"/>
              </a:rPr>
              <a:t>https://www.w3schools.com/howto/tryit.asp?filename=tryhow_css_image_text</a:t>
            </a:r>
            <a:endParaRPr lang="en-US" altLang="en-US"/>
          </a:p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BCFDE-6C23-028B-8478-3B6480C0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ED18FF-4A40-4E2B-91F9-62AF384774E8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3C66856B3314981D2E215FB7144D6" ma:contentTypeVersion="0" ma:contentTypeDescription="Create a new document." ma:contentTypeScope="" ma:versionID="a8f50facb5a903a92afdc154f06e588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E709A5-C5F1-43FC-B872-2CA9234C4267}"/>
</file>

<file path=customXml/itemProps2.xml><?xml version="1.0" encoding="utf-8"?>
<ds:datastoreItem xmlns:ds="http://schemas.openxmlformats.org/officeDocument/2006/customXml" ds:itemID="{964D4874-808F-4DF6-84E4-A4DABEF722B2}"/>
</file>

<file path=customXml/itemProps3.xml><?xml version="1.0" encoding="utf-8"?>
<ds:datastoreItem xmlns:ds="http://schemas.openxmlformats.org/officeDocument/2006/customXml" ds:itemID="{CD460C31-8127-437F-AEB1-E555D10F9C7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6167</TotalTime>
  <Words>862</Words>
  <Application>Microsoft Office PowerPoint</Application>
  <PresentationFormat>Widescreen</PresentationFormat>
  <Paragraphs>112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Segoe UI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by Yourself The difference</vt:lpstr>
      <vt:lpstr>PowerPoint Presentation</vt:lpstr>
      <vt:lpstr>PowerPoint Presentation</vt:lpstr>
      <vt:lpstr>PowerPoint Presentation</vt:lpstr>
      <vt:lpstr>Try it By Yourself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Bassel Dhaini</dc:creator>
  <cp:lastModifiedBy>Kamal Beydoun</cp:lastModifiedBy>
  <cp:revision>1439</cp:revision>
  <dcterms:created xsi:type="dcterms:W3CDTF">1601-01-01T00:00:00Z</dcterms:created>
  <dcterms:modified xsi:type="dcterms:W3CDTF">2025-09-25T08:31:40Z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0x010100BE23C66856B3314981D2E215FB7144D6</vt:lpwstr>
  </property>
</Properties>
</file>